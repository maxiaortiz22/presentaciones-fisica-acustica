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1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viewProps" Target="view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custSel modSld">
      <pc:chgData name="Maximiliano Ortiz" userId="90727fd8e92db46b" providerId="LiveId" clId="{9BC7EBD1-E6C7-40E2-9BE0-E69EBE0B6810}" dt="2026-07-31T17:57:04.852" v="523"/>
      <pc:docMkLst>
        <pc:docMk/>
      </pc:docMkLst>
      <pc:sldChg chg="modSp mod">
        <pc:chgData name="Maximiliano Ortiz" userId="90727fd8e92db46b" providerId="LiveId" clId="{9BC7EBD1-E6C7-40E2-9BE0-E69EBE0B6810}" dt="2026-07-31T17:57:01.023" v="169"/>
        <pc:sldMkLst>
          <pc:docMk/>
          <pc:sldMk cId="1995449240" sldId="257"/>
        </pc:sldMkLst>
        <pc:picChg chg="mod">
          <ac:chgData name="Maximiliano Ortiz" userId="90727fd8e92db46b" providerId="LiveId" clId="{9BC7EBD1-E6C7-40E2-9BE0-E69EBE0B6810}" dt="2026-07-31T17:57:01.023" v="169"/>
          <ac:picMkLst>
            <pc:docMk/>
            <pc:sldMk cId="1995449240" sldId="25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080" v="173"/>
        <pc:sldMkLst>
          <pc:docMk/>
          <pc:sldMk cId="1271479030" sldId="261"/>
        </pc:sldMkLst>
        <pc:picChg chg="mod">
          <ac:chgData name="Maximiliano Ortiz" userId="90727fd8e92db46b" providerId="LiveId" clId="{9BC7EBD1-E6C7-40E2-9BE0-E69EBE0B6810}" dt="2026-07-31T17:57:01.080" v="173"/>
          <ac:picMkLst>
            <pc:docMk/>
            <pc:sldMk cId="1271479030" sldId="26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122" v="177"/>
        <pc:sldMkLst>
          <pc:docMk/>
          <pc:sldMk cId="318321949" sldId="263"/>
        </pc:sldMkLst>
        <pc:picChg chg="mod">
          <ac:chgData name="Maximiliano Ortiz" userId="90727fd8e92db46b" providerId="LiveId" clId="{9BC7EBD1-E6C7-40E2-9BE0-E69EBE0B6810}" dt="2026-07-31T17:57:01.122" v="177"/>
          <ac:picMkLst>
            <pc:docMk/>
            <pc:sldMk cId="318321949" sldId="26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137" v="181"/>
        <pc:sldMkLst>
          <pc:docMk/>
          <pc:sldMk cId="1741329192" sldId="264"/>
        </pc:sldMkLst>
        <pc:picChg chg="mod">
          <ac:chgData name="Maximiliano Ortiz" userId="90727fd8e92db46b" providerId="LiveId" clId="{9BC7EBD1-E6C7-40E2-9BE0-E69EBE0B6810}" dt="2026-07-31T17:57:01.137" v="181"/>
          <ac:picMkLst>
            <pc:docMk/>
            <pc:sldMk cId="1741329192" sldId="26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162" v="185"/>
        <pc:sldMkLst>
          <pc:docMk/>
          <pc:sldMk cId="567438305" sldId="265"/>
        </pc:sldMkLst>
        <pc:picChg chg="mod">
          <ac:chgData name="Maximiliano Ortiz" userId="90727fd8e92db46b" providerId="LiveId" clId="{9BC7EBD1-E6C7-40E2-9BE0-E69EBE0B6810}" dt="2026-07-31T17:57:01.162" v="185"/>
          <ac:picMkLst>
            <pc:docMk/>
            <pc:sldMk cId="567438305" sldId="26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195" v="189"/>
        <pc:sldMkLst>
          <pc:docMk/>
          <pc:sldMk cId="817057724" sldId="267"/>
        </pc:sldMkLst>
        <pc:picChg chg="mod">
          <ac:chgData name="Maximiliano Ortiz" userId="90727fd8e92db46b" providerId="LiveId" clId="{9BC7EBD1-E6C7-40E2-9BE0-E69EBE0B6810}" dt="2026-07-31T17:57:01.195" v="189"/>
          <ac:picMkLst>
            <pc:docMk/>
            <pc:sldMk cId="817057724" sldId="26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219" v="193"/>
        <pc:sldMkLst>
          <pc:docMk/>
          <pc:sldMk cId="1046213385" sldId="268"/>
        </pc:sldMkLst>
        <pc:picChg chg="mod">
          <ac:chgData name="Maximiliano Ortiz" userId="90727fd8e92db46b" providerId="LiveId" clId="{9BC7EBD1-E6C7-40E2-9BE0-E69EBE0B6810}" dt="2026-07-31T17:57:01.219" v="193"/>
          <ac:picMkLst>
            <pc:docMk/>
            <pc:sldMk cId="1046213385" sldId="26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240" v="197"/>
        <pc:sldMkLst>
          <pc:docMk/>
          <pc:sldMk cId="1320203634" sldId="269"/>
        </pc:sldMkLst>
        <pc:picChg chg="mod">
          <ac:chgData name="Maximiliano Ortiz" userId="90727fd8e92db46b" providerId="LiveId" clId="{9BC7EBD1-E6C7-40E2-9BE0-E69EBE0B6810}" dt="2026-07-31T17:57:01.240" v="197"/>
          <ac:picMkLst>
            <pc:docMk/>
            <pc:sldMk cId="1320203634" sldId="26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271" v="201"/>
        <pc:sldMkLst>
          <pc:docMk/>
          <pc:sldMk cId="1995449240" sldId="271"/>
        </pc:sldMkLst>
        <pc:picChg chg="mod">
          <ac:chgData name="Maximiliano Ortiz" userId="90727fd8e92db46b" providerId="LiveId" clId="{9BC7EBD1-E6C7-40E2-9BE0-E69EBE0B6810}" dt="2026-07-31T17:57:01.271" v="201"/>
          <ac:picMkLst>
            <pc:docMk/>
            <pc:sldMk cId="1995449240" sldId="27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285" v="205"/>
        <pc:sldMkLst>
          <pc:docMk/>
          <pc:sldMk cId="986630461" sldId="272"/>
        </pc:sldMkLst>
        <pc:picChg chg="mod">
          <ac:chgData name="Maximiliano Ortiz" userId="90727fd8e92db46b" providerId="LiveId" clId="{9BC7EBD1-E6C7-40E2-9BE0-E69EBE0B6810}" dt="2026-07-31T17:57:01.285" v="205"/>
          <ac:picMkLst>
            <pc:docMk/>
            <pc:sldMk cId="986630461" sldId="27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309" v="209"/>
        <pc:sldMkLst>
          <pc:docMk/>
          <pc:sldMk cId="986630461" sldId="273"/>
        </pc:sldMkLst>
        <pc:picChg chg="mod">
          <ac:chgData name="Maximiliano Ortiz" userId="90727fd8e92db46b" providerId="LiveId" clId="{9BC7EBD1-E6C7-40E2-9BE0-E69EBE0B6810}" dt="2026-07-31T17:57:01.309" v="209"/>
          <ac:picMkLst>
            <pc:docMk/>
            <pc:sldMk cId="986630461" sldId="27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333" v="213"/>
        <pc:sldMkLst>
          <pc:docMk/>
          <pc:sldMk cId="567438305" sldId="274"/>
        </pc:sldMkLst>
        <pc:picChg chg="mod">
          <ac:chgData name="Maximiliano Ortiz" userId="90727fd8e92db46b" providerId="LiveId" clId="{9BC7EBD1-E6C7-40E2-9BE0-E69EBE0B6810}" dt="2026-07-31T17:57:01.333" v="213"/>
          <ac:picMkLst>
            <pc:docMk/>
            <pc:sldMk cId="567438305" sldId="27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353" v="217"/>
        <pc:sldMkLst>
          <pc:docMk/>
          <pc:sldMk cId="1602286470" sldId="275"/>
        </pc:sldMkLst>
        <pc:picChg chg="mod">
          <ac:chgData name="Maximiliano Ortiz" userId="90727fd8e92db46b" providerId="LiveId" clId="{9BC7EBD1-E6C7-40E2-9BE0-E69EBE0B6810}" dt="2026-07-31T17:57:01.353" v="217"/>
          <ac:picMkLst>
            <pc:docMk/>
            <pc:sldMk cId="1602286470" sldId="27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369" v="221"/>
        <pc:sldMkLst>
          <pc:docMk/>
          <pc:sldMk cId="1741329192" sldId="276"/>
        </pc:sldMkLst>
        <pc:picChg chg="mod">
          <ac:chgData name="Maximiliano Ortiz" userId="90727fd8e92db46b" providerId="LiveId" clId="{9BC7EBD1-E6C7-40E2-9BE0-E69EBE0B6810}" dt="2026-07-31T17:57:01.369" v="221"/>
          <ac:picMkLst>
            <pc:docMk/>
            <pc:sldMk cId="1741329192" sldId="27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390" v="225"/>
        <pc:sldMkLst>
          <pc:docMk/>
          <pc:sldMk cId="1320203634" sldId="277"/>
        </pc:sldMkLst>
        <pc:picChg chg="mod">
          <ac:chgData name="Maximiliano Ortiz" userId="90727fd8e92db46b" providerId="LiveId" clId="{9BC7EBD1-E6C7-40E2-9BE0-E69EBE0B6810}" dt="2026-07-31T17:57:01.390" v="225"/>
          <ac:picMkLst>
            <pc:docMk/>
            <pc:sldMk cId="1320203634" sldId="27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422" v="229"/>
        <pc:sldMkLst>
          <pc:docMk/>
          <pc:sldMk cId="986630461" sldId="279"/>
        </pc:sldMkLst>
        <pc:picChg chg="mod">
          <ac:chgData name="Maximiliano Ortiz" userId="90727fd8e92db46b" providerId="LiveId" clId="{9BC7EBD1-E6C7-40E2-9BE0-E69EBE0B6810}" dt="2026-07-31T17:57:01.422" v="229"/>
          <ac:picMkLst>
            <pc:docMk/>
            <pc:sldMk cId="986630461" sldId="27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463" v="233"/>
        <pc:sldMkLst>
          <pc:docMk/>
          <pc:sldMk cId="1687263069" sldId="280"/>
        </pc:sldMkLst>
        <pc:picChg chg="mod">
          <ac:chgData name="Maximiliano Ortiz" userId="90727fd8e92db46b" providerId="LiveId" clId="{9BC7EBD1-E6C7-40E2-9BE0-E69EBE0B6810}" dt="2026-07-31T17:57:01.463" v="233"/>
          <ac:picMkLst>
            <pc:docMk/>
            <pc:sldMk cId="1687263069" sldId="28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479" v="237"/>
        <pc:sldMkLst>
          <pc:docMk/>
          <pc:sldMk cId="1741329192" sldId="281"/>
        </pc:sldMkLst>
        <pc:picChg chg="mod">
          <ac:chgData name="Maximiliano Ortiz" userId="90727fd8e92db46b" providerId="LiveId" clId="{9BC7EBD1-E6C7-40E2-9BE0-E69EBE0B6810}" dt="2026-07-31T17:57:01.479" v="237"/>
          <ac:picMkLst>
            <pc:docMk/>
            <pc:sldMk cId="1741329192" sldId="28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504" v="241"/>
        <pc:sldMkLst>
          <pc:docMk/>
          <pc:sldMk cId="986630461" sldId="282"/>
        </pc:sldMkLst>
        <pc:picChg chg="mod">
          <ac:chgData name="Maximiliano Ortiz" userId="90727fd8e92db46b" providerId="LiveId" clId="{9BC7EBD1-E6C7-40E2-9BE0-E69EBE0B6810}" dt="2026-07-31T17:57:01.504" v="241"/>
          <ac:picMkLst>
            <pc:docMk/>
            <pc:sldMk cId="986630461" sldId="28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528" v="245"/>
        <pc:sldMkLst>
          <pc:docMk/>
          <pc:sldMk cId="318321949" sldId="283"/>
        </pc:sldMkLst>
        <pc:picChg chg="mod">
          <ac:chgData name="Maximiliano Ortiz" userId="90727fd8e92db46b" providerId="LiveId" clId="{9BC7EBD1-E6C7-40E2-9BE0-E69EBE0B6810}" dt="2026-07-31T17:57:01.528" v="245"/>
          <ac:picMkLst>
            <pc:docMk/>
            <pc:sldMk cId="318321949" sldId="28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571" v="249"/>
        <pc:sldMkLst>
          <pc:docMk/>
          <pc:sldMk cId="1995449240" sldId="286"/>
        </pc:sldMkLst>
        <pc:picChg chg="mod">
          <ac:chgData name="Maximiliano Ortiz" userId="90727fd8e92db46b" providerId="LiveId" clId="{9BC7EBD1-E6C7-40E2-9BE0-E69EBE0B6810}" dt="2026-07-31T17:57:01.571" v="249"/>
          <ac:picMkLst>
            <pc:docMk/>
            <pc:sldMk cId="1995449240" sldId="28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611" v="253"/>
        <pc:sldMkLst>
          <pc:docMk/>
          <pc:sldMk cId="1320203634" sldId="288"/>
        </pc:sldMkLst>
        <pc:picChg chg="mod">
          <ac:chgData name="Maximiliano Ortiz" userId="90727fd8e92db46b" providerId="LiveId" clId="{9BC7EBD1-E6C7-40E2-9BE0-E69EBE0B6810}" dt="2026-07-31T17:57:01.611" v="253"/>
          <ac:picMkLst>
            <pc:docMk/>
            <pc:sldMk cId="1320203634" sldId="28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686" v="257"/>
        <pc:sldMkLst>
          <pc:docMk/>
          <pc:sldMk cId="1995449240" sldId="291"/>
        </pc:sldMkLst>
        <pc:picChg chg="mod">
          <ac:chgData name="Maximiliano Ortiz" userId="90727fd8e92db46b" providerId="LiveId" clId="{9BC7EBD1-E6C7-40E2-9BE0-E69EBE0B6810}" dt="2026-07-31T17:57:01.686" v="257"/>
          <ac:picMkLst>
            <pc:docMk/>
            <pc:sldMk cId="1995449240" sldId="29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734" v="261"/>
        <pc:sldMkLst>
          <pc:docMk/>
          <pc:sldMk cId="1133635661" sldId="294"/>
        </pc:sldMkLst>
        <pc:picChg chg="mod">
          <ac:chgData name="Maximiliano Ortiz" userId="90727fd8e92db46b" providerId="LiveId" clId="{9BC7EBD1-E6C7-40E2-9BE0-E69EBE0B6810}" dt="2026-07-31T17:57:01.734" v="261"/>
          <ac:picMkLst>
            <pc:docMk/>
            <pc:sldMk cId="1133635661" sldId="29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753" v="265"/>
        <pc:sldMkLst>
          <pc:docMk/>
          <pc:sldMk cId="651197825" sldId="295"/>
        </pc:sldMkLst>
        <pc:picChg chg="mod">
          <ac:chgData name="Maximiliano Ortiz" userId="90727fd8e92db46b" providerId="LiveId" clId="{9BC7EBD1-E6C7-40E2-9BE0-E69EBE0B6810}" dt="2026-07-31T17:57:01.753" v="265"/>
          <ac:picMkLst>
            <pc:docMk/>
            <pc:sldMk cId="651197825" sldId="29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784" v="269"/>
        <pc:sldMkLst>
          <pc:docMk/>
          <pc:sldMk cId="1602286470" sldId="296"/>
        </pc:sldMkLst>
        <pc:picChg chg="mod">
          <ac:chgData name="Maximiliano Ortiz" userId="90727fd8e92db46b" providerId="LiveId" clId="{9BC7EBD1-E6C7-40E2-9BE0-E69EBE0B6810}" dt="2026-07-31T17:57:01.784" v="269"/>
          <ac:picMkLst>
            <pc:docMk/>
            <pc:sldMk cId="1602286470" sldId="29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792" v="273"/>
        <pc:sldMkLst>
          <pc:docMk/>
          <pc:sldMk cId="817057724" sldId="297"/>
        </pc:sldMkLst>
        <pc:picChg chg="mod">
          <ac:chgData name="Maximiliano Ortiz" userId="90727fd8e92db46b" providerId="LiveId" clId="{9BC7EBD1-E6C7-40E2-9BE0-E69EBE0B6810}" dt="2026-07-31T17:57:01.792" v="273"/>
          <ac:picMkLst>
            <pc:docMk/>
            <pc:sldMk cId="817057724" sldId="297"/>
            <ac:picMk id="12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7:57:01.867" v="285"/>
        <pc:sldMkLst>
          <pc:docMk/>
          <pc:sldMk cId="48649001" sldId="299"/>
        </pc:sldMkLst>
        <pc:spChg chg="del">
          <ac:chgData name="Maximiliano Ortiz" userId="90727fd8e92db46b" providerId="LiveId" clId="{9BC7EBD1-E6C7-40E2-9BE0-E69EBE0B6810}" dt="2026-07-31T17:57:01.859" v="283"/>
          <ac:spMkLst>
            <pc:docMk/>
            <pc:sldMk cId="48649001" sldId="299"/>
            <ac:spMk id="15" creationId="{037E51DA-6697-7984-784B-648406DB4719}"/>
          </ac:spMkLst>
        </pc:spChg>
        <pc:graphicFrameChg chg="del">
          <ac:chgData name="Maximiliano Ortiz" userId="90727fd8e92db46b" providerId="LiveId" clId="{9BC7EBD1-E6C7-40E2-9BE0-E69EBE0B6810}" dt="2026-07-31T17:57:01.867" v="285"/>
          <ac:graphicFrameMkLst>
            <pc:docMk/>
            <pc:sldMk cId="48649001" sldId="299"/>
            <ac:graphicFrameMk id="28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1.859" v="281"/>
          <ac:graphicFrameMkLst>
            <pc:docMk/>
            <pc:sldMk cId="48649001" sldId="299"/>
            <ac:graphicFrameMk id="30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1.859" v="279"/>
          <ac:graphicFrameMkLst>
            <pc:docMk/>
            <pc:sldMk cId="48649001" sldId="299"/>
            <ac:graphicFrameMk id="31" creationId="{00000000-0000-0000-0000-000000000000}"/>
          </ac:graphicFrameMkLst>
        </pc:graphicFrameChg>
        <pc:picChg chg="mod">
          <ac:chgData name="Maximiliano Ortiz" userId="90727fd8e92db46b" providerId="LiveId" clId="{9BC7EBD1-E6C7-40E2-9BE0-E69EBE0B6810}" dt="2026-07-31T17:57:01.842" v="277"/>
          <ac:picMkLst>
            <pc:docMk/>
            <pc:sldMk cId="48649001" sldId="299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893" v="289"/>
        <pc:sldMkLst>
          <pc:docMk/>
          <pc:sldMk cId="318321949" sldId="300"/>
        </pc:sldMkLst>
        <pc:picChg chg="mod">
          <ac:chgData name="Maximiliano Ortiz" userId="90727fd8e92db46b" providerId="LiveId" clId="{9BC7EBD1-E6C7-40E2-9BE0-E69EBE0B6810}" dt="2026-07-31T17:57:01.893" v="289"/>
          <ac:picMkLst>
            <pc:docMk/>
            <pc:sldMk cId="318321949" sldId="30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916" v="293"/>
        <pc:sldMkLst>
          <pc:docMk/>
          <pc:sldMk cId="986630461" sldId="301"/>
        </pc:sldMkLst>
        <pc:picChg chg="mod">
          <ac:chgData name="Maximiliano Ortiz" userId="90727fd8e92db46b" providerId="LiveId" clId="{9BC7EBD1-E6C7-40E2-9BE0-E69EBE0B6810}" dt="2026-07-31T17:57:01.916" v="293"/>
          <ac:picMkLst>
            <pc:docMk/>
            <pc:sldMk cId="986630461" sldId="30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1.949" v="297"/>
        <pc:sldMkLst>
          <pc:docMk/>
          <pc:sldMk cId="1602286470" sldId="302"/>
        </pc:sldMkLst>
        <pc:picChg chg="mod">
          <ac:chgData name="Maximiliano Ortiz" userId="90727fd8e92db46b" providerId="LiveId" clId="{9BC7EBD1-E6C7-40E2-9BE0-E69EBE0B6810}" dt="2026-07-31T17:57:01.949" v="297"/>
          <ac:picMkLst>
            <pc:docMk/>
            <pc:sldMk cId="1602286470" sldId="30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006" v="301"/>
        <pc:sldMkLst>
          <pc:docMk/>
          <pc:sldMk cId="1741329192" sldId="303"/>
        </pc:sldMkLst>
        <pc:picChg chg="mod">
          <ac:chgData name="Maximiliano Ortiz" userId="90727fd8e92db46b" providerId="LiveId" clId="{9BC7EBD1-E6C7-40E2-9BE0-E69EBE0B6810}" dt="2026-07-31T17:57:02.006" v="301"/>
          <ac:picMkLst>
            <pc:docMk/>
            <pc:sldMk cId="1741329192" sldId="30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034" v="305"/>
        <pc:sldMkLst>
          <pc:docMk/>
          <pc:sldMk cId="281546375" sldId="304"/>
        </pc:sldMkLst>
        <pc:picChg chg="mod">
          <ac:chgData name="Maximiliano Ortiz" userId="90727fd8e92db46b" providerId="LiveId" clId="{9BC7EBD1-E6C7-40E2-9BE0-E69EBE0B6810}" dt="2026-07-31T17:57:02.034" v="305"/>
          <ac:picMkLst>
            <pc:docMk/>
            <pc:sldMk cId="281546375" sldId="30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063" v="309"/>
        <pc:sldMkLst>
          <pc:docMk/>
          <pc:sldMk cId="1320203634" sldId="305"/>
        </pc:sldMkLst>
        <pc:picChg chg="mod">
          <ac:chgData name="Maximiliano Ortiz" userId="90727fd8e92db46b" providerId="LiveId" clId="{9BC7EBD1-E6C7-40E2-9BE0-E69EBE0B6810}" dt="2026-07-31T17:57:02.063" v="309"/>
          <ac:picMkLst>
            <pc:docMk/>
            <pc:sldMk cId="1320203634" sldId="30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095" v="313"/>
        <pc:sldMkLst>
          <pc:docMk/>
          <pc:sldMk cId="567438305" sldId="307"/>
        </pc:sldMkLst>
        <pc:picChg chg="mod">
          <ac:chgData name="Maximiliano Ortiz" userId="90727fd8e92db46b" providerId="LiveId" clId="{9BC7EBD1-E6C7-40E2-9BE0-E69EBE0B6810}" dt="2026-07-31T17:57:02.095" v="313"/>
          <ac:picMkLst>
            <pc:docMk/>
            <pc:sldMk cId="567438305" sldId="30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120" v="317"/>
        <pc:sldMkLst>
          <pc:docMk/>
          <pc:sldMk cId="1995449240" sldId="308"/>
        </pc:sldMkLst>
        <pc:picChg chg="mod">
          <ac:chgData name="Maximiliano Ortiz" userId="90727fd8e92db46b" providerId="LiveId" clId="{9BC7EBD1-E6C7-40E2-9BE0-E69EBE0B6810}" dt="2026-07-31T17:57:02.120" v="317"/>
          <ac:picMkLst>
            <pc:docMk/>
            <pc:sldMk cId="1995449240" sldId="30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177" v="321"/>
        <pc:sldMkLst>
          <pc:docMk/>
          <pc:sldMk cId="1602286470" sldId="309"/>
        </pc:sldMkLst>
        <pc:picChg chg="mod">
          <ac:chgData name="Maximiliano Ortiz" userId="90727fd8e92db46b" providerId="LiveId" clId="{9BC7EBD1-E6C7-40E2-9BE0-E69EBE0B6810}" dt="2026-07-31T17:57:02.177" v="321"/>
          <ac:picMkLst>
            <pc:docMk/>
            <pc:sldMk cId="1602286470" sldId="30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234" v="325"/>
        <pc:sldMkLst>
          <pc:docMk/>
          <pc:sldMk cId="1602286470" sldId="310"/>
        </pc:sldMkLst>
        <pc:picChg chg="mod">
          <ac:chgData name="Maximiliano Ortiz" userId="90727fd8e92db46b" providerId="LiveId" clId="{9BC7EBD1-E6C7-40E2-9BE0-E69EBE0B6810}" dt="2026-07-31T17:57:02.234" v="325"/>
          <ac:picMkLst>
            <pc:docMk/>
            <pc:sldMk cId="1602286470" sldId="310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284" v="329"/>
        <pc:sldMkLst>
          <pc:docMk/>
          <pc:sldMk cId="1133635661" sldId="311"/>
        </pc:sldMkLst>
        <pc:picChg chg="mod">
          <ac:chgData name="Maximiliano Ortiz" userId="90727fd8e92db46b" providerId="LiveId" clId="{9BC7EBD1-E6C7-40E2-9BE0-E69EBE0B6810}" dt="2026-07-31T17:57:02.284" v="329"/>
          <ac:picMkLst>
            <pc:docMk/>
            <pc:sldMk cId="1133635661" sldId="31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347" v="333"/>
        <pc:sldMkLst>
          <pc:docMk/>
          <pc:sldMk cId="318321949" sldId="312"/>
        </pc:sldMkLst>
        <pc:picChg chg="mod">
          <ac:chgData name="Maximiliano Ortiz" userId="90727fd8e92db46b" providerId="LiveId" clId="{9BC7EBD1-E6C7-40E2-9BE0-E69EBE0B6810}" dt="2026-07-31T17:57:02.347" v="333"/>
          <ac:picMkLst>
            <pc:docMk/>
            <pc:sldMk cId="318321949" sldId="31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408" v="337"/>
        <pc:sldMkLst>
          <pc:docMk/>
          <pc:sldMk cId="986630461" sldId="315"/>
        </pc:sldMkLst>
        <pc:picChg chg="mod">
          <ac:chgData name="Maximiliano Ortiz" userId="90727fd8e92db46b" providerId="LiveId" clId="{9BC7EBD1-E6C7-40E2-9BE0-E69EBE0B6810}" dt="2026-07-31T17:57:02.408" v="337"/>
          <ac:picMkLst>
            <pc:docMk/>
            <pc:sldMk cId="986630461" sldId="31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433" v="341"/>
        <pc:sldMkLst>
          <pc:docMk/>
          <pc:sldMk cId="1741329192" sldId="316"/>
        </pc:sldMkLst>
        <pc:picChg chg="mod">
          <ac:chgData name="Maximiliano Ortiz" userId="90727fd8e92db46b" providerId="LiveId" clId="{9BC7EBD1-E6C7-40E2-9BE0-E69EBE0B6810}" dt="2026-07-31T17:57:02.433" v="341"/>
          <ac:picMkLst>
            <pc:docMk/>
            <pc:sldMk cId="1741329192" sldId="31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541" v="345"/>
        <pc:sldMkLst>
          <pc:docMk/>
          <pc:sldMk cId="1995449240" sldId="319"/>
        </pc:sldMkLst>
        <pc:picChg chg="mod">
          <ac:chgData name="Maximiliano Ortiz" userId="90727fd8e92db46b" providerId="LiveId" clId="{9BC7EBD1-E6C7-40E2-9BE0-E69EBE0B6810}" dt="2026-07-31T17:57:02.541" v="345"/>
          <ac:picMkLst>
            <pc:docMk/>
            <pc:sldMk cId="1995449240" sldId="319"/>
            <ac:picMk id="8" creationId="{00000000-0000-0000-0000-000000000000}"/>
          </ac:picMkLst>
        </pc:picChg>
      </pc:sldChg>
      <pc:sldChg chg="delSp mod">
        <pc:chgData name="Maximiliano Ortiz" userId="90727fd8e92db46b" providerId="LiveId" clId="{9BC7EBD1-E6C7-40E2-9BE0-E69EBE0B6810}" dt="2026-07-31T17:57:02.713" v="347"/>
        <pc:sldMkLst>
          <pc:docMk/>
          <pc:sldMk cId="34619112" sldId="322"/>
        </pc:sldMkLst>
        <pc:spChg chg="del">
          <ac:chgData name="Maximiliano Ortiz" userId="90727fd8e92db46b" providerId="LiveId" clId="{9BC7EBD1-E6C7-40E2-9BE0-E69EBE0B6810}" dt="2026-07-31T17:57:02.713" v="347"/>
          <ac:spMkLst>
            <pc:docMk/>
            <pc:sldMk cId="34619112" sldId="322"/>
            <ac:spMk id="7" creationId="{3E0641FC-7532-A427-1590-9BE2BA261B03}"/>
          </ac:spMkLst>
        </pc:spChg>
      </pc:sldChg>
      <pc:sldChg chg="modSp mod">
        <pc:chgData name="Maximiliano Ortiz" userId="90727fd8e92db46b" providerId="LiveId" clId="{9BC7EBD1-E6C7-40E2-9BE0-E69EBE0B6810}" dt="2026-07-31T17:57:02.762" v="351"/>
        <pc:sldMkLst>
          <pc:docMk/>
          <pc:sldMk cId="817057724" sldId="323"/>
        </pc:sldMkLst>
        <pc:picChg chg="mod">
          <ac:chgData name="Maximiliano Ortiz" userId="90727fd8e92db46b" providerId="LiveId" clId="{9BC7EBD1-E6C7-40E2-9BE0-E69EBE0B6810}" dt="2026-07-31T17:57:02.762" v="351"/>
          <ac:picMkLst>
            <pc:docMk/>
            <pc:sldMk cId="817057724" sldId="323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7:57:02.885" v="363"/>
        <pc:sldMkLst>
          <pc:docMk/>
          <pc:sldMk cId="48649001" sldId="325"/>
        </pc:sldMkLst>
        <pc:spChg chg="del">
          <ac:chgData name="Maximiliano Ortiz" userId="90727fd8e92db46b" providerId="LiveId" clId="{9BC7EBD1-E6C7-40E2-9BE0-E69EBE0B6810}" dt="2026-07-31T17:57:02.876" v="361"/>
          <ac:spMkLst>
            <pc:docMk/>
            <pc:sldMk cId="48649001" sldId="325"/>
            <ac:spMk id="15" creationId="{037E51DA-6697-7984-784B-648406DB4719}"/>
          </ac:spMkLst>
        </pc:spChg>
        <pc:graphicFrameChg chg="del">
          <ac:chgData name="Maximiliano Ortiz" userId="90727fd8e92db46b" providerId="LiveId" clId="{9BC7EBD1-E6C7-40E2-9BE0-E69EBE0B6810}" dt="2026-07-31T17:57:02.885" v="363"/>
          <ac:graphicFrameMkLst>
            <pc:docMk/>
            <pc:sldMk cId="48649001" sldId="325"/>
            <ac:graphicFrameMk id="28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2.876" v="359"/>
          <ac:graphicFrameMkLst>
            <pc:docMk/>
            <pc:sldMk cId="48649001" sldId="325"/>
            <ac:graphicFrameMk id="30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2.871" v="357"/>
          <ac:graphicFrameMkLst>
            <pc:docMk/>
            <pc:sldMk cId="48649001" sldId="325"/>
            <ac:graphicFrameMk id="31" creationId="{00000000-0000-0000-0000-000000000000}"/>
          </ac:graphicFrameMkLst>
        </pc:graphicFrameChg>
        <pc:picChg chg="mod">
          <ac:chgData name="Maximiliano Ortiz" userId="90727fd8e92db46b" providerId="LiveId" clId="{9BC7EBD1-E6C7-40E2-9BE0-E69EBE0B6810}" dt="2026-07-31T17:57:02.865" v="355"/>
          <ac:picMkLst>
            <pc:docMk/>
            <pc:sldMk cId="48649001" sldId="325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2.976" v="367"/>
        <pc:sldMkLst>
          <pc:docMk/>
          <pc:sldMk cId="1995449240" sldId="327"/>
        </pc:sldMkLst>
        <pc:picChg chg="mod">
          <ac:chgData name="Maximiliano Ortiz" userId="90727fd8e92db46b" providerId="LiveId" clId="{9BC7EBD1-E6C7-40E2-9BE0-E69EBE0B6810}" dt="2026-07-31T17:57:02.976" v="367"/>
          <ac:picMkLst>
            <pc:docMk/>
            <pc:sldMk cId="1995449240" sldId="32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064" v="371"/>
        <pc:sldMkLst>
          <pc:docMk/>
          <pc:sldMk cId="1133635661" sldId="329"/>
        </pc:sldMkLst>
        <pc:picChg chg="mod">
          <ac:chgData name="Maximiliano Ortiz" userId="90727fd8e92db46b" providerId="LiveId" clId="{9BC7EBD1-E6C7-40E2-9BE0-E69EBE0B6810}" dt="2026-07-31T17:57:03.064" v="371"/>
          <ac:picMkLst>
            <pc:docMk/>
            <pc:sldMk cId="1133635661" sldId="32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186" v="375"/>
        <pc:sldMkLst>
          <pc:docMk/>
          <pc:sldMk cId="1602286470" sldId="332"/>
        </pc:sldMkLst>
        <pc:picChg chg="mod">
          <ac:chgData name="Maximiliano Ortiz" userId="90727fd8e92db46b" providerId="LiveId" clId="{9BC7EBD1-E6C7-40E2-9BE0-E69EBE0B6810}" dt="2026-07-31T17:57:03.186" v="375"/>
          <ac:picMkLst>
            <pc:docMk/>
            <pc:sldMk cId="1602286470" sldId="33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293" v="379"/>
        <pc:sldMkLst>
          <pc:docMk/>
          <pc:sldMk cId="986630461" sldId="337"/>
        </pc:sldMkLst>
        <pc:picChg chg="mod">
          <ac:chgData name="Maximiliano Ortiz" userId="90727fd8e92db46b" providerId="LiveId" clId="{9BC7EBD1-E6C7-40E2-9BE0-E69EBE0B6810}" dt="2026-07-31T17:57:03.293" v="379"/>
          <ac:picMkLst>
            <pc:docMk/>
            <pc:sldMk cId="986630461" sldId="33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326" v="383"/>
        <pc:sldMkLst>
          <pc:docMk/>
          <pc:sldMk cId="1926975773" sldId="338"/>
        </pc:sldMkLst>
        <pc:picChg chg="mod">
          <ac:chgData name="Maximiliano Ortiz" userId="90727fd8e92db46b" providerId="LiveId" clId="{9BC7EBD1-E6C7-40E2-9BE0-E69EBE0B6810}" dt="2026-07-31T17:57:03.326" v="383"/>
          <ac:picMkLst>
            <pc:docMk/>
            <pc:sldMk cId="1926975773" sldId="338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7:57:03.399" v="395"/>
        <pc:sldMkLst>
          <pc:docMk/>
          <pc:sldMk cId="48649001" sldId="339"/>
        </pc:sldMkLst>
        <pc:spChg chg="del">
          <ac:chgData name="Maximiliano Ortiz" userId="90727fd8e92db46b" providerId="LiveId" clId="{9BC7EBD1-E6C7-40E2-9BE0-E69EBE0B6810}" dt="2026-07-31T17:57:03.395" v="393"/>
          <ac:spMkLst>
            <pc:docMk/>
            <pc:sldMk cId="48649001" sldId="339"/>
            <ac:spMk id="15" creationId="{037E51DA-6697-7984-784B-648406DB4719}"/>
          </ac:spMkLst>
        </pc:spChg>
        <pc:graphicFrameChg chg="del">
          <ac:chgData name="Maximiliano Ortiz" userId="90727fd8e92db46b" providerId="LiveId" clId="{9BC7EBD1-E6C7-40E2-9BE0-E69EBE0B6810}" dt="2026-07-31T17:57:03.399" v="395"/>
          <ac:graphicFrameMkLst>
            <pc:docMk/>
            <pc:sldMk cId="48649001" sldId="339"/>
            <ac:graphicFrameMk id="28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392" v="391"/>
          <ac:graphicFrameMkLst>
            <pc:docMk/>
            <pc:sldMk cId="48649001" sldId="339"/>
            <ac:graphicFrameMk id="30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389" v="389"/>
          <ac:graphicFrameMkLst>
            <pc:docMk/>
            <pc:sldMk cId="48649001" sldId="339"/>
            <ac:graphicFrameMk id="31" creationId="{00000000-0000-0000-0000-000000000000}"/>
          </ac:graphicFrameMkLst>
        </pc:graphicFrameChg>
        <pc:picChg chg="mod">
          <ac:chgData name="Maximiliano Ortiz" userId="90727fd8e92db46b" providerId="LiveId" clId="{9BC7EBD1-E6C7-40E2-9BE0-E69EBE0B6810}" dt="2026-07-31T17:57:03.384" v="387"/>
          <ac:picMkLst>
            <pc:docMk/>
            <pc:sldMk cId="48649001" sldId="339"/>
            <ac:picMk id="32" creationId="{00000000-0000-0000-0000-000000000000}"/>
          </ac:picMkLst>
        </pc:picChg>
      </pc:sldChg>
      <pc:sldChg chg="delSp mod">
        <pc:chgData name="Maximiliano Ortiz" userId="90727fd8e92db46b" providerId="LiveId" clId="{9BC7EBD1-E6C7-40E2-9BE0-E69EBE0B6810}" dt="2026-07-31T17:57:03.432" v="403"/>
        <pc:sldMkLst>
          <pc:docMk/>
          <pc:sldMk cId="48649001" sldId="340"/>
        </pc:sldMkLst>
        <pc:spChg chg="del">
          <ac:chgData name="Maximiliano Ortiz" userId="90727fd8e92db46b" providerId="LiveId" clId="{9BC7EBD1-E6C7-40E2-9BE0-E69EBE0B6810}" dt="2026-07-31T17:57:03.423" v="401"/>
          <ac:spMkLst>
            <pc:docMk/>
            <pc:sldMk cId="48649001" sldId="340"/>
            <ac:spMk id="15" creationId="{037E51DA-6697-7984-784B-648406DB4719}"/>
          </ac:spMkLst>
        </pc:spChg>
        <pc:graphicFrameChg chg="del">
          <ac:chgData name="Maximiliano Ortiz" userId="90727fd8e92db46b" providerId="LiveId" clId="{9BC7EBD1-E6C7-40E2-9BE0-E69EBE0B6810}" dt="2026-07-31T17:57:03.432" v="403"/>
          <ac:graphicFrameMkLst>
            <pc:docMk/>
            <pc:sldMk cId="48649001" sldId="340"/>
            <ac:graphicFrameMk id="27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423" v="399"/>
          <ac:graphicFrameMkLst>
            <pc:docMk/>
            <pc:sldMk cId="48649001" sldId="340"/>
            <ac:graphicFrameMk id="29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415" v="397"/>
          <ac:graphicFrameMkLst>
            <pc:docMk/>
            <pc:sldMk cId="48649001" sldId="340"/>
            <ac:graphicFrameMk id="30" creationId="{00000000-0000-0000-0000-000000000000}"/>
          </ac:graphicFrameMkLst>
        </pc:graphicFrameChg>
      </pc:sldChg>
      <pc:sldChg chg="delSp modSp mod">
        <pc:chgData name="Maximiliano Ortiz" userId="90727fd8e92db46b" providerId="LiveId" clId="{9BC7EBD1-E6C7-40E2-9BE0-E69EBE0B6810}" dt="2026-07-31T17:57:03.488" v="415"/>
        <pc:sldMkLst>
          <pc:docMk/>
          <pc:sldMk cId="48649001" sldId="341"/>
        </pc:sldMkLst>
        <pc:spChg chg="del">
          <ac:chgData name="Maximiliano Ortiz" userId="90727fd8e92db46b" providerId="LiveId" clId="{9BC7EBD1-E6C7-40E2-9BE0-E69EBE0B6810}" dt="2026-07-31T17:57:03.487" v="413"/>
          <ac:spMkLst>
            <pc:docMk/>
            <pc:sldMk cId="48649001" sldId="341"/>
            <ac:spMk id="15" creationId="{037E51DA-6697-7984-784B-648406DB4719}"/>
          </ac:spMkLst>
        </pc:spChg>
        <pc:graphicFrameChg chg="del">
          <ac:chgData name="Maximiliano Ortiz" userId="90727fd8e92db46b" providerId="LiveId" clId="{9BC7EBD1-E6C7-40E2-9BE0-E69EBE0B6810}" dt="2026-07-31T17:57:03.488" v="415"/>
          <ac:graphicFrameMkLst>
            <pc:docMk/>
            <pc:sldMk cId="48649001" sldId="341"/>
            <ac:graphicFrameMk id="28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484" v="411"/>
          <ac:graphicFrameMkLst>
            <pc:docMk/>
            <pc:sldMk cId="48649001" sldId="341"/>
            <ac:graphicFrameMk id="30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480" v="409"/>
          <ac:graphicFrameMkLst>
            <pc:docMk/>
            <pc:sldMk cId="48649001" sldId="341"/>
            <ac:graphicFrameMk id="31" creationId="{00000000-0000-0000-0000-000000000000}"/>
          </ac:graphicFrameMkLst>
        </pc:graphicFrameChg>
        <pc:picChg chg="mod">
          <ac:chgData name="Maximiliano Ortiz" userId="90727fd8e92db46b" providerId="LiveId" clId="{9BC7EBD1-E6C7-40E2-9BE0-E69EBE0B6810}" dt="2026-07-31T17:57:03.476" v="407"/>
          <ac:picMkLst>
            <pc:docMk/>
            <pc:sldMk cId="48649001" sldId="341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522" v="419"/>
        <pc:sldMkLst>
          <pc:docMk/>
          <pc:sldMk cId="1741329192" sldId="342"/>
        </pc:sldMkLst>
        <pc:picChg chg="mod">
          <ac:chgData name="Maximiliano Ortiz" userId="90727fd8e92db46b" providerId="LiveId" clId="{9BC7EBD1-E6C7-40E2-9BE0-E69EBE0B6810}" dt="2026-07-31T17:57:03.522" v="419"/>
          <ac:picMkLst>
            <pc:docMk/>
            <pc:sldMk cId="1741329192" sldId="34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542" v="423"/>
        <pc:sldMkLst>
          <pc:docMk/>
          <pc:sldMk cId="318321949" sldId="343"/>
        </pc:sldMkLst>
        <pc:picChg chg="mod">
          <ac:chgData name="Maximiliano Ortiz" userId="90727fd8e92db46b" providerId="LiveId" clId="{9BC7EBD1-E6C7-40E2-9BE0-E69EBE0B6810}" dt="2026-07-31T17:57:03.542" v="423"/>
          <ac:picMkLst>
            <pc:docMk/>
            <pc:sldMk cId="318321949" sldId="343"/>
            <ac:picMk id="1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578" v="427"/>
        <pc:sldMkLst>
          <pc:docMk/>
          <pc:sldMk cId="1320203634" sldId="344"/>
        </pc:sldMkLst>
        <pc:picChg chg="mod">
          <ac:chgData name="Maximiliano Ortiz" userId="90727fd8e92db46b" providerId="LiveId" clId="{9BC7EBD1-E6C7-40E2-9BE0-E69EBE0B6810}" dt="2026-07-31T17:57:03.578" v="427"/>
          <ac:picMkLst>
            <pc:docMk/>
            <pc:sldMk cId="1320203634" sldId="34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641" v="431"/>
        <pc:sldMkLst>
          <pc:docMk/>
          <pc:sldMk cId="1995449240" sldId="346"/>
        </pc:sldMkLst>
        <pc:picChg chg="mod">
          <ac:chgData name="Maximiliano Ortiz" userId="90727fd8e92db46b" providerId="LiveId" clId="{9BC7EBD1-E6C7-40E2-9BE0-E69EBE0B6810}" dt="2026-07-31T17:57:03.641" v="431"/>
          <ac:picMkLst>
            <pc:docMk/>
            <pc:sldMk cId="1995449240" sldId="346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7:57:03.791" v="443"/>
        <pc:sldMkLst>
          <pc:docMk/>
          <pc:sldMk cId="48649001" sldId="350"/>
        </pc:sldMkLst>
        <pc:spChg chg="del">
          <ac:chgData name="Maximiliano Ortiz" userId="90727fd8e92db46b" providerId="LiveId" clId="{9BC7EBD1-E6C7-40E2-9BE0-E69EBE0B6810}" dt="2026-07-31T17:57:03.791" v="441"/>
          <ac:spMkLst>
            <pc:docMk/>
            <pc:sldMk cId="48649001" sldId="350"/>
            <ac:spMk id="15" creationId="{037E51DA-6697-7984-784B-648406DB4719}"/>
          </ac:spMkLst>
        </pc:spChg>
        <pc:graphicFrameChg chg="del">
          <ac:chgData name="Maximiliano Ortiz" userId="90727fd8e92db46b" providerId="LiveId" clId="{9BC7EBD1-E6C7-40E2-9BE0-E69EBE0B6810}" dt="2026-07-31T17:57:03.791" v="443"/>
          <ac:graphicFrameMkLst>
            <pc:docMk/>
            <pc:sldMk cId="48649001" sldId="350"/>
            <ac:graphicFrameMk id="28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782" v="439"/>
          <ac:graphicFrameMkLst>
            <pc:docMk/>
            <pc:sldMk cId="48649001" sldId="350"/>
            <ac:graphicFrameMk id="30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3.778" v="437"/>
          <ac:graphicFrameMkLst>
            <pc:docMk/>
            <pc:sldMk cId="48649001" sldId="350"/>
            <ac:graphicFrameMk id="31" creationId="{00000000-0000-0000-0000-000000000000}"/>
          </ac:graphicFrameMkLst>
        </pc:graphicFrameChg>
        <pc:picChg chg="mod">
          <ac:chgData name="Maximiliano Ortiz" userId="90727fd8e92db46b" providerId="LiveId" clId="{9BC7EBD1-E6C7-40E2-9BE0-E69EBE0B6810}" dt="2026-07-31T17:57:03.775" v="435"/>
          <ac:picMkLst>
            <pc:docMk/>
            <pc:sldMk cId="48649001" sldId="350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830" v="447"/>
        <pc:sldMkLst>
          <pc:docMk/>
          <pc:sldMk cId="1741329192" sldId="351"/>
        </pc:sldMkLst>
        <pc:picChg chg="mod">
          <ac:chgData name="Maximiliano Ortiz" userId="90727fd8e92db46b" providerId="LiveId" clId="{9BC7EBD1-E6C7-40E2-9BE0-E69EBE0B6810}" dt="2026-07-31T17:57:03.830" v="447"/>
          <ac:picMkLst>
            <pc:docMk/>
            <pc:sldMk cId="1741329192" sldId="35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871" v="451"/>
        <pc:sldMkLst>
          <pc:docMk/>
          <pc:sldMk cId="1133635661" sldId="352"/>
        </pc:sldMkLst>
        <pc:picChg chg="mod">
          <ac:chgData name="Maximiliano Ortiz" userId="90727fd8e92db46b" providerId="LiveId" clId="{9BC7EBD1-E6C7-40E2-9BE0-E69EBE0B6810}" dt="2026-07-31T17:57:03.871" v="451"/>
          <ac:picMkLst>
            <pc:docMk/>
            <pc:sldMk cId="1133635661" sldId="35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3.904" v="455"/>
        <pc:sldMkLst>
          <pc:docMk/>
          <pc:sldMk cId="986630461" sldId="353"/>
        </pc:sldMkLst>
        <pc:picChg chg="mod">
          <ac:chgData name="Maximiliano Ortiz" userId="90727fd8e92db46b" providerId="LiveId" clId="{9BC7EBD1-E6C7-40E2-9BE0-E69EBE0B6810}" dt="2026-07-31T17:57:03.904" v="455"/>
          <ac:picMkLst>
            <pc:docMk/>
            <pc:sldMk cId="986630461" sldId="353"/>
            <ac:picMk id="8" creationId="{00000000-0000-0000-0000-000000000000}"/>
          </ac:picMkLst>
        </pc:picChg>
      </pc:sldChg>
      <pc:sldChg chg="delSp modSp mod">
        <pc:chgData name="Maximiliano Ortiz" userId="90727fd8e92db46b" providerId="LiveId" clId="{9BC7EBD1-E6C7-40E2-9BE0-E69EBE0B6810}" dt="2026-07-31T17:57:04.043" v="467"/>
        <pc:sldMkLst>
          <pc:docMk/>
          <pc:sldMk cId="48649001" sldId="354"/>
        </pc:sldMkLst>
        <pc:spChg chg="del">
          <ac:chgData name="Maximiliano Ortiz" userId="90727fd8e92db46b" providerId="LiveId" clId="{9BC7EBD1-E6C7-40E2-9BE0-E69EBE0B6810}" dt="2026-07-31T17:57:04.038" v="465"/>
          <ac:spMkLst>
            <pc:docMk/>
            <pc:sldMk cId="48649001" sldId="354"/>
            <ac:spMk id="15" creationId="{037E51DA-6697-7984-784B-648406DB4719}"/>
          </ac:spMkLst>
        </pc:spChg>
        <pc:graphicFrameChg chg="del">
          <ac:chgData name="Maximiliano Ortiz" userId="90727fd8e92db46b" providerId="LiveId" clId="{9BC7EBD1-E6C7-40E2-9BE0-E69EBE0B6810}" dt="2026-07-31T17:57:04.043" v="467"/>
          <ac:graphicFrameMkLst>
            <pc:docMk/>
            <pc:sldMk cId="48649001" sldId="354"/>
            <ac:graphicFrameMk id="28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4.034" v="463"/>
          <ac:graphicFrameMkLst>
            <pc:docMk/>
            <pc:sldMk cId="48649001" sldId="354"/>
            <ac:graphicFrameMk id="30" creationId="{00000000-0000-0000-0000-000000000000}"/>
          </ac:graphicFrameMkLst>
        </pc:graphicFrameChg>
        <pc:graphicFrameChg chg="del">
          <ac:chgData name="Maximiliano Ortiz" userId="90727fd8e92db46b" providerId="LiveId" clId="{9BC7EBD1-E6C7-40E2-9BE0-E69EBE0B6810}" dt="2026-07-31T17:57:04.030" v="461"/>
          <ac:graphicFrameMkLst>
            <pc:docMk/>
            <pc:sldMk cId="48649001" sldId="354"/>
            <ac:graphicFrameMk id="31" creationId="{00000000-0000-0000-0000-000000000000}"/>
          </ac:graphicFrameMkLst>
        </pc:graphicFrameChg>
        <pc:picChg chg="mod">
          <ac:chgData name="Maximiliano Ortiz" userId="90727fd8e92db46b" providerId="LiveId" clId="{9BC7EBD1-E6C7-40E2-9BE0-E69EBE0B6810}" dt="2026-07-31T17:57:04.026" v="459"/>
          <ac:picMkLst>
            <pc:docMk/>
            <pc:sldMk cId="48649001" sldId="354"/>
            <ac:picMk id="3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150" v="471"/>
        <pc:sldMkLst>
          <pc:docMk/>
          <pc:sldMk cId="817057724" sldId="359"/>
        </pc:sldMkLst>
        <pc:picChg chg="mod">
          <ac:chgData name="Maximiliano Ortiz" userId="90727fd8e92db46b" providerId="LiveId" clId="{9BC7EBD1-E6C7-40E2-9BE0-E69EBE0B6810}" dt="2026-07-31T17:57:04.150" v="471"/>
          <ac:picMkLst>
            <pc:docMk/>
            <pc:sldMk cId="817057724" sldId="359"/>
            <ac:picMk id="12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226" v="475"/>
        <pc:sldMkLst>
          <pc:docMk/>
          <pc:sldMk cId="1741329192" sldId="361"/>
        </pc:sldMkLst>
        <pc:picChg chg="mod">
          <ac:chgData name="Maximiliano Ortiz" userId="90727fd8e92db46b" providerId="LiveId" clId="{9BC7EBD1-E6C7-40E2-9BE0-E69EBE0B6810}" dt="2026-07-31T17:57:04.226" v="475"/>
          <ac:picMkLst>
            <pc:docMk/>
            <pc:sldMk cId="1741329192" sldId="36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259" v="479"/>
        <pc:sldMkLst>
          <pc:docMk/>
          <pc:sldMk cId="951530275" sldId="362"/>
        </pc:sldMkLst>
        <pc:picChg chg="mod">
          <ac:chgData name="Maximiliano Ortiz" userId="90727fd8e92db46b" providerId="LiveId" clId="{9BC7EBD1-E6C7-40E2-9BE0-E69EBE0B6810}" dt="2026-07-31T17:57:04.259" v="479"/>
          <ac:picMkLst>
            <pc:docMk/>
            <pc:sldMk cId="951530275" sldId="36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329" v="483"/>
        <pc:sldMkLst>
          <pc:docMk/>
          <pc:sldMk cId="880112903" sldId="364"/>
        </pc:sldMkLst>
        <pc:picChg chg="mod">
          <ac:chgData name="Maximiliano Ortiz" userId="90727fd8e92db46b" providerId="LiveId" clId="{9BC7EBD1-E6C7-40E2-9BE0-E69EBE0B6810}" dt="2026-07-31T17:57:04.329" v="483"/>
          <ac:picMkLst>
            <pc:docMk/>
            <pc:sldMk cId="880112903" sldId="364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371" v="487"/>
        <pc:sldMkLst>
          <pc:docMk/>
          <pc:sldMk cId="313021856" sldId="365"/>
        </pc:sldMkLst>
        <pc:picChg chg="mod">
          <ac:chgData name="Maximiliano Ortiz" userId="90727fd8e92db46b" providerId="LiveId" clId="{9BC7EBD1-E6C7-40E2-9BE0-E69EBE0B6810}" dt="2026-07-31T17:57:04.371" v="487"/>
          <ac:picMkLst>
            <pc:docMk/>
            <pc:sldMk cId="313021856" sldId="36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411" v="491"/>
        <pc:sldMkLst>
          <pc:docMk/>
          <pc:sldMk cId="313021856" sldId="366"/>
        </pc:sldMkLst>
        <pc:picChg chg="mod">
          <ac:chgData name="Maximiliano Ortiz" userId="90727fd8e92db46b" providerId="LiveId" clId="{9BC7EBD1-E6C7-40E2-9BE0-E69EBE0B6810}" dt="2026-07-31T17:57:04.411" v="491"/>
          <ac:picMkLst>
            <pc:docMk/>
            <pc:sldMk cId="313021856" sldId="36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444" v="495"/>
        <pc:sldMkLst>
          <pc:docMk/>
          <pc:sldMk cId="313021856" sldId="367"/>
        </pc:sldMkLst>
        <pc:picChg chg="mod">
          <ac:chgData name="Maximiliano Ortiz" userId="90727fd8e92db46b" providerId="LiveId" clId="{9BC7EBD1-E6C7-40E2-9BE0-E69EBE0B6810}" dt="2026-07-31T17:57:04.444" v="495"/>
          <ac:picMkLst>
            <pc:docMk/>
            <pc:sldMk cId="313021856" sldId="36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510" v="499"/>
        <pc:sldMkLst>
          <pc:docMk/>
          <pc:sldMk cId="313021856" sldId="368"/>
        </pc:sldMkLst>
        <pc:picChg chg="mod">
          <ac:chgData name="Maximiliano Ortiz" userId="90727fd8e92db46b" providerId="LiveId" clId="{9BC7EBD1-E6C7-40E2-9BE0-E69EBE0B6810}" dt="2026-07-31T17:57:04.510" v="499"/>
          <ac:picMkLst>
            <pc:docMk/>
            <pc:sldMk cId="313021856" sldId="368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600" v="503"/>
        <pc:sldMkLst>
          <pc:docMk/>
          <pc:sldMk cId="313021856" sldId="371"/>
        </pc:sldMkLst>
        <pc:picChg chg="mod">
          <ac:chgData name="Maximiliano Ortiz" userId="90727fd8e92db46b" providerId="LiveId" clId="{9BC7EBD1-E6C7-40E2-9BE0-E69EBE0B6810}" dt="2026-07-31T17:57:04.600" v="503"/>
          <ac:picMkLst>
            <pc:docMk/>
            <pc:sldMk cId="313021856" sldId="371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625" v="507"/>
        <pc:sldMkLst>
          <pc:docMk/>
          <pc:sldMk cId="313021856" sldId="372"/>
        </pc:sldMkLst>
        <pc:picChg chg="mod">
          <ac:chgData name="Maximiliano Ortiz" userId="90727fd8e92db46b" providerId="LiveId" clId="{9BC7EBD1-E6C7-40E2-9BE0-E69EBE0B6810}" dt="2026-07-31T17:57:04.625" v="507"/>
          <ac:picMkLst>
            <pc:docMk/>
            <pc:sldMk cId="313021856" sldId="372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656" v="511"/>
        <pc:sldMkLst>
          <pc:docMk/>
          <pc:sldMk cId="313021856" sldId="373"/>
        </pc:sldMkLst>
        <pc:picChg chg="mod">
          <ac:chgData name="Maximiliano Ortiz" userId="90727fd8e92db46b" providerId="LiveId" clId="{9BC7EBD1-E6C7-40E2-9BE0-E69EBE0B6810}" dt="2026-07-31T17:57:04.656" v="511"/>
          <ac:picMkLst>
            <pc:docMk/>
            <pc:sldMk cId="313021856" sldId="373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755" v="515"/>
        <pc:sldMkLst>
          <pc:docMk/>
          <pc:sldMk cId="313021856" sldId="376"/>
        </pc:sldMkLst>
        <pc:picChg chg="mod">
          <ac:chgData name="Maximiliano Ortiz" userId="90727fd8e92db46b" providerId="LiveId" clId="{9BC7EBD1-E6C7-40E2-9BE0-E69EBE0B6810}" dt="2026-07-31T17:57:04.755" v="515"/>
          <ac:picMkLst>
            <pc:docMk/>
            <pc:sldMk cId="313021856" sldId="37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803" v="519"/>
        <pc:sldMkLst>
          <pc:docMk/>
          <pc:sldMk cId="313021856" sldId="377"/>
        </pc:sldMkLst>
        <pc:picChg chg="mod">
          <ac:chgData name="Maximiliano Ortiz" userId="90727fd8e92db46b" providerId="LiveId" clId="{9BC7EBD1-E6C7-40E2-9BE0-E69EBE0B6810}" dt="2026-07-31T17:57:04.803" v="519"/>
          <ac:picMkLst>
            <pc:docMk/>
            <pc:sldMk cId="313021856" sldId="377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17:57:04.852" v="523"/>
        <pc:sldMkLst>
          <pc:docMk/>
          <pc:sldMk cId="313021856" sldId="378"/>
        </pc:sldMkLst>
        <pc:picChg chg="mod">
          <ac:chgData name="Maximiliano Ortiz" userId="90727fd8e92db46b" providerId="LiveId" clId="{9BC7EBD1-E6C7-40E2-9BE0-E69EBE0B6810}" dt="2026-07-31T17:57:04.852" v="523"/>
          <ac:picMkLst>
            <pc:docMk/>
            <pc:sldMk cId="313021856" sldId="378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U04-001 · Generalidades sobre el sonido, sus propiedades y magnitudes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Identificar la unidad y su problema organizador.</a:t>
            </a:r>
          </a:p>
          <a:p>
            <a:endParaRPr/>
          </a:p>
          <a:p>
            <a:r>
              <a:t>**Explicación extendida:** Escribir o decir «80 dB» antes de mostrar el subtítulo. Pedir qué información falta y conservar las respuestas sin corregirlas todavía. Presentar la unidad como una búsqueda de magnitud, referencia y condiciones, no como una lista de fórmulas.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Describir un sonido exige nombrar la magnitud, el valor y las condiciones.</a:t>
            </a:r>
          </a:p>
          <a:p>
            <a:endParaRPr/>
          </a:p>
          <a:p>
            <a:r>
              <a:t>**Énfasis / error frecuente:** Abrir con un valor “80 dB” y preguntar qué información todavía falta.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Convertir el valor incompleto en la pregunta central.</a:t>
            </a:r>
          </a:p>
          <a:p>
            <a:endParaRPr/>
          </a:p>
          <a:p>
            <a:r>
              <a:t>**Fuente de apoyo:** PO; TEX 4.1; PDF p. 89; BR</a:t>
            </a:r>
          </a:p>
          <a:p>
            <a:endParaRPr/>
          </a:p>
          <a:p>
            <a:r>
              <a:t>[Texto alternativo] Slide tipográfica titulada «Generalidades sobre el sonido, sus propiedades y magnitudes»; destaca que describir un sonido exige nombrar la magnitud, el valor y las condiciones.</a:t>
            </a:r>
          </a:p>
          <a:p>
            <a:endParaRPr/>
          </a:p>
          <a:p>
            <a:r>
              <a:t>[Sources]</a:t>
            </a:r>
          </a:p>
          <a:p>
            <a:r>
              <a:t>- PO; TEX 4.1; PDF p. 89;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U04-002 · El mismo sonido, cinco preguntas físicas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Activar la necesidad de distinguir magnitudes.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Activar la necesidad de distinguir magnitudes. No resolver por adelantado; usar como criterio de cierre que presión, movimiento, flujo, potencia y percepción responden preguntas diferentes.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fuente, medio, punto de medición y receptor; cinco callouts breves.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Presión, movimiento, flujo, potencia y percepción responden preguntas diferentes.</a:t>
            </a:r>
          </a:p>
          <a:p>
            <a:endParaRPr/>
          </a:p>
          <a:p>
            <a:r>
              <a:t>**Énfasis / error frecuente:** Recoger qué palabras usa el grupo y detectar si “intensidad”, “volumen” y “dB” aparecen como sinónimos.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Diagnosticar las confusiones antes de recuperar herramientas.</a:t>
            </a:r>
          </a:p>
          <a:p>
            <a:endParaRPr/>
          </a:p>
          <a:p>
            <a:r>
              <a:t>**Fuente de apoyo:** TEX 4.1–4.3; PDF pp. 89–91; BR</a:t>
            </a:r>
          </a:p>
          <a:p>
            <a:endParaRPr/>
          </a:p>
          <a:p>
            <a:r>
              <a:t>[Texto alternativo] Diagrama sobre «El mismo sonido, cinco preguntas físicas»: fuente, medio, punto de medición y receptor; cinco callouts breves. La lectura central es que presión, movimiento, flujo, potencia y percepción responden preguntas diferentes. Recurso principal: U04-DG-001.</a:t>
            </a:r>
          </a:p>
          <a:p>
            <a:endParaRPr/>
          </a:p>
          <a:p>
            <a:r>
              <a:t>[Sources]</a:t>
            </a:r>
          </a:p>
          <a:p>
            <a:r>
              <a:t>- TEX 4.1–4.3; PDF pp. 89–91;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U04-003 · Seis afirmaciones para empezar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Diagnosticar ideas previas críticas.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Diagnosticar ideas previas críticas. No resolver por adelantado; usar como criterio de cierre que justificar importa más que acertar por intuición.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afirmación te resulta más dudosa y qué dato necesitarías para justificarla?</a:t>
            </a:r>
          </a:p>
          <a:p>
            <a:endParaRPr/>
          </a:p>
          <a:p>
            <a:r>
              <a:t>**Respuesta esperada:** No se corrige todavía; se espera que nombren al menos magnitud, referencia, fase/correlación o condiciones de campo.</a:t>
            </a:r>
          </a:p>
          <a:p>
            <a:endParaRPr/>
          </a:p>
          <a:p>
            <a:r>
              <a:t>**Énfasis / error frecuente:** Registrar patrones y anunciar que cada afirmación se retomará con evidencia.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Recuperar conocimientos que permiten evaluar las afirmaciones.</a:t>
            </a:r>
          </a:p>
          <a:p>
            <a:endParaRPr/>
          </a:p>
          <a:p>
            <a:r>
              <a:t>**Fuente de apoyo:** TEX 4.13 y ejercicios D; PDF pp. 106–111; INV errores</a:t>
            </a:r>
          </a:p>
          <a:p>
            <a:endParaRPr/>
          </a:p>
          <a:p>
            <a:r>
              <a:t>[Texto alternativo] Slide tipográfica titulada «Seis afirmaciones para empezar»; destaca que justificar importa más que acertar por intuición.</a:t>
            </a:r>
          </a:p>
          <a:p>
            <a:endParaRPr/>
          </a:p>
          <a:p>
            <a:r>
              <a:t>[Sources]</a:t>
            </a:r>
          </a:p>
          <a:p>
            <a:r>
              <a:t>- TEX 4.13 y ejercicios D; PDF pp. 106–111; INV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U04-004 · Lo que necesitamos recuperar de las tres unidades anteriores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Activar prerrequisitos sin repetirlos.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Activar prerrequisitos sin repetirlos. No resolver por adelantado; usar como criterio de cierre que unidades, energía, onda, fase, superposición y logaritmos sostienen toda la unidad.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Continuidad visual con U3; micrográfico y ecuaciones mínimas.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Unidades, energía, onda, fase, superposición y logaritmos sostienen toda la unidad.</a:t>
            </a:r>
          </a:p>
          <a:p>
            <a:endParaRPr/>
          </a:p>
          <a:p>
            <a:r>
              <a:t>**Énfasis / error frecuente:** Verificar `Pa`, `W`, `J`, `m/s`, argumento adimensional y diferencia `u/c`.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Traducir los prerrequisitos en resultados observables.</a:t>
            </a:r>
          </a:p>
          <a:p>
            <a:endParaRPr/>
          </a:p>
          <a:p>
            <a:r>
              <a:t>**Fuente de apoyo:** BR; CM; CDM; U3; NOT</a:t>
            </a:r>
          </a:p>
          <a:p>
            <a:endParaRPr/>
          </a:p>
          <a:p>
            <a:r>
              <a:t>[Texto alternativo] Esquema mixto sobre «Lo que necesitamos recuperar de las tres unidades anteriores»: Continuidad visual con U3; micrográfico y ecuaciones mínimas. La lectura central es que unidades, energía, onda, fase, superposición y logaritmos sostienen toda la unidad. Recurso principal: U04-DG-021.</a:t>
            </a:r>
          </a:p>
          <a:p>
            <a:endParaRPr/>
          </a:p>
          <a:p>
            <a:r>
              <a:t>[Sources]</a:t>
            </a:r>
          </a:p>
          <a:p>
            <a:r>
              <a:t>- BR; CM; CDM; U3;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U04-005 · Qué podremos distinguir, calcular e interpretar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Declarar resultados de aprendizaje observables.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Declarar resultados de aprendizaje observables. No resolver por adelantado; usar como criterio de cierre que la unidad combina significado físico, cálculo simple, hipótesis y aplicación.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unidad combina significado físico, cálculo simple, hipótesis y aplicación.</a:t>
            </a:r>
          </a:p>
          <a:p>
            <a:endParaRPr/>
          </a:p>
          <a:p>
            <a:r>
              <a:t>**Énfasis / error frecuente:** Explicar la evidencia esperada sin leer una lista administrativa.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el recorrido que construye esas capacidades.</a:t>
            </a:r>
          </a:p>
          <a:p>
            <a:endParaRPr/>
          </a:p>
          <a:p>
            <a:r>
              <a:t>**Fuente de apoyo:** BR objetivos; CM</a:t>
            </a:r>
          </a:p>
          <a:p>
            <a:endParaRPr/>
          </a:p>
          <a:p>
            <a:r>
              <a:t>[Texto alternativo] Slide tipográfica titulada «Qué podremos distinguir, calcular e interpretar»; destaca que la unidad combina significado físico, cálculo simple, hipótesis y aplicación.</a:t>
            </a:r>
          </a:p>
          <a:p>
            <a:endParaRPr/>
          </a:p>
          <a:p>
            <a:r>
              <a:t>[Sources]</a:t>
            </a:r>
          </a:p>
          <a:p>
            <a:r>
              <a:t>- BR objetivos;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U04-006 · Del fenómeno al dato y del dato a una interpretación responsable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Orientar la secuencia completa.</a:t>
            </a:r>
          </a:p>
          <a:p>
            <a:endParaRPr/>
          </a:p>
          <a:p>
            <a:r>
              <a:t>**Explicación extendida:** Recorrer el mapa por encuentros y explicar que representa decisiones encadenadas, no el índice del capítulo. Señalar la etapa actual y anticipar solo la siguiente. Idea organizadora: Cada bloque responde una pregunta distinta sobre el mismo campo acústico.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en tres líneas, máximo cuatro nodos por línea; destacar etapa activa en recaps.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bloque responde una pregunta distinta sobre el mismo campo acústico.</a:t>
            </a:r>
          </a:p>
          <a:p>
            <a:endParaRPr/>
          </a:p>
          <a:p>
            <a:r>
              <a:t>**Énfasis / error frecuente:** Aclarar que el mapa es una progresión de decisiones, no el índice del capítulo.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Abrir la distinción entre fenómeno físico y experiencia.</a:t>
            </a:r>
          </a:p>
          <a:p>
            <a:endParaRPr/>
          </a:p>
          <a:p>
            <a:r>
              <a:t>**Fuente de apoyo:** BR; CM; CDM; ED</a:t>
            </a:r>
          </a:p>
          <a:p>
            <a:endParaRPr/>
          </a:p>
          <a:p>
            <a:r>
              <a:t>[Texto alternativo] Diagrama sobre «Del fenómeno al dato y del dato a una interpretación responsable»: mapa en tres líneas, máximo cuatro nodos por línea; destacar etapa activa en recaps. La lectura central es que cada bloque responde una pregunta distinta sobre el mismo campo acústico. Recurso principal: U04-DG-002.</a:t>
            </a:r>
          </a:p>
          <a:p>
            <a:endParaRPr/>
          </a:p>
          <a:p>
            <a:r>
              <a:t>[Sources]</a:t>
            </a:r>
          </a:p>
          <a:p>
            <a:r>
              <a:t>- BR; CM; CDM;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U04-007 · Antes de medir: fenómeno, fuente y medio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bloque y su pregunta guía.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campo puede existir antes de ser detectado o percibido.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existe físicamente antes de medir o escuchar?</a:t>
            </a:r>
          </a:p>
          <a:p>
            <a:endParaRPr/>
          </a:p>
          <a:p>
            <a:r>
              <a:t>**Respuesta esperada:** El campo puede existir antes de ser detectado o percibido.</a:t>
            </a:r>
          </a:p>
          <a:p>
            <a:endParaRPr/>
          </a:p>
          <a:p>
            <a:r>
              <a:t>**Énfasis / error frecuente:** Volver a U04-002 y pedir qué elementos son necesarios para propagación.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primero los dos sentidos de “sonido”.</a:t>
            </a:r>
          </a:p>
          <a:p>
            <a:endParaRPr/>
          </a:p>
          <a:p>
            <a:r>
              <a:t>**Fuente de apoyo:** PO; TEX 4.3; PDF p. 90</a:t>
            </a:r>
          </a:p>
          <a:p>
            <a:endParaRPr/>
          </a:p>
          <a:p>
            <a:r>
              <a:t>[Texto alternativo] Slide tipográfica titulada «Antes de medir: fenómeno, fuente y medio»; destaca que el campo puede existir antes de ser detectado o percibido.</a:t>
            </a:r>
          </a:p>
          <a:p>
            <a:endParaRPr/>
          </a:p>
          <a:p>
            <a:r>
              <a:t>[Sources]</a:t>
            </a:r>
          </a:p>
          <a:p>
            <a:r>
              <a:t>- PO; TEX 4.3; PDF p. 90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U04-008 · Fenómeno físico y sensación sonora no son sinónimos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Separar estímulo y experiencia.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Una perturbación puede medirse sin oyente; la sensación depende del sistema auditivo y del contexto.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comparación físico/perceptual con códigos teal/ocre y síntesis inferior.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Una perturbación puede medirse sin oyente; la sensación depende del sistema auditivo y del contexto.</a:t>
            </a:r>
          </a:p>
          <a:p>
            <a:endParaRPr/>
          </a:p>
          <a:p>
            <a:r>
              <a:t>**Énfasis / error frecuente:** No desarrollar psicoacústica; indicar que U7 formalizará los atributos.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si el campo desaparece al retirar al receptor.</a:t>
            </a:r>
          </a:p>
          <a:p>
            <a:endParaRPr/>
          </a:p>
          <a:p>
            <a:r>
              <a:t>**Fuente de apoyo:** PO; TEX 4.3; PDF p. 90; GLO; CCM U04-01 y U04-14</a:t>
            </a:r>
          </a:p>
          <a:p>
            <a:endParaRPr/>
          </a:p>
          <a:p>
            <a:r>
              <a:t>[Texto alternativo] Diagrama sobre «Fenómeno físico y sensación sonora no son sinónimos»: comparación físico/perceptual con códigos teal/ocre y síntesis inferior. La lectura central es que una perturbación puede medirse sin oyente; la sensación depende del sistema auditivo y del contexto. Recurso principal: U04-DG-003.</a:t>
            </a:r>
          </a:p>
          <a:p>
            <a:endParaRPr/>
          </a:p>
          <a:p>
            <a:r>
              <a:t>[Sources]</a:t>
            </a:r>
          </a:p>
          <a:p>
            <a:r>
              <a:t>- PO; TEX 4.3; PDF p. 90; GLO; CCM U04-01 y U04-14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U04-009 · El campo no necesita un oyente para existir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Corregir dependencia entre fenómeno y receptor.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El receptor detecta o procesa un campo; no lo crea por estar presente.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campo existente con receptor presente/ausente; sin flechas causales ambiguas.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«El campo no necesita un oyente para existir»?</a:t>
            </a:r>
          </a:p>
          <a:p>
            <a:endParaRPr/>
          </a:p>
          <a:p>
            <a:r>
              <a:t>**Respuesta esperada:** El receptor detecta o procesa un campo; no lo crea por estar presente.</a:t>
            </a:r>
          </a:p>
          <a:p>
            <a:endParaRPr/>
          </a:p>
          <a:p>
            <a:r>
              <a:t>**Énfasis / error frecuente:** Distinguir existencia, detección y experiencia.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Organizar los elementos de la cadena acústica.</a:t>
            </a:r>
          </a:p>
          <a:p>
            <a:endParaRPr/>
          </a:p>
          <a:p>
            <a:r>
              <a:t>**Fuente de apoyo:** TEX 4.3.1 y ejercicios C1; PDF pp. 91, 108; GLO</a:t>
            </a:r>
          </a:p>
          <a:p>
            <a:endParaRPr/>
          </a:p>
          <a:p>
            <a:r>
              <a:t>[Texto alternativo] Diagrama sobre «El campo no necesita un oyente para existir»: campo existente con receptor presente/ausente; sin flechas causales ambiguas. La lectura central es que el receptor detecta o procesa un campo; no lo crea por estar presente. Recurso principal: U04-DG-003.</a:t>
            </a:r>
          </a:p>
          <a:p>
            <a:endParaRPr/>
          </a:p>
          <a:p>
            <a:r>
              <a:t>[Sources]</a:t>
            </a:r>
          </a:p>
          <a:p>
            <a:r>
              <a:t>- TEX 4.3.1 y ejercicios C1; PDF pp. 91, 108;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U04-010 · Fuente, medio, campo y receptor cumplen funciones distintas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la cadena funcional.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Cuatro etapas con verbos y una advertencia: solo fuente y medio son necesarios para generar y propagar. Idea de cierre: La fuente perturba, el medio sostiene la propagación, el campo describe y el receptor responde.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4 nodos, 3 conectores, rótulos de función y corredor libre para flechas.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fuente perturba, el medio sostiene la propagación, el campo describe y el receptor responde.</a:t>
            </a:r>
          </a:p>
          <a:p>
            <a:endParaRPr/>
          </a:p>
          <a:p>
            <a:r>
              <a:t>**Énfasis / error frecuente:** Evitar convertir el diagrama en una secuencia temporal rígida; “campo” es descripción del estado.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que las fuentes pueden producir perturbaciones de modos diferentes.</a:t>
            </a:r>
          </a:p>
          <a:p>
            <a:endParaRPr/>
          </a:p>
          <a:p>
            <a:r>
              <a:t>**Fuente de apoyo:** PO; TEX 4.3.1; PDF p. 91; BR; GLO</a:t>
            </a:r>
          </a:p>
          <a:p>
            <a:endParaRPr/>
          </a:p>
          <a:p>
            <a:r>
              <a:t>[Texto alternativo] Diagrama sobre «Fuente, medio, campo y receptor cumplen funciones distintas»: 4 nodos, 3 conectores, rótulos de función y corredor libre para flechas. La lectura central es que la fuente perturba, el medio sostiene la propagación, el campo describe y el receptor responde. Recurso principal: U04-DG-003.</a:t>
            </a:r>
          </a:p>
          <a:p>
            <a:endParaRPr/>
          </a:p>
          <a:p>
            <a:r>
              <a:t>[Sources]</a:t>
            </a:r>
          </a:p>
          <a:p>
            <a:r>
              <a:t>- PO; TEX 4.3.1; PDF p. 91; BR;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U04-011 · Distintas fuentes, una misma pregunta: ¿qué perturba el medio?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las formas de generación del programa.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Membrana, cuerda, pliegues vocales, columna de aire y turbulencia originan perturbaciones mediante mecanismos distintos.</a:t>
            </a:r>
          </a:p>
          <a:p>
            <a:endParaRPr/>
          </a:p>
          <a:p>
            <a:r>
              <a:t>**Guía para el visual o diagrama:** Identificar qué parte del recurso aporta evidencia y qué parte solo orienta. Esquema propio U04-DG-021 con cinco mecanismos de generación; una imagen técnica externa solo puede añadirse si está verificada y registrada.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Membrana, cuerda, pliegues vocales, columna de aire y turbulencia originan perturbaciones mediante mecanismos distintos.</a:t>
            </a:r>
          </a:p>
          <a:p>
            <a:endParaRPr/>
          </a:p>
          <a:p>
            <a:r>
              <a:t>**Énfasis / error frecuente:** Nombrar la variable mecánica inicial y evitar afirmar que todas las fuentes son sinusoidales.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Elegir dos mecanismos próximos a Fonoaudiología para profundizar.</a:t>
            </a:r>
          </a:p>
          <a:p>
            <a:endParaRPr/>
          </a:p>
          <a:p>
            <a:r>
              <a:t>**Fuente de apoyo:** PO; SA; OD-U04-07; ED</a:t>
            </a:r>
          </a:p>
          <a:p>
            <a:endParaRPr/>
          </a:p>
          <a:p>
            <a:r>
              <a:t>[Texto alternativo] Diagrama conceptual alternativo sobre «Distintas fuentes, una misma pregunta: ¿qué perturba el medio?»: Esquema propio U04-DG-021 con cinco mecanismos de generación; una imagen técnica externa solo puede añadirse si está verificada y registrada. La lectura central es que membrana, cuerda, pliegues vocales, columna de aire y turbulencia originan perturbaciones mediante mecanismos distintos. Recurso principal: U04-DG-021.</a:t>
            </a:r>
          </a:p>
          <a:p>
            <a:endParaRPr/>
          </a:p>
          <a:p>
            <a:r>
              <a:t>[Sources]</a:t>
            </a:r>
          </a:p>
          <a:p>
            <a:r>
              <a:t>- PO; SA; OD-U04-07;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U04-012 · Los pliegues vocales generan; el aire transporta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Vincular generación con voz.</a:t>
            </a:r>
          </a:p>
          <a:p>
            <a:endParaRPr/>
          </a:p>
          <a:p>
            <a:r>
              <a:t>**Explicación extendida:** Presentar la situación profesional sin prometer una inferencia clínica mayor que la evidencia disponible. Separar fenómeno, sensor, procesamiento y decisión. Vínculo que debe quedar: La oscilación de la fuente y la propagación por el aire son procesos distintos.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4 nodos y 3 conectores; sin anatomía detallada ni datos no verificados.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oscilación de la fuente y la propagación por el aire son procesos distintos.</a:t>
            </a:r>
          </a:p>
          <a:p>
            <a:endParaRPr/>
          </a:p>
          <a:p>
            <a:r>
              <a:t>**Énfasis / error frecuente:** Usar el ejemplo para reforzar fuente/medio, no para enseñar fonación completa.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con una fuente electroacústica más controlable.</a:t>
            </a:r>
          </a:p>
          <a:p>
            <a:endParaRPr/>
          </a:p>
          <a:p>
            <a:r>
              <a:t>**Fuente de apoyo:** PO; BR aplicaciones; ED</a:t>
            </a:r>
          </a:p>
          <a:p>
            <a:endParaRPr/>
          </a:p>
          <a:p>
            <a:r>
              <a:t>[Texto alternativo] Diagrama sobre «Los pliegues vocales generan; el aire transporta»: 4 nodos y 3 conectores; sin anatomía detallada ni datos no verificados. La lectura central es que la oscilación de la fuente y la propagación por el aire son procesos distintos. Recurso principal: U04-DG-004.</a:t>
            </a:r>
          </a:p>
          <a:p>
            <a:endParaRPr/>
          </a:p>
          <a:p>
            <a:r>
              <a:t>[Sources]</a:t>
            </a:r>
          </a:p>
          <a:p>
            <a:r>
              <a:t>- PO; BR aplicaciones;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U04-013 · El cono del parlante alterna compresiones y rarefacciones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Concretar generación mecánica en aire.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Dos estados del cono y regiones de compresión/rarefacción; avance del frente separado del movimiento del cono. Idea de cierre: El cono se desplaza localmente y modifica la presión del aire vecino.</a:t>
            </a:r>
          </a:p>
          <a:p>
            <a:endParaRPr/>
          </a:p>
          <a:p>
            <a:r>
              <a:t>**Guía para el visual o diagrama:** Antes de reproducir, pedir una predicción. Pausar en un cuadro donde se distingan movimiento local y propagación. Usar U04-DG-004 como alternativa estática. El GIF U04-MED-001 es opcional y solo se reproduce después de aprobar encuadre y crédito. Usar la alternativa estática si el medio falla.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cono se desplaza localmente y modifica la presión del aire vecino.</a:t>
            </a:r>
          </a:p>
          <a:p>
            <a:endParaRPr/>
          </a:p>
          <a:p>
            <a:r>
              <a:t>**Énfasis / error frecuente:** Recuperar U3 y pedir qué variable acústica se formalizará después.</a:t>
            </a:r>
          </a:p>
          <a:p>
            <a:endParaRPr/>
          </a:p>
          <a:p>
            <a:r>
              <a:t>**Demostración o multimedia:** `U04-MED-001` está preseleccionado: verificar encuadre/crédito antes de reproducir y conservar alternativa estática.</a:t>
            </a:r>
          </a:p>
          <a:p>
            <a:endParaRPr/>
          </a:p>
          <a:p>
            <a:r>
              <a:t>**Transición:** Consolidar el bloque antes de explicar el medio.</a:t>
            </a:r>
          </a:p>
          <a:p>
            <a:endParaRPr/>
          </a:p>
          <a:p>
            <a:r>
              <a:t>**Fuente de apoyo:** TEX 4.3.1; PDF p. 91; U3</a:t>
            </a:r>
          </a:p>
          <a:p>
            <a:endParaRPr/>
          </a:p>
          <a:p>
            <a:r>
              <a:t>[Texto alternativo] Diagrama estático alternativo sobre «El cono del parlante alterna compresiones y rarefacciones»: Usar U04-DG-004 como alternativa estática. El GIF U04-MED-001 es opcional y solo se reproduce después de aprobar encuadre y crédito. La lectura central es que el cono se desplaza localmente y modifica la presión del aire vecino. Recurso principal: U04-DG-004.</a:t>
            </a:r>
          </a:p>
          <a:p>
            <a:endParaRPr/>
          </a:p>
          <a:p>
            <a:r>
              <a:t>[Sources]</a:t>
            </a:r>
          </a:p>
          <a:p>
            <a:r>
              <a:t>- TEX 4.3.1; PDF p. 91;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U04-014 · Hasta acá: existir, generar, propagar, detectar y percibir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cinco verbos que no deben confundirse.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Cada verbo exige un objeto y una evidencia diferente.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reducido fuente–medio–campo–receptor con bifurcación medir/percibir.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Cada verbo exige un objeto y una evidencia diferente.</a:t>
            </a:r>
          </a:p>
          <a:p>
            <a:endParaRPr/>
          </a:p>
          <a:p>
            <a:r>
              <a:t>**Énfasis / error frecuente:** Repetición pedagógica: pasar de definiciones a decisiones sobre dos casos; no repetir párrafos.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qué propiedades del medio hacen posible la propagación.</a:t>
            </a:r>
          </a:p>
          <a:p>
            <a:endParaRPr/>
          </a:p>
          <a:p>
            <a:r>
              <a:t>**Fuente de apoyo:** PO; TEX 4.3; CM; BR</a:t>
            </a:r>
          </a:p>
          <a:p>
            <a:endParaRPr/>
          </a:p>
          <a:p>
            <a:r>
              <a:t>[Texto alternativo] Diagrama sobre «Hasta acá: existir, generar, propagar, detectar y percibir»: mapa reducido fuente–medio–campo–receptor con bifurcación medir/percibir. La lectura central es que cada verbo exige un objeto y una evidencia diferente. Recurso principal: U04-DG-002.</a:t>
            </a:r>
          </a:p>
          <a:p>
            <a:endParaRPr/>
          </a:p>
          <a:p>
            <a:r>
              <a:t>[Sources]</a:t>
            </a:r>
          </a:p>
          <a:p>
            <a:r>
              <a:t>- PO; TEX 4.3; CM;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U04-015 · El medio responde: elasticidad, inercia y rapidez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bloque del mecanismo de propagación.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La onda avanza porque regiones vecinas pueden deformarse, restaurarse y adquirir movimiento.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permiten la elasticidad y la inercia que avance una perturbación?</a:t>
            </a:r>
          </a:p>
          <a:p>
            <a:endParaRPr/>
          </a:p>
          <a:p>
            <a:r>
              <a:t>**Respuesta esperada:** La onda avanza porque regiones vecinas pueden deformarse, restaurarse y adquirir movimiento.</a:t>
            </a:r>
          </a:p>
          <a:p>
            <a:endParaRPr/>
          </a:p>
          <a:p>
            <a:r>
              <a:t>**Énfasis / error frecuente:** Recuperar elasticidad, inercia y densidad de U2.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Observar primero el tipo de movimiento en un fluido.</a:t>
            </a:r>
          </a:p>
          <a:p>
            <a:endParaRPr/>
          </a:p>
          <a:p>
            <a:r>
              <a:t>**Fuente de apoyo:** PO; TEX 4.4; PDF p. 91; U2</a:t>
            </a:r>
          </a:p>
          <a:p>
            <a:endParaRPr/>
          </a:p>
          <a:p>
            <a:r>
              <a:t>[Texto alternativo] Slide tipográfica titulada «El medio responde: elasticidad, inercia y rapidez»; destaca que la onda avanza porque regiones vecinas pueden deformarse, restaurarse y adquirir movimiento.</a:t>
            </a:r>
          </a:p>
          <a:p>
            <a:endParaRPr/>
          </a:p>
          <a:p>
            <a:r>
              <a:t>[Sources]</a:t>
            </a:r>
          </a:p>
          <a:p>
            <a:r>
              <a:t>- PO; TEX 4.4; PDF p. 91; U2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U04-016 · En un fluido, el movimiento local es principalmente longitudinal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Aplicar propiedades de onda de U3 al sonido.</a:t>
            </a:r>
          </a:p>
          <a:p>
            <a:endParaRPr/>
          </a:p>
          <a:p>
            <a:r>
              <a:t>**Explicación extendida:** Desarrollar el alcance aprobado —Compresión, rarefacción, movimiento local y frente; `f`, `λ`, fase y amplitud como propiedades recuperadas— y vincular cada afirmación con una magnitud, unidad, referencia o condición. Idea central: Las regiones del fluido oscilan aproximadamente en la dirección de propagación.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partículas y bandas de presión con flechas locales/propagación diferenciadas.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Las regiones del fluido oscilan aproximadamente en la dirección de propagación.</a:t>
            </a:r>
          </a:p>
          <a:p>
            <a:endParaRPr/>
          </a:p>
          <a:p>
            <a:r>
              <a:t>**Énfasis / error frecuente:** Aclarar que el dibujo de onda no representa trayectoria transversal del aire.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Explicar qué hace volver a una región comprimida.</a:t>
            </a:r>
          </a:p>
          <a:p>
            <a:endParaRPr/>
          </a:p>
          <a:p>
            <a:r>
              <a:t>**Fuente de apoyo:** PO; TEX 4.3–4.4; PDF pp. 90–91; CCM U04-04; U3</a:t>
            </a:r>
          </a:p>
          <a:p>
            <a:endParaRPr/>
          </a:p>
          <a:p>
            <a:r>
              <a:t>[Texto alternativo] Diagrama sobre «En un fluido, el movimiento local es principalmente longitudinal»: partículas y bandas de presión con flechas locales/propagación diferenciadas. La lectura central es que las regiones del fluido oscilan aproximadamente en la dirección de propagación.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PO; TEX 4.3–4.4; PDF pp. 90–91; CCM U04-04;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U04-017 · La elasticidad aporta la acción restauradora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Recuperar elasticidad en escala distribuida.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Al comprimir una región, el medio desarrolla fuerzas que tienden al equilibrio.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regiones antes/durante/después con fuerzas restauradoras.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Al comprimir una región, el medio desarrolla fuerzas que tienden al equilibrio.</a:t>
            </a:r>
          </a:p>
          <a:p>
            <a:endParaRPr/>
          </a:p>
          <a:p>
            <a:r>
              <a:t>**Énfasis / error frecuente:** Conectar con el resorte sin afirmar que el aire es una hilera literal de resortes.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Añadir la oposición al cambio de movimiento.</a:t>
            </a:r>
          </a:p>
          <a:p>
            <a:endParaRPr/>
          </a:p>
          <a:p>
            <a:r>
              <a:t>**Fuente de apoyo:** PO; TEX 4.4; PDF p. 91; GLO; U2</a:t>
            </a:r>
          </a:p>
          <a:p>
            <a:endParaRPr/>
          </a:p>
          <a:p>
            <a:r>
              <a:t>[Texto alternativo] Diagrama sobre «La elasticidad aporta la acción restauradora»: tres regiones antes/durante/después con fuerzas restauradoras. La lectura central es que al comprimir una región, el medio desarrolla fuerzas que tienden al equilibrio.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PO; TEX 4.4; PDF p. 91; GLO; U2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U04-018 · La inercia distribuida evita cambios instantáneos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Relacionar masa del medio y densidad.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densidad representa cuánta inercia contiene un volumen del medio.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misma deformación conceptual con dos inercias y advertencia de variables acopladas.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densidad representa cuánta inercia contiene un volumen del medio.</a:t>
            </a:r>
          </a:p>
          <a:p>
            <a:endParaRPr/>
          </a:p>
          <a:p>
            <a:r>
              <a:t>**Énfasis / error frecuente:** Recordar que comparar materiales requiere mantener o conocer otras propiedades.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Integrar elasticidad e inercia en una secuencia.</a:t>
            </a:r>
          </a:p>
          <a:p>
            <a:endParaRPr/>
          </a:p>
          <a:p>
            <a:r>
              <a:t>**Fuente de apoyo:** TEX 4.4; PDF p. 91; NOT; GLO</a:t>
            </a:r>
          </a:p>
          <a:p>
            <a:endParaRPr/>
          </a:p>
          <a:p>
            <a:r>
              <a:t>[Texto alternativo] Diagrama sobre «La inercia distribuida evita cambios instantáneos»: misma deformación conceptual con dos inercias y advertencia de variables acopladas. La lectura central es que la densidad representa cuánta inercia contiene un volumen del medio.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U04-019 · Restauración e inercia transmiten la perturbación a la región vecina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Explicar el mecanismo completo.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Secuencia de 4–5 estados: compresión, fuerza vecina, movimiento, nueva compresión y avance. Idea de cierre: La propagación resulta de la interacción entre deformación elástica e inercia.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5 etapas; flechas de fuerza y avance con semántica distinta.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propagación resulta de la interacción entre deformación elástica e inercia.</a:t>
            </a:r>
          </a:p>
          <a:p>
            <a:endParaRPr/>
          </a:p>
          <a:p>
            <a:r>
              <a:t>**Énfasis / error frecuente:** Narrar causalidad local y evitar que “energía” aparezca como sustancia que empuja.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qué propiedades fijan `c`.</a:t>
            </a:r>
          </a:p>
          <a:p>
            <a:endParaRPr/>
          </a:p>
          <a:p>
            <a:r>
              <a:t>**Fuente de apoyo:** TEX 4.4; PDF p. 91; BR</a:t>
            </a:r>
          </a:p>
          <a:p>
            <a:endParaRPr/>
          </a:p>
          <a:p>
            <a:r>
              <a:t>[Texto alternativo] Diagrama sobre «Restauración e inercia transmiten la perturbación a la región vecina»: 5 etapas; flechas de fuerza y avance con semántica distinta. La lectura central es que la propagación resulta de la interacción entre deformación elástica e inercia. Recurso principal: U04-DG-005.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U04-020 · La rapidez depende de rigidez volumétrica y densidad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`c=√(K_s/ρ)` sin sobregeneralizar.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Mayor `K_s` favorece `c` mayor y mayor `ρ`, aislada, favorece `c` menor.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dos ramas de tendencia y caja de condiciones.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Mayor `K_s` favorece `c` mayor y mayor `ρ`, aislada, favorece `c` menor.</a:t>
            </a:r>
          </a:p>
          <a:p>
            <a:endParaRPr/>
          </a:p>
          <a:p>
            <a:r>
              <a:t>**Énfasis / error frecuente:** Tratar la relación como modelo de fluido homogéneo y pequeñas perturbaciones; no exigir derivación.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Prevenir la lectura “más denso siempre más lento”.</a:t>
            </a:r>
          </a:p>
          <a:p>
            <a:endParaRPr/>
          </a:p>
          <a:p>
            <a:r>
              <a:t>**Fuente de apoyo:** TEX 4.4; PDF p. 91; NOT; INV F-U04-01</a:t>
            </a:r>
          </a:p>
          <a:p>
            <a:endParaRPr/>
          </a:p>
          <a:p>
            <a:r>
              <a:t>[Texto alternativo] Ecuación anotada sobre «La rapidez depende de rigidez volumétrica y densidad»: ecuación anotada con dos ramas de tendencia y caja de condiciones. La lectura central es que mayor `K_s` favorece `c` mayor y mayor `ρ`, aislada, favorece `c` menor. Recurso principal: U04-DG-006.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NOT; INV F-U04-01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U04-021 · La densidad sola no determina la rapidez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Corregir una inferencia causal incompleta.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La comparación entre medios requiere considerar simultáneamente elasticidad y densidad.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tabla de tendencias y condición “si lo demás no cambia”.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«La densidad sola no determina la rapidez»?</a:t>
            </a:r>
          </a:p>
          <a:p>
            <a:endParaRPr/>
          </a:p>
          <a:p>
            <a:r>
              <a:t>**Respuesta esperada:** La comparación entre medios requiere considerar simultáneamente elasticidad y densidad.</a:t>
            </a:r>
          </a:p>
          <a:p>
            <a:endParaRPr/>
          </a:p>
          <a:p>
            <a:r>
              <a:t>**Énfasis / error frecuente:** Pedir que nombren qué variable falta antes de comparar.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la dependencia a una condición conocida del aire.</a:t>
            </a:r>
          </a:p>
          <a:p>
            <a:endParaRPr/>
          </a:p>
          <a:p>
            <a:r>
              <a:t>**Fuente de apoyo:** TEX 4.4; PDF p. 91; BR errores</a:t>
            </a:r>
          </a:p>
          <a:p>
            <a:endParaRPr/>
          </a:p>
          <a:p>
            <a:r>
              <a:t>[Texto alternativo] Diagrama sobre «La densidad sola no determina la rapidez»: tabla de tendencias y condición “si lo demás no cambia”. La lectura central es que la comparación entre medios requiere considerar simultáneamente elasticidad y densidad. Recurso principal: U04-DG-006.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U04-022 · Al cambiar el medio: f se conserva; c y λ pueden cambiar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Integrar mecanismo y relaciones de U3.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En una interfaz estacionaria usual, la fuente fija `f`; el medio fija `c` y se ajusta `λ`.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medios, misma frecuencia y longitudes de onda diferentes; mini ecuación `λ=c/f`.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En una interfaz estacionaria usual, la fuente fija `f`; el medio fija `c` y se ajusta `λ`.</a:t>
            </a:r>
          </a:p>
          <a:p>
            <a:endParaRPr/>
          </a:p>
          <a:p>
            <a:r>
              <a:t>**Énfasis / error frecuente:** Repetición pedagógica de U3 con nueva función: decidir qué cambia al variar el medio.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Abrir la pregunta: ¿qué magnitudes describen ahora el campo?</a:t>
            </a:r>
          </a:p>
          <a:p>
            <a:endParaRPr/>
          </a:p>
          <a:p>
            <a:r>
              <a:t>**Fuente de apoyo:** TEX 4.4; PDF p. 91; U3; NOT</a:t>
            </a:r>
          </a:p>
          <a:p>
            <a:endParaRPr/>
          </a:p>
          <a:p>
            <a:r>
              <a:t>[Texto alternativo] Esquema mixto sobre «Al cambiar el medio: `f` se conserva; `c` y `λ` pueden cambiar»: dos medios, misma frecuencia y longitudes de onda diferentes; mini ecuación `λ=c/f`. La lectura central es que en una interfaz estacionaria usual, la fuente fija `f`; el medio fija `c` y se ajusta `λ`. Recurso principal: U04-DG-006.</a:t>
            </a:r>
          </a:p>
          <a:p>
            <a:endParaRPr/>
          </a:p>
          <a:p>
            <a:r>
              <a:t>[Sources]</a:t>
            </a:r>
          </a:p>
          <a:p>
            <a:r>
              <a:t>- TEX 4.4; PDF p. 91; U3;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U04-023 · Del avance de la onda a las magnitudes del campo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paso desde mecanismo a medición.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Un campo acústico asigna valores a posiciones e instantes.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magnitudes cambian en el campo y qué ocurre en una interfaz?</a:t>
            </a:r>
          </a:p>
          <a:p>
            <a:endParaRPr/>
          </a:p>
          <a:p>
            <a:r>
              <a:t>**Respuesta esperada:** Un campo acústico asigna valores a posiciones e instantes.</a:t>
            </a:r>
          </a:p>
          <a:p>
            <a:endParaRPr/>
          </a:p>
          <a:p>
            <a:r>
              <a:t>**Énfasis / error frecuente:** Recuperar `ξ(x,t)` de U3 y anunciar que ahora la variable será física y calibrable.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campo antes de enumerar magnitudes.</a:t>
            </a:r>
          </a:p>
          <a:p>
            <a:endParaRPr/>
          </a:p>
          <a:p>
            <a:r>
              <a:t>**Fuente de apoyo:** TEX 4.5; PDF p. 92; U3</a:t>
            </a:r>
          </a:p>
          <a:p>
            <a:endParaRPr/>
          </a:p>
          <a:p>
            <a:r>
              <a:t>[Texto alternativo] Slide tipográfica titulada «Del avance de la onda a las magnitudes del campo»; destaca que un campo acústico asigna valores a posiciones e instantes.</a:t>
            </a:r>
          </a:p>
          <a:p>
            <a:endParaRPr/>
          </a:p>
          <a:p>
            <a:r>
              <a:t>[Sources]</a:t>
            </a:r>
          </a:p>
          <a:p>
            <a:r>
              <a:t>- TEX 4.5; PDF p. 92;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U04-024 · Un campo acústico cambia con posición y tiempo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Definir el objeto de estudio.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Presión, velocidad e intensidad pueden tener valores diferentes en cada lugar e instante.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simple con dos posiciones, dos instantes y tres magnitudes listadas fuera del dibujo.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Presión, velocidad e intensidad pueden tener valores diferentes en cada lugar e instante.</a:t>
            </a:r>
          </a:p>
          <a:p>
            <a:endParaRPr/>
          </a:p>
          <a:p>
            <a:r>
              <a:t>**Énfasis / error frecuente:** Evitar convertir “campo” en sinónimo de recinto; señalar que es una distribución.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Elegir la primera variable fundamental.</a:t>
            </a:r>
          </a:p>
          <a:p>
            <a:endParaRPr/>
          </a:p>
          <a:p>
            <a:r>
              <a:t>**Fuente de apoyo:** PO; TEX 4.5; PDF p. 92; GLO</a:t>
            </a:r>
          </a:p>
          <a:p>
            <a:endParaRPr/>
          </a:p>
          <a:p>
            <a:r>
              <a:t>[Texto alternativo] Diagrama sobre «Un campo acústico cambia con posición y tiempo»: mapa simple con dos posiciones, dos instantes y tres magnitudes listadas fuera del dibujo. La lectura central es que presión, velocidad e intensidad pueden tener valores diferentes en cada lugar e instante.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PO; TEX 4.5; PDF p. 92;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U04-025 · La presión acústica es una variación alrededor de la presión estática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Definir `p(r,t)` con referente físico.</a:t>
            </a:r>
          </a:p>
          <a:p>
            <a:endParaRPr/>
          </a:p>
          <a:p>
            <a:r>
              <a:t>**Explicación extendida:** Desarrollar el alcance aprobado —`p_total=p_0+p(r,t)` como relación conceptual; unidades y signo respecto de `p_0`— y vincular cada afirmación con una magnitud, unidad, referencia o condición. Idea central: La presión total se separa en equilibrio y variación acústica.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presión total y pequeña oscilación acústica sobre una línea de equilibrio.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presión total se separa en equilibrio y variación acústica.</a:t>
            </a:r>
          </a:p>
          <a:p>
            <a:endParaRPr/>
          </a:p>
          <a:p>
            <a:r>
              <a:t>**Énfasis / error frecuente:** Diferenciar `p_0`, `p(t)` y `p_ref`; no introducir aún nivel.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el significado de valores negativos.</a:t>
            </a:r>
          </a:p>
          <a:p>
            <a:endParaRPr/>
          </a:p>
          <a:p>
            <a:r>
              <a:t>**Fuente de apoyo:** TEX 4.5.1; PDF p. 92; NOT; GLO</a:t>
            </a:r>
          </a:p>
          <a:p>
            <a:endParaRPr/>
          </a:p>
          <a:p>
            <a:r>
              <a:t>[Texto alternativo] Gráfico sobre «La presión acústica es una variación alrededor de la presión estática»: presión total y pequeña oscilación acústica sobre una línea de equilibrio. La lectura central es que la presión total se separa en equilibrio y variación acústica. Recurso principal: U04-CH-001.</a:t>
            </a:r>
          </a:p>
          <a:p>
            <a:endParaRPr/>
          </a:p>
          <a:p>
            <a:r>
              <a:t>[Sources]</a:t>
            </a:r>
          </a:p>
          <a:p>
            <a:r>
              <a:t>- TEX 4.5.1; PDF p. 92;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U04-026 · p(t)&lt;0 no significa presión total negativa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Corregir la lectura del signo.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Un valor acústico negativo indica presión menor que el equilibrio local.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eje de presión con `p_0`, sobrepresión y rarefacción.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«`p(t)&lt;0` no significa presión total negativa»?</a:t>
            </a:r>
          </a:p>
          <a:p>
            <a:endParaRPr/>
          </a:p>
          <a:p>
            <a:r>
              <a:t>**Respuesta esperada:** Un valor acústico negativo indica presión menor que el equilibrio local.</a:t>
            </a:r>
          </a:p>
          <a:p>
            <a:endParaRPr/>
          </a:p>
          <a:p>
            <a:r>
              <a:t>**Énfasis / error frecuente:** Usar la distinción entre variable relativa y valor total.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la variable de movimiento local.</a:t>
            </a:r>
          </a:p>
          <a:p>
            <a:endParaRPr/>
          </a:p>
          <a:p>
            <a:r>
              <a:t>**Fuente de apoyo:** TEX 4.5.1; PDF p. 92; BR errores</a:t>
            </a:r>
          </a:p>
          <a:p>
            <a:endParaRPr/>
          </a:p>
          <a:p>
            <a:r>
              <a:t>[Texto alternativo] Diagrama sobre «`p(t)&lt;0` no significa presión total negativa»: eje de presión con `p_0`, sobrepresión y rarefacción. La lectura central es que un valor acústico negativo indica presión menor que el equilibrio local.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TEX 4.5.1; PDF p. 92;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U04-027 · La velocidad de partícula describe movimiento local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Formalizar `u(r,t)`.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`u` indica cómo se mueve una pequeña región del medio, no cuán rápido avanza la onda.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partícula marcada, flecha local `u` y frente separado.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`u` indica cómo se mueve una pequeña región del medio, no cuán rápido avanza la onda.</a:t>
            </a:r>
          </a:p>
          <a:p>
            <a:endParaRPr/>
          </a:p>
          <a:p>
            <a:r>
              <a:t>**Énfasis / error frecuente:** Recordar que puede cambiar de sentido durante un ciclo.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Contrastar `u` con `c` antes de relacionarla con presión.</a:t>
            </a:r>
          </a:p>
          <a:p>
            <a:endParaRPr/>
          </a:p>
          <a:p>
            <a:r>
              <a:t>**Fuente de apoyo:** TEX 4.5.2; PDF p. 92; NOT; GLO; U3</a:t>
            </a:r>
          </a:p>
          <a:p>
            <a:endParaRPr/>
          </a:p>
          <a:p>
            <a:r>
              <a:t>[Texto alternativo] Diagrama sobre «La velocidad de partícula describe movimiento local»: partícula marcada, flecha local `u` y frente separado. La lectura central es que `u` indica cómo se mueve una pequeña región del medio, no cuán rápido avanza la onda.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TEX 4.5.2; PDF p. 92; NOT; GLO;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U04-028 · u y c comparten unidad, pero no pregunta física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una distinción crítica.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`u` describe movimiento local; `c`, avance de fase o perturbación.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paneles coordinados con flechas distintas y síntesis inferior.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`u` describe movimiento local; `c`, avance de fase o perturbación.</a:t>
            </a:r>
          </a:p>
          <a:p>
            <a:endParaRPr/>
          </a:p>
          <a:p>
            <a:r>
              <a:t>**Énfasis / error frecuente:** Pedir un ejemplo donde `u` cambie de signo mientras `c` mantiene sentido.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Relacionar esfuerzo local y respuesta de movimiento.</a:t>
            </a:r>
          </a:p>
          <a:p>
            <a:endParaRPr/>
          </a:p>
          <a:p>
            <a:r>
              <a:t>**Fuente de apoyo:** TEX 4.5.2; PDF p. 92; CDM; U3</a:t>
            </a:r>
          </a:p>
          <a:p>
            <a:endParaRPr/>
          </a:p>
          <a:p>
            <a:r>
              <a:t>[Texto alternativo] Diagrama sobre «`u` y `c` comparten unidad, pero no pregunta física»: dos paneles coordinados con flechas distintas y síntesis inferior. La lectura central es que `u` describe movimiento local; `c`, avance de fase o perturbación. Recurso principal: U04-DG-007.</a:t>
            </a:r>
          </a:p>
          <a:p>
            <a:endParaRPr/>
          </a:p>
          <a:p>
            <a:r>
              <a:t>[Sources]</a:t>
            </a:r>
          </a:p>
          <a:p>
            <a:r>
              <a:t>- TEX 4.5.2; PDF p. 92; CDM;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U04-029 · La impedancia relaciona presión y velocidad de partícula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Introducir `Z` con significado y unidad.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relación `p/u` depende del tipo de campo, frecuencia y fase.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presión y movimiento como entradas a una relación, sin usar una división universal.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relación `p/u` depende del tipo de campo, frecuencia y fase.</a:t>
            </a:r>
          </a:p>
          <a:p>
            <a:endParaRPr/>
          </a:p>
          <a:p>
            <a:r>
              <a:t>**Énfasis / error frecuente:** No tratar `Z=p/u` como una relación universal: pedir tipo de campo, frecuencia y fase. El formalismo complejo queda fuera del recorrido central de primer año.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el caso ideal donde la relación se simplifica.</a:t>
            </a:r>
          </a:p>
          <a:p>
            <a:endParaRPr/>
          </a:p>
          <a:p>
            <a:r>
              <a:t>**Fuente de apoyo:** PO; TEX 4.5.3; PDF p. 92; NOT; GLO</a:t>
            </a:r>
          </a:p>
          <a:p>
            <a:endParaRPr/>
          </a:p>
          <a:p>
            <a:r>
              <a:t>[Texto alternativo] Diagrama sobre «La impedancia relaciona presión y velocidad de partícula»: presión y movimiento como entradas a una relación, sin usar una división universal. La lectura central es que la relación `p/u` depende del tipo de campo, frecuencia y fase.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PO; TEX 4.5.3; PDF p. 92;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U04-030 · En una onda plana progresiva ideal, p/u=ρc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Presentar una relación condicionada.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`Z_0=ρc` vale para un modelo específico, no para todo campo.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sello de condiciones; callouts sin cruzar texto.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`Z_0=ρc` vale para un modelo específico, no para todo campo.</a:t>
            </a:r>
          </a:p>
          <a:p>
            <a:endParaRPr/>
          </a:p>
          <a:p>
            <a:r>
              <a:t>**Énfasis / error frecuente:** Explicar que presión y velocidad están en fase en este caso.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Usar la impedancia para anticipar lo que ocurre en una frontera.</a:t>
            </a:r>
          </a:p>
          <a:p>
            <a:endParaRPr/>
          </a:p>
          <a:p>
            <a:r>
              <a:t>**Fuente de apoyo:** TEX 4.5.3; PDF p. 92; NOT; INV F-U04-03</a:t>
            </a:r>
          </a:p>
          <a:p>
            <a:endParaRPr/>
          </a:p>
          <a:p>
            <a:r>
              <a:t>[Texto alternativo] Ecuación anotada sobre «En una onda plana progresiva ideal, `p/u=ρc`»: ecuación anotada y sello de condiciones; callouts sin cruzar texto. La lectura central es que `Z_0=ρc` vale para un modelo específico, no para todo campo.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TEX 4.5.3; PDF p. 92; NOT; INV F-U04-03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U04-031 · Una interfaz separa onda incidente, reflejada y transmitida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Explicar reflexión por desajuste de impedancias.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Dos medios, interfaz, tres ondas y casos límite `Z_01=Z_02` y gran diferencia. Idea de cierre: Una parte puede regresar y otra continuar; las proporciones dependen de las impedancias y las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reconstrucción de figura 4.1; 3 flechas, 2 nodos de medio y etiquetas fuera de trayectorias.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Una parte puede regresar y otra continuar; las proporciones dependen de las impedancias y las condiciones.</a:t>
            </a:r>
          </a:p>
          <a:p>
            <a:endParaRPr/>
          </a:p>
          <a:p>
            <a:r>
              <a:t>**Énfasis / error frecuente:** No usar longitud de flecha como amplitud; diferenciar coeficiente de presión y energía.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el coeficiente solo como profundidad opcional.</a:t>
            </a:r>
          </a:p>
          <a:p>
            <a:endParaRPr/>
          </a:p>
          <a:p>
            <a:r>
              <a:t>**Fuente de apoyo:** PO; TEX 4.5.4; PDF pp. 92–93; figura 4.1</a:t>
            </a:r>
          </a:p>
          <a:p>
            <a:endParaRPr/>
          </a:p>
          <a:p>
            <a:r>
              <a:t>[Texto alternativo] Diagrama sobre «Una interfaz separa onda incidente, reflejada y transmitida»: reconstrucción de figura 4.1; 3 flechas, 2 nodos de medio y etiquetas fuera de trayectorias. La lectura central es que una parte puede regresar y otra continuar; las proporciones dependen de las impedancias y las condiciones.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PO; TEX 4.5.4; PDF pp. 92–93; figura 4.1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U04-032 · Rₚ cuantifica la amplitud de presión reflejada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coeficiente de reflexión de presión.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Signo y módulo de `R_p` responden preguntas distintas.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conectada a los dos medios y dos casos límite.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Signo y módulo de `R_p` responden preguntas distintas.</a:t>
            </a:r>
          </a:p>
          <a:p>
            <a:endParaRPr/>
          </a:p>
          <a:p>
            <a:r>
              <a:t>**Énfasis / error frecuente:** No enseñar como fórmula universal ni confundir con transmisión de presión.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con una aplicación y una síntesis de magnitudes locales.</a:t>
            </a:r>
          </a:p>
          <a:p>
            <a:endParaRPr/>
          </a:p>
          <a:p>
            <a:r>
              <a:t>**Fuente de apoyo:** TEX 4.5.4; PDF p. 93; INV F-U04-04–05</a:t>
            </a:r>
          </a:p>
          <a:p>
            <a:endParaRPr/>
          </a:p>
          <a:p>
            <a:r>
              <a:t>[Texto alternativo] Ecuación anotada sobre «`R_p` cuantifica la amplitud de presión reflejada»: ecuación anotada conectada a los dos medios y dos casos límite. La lectura central es que signo y módulo de `R_p` responden preguntas distintas.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TEX 4.5.4; PDF p. 93; INV F-U04-04–05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U04-033 · Hasta acá: p, u, Z y reflexión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magnitudes y condiciones.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Antes de usar una relación hay que identificar variable, unidad, campo e interfaz.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reducido `p ↔ u → Z → reflexión`; máximo 4 nodos.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Antes de usar una relación hay que identificar variable, unidad, campo e interfaz.</a:t>
            </a:r>
          </a:p>
          <a:p>
            <a:endParaRPr/>
          </a:p>
          <a:p>
            <a:r>
              <a:t>**Énfasis / error frecuente:** Repetición pedagógica: pasar de definiciones a diagnóstico de una interfaz; no anticipar anatomía de U6.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qué magnitud describe el flujo de energía.</a:t>
            </a:r>
          </a:p>
          <a:p>
            <a:endParaRPr/>
          </a:p>
          <a:p>
            <a:r>
              <a:t>**Fuente de apoyo:** PO; TEX 4.5 y 4.12; PDF pp. 92–93, 106; CM</a:t>
            </a:r>
          </a:p>
          <a:p>
            <a:endParaRPr/>
          </a:p>
          <a:p>
            <a:r>
              <a:t>[Texto alternativo] Diagrama sobre «Hasta acá: `p`, `u`, `Z` y reflexión»: mapa reducido `p ↔ u → Z → reflexión`; máximo 4 nodos. La lectura central es que antes de usar una relación hay que identificar variable, unidad, campo e interfaz. Recurso principal: U04-DG-008.</a:t>
            </a:r>
          </a:p>
          <a:p>
            <a:endParaRPr/>
          </a:p>
          <a:p>
            <a:r>
              <a:t>[Sources]</a:t>
            </a:r>
          </a:p>
          <a:p>
            <a:r>
              <a:t>- PO; TEX 4.5 y 4.12; PDF pp. 92–93, 106;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U04-034 · Del movimiento local al flujo de energía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Marcar el bloque de intensidad, potencia y energía.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Presión no es intensidad y una magnitud local no es el total de la fuente.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distinguimos una variable local de la transferencia de energía?</a:t>
            </a:r>
          </a:p>
          <a:p>
            <a:endParaRPr/>
          </a:p>
          <a:p>
            <a:r>
              <a:t>**Respuesta esperada:** Presión no es intensidad y una magnitud local no es el total de la fuente.</a:t>
            </a:r>
          </a:p>
          <a:p>
            <a:endParaRPr/>
          </a:p>
          <a:p>
            <a:r>
              <a:t>**Énfasis / error frecuente:** Recuperar potencia y energía de U2.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Construir primero la intensidad instantánea.</a:t>
            </a:r>
          </a:p>
          <a:p>
            <a:endParaRPr/>
          </a:p>
          <a:p>
            <a:r>
              <a:t>**Fuente de apoyo:** TEX 4.5.5; PDF pp. 93–95; U2</a:t>
            </a:r>
          </a:p>
          <a:p>
            <a:endParaRPr/>
          </a:p>
          <a:p>
            <a:r>
              <a:t>[Texto alternativo] Slide tipográfica titulada «Del movimiento local al flujo de energía»; destaca que presión no es intensidad y una magnitud local no es el total de la fuente.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pp. 93–95; U2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U04-035 · La intensidad instantánea combina presión y velocidad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`i(t)=p(t)u(t)`.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signo del producto indica dirección instantánea del flujo en el eje elegido.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tabla de signos; no superponer flechas a texto.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signo del producto indica dirección instantánea del flujo en el eje elegido.</a:t>
            </a:r>
          </a:p>
          <a:p>
            <a:endParaRPr/>
          </a:p>
          <a:p>
            <a:r>
              <a:t>**Énfasis / error frecuente:** Mostrar dimensionalmente que `Pa·m/s=W/m²`.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Visualizar el producto durante un ciclo.</a:t>
            </a:r>
          </a:p>
          <a:p>
            <a:endParaRPr/>
          </a:p>
          <a:p>
            <a:r>
              <a:t>**Fuente de apoyo:** TEX 4.5.5; PDF pp. 93–94; NOT; INV F-U04-06</a:t>
            </a:r>
          </a:p>
          <a:p>
            <a:endParaRPr/>
          </a:p>
          <a:p>
            <a:r>
              <a:t>[Texto alternativo] Ecuación anotada sobre «La intensidad instantánea combina presión y velocidad»: ecuación anotada y tabla de signos; no superponer flechas a texto. La lectura central es que el signo del producto indica dirección instantánea del flujo en el eje elegido. Recurso principal: U04-DG-009.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pp. 93–94; NOT; INV F-U04-06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U04-036 · Presión y velocidad oscilan; su producto describe el flujo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Leer `p(t)`, `u(t)` e `i(t)` coordinadamente.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En la onda progresiva ideal, `p` y `u` están en fase y `i` presenta dos máximos por período.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reconstrucción de figura 4.2 con tres ejes coordinados y normalización explícita.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En la onda progresiva ideal, `p` y `u` están en fase y `i` presenta dos máximos por período.</a:t>
            </a:r>
          </a:p>
          <a:p>
            <a:endParaRPr/>
          </a:p>
          <a:p>
            <a:r>
              <a:t>**Énfasis / error frecuente:** Pedir por qué el producto es positivo cuando ambas variables son negativas.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Pasar del valor instantáneo al promedio temporal.</a:t>
            </a:r>
          </a:p>
          <a:p>
            <a:endParaRPr/>
          </a:p>
          <a:p>
            <a:r>
              <a:t>**Fuente de apoyo:** TEX 4.5.5; PDF pp. 94–95; figura 4.2; ejercicios R2</a:t>
            </a:r>
          </a:p>
          <a:p>
            <a:endParaRPr/>
          </a:p>
          <a:p>
            <a:r>
              <a:t>[Texto alternativo] Gráfico sobre «Presión y velocidad oscilan; su producto describe el flujo»: reconstrucción de figura 4.2 con tres ejes coordinados y normalización explícita. La lectura central es que en la onda progresiva ideal, `p` y `u` están en fase y `i` presenta dos máximos por período. Recurso principal: U04-CH-002.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pp. 94–95; figura 4.2; ejercicios R2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U04-037 · La intensidad media resume el flujo durante un intervalo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Introducir el promedio temporal del producto.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Integrar aquí significa promediar `p(t)u(t)` durante una ventana definida.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línea temporal con ventana; fórmula discreta como apoyo.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Integrar aquí significa promediar `p(t)u(t)` durante una ventana definida.</a:t>
            </a:r>
          </a:p>
          <a:p>
            <a:endParaRPr/>
          </a:p>
          <a:p>
            <a:r>
              <a:t>**Énfasis / error frecuente:** No enseñar técnicas de integración; vincular con promedio de muestras.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Relacionar intensidad media con RMS en el modelo ideal.</a:t>
            </a:r>
          </a:p>
          <a:p>
            <a:endParaRPr/>
          </a:p>
          <a:p>
            <a:r>
              <a:t>**Fuente de apoyo:** TEX 4.5.5; PDF p. 94; OD-U04-19; INV F-U04-07</a:t>
            </a:r>
          </a:p>
          <a:p>
            <a:endParaRPr/>
          </a:p>
          <a:p>
            <a:r>
              <a:t>[Texto alternativo] Ecuación anotada sobre «La intensidad media resume el flujo durante un intervalo»: ecuación anotada y línea temporal con ventana; fórmula discreta como apoyo. La lectura central es que integrar aquí significa promediar `p(t)u(t)` durante una ventana definida. Recurso principal: U04-DG-009.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OD-U04-19; INV F-U04-07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U04-038 · En onda plana ideal, I se relaciona con valores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Conectar presión, velocidad e impedancia.</a:t>
            </a:r>
          </a:p>
          <a:p>
            <a:endParaRPr/>
          </a:p>
          <a:p>
            <a:r>
              <a:t>**Explicación extendida:** Presentar esta relación como anticipo controlado. Definir oralmente `p_rms` y `u_rms` como valores eficaces que resumen el efecto cuadrático durante una ventana, sin derivarlos todavía; la construcción completa aparece en B06. Leer luego cada símbolo con su unidad y repetir las hipótesis de onda plana progresiva ideal. Interpretación que debe quedar: `I=p_rms²/Z_0` requiere el mismo conjunto de hipótesis que `p/u=ρc`.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central anotada y equivalencias laterales; reservar 28 pt mínimo. No leer cada caja: usar el diagrama como guía y explicar la relación entre nodos.</a:t>
            </a:r>
          </a:p>
          <a:p>
            <a:endParaRPr/>
          </a:p>
          <a:p>
            <a:r>
              <a:t>**Pregunta al grupo:** ¿Qué representa aquí el subíndice RMS y qué falta aprender todavía para poder calcularlo desde una señal cualquiera?</a:t>
            </a:r>
          </a:p>
          <a:p>
            <a:endParaRPr/>
          </a:p>
          <a:p>
            <a:r>
              <a:t>**Respuesta esperada:** `I=p_rms²/Z_0` requiere el mismo conjunto de hipótesis que `p/u=ρc`.</a:t>
            </a:r>
          </a:p>
          <a:p>
            <a:endParaRPr/>
          </a:p>
          <a:p>
            <a:r>
              <a:t>**Énfasis / error frecuente:** Repetir las condiciones de forma intencional porque ahora habilitan un cálculo energético.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Modelar un ejemplo numérico antes de sumar más magnitudes.</a:t>
            </a:r>
          </a:p>
          <a:p>
            <a:endParaRPr/>
          </a:p>
          <a:p>
            <a:r>
              <a:t>**Fuente de apoyo:** TEX 4.5.5; PDF p. 94; NOT; INV F-U04-08</a:t>
            </a:r>
          </a:p>
          <a:p>
            <a:endParaRPr/>
          </a:p>
          <a:p>
            <a:r>
              <a:t>[Texto alternativo] Ecuación anotada sobre «En onda plana ideal, `I` se relaciona con valores RMS»: ecuación central anotada y equivalencias laterales; reservar 28 pt mínimo. La lectura central es que `I=p_rms²/Z_0` requiere el mismo conjunto de hipótesis que `p/u=ρc`. Recurso principal: U04-DG-009.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NOT; INV F-U04-08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U04-039 · De pᵣms a uᵣms e intensidad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un procedimiento con unidades.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Presión, velocidad e intensidad son resultados distintos aunque estén relacionados.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pasos; sin gráfico adicional.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Presión, velocidad e intensidad son resultados distintos aunque estén relacionados.</a:t>
            </a:r>
          </a:p>
          <a:p>
            <a:endParaRPr/>
          </a:p>
          <a:p>
            <a:r>
              <a:t>**Énfasis / error frecuente:** Leer datos, elegir relación, conservar unidades e interpretar cada resultado.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Distinguir el flujo local del total que atraviesa una superficie.</a:t>
            </a:r>
          </a:p>
          <a:p>
            <a:endParaRPr/>
          </a:p>
          <a:p>
            <a:r>
              <a:t>**Fuente de apoyo:** TEX 4.5.6; PDF pp. 94–95; INV ejemplo</a:t>
            </a:r>
          </a:p>
          <a:p>
            <a:endParaRPr/>
          </a:p>
          <a:p>
            <a:r>
              <a:t>[Texto alternativo] Ecuación anotada sobre «De `p_rms` a `u_rms` e intensidad»: Ecuaciones editables con revelado por pasos; sin gráfico adicional. La lectura central es que presión, velocidad e intensidad son resultados distintos aunque estén relacionados. Recurso principal: U04-DG-022.</a:t>
            </a:r>
          </a:p>
          <a:p>
            <a:endParaRPr/>
          </a:p>
          <a:p>
            <a:r>
              <a:t>[Sources]</a:t>
            </a:r>
          </a:p>
          <a:p>
            <a:r>
              <a:t>- TEX 4.5.6; PDF pp. 94–95; INV ejemplo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U04-040 · Intensidad, potencia y energía responden escalas diferentes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Diferenciar flujo por área, tasa total y cantidad transferida.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`I` es local/areal; `W_ac` es tasa total; `E_ac` acumula durante un intervalo.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diagrama `I → superficie → W_ac → tiempo → E_ac` con tabla lateral mínima.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`I` es local/areal; `W_ac` es tasa total; `E_ac` acumula durante un intervalo.</a:t>
            </a:r>
          </a:p>
          <a:p>
            <a:endParaRPr/>
          </a:p>
          <a:p>
            <a:r>
              <a:t>**Énfasis / error frecuente:** Adoptar provisionalmente `W_ac`; mencionar abreviación `W` del libro.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las dos relaciones como profundidad opcional.</a:t>
            </a:r>
          </a:p>
          <a:p>
            <a:endParaRPr/>
          </a:p>
          <a:p>
            <a:r>
              <a:t>**Fuente de apoyo:** TEX 4.5.5; PDF p. 94; NOT; GLO; OD-U04-02</a:t>
            </a:r>
          </a:p>
          <a:p>
            <a:endParaRPr/>
          </a:p>
          <a:p>
            <a:r>
              <a:t>[Texto alternativo] Esquema mixto sobre «Intensidad, potencia y energía responden escalas diferentes»: diagrama `I → superficie → W_ac → tiempo → E_ac` con tabla lateral mínima. La lectura central es que `I` es local/areal; `W_ac` es tasa total; `E_ac` acumula durante un intervalo. Recurso principal: U04-DG-010.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NOT; GLO; OD-U04-02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U04-041 · Superficie y tiempo conectan I, Wₐc y Eₐc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Registrar `W_ac=IS` y `E_ac=W_acΔt`.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Las relaciones simples requieren intensidad uniforme/normal y potencia constante.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ecuaciones anotadas en secuencia y superficie/intervalo esquemáticos.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Las relaciones simples requieren intensidad uniforme/normal y potencia constante.</a:t>
            </a:r>
          </a:p>
          <a:p>
            <a:endParaRPr/>
          </a:p>
          <a:p>
            <a:r>
              <a:t>**Énfasis / error frecuente:** Evitar generalizar `W=IS` cuando la intensidad no es uniforme o normal.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el bloque con una situación de medición.</a:t>
            </a:r>
          </a:p>
          <a:p>
            <a:endParaRPr/>
          </a:p>
          <a:p>
            <a:r>
              <a:t>**Fuente de apoyo:** TEX 4.5.5; PDF p. 94; INV F-U04-09–10</a:t>
            </a:r>
          </a:p>
          <a:p>
            <a:endParaRPr/>
          </a:p>
          <a:p>
            <a:r>
              <a:t>[Texto alternativo] Ecuación anotada sobre «Superficie y tiempo conectan `I`, `W_ac` y `E_ac`»: dos ecuaciones anotadas en secuencia y superficie/intervalo esquemáticos. La lectura central es que las relaciones simples requieren intensidad uniforme/normal y potencia constante. Recurso principal: U04-DG-010.</a:t>
            </a:r>
          </a:p>
          <a:p>
            <a:endParaRPr/>
          </a:p>
          <a:p>
            <a:r>
              <a:t>[Sources]</a:t>
            </a:r>
          </a:p>
          <a:p>
            <a:r>
              <a:t>- TEX 4.5.5; PDF p. 94; INV F-U04-09–10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U04-042 · Un micrófono mide una variable local; no la potencia total de la fuente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Aplicar y consolidar `p/u/I/W_ac/E_ac`.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La variable informada depende del sensor, el punto y el procesamiento.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proceso de medición con 4 nodos y callout de límites; conexión clínica.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La variable informada depende del sensor, el punto y el procesamiento.</a:t>
            </a:r>
          </a:p>
          <a:p>
            <a:endParaRPr/>
          </a:p>
          <a:p>
            <a:r>
              <a:t>**Énfasis / error frecuente:** Repetición pedagógica: usar las magnitudes para interpretar un instrumento, no volver a definirlas.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qué valor debe extraerse de una señal variable.</a:t>
            </a:r>
          </a:p>
          <a:p>
            <a:endParaRPr/>
          </a:p>
          <a:p>
            <a:r>
              <a:t>**Fuente de apoyo:** TEX 4.12; PDF p. 106; BR aplicaciones; CM</a:t>
            </a:r>
          </a:p>
          <a:p>
            <a:endParaRPr/>
          </a:p>
          <a:p>
            <a:r>
              <a:t>[Texto alternativo] Diagrama sobre «Un micrófono mide una variable local; no la potencia total de la fuente»: proceso de medición con 4 nodos y callout de límites; conexión clínica. La lectura central es que la variable informada depende del sensor, el punto y el procesamiento. Recurso principal: U04-DG-010.</a:t>
            </a:r>
          </a:p>
          <a:p>
            <a:endParaRPr/>
          </a:p>
          <a:p>
            <a:r>
              <a:t>[Sources]</a:t>
            </a:r>
          </a:p>
          <a:p>
            <a:r>
              <a:t>- TEX 4.12; PDF p. 106; BR aplicaciones; CM</a:t>
            </a:r>
          </a:p>
          <a:p>
            <a:r>
              <a:t>- https://commons.wikimedia.org/wiki/File:Sound_level_meter_Bruel_Kjaer.jpg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U04-043 · Una señal variable necesita más de un descriptor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el bloque de valores instantáneo, pico, pico a pico y medio.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Cada descriptor responde una pregunta distinta sobre la señal.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número resume cada aspecto de una señal variable?</a:t>
            </a:r>
          </a:p>
          <a:p>
            <a:endParaRPr/>
          </a:p>
          <a:p>
            <a:r>
              <a:t>**Respuesta esperada:** Cada descriptor responde una pregunta distinta sobre la señal.</a:t>
            </a:r>
          </a:p>
          <a:p>
            <a:endParaRPr/>
          </a:p>
          <a:p>
            <a:r>
              <a:t>**Énfasis / error frecuente:** Retomar la lectura temporal de U3.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por qué un solo número puede ser insuficiente.</a:t>
            </a:r>
          </a:p>
          <a:p>
            <a:endParaRPr/>
          </a:p>
          <a:p>
            <a:r>
              <a:t>**Fuente de apoyo:** PO; TEX 4.6; PDF pp. 95–97</a:t>
            </a:r>
          </a:p>
          <a:p>
            <a:endParaRPr/>
          </a:p>
          <a:p>
            <a:r>
              <a:t>[Texto alternativo] Slide tipográfica titulada «Una señal variable necesita más de un descriptor»; destaca que cada descriptor responde una pregunta distinta sobre la señal.</a:t>
            </a:r>
          </a:p>
          <a:p>
            <a:endParaRPr/>
          </a:p>
          <a:p>
            <a:r>
              <a:t>[Sources]</a:t>
            </a:r>
          </a:p>
          <a:p>
            <a:r>
              <a:t>- PO; TEX 4.6; PDF pp. 95–97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U04-044 · Un mismo registro admite resúmenes diferentes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Crear necesidad antes de definir.</a:t>
            </a:r>
          </a:p>
          <a:p>
            <a:endParaRPr/>
          </a:p>
          <a:p>
            <a:r>
              <a:t>**Explicación extendida:** Desarrollar el alcance aprobado —Una señal asimétrica marcada en un instante, sus extremos y línea media— y vincular cada afirmación con una magnitud, unidad, referencia o condición. Idea central: Forma temporal, extremos y balance no contienen la misma información.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señal única reutilizable en U04-045–050, con marcadores progresivos.</a:t>
            </a:r>
          </a:p>
          <a:p>
            <a:endParaRPr/>
          </a:p>
          <a:p>
            <a:r>
              <a:t>**Pregunta al grupo:** Si dos sinusoides tienen la misma frecuencia pero su diferencia de fase cambia durante la observación, ¿las tratarías como coherentes en esta secuencia? ¿Por qué?</a:t>
            </a:r>
          </a:p>
          <a:p>
            <a:endParaRPr/>
          </a:p>
          <a:p>
            <a:r>
              <a:t>**Respuesta esperada:** Forma temporal, extremos y balance no contienen la misma información.</a:t>
            </a:r>
          </a:p>
          <a:p>
            <a:endParaRPr/>
          </a:p>
          <a:p>
            <a:r>
              <a:t>**Énfasis / error frecuente:** Pedir qué número elegirían para prevenir saturación y cuál para describir balance.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Separar primero instante y extremo.</a:t>
            </a:r>
          </a:p>
          <a:p>
            <a:endParaRPr/>
          </a:p>
          <a:p>
            <a:r>
              <a:t>**Fuente de apoyo:** TEX 4.6; PDF pp. 95–97; BR</a:t>
            </a:r>
          </a:p>
          <a:p>
            <a:endParaRPr/>
          </a:p>
          <a:p>
            <a:r>
              <a:t>[Texto alternativo] Gráfico sobre «Un mismo registro admite resúmenes diferentes»: señal única reutilizable en U04-045–050, con marcadores progresivos. La lectura central es que forma temporal, extremos y balance no contienen la misma información. Recurso principal: U04-CH-003.</a:t>
            </a:r>
          </a:p>
          <a:p>
            <a:endParaRPr/>
          </a:p>
          <a:p>
            <a:r>
              <a:t>[Sources]</a:t>
            </a:r>
          </a:p>
          <a:p>
            <a:r>
              <a:t>- TEX 4.6; PDF pp. 95–97;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U04-045 · Valor instantáneo y valor pico no son intercambiables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Definir dos descriptores básicos.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El instantáneo depende de `t`; el pico es el mayor módulo o extremo según convención declarada.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gráfico anotado con callouts; declarar convención de pico.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El instantáneo depende de `t`; el pico es el mayor módulo o extremo según convención declarada.</a:t>
            </a:r>
          </a:p>
          <a:p>
            <a:endParaRPr/>
          </a:p>
          <a:p>
            <a:r>
              <a:t>**Énfasis / error frecuente:** Evitar usar “amplitud” sin aclarar si es pico, RMS u otro valor.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Añadir la excursión completa entre extremos.</a:t>
            </a:r>
          </a:p>
          <a:p>
            <a:endParaRPr/>
          </a:p>
          <a:p>
            <a:r>
              <a:t>**Fuente de apoyo:** TEX 4.6.1–4.6.2; PDF pp. 95–96; NOT; GLO</a:t>
            </a:r>
          </a:p>
          <a:p>
            <a:endParaRPr/>
          </a:p>
          <a:p>
            <a:r>
              <a:t>[Texto alternativo] Esquema mixto sobre «Valor instantáneo y valor pico no son intercambiables»: gráfico anotado con callouts; declarar convención de pico. La lectura central es que el instantáneo depende de `t`; el pico es el mayor módulo o extremo según convención declarada. Recurso principal: U04-CH-003.</a:t>
            </a:r>
          </a:p>
          <a:p>
            <a:endParaRPr/>
          </a:p>
          <a:p>
            <a:r>
              <a:t>[Sources]</a:t>
            </a:r>
          </a:p>
          <a:p>
            <a:r>
              <a:t>- TEX 4.6.1–4.6.2; PDF pp. 95–96; NOT;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U04-046 · Pico a pico mide la excursión entre extremos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Definir `x_pp=x_max-x_min`.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El valor pico a pico no equivale siempre a dos veces el pico.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más dos mini gráficos coordinados.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valor pico a pico no equivale siempre a dos veces el pico.</a:t>
            </a:r>
          </a:p>
          <a:p>
            <a:endParaRPr/>
          </a:p>
          <a:p>
            <a:r>
              <a:t>**Énfasis / error frecuente:** Reservar `2x_pico` para señales simétricas respecto de cero.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un descriptor de balance temporal.</a:t>
            </a:r>
          </a:p>
          <a:p>
            <a:endParaRPr/>
          </a:p>
          <a:p>
            <a:r>
              <a:t>**Fuente de apoyo:** TEX 4.6.3; PDF p. 96; NOT</a:t>
            </a:r>
          </a:p>
          <a:p>
            <a:endParaRPr/>
          </a:p>
          <a:p>
            <a:r>
              <a:t>[Texto alternativo] Esquema mixto sobre «Pico a pico mide la excursión entre extremos»: ecuación anotada más dos mini gráficos coordinados. La lectura central es que el valor pico a pico no equivale siempre a dos veces el pico. Recurso principal: U04-CH-003.</a:t>
            </a:r>
          </a:p>
          <a:p>
            <a:endParaRPr/>
          </a:p>
          <a:p>
            <a:r>
              <a:t>[Sources]</a:t>
            </a:r>
          </a:p>
          <a:p>
            <a:r>
              <a:t>- TEX 4.6.3; PDF p. 96;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U04-047 · El valor medio expresa balance durante una ventana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promedio temporal.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resultado depende de la ventana y puede ocultar oscilaciones grandes.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ventana temporal y áreas de signo opuesto. No leer cada caja: usar el diagrama como guía y explicar la relación entre nodos.</a:t>
            </a:r>
          </a:p>
          <a:p>
            <a:endParaRPr/>
          </a:p>
          <a:p>
            <a:r>
              <a:t>**Pregunta al grupo:** Compará `φ=0`, `φ=π/2` y `φ=π`: ¿en cuál hay máximo, resultado intermedio y cancelación local ideal?</a:t>
            </a:r>
          </a:p>
          <a:p>
            <a:endParaRPr/>
          </a:p>
          <a:p>
            <a:r>
              <a:t>**Respuesta esperada:** El resultado depende de la ventana y puede ocultar oscilaciones grandes.</a:t>
            </a:r>
          </a:p>
          <a:p>
            <a:endParaRPr/>
          </a:p>
          <a:p>
            <a:r>
              <a:t>**Énfasis / error frecuente:** No enseñar cálculo integral; usar promedio de muestras como puente.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Corregir la interpretación de media nula.</a:t>
            </a:r>
          </a:p>
          <a:p>
            <a:endParaRPr/>
          </a:p>
          <a:p>
            <a:r>
              <a:t>**Fuente de apoyo:** TEX 4.6.4; PDF p. 96; OD-U04-19; INV F-U04-11</a:t>
            </a:r>
          </a:p>
          <a:p>
            <a:endParaRPr/>
          </a:p>
          <a:p>
            <a:r>
              <a:t>[Texto alternativo] Ecuación anotada sobre «El valor medio expresa balance durante una ventana»: ecuación anotada con ventana temporal y áreas de signo opuesto. La lectura central es que el resultado depende de la ventana y puede ocultar oscilaciones grandes. Recurso principal: U04-DG-011.</a:t>
            </a:r>
          </a:p>
          <a:p>
            <a:endParaRPr/>
          </a:p>
          <a:p>
            <a:r>
              <a:t>[Sources]</a:t>
            </a:r>
          </a:p>
          <a:p>
            <a:r>
              <a:t>- TEX 4.6.4; PDF p. 96; OD-U04-19; INV F-U04-11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U04-048 · Media cero no significa señal nula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Prevenir una confusión central.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Una oscilación equilibrada puede tener energía y amplitud aunque su promedio sea cero.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seno completo y señal cero con la misma media.</a:t>
            </a:r>
          </a:p>
          <a:p>
            <a:endParaRPr/>
          </a:p>
          <a:p>
            <a:r>
              <a:t>**Pregunta al grupo:** ¿Qué condición o distinción falta en la afirmación «Media cero no significa señal nula»?</a:t>
            </a:r>
          </a:p>
          <a:p>
            <a:endParaRPr/>
          </a:p>
          <a:p>
            <a:r>
              <a:t>**Respuesta esperada:** Una oscilación equilibrada puede tener energía y amplitud aunque su promedio sea cero.</a:t>
            </a:r>
          </a:p>
          <a:p>
            <a:endParaRPr/>
          </a:p>
          <a:p>
            <a:r>
              <a:t>**Énfasis / error frecuente:** Pedir que nombren qué descriptor sí distingue ambas señales.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Hacer clasificar descriptores por pregunta.</a:t>
            </a:r>
          </a:p>
          <a:p>
            <a:endParaRPr/>
          </a:p>
          <a:p>
            <a:r>
              <a:t>**Fuente de apoyo:** TEX 4.6.4; PDF p. 96; BR errores</a:t>
            </a:r>
          </a:p>
          <a:p>
            <a:endParaRPr/>
          </a:p>
          <a:p>
            <a:r>
              <a:t>[Texto alternativo] Gráfico sobre «Media cero no significa señal nula»: seno completo y señal cero con la misma media. La lectura central es que una oscilación equilibrada puede tener energía y amplitud aunque su promedio sea cero. Recurso principal: U04-CH-004.</a:t>
            </a:r>
          </a:p>
          <a:p>
            <a:endParaRPr/>
          </a:p>
          <a:p>
            <a:r>
              <a:t>[Sources]</a:t>
            </a:r>
          </a:p>
          <a:p>
            <a:r>
              <a:t>- TEX 4.6.4; PDF p. 96;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U04-049 · ¿Qué descriptor elegirías en cada problema?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Practicar selección conceptual.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Practicar selección conceptual. No resolver por adelantado; usar como criterio de cierre que la elección depende de si interesa instante, límite, excursión o balance.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descriptor elegirías para detectar saturación y cuál para estimar componente continua?</a:t>
            </a:r>
          </a:p>
          <a:p>
            <a:endParaRPr/>
          </a:p>
          <a:p>
            <a:r>
              <a:t>**Respuesta esperada:** Pico para saturación; valor medio para componente continua.</a:t>
            </a:r>
          </a:p>
          <a:p>
            <a:endParaRPr/>
          </a:p>
          <a:p>
            <a:r>
              <a:t>**Énfasis / error frecuente:** Solicitar justificación de una oración; aceptar notación equivalente si se declara.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Recapitular y señalar el descriptor aún faltante.</a:t>
            </a:r>
          </a:p>
          <a:p>
            <a:endParaRPr/>
          </a:p>
          <a:p>
            <a:r>
              <a:t>**Fuente de apoyo:** TEX 4.6; PDF pp. 95–97; BR ejercicios</a:t>
            </a:r>
          </a:p>
          <a:p>
            <a:endParaRPr/>
          </a:p>
          <a:p>
            <a:r>
              <a:t>[Texto alternativo] Slide tipográfica titulada «¿Qué descriptor elegirías en cada problema?»; destaca que la elección depende de si interesa instante, límite, excursión o balance.</a:t>
            </a:r>
          </a:p>
          <a:p>
            <a:endParaRPr/>
          </a:p>
          <a:p>
            <a:r>
              <a:t>[Sources]</a:t>
            </a:r>
          </a:p>
          <a:p>
            <a:r>
              <a:t>- TEX 4.6; PDF pp. 95–97; BR ejercicios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U04-050 · Instante, extremo, excursión y balance: cuatro preguntas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sin redundancia.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Ninguno de estos valores describe por sí solo el “tamaño efectivo” de una señal alternante.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matriz visual de cuatro filas y señal común.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Ninguno de estos valores describe por sí solo el “tamaño efectivo” de una señal alternante.</a:t>
            </a:r>
          </a:p>
          <a:p>
            <a:endParaRPr/>
          </a:p>
          <a:p>
            <a:r>
              <a:t>**Énfasis / error frecuente:** Repetición pedagógica por comparación; no repetir definiciones completas.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Presentar el valor eficaz como respuesta a la limitación.</a:t>
            </a:r>
          </a:p>
          <a:p>
            <a:endParaRPr/>
          </a:p>
          <a:p>
            <a:r>
              <a:t>**Fuente de apoyo:** PO; TEX 4.6.1–4.6.4; PDF pp. 95–97</a:t>
            </a:r>
          </a:p>
          <a:p>
            <a:endParaRPr/>
          </a:p>
          <a:p>
            <a:r>
              <a:t>[Texto alternativo] Diagrama sobre «Instante, extremo, excursión y balance: cuatro preguntas»: matriz visual de cuatro filas y señal común. La lectura central es que ninguno de estos valores describe por sí solo el “tamaño efectivo” de una señal alternante. Recurso principal: U04-DG-011.</a:t>
            </a:r>
          </a:p>
          <a:p>
            <a:endParaRPr/>
          </a:p>
          <a:p>
            <a:r>
              <a:t>[Sources]</a:t>
            </a:r>
          </a:p>
          <a:p>
            <a:r>
              <a:t>- PO; TEX 4.6.1–4.6.4; PDF pp. 95–97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U04-051 · ¿Cómo resumimos el efecto de una señal alternante?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RMS y clasificación de señales.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valor eficaz conserva información cuadrática que el promedio puede cancelar.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cuantificamos el tamaño cuadrático de una señal?</a:t>
            </a:r>
          </a:p>
          <a:p>
            <a:endParaRPr/>
          </a:p>
          <a:p>
            <a:r>
              <a:t>**Respuesta esperada:** El valor eficaz conserva información cuadrática que el promedio puede cancelar.</a:t>
            </a:r>
          </a:p>
          <a:p>
            <a:endParaRPr/>
          </a:p>
          <a:p>
            <a:r>
              <a:t>**Énfasis / error frecuente:** Recuperar cuadrados y raíz cuadrada.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Construir el algoritmo antes de mostrar la fórmula.</a:t>
            </a:r>
          </a:p>
          <a:p>
            <a:endParaRPr/>
          </a:p>
          <a:p>
            <a:r>
              <a:t>**Fuente de apoyo:** PO; TEX 4.6.5–4.7; PDF pp. 96–97</a:t>
            </a:r>
          </a:p>
          <a:p>
            <a:endParaRPr/>
          </a:p>
          <a:p>
            <a:r>
              <a:t>[Texto alternativo] Slide tipográfica titulada «¿Cómo resumimos el efecto de una señal alternante?»; destaca que el valor eficaz conserva información cuadrática que el promedio puede cancelar.</a:t>
            </a:r>
          </a:p>
          <a:p>
            <a:endParaRPr/>
          </a:p>
          <a:p>
            <a:r>
              <a:t>[Sources]</a:t>
            </a:r>
          </a:p>
          <a:p>
            <a:r>
              <a:t>- PO; TEX 4.6.5–4.7; PDF pp. 96–97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U04-052 · RMS: cuadrar, promediar y extraer raíz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Comprender el procedimiento.</a:t>
            </a:r>
          </a:p>
          <a:p>
            <a:endParaRPr/>
          </a:p>
          <a:p>
            <a:r>
              <a:t>**Explicación extendida:** Narrar la secuencia paso a paso sin convertirla en una cadena causal más rígida de lo aprobado. En cada etapa preguntar qué entidad cambia y qué permanece. Alcance visual: Tres etapas con mini señal y resultado intermedio. Idea de cierre: Cada paso cumple una función: elimina signo, resume y recupera unidad.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3 nodos, conectores y rótulos de función; posible revelado progresivo.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paso cumple una función: elimina signo, resume y recupera unidad.</a:t>
            </a:r>
          </a:p>
          <a:p>
            <a:endParaRPr/>
          </a:p>
          <a:p>
            <a:r>
              <a:t>**Énfasis / error frecuente:** Destacar que la unidad final coincide con la magnitud original.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Visualizar el procedimiento completo.</a:t>
            </a:r>
          </a:p>
          <a:p>
            <a:endParaRPr/>
          </a:p>
          <a:p>
            <a:r>
              <a:t>**Fuente de apoyo:** TEX 4.6.5; PDF pp. 96–97; NOT</a:t>
            </a:r>
          </a:p>
          <a:p>
            <a:endParaRPr/>
          </a:p>
          <a:p>
            <a:r>
              <a:t>[Texto alternativo] Diagrama sobre «RMS: cuadrar, promediar y extraer raíz»: 3 nodos, conectores y rótulos de función; posible revelado progresivo. La lectura central es que cada paso cumple una función: elimina signo, resume y recupera unidad.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pp. 96–97;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U04-053 · El cuadrado transforma signo en contribución positiva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Leer la construcción gráfica del RMS.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Regiones positivas y negativas de la señal aportan positivamente tras elevar al cuadrado.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reconstrucción de figura 4.3 en cuatro paneles coordinados.</a:t>
            </a:r>
          </a:p>
          <a:p>
            <a:endParaRPr/>
          </a:p>
          <a:p>
            <a:r>
              <a:t>**Pregunta al grupo:** ¿Qué término desaparece si las señales no están correlacionadas durante la ventana y qué información conserva cuando son coherentes?</a:t>
            </a:r>
          </a:p>
          <a:p>
            <a:endParaRPr/>
          </a:p>
          <a:p>
            <a:r>
              <a:t>**Respuesta esperada:** Regiones positivas y negativas de la señal aportan positivamente tras elevar al cuadrado.</a:t>
            </a:r>
          </a:p>
          <a:p>
            <a:endParaRPr/>
          </a:p>
          <a:p>
            <a:r>
              <a:t>**Énfasis / error frecuente:** Evitar sugerir que RMS es el promedio de valores absolutos.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la operación sobre una ventana.</a:t>
            </a:r>
          </a:p>
          <a:p>
            <a:endParaRPr/>
          </a:p>
          <a:p>
            <a:r>
              <a:t>**Fuente de apoyo:** TEX 4.6.5; PDF p. 97; figura 4.3</a:t>
            </a:r>
          </a:p>
          <a:p>
            <a:endParaRPr/>
          </a:p>
          <a:p>
            <a:r>
              <a:t>[Texto alternativo] Gráfico sobre «El cuadrado transforma signo en contribución positiva»: reconstrucción de figura 4.3 en cuatro paneles coordinados. La lectura central es que regiones positivas y negativas de la señal aportan positivamente tras elevar al cuadrado. Recurso principal: U04-CH-005.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figura 4.3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U04-054 · La ventana de observación forma parte del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la definición general.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`x_rms` depende de qué intervalo se promedia.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y ventana sobre eje temporal. No leer cada caja: usar el diagrama como guía y explicar la relación entre nodos.</a:t>
            </a:r>
          </a:p>
          <a:p>
            <a:endParaRPr/>
          </a:p>
          <a:p>
            <a:r>
              <a:t>**Pregunta al grupo:** Señalá las tres operaciones en orden: ¿qué se deslogaritma, qué se suma y qué vuelve a expresarse en dB?</a:t>
            </a:r>
          </a:p>
          <a:p>
            <a:endParaRPr/>
          </a:p>
          <a:p>
            <a:r>
              <a:t>**Respuesta esperada:** `x_rms` depende de qué intervalo se promedia.</a:t>
            </a:r>
          </a:p>
          <a:p>
            <a:endParaRPr/>
          </a:p>
          <a:p>
            <a:r>
              <a:t>**Énfasis / error frecuente:** Vincular con señales periódicas y registros finitos sin enseñar integración.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el caso sinusoidal.</a:t>
            </a:r>
          </a:p>
          <a:p>
            <a:endParaRPr/>
          </a:p>
          <a:p>
            <a:r>
              <a:t>**Fuente de apoyo:** TEX 4.6.5; PDF p. 97; INV F-U04-12</a:t>
            </a:r>
          </a:p>
          <a:p>
            <a:endParaRPr/>
          </a:p>
          <a:p>
            <a:r>
              <a:t>[Texto alternativo] Ecuación anotada sobre «La ventana de observación forma parte del RMS»: ecuación anotada y ventana sobre eje temporal. La lectura central es que `x_rms` depende de qué intervalo se promedia.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INV F-U04-12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U04-055 · Para una sinusoide, xᵣms=xₚico/√2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Presentar una relación útil y limitada.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factor `1/√2` no vale para cualquier forma de onda.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sello “solo sinusoide”. No leer cada caja: usar el diagrama como guía y explicar la relación entre nodos.</a:t>
            </a:r>
          </a:p>
          <a:p>
            <a:endParaRPr/>
          </a:p>
          <a:p>
            <a:r>
              <a:t>**Pregunta al grupo:** Antes de calcular, estimá: ¿el resultado debe ser 70, 73, 76 o 140 dB? Justificá por qué 140 dB no puede surgir de una suma directa.</a:t>
            </a:r>
          </a:p>
          <a:p>
            <a:endParaRPr/>
          </a:p>
          <a:p>
            <a:r>
              <a:t>**Respuesta esperada:** El factor `1/√2` no vale para cualquier forma de onda.</a:t>
            </a:r>
          </a:p>
          <a:p>
            <a:endParaRPr/>
          </a:p>
          <a:p>
            <a:r>
              <a:t>**Énfasis / error frecuente:** Repetir el límite inmediatamente y en la recapitulación.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con números simples.</a:t>
            </a:r>
          </a:p>
          <a:p>
            <a:endParaRPr/>
          </a:p>
          <a:p>
            <a:r>
              <a:t>**Fuente de apoyo:** TEX 4.6.5; PDF p. 97; NOT</a:t>
            </a:r>
          </a:p>
          <a:p>
            <a:endParaRPr/>
          </a:p>
          <a:p>
            <a:r>
              <a:t>[Texto alternativo] Ecuación anotada sobre «Para una sinusoide, `x_rms=x_pico/√2`»: ecuación anotada con sello “solo sinusoide”. La lectura central es que el factor `1/√2` no vale para cualquier forma de onda.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U04-056 · De pico a RMS sin perder unidades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un cálculo breve.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La operación cambia el valor, no la magnitud ni su unidad.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 operación cambia el valor, no la magnitud ni su unidad.</a:t>
            </a:r>
          </a:p>
          <a:p>
            <a:endParaRPr/>
          </a:p>
          <a:p>
            <a:r>
              <a:t>**Énfasis / error frecuente:** Usar redondeo explícito y preguntar si la señal debe ser sinusoidal.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Ampliar desde tono puro a señales complejas.</a:t>
            </a:r>
          </a:p>
          <a:p>
            <a:endParaRPr/>
          </a:p>
          <a:p>
            <a:r>
              <a:t>**Fuente de apoyo:** TEX 4.6.5; PDF p. 97; ED</a:t>
            </a:r>
          </a:p>
          <a:p>
            <a:endParaRPr/>
          </a:p>
          <a:p>
            <a:r>
              <a:t>[Texto alternativo] Ecuación anotada sobre «De pico a RMS sin perder unidades»: Ecuaciones editables con revelado por pasos. La lectura central es que la operación cambia el valor, no la magnitud ni su unidad. Recurso principal: U04-CH-005.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U04-057 · Tono puro y señal compleja pueden compartir RMS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Separar forma temporal y valor global.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Igual RMS no implica igual forma de onda ni igual contenido frecuencial.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dos señales normalizadas con igual RMS; sin anticipar espectros detallados.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Igual RMS no implica igual forma de onda ni igual contenido frecuencial.</a:t>
            </a:r>
          </a:p>
          <a:p>
            <a:endParaRPr/>
          </a:p>
          <a:p>
            <a:r>
              <a:t>**Énfasis / error frecuente:** Preparar U5 sin desarrollar Fourier.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con el límite de la relación sinusoidal.</a:t>
            </a:r>
          </a:p>
          <a:p>
            <a:endParaRPr/>
          </a:p>
          <a:p>
            <a:r>
              <a:t>**Fuente de apoyo:** PO; TEX 4.7; PDF p. 97; CM</a:t>
            </a:r>
          </a:p>
          <a:p>
            <a:endParaRPr/>
          </a:p>
          <a:p>
            <a:r>
              <a:t>[Texto alternativo] Gráfico sobre «Tono puro y señal compleja pueden compartir RMS»: dos señales normalizadas con igual RMS; sin anticipar espectros detallados. La lectura central es que igual RMS no implica igual forma de onda ni igual contenido frecuencial. Recurso principal: U04-CH-006.</a:t>
            </a:r>
          </a:p>
          <a:p>
            <a:endParaRPr/>
          </a:p>
          <a:p>
            <a:r>
              <a:t>[Sources]</a:t>
            </a:r>
          </a:p>
          <a:p>
            <a:r>
              <a:t>- PO; TEX 4.7; PDF p. 97;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U04-058 · RMS resume tamaño eficaz, no forma ni frecuencia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usos y límites.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Para interpretar RMS también hay que conocer señal, ventana y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checklist señal–ventana–valor–unidad.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Para interpretar RMS también hay que conocer señal, ventana y condiciones.</a:t>
            </a:r>
          </a:p>
          <a:p>
            <a:endParaRPr/>
          </a:p>
          <a:p>
            <a:r>
              <a:t>**Énfasis / error frecuente:** Repetición pedagógica mediante detección de condiciones, no mediante recopia.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cómo comparar rangos enormes de presión.</a:t>
            </a:r>
          </a:p>
          <a:p>
            <a:endParaRPr/>
          </a:p>
          <a:p>
            <a:r>
              <a:t>**Fuente de apoyo:** PO; TEX 4.6.5–4.7; PDF p. 97</a:t>
            </a:r>
          </a:p>
          <a:p>
            <a:endParaRPr/>
          </a:p>
          <a:p>
            <a:r>
              <a:t>[Texto alternativo] Diagrama sobre «RMS resume tamaño eficaz, no forma ni frecuencia»: checklist señal–ventana–valor–unidad. La lectura central es que para interpretar RMS también hay que conocer señal, ventana y condiciones. Recurso principal: U04-DG-021.</a:t>
            </a:r>
          </a:p>
          <a:p>
            <a:endParaRPr/>
          </a:p>
          <a:p>
            <a:r>
              <a:t>[Sources]</a:t>
            </a:r>
          </a:p>
          <a:p>
            <a:r>
              <a:t>- PO; TEX 4.6.5–4.7; PDF p. 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U04-059 · Un nivel siempre compara con una referencia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el bloque logarítmico.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decibel expresa una razón; no es una magnitud física aislada.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debe acompañar siempre a un valor en decibeles?</a:t>
            </a:r>
          </a:p>
          <a:p>
            <a:endParaRPr/>
          </a:p>
          <a:p>
            <a:r>
              <a:t>**Respuesta esperada:** El decibel expresa una razón; no es una magnitud física aislada.</a:t>
            </a:r>
          </a:p>
          <a:p>
            <a:endParaRPr/>
          </a:p>
          <a:p>
            <a:r>
              <a:t>**Énfasis / error frecuente:** Recuperar potencias y logaritmos como soporte.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Construir el concepto antes de la fórmula.</a:t>
            </a:r>
          </a:p>
          <a:p>
            <a:endParaRPr/>
          </a:p>
          <a:p>
            <a:r>
              <a:t>**Fuente de apoyo:** PO; TEX 4.7; PDF pp. 97–100</a:t>
            </a:r>
          </a:p>
          <a:p>
            <a:endParaRPr/>
          </a:p>
          <a:p>
            <a:r>
              <a:t>[Texto alternativo] Slide tipográfica titulada «Un nivel siempre compara con una referencia»; destaca que el decibel expresa una razón; no es una magnitud física aislada.</a:t>
            </a:r>
          </a:p>
          <a:p>
            <a:endParaRPr/>
          </a:p>
          <a:p>
            <a:r>
              <a:t>[Sources]</a:t>
            </a:r>
          </a:p>
          <a:p>
            <a:r>
              <a:t>- PO; TEX 4.7; PDF pp. 97–100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U04-060 · Para informar un nivel hacen falta tres datos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Establecer una rutina de lectura.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Magnitud, referencia y tipo de nivel determinan el significado.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tríada de tres nodos convergentes en una lectura completa.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Magnitud, referencia y tipo de nivel determinan el significado.</a:t>
            </a:r>
          </a:p>
          <a:p>
            <a:endParaRPr/>
          </a:p>
          <a:p>
            <a:r>
              <a:t>**Énfasis / error frecuente:** Usar ejemplos completos e incompletos; no llamar “unidad absoluta” al dB.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Corregir el uso de “60 dB” sin contexto.</a:t>
            </a:r>
          </a:p>
          <a:p>
            <a:endParaRPr/>
          </a:p>
          <a:p>
            <a:r>
              <a:t>**Fuente de apoyo:** PO; TEX 4.7; PDF p. 97; GLO</a:t>
            </a:r>
          </a:p>
          <a:p>
            <a:endParaRPr/>
          </a:p>
          <a:p>
            <a:r>
              <a:t>[Texto alternativo] Diagrama sobre «Para informar un nivel hacen falta tres datos»: tríada de tres nodos convergentes en una lectura completa. La lectura central es que magnitud, referencia y tipo de nivel determinan el significado.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4.7; PDF p. 97;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U04-061 · “60 dB” es una información incompleta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Prevenir ambigüedad entre SPL, HL y otras escalas.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El mismo número puede corresponder a referencias y significados distintos.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etiqueta incompleta que se completa por etapas.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«“60 dB” es una información incompleta»?</a:t>
            </a:r>
          </a:p>
          <a:p>
            <a:endParaRPr/>
          </a:p>
          <a:p>
            <a:r>
              <a:t>**Respuesta esperada:** El mismo número puede corresponder a referencias y significados distintos.</a:t>
            </a:r>
          </a:p>
          <a:p>
            <a:endParaRPr/>
          </a:p>
          <a:p>
            <a:r>
              <a:t>**Énfasis / error frecuente:** Anticipar dB HL sin desarrollarlo; remitir a U7/U8.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Formalizar el nivel de presión sonora.</a:t>
            </a:r>
          </a:p>
          <a:p>
            <a:endParaRPr/>
          </a:p>
          <a:p>
            <a:r>
              <a:t>**Fuente de apoyo:** TEX 4.7.1, 4.12; PDF pp. 97–100, 106; BR errores</a:t>
            </a:r>
          </a:p>
          <a:p>
            <a:endParaRPr/>
          </a:p>
          <a:p>
            <a:r>
              <a:t>[Texto alternativo] Diagrama sobre «“60 dB” es una información incompleta»: etiqueta incompleta que se completa por etapas. La lectura central es que el mismo número puede corresponder a referencias y significados distintos.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4.7.1, 4.12; PDF pp. 97–100, 106;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U04-062 · Lₚ compara presión RMS con una referencia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nivel de presión sonora.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`L_p=20 log10(p_rms/p_ref)` solo cobra sentido con `p_ref` declarado.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callouts y caja de referencia/medio.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`L_p=20 log10(p_rms/p_ref)` solo cobra sentido con `p_ref` declarado.</a:t>
            </a:r>
          </a:p>
          <a:p>
            <a:endParaRPr/>
          </a:p>
          <a:p>
            <a:r>
              <a:t>**Énfasis / error frecuente:** Diferenciar Pa de dB; usar `20 µPa` solo para aire según la fuente.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un punto de anclaje numérico.</a:t>
            </a:r>
          </a:p>
          <a:p>
            <a:endParaRPr/>
          </a:p>
          <a:p>
            <a:r>
              <a:t>**Fuente de apoyo:** PO; TEX 4.7.1; PDF pp. 97–98; NOT; INV F-U04-15</a:t>
            </a:r>
          </a:p>
          <a:p>
            <a:endParaRPr/>
          </a:p>
          <a:p>
            <a:r>
              <a:t>[Texto alternativo] Ecuación anotada sobre «`L_p` compara presión RMS con una referencia»: ecuación anotada con callouts y caja de referencia/medio. La lectura central es que `L_p=20 log10(p_rms/p_ref)` solo cobra sentido con `p_ref` declarado.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4.7.1; PDF pp. 97–98; NOT; INV F-U04-15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U04-063 · 0,20 Pa corresponde a 80 dB SPL en aire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sustitución e interpretación.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El resultado es una razón logarítmica respecto de `20 µPa`.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 por pasos.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resultado es una razón logarítmica respecto de `20 µPa`.</a:t>
            </a:r>
          </a:p>
          <a:p>
            <a:endParaRPr/>
          </a:p>
          <a:p>
            <a:r>
              <a:t>**Énfasis / error frecuente:** Comprobar que el cociente es adimensional y no escribir “80 dB Pa”.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Ubicar el ejemplo en una escala más amplia.</a:t>
            </a:r>
          </a:p>
          <a:p>
            <a:endParaRPr/>
          </a:p>
          <a:p>
            <a:r>
              <a:t>**Fuente de apoyo:** TEX 4.7.1; PDF pp. 97–98; ED</a:t>
            </a:r>
          </a:p>
          <a:p>
            <a:endParaRPr/>
          </a:p>
          <a:p>
            <a:r>
              <a:t>[Texto alternativo] Ecuación anotada sobre «`0,20 Pa` corresponde a `80 dB SPL` en aire»: Ecuaciones editables con revelado por pasos. La lectura central es que el resultado es una razón logarítmica respecto de `20 µPa`.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4.7.1; PDF pp. 97–98;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U04-064 · La escala logarítmica comprime un rango enorme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intuición de escala.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Multiplicar presión por diez suma 20 dB; duplicarla suma aproximadamente 6 dB.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reconstrucción pedagógica de figura 4.4, sin asociar aún sonoridad subjetiva.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Multiplicar presión por diez suma 20 dB; duplicarla suma aproximadamente 6 dB.</a:t>
            </a:r>
          </a:p>
          <a:p>
            <a:endParaRPr/>
          </a:p>
          <a:p>
            <a:r>
              <a:t>**Énfasis / error frecuente:** Evitar etiquetas clínicas no sustentadas; enfatizar relaciones, no umbrales universales.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Mostrar que la referencia depende del medio.</a:t>
            </a:r>
          </a:p>
          <a:p>
            <a:endParaRPr/>
          </a:p>
          <a:p>
            <a:r>
              <a:t>**Fuente de apoyo:** TEX 4.7.1; PDF p. 98; figura 4.4</a:t>
            </a:r>
          </a:p>
          <a:p>
            <a:endParaRPr/>
          </a:p>
          <a:p>
            <a:r>
              <a:t>[Texto alternativo] Gráfico sobre «La escala logarítmica comprime un rango enorme»: reconstrucción pedagógica de figura 4.4, sin asociar aún sonoridad subjetiva. La lectura central es que multiplicar presión por diez suma 20 dB; duplicarla suma aproximadamente 6 dB. Recurso principal: U04-CH-007.</a:t>
            </a:r>
          </a:p>
          <a:p>
            <a:endParaRPr/>
          </a:p>
          <a:p>
            <a:r>
              <a:t>[Sources]</a:t>
            </a:r>
          </a:p>
          <a:p>
            <a:r>
              <a:t>- TEX 4.7.1; PDF p. 98; figura 4.4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U04-065 · Igual presión y distinto pᵣef producen niveles distintos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Hacer visible la dependencia de referencia.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Los niveles en aire y agua no se comparan sin declarar referencias y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ramas desde una misma presión; referencias explícitas.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Los niveles en aire y agua no se comparan sin declarar referencias y condiciones.</a:t>
            </a:r>
          </a:p>
          <a:p>
            <a:endParaRPr/>
          </a:p>
          <a:p>
            <a:r>
              <a:t>**Énfasis / error frecuente:** No presentar valores de agua como equivalentes perceptuales.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Explicar por qué algunas fórmulas usan 10 y otras 20.</a:t>
            </a:r>
          </a:p>
          <a:p>
            <a:endParaRPr/>
          </a:p>
          <a:p>
            <a:r>
              <a:t>**Fuente de apoyo:** TEX 4.7.1; PDF pp. 97–99; BR errores</a:t>
            </a:r>
          </a:p>
          <a:p>
            <a:endParaRPr/>
          </a:p>
          <a:p>
            <a:r>
              <a:t>[Texto alternativo] Esquema mixto sobre «Igual presión y distinto `p_ref` producen niveles distintos»: dos ramas desde una misma presión; referencias explícitas. La lectura central es que los niveles en aire y agua no se comparan sin declarar referencias y condiciones.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4.7.1; PDF pp. 97–99;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U04-066 · El factor 20 proviene de una relación cuadrática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Derivar conceptualmente `10 log` a `20 log`.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Si potencia o intensidad es proporcional al cuadrado de presión, el exponente pasa delante del logaritmo.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derivación anotada por pasos, con `log(a²)=2log(a)` destacado.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 potencia o intensidad es proporcional al cuadrado de presión, el exponente pasa delante del logaritmo.</a:t>
            </a:r>
          </a:p>
          <a:p>
            <a:endParaRPr/>
          </a:p>
          <a:p>
            <a:r>
              <a:t>**Énfasis / error frecuente:** No memorizar 10/20 sin identificar la magnitud que entra en la razón.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Registrar niveles de intensidad y potencia como extensión.</a:t>
            </a:r>
          </a:p>
          <a:p>
            <a:endParaRPr/>
          </a:p>
          <a:p>
            <a:r>
              <a:t>**Fuente de apoyo:** TEX 4.7.1–4.7.3; PDF pp. 97–100; INV F-U04-15–17</a:t>
            </a:r>
          </a:p>
          <a:p>
            <a:endParaRPr/>
          </a:p>
          <a:p>
            <a:r>
              <a:t>[Texto alternativo] Ecuación anotada sobre «El factor 20 proviene de una relación cuadrática»: derivación anotada por pasos, con `log(a²)=2log(a)` destacado. La lectura central es que si potencia o intensidad es proporcional al cuadrado de presión, el exponente pasa delante del logaritmo.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TEX 4.7.1–4.7.3; PDF pp. 97–100; INV F-U04-15–17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U04-067 · Presión, intensidad y potencia tienen niveles distintos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`L_I` y `L_W` sin sobrecargar la ruta central.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Intensidad y potencia usan `10 log` y referencias propias.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tabla comparativa de tres niveles; ecuaciones editables.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Intensidad y potencia usan `10 log` y referencias propias.</a:t>
            </a:r>
          </a:p>
          <a:p>
            <a:endParaRPr/>
          </a:p>
          <a:p>
            <a:r>
              <a:t>**Énfasis / error frecuente:** No inferir equivalencia numérica fuera de las condiciones de onda progresiva.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la rutina de lectura a práctica clínica.</a:t>
            </a:r>
          </a:p>
          <a:p>
            <a:endParaRPr/>
          </a:p>
          <a:p>
            <a:r>
              <a:t>**Fuente de apoyo:** PO; TEX 4.7.2–4.7.3; PDF pp. 99–100; NOT; INV F-U04-16–17</a:t>
            </a:r>
          </a:p>
          <a:p>
            <a:endParaRPr/>
          </a:p>
          <a:p>
            <a:r>
              <a:t>[Texto alternativo] Ecuación anotada sobre «Presión, intensidad y potencia tienen niveles distintos»: tabla comparativa de tres niveles; ecuaciones editables. La lectura central es que intensidad y potencia usan `10 log` y referencias propias.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4.7.2–4.7.3; PDF pp. 99–100; NOT; INV F-U04-16–17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U04-068 · SPL, HL y sonoridad no son sinónimos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Integrar nivel físico, referencia y percepción.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`dB SPL` describe presión relativa; `dB HL` usa referencias audiométricas; sonoridad es perceptual.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columnas con relaciones permitidas y límites.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`dB SPL` describe presión relativa; `dB HL` usa referencias audiométricas; sonoridad es perceptual.</a:t>
            </a:r>
          </a:p>
          <a:p>
            <a:endParaRPr/>
          </a:p>
          <a:p>
            <a:r>
              <a:t>**Énfasis / error frecuente:** Repetición pedagógica de físico/perceptual en un contexto nuevo; no desarrollar U7/U8.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cómo combinar dos fuentes expresadas en dB.</a:t>
            </a:r>
          </a:p>
          <a:p>
            <a:endParaRPr/>
          </a:p>
          <a:p>
            <a:r>
              <a:t>**Fuente de apoyo:** PO; TEX 4.7, 4.12; PDF pp. 97–100, 106; CM</a:t>
            </a:r>
          </a:p>
          <a:p>
            <a:endParaRPr/>
          </a:p>
          <a:p>
            <a:r>
              <a:t>[Texto alternativo] Diagrama sobre «SPL, HL y sonoridad no son sinónimos»: tres columnas con relaciones permitidas y límites. La lectura central es que `dB SPL` describe presión relativa; `dB HL` usa referencias audiométricas; sonoridad es perceptual. Recurso principal: U04-DG-013.</a:t>
            </a:r>
          </a:p>
          <a:p>
            <a:endParaRPr/>
          </a:p>
          <a:p>
            <a:r>
              <a:t>[Sources]</a:t>
            </a:r>
          </a:p>
          <a:p>
            <a:r>
              <a:t>- PO; TEX 4.7, 4.12; PDF pp. 97–100, 106;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U04-069 · Para sumar sonidos hay que saber su relación temporal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coherencia, correlación y suma de niveles.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No existe una única regla de suma válida para todos los casos.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cambia según la relación temporal entre las señales?</a:t>
            </a:r>
          </a:p>
          <a:p>
            <a:endParaRPr/>
          </a:p>
          <a:p>
            <a:r>
              <a:t>**Respuesta esperada:** No existe una única regla de suma válida para todos los casos.</a:t>
            </a:r>
          </a:p>
          <a:p>
            <a:endParaRPr/>
          </a:p>
          <a:p>
            <a:r>
              <a:t>**Énfasis / error frecuente:** Recuperar superposición y fase de U3.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Comenzar por la magnitud que realmente se suma.</a:t>
            </a:r>
          </a:p>
          <a:p>
            <a:endParaRPr/>
          </a:p>
          <a:p>
            <a:r>
              <a:t>**Fuente de apoyo:** PO; TEX 4.8; PDF pp. 100–102</a:t>
            </a:r>
          </a:p>
          <a:p>
            <a:endParaRPr/>
          </a:p>
          <a:p>
            <a:r>
              <a:t>[Texto alternativo] Slide tipográfica titulada «Para sumar sonidos hay que saber su relación temporal»; destaca que no existe una única regla de suma válida para todos los casos.</a:t>
            </a:r>
          </a:p>
          <a:p>
            <a:endParaRPr/>
          </a:p>
          <a:p>
            <a:r>
              <a:t>[Sources]</a:t>
            </a:r>
          </a:p>
          <a:p>
            <a:r>
              <a:t>- PO; TEX 4.8; PDF pp. 100–102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U04-070 · Primero se suman presiones instantáneas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Reafirmar superposición antes de operar niveles.</a:t>
            </a:r>
          </a:p>
          <a:p>
            <a:endParaRPr/>
          </a:p>
          <a:p>
            <a:r>
              <a:t>**Explicación extendida:** Desarrollar el alcance aprobado —Dos señales y resultado; algoritmo señal–RMS–nivel— y vincular cada afirmación con una magnitud, unidad, referencia o condición. Idea central: `p_total(t)=p_1(t)+p_2(t)`; los dB se calculan después.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suma temporal de dos señales sencillas; para el algoritmo.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`p_total(t)=p_1(t)+p_2(t)`; los dB se calculan después.</a:t>
            </a:r>
          </a:p>
          <a:p>
            <a:endParaRPr/>
          </a:p>
          <a:p>
            <a:r>
              <a:t>**Énfasis / error frecuente:** Evitar sumar directamente números en dB.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qué significa coherencia en esta unidad.</a:t>
            </a:r>
          </a:p>
          <a:p>
            <a:endParaRPr/>
          </a:p>
          <a:p>
            <a:r>
              <a:t>**Fuente de apoyo:** TEX 4.8; PDF p. 100; U3</a:t>
            </a:r>
          </a:p>
          <a:p>
            <a:endParaRPr/>
          </a:p>
          <a:p>
            <a:r>
              <a:t>[Texto alternativo] Esquema mixto sobre «Primero se suman presiones instantáneas»: suma temporal de dos señales sencillas; para el algoritmo. La lectura central es que `p_total(t)=p_1(t)+p_2(t)`; los dB se calculan después.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4.8; PDF p. 100;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U04-071 · Coherencia exige una relación de fase estable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Operacionalizar el término.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Dos componentes coherentes mantienen frecuencia común y diferencia de fase estable durante la observación.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pares de señales y marcador de fase estable/inestable.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Dos componentes coherentes mantienen frecuencia común y diferencia de fase estable durante la observación.</a:t>
            </a:r>
          </a:p>
          <a:p>
            <a:endParaRPr/>
          </a:p>
          <a:p>
            <a:r>
              <a:t>**Énfasis / error frecuente:** Adoptar “no correlacionadas en la ventana” para el caso operativo del programa.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Explorar casos de fase.</a:t>
            </a:r>
          </a:p>
          <a:p>
            <a:endParaRPr/>
          </a:p>
          <a:p>
            <a:r>
              <a:t>**Fuente de apoyo:** PO; TEX 4.8; PDF p. 100; OD-U04-04</a:t>
            </a:r>
          </a:p>
          <a:p>
            <a:endParaRPr/>
          </a:p>
          <a:p>
            <a:r>
              <a:t>[Texto alternativo] Diagrama sobre «Coherencia exige una relación de fase estable»: dos pares de señales y marcador de fase estable/inestable. La lectura central es que dos componentes coherentes mantienen frecuencia común y diferencia de fase estable durante la observación.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PO; TEX 4.8; PDF p. 100; OD-U04-04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U04-072 · La fase cambia el resultado de fuentes coherentes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intuición antes de la fórmula.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Con igual amplitud, fase 0 refuerza, fase π cancela y valores intermedios producen resultados intermedios.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paneles para `φ=0`, `π/2` y `π`; audio opcional controlado.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Con igual amplitud, fase 0 refuerza, fase π cancela y valores intermedios producen resultados intermedios.</a:t>
            </a:r>
          </a:p>
          <a:p>
            <a:endParaRPr/>
          </a:p>
          <a:p>
            <a:r>
              <a:t>**Énfasis / error frecuente:** Distinguir cancelación local ideal de “destrucción de energía” global.</a:t>
            </a:r>
          </a:p>
          <a:p>
            <a:endParaRPr/>
          </a:p>
          <a:p>
            <a:r>
              <a:t>**Demostración o multimedia:** `U04-MED-002` está propuesto: no reproducir hasta aprobarlo; usar la alternativa estática indicada. `U04-MED-003` está propuesto: no reproducir hasta aprobarlo; usar la alternativa estática indicada.</a:t>
            </a:r>
          </a:p>
          <a:p>
            <a:endParaRPr/>
          </a:p>
          <a:p>
            <a:r>
              <a:t>**Transición:** Formalizar la amplitud resultante.</a:t>
            </a:r>
          </a:p>
          <a:p>
            <a:endParaRPr/>
          </a:p>
          <a:p>
            <a:r>
              <a:t>**Fuente de apoyo:** TEX 4.8.1; PDF pp. 100–101; figura 4.5; U3</a:t>
            </a:r>
          </a:p>
          <a:p>
            <a:endParaRPr/>
          </a:p>
          <a:p>
            <a:r>
              <a:t>[Texto alternativo] Gráfico sobre «La fase cambia el resultado de fuentes coherentes»: paneles para `φ=0`, `π/2` y `π`; audio opcional controlado. La lectura central es que con igual amplitud, fase 0 refuerza, fase π cancela y valores intermedios producen resultados intermedios.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pp. 100–101; figura 4.5;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U04-073 · La suma coherente conserva el término de fase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la expresión RMS general.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El término `2p_1p_2 cosφ` explica refuerzo y cancelación.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central con tres ramas de `cosφ`.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El término `2p_1p_2 cosφ` explica refuerzo y cancelación.</a:t>
            </a:r>
          </a:p>
          <a:p>
            <a:endParaRPr/>
          </a:p>
          <a:p>
            <a:r>
              <a:t>**Énfasis / error frecuente:** Mantener demostración algebraica en respaldo; trabajar significado.</a:t>
            </a:r>
          </a:p>
          <a:p>
            <a:endParaRPr/>
          </a:p>
          <a:p>
            <a:r>
              <a:t>**Demostración o multimedia:** `U04-MED-002` está propuesto: no reproducir hasta aprobarlo; usar la alternativa estática indicada.</a:t>
            </a:r>
          </a:p>
          <a:p>
            <a:endParaRPr/>
          </a:p>
          <a:p>
            <a:r>
              <a:t>**Transición:** Resolver dos fuentes iguales en fase.</a:t>
            </a:r>
          </a:p>
          <a:p>
            <a:endParaRPr/>
          </a:p>
          <a:p>
            <a:r>
              <a:t>**Fuente de apoyo:** TEX 4.8.1; PDF pp. 100–101; INV F-U04-19</a:t>
            </a:r>
          </a:p>
          <a:p>
            <a:endParaRPr/>
          </a:p>
          <a:p>
            <a:r>
              <a:t>[Texto alternativo] Ecuación anotada sobre «La suma coherente conserva el término de fase»: ecuación central con tres ramas de `cosφ`. La lectura central es que el término `2p_1p_2 cosφ` explica refuerzo y cancelación.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pp. 100–101; INV F-U04-19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U04-074 · Dos presiones iguales en fase suman aproximadamente +6,02 dB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el caso coherente.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Duplicar amplitud de presión implica `20 log10(2)`.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y mini gráfico de amplitud duplicada.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Duplicar amplitud de presión implica `20 log10(2)`.</a:t>
            </a:r>
          </a:p>
          <a:p>
            <a:endParaRPr/>
          </a:p>
          <a:p>
            <a:r>
              <a:t>**Énfasis / error frecuente:** Nombrar “en fase y coherentes” en el resultado, no solo en los datos.</a:t>
            </a:r>
          </a:p>
          <a:p>
            <a:endParaRPr/>
          </a:p>
          <a:p>
            <a:r>
              <a:t>**Demostración o multimedia:** `U04-MED-003` está propuesto: no reproducir hasta aprobarlo; usar la alternativa estática indicada.</a:t>
            </a:r>
          </a:p>
          <a:p>
            <a:endParaRPr/>
          </a:p>
          <a:p>
            <a:r>
              <a:t>**Transición:** Contrastar con oposición de fase.</a:t>
            </a:r>
          </a:p>
          <a:p>
            <a:endParaRPr/>
          </a:p>
          <a:p>
            <a:r>
              <a:t>**Fuente de apoyo:** TEX 4.8.1; PDF p. 101; ED</a:t>
            </a:r>
          </a:p>
          <a:p>
            <a:endParaRPr/>
          </a:p>
          <a:p>
            <a:r>
              <a:t>[Texto alternativo] Esquema mixto sobre «Dos presiones iguales en fase suman aproximadamente `+6,02 dB`»: Ecuaciones editables y mini gráfico de amplitud duplicada. La lectura central es que duplicar amplitud de presión implica `20 log10(2)`.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p. 101;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U04-075 · ¿Dos fuentes iguales siempre aumentan el nivel?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Trabajar el caso de oposición.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Trabajar el caso de oposición. No resolver por adelantado; usar como criterio de cierre que fuentes coherentes iguales y en oposición pueden cancelar la presión en un punto ideal.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senos opuestos y suma; para límites. No leer cada caja: usar el diagrama como guía y explicar la relación entre nodos.</a:t>
            </a:r>
          </a:p>
          <a:p>
            <a:endParaRPr/>
          </a:p>
          <a:p>
            <a:r>
              <a:t>**Pregunta al grupo:** ¿Dos fuentes iguales siempre elevan el nivel?</a:t>
            </a:r>
          </a:p>
          <a:p>
            <a:endParaRPr/>
          </a:p>
          <a:p>
            <a:r>
              <a:t>**Respuesta esperada:** No. Si son coherentes y llegan en oposición de fase pueden cancelar la presión en el punto ideal.</a:t>
            </a:r>
          </a:p>
          <a:p>
            <a:endParaRPr/>
          </a:p>
          <a:p>
            <a:r>
              <a:t>**Énfasis / error frecuente:** Evitar generalizar cancelación perfecta a todo el espacio y todas las frecuencias.</a:t>
            </a:r>
          </a:p>
          <a:p>
            <a:endParaRPr/>
          </a:p>
          <a:p>
            <a:r>
              <a:t>**Demostración o multimedia:** `U04-MED-002` está propuesto: no reproducir hasta aprobarlo; usar la alternativa estática indicada. `U04-MED-003` está propuesto: no reproducir hasta aprobarlo; usar la alternativa estática indicada.</a:t>
            </a:r>
          </a:p>
          <a:p>
            <a:endParaRPr/>
          </a:p>
          <a:p>
            <a:r>
              <a:t>**Transición:** Pasar a fuentes cuya fase relativa no permanece fija.</a:t>
            </a:r>
          </a:p>
          <a:p>
            <a:endParaRPr/>
          </a:p>
          <a:p>
            <a:r>
              <a:t>**Fuente de apoyo:** TEX 4.8.1; PDF p. 101; BR errores</a:t>
            </a:r>
          </a:p>
          <a:p>
            <a:endParaRPr/>
          </a:p>
          <a:p>
            <a:r>
              <a:t>[Texto alternativo] Esquema mixto sobre «¿Dos fuentes iguales siempre aumentan el nivel?»: dos senos opuestos y suma; para límites. La lectura central es que fuentes coherentes iguales y en oposición pueden cancelar la presión en un punto ideal.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p. 101; BR errores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U04-076 · En señales no correlacionadas, el término cruzado promedia a cero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Explicar la segunda ruta.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Durante la ventana, no hay una relación de fase estable que produzca refuerzo sistemático.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ventana temporal con fase relativa variable; correlación parcial a respaldo.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Durante la ventana, no hay una relación de fase estable que produzca refuerzo sistemático.</a:t>
            </a:r>
          </a:p>
          <a:p>
            <a:endParaRPr/>
          </a:p>
          <a:p>
            <a:r>
              <a:t>**Énfasis / error frecuente:** No confundir “no correlacionadas” con “sin relación causal” o “silenciosas”.</a:t>
            </a:r>
          </a:p>
          <a:p>
            <a:endParaRPr/>
          </a:p>
          <a:p>
            <a:r>
              <a:t>**Demostración o multimedia:** `U04-MED-004` está propuesto: no reproducir hasta aprobarlo; usar la alternativa estática indicada.</a:t>
            </a:r>
          </a:p>
          <a:p>
            <a:endParaRPr/>
          </a:p>
          <a:p>
            <a:r>
              <a:t>**Transición:** Expresar la suma en magnitudes cuadráticas.</a:t>
            </a:r>
          </a:p>
          <a:p>
            <a:endParaRPr/>
          </a:p>
          <a:p>
            <a:r>
              <a:t>**Fuente de apoyo:** TEX 4.8.2; PDF p. 101; OD-U04-04</a:t>
            </a:r>
          </a:p>
          <a:p>
            <a:endParaRPr/>
          </a:p>
          <a:p>
            <a:r>
              <a:t>[Texto alternativo] Diagrama sobre «En señales no correlacionadas, el término cruzado promedia a cero»: ventana temporal con fase relativa variable; correlación parcial a respaldo. La lectura central es que durante la ventana, no hay una relación de fase estable que produzca refuerzo sistemático.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p. 101; OD-U04-04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U04-077 · Para fuentes no correlacionadas se suman cuadrados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Formalizar la suma lineal previa al nivel.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`p_total,rms²=Σp_i,rms²`; luego se convierte a dB.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más flujo dB→lineal→suma→dB.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`p_total,rms²=Σp_i,rms²`; luego se convierte a dB.</a:t>
            </a:r>
          </a:p>
          <a:p>
            <a:endParaRPr/>
          </a:p>
          <a:p>
            <a:r>
              <a:t>**Énfasis / error frecuente:** Insistir en que no se suman presiones RMS con signo ni niveles aritméticamente.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Escribir la forma directa para niveles.</a:t>
            </a:r>
          </a:p>
          <a:p>
            <a:endParaRPr/>
          </a:p>
          <a:p>
            <a:r>
              <a:t>**Fuente de apoyo:** TEX 4.8.2; PDF p. 101; INV F-U04-20</a:t>
            </a:r>
          </a:p>
          <a:p>
            <a:endParaRPr/>
          </a:p>
          <a:p>
            <a:r>
              <a:t>[Texto alternativo] Ecuación anotada sobre «Para fuentes no correlacionadas se suman cuadrados RMS»: ecuación anotada más flujo dB→lineal→suma→dB. La lectura central es que `p_total,rms²=Σp_i,rms²`; luego se convierte a dB.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p. 101; INV F-U04-20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U04-078 · La suma de niveles vuelve primero a escala lineal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`L_T=10log10(Σ10^(L_i/10))`.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Cada nivel se deslogaritma, se suma y recién entonces se aplica logaritmo.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tres zonas y rótulos de transformación.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Cada nivel se deslogaritma, se suma y recién entonces se aplica logaritmo.</a:t>
            </a:r>
          </a:p>
          <a:p>
            <a:endParaRPr/>
          </a:p>
          <a:p>
            <a:r>
              <a:t>**Énfasis / error frecuente:** No introducir atajos sin explicar su dominio.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el caso de niveles iguales.</a:t>
            </a:r>
          </a:p>
          <a:p>
            <a:endParaRPr/>
          </a:p>
          <a:p>
            <a:r>
              <a:t>**Fuente de apoyo:** TEX 4.8.2; PDF pp. 101–102; INV F-U04-21</a:t>
            </a:r>
          </a:p>
          <a:p>
            <a:endParaRPr/>
          </a:p>
          <a:p>
            <a:r>
              <a:t>[Texto alternativo] Ecuación anotada sobre «La suma de niveles vuelve primero a escala lineal»: ecuación anotada con tres zonas y rótulos de transformación. La lectura central es que cada nivel se deslogaritma, se suma y recién entonces se aplica logaritmo.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pp. 101–102; INV F-U04-21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U04-079 · Dos fuentes no correlacionadas de 70 dB dan 73,01 dB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una suma de niveles.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Duplicar una magnitud cuadrática suma aproximadamente `3,01 dB`.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con revelado; sin calculadora visual obligatoria.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Duplicar una magnitud cuadrática suma aproximadamente `3,01 dB`.</a:t>
            </a:r>
          </a:p>
          <a:p>
            <a:endParaRPr/>
          </a:p>
          <a:p>
            <a:r>
              <a:t>**Énfasis / error frecuente:** Contrastar explícitamente con U04-074.</a:t>
            </a:r>
          </a:p>
          <a:p>
            <a:endParaRPr/>
          </a:p>
          <a:p>
            <a:r>
              <a:t>**Demostración o multimedia:** `U04-MED-004` está propuesto: no reproducir hasta aprobarlo; usar la alternativa estática indicada.</a:t>
            </a:r>
          </a:p>
          <a:p>
            <a:endParaRPr/>
          </a:p>
          <a:p>
            <a:r>
              <a:t>**Transición:** Hacer visible la regla decisional completa.</a:t>
            </a:r>
          </a:p>
          <a:p>
            <a:endParaRPr/>
          </a:p>
          <a:p>
            <a:r>
              <a:t>**Fuente de apoyo:** TEX 4.8.2; PDF p. 102; ED</a:t>
            </a:r>
          </a:p>
          <a:p>
            <a:endParaRPr/>
          </a:p>
          <a:p>
            <a:r>
              <a:t>[Texto alternativo] Ecuación anotada sobre «Dos fuentes no correlacionadas de `70 dB` dan `73,01 dB`»: Ecuaciones editables con revelado; sin calculadora visual obligatoria. La lectura central es que duplicar una magnitud cuadrática suma aproximadamente `3,01 dB`.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p. 102;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U04-080 · +6 dB y +3 dB responden a relaciones distintas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coherencia, fase y suma.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Antes de sumar hay que decidir si la fase relativa es estable y qué magnitud se combina.</a:t>
            </a:r>
          </a:p>
          <a:p>
            <a:endParaRPr/>
          </a:p>
          <a:p>
            <a:r>
              <a:t>**Guía para el visual o diagrama:** Pedir primero que clasifiquen tres casos escritos: coherentes en fase, coherentes con fase distinta de cero y no correlacionados. Revelar después `+6,02 dB`, resultado dependiente de fase y `+3,01 dB`; no convertir “coherente” en sinónimo de “en fase”.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Antes de sumar hay que decidir si la fase relativa es estable y qué magnitud se combina.</a:t>
            </a:r>
          </a:p>
          <a:p>
            <a:endParaRPr/>
          </a:p>
          <a:p>
            <a:r>
              <a:t>**Énfasis / error frecuente:** Repetición pedagógica por decisión de casos; eliminar repeticiones algebraicas.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Preguntar cómo cambia el campo al repartirse en el espacio.</a:t>
            </a:r>
          </a:p>
          <a:p>
            <a:endParaRPr/>
          </a:p>
          <a:p>
            <a:r>
              <a:t>**Fuente de apoyo:** PO; TEX 4.8; PDF pp. 100–102; CM</a:t>
            </a:r>
          </a:p>
          <a:p>
            <a:endParaRPr/>
          </a:p>
          <a:p>
            <a:r>
              <a:t>[Texto alternativo] Diagrama sobre «`+6 dB` y `+3 dB` responden a relaciones distintas»: árbol máximo 6 nodos con rutas coherente/no correlacionada. La lectura central es que antes de sumar hay que decidir si la fase relativa es estable y qué magnitud se combina.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PO; TEX 4.8; PDF pp. 100–102;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U04-081 · La geometría determina cómo se reparte la potencia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frentes, ondas ideales y campos.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El área disponible para el flujo cambia con la geometría.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cambia la distribución de energía según el frente de onda y el entorno?</a:t>
            </a:r>
          </a:p>
          <a:p>
            <a:endParaRPr/>
          </a:p>
          <a:p>
            <a:r>
              <a:t>**Respuesta esperada:** El área disponible para el flujo cambia con la geometría.</a:t>
            </a:r>
          </a:p>
          <a:p>
            <a:endParaRPr/>
          </a:p>
          <a:p>
            <a:r>
              <a:t>**Énfasis / error frecuente:** Recuperar frentes de onda y fase de U3.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Definir frente de onda como lugar geométrico.</a:t>
            </a:r>
          </a:p>
          <a:p>
            <a:endParaRPr/>
          </a:p>
          <a:p>
            <a:r>
              <a:t>**Fuente de apoyo:** PO; TEX 4.9; PDF pp. 102–106</a:t>
            </a:r>
          </a:p>
          <a:p>
            <a:endParaRPr/>
          </a:p>
          <a:p>
            <a:r>
              <a:t>[Texto alternativo] Slide tipográfica titulada «La geometría determina cómo se reparte la potencia»; destaca que el área disponible para el flujo cambia con la geometría.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102–106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U04-082 · Un frente de onda reúne puntos de igual fase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Vincular geometría y fase.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Los dibujos de frente no muestran trayectorias de partículas.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superficies/curvas con normales y etiqueta de fase; sin partículas decorativas.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Los dibujos de frente no muestran trayectorias de partículas.</a:t>
            </a:r>
          </a:p>
          <a:p>
            <a:endParaRPr/>
          </a:p>
          <a:p>
            <a:r>
              <a:t>**Énfasis / error frecuente:** Diferenciar frente, rayo y forma temporal.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Presentar modelos geométricos por comparación.</a:t>
            </a:r>
          </a:p>
          <a:p>
            <a:endParaRPr/>
          </a:p>
          <a:p>
            <a:r>
              <a:t>**Fuente de apoyo:** TEX 4.9; PDF pp. 102–103; U3</a:t>
            </a:r>
          </a:p>
          <a:p>
            <a:endParaRPr/>
          </a:p>
          <a:p>
            <a:r>
              <a:t>[Texto alternativo] Diagrama sobre «Un frente de onda reúne puntos de igual fase»: superficies/curvas con normales y etiqueta de fase; sin partículas decorativas. La lectura central es que los dibujos de frente no muestran trayectorias de partículas.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102–103; U3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U04-083 · La onda plana es un modelo local útil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Explicitar condiciones del modelo.</a:t>
            </a:r>
          </a:p>
          <a:p>
            <a:endParaRPr/>
          </a:p>
          <a:p>
            <a:r>
              <a:t>**Explicación extendida:** Desarrollar el alcance aprobado —Esquema, supuestos y ejemplos de región lejana/local; límites— y vincular cada afirmación con una magnitud, unidad, referencia o condición. Idea central: Frentes paralelos y área aproximadamente constante simplifican las relaciones.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frentes paralelos dentro de una zona de validez.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Frentes paralelos y área aproximadamente constante simplifican las relaciones.</a:t>
            </a:r>
          </a:p>
          <a:p>
            <a:endParaRPr/>
          </a:p>
          <a:p>
            <a:r>
              <a:t>**Énfasis / error frecuente:** No afirmar intensidad constante si existen pérdidas o apertura finita.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con una fuente lineal ideal.</a:t>
            </a:r>
          </a:p>
          <a:p>
            <a:endParaRPr/>
          </a:p>
          <a:p>
            <a:r>
              <a:t>**Fuente de apoyo:** TEX 4.9; PDF pp. 102–103</a:t>
            </a:r>
          </a:p>
          <a:p>
            <a:endParaRPr/>
          </a:p>
          <a:p>
            <a:r>
              <a:t>[Texto alternativo] Diagrama sobre «La onda plana es un modelo local útil»: frentes paralelos dentro de una zona de validez. La lectura central es que frentes paralelos y área aproximadamente constante simplifican las relaciones.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102–103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U04-084 · La onda cilíndrica reparte potencia sobre un área proporcional a r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explícitamente el caso cilíndrico.</a:t>
            </a:r>
          </a:p>
          <a:p>
            <a:endParaRPr/>
          </a:p>
          <a:p>
            <a:r>
              <a:t>**Explicación extendida:** Desarrollar el alcance aprobado —Cilindro coaxial, superficie lateral y condiciones; caída de nivel `−3,01 dB` por duplicar distancia como consecuencia ideal— y vincular cada afirmación con una magnitud, unidad, referencia o condición. Idea central: Para una fuente lineal ideal larga, la intensidad decrece como `1/r`.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cilindros concéntricos y superficie lateral; para `1/r`.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Para una fuente lineal ideal larga, la intensidad decrece como `1/r`.</a:t>
            </a:r>
          </a:p>
          <a:p>
            <a:endParaRPr/>
          </a:p>
          <a:p>
            <a:r>
              <a:t>**Énfasis / error frecuente:** Aclarar que una onda en un tubo circular no es por eso cilíndrica.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Pasar a la fuente puntual ideal.</a:t>
            </a:r>
          </a:p>
          <a:p>
            <a:endParaRPr/>
          </a:p>
          <a:p>
            <a:r>
              <a:t>**Fuente de apoyo:** PO; TEX 4.9; PDF pp. 103–104; OD-U04-20</a:t>
            </a:r>
          </a:p>
          <a:p>
            <a:endParaRPr/>
          </a:p>
          <a:p>
            <a:r>
              <a:t>[Texto alternativo] Esquema mixto sobre «La onda cilíndrica reparte potencia sobre un área proporcional a `r`»: cilindros concéntricos y superficie lateral; para `1/r`. La lectura central es que para una fuente lineal ideal larga, la intensidad decrece como `1/r`. Recurso principal: U04-CH-010.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103–104; OD-U04-20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U04-085 · La onda esférica reparte potencia sobre 4πr²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el modelo que habilita la ley de distancia.</a:t>
            </a:r>
          </a:p>
          <a:p>
            <a:endParaRPr/>
          </a:p>
          <a:p>
            <a:r>
              <a:t>**Explicación extendida:** Desarrollar el alcance aprobado —Esferas concéntricas, superficie y potencia conservada— y vincular cada afirmación con una magnitud, unidad, referencia o condición. Idea central: Al duplicar `r`, el área se cuadruplica y la intensidad se reduce a un cuarto.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reconstrucción de figura 4.6 con áreas `r` y `2r`.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Al duplicar `r`, el área se cuadruplica y la intensidad se reduce a un cuarto.</a:t>
            </a:r>
          </a:p>
          <a:p>
            <a:endParaRPr/>
          </a:p>
          <a:p>
            <a:r>
              <a:t>**Énfasis / error frecuente:** No introducir todavía la ecuación de nivel; sostener intuición geométrica.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las tres leyes en los mismos ejes.</a:t>
            </a:r>
          </a:p>
          <a:p>
            <a:endParaRPr/>
          </a:p>
          <a:p>
            <a:r>
              <a:t>**Fuente de apoyo:** TEX 4.9; PDF pp. 103–104; figura 4.6</a:t>
            </a:r>
          </a:p>
          <a:p>
            <a:endParaRPr/>
          </a:p>
          <a:p>
            <a:r>
              <a:t>[Texto alternativo] Diagrama sobre «La onda esférica reparte potencia sobre `4πr²`»: reconstrucción de figura 4.6 con áreas `r` y `2r`. La lectura central es que al duplicar `r`, el área se cuadruplica y la intensidad se reduce a un cuarto.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103–104; figura 4.6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U04-086 · Plano, cilindro y esfera producen caídas distintas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Comparar cuantitativamente modelos.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Sin pérdidas, la intensidad ideal escala como `r⁰`, `r⁻¹` o `r⁻²`.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`I/I_0` frente a `r/r_0`, con escalas y supuestos explícitos.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Sin pérdidas, la intensidad ideal escala como `r⁰`, `r⁻¹` o `r⁻²`.</a:t>
            </a:r>
          </a:p>
          <a:p>
            <a:endParaRPr/>
          </a:p>
          <a:p>
            <a:r>
              <a:t>**Énfasis / error frecuente:** No sugerir que toda fuente real sigue un único modelo a cualquier distancia.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Corregir una clasificación por apariencia.</a:t>
            </a:r>
          </a:p>
          <a:p>
            <a:endParaRPr/>
          </a:p>
          <a:p>
            <a:r>
              <a:t>**Fuente de apoyo:** PO; TEX 4.9; PDF pp. 102–104; INV</a:t>
            </a:r>
          </a:p>
          <a:p>
            <a:endParaRPr/>
          </a:p>
          <a:p>
            <a:r>
              <a:t>[Texto alternativo] Gráfico sobre «Plano, cilindro y esfera producen caídas distintas»: `I/I_0` frente a `r/r_0`, con escalas y supuestos explícitos. La lectura central es que sin pérdidas, la intensidad ideal escala como `r⁰`, `r⁻¹` o `r⁻²`. Recurso principal: U04-CH-010.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102–104;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U04-087 · Un tubo de sección circular no implica una onda cilíndrica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Separar contenedor y frente de onda.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La geometría se clasifica por los frentes y la expansión del campo, no por la forma externa del conducto.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tubo con frentes aproximadamente planos vs fuente lineal con frentes cilíndricos.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«Un tubo de sección circular no implica una onda cilíndrica»?</a:t>
            </a:r>
          </a:p>
          <a:p>
            <a:endParaRPr/>
          </a:p>
          <a:p>
            <a:r>
              <a:t>**Respuesta esperada:** La geometría se clasifica por los frentes y la expansión del campo, no por la forma externa del conducto.</a:t>
            </a:r>
          </a:p>
          <a:p>
            <a:endParaRPr/>
          </a:p>
          <a:p>
            <a:r>
              <a:t>**Énfasis / error frecuente:** Pedir evidencia geométrica: cómo crece el área de flujo.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descripciones de campo en recintos.</a:t>
            </a:r>
          </a:p>
          <a:p>
            <a:endParaRPr/>
          </a:p>
          <a:p>
            <a:r>
              <a:t>**Fuente de apoyo:** BR errores; PO; TEX 4.9; ED</a:t>
            </a:r>
          </a:p>
          <a:p>
            <a:endParaRPr/>
          </a:p>
          <a:p>
            <a:r>
              <a:t>[Texto alternativo] Diagrama sobre «Un tubo de sección circular no implica una onda cilíndrica»: tubo con frentes aproximadamente planos vs fuente lineal con frentes cilíndricos. La lectura central es que la geometría se clasifica por los frentes y la expansión del campo, no por la forma externa del conducto.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BR errores; PO; TEX 4.9;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U04-088 · Campo libre, reverberante y difuso no describen lo mismo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Cubrir regímenes de propagación.</a:t>
            </a:r>
          </a:p>
          <a:p>
            <a:endParaRPr/>
          </a:p>
          <a:p>
            <a:r>
              <a:t>**Explicación extendida:** Establecer un único criterio de comparación por vez: objeto, magnitud, unidad o condición. Pedir que el grupo encuentre una diferencia y una relación válida. No presentar las columnas como sinónimos. Cierre: Libre enfatiza ausencia de reflexiones relevantes; reverberante, persistencia de reflexiones; difuso, idealización estadística espacial/direccional.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recintos simplificados con trayectorias y densidad controlada.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Libre enfatiza ausencia de reflexiones relevantes; reverberante, persistencia de reflexiones; difuso, idealización estadística espacial/direccional.</a:t>
            </a:r>
          </a:p>
          <a:p>
            <a:endParaRPr/>
          </a:p>
          <a:p>
            <a:r>
              <a:t>**Énfasis / error frecuente:** Evitar equiparar reverberante con perfectamente difuso.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Recapitular geometría, reparto y campo.</a:t>
            </a:r>
          </a:p>
          <a:p>
            <a:endParaRPr/>
          </a:p>
          <a:p>
            <a:r>
              <a:t>**Fuente de apoyo:** PO; TEX 4.9.1; PDF pp. 105–106; GLO</a:t>
            </a:r>
          </a:p>
          <a:p>
            <a:endParaRPr/>
          </a:p>
          <a:p>
            <a:r>
              <a:t>[Texto alternativo] Diagrama sobre «Campo libre, reverberante y difuso no describen lo mismo»: tres recintos simplificados con trayectorias y densidad controlada. La lectura central es que libre enfatiza ausencia de reflexiones relevantes; reverberante, persistencia de reflexiones; difuso, idealización estadística espacial/direccional.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PO; TEX 4.9.1; PDF pp. 105–106; GLO</a:t>
            </a:r>
          </a:p>
          <a:p>
            <a:r>
              <a:t>- https://www.nist.gov/image/acoustic-anechoic-chamber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U04-089 · Antes de aplicar una ley, identifica geometría y campo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Consolidar selección de modelo.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La ley de distancia depende de cómo crece el área y de si las reflexiones son despreciables.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árbol de decisión con tres salidas geométricas y alerta de recinto.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La ley de distancia depende de cómo crece el área y de si las reflexiones son despreciables.</a:t>
            </a:r>
          </a:p>
          <a:p>
            <a:endParaRPr/>
          </a:p>
          <a:p>
            <a:r>
              <a:t>**Énfasis / error frecuente:** Repetición pedagógica por diagnóstico de escenarios.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Derivar ahora la ley esférica de distancia.</a:t>
            </a:r>
          </a:p>
          <a:p>
            <a:endParaRPr/>
          </a:p>
          <a:p>
            <a:r>
              <a:t>**Fuente de apoyo:** PO; TEX 4.9; PDF pp. 102–106; CM</a:t>
            </a:r>
          </a:p>
          <a:p>
            <a:endParaRPr/>
          </a:p>
          <a:p>
            <a:r>
              <a:t>[Texto alternativo] Diagrama sobre «Antes de aplicar una ley, identifica geometría y campo»: árbol de decisión con tres salidas geométricas y alerta de recinto. La lectura central es que la ley de distancia depende de cómo crece el área y de si las reflexiones son despreciables.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PO; TEX 4.9; PDF pp. 102–106;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U04-090 · ¿Cuánto cambia el nivel al alejarnos y al cambiar de dirección?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ley de distancia y directividad.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Distancia y dirección son variables distintas del campo.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¿Cómo cambian nivel y radiación con distancia y dirección?</a:t>
            </a:r>
          </a:p>
          <a:p>
            <a:endParaRPr/>
          </a:p>
          <a:p>
            <a:r>
              <a:t>**Respuesta esperada:** Distancia y dirección son variables distintas del campo.</a:t>
            </a:r>
          </a:p>
          <a:p>
            <a:endParaRPr/>
          </a:p>
          <a:p>
            <a:r>
              <a:t>**Énfasis / error frecuente:** Recuperar onda esférica y logaritmos.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Empezar por el reparto sobre una esfera.</a:t>
            </a:r>
          </a:p>
          <a:p>
            <a:endParaRPr/>
          </a:p>
          <a:p>
            <a:r>
              <a:t>**Fuente de apoyo:** PO; TEX 4.10–4.11; PDF pp. 104–107</a:t>
            </a:r>
          </a:p>
          <a:p>
            <a:endParaRPr/>
          </a:p>
          <a:p>
            <a:r>
              <a:t>[Texto alternativo] Slide tipográfica titulada «¿Cuánto cambia el nivel al alejarnos y al cambiar de dirección?»; destaca que distancia y dirección son variables distintas del campo.</a:t>
            </a:r>
          </a:p>
          <a:p>
            <a:endParaRPr/>
          </a:p>
          <a:p>
            <a:r>
              <a:t>[Sources]</a:t>
            </a:r>
          </a:p>
          <a:p>
            <a:r>
              <a:t>- PO; TEX 4.10–4.11; PDF pp. 104–107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U04-091 · La misma potencia atraviesa esferas cada vez mayores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Reforzar la intuición geométrica.</a:t>
            </a:r>
          </a:p>
          <a:p>
            <a:endParaRPr/>
          </a:p>
          <a:p>
            <a:r>
              <a:t>**Explicación extendida:** Desarrollar el alcance aprobado —Esferas `r_1/r_2`, misma potencia y áreas comparadas— y vincular cada afirmación con una magnitud, unidad, referencia o condición. Idea central: En campo libre ideal, aumentar `r` aumenta el área disponible.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dos esferas o cortes 2D con flechas de flujo y etiquetas fuera del dibujo.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En campo libre ideal, aumentar `r` aumenta el área disponible.</a:t>
            </a:r>
          </a:p>
          <a:p>
            <a:endParaRPr/>
          </a:p>
          <a:p>
            <a:r>
              <a:t>**Énfasis / error frecuente:** Distinguir conservación de potencia de intensidad local.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Escribir la relación intensidad–distancia.</a:t>
            </a:r>
          </a:p>
          <a:p>
            <a:endParaRPr/>
          </a:p>
          <a:p>
            <a:r>
              <a:t>**Fuente de apoyo:** TEX 4.10; PDF p. 104; figura 4.6</a:t>
            </a:r>
          </a:p>
          <a:p>
            <a:endParaRPr/>
          </a:p>
          <a:p>
            <a:r>
              <a:t>[Texto alternativo] Diagrama sobre «La misma potencia atraviesa esferas cada vez mayores»: dos esferas o cortes 2D con flechas de flujo y etiquetas fuera del dibujo. La lectura central es que en campo libre ideal, aumentar `r` aumenta el área disponible.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p. 104; figura 4.6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U04-092 · En propagación esférica ideal, I=Wₐc/(4πr²)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Relacionar potencia, área e intensidad.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La ley inversa del cuadrado surge del crecimiento del área esférica.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conectada a superficie esférica.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 ley inversa del cuadrado surge del crecimiento del área esférica.</a:t>
            </a:r>
          </a:p>
          <a:p>
            <a:endParaRPr/>
          </a:p>
          <a:p>
            <a:r>
              <a:t>**Énfasis / error frecuente:** Repetir campo libre, fuente puntual y potencia estable.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Comparar dos distancias sin conocer la potencia.</a:t>
            </a:r>
          </a:p>
          <a:p>
            <a:endParaRPr/>
          </a:p>
          <a:p>
            <a:r>
              <a:t>**Fuente de apoyo:** TEX 4.10; PDF p. 104; NOT; INV F-U04-23</a:t>
            </a:r>
          </a:p>
          <a:p>
            <a:endParaRPr/>
          </a:p>
          <a:p>
            <a:r>
              <a:t>[Texto alternativo] Ecuación anotada sobre «En propagación esférica ideal, `I=W_ac/(4πr²)`»: ecuación anotada conectada a superficie esférica. La lectura central es que la ley inversa del cuadrado surge del crecimiento del área esférica.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p. 104; NOT; INV F-U04-23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U04-093 · La razón elimina la potencia desconocida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Derivar `I_2/I_1=(r_1/r_2)^2`.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Comparar posiciones permite trabajar con cambios relativos.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derivación anotada con cancelaciones y dos posiciones.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Comparar posiciones permite trabajar con cambios relativos.</a:t>
            </a:r>
          </a:p>
          <a:p>
            <a:endParaRPr/>
          </a:p>
          <a:p>
            <a:r>
              <a:t>**Énfasis / error frecuente:** Mantener álgebra extendida en respaldo si el ritmo lo exige.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Convertir la razón en diferencia de nivel.</a:t>
            </a:r>
          </a:p>
          <a:p>
            <a:endParaRPr/>
          </a:p>
          <a:p>
            <a:r>
              <a:t>**Fuente de apoyo:** TEX 4.10; PDF pp. 104–105; INV</a:t>
            </a:r>
          </a:p>
          <a:p>
            <a:endParaRPr/>
          </a:p>
          <a:p>
            <a:r>
              <a:t>[Texto alternativo] Ecuación anotada sobre «La razón elimina la potencia desconocida»: derivación anotada con cancelaciones y dos posiciones. La lectura central es que comparar posiciones permite trabajar con cambios relativos.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U04-094 · La diferencia de nivel depende del cociente de distancias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`L_{p2}=L_{p1}+20log10(r_1/r_2)`.</a:t>
            </a:r>
          </a:p>
          <a:p>
            <a:endParaRPr/>
          </a:p>
          <a:p>
            <a:r>
              <a:t>**Explicación extendida:** Comenzar por la pregunta física y recién después revelar la ecuación. Leer cada símbolo con su unidad, comprobar que la razón o el resultado tengan las dimensiones correctas y señalar la hipótesis que permite usarla. Interpretación que debe quedar: Alejarse reduce nivel cuando `r_2&gt;r_1`, bajo las hipótesis del modelo.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recta de distancias y prueba de signo.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Alejarse reduce nivel cuando `r_2&gt;r_1`, bajo las hipótesis del modelo.</a:t>
            </a:r>
          </a:p>
          <a:p>
            <a:endParaRPr/>
          </a:p>
          <a:p>
            <a:r>
              <a:t>**Énfasis / error frecuente:** Distinguir nivel en dos puntos de potencia de la fuente.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Extraer la regla por duplicación.</a:t>
            </a:r>
          </a:p>
          <a:p>
            <a:endParaRPr/>
          </a:p>
          <a:p>
            <a:r>
              <a:t>**Fuente de apoyo:** TEX 4.10; PDF pp. 104–105; NOT; INV F-U04-25</a:t>
            </a:r>
          </a:p>
          <a:p>
            <a:endParaRPr/>
          </a:p>
          <a:p>
            <a:r>
              <a:t>[Texto alternativo] Ecuación anotada sobre «La diferencia de nivel depende del cociente de distancias»: ecuación anotada con recta de distancias y prueba de signo. La lectura central es que alejarse reduce nivel cuando `r_2&gt;r_1`, bajo las hipótesis del modelo.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NOT; INV F-U04-25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U04-095 · Duplicar distancia reduce aproximadamente 6,02 dB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Fijar una regla útil con condiciones.</a:t>
            </a:r>
          </a:p>
          <a:p>
            <a:endParaRPr/>
          </a:p>
          <a:p>
            <a:r>
              <a:t>**Explicación extendida:** Solicitar una lectura sin conclusiones: identificar ejes, unidades, escala y curvas. Luego comparar dos puntos o regiones y formular la tendencia. Aclarar qué representa la figura y qué no permite inferir. Síntesis: La regla `−6 dB` es esférica, de campo libre y en la región válida.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`ΔL_p` versus `r/r_0` con puntos anotados.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La regla `−6 dB` es esférica, de campo libre y en la región válida.</a:t>
            </a:r>
          </a:p>
          <a:p>
            <a:endParaRPr/>
          </a:p>
          <a:p>
            <a:r>
              <a:t>**Énfasis / error frecuente:** Contrastar mentalmente con `−3 dB` cilíndrico, sin mezclar fórmulas.</a:t>
            </a:r>
          </a:p>
          <a:p>
            <a:endParaRPr/>
          </a:p>
          <a:p>
            <a:r>
              <a:t>**Demostración o multimedia:** `U04-MED-005` está propuesto: no reproducir hasta aprobarlo; usar la alternativa estática indicada.</a:t>
            </a:r>
          </a:p>
          <a:p>
            <a:endParaRPr/>
          </a:p>
          <a:p>
            <a:r>
              <a:t>**Transición:** Hacer explícitas las condiciones de uso.</a:t>
            </a:r>
          </a:p>
          <a:p>
            <a:endParaRPr/>
          </a:p>
          <a:p>
            <a:r>
              <a:t>**Fuente de apoyo:** TEX 4.10; PDF pp. 104–105</a:t>
            </a:r>
          </a:p>
          <a:p>
            <a:endParaRPr/>
          </a:p>
          <a:p>
            <a:r>
              <a:t>[Texto alternativo] Gráfico sobre «Duplicar distancia reduce aproximadamente `6,02 dB`»: `ΔL_p` versus `r/r_0` con puntos anotados. La lectura central es que la regla `−6 dB` es esférica, de campo libre y en la región válida. Recurso principal: U04-CH-011.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U04-096 · La regla de −6 dB no vale en cualquier recinto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Delimitar el modelo.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Reflexiones, campo cercano, directividad, absorción y geometría pueden alterar la caída.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semáforo de validez con campo libre/recinto/campo cercano.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«La regla de `−6 dB` no vale en cualquier recinto»?</a:t>
            </a:r>
          </a:p>
          <a:p>
            <a:endParaRPr/>
          </a:p>
          <a:p>
            <a:r>
              <a:t>**Respuesta esperada:** Reflexiones, campo cercano, directividad, absorción y geometría pueden alterar la caída.</a:t>
            </a:r>
          </a:p>
          <a:p>
            <a:endParaRPr/>
          </a:p>
          <a:p>
            <a:r>
              <a:t>**Énfasis / error frecuente:** Evitar convertir la lista en explicación completa de U9.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Resolver un ejemplo dentro del dominio válido.</a:t>
            </a:r>
          </a:p>
          <a:p>
            <a:endParaRPr/>
          </a:p>
          <a:p>
            <a:r>
              <a:t>**Fuente de apoyo:** TEX 4.9.1–4.10; PDF pp. 104–106; BR errores; CM</a:t>
            </a:r>
          </a:p>
          <a:p>
            <a:endParaRPr/>
          </a:p>
          <a:p>
            <a:r>
              <a:t>[Texto alternativo] Diagrama sobre «La regla de `−6 dB` no vale en cualquier recinto»: semáforo de validez con campo libre/recinto/campo cercano. La lectura central es que reflexiones, campo cercano, directividad, absorción y geometría pueden alterar la caída.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4.9.1–4.10; PDF pp. 104–106; BR errores; CM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U04-097 · De 80 dB a 1 m a ≈68 dB a 4 m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aplicación de distancia.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Cuadruplicar distancia equivale a dos duplicaciones y cerca de `−12,04 dB`.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más línea de distancias.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Cuadruplicar distancia equivale a dos duplicaciones y cerca de `−12,04 dB`.</a:t>
            </a:r>
          </a:p>
          <a:p>
            <a:endParaRPr/>
          </a:p>
          <a:p>
            <a:r>
              <a:t>**Énfasis / error frecuente:** Comparar ambos métodos y declarar redondeo.</a:t>
            </a:r>
          </a:p>
          <a:p>
            <a:endParaRPr/>
          </a:p>
          <a:p>
            <a:r>
              <a:t>**Demostración o multimedia:** `U04-MED-005` está propuesto: no reproducir hasta aprobarlo; usar la alternativa estática indicada.</a:t>
            </a:r>
          </a:p>
          <a:p>
            <a:endParaRPr/>
          </a:p>
          <a:p>
            <a:r>
              <a:t>**Transición:** Cambiar de variación radial a angular.</a:t>
            </a:r>
          </a:p>
          <a:p>
            <a:endParaRPr/>
          </a:p>
          <a:p>
            <a:r>
              <a:t>**Fuente de apoyo:** TEX 4.10; PDF pp. 104–105; ED</a:t>
            </a:r>
          </a:p>
          <a:p>
            <a:endParaRPr/>
          </a:p>
          <a:p>
            <a:r>
              <a:t>[Texto alternativo] Esquema mixto sobre «De `80 dB` a 1 m a `≈68 dB` a 4 m»: Ecuaciones editables más línea de distancias. La lectura central es que cuadruplicar distancia equivale a dos duplicaciones y cerca de `−12,04 dB`. Recurso principal: U04-CH-011.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U04-098 · Una fuente omnidireccional ideal reparte por igual en todas las direcciones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Fijar la referencia angular.</a:t>
            </a:r>
          </a:p>
          <a:p>
            <a:endParaRPr/>
          </a:p>
          <a:p>
            <a:r>
              <a:t>**Explicación extendida:** Partir de un caso observable y pedir una descripción antes de nombrar el término. Introducir luego símbolo y unidad, y contrastar con el concepto vecino que suele confundirse. Definición funcional que debe quedar: La omnidireccionalidad es un modelo de comparación, no una propiedad absoluta de toda fuente.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patrón polar ideal con fuente central y ejes.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omnidireccionalidad es un modelo de comparación, no una propiedad absoluta de toda fuente.</a:t>
            </a:r>
          </a:p>
          <a:p>
            <a:endParaRPr/>
          </a:p>
          <a:p>
            <a:r>
              <a:t>**Énfasis / error frecuente:** Aclarar que una gráfica polar no es una trayectoria espacial.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Introducir fuentes reales y dirección.</a:t>
            </a:r>
          </a:p>
          <a:p>
            <a:endParaRPr/>
          </a:p>
          <a:p>
            <a:r>
              <a:t>**Fuente de apoyo:** TEX 4.11; PDF pp. 106–107; GLO</a:t>
            </a:r>
          </a:p>
          <a:p>
            <a:endParaRPr/>
          </a:p>
          <a:p>
            <a:r>
              <a:t>[Texto alternativo] Diagrama sobre «Una fuente omnidireccional ideal reparte por igual en todas las direcciones»: patrón polar ideal con fuente central y ejes. La lectura central es que la omnidireccionalidad es un modelo de comparación, no una propiedad absoluta de toda fuente.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TEX 4.11; PDF pp. 106–107; GLO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U04-099 · Una fuente real puede concentrar energía en ciertas direcciones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Construir el concepto de directividad.</a:t>
            </a:r>
          </a:p>
          <a:p>
            <a:endParaRPr/>
          </a:p>
          <a:p>
            <a:r>
              <a:t>**Explicación extendida:** Desarrollar el alcance aprobado —Dos patrones cualitativos y lectura de eje/ángulo/lóbulo; voz o altavoz como aplicación— y vincular cada afirmación con una magnitud, unidad, referencia o condición. Idea central: El nivel depende del ángulo, la frecuencia, el montaje y el entorno.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patrones polares editables simples; gráfico cuantitativo real reservado a U04-102.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nivel depende del ángulo, la frecuencia, el montaje y el entorno.</a:t>
            </a:r>
          </a:p>
          <a:p>
            <a:endParaRPr/>
          </a:p>
          <a:p>
            <a:r>
              <a:t>**Énfasis / error frecuente:** No interpretar área dibujada como potencia total sin definición.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Cuantificar concentración mediante `Q_dir`.</a:t>
            </a:r>
          </a:p>
          <a:p>
            <a:endParaRPr/>
          </a:p>
          <a:p>
            <a:r>
              <a:t>**Fuente de apoyo:** PO; TEX 4.11; PDF pp. 106–107; figura 4.7</a:t>
            </a:r>
          </a:p>
          <a:p>
            <a:endParaRPr/>
          </a:p>
          <a:p>
            <a:r>
              <a:t>[Texto alternativo] Diagrama sobre «Una fuente real puede concentrar energía en ciertas direcciones»: patrones polares editables simples; gráfico cuantitativo real reservado a U04-102. La lectura central es que el nivel depende del ángulo, la frecuencia, el montaje y el entorno.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figura 4.7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U04-100 · El factor Qdir compara concentración con una fuente omnidireccional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Interpretar el factor de directividad.</a:t>
            </a:r>
          </a:p>
          <a:p>
            <a:endParaRPr/>
          </a:p>
          <a:p>
            <a:r>
              <a:t>**Explicación extendida:** Comenzar por la comparación física y recién después revelar la ecuación. Leer cada símbolo, comprobar que el cociente es adimensional y mantener iguales potencia, distancia y condiciones. Interpretación que debe quedar: `Q_dir` expresa cuántas veces aumenta la intensidad en una dirección respecto del reparto omnidireccional equivalente.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ecuación anotada con dos fuentes comparadas a igual potencia/distancia. No leer cada caja: usar el diagrama como guía y explicar la relación entre nodos.</a:t>
            </a:r>
          </a:p>
          <a:p>
            <a:endParaRPr/>
          </a:p>
          <a:p>
            <a:r>
              <a:t>**Pregunta al grupo:** ¿Qué tres condiciones deben mantenerse iguales para que el cociente defina `Q_dir`?</a:t>
            </a:r>
          </a:p>
          <a:p>
            <a:endParaRPr/>
          </a:p>
          <a:p>
            <a:r>
              <a:t>**Respuesta esperada:** `Q_dir` expresa cuántas veces aumenta la intensidad en una dirección respecto del reparto omnidireccional equivalente.</a:t>
            </a:r>
          </a:p>
          <a:p>
            <a:endParaRPr/>
          </a:p>
          <a:p>
            <a:r>
              <a:t>**Énfasis / error frecuente:** Usar `Q_dir`, no `Q` desnudo, y registrar dependencia de dirección y frecuencia.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Expresar la misma comparación en dB.</a:t>
            </a:r>
          </a:p>
          <a:p>
            <a:endParaRPr/>
          </a:p>
          <a:p>
            <a:r>
              <a:t>**Fuente de apoyo:** PO; TEX 4.11; PDF pp. 106–107; OD-U04-03; NOT; INV F-U04-26</a:t>
            </a:r>
          </a:p>
          <a:p>
            <a:endParaRPr/>
          </a:p>
          <a:p>
            <a:r>
              <a:t>[Texto alternativo] Ecuación anotada sobre «El factor `Q_dir` compara concentración con una fuente omnidireccional»: ecuación anotada con dos fuentes comparadas a igual potencia/distancia. La lectura central es que `Q_dir` expresa cuántas veces aumenta la intensidad en una dirección respecto del reparto omnidireccional equivalente.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OD-U04-03; NOT; INV F-U04-26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U04-101 · El índice de directividad es DI=10log10(Qdir)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Relacionar factor lineal e índice logarítmico.</a:t>
            </a:r>
          </a:p>
          <a:p>
            <a:endParaRPr/>
          </a:p>
          <a:p>
            <a:r>
              <a:t>**Explicación extendida:** Relacionar la razón lineal con su expresión logarítmica. Comprobar que `Q_dir` es adimensional y que `DI` no es un nivel absoluto. Interpretación que debe quedar: `Q_dir=4` corresponde a `DI≈6,02 dB`.</a:t>
            </a:r>
          </a:p>
          <a:p>
            <a:endParaRPr/>
          </a:p>
          <a:p>
            <a:r>
              <a:t>**Guía para el visual o diagrama:** Leer primero `Q_dir=1`, luego `Q_dir=2` y finalmente `Q_dir=4`; pedir que anticipen el signo y el orden de magnitud de `DI` antes de calcular.</a:t>
            </a:r>
          </a:p>
          <a:p>
            <a:endParaRPr/>
          </a:p>
          <a:p>
            <a:r>
              <a:t>**Pregunta al grupo:** Si `Q_dir=1`, ¿qué vale `DI`? ¿Por qué ese resultado corresponde a la referencia omnidireccional?</a:t>
            </a:r>
          </a:p>
          <a:p>
            <a:endParaRPr/>
          </a:p>
          <a:p>
            <a:r>
              <a:t>**Respuesta esperada:** Para `Q_dir=1`, `DI=0 dB`; para `Q_dir=4`, `DI≈6,02 dB` en la dirección considerada.</a:t>
            </a:r>
          </a:p>
          <a:p>
            <a:endParaRPr/>
          </a:p>
          <a:p>
            <a:r>
              <a:t>**Énfasis / error frecuente:** Distinguir `DI` de nivel absoluto y declarar dirección/frecuencia.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Ver un patrón real como aplicación, no como adorno.</a:t>
            </a:r>
          </a:p>
          <a:p>
            <a:endParaRPr/>
          </a:p>
          <a:p>
            <a:r>
              <a:t>**Fuente de apoyo:** PO; TEX 4.11; PDF pp. 106–107; NOT; INV F-U04-27</a:t>
            </a:r>
          </a:p>
          <a:p>
            <a:endParaRPr/>
          </a:p>
          <a:p>
            <a:r>
              <a:t>[Texto alternativo] Ecuación anotada sobre «El índice de directividad es `DI=10log10(Q_dir)`»: ecuación anotada y escala `Q_dir↔DI`. La lectura central es que `Q_dir=4` corresponde a `DI≈6,02 dB`. Recurso principal: U04-DG-017.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NOT; INV F-U04-27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U04-102 · La respuesta angular cambia con la frecuencia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Comparar respuesta angular con datos didácticos explícitos.</a:t>
            </a:r>
          </a:p>
          <a:p>
            <a:endParaRPr/>
          </a:p>
          <a:p>
            <a:r>
              <a:t>**Explicación extendida:** Aclarar que los valores son didácticos y normalizados, no mediciones de un transductor comercial. Comparar primero 0° con 90° dentro de cada frecuencia y luego comparar las dos frecuencias. Vínculo que debe quedar: la respuesta angular depende de la frecuencia y siempre debe informarse con ángulo, normalización y condiciones.</a:t>
            </a:r>
          </a:p>
          <a:p>
            <a:endParaRPr/>
          </a:p>
          <a:p>
            <a:r>
              <a:t>**Guía para el visual o diagrama:** Leer la tabla por filas y calcular mentalmente la diferencia frente–lateral. No fingir que la tabla es un patrón polar: su función es preparar qué se comparará cuando se disponga de datos polares aprobados.</a:t>
            </a:r>
          </a:p>
          <a:p>
            <a:endParaRPr/>
          </a:p>
          <a:p>
            <a:r>
              <a:t>**Pregunta al grupo:** ¿En cuál de las dos frecuencias la diferencia entre 0° y 90° es mayor y qué indica eso sobre la concentración frontal?</a:t>
            </a:r>
          </a:p>
          <a:p>
            <a:endParaRPr/>
          </a:p>
          <a:p>
            <a:r>
              <a:t>**Respuesta esperada:** A 4 kHz la diferencia frente–lateral es mayor; los datos didácticos representan una radiación más concentrada hacia 0°.</a:t>
            </a:r>
          </a:p>
          <a:p>
            <a:endParaRPr/>
          </a:p>
          <a:p>
            <a:r>
              <a:t>**Énfasis / error frecuente:** Registrar fuente, frecuencia, normalización y condiciones de medición.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Integrar magnitudes, medición y límites del modelo.</a:t>
            </a:r>
          </a:p>
          <a:p>
            <a:endParaRPr/>
          </a:p>
          <a:p>
            <a:r>
              <a:t>**Fuente de apoyo:** PO; TEX 4.11; PDF pp. 106–107; figura 4.7; BR aplicaciones</a:t>
            </a:r>
          </a:p>
          <a:p>
            <a:endParaRPr/>
          </a:p>
          <a:p>
            <a:r>
              <a:t>[Texto alternativo] Tabla didáctica con respuestas relativas a 0°, 90° y 180° para 500 Hz y 4 kHz. Permite comparar cómo aumenta la concentración frontal al subir la frecuencia; los datos no corresponden a un transductor comercial.</a:t>
            </a:r>
          </a:p>
          <a:p>
            <a:endParaRPr/>
          </a:p>
          <a:p>
            <a:r>
              <a:t>[Sources]</a:t>
            </a:r>
          </a:p>
          <a:p>
            <a:r>
              <a:t>- PO; TEX 4.11; PDF pp. 106–107; figura 4.7; BR aplicaciones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U04-103 · Medir sonido exige elegir variable, referencia y modelo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Abrir síntesis integradora.</a:t>
            </a:r>
          </a:p>
          <a:p>
            <a:endParaRPr/>
          </a:p>
          <a:p>
            <a:r>
              <a:t>**Explicación extendida:** Leer la pregunta guía y recuperar una respuesta del bloque anterior. Instalar el nuevo problema con lenguaje cotidiano; cerrar con el criterio que se construirá: Una lectura correcta conecta fenómeno, magnitud, procesamiento y condiciones de campo.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¿Qué permite interpretar una medición acústica en Fonoaudiología?</a:t>
            </a:r>
          </a:p>
          <a:p>
            <a:endParaRPr/>
          </a:p>
          <a:p>
            <a:r>
              <a:t>**Respuesta esperada:** Una lectura correcta conecta fenómeno, magnitud, procesamiento y condiciones de campo.</a:t>
            </a:r>
          </a:p>
          <a:p>
            <a:endParaRPr/>
          </a:p>
          <a:p>
            <a:r>
              <a:t>**Énfasis / error frecuente:** Retomar el mapa completo.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Aplicar la cadena a un instrumento cercano.</a:t>
            </a:r>
          </a:p>
          <a:p>
            <a:endParaRPr/>
          </a:p>
          <a:p>
            <a:r>
              <a:t>**Fuente de apoyo:** PO; TEX 4.12–4.17; PDF pp. 105–117; BR</a:t>
            </a:r>
          </a:p>
          <a:p>
            <a:endParaRPr/>
          </a:p>
          <a:p>
            <a:r>
              <a:t>[Texto alternativo] Slide tipográfica titulada «Medir sonido exige elegir variable, referencia y modelo»; destaca que una lectura correcta conecta fenómeno, magnitud, procesamiento y condiciones de campo.</a:t>
            </a:r>
          </a:p>
          <a:p>
            <a:endParaRPr/>
          </a:p>
          <a:p>
            <a:r>
              <a:t>[Sources]</a:t>
            </a:r>
          </a:p>
          <a:p>
            <a:r>
              <a:t>- PO; TEX 4.12–4.17; PDF pp. 105–117; BR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U04-104 · ¿Qué informa realmente un sonómetro o micrófono calibrado?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Integrar cadena de medición.</a:t>
            </a:r>
          </a:p>
          <a:p>
            <a:endParaRPr/>
          </a:p>
          <a:p>
            <a:r>
              <a:t>**Explicación extendida:** Presentar la situación profesional sin prometer una inferencia clínica mayor que la evidencia disponible. Separar fenómeno, sensor, procesamiento y decisión. Vínculo que debe quedar: El instrumento estima una magnitud en un punto y bajo ajustes declarados; no informa por sí solo percepción ni potencia total.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proceso de 6 nodos con cajas de condiciones; sin desarrollar ponderaciones.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instrumento estima una magnitud en un punto y bajo ajustes declarados; no informa por sí solo percepción ni potencia total.</a:t>
            </a:r>
          </a:p>
          <a:p>
            <a:endParaRPr/>
          </a:p>
          <a:p>
            <a:r>
              <a:t>**Énfasis / error frecuente:** Diferenciar transductor, procesamiento y reporte; ponderaciones quedan para U10.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Proponer un caso que obligue a elegir modelo.</a:t>
            </a:r>
          </a:p>
          <a:p>
            <a:endParaRPr/>
          </a:p>
          <a:p>
            <a:r>
              <a:t>**Fuente de apoyo:** TEX 4.12; PDF p. 106; CM; GLO</a:t>
            </a:r>
          </a:p>
          <a:p>
            <a:endParaRPr/>
          </a:p>
          <a:p>
            <a:r>
              <a:t>[Texto alternativo] Diagrama sobre «¿Qué informa realmente un sonómetro o micrófono calibrado?»: proceso de 6 nodos con cajas de condiciones; sin desarrollar ponderaciones. La lectura central es que el instrumento estima una magnitud en un punto y bajo ajustes declarados; no informa por sí solo percepción ni potencia total.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TEX 4.12; PDF p. 106; CM; GLO</a:t>
            </a:r>
          </a:p>
          <a:p>
            <a:r>
              <a:t>- https://commons.wikimedia.org/wiki/File:Sound_level_meter_Bruel_Kjaer.jpg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U04-105 · Caso integrador: dos fuentes a distancias diferentes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Integrar ley de distancia y suma de niveles en un caso resoluble.</a:t>
            </a:r>
          </a:p>
          <a:p>
            <a:endParaRPr/>
          </a:p>
          <a:p>
            <a:r>
              <a:t>**Explicación extendida:** Pedir primero que subrayen datos y condiciones. La secuencia correcta es: llevar cada fuente desde 1 m hasta el receptor, comprobar que ambas contribuciones usan la misma referencia y recién entonces sumar niveles por tratarse de señales no correlacionadas. No resolver numéricamente; la solución completa queda en U04-124.</a:t>
            </a:r>
          </a:p>
          <a:p>
            <a:endParaRPr/>
          </a:p>
          <a:p>
            <a:r>
              <a:t>**Guía para el visual o diagrama:** Separar en la pizarra dos columnas, A y B, con nivel a 1 m y distancia al receptor; debajo reservar una tercera línea para la suma final.</a:t>
            </a:r>
          </a:p>
          <a:p>
            <a:endParaRPr/>
          </a:p>
          <a:p>
            <a:r>
              <a:t>**Pregunta al grupo:** ¿Por qué no podemos sumar primero 80 dB + 80 dB y aplicar después una única corrección de distancia?</a:t>
            </a:r>
          </a:p>
          <a:p>
            <a:endParaRPr/>
          </a:p>
          <a:p>
            <a:r>
              <a:t>**Respuesta esperada:** Porque cada fuente llega desde una distancia distinta; primero debe calcularse cada contribución en el mismo punto y luego combinarse bajo la condición de no correlación.</a:t>
            </a:r>
          </a:p>
          <a:p>
            <a:endParaRPr/>
          </a:p>
          <a:p>
            <a:r>
              <a:t>**Énfasis / error frecuente:** Evaluar razonamiento y supuestos, no velocidad algebraica.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Convertir fallos del caso en lista de control.</a:t>
            </a:r>
          </a:p>
          <a:p>
            <a:endParaRPr/>
          </a:p>
          <a:p>
            <a:r>
              <a:t>**Fuente de apoyo:** TEX 4.8–4.12; PDF pp. 100–107; BR ejercicios</a:t>
            </a:r>
          </a:p>
          <a:p>
            <a:endParaRPr/>
          </a:p>
          <a:p>
            <a:r>
              <a:t>[Texto alternativo] Esquema mixto sobre «Caso integrador: dos fuentes, dos distancias y un recinto»: plano simple del caso con etiquetas; no resolver en la misma slide. La lectura central es que antes de calcular hay que identificar coherencia, geometría, campo, referencia y variable.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TEX 4.8–4.12; PDF pp. 100–107; BR ejercicios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U04-106 · Siete atajos que producen respuestas incorrectas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Sintetizar errores conceptuales.</a:t>
            </a:r>
          </a:p>
          <a:p>
            <a:endParaRPr/>
          </a:p>
          <a:p>
            <a:r>
              <a:t>**Explicación extendida:** Mostrar primero la afirmación problemática y pedir un contraejemplo o la condición faltante. Corregirla nombrando la magnitud adecuada, sin reemplazarla por otra regla memorizada. Formulación correcta: Confundir magnitudes, referencias o dominios de validez cambia el significado del resultado.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lista priorizada en dos columnas con corrección mínima. No leer cada caja: usar el diagrama como guía y explicar la relación entre nodos.</a:t>
            </a:r>
          </a:p>
          <a:p>
            <a:endParaRPr/>
          </a:p>
          <a:p>
            <a:r>
              <a:t>**Pregunta al grupo:** ¿Qué condición o distinción falta en la afirmación «Siete atajos que producen respuestas incorrectas»?</a:t>
            </a:r>
          </a:p>
          <a:p>
            <a:endParaRPr/>
          </a:p>
          <a:p>
            <a:r>
              <a:t>**Respuesta esperada:** Confundir magnitudes, referencias o dominios de validez cambia el significado del resultado.</a:t>
            </a:r>
          </a:p>
          <a:p>
            <a:endParaRPr/>
          </a:p>
          <a:p>
            <a:r>
              <a:t>**Énfasis / error frecuente:** Pedir que cada estudiante corrija dos en lenguaje completo.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Pasar de errores a una red conceptual final.</a:t>
            </a:r>
          </a:p>
          <a:p>
            <a:endParaRPr/>
          </a:p>
          <a:p>
            <a:r>
              <a:t>**Fuente de apoyo:** BR errores; TEX 4.5–4.13; PDF pp. 92–107</a:t>
            </a:r>
          </a:p>
          <a:p>
            <a:endParaRPr/>
          </a:p>
          <a:p>
            <a:r>
              <a:t>[Texto alternativo] Diagrama sobre «Siete atajos que producen respuestas incorrectas»: lista priorizada en dos columnas con corrección mínima. La lectura central es que confundir magnitudes, referencias o dominios de validez cambia el significado del resultado.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BR errores; TEX 4.5–4.13; PDF pp. 92–107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U04-107 · Del sonido como fenómeno a una medición interpretable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Reconstruir la unidad como sistema.</a:t>
            </a:r>
          </a:p>
          <a:p>
            <a:endParaRPr/>
          </a:p>
          <a:p>
            <a:r>
              <a:t>**Explicación extendida:** Usar recuperación activa: ocultar inicialmente las respuestas y pedir que completen el mapa o la matriz. Volver solo a los nodos que generen duda. La síntesis debe poder expresarse así: Fuente y medio producen un campo; magnitudes y descriptores permiten medirlo; niveles, geometría y directividad condicionan la interpretación.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mapa conceptual final derivado de U04-006, con revelado por bloques. No leer cada caja: usar el diagrama como guía y explicar la relación entre nodos.</a:t>
            </a:r>
          </a:p>
          <a:p>
            <a:endParaRPr/>
          </a:p>
          <a:p>
            <a:r>
              <a:t>**Pregunta al grupo:** ¿Qué criterio permite distinguir los casos mostrados?</a:t>
            </a:r>
          </a:p>
          <a:p>
            <a:endParaRPr/>
          </a:p>
          <a:p>
            <a:r>
              <a:t>**Respuesta esperada:** Fuente y medio producen un campo; magnitudes y descriptores permiten medirlo; niveles, geometría y directividad condicionan la interpretación.</a:t>
            </a:r>
          </a:p>
          <a:p>
            <a:endParaRPr/>
          </a:p>
          <a:p>
            <a:r>
              <a:t>**Énfasis / error frecuente:** Repetición pedagógica por integración jerárquica; no reenumerar todas las fórmulas.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Verificar objetivos mediante decisiones observables.</a:t>
            </a:r>
          </a:p>
          <a:p>
            <a:endParaRPr/>
          </a:p>
          <a:p>
            <a:r>
              <a:t>**Fuente de apoyo:** PO; TEX 4.3–4.13; PDF pp. 90–107; CM; CDM</a:t>
            </a:r>
          </a:p>
          <a:p>
            <a:endParaRPr/>
          </a:p>
          <a:p>
            <a:r>
              <a:t>[Texto alternativo] Diagrama sobre «Del sonido como fenómeno a una medición interpretable»: mapa conceptual final derivado de U04-006, con revelado por bloques. La lectura central es que fuente y medio producen un campo; magnitudes y descriptores permiten medirlo; niveles, geometría y directividad condicionan la interpretación. Recurso principal: U04-DG-002.</a:t>
            </a:r>
          </a:p>
          <a:p>
            <a:endParaRPr/>
          </a:p>
          <a:p>
            <a:r>
              <a:t>[Sources]</a:t>
            </a:r>
          </a:p>
          <a:p>
            <a:r>
              <a:t>- PO; TEX 4.3–4.13; PDF pp. 90–107; CM; CDM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U04-108 · ¿Qué podés explicar ahora que al inicio no podías?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Promover recuperación y autoevaluación.</a:t>
            </a:r>
          </a:p>
          <a:p>
            <a:endParaRPr/>
          </a:p>
          <a:p>
            <a:r>
              <a:t>**Explicación extendida:** Dar unos segundos de trabajo individual antes de escuchar respuestas. Organizar lo que aparezca alrededor del propósito de la slide: Promover recuperación y autoevaluación. No resolver por adelantado; usar como criterio de cierre que la comprensión se evidencia al distinguir, calcular bajo condiciones y justificar un modelo.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Elegí dos prompts: uno conceptual y uno cuantitativo. Respondé cada uno con una magnitud y una condición de validez.</a:t>
            </a:r>
          </a:p>
          <a:p>
            <a:endParaRPr/>
          </a:p>
          <a:p>
            <a:r>
              <a:t>**Respuesta esperada:** La respuesta debe nombrar la variable y al menos una condición de validez; no alcanza con citar una regla numérica.</a:t>
            </a:r>
          </a:p>
          <a:p>
            <a:endParaRPr/>
          </a:p>
          <a:p>
            <a:r>
              <a:t>**Énfasis / error frecuente:** Comparar respuestas iniciales/finales sin calificar intuiciones de apertura.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Cerrar con el puente al análisis frecuencial.</a:t>
            </a:r>
          </a:p>
          <a:p>
            <a:endParaRPr/>
          </a:p>
          <a:p>
            <a:r>
              <a:t>**Fuente de apoyo:** BR objetivos; PO; U04-002–006</a:t>
            </a:r>
          </a:p>
          <a:p>
            <a:endParaRPr/>
          </a:p>
          <a:p>
            <a:r>
              <a:t>[Texto alternativo] Slide tipográfica titulada «¿Qué podés explicar ahora que al inicio no podías?»; destaca que la comprensión se evidencia al distinguir, calcular bajo condiciones y justificar un modelo.</a:t>
            </a:r>
          </a:p>
          <a:p>
            <a:endParaRPr/>
          </a:p>
          <a:p>
            <a:r>
              <a:t>[Sources]</a:t>
            </a:r>
          </a:p>
          <a:p>
            <a:r>
              <a:t>- BR objetivos; PO; U04-002–006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U04-109 · Un mismo RMS puede ocultar señales muy diferentes</a:t>
            </a:r>
          </a:p>
          <a:p>
            <a:endParaRPr/>
          </a:p>
          <a:p>
            <a:r>
              <a:t>**Duración aproximada:** 3 min</a:t>
            </a:r>
          </a:p>
          <a:p>
            <a:endParaRPr/>
          </a:p>
          <a:p>
            <a:r>
              <a:t>**Propósito:** Tender puente explícito a U5.</a:t>
            </a:r>
          </a:p>
          <a:p>
            <a:endParaRPr/>
          </a:p>
          <a:p>
            <a:r>
              <a:t>**Explicación extendida:** Comparar las dos señales sin entrar todavía en Fourier. Preguntar qué información falta pese a conocer el mismo RMS y dejar la pregunta abierta para U5. Cierre: Magnitudes globales describen tamaño; el contenido frecuencial explicará de qué componentes está formada la señal.</a:t>
            </a:r>
          </a:p>
          <a:p>
            <a:endParaRPr/>
          </a:p>
          <a:p>
            <a:r>
              <a:t>**Guía para el visual o diagrama:** Nombrar primero ejes, variables, unidades y escala. Después identificar una tendencia o ancla y recién entonces formular la conclusión. dos señales de igual RMS y distinta forma; espectros solo como silueta anticipatoria.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Magnitudes globales describen tamaño; el contenido frecuencial explicará de qué componentes está formada la señal.</a:t>
            </a:r>
          </a:p>
          <a:p>
            <a:endParaRPr/>
          </a:p>
          <a:p>
            <a:r>
              <a:t>**Énfasis / error frecuente:** No enseñar Fourier; dejar una necesidad auténtica para U5.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Fin de la ruta central.</a:t>
            </a:r>
          </a:p>
          <a:p>
            <a:endParaRPr/>
          </a:p>
          <a:p>
            <a:r>
              <a:t>**Fuente de apoyo:** CM U4→U5; CDM; TEX 4.7; PDF p. 97</a:t>
            </a:r>
          </a:p>
          <a:p>
            <a:endParaRPr/>
          </a:p>
          <a:p>
            <a:r>
              <a:t>[Texto alternativo] Gráfico sobre «Un mismo RMS puede ocultar señales muy diferentes»: dos señales de igual RMS y distinta forma; espectros solo como silueta anticipatoria. La lectura central es que magnitudes globales describen tamaño; el contenido frecuencial explicará de qué componentes está formada la señal. Recurso principal: U04-CH-006.</a:t>
            </a:r>
          </a:p>
          <a:p>
            <a:endParaRPr/>
          </a:p>
          <a:p>
            <a:r>
              <a:t>[Sources]</a:t>
            </a:r>
          </a:p>
          <a:p>
            <a:r>
              <a:t>- CM U4→U5; CDM; TEX 4.7; PDF p. 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U04-110 · Recordatorio matemático: razones, potencias y logaritmos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Ofrecer apoyo bajo demanda.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Las operaciones usadas pueden interpretarse sin un curso formal de logaritmos.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y escala simple.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Las operaciones usadas pueden interpretarse sin un curso formal de logaritmos.</a:t>
            </a:r>
          </a:p>
          <a:p>
            <a:endParaRPr/>
          </a:p>
          <a:p>
            <a:r>
              <a:t>**Énfasis / error frecuente:** Usar solo si el diagnóstico muestra dificultad.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Volver a la slide que motivó la consulta.</a:t>
            </a:r>
          </a:p>
          <a:p>
            <a:endParaRPr/>
          </a:p>
          <a:p>
            <a:r>
              <a:t>**Fuente de apoyo:** BR prerrequisitos; U1; NOT</a:t>
            </a:r>
          </a:p>
          <a:p>
            <a:endParaRPr/>
          </a:p>
          <a:p>
            <a:r>
              <a:t>[Texto alternativo] Ecuación anotada sobre «Recordatorio matemático: razones, potencias y logaritmos»: Ecuaciones editables y escala simple. La lectura central es que las operaciones usadas pueden interpretarse sin un curso formal de logaritmos. Recurso principal: U04-DG-022.</a:t>
            </a:r>
          </a:p>
          <a:p>
            <a:endParaRPr/>
          </a:p>
          <a:p>
            <a:r>
              <a:t>[Sources]</a:t>
            </a:r>
          </a:p>
          <a:p>
            <a:r>
              <a:t>- BR prerrequisitos; U1; NOT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U04-111 · Promedio y RMS en datos discretos</a:t>
            </a:r>
          </a:p>
          <a:p>
            <a:endParaRPr/>
          </a:p>
          <a:p>
            <a:r>
              <a:t>**Duración aproximada:** 4 min</a:t>
            </a:r>
          </a:p>
          <a:p>
            <a:endParaRPr/>
          </a:p>
          <a:p>
            <a:r>
              <a:t>**Propósito:** Traducir integrales a muestras.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Un registro digital aproxima las operaciones mediante sumas finitas.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anotadas con tabla de muestras.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 registro digital aproxima las operaciones mediante sumas finitas.</a:t>
            </a:r>
          </a:p>
          <a:p>
            <a:endParaRPr/>
          </a:p>
          <a:p>
            <a:r>
              <a:t>**Énfasis / error frecuente:** No introducir frecuencia de muestreo en profundidad.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U04-047 o U04-054.</a:t>
            </a:r>
          </a:p>
          <a:p>
            <a:endParaRPr/>
          </a:p>
          <a:p>
            <a:r>
              <a:t>**Fuente de apoyo:** TEX 4.6; PDF pp. 96–97; ED</a:t>
            </a:r>
          </a:p>
          <a:p>
            <a:endParaRPr/>
          </a:p>
          <a:p>
            <a:r>
              <a:t>[Texto alternativo] Ecuación anotada sobre «Promedio y RMS en datos discretos»: ecuaciones anotadas con tabla de muestras. La lectura central es que un registro digital aproxima las operaciones mediante sumas finitas.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4.6; PDF pp. 96–97;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U04-112 · Definiciones integrales de media, RMS e intensidad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Reunir formalismo extendido.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Las tres operaciones comparten ventana pero promedian expresiones distintas.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tres ecuaciones alineadas y ventana común.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Las tres operaciones comparten ventana pero promedian expresiones distintas.</a:t>
            </a:r>
          </a:p>
          <a:p>
            <a:endParaRPr/>
          </a:p>
          <a:p>
            <a:r>
              <a:t>**Énfasis / error frecuente:** Destacar significado, no técnica de integración.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al bloque correspondiente.</a:t>
            </a:r>
          </a:p>
          <a:p>
            <a:endParaRPr/>
          </a:p>
          <a:p>
            <a:r>
              <a:t>**Fuente de apoyo:** TEX 4.5.5, 4.6.4–4.6.5; PDF pp. 94, 96–97</a:t>
            </a:r>
          </a:p>
          <a:p>
            <a:endParaRPr/>
          </a:p>
          <a:p>
            <a:r>
              <a:t>[Texto alternativo] Ecuación anotada sobre «Definiciones integrales de media, RMS e intensidad»: tres ecuaciones alineadas y ventana común. La lectura central es que las tres operaciones comparten ventana pero promedian expresiones distintas. Recurso principal: U04-DG-012.</a:t>
            </a:r>
          </a:p>
          <a:p>
            <a:endParaRPr/>
          </a:p>
          <a:p>
            <a:r>
              <a:t>[Sources]</a:t>
            </a:r>
          </a:p>
          <a:p>
            <a:r>
              <a:t>- TEX 4.5.5, 4.6.4–4.6.5; PDF pp. 94, 96–97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U04-113 · Reflexión: de Rₚ a fracción de intensidad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Profundizar coeficientes sin cargar la ruta central.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Para incidencia normal ideal, la relación energética requiere cuadrar magnitud y considerar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interfaz y ecuaciones conectadas.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Para incidencia normal ideal, la relación energética requiere cuadrar magnitud y considerar condiciones.</a:t>
            </a:r>
          </a:p>
          <a:p>
            <a:endParaRPr/>
          </a:p>
          <a:p>
            <a:r>
              <a:t>**Énfasis / error frecuente:** Verificar convención y no confundir amplitud con energía.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Volver a la recapitulación B03.</a:t>
            </a:r>
          </a:p>
          <a:p>
            <a:endParaRPr/>
          </a:p>
          <a:p>
            <a:r>
              <a:t>**Fuente de apoyo:** TEX 4.5.4; PDF p. 93; INV F-U04-04–05</a:t>
            </a:r>
          </a:p>
          <a:p>
            <a:endParaRPr/>
          </a:p>
          <a:p>
            <a:r>
              <a:t>[Texto alternativo] Esquema mixto sobre «Reflexión: de `R_p` a fracción de intensidad»: interfaz y ecuaciones conectadas. La lectura central es que para incidencia normal ideal, la relación energética requiere cuadrar magnitud y considerar condiciones. Recurso principal: U04-CH-013.</a:t>
            </a:r>
          </a:p>
          <a:p>
            <a:endParaRPr/>
          </a:p>
          <a:p>
            <a:r>
              <a:t>[Sources]</a:t>
            </a:r>
          </a:p>
          <a:p>
            <a:r>
              <a:t>- TEX 4.5.4; PDF p. 93; INV F-U04-04–05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U04-114 · Referencias para LI y LW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Conservar detalle técnico rastreable.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Cada nivel exige una referencia de la misma magnitud.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nivel exige una referencia de la misma magnitud.</a:t>
            </a:r>
          </a:p>
          <a:p>
            <a:endParaRPr/>
          </a:p>
          <a:p>
            <a:r>
              <a:t>**Énfasis / error frecuente:** Confirmar valores durante slide-writing contra la fuente primaria.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B07.</a:t>
            </a:r>
          </a:p>
          <a:p>
            <a:endParaRPr/>
          </a:p>
          <a:p>
            <a:r>
              <a:t>**Fuente de apoyo:** TEX 4.7.2–4.8.3; PDF pp. 99–100</a:t>
            </a:r>
          </a:p>
          <a:p>
            <a:endParaRPr/>
          </a:p>
          <a:p>
            <a:r>
              <a:t>[Texto alternativo] Slide tipográfica titulada «Referencias para `L_I` y `L_W`»; destaca que cada nivel exige una referencia de la misma magnitud.</a:t>
            </a:r>
          </a:p>
          <a:p>
            <a:endParaRPr/>
          </a:p>
          <a:p>
            <a:r>
              <a:t>[Sources]</a:t>
            </a:r>
          </a:p>
          <a:p>
            <a:r>
              <a:t>- TEX 4.7.2–4.8.3; PDF pp. 99–100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U04-115 · Entre coherente y no correlacionado existe correlación parcial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Evitar una falsa dicotomía para quien pregunte.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Un coeficiente de correlación puede conservar parte del término cruzado.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continuo `γ=-1…1` y ecuación anotada.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 coeficiente de correlación puede conservar parte del término cruzado.</a:t>
            </a:r>
          </a:p>
          <a:p>
            <a:endParaRPr/>
          </a:p>
          <a:p>
            <a:r>
              <a:t>**Énfasis / error frecuente:** Presentar como ampliación didáctica, no como requisito del programa.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al árbol de suma.</a:t>
            </a:r>
          </a:p>
          <a:p>
            <a:endParaRPr/>
          </a:p>
          <a:p>
            <a:r>
              <a:t>**Fuente de apoyo:** ED; TEX 4.8 como base; OD-U04-04</a:t>
            </a:r>
          </a:p>
          <a:p>
            <a:endParaRPr/>
          </a:p>
          <a:p>
            <a:r>
              <a:t>[Texto alternativo] Ecuación anotada sobre «Entre coherente y no correlacionado existe correlación parcial»: continuo `γ=-1…1` y ecuación anotada. La lectura central es que un coeficiente de correlación puede conservar parte del término cruzado. Recurso principal: U04-DG-014.</a:t>
            </a:r>
          </a:p>
          <a:p>
            <a:endParaRPr/>
          </a:p>
          <a:p>
            <a:r>
              <a:t>[Sources]</a:t>
            </a:r>
          </a:p>
          <a:p>
            <a:r>
              <a:t>- ED; TEX 4.8 como base; OD-U04-04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U04-116 · Reverberante y difuso: condiciones y límites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Ampliar terminología de campos.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Un campo reverberante real puede aproximarse a difuso solo bajo ciertas condiciones.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recinto y distribuciones angulares; sin datos inventados.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Un campo reverberante real puede aproximarse a difuso solo bajo ciertas condiciones.</a:t>
            </a:r>
          </a:p>
          <a:p>
            <a:endParaRPr/>
          </a:p>
          <a:p>
            <a:r>
              <a:t>**Énfasis / error frecuente:** Registrar ampliaciones externas si se incorporan en producción.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B09.</a:t>
            </a:r>
          </a:p>
          <a:p>
            <a:endParaRPr/>
          </a:p>
          <a:p>
            <a:r>
              <a:t>**Fuente de apoyo:** TEX 4.9.1; PDF pp. 105–106; ED</a:t>
            </a:r>
          </a:p>
          <a:p>
            <a:endParaRPr/>
          </a:p>
          <a:p>
            <a:r>
              <a:t>[Texto alternativo] Diagrama sobre «Reverberante y difuso: condiciones y límites»: recinto y distribuciones angulares; sin datos inventados. La lectura central es que un campo reverberante real puede aproximarse a difuso solo bajo ciertas condiciones. Recurso principal: U04-DG-015.</a:t>
            </a:r>
          </a:p>
          <a:p>
            <a:endParaRPr/>
          </a:p>
          <a:p>
            <a:r>
              <a:t>[Sources]</a:t>
            </a:r>
          </a:p>
          <a:p>
            <a:r>
              <a:t>- TEX 4.9.1; PDF pp. 105–106;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U04-117 · Onda cilíndrica: cambio por duplicar distancia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Resolver el caso obligatorio menos intuitivo.</a:t>
            </a:r>
          </a:p>
          <a:p>
            <a:endParaRPr/>
          </a:p>
          <a:p>
            <a:r>
              <a:t>**Explicación extendida:** Pedir primero una estimación cualitativa. Resolver en el orden dato → relación válida → sustitución con unidades → resultado → interpretación. Hacer explícito el redondeo y volver a la condición del modelo. Conclusión: Si `I∝1/r`, duplicar distancia produce `−3,01 dB` en intensidad/nivel bajo el modelo ideal.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curva `1/r`; ecuaciones editables. No leer cada caja: usar el diagrama como guía y explicar la relación entre nodos.</a:t>
            </a:r>
          </a:p>
          <a:p>
            <a:endParaRPr/>
          </a:p>
          <a:p>
            <a:r>
              <a:t>**Pregunta al grupo:** ¿Qué magnitud entrega esta relación, en qué unidad y bajo qué condición principal?</a:t>
            </a:r>
          </a:p>
          <a:p>
            <a:endParaRPr/>
          </a:p>
          <a:p>
            <a:r>
              <a:t>**Respuesta esperada:** Si `I∝1/r`, duplicar distancia produce `−3,01 dB` en intensidad/nivel bajo el modelo ideal.</a:t>
            </a:r>
          </a:p>
          <a:p>
            <a:endParaRPr/>
          </a:p>
          <a:p>
            <a:r>
              <a:t>**Énfasis / error frecuente:** No trasladar la regla a fuentes lineales finitas fuera de su región.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comparación geométrica.</a:t>
            </a:r>
          </a:p>
          <a:p>
            <a:endParaRPr/>
          </a:p>
          <a:p>
            <a:r>
              <a:t>**Fuente de apoyo:** TEX 4.9; PDF pp. 103–104; INV</a:t>
            </a:r>
          </a:p>
          <a:p>
            <a:endParaRPr/>
          </a:p>
          <a:p>
            <a:r>
              <a:t>[Texto alternativo] Esquema mixto sobre «Onda cilíndrica: cambio por duplicar distancia»: curva `1/r`; ecuaciones editables. La lectura central es que si `I∝1/r`, duplicar distancia produce `−3,01 dB` en intensidad/nivel bajo el modelo ideal. Recurso principal: U04-CH-010.</a:t>
            </a:r>
          </a:p>
          <a:p>
            <a:endParaRPr/>
          </a:p>
          <a:p>
            <a:r>
              <a:t>[Sources]</a:t>
            </a:r>
          </a:p>
          <a:p>
            <a:r>
              <a:t>- TEX 4.9; PDF pp. 103–104;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U04-118 · Derivación algebraica completa de la ley de distancia</a:t>
            </a:r>
          </a:p>
          <a:p>
            <a:endParaRPr/>
          </a:p>
          <a:p>
            <a:r>
              <a:t>**Duración aproximada:** 6 min</a:t>
            </a:r>
          </a:p>
          <a:p>
            <a:endParaRPr/>
          </a:p>
          <a:p>
            <a:r>
              <a:t>**Propósito:** Conservar pasos para consulta.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diferencia de nivel surge al combinar área esférica, razón de intensidades y logaritmos.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derivación en cuatro etapas, 28 pt mínimo.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diferencia de nivel surge al combinar área esférica, razón de intensidades y logaritmos.</a:t>
            </a:r>
          </a:p>
          <a:p>
            <a:endParaRPr/>
          </a:p>
          <a:p>
            <a:r>
              <a:t>**Énfasis / error frecuente:** Usar como apoyo docente, no como prerequisito para aplicar la ley.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U04-094.</a:t>
            </a:r>
          </a:p>
          <a:p>
            <a:endParaRPr/>
          </a:p>
          <a:p>
            <a:r>
              <a:t>**Fuente de apoyo:** TEX 4.10; PDF pp. 104–105; INV</a:t>
            </a:r>
          </a:p>
          <a:p>
            <a:endParaRPr/>
          </a:p>
          <a:p>
            <a:r>
              <a:t>[Texto alternativo] Ecuación anotada sobre «Derivación algebraica completa de la ley de distancia»: derivación en cuatro etapas, 28 pt mínimo. La lectura central es que la diferencia de nivel surge al combinar área esférica, razón de intensidades y logaritmos. Recurso principal: U04-DG-016.</a:t>
            </a:r>
          </a:p>
          <a:p>
            <a:endParaRPr/>
          </a:p>
          <a:p>
            <a:r>
              <a:t>[Sources]</a:t>
            </a:r>
          </a:p>
          <a:p>
            <a:r>
              <a:t>- TEX 4.10; PDF pp. 104–105; INV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U04-119 · Respuestas del diagnóstico inicial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Hacer recuperable la retroalimentación.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Cada respuesta correcta debe incluir la condición que la vuelve válida.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Cada respuesta correcta debe incluir la condición que la vuelve válida.</a:t>
            </a:r>
          </a:p>
          <a:p>
            <a:endParaRPr/>
          </a:p>
          <a:p>
            <a:r>
              <a:t>**Énfasis / error frecuente:** Mostrar después de la discusión, nunca durante el diagnóstico.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la ruta central.</a:t>
            </a:r>
          </a:p>
          <a:p>
            <a:endParaRPr/>
          </a:p>
          <a:p>
            <a:r>
              <a:t>**Fuente de apoyo:** BR; U04-003</a:t>
            </a:r>
          </a:p>
          <a:p>
            <a:endParaRPr/>
          </a:p>
          <a:p>
            <a:r>
              <a:t>[Texto alternativo] Slide tipográfica titulada «Respuestas del diagnóstico inicial»; destaca que cada respuesta correcta debe incluir la condición que la vuelve válida.</a:t>
            </a:r>
          </a:p>
          <a:p>
            <a:endParaRPr/>
          </a:p>
          <a:p>
            <a:r>
              <a:t>[Sources]</a:t>
            </a:r>
          </a:p>
          <a:p>
            <a:r>
              <a:t>- BR; U04-003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U04-120 · Solución del ejercicio de RMS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Proporcionar feedback paso a paso.</a:t>
            </a:r>
          </a:p>
          <a:p>
            <a:endParaRPr/>
          </a:p>
          <a:p>
            <a:r>
              <a:t>**Explicación extendida:** Resolver de izquierda a derecha: calcular media, elevar cada muestra al cuadrado, promediar los cuadrados y extraer raíz. Comparar `0 Pa` de media con `1,41 Pa` RMS y preguntar qué información conserva cada descriptor. El atajo sinusoidal se menciona solo después de completar el cálculo general.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Ecuaciones editables más mini señales. No leer cada caja: usar el diagrama como guía y explicar la relación entre nodos.</a:t>
            </a:r>
          </a:p>
          <a:p>
            <a:endParaRPr/>
          </a:p>
          <a:p>
            <a:r>
              <a:t>**Pregunta al grupo:** ¿Por qué la media vale cero aunque el RMS no? ¿Qué paso evita que los valores positivos y negativos se cancelen?</a:t>
            </a:r>
          </a:p>
          <a:p>
            <a:endParaRPr/>
          </a:p>
          <a:p>
            <a:r>
              <a:t>**Respuesta esperada:** Al cuadrar las muestras antes de promediar, todas aportan positivamente; el RMS mide tamaño eficaz aunque la media algebraica sea cero.</a:t>
            </a:r>
          </a:p>
          <a:p>
            <a:endParaRPr/>
          </a:p>
          <a:p>
            <a:r>
              <a:t>**Énfasis / error frecuente:** Hacer explícita la decisión anterior al cálculo.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U04-058.</a:t>
            </a:r>
          </a:p>
          <a:p>
            <a:endParaRPr/>
          </a:p>
          <a:p>
            <a:r>
              <a:t>**Fuente de apoyo:** TEX 4.6.5; PDF p. 97; U04-056</a:t>
            </a:r>
          </a:p>
          <a:p>
            <a:endParaRPr/>
          </a:p>
          <a:p>
            <a:r>
              <a:t>[Texto alternativo] Esquema mixto sobre «Solución del ejercicio de RMS»: Ecuaciones editables más mini señales. La lectura central es que la forma de onda determina si puede usarse el factor sinusoidal. Recurso principal: U04-DG-022.</a:t>
            </a:r>
          </a:p>
          <a:p>
            <a:endParaRPr/>
          </a:p>
          <a:p>
            <a:r>
              <a:t>[Sources]</a:t>
            </a:r>
          </a:p>
          <a:p>
            <a:r>
              <a:t>- TEX 4.6.5; PDF p. 97; U04-056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U04-121 · Suma de niveles desiguales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Extender el ejemplo de dos niveles iguales.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contribución de una fuente mucho menor puede ser pequeña pero no se suma aritméticamente.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incremento total frente a diferencia de niveles.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contribución de una fuente mucho menor puede ser pequeña pero no se suma aritméticamente.</a:t>
            </a:r>
          </a:p>
          <a:p>
            <a:endParaRPr/>
          </a:p>
          <a:p>
            <a:r>
              <a:t>**Énfasis / error frecuente:** No convertir la tabla de atajos en regla sin fundamento.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B08.</a:t>
            </a:r>
          </a:p>
          <a:p>
            <a:endParaRPr/>
          </a:p>
          <a:p>
            <a:r>
              <a:t>**Fuente de apoyo:** TEX 4.8.2; PDF pp. 101–102; ED</a:t>
            </a:r>
          </a:p>
          <a:p>
            <a:endParaRPr/>
          </a:p>
          <a:p>
            <a:r>
              <a:t>[Texto alternativo] Esquema mixto sobre «Suma de niveles desiguales»: incremento total frente a diferencia de niveles. La lectura central es que la contribución de una fuente mucho menor puede ser pequeña pero no se suma aritméticamente. Recurso principal: U04-CH-014.</a:t>
            </a:r>
          </a:p>
          <a:p>
            <a:endParaRPr/>
          </a:p>
          <a:p>
            <a:r>
              <a:t>[Sources]</a:t>
            </a:r>
          </a:p>
          <a:p>
            <a:r>
              <a:t>- TEX 4.8.2; PDF pp. 101–102; 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U04-122 · Suma coherente con fase π/2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Mostrar un caso intermedio.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La fase intermedia conserva el término cruzado sin producir máximo ni cancelación.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señales en cuadratura y suma; ecuación editable.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La fase intermedia conserva el término cruzado sin producir máximo ni cancelación.</a:t>
            </a:r>
          </a:p>
          <a:p>
            <a:endParaRPr/>
          </a:p>
          <a:p>
            <a:r>
              <a:t>**Énfasis / error frecuente:** Mantener una sola frecuencia y amplitudes declaradas.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U04-072.</a:t>
            </a:r>
          </a:p>
          <a:p>
            <a:endParaRPr/>
          </a:p>
          <a:p>
            <a:r>
              <a:t>**Fuente de apoyo:** TEX 4.8.1; PDF pp. 100–101; U04-073</a:t>
            </a:r>
          </a:p>
          <a:p>
            <a:endParaRPr/>
          </a:p>
          <a:p>
            <a:r>
              <a:t>[Texto alternativo] Esquema mixto sobre «Suma coherente con fase `π/2`»: señales en cuadratura y suma; ecuación editable. La lectura central es que la fase intermedia conserva el término cruzado sin producir máximo ni cancelación. Recurso principal: U04-CH-008.</a:t>
            </a:r>
          </a:p>
          <a:p>
            <a:endParaRPr/>
          </a:p>
          <a:p>
            <a:r>
              <a:t>[Sources]</a:t>
            </a:r>
          </a:p>
          <a:p>
            <a:r>
              <a:t>- TEX 4.8.1; PDF pp. 100–101; U04-073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U04-123 · Distancia y directividad en un mismo cálculo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Integrar dos factores con supuestos explícitos.</a:t>
            </a:r>
          </a:p>
          <a:p>
            <a:endParaRPr/>
          </a:p>
          <a:p>
            <a:r>
              <a:t>**Explicación extendida:** Usar esta slide solo si la ruta central deja una duda concreta. Reconstruir el paso solicitado, mantener símbolos y unidades, y regresar a la slide de origen. Resultado conceptual: El cambio radial y la ganancia direccional pueden combinarse en nivel si comparten referencia y modelo.</a:t>
            </a:r>
          </a:p>
          <a:p>
            <a:endParaRPr/>
          </a:p>
          <a:p>
            <a:r>
              <a:t>**Guía para el visual o diagrama:** Recorrer el recurso de izquierda a derecha o de causa a consecuencia. Señalar primero la entidad inicial, luego las relaciones y al final la condición o conclusión. fuente direccional, dos puntos y ecuaciones por etapas. No leer cada caja: usar el diagrama como guía y explicar la relación entre nodos.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El cambio radial y la ganancia direccional pueden combinarse en nivel si comparten referencia y modelo.</a:t>
            </a:r>
          </a:p>
          <a:p>
            <a:endParaRPr/>
          </a:p>
          <a:p>
            <a:r>
              <a:t>**Énfasis / error frecuente:** No añadir absorción ni reflexión a un ejercicio de foco conceptual.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 B10.</a:t>
            </a:r>
          </a:p>
          <a:p>
            <a:endParaRPr/>
          </a:p>
          <a:p>
            <a:r>
              <a:t>**Fuente de apoyo:** TEX 4.10–4.11; PDF pp. 104–107</a:t>
            </a:r>
          </a:p>
          <a:p>
            <a:endParaRPr/>
          </a:p>
          <a:p>
            <a:r>
              <a:t>[Texto alternativo] Esquema mixto sobre «Distancia y directividad en un mismo cálculo»: fuente direccional, dos puntos y ecuaciones por etapas. La lectura central es que el cambio radial y la ganancia direccional pueden combinarse en nivel si comparten referencia y modelo. Recurso principal: U04-DG-020.</a:t>
            </a:r>
          </a:p>
          <a:p>
            <a:endParaRPr/>
          </a:p>
          <a:p>
            <a:r>
              <a:t>[Sources]</a:t>
            </a:r>
          </a:p>
          <a:p>
            <a:r>
              <a:t>- TEX 4.10–4.11; PDF pp. 104–107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U04-124 · Solución numérica del caso integrador</a:t>
            </a:r>
          </a:p>
          <a:p>
            <a:endParaRPr/>
          </a:p>
          <a:p>
            <a:r>
              <a:t>**Duración aproximada:** 5 min</a:t>
            </a:r>
          </a:p>
          <a:p>
            <a:endParaRPr/>
          </a:p>
          <a:p>
            <a:r>
              <a:t>**Propósito:** Modelar una solución completa con condiciones y unidades.</a:t>
            </a:r>
          </a:p>
          <a:p>
            <a:endParaRPr/>
          </a:p>
          <a:p>
            <a:r>
              <a:t>**Explicación extendida:** Reconstruir primero las dos correcciones de distancia: −6,02 dB y −12,04 dB. Antes de la suma final, comprobar misma magnitud, punto y referencia. La suma lineal da aproximadamente 74,95 dB SPL. Cerrar preguntando qué dato faltaría si las señales fueran coherentes: la fase relativa en el receptor.</a:t>
            </a:r>
          </a:p>
          <a:p>
            <a:endParaRPr/>
          </a:p>
          <a:p>
            <a:r>
              <a:t>**Guía para el visual o diagrama:** Mostrar cada ecuación solo después de que el grupo anticipe el signo de la corrección y el intervalo esperado para el resultado combinado.</a:t>
            </a:r>
          </a:p>
          <a:p>
            <a:endParaRPr/>
          </a:p>
          <a:p>
            <a:r>
              <a:t>**Pregunta al grupo:** ¿Por qué el resultado combinado queda apenas por encima de 73,98 dB y no tres decibeles por encima?</a:t>
            </a:r>
          </a:p>
          <a:p>
            <a:endParaRPr/>
          </a:p>
          <a:p>
            <a:r>
              <a:t>**Respuesta esperada:** La segunda contribución llega aproximadamente 6 dB por debajo de la primera; fuentes desiguales no producen un aumento de 3,01 dB.</a:t>
            </a:r>
          </a:p>
          <a:p>
            <a:endParaRPr/>
          </a:p>
          <a:p>
            <a:r>
              <a:t>**Énfasis / error frecuente:** Valorar justificaciones y detectar datos insuficientes.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Retorno al cierre.</a:t>
            </a:r>
          </a:p>
          <a:p>
            <a:endParaRPr/>
          </a:p>
          <a:p>
            <a:r>
              <a:t>**Fuente de apoyo:** U04-105; TEX 4.9–4.13; PDF pp. 100–107</a:t>
            </a:r>
          </a:p>
          <a:p>
            <a:endParaRPr/>
          </a:p>
          <a:p>
            <a:r>
              <a:t>[Texto alternativo] Esquema mixto sobre «Solución razonada del caso integrador»: mismo plano del caso con capas de solución. La lectura central es que la calidad de la solución depende de declarar qué puede y qué no puede calcularse. Recurso principal: U04-DG-018.</a:t>
            </a:r>
          </a:p>
          <a:p>
            <a:endParaRPr/>
          </a:p>
          <a:p>
            <a:r>
              <a:t>[Sources]</a:t>
            </a:r>
          </a:p>
          <a:p>
            <a:r>
              <a:t>- U04-105; TEX 4.9–4.13; PDF pp. 100–107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U04-125 · Notación, glosario y fuentes de la unidad</a:t>
            </a:r>
          </a:p>
          <a:p>
            <a:endParaRPr/>
          </a:p>
          <a:p>
            <a:r>
              <a:t>**Duración aproximada:** 2 min</a:t>
            </a:r>
          </a:p>
          <a:p>
            <a:endParaRPr/>
          </a:p>
          <a:p>
            <a:r>
              <a:t>**Propósito:** Facilitar consulta y trazabilidad.</a:t>
            </a:r>
          </a:p>
          <a:p>
            <a:endParaRPr/>
          </a:p>
          <a:p>
            <a:r>
              <a:t>**Explicación extendida:** Desarrollar el alcance aprobado —tabla de símbolos/unidades, decisiones `W_ac`, `Q_dir`, `DI` y fuentes principales— y vincular cada afirmación con una magnitud, unidad, referencia o condición. Idea central: los símbolos y referencias deben mantenerse coherentes entre unidades.</a:t>
            </a:r>
          </a:p>
          <a:p>
            <a:endParaRPr/>
          </a:p>
          <a:p>
            <a:r>
              <a:t>**Guía para el visual o diagrama:** Mantener la atención en el título y revelar el contenido en el orden escrito; no agregar un visual decorativo.</a:t>
            </a:r>
          </a:p>
          <a:p>
            <a:endParaRPr/>
          </a:p>
          <a:p>
            <a:r>
              <a:t>**Pregunta al grupo:** ¿Cuál es la idea física central de esta slide?</a:t>
            </a:r>
          </a:p>
          <a:p>
            <a:endParaRPr/>
          </a:p>
          <a:p>
            <a:r>
              <a:t>**Respuesta esperada:** Símbolos y referencias deben mantenerse coherentes entre unidades.</a:t>
            </a:r>
          </a:p>
          <a:p>
            <a:endParaRPr/>
          </a:p>
          <a:p>
            <a:r>
              <a:t>**Énfasis / error frecuente:** Señalar decisiones provisionales pendientes de validación docente.</a:t>
            </a:r>
          </a:p>
          <a:p>
            <a:endParaRPr/>
          </a:p>
          <a:p>
            <a:r>
              <a:t>**Demostración o multimedia:** No corresponde.</a:t>
            </a:r>
          </a:p>
          <a:p>
            <a:endParaRPr/>
          </a:p>
          <a:p>
            <a:r>
              <a:t>**Transición:** Fin del respaldo.</a:t>
            </a:r>
          </a:p>
          <a:p>
            <a:endParaRPr/>
          </a:p>
          <a:p>
            <a:r>
              <a:t>**Fuente de apoyo:** NOT; GLO; SA; OD; PO; TEX; PDF</a:t>
            </a:r>
          </a:p>
          <a:p>
            <a:endParaRPr/>
          </a:p>
          <a:p>
            <a:r>
              <a:t>[Texto alternativo] Slide tipográfica titulada «Notación, glosario y fuentes de la unidad»; destaca que símbolos y referencias deben mantenerse coherentes entre unidades.</a:t>
            </a:r>
          </a:p>
          <a:p>
            <a:endParaRPr/>
          </a:p>
          <a:p>
            <a:r>
              <a:t>[Sources]</a:t>
            </a:r>
          </a:p>
          <a:p>
            <a:r>
              <a:t>- NOT; GLO; SA; OD; PO; TEX; 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mmons.wikimedia.org/wiki/File:Sound_level_meter_Bruel_Kjaer.jpg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nist.gov/image/acoustic-anechoic-chamber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mmons.wikimedia.org/wiki/File:Sound_level_meter_Bruel_Kjaer.jpg" TargetMode="Externa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eyebrow">
            <a:extLst>
              <a:ext uri="{FF2B5EF4-FFF2-40B4-BE49-F238E27FC236}">
                <a16:creationId xmlns:a16="http://schemas.microsoft.com/office/drawing/2014/main" id="{46E848C1-AA59-4E87-966B-136E14DEB74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E9D44EFB-9C5E-4747-8564-200AA4475B0B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8667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Generalidades sobre el sonido, sus propiedades y magnitudes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DB92350A-D41B-4C7E-B0AC-D8B740938221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7334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magnitud describe realmente un valor de sonido?</a:t>
            </a:r>
          </a:p>
        </p:txBody>
      </p:sp>
      <p:sp>
        <p:nvSpPr>
          <p:cNvPr id="4" name="cover-question">
            <a:extLst>
              <a:ext uri="{FF2B5EF4-FFF2-40B4-BE49-F238E27FC236}">
                <a16:creationId xmlns:a16="http://schemas.microsoft.com/office/drawing/2014/main" id="{E777B681-A077-4990-86DC-68BD5CD74280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falta saber cuando alguien informa solo “80 dB”?</a:t>
            </a:r>
          </a:p>
        </p:txBody>
      </p:sp>
      <p:sp>
        <p:nvSpPr>
          <p:cNvPr id="5" name="slide-number-1">
            <a:extLst>
              <a:ext uri="{FF2B5EF4-FFF2-40B4-BE49-F238E27FC236}">
                <a16:creationId xmlns:a16="http://schemas.microsoft.com/office/drawing/2014/main" id="{00B0C7A4-AFEA-4836-920E-7E7D8A2EE45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El mismo sonido, cinco preguntas físicas»: fuente, medio, punto de medición y receptor; cinco callouts breves. La lectura central es que presión, movimiento, flujo, potencia y percepción responden preguntas diferentes. Recurso principal: U04-DG-001." title="Diagrama sobre «El mismo sonido, cinco preguntas físicas»: fuente, medio, punto de medición y receptor; cinco callouts breves. La lectura central es que presión, movimiento, flujo, potencia y percepción responden preguntas diferentes. Recurso principal: U04-DG-00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1C9370F-46D1-43C5-89A6-CCC36459AFA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2">
            <a:extLst>
              <a:ext uri="{FF2B5EF4-FFF2-40B4-BE49-F238E27FC236}">
                <a16:creationId xmlns:a16="http://schemas.microsoft.com/office/drawing/2014/main" id="{F4A805AD-9B32-4F4C-B52E-52C55E75AE8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2">
            <a:extLst>
              <a:ext uri="{FF2B5EF4-FFF2-40B4-BE49-F238E27FC236}">
                <a16:creationId xmlns:a16="http://schemas.microsoft.com/office/drawing/2014/main" id="{D1E03480-0749-47E1-BA95-5130F526744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mismo sonido, cinco preguntas físicas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83A0BD8-9423-4EA6-874C-FD7B51C521A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926CA8BA-B926-4B5C-B93B-BDF5C847782A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Presión, movimiento, flujo, potencia y percepción responden preguntas diferentes.</a:t>
            </a:r>
          </a:p>
        </p:txBody>
      </p:sp>
      <p:sp>
        <p:nvSpPr>
          <p:cNvPr id="7" name="slide-number-2">
            <a:extLst>
              <a:ext uri="{FF2B5EF4-FFF2-40B4-BE49-F238E27FC236}">
                <a16:creationId xmlns:a16="http://schemas.microsoft.com/office/drawing/2014/main" id="{0C1AA6AE-4B44-4BE0-BB5B-DF48BD93964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U04-003">
            <a:extLst>
              <a:ext uri="{FF2B5EF4-FFF2-40B4-BE49-F238E27FC236}">
                <a16:creationId xmlns:a16="http://schemas.microsoft.com/office/drawing/2014/main" id="{74BA34F6-7A31-46A3-AFAE-1EE31A94BC2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03">
            <a:extLst>
              <a:ext uri="{FF2B5EF4-FFF2-40B4-BE49-F238E27FC236}">
                <a16:creationId xmlns:a16="http://schemas.microsoft.com/office/drawing/2014/main" id="{45D86B84-1E1D-42C7-B23A-08D7B9C8B4D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Seis afirmaciones para empezar</a:t>
            </a:r>
          </a:p>
        </p:txBody>
      </p:sp>
      <p:sp>
        <p:nvSpPr>
          <p:cNvPr id="3" name="question-surface">
            <a:extLst>
              <a:ext uri="{FF2B5EF4-FFF2-40B4-BE49-F238E27FC236}">
                <a16:creationId xmlns:a16="http://schemas.microsoft.com/office/drawing/2014/main" id="{0BFA9397-9946-4B80-AA19-D108083A09D8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>
              <a:ext uri="{FF2B5EF4-FFF2-40B4-BE49-F238E27FC236}">
                <a16:creationId xmlns:a16="http://schemas.microsoft.com/office/drawing/2014/main" id="{4FF29050-6204-4F74-A99A-67FF7D73F425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971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Decidí verdadero o falso y justificá: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El sonido necesita un oyente para existir.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u=c porque ambas se expresan en m s⁻¹.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Si la media es cero, la señal es nula.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Un valor en dB es absoluto.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Dos fuentes iguales siempre agregan 3 dB.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Duplicar la distancia siempre resta 6 dB.</a:t>
            </a:r>
          </a:p>
        </p:txBody>
      </p:sp>
      <p:sp>
        <p:nvSpPr>
          <p:cNvPr id="5" name="slide-number-3">
            <a:extLst>
              <a:ext uri="{FF2B5EF4-FFF2-40B4-BE49-F238E27FC236}">
                <a16:creationId xmlns:a16="http://schemas.microsoft.com/office/drawing/2014/main" id="{3F467419-B59A-424E-A7FE-404AED6AC26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04">
            <a:extLst>
              <a:ext uri="{FF2B5EF4-FFF2-40B4-BE49-F238E27FC236}">
                <a16:creationId xmlns:a16="http://schemas.microsoft.com/office/drawing/2014/main" id="{A94ADBFD-0FF8-41FD-B1A0-AC3220DC448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04">
            <a:extLst>
              <a:ext uri="{FF2B5EF4-FFF2-40B4-BE49-F238E27FC236}">
                <a16:creationId xmlns:a16="http://schemas.microsoft.com/office/drawing/2014/main" id="{6DABA6DF-D5A7-43BA-AB0D-2FCD48DCE6C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 que necesitamos recuperar de las tres unidades anteriores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007AF6DB-D108-40FA-A020-6EA379EA8587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62485F92-ECAD-4A64-B0A0-6DAD461D45B0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c=λ f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u(t) y c no representan la misma magnitud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6500C15D-2182-4EFB-8C0F-93A97F3E0183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Podemos usar: magnitud, símbolo y unidad; presión; energía y potencia; onda, fase y superposición.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Conviene revisar: c=λ f; por qué u y c responden preguntas distintas; razones, potencias de diez y logaritmo decimal.</a:t>
            </a:r>
          </a:p>
        </p:txBody>
      </p:sp>
      <p:sp>
        <p:nvSpPr>
          <p:cNvPr id="6" name="slide-number-4">
            <a:extLst>
              <a:ext uri="{FF2B5EF4-FFF2-40B4-BE49-F238E27FC236}">
                <a16:creationId xmlns:a16="http://schemas.microsoft.com/office/drawing/2014/main" id="{B5BF8B0A-0441-42A5-89CB-233FDBA8390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005">
            <a:extLst>
              <a:ext uri="{FF2B5EF4-FFF2-40B4-BE49-F238E27FC236}">
                <a16:creationId xmlns:a16="http://schemas.microsoft.com/office/drawing/2014/main" id="{796637F3-5A6F-4A5B-8581-162B5CA7028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05">
            <a:extLst>
              <a:ext uri="{FF2B5EF4-FFF2-40B4-BE49-F238E27FC236}">
                <a16:creationId xmlns:a16="http://schemas.microsoft.com/office/drawing/2014/main" id="{5CF3A193-B81E-403F-9F58-4C2E330A909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distinguir, calcular e interpretar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9765C978-28DD-4B28-87FC-92B7F4661B8D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Diferenciar fenómeno físico y sensación sonora.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elasticidad, inercia y rapidez de propagación.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Relacionar p, u, Z, I, Wₐc y Eₐc.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valores instantáneo, pico, pico a pico, medio y RMS.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niveles con referencia explícita y justificar 10/20.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Sumar señales según fase o correlación.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modelos plano, cilíndrico y esférico con condiciones.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Qdᵢᵣ y DI sin suponer creación de potencia.</a:t>
            </a:r>
          </a:p>
        </p:txBody>
      </p:sp>
      <p:sp>
        <p:nvSpPr>
          <p:cNvPr id="4" name="slide-number-5">
            <a:extLst>
              <a:ext uri="{FF2B5EF4-FFF2-40B4-BE49-F238E27FC236}">
                <a16:creationId xmlns:a16="http://schemas.microsoft.com/office/drawing/2014/main" id="{420EA364-DBFE-4E0F-B650-75A638D2953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Del fenómeno al dato y del dato a una interpretación responsable»: mapa en tres líneas, máximo cuatro nodos por línea; destacar etapa activa en recaps. La lectura central es que cada bloque responde una pregunta distinta sobre el mismo campo acústico. Recurso principal: U04-DG-002." title="Diagrama sobre «Del fenómeno al dato y del dato a una interpretación responsable»: mapa en tres líneas, máximo cuatro nodos por línea; destacar etapa activa en recaps. La lectura central es que cada bloque responde una pregunta distinta sobre el mismo campo acústico. Recurso principal: U04-DG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5086456-DBA9-4870-98C0-E36BE28ACE9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6">
            <a:extLst>
              <a:ext uri="{FF2B5EF4-FFF2-40B4-BE49-F238E27FC236}">
                <a16:creationId xmlns:a16="http://schemas.microsoft.com/office/drawing/2014/main" id="{6BAF9C84-8323-47DD-AC67-CAFCCD89529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6">
            <a:extLst>
              <a:ext uri="{FF2B5EF4-FFF2-40B4-BE49-F238E27FC236}">
                <a16:creationId xmlns:a16="http://schemas.microsoft.com/office/drawing/2014/main" id="{7B2A25E3-2887-4CCB-81D0-0AD5EDACB1C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al dato y del dato a una interpretación responsable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EFEE137-5A00-47DA-8890-0BA7E7FE4DA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5E91A11-93C9-43A4-8FA3-2C42733780F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bloque responde una pregunta distinta sobre el mismo campo acústico.</a:t>
            </a:r>
          </a:p>
        </p:txBody>
      </p:sp>
      <p:sp>
        <p:nvSpPr>
          <p:cNvPr id="7" name="slide-number-6">
            <a:extLst>
              <a:ext uri="{FF2B5EF4-FFF2-40B4-BE49-F238E27FC236}">
                <a16:creationId xmlns:a16="http://schemas.microsoft.com/office/drawing/2014/main" id="{D82739BE-2FE3-4E51-BCB3-B14C8250C56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5507E047-087C-43F6-9487-64A03E86030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FEFCB91A-D7EF-44E3-B1E3-19E3D1572BE0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Antes de medir: fenómeno, fuente y medio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2B68BB69-29FA-449D-8813-6FFC3CBB116E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existe físicamente antes de medir o escuchar?</a:t>
            </a:r>
          </a:p>
        </p:txBody>
      </p:sp>
      <p:sp>
        <p:nvSpPr>
          <p:cNvPr id="4" name="slide-number-7">
            <a:extLst>
              <a:ext uri="{FF2B5EF4-FFF2-40B4-BE49-F238E27FC236}">
                <a16:creationId xmlns:a16="http://schemas.microsoft.com/office/drawing/2014/main" id="{17D22586-7EB1-46BD-9DFB-BD9194F5DA8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Fenómeno físico y sensación sonora no son sinónimos»: comparación físico/perceptual con códigos teal/ocre y síntesis inferior. La lectura central es que una perturbación puede medirse sin oyente; la sensación depende del sistema auditivo y del contexto. Recurso principal: U04-DG-003." title="Diagrama sobre «Fenómeno físico y sensación sonora no son sinónimos»: comparación físico/perceptual con códigos teal/ocre y síntesis inferior. La lectura central es que una perturbación puede medirse sin oyente; la sensación depende del sistema auditivo y del contexto. Recurso principal: U04-DG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BA5C525-56E7-4698-A20C-CC7DF1E00178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8">
            <a:extLst>
              <a:ext uri="{FF2B5EF4-FFF2-40B4-BE49-F238E27FC236}">
                <a16:creationId xmlns:a16="http://schemas.microsoft.com/office/drawing/2014/main" id="{61653633-0ECF-4E27-9951-4B5AE70517A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8">
            <a:extLst>
              <a:ext uri="{FF2B5EF4-FFF2-40B4-BE49-F238E27FC236}">
                <a16:creationId xmlns:a16="http://schemas.microsoft.com/office/drawing/2014/main" id="{717046BE-5E5F-4C8A-8505-FBFFE964218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 físico y sensación sonora no son sinónimos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8CB196D-3899-4C8E-8D6B-22209F168E7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325A5AE-DF48-4A6F-821E-5670D85EB894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perturbación puede medirse sin oyente; la sensación depende del sistema auditivo y del contexto.</a:t>
            </a:r>
          </a:p>
        </p:txBody>
      </p:sp>
      <p:sp>
        <p:nvSpPr>
          <p:cNvPr id="7" name="slide-number-8">
            <a:extLst>
              <a:ext uri="{FF2B5EF4-FFF2-40B4-BE49-F238E27FC236}">
                <a16:creationId xmlns:a16="http://schemas.microsoft.com/office/drawing/2014/main" id="{D7B3B684-0C6B-42E1-A5A0-BAB4CCD80CD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El campo no necesita un oyente para existir»: campo existente con receptor presente/ausente; sin flechas causales ambiguas. La lectura central es que el receptor detecta o procesa un campo; no lo crea por estar presente. Recurso principal: U04-DG-003." title="Diagrama sobre «El campo no necesita un oyente para existir»: campo existente con receptor presente/ausente; sin flechas causales ambiguas. La lectura central es que el receptor detecta o procesa un campo; no lo crea por estar presente. Recurso principal: U04-DG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2CB4A31D-9791-44BF-AD3A-10413667DD5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09">
            <a:extLst>
              <a:ext uri="{FF2B5EF4-FFF2-40B4-BE49-F238E27FC236}">
                <a16:creationId xmlns:a16="http://schemas.microsoft.com/office/drawing/2014/main" id="{D90C8219-836A-44A0-A84B-C48A039187E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09">
            <a:extLst>
              <a:ext uri="{FF2B5EF4-FFF2-40B4-BE49-F238E27FC236}">
                <a16:creationId xmlns:a16="http://schemas.microsoft.com/office/drawing/2014/main" id="{538C302D-7C65-433F-97C6-CA154E7E842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campo no necesita un oyente para existir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988978F-178C-41CC-BA72-734B8ECD453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7133691-7C08-42D1-BD0E-5C7FE6F94BCB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receptor detecta o procesa un campo; no lo crea por estar presente.</a:t>
            </a:r>
          </a:p>
        </p:txBody>
      </p:sp>
      <p:sp>
        <p:nvSpPr>
          <p:cNvPr id="7" name="slide-number-9">
            <a:extLst>
              <a:ext uri="{FF2B5EF4-FFF2-40B4-BE49-F238E27FC236}">
                <a16:creationId xmlns:a16="http://schemas.microsoft.com/office/drawing/2014/main" id="{3A6E546B-AB0C-4DE4-AE98-51807947F9C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Fuente, medio, campo y receptor cumplen funciones distintas»: 4 nodos, 3 conectores, rótulos de función y corredor libre para flechas. La lectura central es que la fuente perturba, el medio sostiene la propagación, el campo describe y el receptor responde. Recurso principal: U04-DG-003." title="Diagrama sobre «Fuente, medio, campo y receptor cumplen funciones distintas»: 4 nodos, 3 conectores, rótulos de función y corredor libre para flechas. La lectura central es que la fuente perturba, el medio sostiene la propagación, el campo describe y el receptor responde. Recurso principal: U04-DG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9254BC9-91E2-4997-926C-5C027B51EF0A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0">
            <a:extLst>
              <a:ext uri="{FF2B5EF4-FFF2-40B4-BE49-F238E27FC236}">
                <a16:creationId xmlns:a16="http://schemas.microsoft.com/office/drawing/2014/main" id="{A70381E2-BFAE-44B6-9816-714E9A2B70F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0">
            <a:extLst>
              <a:ext uri="{FF2B5EF4-FFF2-40B4-BE49-F238E27FC236}">
                <a16:creationId xmlns:a16="http://schemas.microsoft.com/office/drawing/2014/main" id="{BF23B156-A219-41F6-BE71-585B460A302A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medio, campo y receptor cumplen funciones distintas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3CDF564-6213-4143-8B12-1B69BA731F3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017E58E-56B3-4568-BFEF-6B2F8E0A60B4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fuente perturba, el medio sostiene la propagación, el campo describe y el receptor responde.</a:t>
            </a:r>
          </a:p>
        </p:txBody>
      </p:sp>
      <p:sp>
        <p:nvSpPr>
          <p:cNvPr id="7" name="slide-number-10">
            <a:extLst>
              <a:ext uri="{FF2B5EF4-FFF2-40B4-BE49-F238E27FC236}">
                <a16:creationId xmlns:a16="http://schemas.microsoft.com/office/drawing/2014/main" id="{93142C59-1CDD-4A63-B748-B72DC36E45B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011">
            <a:extLst>
              <a:ext uri="{FF2B5EF4-FFF2-40B4-BE49-F238E27FC236}">
                <a16:creationId xmlns:a16="http://schemas.microsoft.com/office/drawing/2014/main" id="{B994931E-AE29-4D9D-9497-5FA0B13C566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11">
            <a:extLst>
              <a:ext uri="{FF2B5EF4-FFF2-40B4-BE49-F238E27FC236}">
                <a16:creationId xmlns:a16="http://schemas.microsoft.com/office/drawing/2014/main" id="{1BDF4C6D-F093-4973-934C-7EDE8F8E41E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Distintas fuentes, una misma pregunta: ¿qué perturba el medio?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AD2715CD-1224-4BE9-919B-1FE2AD46AC59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Membrana, cuerda, pliegues vocales, columna de aire y turbulencia originan perturbaciones mediante mecanismos distintos.</a:t>
            </a:r>
          </a:p>
        </p:txBody>
      </p:sp>
      <p:sp>
        <p:nvSpPr>
          <p:cNvPr id="4" name="slide-number-11">
            <a:extLst>
              <a:ext uri="{FF2B5EF4-FFF2-40B4-BE49-F238E27FC236}">
                <a16:creationId xmlns:a16="http://schemas.microsoft.com/office/drawing/2014/main" id="{EDC558A4-978F-4640-9F76-E43CCD90E98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os pliegues vocales generan; el aire transporta»: 4 nodos y 3 conectores; sin anatomía detallada ni datos no verificados. La lectura central es que la oscilación de la fuente y la propagación por el aire son procesos distintos. Recurso principal: U04-DG-004." title="Diagrama sobre «Los pliegues vocales generan; el aire transporta»: 4 nodos y 3 conectores; sin anatomía detallada ni datos no verificados. La lectura central es que la oscilación de la fuente y la propagación por el aire son procesos distintos. Recurso principal: U04-DG-00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804521C2-9E5A-4837-991B-A83ADCEB25B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2">
            <a:extLst>
              <a:ext uri="{FF2B5EF4-FFF2-40B4-BE49-F238E27FC236}">
                <a16:creationId xmlns:a16="http://schemas.microsoft.com/office/drawing/2014/main" id="{E345F05F-6B0D-4473-BE5A-E97E90675CD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2">
            <a:extLst>
              <a:ext uri="{FF2B5EF4-FFF2-40B4-BE49-F238E27FC236}">
                <a16:creationId xmlns:a16="http://schemas.microsoft.com/office/drawing/2014/main" id="{5AE5795C-1B19-43CC-915E-222CE884AEBD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Los pliegues vocales generan; el aire transporta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C384E8C-BE70-4360-8868-CB366CE3563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A2B4AD4-6FE8-4D66-8735-762D6F3E213C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oscilación de la fuente y la propagación por el aire son procesos distintos.</a:t>
            </a:r>
          </a:p>
        </p:txBody>
      </p:sp>
      <p:sp>
        <p:nvSpPr>
          <p:cNvPr id="7" name="slide-number-12">
            <a:extLst>
              <a:ext uri="{FF2B5EF4-FFF2-40B4-BE49-F238E27FC236}">
                <a16:creationId xmlns:a16="http://schemas.microsoft.com/office/drawing/2014/main" id="{44A7CD64-EC59-4B0D-9ABF-D5BB534241F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estático alternativo sobre «El cono del parlante alterna compresiones y rarefacciones»: Usar U04-DG-004 como alternativa estática. El GIF U04-MED-001 es opcional y solo se reproduce después de aprobar encuadre y crédito. La lectura central es que el cono se desplaza localmente y modifica la presión del aire vecino. Recurso principal: U04-DG-004." title="Diagrama estático alternativo sobre «El cono del parlante alterna compresiones y rarefacciones»: Usar U04-DG-004 como alternativa estática. El GIF U04-MED-001 es opcional y solo se reproduce después de aprobar encuadre y crédito. La lectura central es que el cono se desplaza localmente y modifica la presión del aire vecino. Recurso principal: U04-DG-00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4E36B52-03BB-43C9-9F53-1C37C4D9675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3">
            <a:extLst>
              <a:ext uri="{FF2B5EF4-FFF2-40B4-BE49-F238E27FC236}">
                <a16:creationId xmlns:a16="http://schemas.microsoft.com/office/drawing/2014/main" id="{955BA1FE-1417-411F-AC35-2FCCBAFCF41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3">
            <a:extLst>
              <a:ext uri="{FF2B5EF4-FFF2-40B4-BE49-F238E27FC236}">
                <a16:creationId xmlns:a16="http://schemas.microsoft.com/office/drawing/2014/main" id="{D18B331F-5C46-4F13-99D4-C5A1D0BF6BF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cono del parlante alterna compresiones y rarefacciones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0B620D4-3D30-4E3E-93C4-D899780FA36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F05A703-E1AC-4A45-9863-7BA4C83343B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cono se desplaza localmente y modifica la presión del aire vecino.</a:t>
            </a:r>
          </a:p>
        </p:txBody>
      </p:sp>
      <p:sp>
        <p:nvSpPr>
          <p:cNvPr id="7" name="slide-number-13">
            <a:extLst>
              <a:ext uri="{FF2B5EF4-FFF2-40B4-BE49-F238E27FC236}">
                <a16:creationId xmlns:a16="http://schemas.microsoft.com/office/drawing/2014/main" id="{302B16E1-B573-4B1A-B700-5096D33822A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Hasta acá: existir, generar, propagar, detectar y percibir»: mapa reducido fuente–medio–campo–receptor con bifurcación medir/percibir. La lectura central es que cada verbo exige un objeto y una evidencia diferente. Recurso principal: U04-DG-002." title="Diagrama sobre «Hasta acá: existir, generar, propagar, detectar y percibir»: mapa reducido fuente–medio–campo–receptor con bifurcación medir/percibir. La lectura central es que cada verbo exige un objeto y una evidencia diferente. Recurso principal: U04-DG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986372B-99BE-4915-BA37-C92FE28B524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4">
            <a:extLst>
              <a:ext uri="{FF2B5EF4-FFF2-40B4-BE49-F238E27FC236}">
                <a16:creationId xmlns:a16="http://schemas.microsoft.com/office/drawing/2014/main" id="{17B2CAFF-7618-4247-B0FB-C9657B113B1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4">
            <a:extLst>
              <a:ext uri="{FF2B5EF4-FFF2-40B4-BE49-F238E27FC236}">
                <a16:creationId xmlns:a16="http://schemas.microsoft.com/office/drawing/2014/main" id="{BA63303D-F799-4A13-BEEA-E4C2029D8E47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existir, generar, propagar, detectar y percibir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1EB5013-669B-49BE-B83C-9D501C73F5B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D61BC34-A4AD-457E-9B06-2B78329C22C9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verbo exige un objeto y una evidencia diferente.</a:t>
            </a:r>
          </a:p>
        </p:txBody>
      </p:sp>
      <p:sp>
        <p:nvSpPr>
          <p:cNvPr id="7" name="slide-number-14">
            <a:extLst>
              <a:ext uri="{FF2B5EF4-FFF2-40B4-BE49-F238E27FC236}">
                <a16:creationId xmlns:a16="http://schemas.microsoft.com/office/drawing/2014/main" id="{753E6DD2-9C8D-4946-9263-3A888555D40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F1861602-E4BC-4A1C-899B-68BEFC611BC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66ACE45F-C538-498F-8721-362CD54B1834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medio responde: elasticidad, inercia y rapidez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3E5921F1-DBB5-4F0A-BDF7-DCA655C96313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permiten la elasticidad y la inercia que avance una perturbación?</a:t>
            </a:r>
          </a:p>
        </p:txBody>
      </p:sp>
      <p:sp>
        <p:nvSpPr>
          <p:cNvPr id="4" name="slide-number-15">
            <a:extLst>
              <a:ext uri="{FF2B5EF4-FFF2-40B4-BE49-F238E27FC236}">
                <a16:creationId xmlns:a16="http://schemas.microsoft.com/office/drawing/2014/main" id="{C3DF4C86-C2E3-47B0-9E21-3B686DFB55E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En un fluido, el movimiento local es principalmente longitudinal»: partículas y bandas de presión con flechas locales/propagación diferenciadas. La lectura central es que las regiones del fluido oscilan aproximadamente en la dirección de propagación. Recurso principal: U04-DG-005." title="Diagrama sobre «En un fluido, el movimiento local es principalmente longitudinal»: partículas y bandas de presión con flechas locales/propagación diferenciadas. La lectura central es que las regiones del fluido oscilan aproximadamente en la dirección de propagación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031A9BB-0E11-4B8D-9B08-232CE2820F5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6">
            <a:extLst>
              <a:ext uri="{FF2B5EF4-FFF2-40B4-BE49-F238E27FC236}">
                <a16:creationId xmlns:a16="http://schemas.microsoft.com/office/drawing/2014/main" id="{8EA9134A-64C7-4DA0-A1DB-2EDC526FDEF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6">
            <a:extLst>
              <a:ext uri="{FF2B5EF4-FFF2-40B4-BE49-F238E27FC236}">
                <a16:creationId xmlns:a16="http://schemas.microsoft.com/office/drawing/2014/main" id="{AC42E61C-154B-493F-97FB-503B1A94E88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fluido, el movimiento local es principalmente longitudinal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8282BD2-9F1A-48DC-9CE1-A5E41BAD9FE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F669727-7EE0-485E-8205-6E10390539D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regiones del fluido oscilan aproximadamente en la dirección de propagación.</a:t>
            </a:r>
          </a:p>
        </p:txBody>
      </p:sp>
      <p:sp>
        <p:nvSpPr>
          <p:cNvPr id="7" name="slide-number-16">
            <a:extLst>
              <a:ext uri="{FF2B5EF4-FFF2-40B4-BE49-F238E27FC236}">
                <a16:creationId xmlns:a16="http://schemas.microsoft.com/office/drawing/2014/main" id="{E5D6F86C-23A2-4563-BF2A-88B1F297756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elasticidad aporta la acción restauradora»: tres regiones antes/durante/después con fuerzas restauradoras. La lectura central es que al comprimir una región, el medio desarrolla fuerzas que tienden al equilibrio. Recurso principal: U04-DG-005." title="Diagrama sobre «La elasticidad aporta la acción restauradora»: tres regiones antes/durante/después con fuerzas restauradoras. La lectura central es que al comprimir una región, el medio desarrolla fuerzas que tienden al equilibrio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2B16EB35-7B2C-424D-A3EC-E406825289D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7">
            <a:extLst>
              <a:ext uri="{FF2B5EF4-FFF2-40B4-BE49-F238E27FC236}">
                <a16:creationId xmlns:a16="http://schemas.microsoft.com/office/drawing/2014/main" id="{923FDE97-E0A8-479C-8DF9-F9BA3989500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7">
            <a:extLst>
              <a:ext uri="{FF2B5EF4-FFF2-40B4-BE49-F238E27FC236}">
                <a16:creationId xmlns:a16="http://schemas.microsoft.com/office/drawing/2014/main" id="{9A59FC39-4165-4211-A4A7-E1E6D79E2A6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elasticidad aporta la acción restauradora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C2D7843-5BBD-4291-B268-F5487E30E72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DDDD15A-28A1-4CF8-BEA0-4CBDE15F58CB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comprimir una región, el medio desarrolla fuerzas que tienden al equilibrio.</a:t>
            </a:r>
          </a:p>
        </p:txBody>
      </p:sp>
      <p:sp>
        <p:nvSpPr>
          <p:cNvPr id="7" name="slide-number-17">
            <a:extLst>
              <a:ext uri="{FF2B5EF4-FFF2-40B4-BE49-F238E27FC236}">
                <a16:creationId xmlns:a16="http://schemas.microsoft.com/office/drawing/2014/main" id="{6D6116FC-861D-436C-B6E0-F4C9D6A0539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inercia distribuida evita cambios instantáneos»: misma deformación conceptual con dos inercias y advertencia de variables acopladas. La lectura central es que la densidad representa cuánta inercia contiene un volumen del medio. Recurso principal: U04-DG-005." title="Diagrama sobre «La inercia distribuida evita cambios instantáneos»: misma deformación conceptual con dos inercias y advertencia de variables acopladas. La lectura central es que la densidad representa cuánta inercia contiene un volumen del medio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CF9CD1FD-CE9C-4EC7-9211-0BB4748490A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8">
            <a:extLst>
              <a:ext uri="{FF2B5EF4-FFF2-40B4-BE49-F238E27FC236}">
                <a16:creationId xmlns:a16="http://schemas.microsoft.com/office/drawing/2014/main" id="{744AD14A-95EC-42F4-ABCE-181ECFBE0AA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8">
            <a:extLst>
              <a:ext uri="{FF2B5EF4-FFF2-40B4-BE49-F238E27FC236}">
                <a16:creationId xmlns:a16="http://schemas.microsoft.com/office/drawing/2014/main" id="{FBE60045-604A-4554-BE11-C4864BBCDA6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inercia distribuida evita cambios instantáneos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9DF7B74-A4BA-46A7-89B6-D24B1DDF9E0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9257335-8FF4-4989-9ED0-B56F78DD65B2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densidad representa cuánta inercia contiene un volumen del medio.</a:t>
            </a:r>
          </a:p>
        </p:txBody>
      </p:sp>
      <p:sp>
        <p:nvSpPr>
          <p:cNvPr id="7" name="slide-number-18">
            <a:extLst>
              <a:ext uri="{FF2B5EF4-FFF2-40B4-BE49-F238E27FC236}">
                <a16:creationId xmlns:a16="http://schemas.microsoft.com/office/drawing/2014/main" id="{FF2D21C5-1C34-48C0-8220-8C1A57FB204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Restauración e inercia transmiten la perturbación a la región vecina»: 5 etapas; flechas de fuerza y avance con semántica distinta. La lectura central es que la propagación resulta de la interacción entre deformación elástica e inercia. Recurso principal: U04-DG-005." title="Diagrama sobre «Restauración e inercia transmiten la perturbación a la región vecina»: 5 etapas; flechas de fuerza y avance con semántica distinta. La lectura central es que la propagación resulta de la interacción entre deformación elástica e inercia. Recurso principal: U04-DG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DE61A5C-0B68-42E2-9416-D0B0064571B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19">
            <a:extLst>
              <a:ext uri="{FF2B5EF4-FFF2-40B4-BE49-F238E27FC236}">
                <a16:creationId xmlns:a16="http://schemas.microsoft.com/office/drawing/2014/main" id="{49ABDDFD-81AB-4BCC-B614-3C688BFAAA4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19">
            <a:extLst>
              <a:ext uri="{FF2B5EF4-FFF2-40B4-BE49-F238E27FC236}">
                <a16:creationId xmlns:a16="http://schemas.microsoft.com/office/drawing/2014/main" id="{411BE398-110C-4FD6-B2F1-43685F2BBA6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Restauración e inercia transmiten la perturbación a la región vecina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E470895-9F25-4914-A028-CE8A61B7C20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99C4CAD-DF4F-464D-989F-3483E0BCDE9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propagación resulta de la interacción entre deformación elástica e inercia.</a:t>
            </a:r>
          </a:p>
        </p:txBody>
      </p:sp>
      <p:sp>
        <p:nvSpPr>
          <p:cNvPr id="7" name="slide-number-19">
            <a:extLst>
              <a:ext uri="{FF2B5EF4-FFF2-40B4-BE49-F238E27FC236}">
                <a16:creationId xmlns:a16="http://schemas.microsoft.com/office/drawing/2014/main" id="{4398D9DD-8646-4F80-B567-1AB18BB2EB0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rapidez depende de rigidez volumétrica y densidad»: ecuación anotada con dos ramas de tendencia y caja de condiciones. La lectura central es que mayor `K_s` favorece `c` mayor y mayor `ρ`, aislada, favorece `c` menor. Recurso principal: U04-DG-006." title="Ecuación anotada sobre «La rapidez depende de rigidez volumétrica y densidad»: ecuación anotada con dos ramas de tendencia y caja de condiciones. La lectura central es que mayor `K_s` favorece `c` mayor y mayor `ρ`, aislada, favorece `c` menor. Recurso principal: U04-DG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473306B-03CA-4508-AB2A-14339FAEDDE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0">
            <a:extLst>
              <a:ext uri="{FF2B5EF4-FFF2-40B4-BE49-F238E27FC236}">
                <a16:creationId xmlns:a16="http://schemas.microsoft.com/office/drawing/2014/main" id="{AA85A152-1AD9-4245-9BB6-CB3034EB754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0">
            <a:extLst>
              <a:ext uri="{FF2B5EF4-FFF2-40B4-BE49-F238E27FC236}">
                <a16:creationId xmlns:a16="http://schemas.microsoft.com/office/drawing/2014/main" id="{45E9F3D6-1C55-4237-BDAB-C508346CB54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rapidez depende de rigidez volumétrica y densidad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6CDA1DF-BE3F-4941-A19A-6C9B1658E66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9F2B33E-2B6D-4B9A-9BD5-96011BD00E66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Mayor Kₛ favorece c mayor y mayor ρ, aislada, favorece c menor.</a:t>
            </a:r>
          </a:p>
        </p:txBody>
      </p:sp>
      <p:sp>
        <p:nvSpPr>
          <p:cNvPr id="7" name="slide-number-20">
            <a:extLst>
              <a:ext uri="{FF2B5EF4-FFF2-40B4-BE49-F238E27FC236}">
                <a16:creationId xmlns:a16="http://schemas.microsoft.com/office/drawing/2014/main" id="{ED212AD1-872B-46A9-8B8D-EBAB85295C0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densidad sola no determina la rapidez»: tabla de tendencias y condición “si lo demás no cambia”. La lectura central es que la comparación entre medios requiere considerar simultáneamente elasticidad y densidad. Recurso principal: U04-DG-006." title="Diagrama sobre «La densidad sola no determina la rapidez»: tabla de tendencias y condición “si lo demás no cambia”. La lectura central es que la comparación entre medios requiere considerar simultáneamente elasticidad y densidad. Recurso principal: U04-DG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AACC0AF3-D62A-48B9-851C-DCF6247BC92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1">
            <a:extLst>
              <a:ext uri="{FF2B5EF4-FFF2-40B4-BE49-F238E27FC236}">
                <a16:creationId xmlns:a16="http://schemas.microsoft.com/office/drawing/2014/main" id="{6BFF86F4-3907-4AC6-88AA-89CA465FC52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1">
            <a:extLst>
              <a:ext uri="{FF2B5EF4-FFF2-40B4-BE49-F238E27FC236}">
                <a16:creationId xmlns:a16="http://schemas.microsoft.com/office/drawing/2014/main" id="{892616CF-5723-4BEB-9FBD-4C66F205323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sola no determina la rapidez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B1F7896-3FCD-4D5A-98BD-294A3FF1B3F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62188E4-2D63-47A9-87D5-6E876626269A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comparación entre medios requiere considerar simultáneamente elasticidad y densidad.</a:t>
            </a:r>
          </a:p>
        </p:txBody>
      </p:sp>
      <p:sp>
        <p:nvSpPr>
          <p:cNvPr id="7" name="slide-number-21">
            <a:extLst>
              <a:ext uri="{FF2B5EF4-FFF2-40B4-BE49-F238E27FC236}">
                <a16:creationId xmlns:a16="http://schemas.microsoft.com/office/drawing/2014/main" id="{AF63AECB-D506-4B04-8FAF-3A58CA7A207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Al cambiar el medio: `f` se conserva; `c` y `λ` pueden cambiar»: dos medios, misma frecuencia y longitudes de onda diferentes; mini ecuación `λ=c/f`. La lectura central es que en una interfaz estacionaria usual, la fuente fija `f`; el medio fija `c` y se ajusta `λ`. Recurso principal: U04-DG-006." title="Esquema mixto sobre «Al cambiar el medio: `f` se conserva; `c` y `λ` pueden cambiar»: dos medios, misma frecuencia y longitudes de onda diferentes; mini ecuación `λ=c/f`. La lectura central es que en una interfaz estacionaria usual, la fuente fija `f`; el medio fija `c` y se ajusta `λ`. Recurso principal: U04-DG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DC89E1A-9306-4475-99ED-503A499C03C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2">
            <a:extLst>
              <a:ext uri="{FF2B5EF4-FFF2-40B4-BE49-F238E27FC236}">
                <a16:creationId xmlns:a16="http://schemas.microsoft.com/office/drawing/2014/main" id="{A72F0ACE-85A5-4AA9-A832-83099C4135C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2">
            <a:extLst>
              <a:ext uri="{FF2B5EF4-FFF2-40B4-BE49-F238E27FC236}">
                <a16:creationId xmlns:a16="http://schemas.microsoft.com/office/drawing/2014/main" id="{3A7AE9C1-8F3D-498D-AAE1-1FE1FD15C9B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Al cambiar el medio: f se conserva; c y λ pueden cambiar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E5312CB-5832-4977-AF0F-84C746C200B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0A34347-32D9-4ED2-A0DE-8A2546F7A71B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una interfaz estacionaria usual, la fuente fija f; el medio fija c y se ajusta λ.</a:t>
            </a:r>
          </a:p>
        </p:txBody>
      </p:sp>
      <p:sp>
        <p:nvSpPr>
          <p:cNvPr id="7" name="slide-number-22">
            <a:extLst>
              <a:ext uri="{FF2B5EF4-FFF2-40B4-BE49-F238E27FC236}">
                <a16:creationId xmlns:a16="http://schemas.microsoft.com/office/drawing/2014/main" id="{3ECFC900-274A-449A-8308-FFBB4929C82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F163E1A6-E918-4AA2-874D-2E3E77A1A5F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C143C81F-17CF-4FE8-B5F9-66957B4E06E5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avance de la onda a las magnitudes del campo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79706FD-5152-45E1-98D4-D19AC79B41AE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magnitudes cambian en el campo y qué ocurre en una interfaz?</a:t>
            </a:r>
          </a:p>
        </p:txBody>
      </p:sp>
      <p:sp>
        <p:nvSpPr>
          <p:cNvPr id="4" name="slide-number-23">
            <a:extLst>
              <a:ext uri="{FF2B5EF4-FFF2-40B4-BE49-F238E27FC236}">
                <a16:creationId xmlns:a16="http://schemas.microsoft.com/office/drawing/2014/main" id="{A9750254-5FEF-4D6B-928D-7EEAAA1AFCB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 campo acústico cambia con posición y tiempo»: mapa simple con dos posiciones, dos instantes y tres magnitudes listadas fuera del dibujo. La lectura central es que presión, velocidad e intensidad pueden tener valores diferentes en cada lugar e instante. Recurso principal: U04-DG-007." title="Diagrama sobre «Un campo acústico cambia con posición y tiempo»: mapa simple con dos posiciones, dos instantes y tres magnitudes listadas fuera del dibujo. La lectura central es que presión, velocidad e intensidad pueden tener valores diferentes en cada lugar e instante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AB4CC7E1-31DC-4EB7-8D65-57CCDE022B9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4">
            <a:extLst>
              <a:ext uri="{FF2B5EF4-FFF2-40B4-BE49-F238E27FC236}">
                <a16:creationId xmlns:a16="http://schemas.microsoft.com/office/drawing/2014/main" id="{34D30C03-DE57-46A9-8269-11D7C4B426D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4">
            <a:extLst>
              <a:ext uri="{FF2B5EF4-FFF2-40B4-BE49-F238E27FC236}">
                <a16:creationId xmlns:a16="http://schemas.microsoft.com/office/drawing/2014/main" id="{8E1972F4-CE7B-4C12-AA9E-FDA960F015A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campo acústico cambia con posición y tiempo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DF774D5-4B5E-4858-B38C-8F2E6E87E3A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3E5CA1E-9857-47A1-B681-391E32F0A008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Presión, velocidad e intensidad pueden tener valores diferentes en cada lugar e instante.</a:t>
            </a:r>
          </a:p>
        </p:txBody>
      </p:sp>
      <p:sp>
        <p:nvSpPr>
          <p:cNvPr id="7" name="slide-number-24">
            <a:extLst>
              <a:ext uri="{FF2B5EF4-FFF2-40B4-BE49-F238E27FC236}">
                <a16:creationId xmlns:a16="http://schemas.microsoft.com/office/drawing/2014/main" id="{B661D482-F309-47AB-B95A-493637ECEF3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La presión acústica es una variación alrededor de la presión estática»: presión total y pequeña oscilación acústica sobre una línea de equilibrio. La lectura central es que la presión total se separa en equilibrio y variación acústica. Recurso principal: U04-CH-001." title="Gráfico sobre «La presión acústica es una variación alrededor de la presión estática»: presión total y pequeña oscilación acústica sobre una línea de equilibrio. La lectura central es que la presión total se separa en equilibrio y variación acústica. Recurso principal: U04-CH-00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8027D88-BF10-41F9-AD8C-C595411CE57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5">
            <a:extLst>
              <a:ext uri="{FF2B5EF4-FFF2-40B4-BE49-F238E27FC236}">
                <a16:creationId xmlns:a16="http://schemas.microsoft.com/office/drawing/2014/main" id="{D2806701-9190-4A2E-9E45-928FB530842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5">
            <a:extLst>
              <a:ext uri="{FF2B5EF4-FFF2-40B4-BE49-F238E27FC236}">
                <a16:creationId xmlns:a16="http://schemas.microsoft.com/office/drawing/2014/main" id="{E70D9721-8F1D-4E81-9BE6-7FC70950F66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acústica es una variación alrededor de la presión estática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65467D3-C15D-4214-A9EC-B0FEF72FC95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B1A8C6D-E77C-4ABE-AB56-00CA15D776D7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presión total se separa en equilibrio y variación acústica. · valores ilustrativos · escala lineal.</a:t>
            </a:r>
          </a:p>
        </p:txBody>
      </p:sp>
      <p:sp>
        <p:nvSpPr>
          <p:cNvPr id="7" name="slide-number-25">
            <a:extLst>
              <a:ext uri="{FF2B5EF4-FFF2-40B4-BE49-F238E27FC236}">
                <a16:creationId xmlns:a16="http://schemas.microsoft.com/office/drawing/2014/main" id="{768958DF-5418-49A0-A975-91F2AE09C34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`p(t)&lt;0` no significa presión total negativa»: eje de presión con `p_0`, sobrepresión y rarefacción. La lectura central es que un valor acústico negativo indica presión menor que el equilibrio local. Recurso principal: U04-DG-007." title="Diagrama sobre «`p(t)&lt;0` no significa presión total negativa»: eje de presión con `p_0`, sobrepresión y rarefacción. La lectura central es que un valor acústico negativo indica presión menor que el equilibrio local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B6E5A39-9B60-4243-BFB5-E8BF87156B7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6">
            <a:extLst>
              <a:ext uri="{FF2B5EF4-FFF2-40B4-BE49-F238E27FC236}">
                <a16:creationId xmlns:a16="http://schemas.microsoft.com/office/drawing/2014/main" id="{58F90B8C-E971-404D-A40C-634A1AB0EA9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6">
            <a:extLst>
              <a:ext uri="{FF2B5EF4-FFF2-40B4-BE49-F238E27FC236}">
                <a16:creationId xmlns:a16="http://schemas.microsoft.com/office/drawing/2014/main" id="{0331ABEF-9EA9-4FE6-994A-0D348A7574B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p(t)&lt;0 no significa presión total negativa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5AE7FFE-8113-4C4F-A387-68655D6FB75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2998EB4-0130-449D-BC9E-981945F1CBB2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acústico negativo indica presión menor que el equilibrio local.</a:t>
            </a:r>
          </a:p>
        </p:txBody>
      </p:sp>
      <p:sp>
        <p:nvSpPr>
          <p:cNvPr id="7" name="slide-number-26">
            <a:extLst>
              <a:ext uri="{FF2B5EF4-FFF2-40B4-BE49-F238E27FC236}">
                <a16:creationId xmlns:a16="http://schemas.microsoft.com/office/drawing/2014/main" id="{8C51F1CE-4248-4F8D-AAE4-FEC31F751B1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velocidad de partícula describe movimiento local»: partícula marcada, flecha local `u` y frente separado. La lectura central es que `u` indica cómo se mueve una pequeña región del medio, no cuán rápido avanza la onda. Recurso principal: U04-DG-007." title="Diagrama sobre «La velocidad de partícula describe movimiento local»: partícula marcada, flecha local `u` y frente separado. La lectura central es que `u` indica cómo se mueve una pequeña región del medio, no cuán rápido avanza la onda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6CDC85B-B772-4B31-A619-8B812FFDFB8A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7">
            <a:extLst>
              <a:ext uri="{FF2B5EF4-FFF2-40B4-BE49-F238E27FC236}">
                <a16:creationId xmlns:a16="http://schemas.microsoft.com/office/drawing/2014/main" id="{1EF87AFC-7710-4B87-A19D-FC670EA2FB0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7">
            <a:extLst>
              <a:ext uri="{FF2B5EF4-FFF2-40B4-BE49-F238E27FC236}">
                <a16:creationId xmlns:a16="http://schemas.microsoft.com/office/drawing/2014/main" id="{C8201A60-9ABF-4483-BEC8-E8F8CD33740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velocidad de partícula describe movimiento local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6996134-51D4-4AB7-B163-7303398CC33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6A75BE3-D8EE-4770-B39A-4D95E0936B1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 indica cómo se mueve una pequeña región del medio, no cuán rápido avanza la onda.</a:t>
            </a:r>
          </a:p>
        </p:txBody>
      </p:sp>
      <p:sp>
        <p:nvSpPr>
          <p:cNvPr id="7" name="slide-number-27">
            <a:extLst>
              <a:ext uri="{FF2B5EF4-FFF2-40B4-BE49-F238E27FC236}">
                <a16:creationId xmlns:a16="http://schemas.microsoft.com/office/drawing/2014/main" id="{AA918F91-71D0-4BCE-9437-049C7571E2D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`u` y `c` comparten unidad, pero no pregunta física»: dos paneles coordinados con flechas distintas y síntesis inferior. La lectura central es que `u` describe movimiento local; `c`, avance de fase o perturbación. Recurso principal: U04-DG-007." title="Diagrama sobre «`u` y `c` comparten unidad, pero no pregunta física»: dos paneles coordinados con flechas distintas y síntesis inferior. La lectura central es que `u` describe movimiento local; `c`, avance de fase o perturbación. Recurso principal: U04-DG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FF4EDE5-18C8-4569-834E-E15D83B4B1CA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28">
            <a:extLst>
              <a:ext uri="{FF2B5EF4-FFF2-40B4-BE49-F238E27FC236}">
                <a16:creationId xmlns:a16="http://schemas.microsoft.com/office/drawing/2014/main" id="{7E50831F-1232-4EC6-A3AF-674B4EE82FD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28">
            <a:extLst>
              <a:ext uri="{FF2B5EF4-FFF2-40B4-BE49-F238E27FC236}">
                <a16:creationId xmlns:a16="http://schemas.microsoft.com/office/drawing/2014/main" id="{6B2C06A5-4851-457F-A1F8-219987A14DB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 y c comparten unidad, pero no pregunta física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51D122D-108E-4C89-AA39-A2B3786023D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7BC75C6-4371-4F3C-99C5-8CD57ADAA47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 describe movimiento local; c, avance de fase o perturbación.</a:t>
            </a:r>
          </a:p>
        </p:txBody>
      </p:sp>
      <p:sp>
        <p:nvSpPr>
          <p:cNvPr id="7" name="slide-number-28">
            <a:extLst>
              <a:ext uri="{FF2B5EF4-FFF2-40B4-BE49-F238E27FC236}">
                <a16:creationId xmlns:a16="http://schemas.microsoft.com/office/drawing/2014/main" id="{AA6F3599-427E-42A0-9EAE-68D7E54115C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29">
            <a:extLst>
              <a:ext uri="{FF2B5EF4-FFF2-40B4-BE49-F238E27FC236}">
                <a16:creationId xmlns:a16="http://schemas.microsoft.com/office/drawing/2014/main" id="{791F4307-0A66-4234-ACC2-E20C4FEF6A6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29">
            <a:extLst>
              <a:ext uri="{FF2B5EF4-FFF2-40B4-BE49-F238E27FC236}">
                <a16:creationId xmlns:a16="http://schemas.microsoft.com/office/drawing/2014/main" id="{C29CA5FE-EE7E-40E5-BEA9-15E3B5AA8E8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impedancia relaciona presión y velocidad de partícula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89B60018-CBAA-42C7-8A02-435FCE725867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916F8DDD-7587-4919-9085-90AB6275F675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Z=p/u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F8447C87-DD27-47F9-8F8B-26DA0D2A3F41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relación p/u depende del tipo de campo, frecuencia y fase.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acústica específica Z: relación entre presión acústica y velocidad de partícula bajo condiciones declaradas; unidad Pa s m⁻¹.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Z=p/u</a:t>
            </a:r>
          </a:p>
        </p:txBody>
      </p:sp>
      <p:sp>
        <p:nvSpPr>
          <p:cNvPr id="6" name="slide-number-29">
            <a:extLst>
              <a:ext uri="{FF2B5EF4-FFF2-40B4-BE49-F238E27FC236}">
                <a16:creationId xmlns:a16="http://schemas.microsoft.com/office/drawing/2014/main" id="{2AB19702-F38A-47F6-9AAF-7AFDE1841D8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30">
            <a:extLst>
              <a:ext uri="{FF2B5EF4-FFF2-40B4-BE49-F238E27FC236}">
                <a16:creationId xmlns:a16="http://schemas.microsoft.com/office/drawing/2014/main" id="{F5328445-BB5F-44D6-A833-D980ACA6F82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30">
            <a:extLst>
              <a:ext uri="{FF2B5EF4-FFF2-40B4-BE49-F238E27FC236}">
                <a16:creationId xmlns:a16="http://schemas.microsoft.com/office/drawing/2014/main" id="{5551D0B0-316C-4B7B-A631-C8696F53A32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una onda plana progresiva ideal, p/u=ρc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ED2A672F-1C41-45A7-ADF9-E36F30C4F53C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0408D014-46E5-451B-A57F-A76225BF8E2F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Z₀=(p)/(u)=ρ c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601FFAFE-8899-49A9-B1B9-63A7C2290514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Z₀=ρc vale para un modelo específico, no para todo campo.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Z₀=(p)/(u)=ρ c</a:t>
            </a:r>
          </a:p>
        </p:txBody>
      </p:sp>
      <p:sp>
        <p:nvSpPr>
          <p:cNvPr id="6" name="slide-number-30">
            <a:extLst>
              <a:ext uri="{FF2B5EF4-FFF2-40B4-BE49-F238E27FC236}">
                <a16:creationId xmlns:a16="http://schemas.microsoft.com/office/drawing/2014/main" id="{5C08774D-702D-4B4F-AE5D-16BE2421E07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a interfaz separa onda incidente, reflejada y transmitida»: reconstrucción de figura 4.1; 3 flechas, 2 nodos de medio y etiquetas fuera de trayectorias. La lectura central es que una parte puede regresar y otra continuar; las proporciones dependen de las impedancias y las condiciones. Recurso principal: U04-DG-008." title="Diagrama sobre «Una interfaz separa onda incidente, reflejada y transmitida»: reconstrucción de figura 4.1; 3 flechas, 2 nodos de medio y etiquetas fuera de trayectorias. La lectura central es que una parte puede regresar y otra continuar; las proporciones dependen de las impedancias y las condiciones. Recurso principal: U04-DG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561E533-50E5-477B-BCCC-DC062DFD99C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1">
            <a:extLst>
              <a:ext uri="{FF2B5EF4-FFF2-40B4-BE49-F238E27FC236}">
                <a16:creationId xmlns:a16="http://schemas.microsoft.com/office/drawing/2014/main" id="{6E1265A0-9973-4826-A967-D87A369EACF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1">
            <a:extLst>
              <a:ext uri="{FF2B5EF4-FFF2-40B4-BE49-F238E27FC236}">
                <a16:creationId xmlns:a16="http://schemas.microsoft.com/office/drawing/2014/main" id="{4293D495-F330-4E06-8916-D25C34F3CD7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interfaz separa onda incidente, reflejada y transmitida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C42569F-543D-4508-A779-53C0D1490B3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B184C3C-20DE-4BCC-ADA6-F7D634F5E73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parte puede regresar y otra continuar; las proporciones dependen de las impedancias y las condiciones.</a:t>
            </a:r>
          </a:p>
        </p:txBody>
      </p:sp>
      <p:sp>
        <p:nvSpPr>
          <p:cNvPr id="7" name="slide-number-31">
            <a:extLst>
              <a:ext uri="{FF2B5EF4-FFF2-40B4-BE49-F238E27FC236}">
                <a16:creationId xmlns:a16="http://schemas.microsoft.com/office/drawing/2014/main" id="{2FA95204-2BCF-4D6C-A010-805A4A81C90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32">
            <a:extLst>
              <a:ext uri="{FF2B5EF4-FFF2-40B4-BE49-F238E27FC236}">
                <a16:creationId xmlns:a16="http://schemas.microsoft.com/office/drawing/2014/main" id="{758D80DE-81F7-4E68-8A79-3708AE071E8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32">
            <a:extLst>
              <a:ext uri="{FF2B5EF4-FFF2-40B4-BE49-F238E27FC236}">
                <a16:creationId xmlns:a16="http://schemas.microsoft.com/office/drawing/2014/main" id="{3B4202A8-BC4D-4837-BBB1-28D28DD8774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Rₚ cuantifica la amplitud de presión reflejada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756C4BC3-BE63-4EB9-A9A9-EE139284F6A4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214E034F-36EC-442D-9CB7-A4707173A3F4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Rₚ=(Z₀₂-Z₀₁)/(Z₀₂+Z₀₁)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RI=|Rₚ|²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8B2A1B94-42A2-449A-A2D9-18146E515A16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Signo y módulo de Rₚ responden preguntas distintas.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Rₚ=(Z₀₂-Z₀₁)/(Z₀₂+Z₀₁)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RI=|Rₚ|²</a:t>
            </a:r>
          </a:p>
        </p:txBody>
      </p:sp>
      <p:sp>
        <p:nvSpPr>
          <p:cNvPr id="6" name="slide-number-32">
            <a:extLst>
              <a:ext uri="{FF2B5EF4-FFF2-40B4-BE49-F238E27FC236}">
                <a16:creationId xmlns:a16="http://schemas.microsoft.com/office/drawing/2014/main" id="{E7D3EA3B-644B-4A3A-A845-AAA8066FB00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Hasta acá: `p`, `u`, `Z` y reflexión»: mapa reducido `p ↔ u → Z → reflexión`; máximo 4 nodos. La lectura central es que antes de usar una relación hay que identificar variable, unidad, campo e interfaz. Recurso principal: U04-DG-008." title="Diagrama sobre «Hasta acá: `p`, `u`, `Z` y reflexión»: mapa reducido `p ↔ u → Z → reflexión`; máximo 4 nodos. La lectura central es que antes de usar una relación hay que identificar variable, unidad, campo e interfaz. Recurso principal: U04-DG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C078CF0-EE6F-49D0-9131-B9DE4107E4F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3">
            <a:extLst>
              <a:ext uri="{FF2B5EF4-FFF2-40B4-BE49-F238E27FC236}">
                <a16:creationId xmlns:a16="http://schemas.microsoft.com/office/drawing/2014/main" id="{28A2A3D1-17CC-47AB-A8C5-B27C24535A9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3">
            <a:extLst>
              <a:ext uri="{FF2B5EF4-FFF2-40B4-BE49-F238E27FC236}">
                <a16:creationId xmlns:a16="http://schemas.microsoft.com/office/drawing/2014/main" id="{9D6FE32C-409F-45C6-871E-82A0A7D300D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p, u, Z y reflexión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52D994E-C2F6-46FB-B241-54DA37BDA6D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9293F52-1312-4E1F-9ACA-08622C1456D3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Antes de usar una relación hay que identificar variable, unidad, campo e interfaz.</a:t>
            </a:r>
          </a:p>
        </p:txBody>
      </p:sp>
      <p:sp>
        <p:nvSpPr>
          <p:cNvPr id="7" name="slide-number-33">
            <a:extLst>
              <a:ext uri="{FF2B5EF4-FFF2-40B4-BE49-F238E27FC236}">
                <a16:creationId xmlns:a16="http://schemas.microsoft.com/office/drawing/2014/main" id="{2EA510FF-2315-45DF-B996-D812B1271D2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C70AEDB9-7D1E-4FB4-9681-DA85245CDFE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5C8D6170-A5D2-4430-82BF-98A70A3DA517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movimiento local al flujo de energía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2B2D97FB-44A8-46B5-8CCC-9B5BAF6E2364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distinguimos una variable local de la transferencia de energía?</a:t>
            </a:r>
          </a:p>
        </p:txBody>
      </p:sp>
      <p:sp>
        <p:nvSpPr>
          <p:cNvPr id="4" name="slide-number-34">
            <a:extLst>
              <a:ext uri="{FF2B5EF4-FFF2-40B4-BE49-F238E27FC236}">
                <a16:creationId xmlns:a16="http://schemas.microsoft.com/office/drawing/2014/main" id="{234ABC83-9F4E-439C-BC82-E18ED0998E1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35">
            <a:extLst>
              <a:ext uri="{FF2B5EF4-FFF2-40B4-BE49-F238E27FC236}">
                <a16:creationId xmlns:a16="http://schemas.microsoft.com/office/drawing/2014/main" id="{ECC29E72-E1CE-41DF-AF2B-6EE78ADE790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35">
            <a:extLst>
              <a:ext uri="{FF2B5EF4-FFF2-40B4-BE49-F238E27FC236}">
                <a16:creationId xmlns:a16="http://schemas.microsoft.com/office/drawing/2014/main" id="{0788B422-4358-46AA-B459-2E5CAE00B88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intensidad instantánea combina presión y velocidad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74228554-6A78-4CCC-A52F-69EF153C12C5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7FD7A5B7-0159-48EB-B254-68E004FB398A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i(t)=p(t)u(t)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01639BDA-BCF6-48DE-8FB3-44A7478F3E37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signo del producto indica dirección instantánea del flujo en el eje elegido.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 instantánea i(t): flujo instantáneo de potencia acústica por unidad de área en la dirección elegida; unidad W m⁻².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i(t)=p(t)u(t)</a:t>
            </a:r>
          </a:p>
        </p:txBody>
      </p:sp>
      <p:sp>
        <p:nvSpPr>
          <p:cNvPr id="6" name="slide-number-35">
            <a:extLst>
              <a:ext uri="{FF2B5EF4-FFF2-40B4-BE49-F238E27FC236}">
                <a16:creationId xmlns:a16="http://schemas.microsoft.com/office/drawing/2014/main" id="{EBBF8AF6-F785-4703-A5CE-6304814321A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Presión y velocidad oscilan; su producto describe el flujo»: reconstrucción de figura 4.2 con tres ejes coordinados y normalización explícita. La lectura central es que en la onda progresiva ideal, `p` y `u` están en fase y `i` presenta dos máximos por período. Recurso principal: U04-CH-002." title="Gráfico sobre «Presión y velocidad oscilan; su producto describe el flujo»: reconstrucción de figura 4.2 con tres ejes coordinados y normalización explícita. La lectura central es que en la onda progresiva ideal, `p` y `u` están en fase y `i` presenta dos máximos por período. Recurso principal: U04-CH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EE40E4A-46EC-4EE2-9942-E9DC3A02C27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6">
            <a:extLst>
              <a:ext uri="{FF2B5EF4-FFF2-40B4-BE49-F238E27FC236}">
                <a16:creationId xmlns:a16="http://schemas.microsoft.com/office/drawing/2014/main" id="{0BB659B0-AA62-40F2-85A3-2A1866BE83B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6">
            <a:extLst>
              <a:ext uri="{FF2B5EF4-FFF2-40B4-BE49-F238E27FC236}">
                <a16:creationId xmlns:a16="http://schemas.microsoft.com/office/drawing/2014/main" id="{B7879664-FECC-4F15-BDD1-714CC1F258A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velocidad oscilan; su producto describe el flujo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CD2F4B1-0D67-45ED-8336-7F86CFD2B53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4DB3CCE-D280-493D-9DD7-3A782955921B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la onda progresiva ideal, p y u están en fase y i presenta dos máximos por período.</a:t>
            </a:r>
          </a:p>
        </p:txBody>
      </p:sp>
      <p:sp>
        <p:nvSpPr>
          <p:cNvPr id="7" name="slide-number-36">
            <a:extLst>
              <a:ext uri="{FF2B5EF4-FFF2-40B4-BE49-F238E27FC236}">
                <a16:creationId xmlns:a16="http://schemas.microsoft.com/office/drawing/2014/main" id="{AB5E7E46-FA9A-4D0A-92C0-C8F885D7534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37">
            <a:extLst>
              <a:ext uri="{FF2B5EF4-FFF2-40B4-BE49-F238E27FC236}">
                <a16:creationId xmlns:a16="http://schemas.microsoft.com/office/drawing/2014/main" id="{67307CEE-ED79-4588-9714-2D95FF6349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37">
            <a:extLst>
              <a:ext uri="{FF2B5EF4-FFF2-40B4-BE49-F238E27FC236}">
                <a16:creationId xmlns:a16="http://schemas.microsoft.com/office/drawing/2014/main" id="{34B2A9F7-671F-4F29-9EA4-EB5DB029B1E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intensidad media resume el flujo durante un intervalo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FA17AFEC-9245-449A-8F61-EC9BCC030904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1D9BB859-A73A-47F0-AFAF-58131597ED46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I=(1/Δ t) ∫ p(t)u(t) dt sobre la ventana observada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A8999C89-22DB-410F-B72A-807324822157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Integrar aquí significa promediar p(t)u(t) durante una ventana definida.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 media I: promedio temporal del flujo de potencia por unidad de área; unidad W m⁻².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I=(1/Δ t) ∫ p(t)u(t) dt sobre la ventana observada</a:t>
            </a:r>
          </a:p>
        </p:txBody>
      </p:sp>
      <p:sp>
        <p:nvSpPr>
          <p:cNvPr id="6" name="slide-number-37">
            <a:extLst>
              <a:ext uri="{FF2B5EF4-FFF2-40B4-BE49-F238E27FC236}">
                <a16:creationId xmlns:a16="http://schemas.microsoft.com/office/drawing/2014/main" id="{A8DFEAA0-4359-47AB-9619-1B7D216E2D6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38">
            <a:extLst>
              <a:ext uri="{FF2B5EF4-FFF2-40B4-BE49-F238E27FC236}">
                <a16:creationId xmlns:a16="http://schemas.microsoft.com/office/drawing/2014/main" id="{0E7543C4-9625-4A91-A5FE-72EC78999E1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38">
            <a:extLst>
              <a:ext uri="{FF2B5EF4-FFF2-40B4-BE49-F238E27FC236}">
                <a16:creationId xmlns:a16="http://schemas.microsoft.com/office/drawing/2014/main" id="{0221966A-09C8-4B2B-8F70-947802C039C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onda plana ideal, I se relaciona con valores RMS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73F3921A-F9EB-4560-B3B2-BCB7AB22F121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A268CC84-09AB-44A7-BE03-B3980E39AD33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I=pᵣₘₛuᵣₘₛ=pᵣₘₛ²/Z₀=Z₀uᵣₘₛ²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CA968F47-52DE-4037-8031-339757F2D5F5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Anticipo controlado: pᵣₘₛ y uᵣₘₛ nombran valores eficaces; su construcción se desarrolla en el bloque de RMS.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I=pᵣms²/Z₀ requiere el mismo conjunto de hipótesis que p/u=ρc.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I=pᵣₘₛuᵣₘₛ=pᵣₘₛ²/Z₀=Z₀uᵣₘₛ²</a:t>
            </a:r>
          </a:p>
        </p:txBody>
      </p:sp>
      <p:sp>
        <p:nvSpPr>
          <p:cNvPr id="6" name="slide-number-38">
            <a:extLst>
              <a:ext uri="{FF2B5EF4-FFF2-40B4-BE49-F238E27FC236}">
                <a16:creationId xmlns:a16="http://schemas.microsoft.com/office/drawing/2014/main" id="{D96B6BA2-3E1C-4E89-998E-B68A2DE6583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 `p_rms` a `u_rms` e intensidad»: Ecuaciones editables con revelado por pasos; sin gráfico adicional. La lectura central es que presión, velocidad e intensidad son resultados distintos aunque estén relacionados. Recurso principal: U04-DG-022." title="Ecuación anotada sobre «De `p_rms` a `u_rms` e intensidad»: Ecuaciones editables con revelado por pasos; sin gráfico adicional. La lectura central es que presión, velocidad e intensidad son resultados distintos aunque estén relacionados. Recurso principal: U04-DG-02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15D34C0-4EC6-4806-B40E-DFF6971A5B1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39">
            <a:extLst>
              <a:ext uri="{FF2B5EF4-FFF2-40B4-BE49-F238E27FC236}">
                <a16:creationId xmlns:a16="http://schemas.microsoft.com/office/drawing/2014/main" id="{D4AD95AA-BDE7-407F-AD3C-2F34DBCD31D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39">
            <a:extLst>
              <a:ext uri="{FF2B5EF4-FFF2-40B4-BE49-F238E27FC236}">
                <a16:creationId xmlns:a16="http://schemas.microsoft.com/office/drawing/2014/main" id="{2794EC15-74FD-49C2-9326-5217B3A44549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pᵣms a uᵣms e intensidad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DADF2C8-F8E0-4622-85D7-7FBF3DB6C9C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39DF65C-1DA0-4EF3-AA41-BEA9F32912AC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Presión, velocidad e intensidad son resultados distintos aunque estén relacionados.</a:t>
            </a:r>
          </a:p>
        </p:txBody>
      </p:sp>
      <p:sp>
        <p:nvSpPr>
          <p:cNvPr id="7" name="slide-number-39">
            <a:extLst>
              <a:ext uri="{FF2B5EF4-FFF2-40B4-BE49-F238E27FC236}">
                <a16:creationId xmlns:a16="http://schemas.microsoft.com/office/drawing/2014/main" id="{03E758D2-4642-48A9-9B76-6BBDB924B2A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Intensidad, potencia y energía responden escalas diferentes»: diagrama `I → superficie → W_ac → tiempo → E_ac` con tabla lateral mínima. La lectura central es que `I` es local/areal; `W_ac` es tasa total; `E_ac` acumula durante un intervalo. Recurso principal: U04-DG-010." title="Esquema mixto sobre «Intensidad, potencia y energía responden escalas diferentes»: diagrama `I → superficie → W_ac → tiempo → E_ac` con tabla lateral mínima. La lectura central es que `I` es local/areal; `W_ac` es tasa total; `E_ac` acumula durante un intervalo. Recurso principal: U04-DG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EE95156-18D2-4262-AAE2-EA299C96953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0">
            <a:extLst>
              <a:ext uri="{FF2B5EF4-FFF2-40B4-BE49-F238E27FC236}">
                <a16:creationId xmlns:a16="http://schemas.microsoft.com/office/drawing/2014/main" id="{319AB8A4-BD74-4847-9E40-3512B08512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0">
            <a:extLst>
              <a:ext uri="{FF2B5EF4-FFF2-40B4-BE49-F238E27FC236}">
                <a16:creationId xmlns:a16="http://schemas.microsoft.com/office/drawing/2014/main" id="{E75AF9CD-C51A-4638-B531-2B329ADD883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Intensidad, potencia y energía responden escalas diferentes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1A03865-2A3C-4E36-AB79-9562793764E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65D3C9B-7FD6-4611-9DC2-94DFEA9AE31F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 es local/areal; Wₐc es tasa total; Eₐc acumula durante un intervalo.</a:t>
            </a:r>
          </a:p>
        </p:txBody>
      </p:sp>
      <p:sp>
        <p:nvSpPr>
          <p:cNvPr id="7" name="slide-number-40">
            <a:extLst>
              <a:ext uri="{FF2B5EF4-FFF2-40B4-BE49-F238E27FC236}">
                <a16:creationId xmlns:a16="http://schemas.microsoft.com/office/drawing/2014/main" id="{08438AF3-62E3-4B2B-A2AE-5CE4AC7BCC6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Superficie y tiempo conectan `I`, `W_ac` y `E_ac`»: dos ecuaciones anotadas en secuencia y superficie/intervalo esquemáticos. La lectura central es que las relaciones simples requieren intensidad uniforme/normal y potencia constante. Recurso principal: U04-DG-010." title="Ecuación anotada sobre «Superficie y tiempo conectan `I`, `W_ac` y `E_ac`»: dos ecuaciones anotadas en secuencia y superficie/intervalo esquemáticos. La lectura central es que las relaciones simples requieren intensidad uniforme/normal y potencia constante. Recurso principal: U04-DG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2819E176-7629-4174-AFC1-FF5D1395CB0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1">
            <a:extLst>
              <a:ext uri="{FF2B5EF4-FFF2-40B4-BE49-F238E27FC236}">
                <a16:creationId xmlns:a16="http://schemas.microsoft.com/office/drawing/2014/main" id="{52059FC0-B2A7-47BC-AE62-68B214CE2D3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1">
            <a:extLst>
              <a:ext uri="{FF2B5EF4-FFF2-40B4-BE49-F238E27FC236}">
                <a16:creationId xmlns:a16="http://schemas.microsoft.com/office/drawing/2014/main" id="{FE23D32D-AD49-4C2F-B672-113419CA280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Superficie y tiempo conectan I, Wₐc y Eₐc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5D0D3F1C-DBD6-49EE-8B56-16A41011FC9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0B277EA-CFA0-4EC3-B42C-0F0B307300C6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relaciones simples requieren intensidad uniforme/normal y potencia constante.</a:t>
            </a:r>
          </a:p>
        </p:txBody>
      </p:sp>
      <p:sp>
        <p:nvSpPr>
          <p:cNvPr id="7" name="slide-number-41">
            <a:extLst>
              <a:ext uri="{FF2B5EF4-FFF2-40B4-BE49-F238E27FC236}">
                <a16:creationId xmlns:a16="http://schemas.microsoft.com/office/drawing/2014/main" id="{D0C91322-E83A-4865-8E84-963BBC902A0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U04-042">
            <a:extLst>
              <a:ext uri="{FF2B5EF4-FFF2-40B4-BE49-F238E27FC236}">
                <a16:creationId xmlns:a16="http://schemas.microsoft.com/office/drawing/2014/main" id="{77E12E46-71EC-47EE-92CC-84AC388DA99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42">
            <a:extLst>
              <a:ext uri="{FF2B5EF4-FFF2-40B4-BE49-F238E27FC236}">
                <a16:creationId xmlns:a16="http://schemas.microsoft.com/office/drawing/2014/main" id="{48AFCF01-AD56-4CAA-9EA1-474168F2C9E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micrófono mide una variable local; no la potencia total de la fuente</a:t>
            </a:r>
          </a:p>
        </p:txBody>
      </p:sp>
      <p:sp>
        <p:nvSpPr>
          <p:cNvPr id="3" name="image-surface">
            <a:extLst>
              <a:ext uri="{FF2B5EF4-FFF2-40B4-BE49-F238E27FC236}">
                <a16:creationId xmlns:a16="http://schemas.microsoft.com/office/drawing/2014/main" id="{DB8A77DE-C605-4C1B-91DF-0A8F6458EF4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12" name="Imagen 11" descr="Diagrama sobre «Un micrófono mide una variable local; no la potencia total de la fuente»: proceso de medición con 4 nodos y callout de límites; conexión clínica. La lectura central es que la variable informada depende del sensor, el punto y el procesamiento. Recurso principal: U04-DG-010." title="Diagrama sobre «Un micrófono mide una variable local; no la potencia total de la fuente»: proceso de medición con 4 nodos y callout de límites; conexión clínica. La lectura central es que la variable informada depende del sensor, el punto y el procesamiento. Recurso principal: U04-DG-010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24301" y="1752600"/>
            <a:ext cx="1723597" cy="3829050"/>
          </a:xfrm>
          <a:prstGeom prst="rect">
            <a:avLst/>
          </a:prstGeom>
        </p:spPr>
      </p:pic>
      <p:sp>
        <p:nvSpPr>
          <p:cNvPr id="5" name="bullets">
            <a:extLst>
              <a:ext uri="{FF2B5EF4-FFF2-40B4-BE49-F238E27FC236}">
                <a16:creationId xmlns:a16="http://schemas.microsoft.com/office/drawing/2014/main" id="{5BE22A91-7693-488C-A4CB-274EE630245A}"/>
              </a:ext>
            </a:extLst>
          </p:cNvPr>
          <p:cNvSpPr>
            <a:spLocks noGrp="1"/>
          </p:cNvSpPr>
          <p:nvPr/>
        </p:nvSpPr>
        <p:spPr>
          <a:xfrm>
            <a:off x="6000750" y="1762125"/>
            <a:ext cx="5429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variable informada depende del sensor, el punto y el procesamiento.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micrófono calibrado estima presión en un punto; no entrega por sí solo la potencia total de la fuente.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FA4CDBA-0882-46FC-983F-E3DAC757D6CD}"/>
              </a:ext>
            </a:extLst>
          </p:cNvPr>
          <p:cNvSpPr>
            <a:spLocks noGrp="1"/>
          </p:cNvSpPr>
          <p:nvPr/>
        </p:nvSpPr>
        <p:spPr>
          <a:xfrm>
            <a:off x="6000750" y="50006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Intensidad, potencia, energía y medición.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>
              <a:ext uri="{FF2B5EF4-FFF2-40B4-BE49-F238E27FC236}">
                <a16:creationId xmlns:a16="http://schemas.microsoft.com/office/drawing/2014/main" id="{E4FD7D20-6A99-433A-8222-5F823DCC401C}"/>
              </a:ext>
            </a:extLst>
          </p:cNvPr>
          <p:cNvSpPr>
            <a:spLocks noGrp="1"/>
          </p:cNvSpPr>
          <p:nvPr/>
        </p:nvSpPr>
        <p:spPr>
          <a:xfrm>
            <a:off x="6000750" y="5572125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r:id="rId4"/>
              </a:rPr>
              <a:t>Foto: Harke, dominio público, vía Wikimedia Commons.</a:t>
            </a:r>
          </a:p>
        </p:txBody>
      </p:sp>
      <p:sp>
        <p:nvSpPr>
          <p:cNvPr id="8" name="slide-number-42">
            <a:extLst>
              <a:ext uri="{FF2B5EF4-FFF2-40B4-BE49-F238E27FC236}">
                <a16:creationId xmlns:a16="http://schemas.microsoft.com/office/drawing/2014/main" id="{6B77676A-5F7B-4660-926E-1FAB2495081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AC257EF2-D89B-4E5C-A235-6E0E4199A4C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A19364E0-A6E0-477B-9F2F-448307F100D9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señal variable necesita más de un descriptor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08C5650A-8F0D-4B5C-93A9-90DA9B52DB42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número resume cada aspecto de una señal variable?</a:t>
            </a:r>
          </a:p>
        </p:txBody>
      </p:sp>
      <p:sp>
        <p:nvSpPr>
          <p:cNvPr id="4" name="slide-number-43">
            <a:extLst>
              <a:ext uri="{FF2B5EF4-FFF2-40B4-BE49-F238E27FC236}">
                <a16:creationId xmlns:a16="http://schemas.microsoft.com/office/drawing/2014/main" id="{58D7800E-A465-4941-8F30-A05C8E3C2B5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áfico 31" descr="Gráfico sobre «Un mismo registro admite resúmenes diferentes»: señal única reutilizable en U04-045–050, con marcadores progresivos. La lectura central es que forma temporal, extremos y balance no contienen la misma información. Recurso principal: U04-CH-003." title="Gráfico sobre «Un mismo registro admite resúmenes diferentes»: señal única reutilizable en U04-045–050, con marcadores progresivos. La lectura central es que forma temporal, extremos y balance no contienen la misma información. Recurso principal: U04-CH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AC8BAD1D-AB98-4A7E-8745-C39132134FD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44">
            <a:extLst>
              <a:ext uri="{FF2B5EF4-FFF2-40B4-BE49-F238E27FC236}">
                <a16:creationId xmlns:a16="http://schemas.microsoft.com/office/drawing/2014/main" id="{3A086318-42CB-49A3-A8B5-B29BA3E2AAA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44">
            <a:extLst>
              <a:ext uri="{FF2B5EF4-FFF2-40B4-BE49-F238E27FC236}">
                <a16:creationId xmlns:a16="http://schemas.microsoft.com/office/drawing/2014/main" id="{DBE809EA-6D24-47B6-8BA7-896F4A6E2AD3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registro admite resúmenes diferentes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4EFD6770-1842-4164-9E0B-5F41243120F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E2EA82C4-7D57-4143-BBC0-5E21CE54942F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 temporal, extremos y balance no contienen la misma información. · señal sintética · límites idénticos.</a:t>
            </a:r>
          </a:p>
        </p:txBody>
      </p:sp>
      <p:sp>
        <p:nvSpPr>
          <p:cNvPr id="27" name="slide-number-44">
            <a:extLst>
              <a:ext uri="{FF2B5EF4-FFF2-40B4-BE49-F238E27FC236}">
                <a16:creationId xmlns:a16="http://schemas.microsoft.com/office/drawing/2014/main" id="{24FB7B30-A8E6-42DF-88B0-AEE9E4ADBB6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Valor instantáneo y valor pico no son intercambiables»: gráfico anotado con callouts; declarar convención de pico. La lectura central es que el instantáneo depende de `t`; el pico es el mayor módulo o extremo según convención declarada. Recurso principal: U04-CH-003." title="Esquema mixto sobre «Valor instantáneo y valor pico no son intercambiables»: gráfico anotado con callouts; declarar convención de pico. La lectura central es que el instantáneo depende de `t`; el pico es el mayor módulo o extremo según convención declarada. Recurso principal: U04-CH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2C0D4C11-5201-468E-8A3D-9E58BA5EA4B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5">
            <a:extLst>
              <a:ext uri="{FF2B5EF4-FFF2-40B4-BE49-F238E27FC236}">
                <a16:creationId xmlns:a16="http://schemas.microsoft.com/office/drawing/2014/main" id="{86585E8F-52DD-4A5F-95C2-9D87920C3EE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5">
            <a:extLst>
              <a:ext uri="{FF2B5EF4-FFF2-40B4-BE49-F238E27FC236}">
                <a16:creationId xmlns:a16="http://schemas.microsoft.com/office/drawing/2014/main" id="{C927EAE8-0920-4716-A548-B3CFBD8F3F8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Valor instantáneo y valor pico no son intercambiables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1ACE7F6-A800-428E-813D-615A99D8882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952A78F-A336-460E-BF76-210827A93734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instantáneo depende de t; el pico es el mayor módulo o extremo según convención declarada.</a:t>
            </a:r>
          </a:p>
        </p:txBody>
      </p:sp>
      <p:sp>
        <p:nvSpPr>
          <p:cNvPr id="7" name="slide-number-45">
            <a:extLst>
              <a:ext uri="{FF2B5EF4-FFF2-40B4-BE49-F238E27FC236}">
                <a16:creationId xmlns:a16="http://schemas.microsoft.com/office/drawing/2014/main" id="{61A3C527-476C-45FF-A3FC-EC5DAD6CB0F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Pico a pico mide la excursión entre extremos»: ecuación anotada más dos mini gráficos coordinados. La lectura central es que el valor pico a pico no equivale siempre a dos veces el pico. Recurso principal: U04-CH-003." title="Esquema mixto sobre «Pico a pico mide la excursión entre extremos»: ecuación anotada más dos mini gráficos coordinados. La lectura central es que el valor pico a pico no equivale siempre a dos veces el pico. Recurso principal: U04-CH-00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B8837FD-2413-4660-9E0E-F288A450A628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6">
            <a:extLst>
              <a:ext uri="{FF2B5EF4-FFF2-40B4-BE49-F238E27FC236}">
                <a16:creationId xmlns:a16="http://schemas.microsoft.com/office/drawing/2014/main" id="{F836389D-8D3D-4EEA-B150-F4D060E7E28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6">
            <a:extLst>
              <a:ext uri="{FF2B5EF4-FFF2-40B4-BE49-F238E27FC236}">
                <a16:creationId xmlns:a16="http://schemas.microsoft.com/office/drawing/2014/main" id="{68DA87C0-783F-4599-9F16-70944CDB85C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Pico a pico mide la excursión entre extremos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098BC29-2F40-4E11-B12F-319FD674533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D6198EE-8187-42E7-B854-A3F08DB5989B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valor pico a pico no equivale siempre a dos veces el pico.</a:t>
            </a:r>
          </a:p>
        </p:txBody>
      </p:sp>
      <p:sp>
        <p:nvSpPr>
          <p:cNvPr id="7" name="slide-number-46">
            <a:extLst>
              <a:ext uri="{FF2B5EF4-FFF2-40B4-BE49-F238E27FC236}">
                <a16:creationId xmlns:a16="http://schemas.microsoft.com/office/drawing/2014/main" id="{8C5861C7-80E6-4C5B-9886-E5D739952DF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El valor medio expresa balance durante una ventana»: ecuación anotada con ventana temporal y áreas de signo opuesto. La lectura central es que el resultado depende de la ventana y puede ocultar oscilaciones grandes. Recurso principal: U04-DG-011." title="Ecuación anotada sobre «El valor medio expresa balance durante una ventana»: ecuación anotada con ventana temporal y áreas de signo opuesto. La lectura central es que el resultado depende de la ventana y puede ocultar oscilaciones grandes. Recurso principal: U04-DG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F008BA6-7D66-49EE-8C2F-17D3B00047F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7">
            <a:extLst>
              <a:ext uri="{FF2B5EF4-FFF2-40B4-BE49-F238E27FC236}">
                <a16:creationId xmlns:a16="http://schemas.microsoft.com/office/drawing/2014/main" id="{7286F1E1-C4B3-4EE4-84C4-76D83955A59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7">
            <a:extLst>
              <a:ext uri="{FF2B5EF4-FFF2-40B4-BE49-F238E27FC236}">
                <a16:creationId xmlns:a16="http://schemas.microsoft.com/office/drawing/2014/main" id="{C4AAEFEA-3CBF-4D01-84C1-7EED5B85E74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valor medio expresa balance durante una ventana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E319B61-6DE6-4602-92A7-C6FD31B09A4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39C91E7-0C21-4145-B00A-2E26613F91BF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resultado depende de la ventana y puede ocultar oscilaciones grandes. · señal sintética · límites idénticos.</a:t>
            </a:r>
          </a:p>
        </p:txBody>
      </p:sp>
      <p:sp>
        <p:nvSpPr>
          <p:cNvPr id="7" name="slide-number-47">
            <a:extLst>
              <a:ext uri="{FF2B5EF4-FFF2-40B4-BE49-F238E27FC236}">
                <a16:creationId xmlns:a16="http://schemas.microsoft.com/office/drawing/2014/main" id="{C48FEDDB-11DB-4E63-823F-C5C85389887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Media cero no significa señal nula»: seno completo y señal cero con la misma media. La lectura central es que una oscilación equilibrada puede tener energía y amplitud aunque su promedio sea cero. Recurso principal: U04-CH-004." title="Gráfico sobre «Media cero no significa señal nula»: seno completo y señal cero con la misma media. La lectura central es que una oscilación equilibrada puede tener energía y amplitud aunque su promedio sea cero. Recurso principal: U04-CH-00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1D415CD-ADD9-4E45-95A9-A3A2EAFB7D6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8">
            <a:extLst>
              <a:ext uri="{FF2B5EF4-FFF2-40B4-BE49-F238E27FC236}">
                <a16:creationId xmlns:a16="http://schemas.microsoft.com/office/drawing/2014/main" id="{25379E39-1436-412F-BBF8-75DB255DCEC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8">
            <a:extLst>
              <a:ext uri="{FF2B5EF4-FFF2-40B4-BE49-F238E27FC236}">
                <a16:creationId xmlns:a16="http://schemas.microsoft.com/office/drawing/2014/main" id="{F809C54C-E409-4E02-A362-EF65859C16C8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Media cero no significa señal nula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D1694D8-4B6A-4E44-A7CF-B6F06F3A4CC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7AFE40D-D9C6-42ED-8A69-B02E046DB4C4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oscilación equilibrada puede tener energía y amplitud aunque su promedio sea cero.</a:t>
            </a:r>
          </a:p>
        </p:txBody>
      </p:sp>
      <p:sp>
        <p:nvSpPr>
          <p:cNvPr id="7" name="slide-number-48">
            <a:extLst>
              <a:ext uri="{FF2B5EF4-FFF2-40B4-BE49-F238E27FC236}">
                <a16:creationId xmlns:a16="http://schemas.microsoft.com/office/drawing/2014/main" id="{B8FDBC0F-75C3-4D45-962F-2513A6765F5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Slide tipográfica titulada «¿Qué descriptor elegirías en cada problema?»; destaca que la elección depende de si interesa instante, límite, excursión o balance." title="Slide tipográfica titulada «¿Qué descriptor elegirías en cada problema?»; destaca que la elección depende de si interesa instante, límite, excursión o balance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BF93181-6B76-4C0F-8439-A0DCE8AB48F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49">
            <a:extLst>
              <a:ext uri="{FF2B5EF4-FFF2-40B4-BE49-F238E27FC236}">
                <a16:creationId xmlns:a16="http://schemas.microsoft.com/office/drawing/2014/main" id="{95386E16-1B84-4A1E-92DC-2165C0FCBD7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49">
            <a:extLst>
              <a:ext uri="{FF2B5EF4-FFF2-40B4-BE49-F238E27FC236}">
                <a16:creationId xmlns:a16="http://schemas.microsoft.com/office/drawing/2014/main" id="{D1CD64FD-DEC6-4771-88D1-3E7E49622C5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descriptor elegirías en cada problema?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E5F63BAC-2C3A-4375-A448-4DA0D0DA490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B4DC1E1-C903-466E-AE30-7B9DEBE816EB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Pico para saturación; valor medio para componente continua.</a:t>
            </a:r>
          </a:p>
        </p:txBody>
      </p:sp>
      <p:sp>
        <p:nvSpPr>
          <p:cNvPr id="7" name="slide-number-49">
            <a:extLst>
              <a:ext uri="{FF2B5EF4-FFF2-40B4-BE49-F238E27FC236}">
                <a16:creationId xmlns:a16="http://schemas.microsoft.com/office/drawing/2014/main" id="{E6736F46-0913-4B49-B14F-8C633A581B0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Instante, extremo, excursión y balance: cuatro preguntas»: matriz visual de cuatro filas y señal común. La lectura central es que ninguno de estos valores describe por sí solo el “tamaño efectivo” de una señal alternante. Recurso principal: U04-DG-011." title="Diagrama sobre «Instante, extremo, excursión y balance: cuatro preguntas»: matriz visual de cuatro filas y señal común. La lectura central es que ninguno de estos valores describe por sí solo el “tamaño efectivo” de una señal alternante. Recurso principal: U04-DG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7260577-CF38-4DC0-97BC-EBC0E79AEB95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0">
            <a:extLst>
              <a:ext uri="{FF2B5EF4-FFF2-40B4-BE49-F238E27FC236}">
                <a16:creationId xmlns:a16="http://schemas.microsoft.com/office/drawing/2014/main" id="{E8F68EFB-C896-4ABE-ABA1-98F4BE64A7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0">
            <a:extLst>
              <a:ext uri="{FF2B5EF4-FFF2-40B4-BE49-F238E27FC236}">
                <a16:creationId xmlns:a16="http://schemas.microsoft.com/office/drawing/2014/main" id="{8F2D3702-7795-4FF1-B781-B1024CC9B22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Instante, extremo, excursión y balance: cuatro preguntas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30C15918-6A84-422A-88BE-26004B7304F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8F40E481-0B6B-4041-AAEC-6F7CD0EF479F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Ninguno de estos valores describe por sí solo el “tamaño efectivo” de una señal alternante.</a:t>
            </a:r>
          </a:p>
        </p:txBody>
      </p:sp>
      <p:sp>
        <p:nvSpPr>
          <p:cNvPr id="7" name="slide-number-50">
            <a:extLst>
              <a:ext uri="{FF2B5EF4-FFF2-40B4-BE49-F238E27FC236}">
                <a16:creationId xmlns:a16="http://schemas.microsoft.com/office/drawing/2014/main" id="{3E6E9C89-7D14-4F86-AEB4-534040887FD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BBA25CE3-7522-40B1-B83B-2F058D1CE52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8DA93D9D-650B-4787-AD67-9A82D90BA336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resumimos el efecto de una señal alternante?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B53A0EC0-93C6-416A-A3E9-1E12A7BB211E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cuantificamos el tamaño cuadrático de una señal?</a:t>
            </a:r>
          </a:p>
        </p:txBody>
      </p:sp>
      <p:sp>
        <p:nvSpPr>
          <p:cNvPr id="4" name="slide-number-51">
            <a:extLst>
              <a:ext uri="{FF2B5EF4-FFF2-40B4-BE49-F238E27FC236}">
                <a16:creationId xmlns:a16="http://schemas.microsoft.com/office/drawing/2014/main" id="{38412DC4-1180-441F-B50A-6B7029DB78C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RMS: cuadrar, promediar y extraer raíz»: 3 nodos, conectores y rótulos de función; posible revelado progresivo. La lectura central es que cada paso cumple una función: elimina signo, resume y recupera unidad. Recurso principal: U04-DG-012." title="Diagrama sobre «RMS: cuadrar, promediar y extraer raíz»: 3 nodos, conectores y rótulos de función; posible revelado progresivo. La lectura central es que cada paso cumple una función: elimina signo, resume y recupera unidad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D029EDF-0B39-4A60-9187-4D17A5FFF423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2">
            <a:extLst>
              <a:ext uri="{FF2B5EF4-FFF2-40B4-BE49-F238E27FC236}">
                <a16:creationId xmlns:a16="http://schemas.microsoft.com/office/drawing/2014/main" id="{8A4A78D9-124A-4CE1-8436-DB8E1A16F2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2">
            <a:extLst>
              <a:ext uri="{FF2B5EF4-FFF2-40B4-BE49-F238E27FC236}">
                <a16:creationId xmlns:a16="http://schemas.microsoft.com/office/drawing/2014/main" id="{125BDDD2-CB2E-4E69-91CF-A950FA5B66AA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RMS: cuadrar, promediar y extraer raíz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431B543-D5AF-4855-93A8-352DBDDFB32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ADE4B77-00C6-4F78-9A5F-A3791CFCED85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paso cumple una función: elimina signo, resume y recupera unidad.</a:t>
            </a:r>
          </a:p>
        </p:txBody>
      </p:sp>
      <p:sp>
        <p:nvSpPr>
          <p:cNvPr id="7" name="slide-number-52">
            <a:extLst>
              <a:ext uri="{FF2B5EF4-FFF2-40B4-BE49-F238E27FC236}">
                <a16:creationId xmlns:a16="http://schemas.microsoft.com/office/drawing/2014/main" id="{0693A8CA-B067-4B7E-B214-04D2647C831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El cuadrado transforma signo en contribución positiva»: reconstrucción de figura 4.3 en cuatro paneles coordinados. La lectura central es que regiones positivas y negativas de la señal aportan positivamente tras elevar al cuadrado. Recurso principal: U04-CH-005." title="Gráfico sobre «El cuadrado transforma signo en contribución positiva»: reconstrucción de figura 4.3 en cuatro paneles coordinados. La lectura central es que regiones positivas y negativas de la señal aportan positivamente tras elevar al cuadrado. Recurso principal: U04-CH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5A7610F-9F15-4FBB-9AEE-696875192DD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3">
            <a:extLst>
              <a:ext uri="{FF2B5EF4-FFF2-40B4-BE49-F238E27FC236}">
                <a16:creationId xmlns:a16="http://schemas.microsoft.com/office/drawing/2014/main" id="{E525AD67-7258-4179-9171-DEF670F8605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3">
            <a:extLst>
              <a:ext uri="{FF2B5EF4-FFF2-40B4-BE49-F238E27FC236}">
                <a16:creationId xmlns:a16="http://schemas.microsoft.com/office/drawing/2014/main" id="{18538667-50B7-4806-82C1-E9A252FE1C5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cuadrado transforma signo en contribución positiva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CD96135-99A3-4BDE-8528-F01CB1252FA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33C3BE6D-5DDC-454D-A45F-87FC64A38479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Regiones positivas y negativas de la señal aportan positivamente tras elevar al cuadrado.</a:t>
            </a:r>
          </a:p>
        </p:txBody>
      </p:sp>
      <p:sp>
        <p:nvSpPr>
          <p:cNvPr id="7" name="slide-number-53">
            <a:extLst>
              <a:ext uri="{FF2B5EF4-FFF2-40B4-BE49-F238E27FC236}">
                <a16:creationId xmlns:a16="http://schemas.microsoft.com/office/drawing/2014/main" id="{280787F5-7149-4EE7-BC89-3373C17ECE4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La ventana de observación forma parte del RMS»: ecuación anotada y ventana sobre eje temporal. La lectura central es que `x_rms` depende de qué intervalo se promedia. Recurso principal: U04-DG-012." title="Ecuación anotada sobre «La ventana de observación forma parte del RMS»: ecuación anotada y ventana sobre eje temporal. La lectura central es que `x_rms` depende de qué intervalo se promedia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ECEDFF0-9E43-4A6F-9C37-E0040B617A7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4">
            <a:extLst>
              <a:ext uri="{FF2B5EF4-FFF2-40B4-BE49-F238E27FC236}">
                <a16:creationId xmlns:a16="http://schemas.microsoft.com/office/drawing/2014/main" id="{9877F8E9-C8E0-4452-ABF5-414F5B9EB3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4">
            <a:extLst>
              <a:ext uri="{FF2B5EF4-FFF2-40B4-BE49-F238E27FC236}">
                <a16:creationId xmlns:a16="http://schemas.microsoft.com/office/drawing/2014/main" id="{CB152C4C-9F9D-4D1C-AB63-6577EE72D67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ventana de observación forma parte del RMS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5DE4C19-6C1D-456C-8FAD-1D01E055E9B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92AD2229-B8EC-4E8C-9BFF-8760287AC62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xᵣms depende de qué intervalo se promedia.</a:t>
            </a:r>
          </a:p>
        </p:txBody>
      </p:sp>
      <p:sp>
        <p:nvSpPr>
          <p:cNvPr id="7" name="slide-number-54">
            <a:extLst>
              <a:ext uri="{FF2B5EF4-FFF2-40B4-BE49-F238E27FC236}">
                <a16:creationId xmlns:a16="http://schemas.microsoft.com/office/drawing/2014/main" id="{18C0D862-D677-4FE5-9A36-8A58DEB53F1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Para una sinusoide, `x_rms=x_pico/√2`»: ecuación anotada con sello “solo sinusoide”. La lectura central es que el factor `1/√2` no vale para cualquier forma de onda. Recurso principal: U04-DG-012." title="Ecuación anotada sobre «Para una sinusoide, `x_rms=x_pico/√2`»: ecuación anotada con sello “solo sinusoide”. La lectura central es que el factor `1/√2` no vale para cualquier forma de onda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AA65F3A-AAFA-45CC-8BB5-DC072F56967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5">
            <a:extLst>
              <a:ext uri="{FF2B5EF4-FFF2-40B4-BE49-F238E27FC236}">
                <a16:creationId xmlns:a16="http://schemas.microsoft.com/office/drawing/2014/main" id="{8250587F-9587-482F-A69C-74483580E4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5">
            <a:extLst>
              <a:ext uri="{FF2B5EF4-FFF2-40B4-BE49-F238E27FC236}">
                <a16:creationId xmlns:a16="http://schemas.microsoft.com/office/drawing/2014/main" id="{A8B06434-D225-4E7D-9D0D-B3EFDB95C149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una sinusoide, xᵣms=xₚico/√2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AD387CD-4C38-49E4-A506-C58F7715D3C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F199A1A-9BE5-47BA-B197-FF09D57041C2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factor 1/√2 no vale para cualquier forma de onda.</a:t>
            </a:r>
          </a:p>
        </p:txBody>
      </p:sp>
      <p:sp>
        <p:nvSpPr>
          <p:cNvPr id="7" name="slide-number-55">
            <a:extLst>
              <a:ext uri="{FF2B5EF4-FFF2-40B4-BE49-F238E27FC236}">
                <a16:creationId xmlns:a16="http://schemas.microsoft.com/office/drawing/2014/main" id="{255677F5-FABA-4E19-9AC5-1BB509295CB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 pico a RMS sin perder unidades»: Ecuaciones editables con revelado por pasos. La lectura central es que la operación cambia el valor, no la magnitud ni su unidad. Recurso principal: U04-CH-005." title="Ecuación anotada sobre «De pico a RMS sin perder unidades»: Ecuaciones editables con revelado por pasos. La lectura central es que la operación cambia el valor, no la magnitud ni su unidad. Recurso principal: U04-CH-00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774A89C-29D2-4586-BEE4-DE932C5BCA9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6">
            <a:extLst>
              <a:ext uri="{FF2B5EF4-FFF2-40B4-BE49-F238E27FC236}">
                <a16:creationId xmlns:a16="http://schemas.microsoft.com/office/drawing/2014/main" id="{8B730877-3E2B-4050-A562-4DFA0ADB977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6">
            <a:extLst>
              <a:ext uri="{FF2B5EF4-FFF2-40B4-BE49-F238E27FC236}">
                <a16:creationId xmlns:a16="http://schemas.microsoft.com/office/drawing/2014/main" id="{4FDF4140-42E4-4F8F-B13A-9AF0EA6DCA1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pico a RMS sin perder unidades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CD2276E2-84CF-4B84-A399-C970BBB80AC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8D225E0-58F6-4D2F-B57B-DC581F5952A4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operación cambia el valor, no la magnitud ni su unidad.</a:t>
            </a:r>
          </a:p>
        </p:txBody>
      </p:sp>
      <p:sp>
        <p:nvSpPr>
          <p:cNvPr id="7" name="slide-number-56">
            <a:extLst>
              <a:ext uri="{FF2B5EF4-FFF2-40B4-BE49-F238E27FC236}">
                <a16:creationId xmlns:a16="http://schemas.microsoft.com/office/drawing/2014/main" id="{F8895F38-94C4-47EC-B73F-36B46EB9D1E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Tono puro y señal compleja pueden compartir RMS»: dos señales normalizadas con igual RMS; sin anticipar espectros detallados. La lectura central es que igual RMS no implica igual forma de onda ni igual contenido frecuencial. Recurso principal: U04-CH-006." title="Gráfico sobre «Tono puro y señal compleja pueden compartir RMS»: dos señales normalizadas con igual RMS; sin anticipar espectros detallados. La lectura central es que igual RMS no implica igual forma de onda ni igual contenido frecuencial. Recurso principal: U04-CH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8591E780-7FB0-4A80-96A8-833F697BEBC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57">
            <a:extLst>
              <a:ext uri="{FF2B5EF4-FFF2-40B4-BE49-F238E27FC236}">
                <a16:creationId xmlns:a16="http://schemas.microsoft.com/office/drawing/2014/main" id="{FD4B9880-FF90-406F-9251-9693E63F8BB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57">
            <a:extLst>
              <a:ext uri="{FF2B5EF4-FFF2-40B4-BE49-F238E27FC236}">
                <a16:creationId xmlns:a16="http://schemas.microsoft.com/office/drawing/2014/main" id="{CAC5AF22-79FD-40F1-B3F1-174FB402EE4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Tono puro y señal compleja pueden compartir RMS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36F3EBA-273E-4713-8A8B-9B980FF500B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E0C1C8FC-892F-4D6E-876C-0AD263FF2DF1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 RMS no implica igual forma de onda ni igual contenido frecuencial. · señales sintéticas · misma escala.</a:t>
            </a:r>
          </a:p>
        </p:txBody>
      </p:sp>
      <p:sp>
        <p:nvSpPr>
          <p:cNvPr id="7" name="slide-number-57">
            <a:extLst>
              <a:ext uri="{FF2B5EF4-FFF2-40B4-BE49-F238E27FC236}">
                <a16:creationId xmlns:a16="http://schemas.microsoft.com/office/drawing/2014/main" id="{E8F187EB-4429-40BA-86CA-A2BAB32B468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58">
            <a:extLst>
              <a:ext uri="{FF2B5EF4-FFF2-40B4-BE49-F238E27FC236}">
                <a16:creationId xmlns:a16="http://schemas.microsoft.com/office/drawing/2014/main" id="{3F4F1D19-8F0A-4276-8635-4116A7981A9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58">
            <a:extLst>
              <a:ext uri="{FF2B5EF4-FFF2-40B4-BE49-F238E27FC236}">
                <a16:creationId xmlns:a16="http://schemas.microsoft.com/office/drawing/2014/main" id="{35210856-D4BC-48D7-A7BA-7A0CC3F9B7C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RMS resume tamaño eficaz, no forma ni frecuencia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9D4C03F9-5D34-4E83-90D0-995149CE2ABF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BBC05FE9-9ACB-4001-B40D-EDDCED1AEB33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pᵣₘₛ=p̂/√2 solo para una sinusoide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10DF17F2-F7F4-4AD5-B3C6-9141F658F7AC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interpretar RMS también hay que conocer señal, ventana y condiciones.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pᵣₘₛ=p̂/√2 solo para una sinusoide</a:t>
            </a:r>
          </a:p>
        </p:txBody>
      </p:sp>
      <p:sp>
        <p:nvSpPr>
          <p:cNvPr id="6" name="slide-number-58">
            <a:extLst>
              <a:ext uri="{FF2B5EF4-FFF2-40B4-BE49-F238E27FC236}">
                <a16:creationId xmlns:a16="http://schemas.microsoft.com/office/drawing/2014/main" id="{B67DEF96-AB1A-4886-9204-D15CD7D6899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E09B2C1B-F5BC-459E-925A-C133E26EA5B1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6CF61D6E-EACE-4933-8802-4BB856E5AE7B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nivel siempre compara con una referencia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06BF2614-89C2-4C34-B469-7DB42A9B4C38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debe acompañar siempre a un valor en decibeles?</a:t>
            </a:r>
          </a:p>
        </p:txBody>
      </p:sp>
      <p:sp>
        <p:nvSpPr>
          <p:cNvPr id="4" name="slide-number-59">
            <a:extLst>
              <a:ext uri="{FF2B5EF4-FFF2-40B4-BE49-F238E27FC236}">
                <a16:creationId xmlns:a16="http://schemas.microsoft.com/office/drawing/2014/main" id="{A065C283-668F-462D-8947-CF8637D8F61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Para informar un nivel hacen falta tres datos»: tríada de tres nodos convergentes en una lectura completa. La lectura central es que magnitud, referencia y tipo de nivel determinan el significado. Recurso principal: U04-DG-013." title="Diagrama sobre «Para informar un nivel hacen falta tres datos»: tríada de tres nodos convergentes en una lectura completa. La lectura central es que magnitud, referencia y tipo de nivel determinan el significado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64507DA-51DA-445F-9BD7-3F50C3A341A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0">
            <a:extLst>
              <a:ext uri="{FF2B5EF4-FFF2-40B4-BE49-F238E27FC236}">
                <a16:creationId xmlns:a16="http://schemas.microsoft.com/office/drawing/2014/main" id="{4AC16E70-153D-4EC6-A49B-DDE88E878DA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0">
            <a:extLst>
              <a:ext uri="{FF2B5EF4-FFF2-40B4-BE49-F238E27FC236}">
                <a16:creationId xmlns:a16="http://schemas.microsoft.com/office/drawing/2014/main" id="{05AA1485-FE9D-4AA6-89A3-7568156CE83A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informar un nivel hacen falta tres datos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1BC382C-2880-470F-ABF1-184A77869B9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57C9188-CF15-4BCA-8392-DDC7E16F58AC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Magnitud, referencia y tipo de nivel determinan el significado.</a:t>
            </a:r>
          </a:p>
        </p:txBody>
      </p:sp>
      <p:sp>
        <p:nvSpPr>
          <p:cNvPr id="7" name="slide-number-60">
            <a:extLst>
              <a:ext uri="{FF2B5EF4-FFF2-40B4-BE49-F238E27FC236}">
                <a16:creationId xmlns:a16="http://schemas.microsoft.com/office/drawing/2014/main" id="{8448D360-6EEC-4622-8B29-F441AAC10C9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“60 dB” es una información incompleta»: etiqueta incompleta que se completa por etapas. La lectura central es que el mismo número puede corresponder a referencias y significados distintos. Recurso principal: U04-DG-013." title="Diagrama sobre «“60 dB” es una información incompleta»: etiqueta incompleta que se completa por etapas. La lectura central es que el mismo número puede corresponder a referencias y significados distintos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175B0C3-27E6-438E-AFE4-96E1F5570F6D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1">
            <a:extLst>
              <a:ext uri="{FF2B5EF4-FFF2-40B4-BE49-F238E27FC236}">
                <a16:creationId xmlns:a16="http://schemas.microsoft.com/office/drawing/2014/main" id="{29D4E98C-E3A1-4AF2-BF5A-DB197C4D237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1">
            <a:extLst>
              <a:ext uri="{FF2B5EF4-FFF2-40B4-BE49-F238E27FC236}">
                <a16:creationId xmlns:a16="http://schemas.microsoft.com/office/drawing/2014/main" id="{C13528E3-D4BD-44C0-B78E-DCA9AF73669A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“60 dB” es una información incompleta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987D2FC-8BC1-41C0-B404-E0836191817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324AA23-9BD6-4320-884A-4E59C1F72A2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mismo número puede corresponder a referencias y significados distintos.</a:t>
            </a:r>
          </a:p>
        </p:txBody>
      </p:sp>
      <p:sp>
        <p:nvSpPr>
          <p:cNvPr id="7" name="slide-number-61">
            <a:extLst>
              <a:ext uri="{FF2B5EF4-FFF2-40B4-BE49-F238E27FC236}">
                <a16:creationId xmlns:a16="http://schemas.microsoft.com/office/drawing/2014/main" id="{9C7D66A4-D6D1-479F-8F7D-F8F803F04C6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62">
            <a:extLst>
              <a:ext uri="{FF2B5EF4-FFF2-40B4-BE49-F238E27FC236}">
                <a16:creationId xmlns:a16="http://schemas.microsoft.com/office/drawing/2014/main" id="{0A34EF10-FDF1-47C2-8E03-36662B84413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62">
            <a:extLst>
              <a:ext uri="{FF2B5EF4-FFF2-40B4-BE49-F238E27FC236}">
                <a16:creationId xmlns:a16="http://schemas.microsoft.com/office/drawing/2014/main" id="{CA86EFEA-C662-4C13-B21A-D4E65006271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Lₚ compara presión RMS con una referencia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CAE9481D-B7CE-47B4-B888-153267D19B33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67E18456-5C78-4B95-83EA-114B4C6E4C2A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Lₚ=20log₁₀ (dfracpᵣₘₛpᵣₑf)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pᵣₑf=20 µPa en aire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3ACD37FA-6141-4FBF-BF63-01C61FBD759C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Lₚ=20 log10(pᵣms/pᵣef) solo cobra sentido con pᵣef declarado.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de presión sonora Lₚ: razón logarítmica entre presión eficaz y presión de referencia.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Lₚ=20log₁₀ (dfracpᵣₘₛpᵣₑf)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pᵣₑf=20 µPa en aire</a:t>
            </a:r>
          </a:p>
        </p:txBody>
      </p:sp>
      <p:sp>
        <p:nvSpPr>
          <p:cNvPr id="6" name="slide-number-62">
            <a:extLst>
              <a:ext uri="{FF2B5EF4-FFF2-40B4-BE49-F238E27FC236}">
                <a16:creationId xmlns:a16="http://schemas.microsoft.com/office/drawing/2014/main" id="{0B1C1B65-4B3C-4AA9-B005-821627A9E9C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-U04-063">
            <a:extLst>
              <a:ext uri="{FF2B5EF4-FFF2-40B4-BE49-F238E27FC236}">
                <a16:creationId xmlns:a16="http://schemas.microsoft.com/office/drawing/2014/main" id="{80E23611-C1D2-465D-87D4-615BF8E0F8D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63">
            <a:extLst>
              <a:ext uri="{FF2B5EF4-FFF2-40B4-BE49-F238E27FC236}">
                <a16:creationId xmlns:a16="http://schemas.microsoft.com/office/drawing/2014/main" id="{F878C718-470A-4D04-9562-817ABC88655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0,20 Pa corresponde a 80 dB SPL en aire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1CAAEC5C-CD01-455E-99A1-4827988E7412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762500" cy="1524000"/>
          </a:xfrm>
          <a:prstGeom prst="roundRect">
            <a:avLst>
              <a:gd name="adj" fmla="val 6250"/>
            </a:avLst>
          </a:prstGeom>
          <a:solidFill>
            <a:srgbClr val="F7F6F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C5C9B8BC-B1B6-4E76-A8D5-BC3A80150E96}"/>
              </a:ext>
            </a:extLst>
          </p:cNvPr>
          <p:cNvSpPr>
            <a:spLocks noGrp="1"/>
          </p:cNvSpPr>
          <p:nvPr/>
        </p:nvSpPr>
        <p:spPr>
          <a:xfrm>
            <a:off x="6800850" y="2124075"/>
            <a:ext cx="43053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Lₚ=20log₁₀ (dfrac0,202,0×10⁻⁵)=80 dB SPL</a:t>
            </a:r>
          </a:p>
        </p:txBody>
      </p:sp>
      <p:sp>
        <p:nvSpPr>
          <p:cNvPr id="5" name="example-surface">
            <a:extLst>
              <a:ext uri="{FF2B5EF4-FFF2-40B4-BE49-F238E27FC236}">
                <a16:creationId xmlns:a16="http://schemas.microsoft.com/office/drawing/2014/main" id="{1C846BFC-BAFA-4C52-975C-98BAFA4716D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334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6" name="bullets">
            <a:extLst>
              <a:ext uri="{FF2B5EF4-FFF2-40B4-BE49-F238E27FC236}">
                <a16:creationId xmlns:a16="http://schemas.microsoft.com/office/drawing/2014/main" id="{EA05842F-5C0C-471B-8917-EA1537CF6FAD}"/>
              </a:ext>
            </a:extLst>
          </p:cNvPr>
          <p:cNvSpPr>
            <a:spLocks noGrp="1"/>
          </p:cNvSpPr>
          <p:nvPr/>
        </p:nvSpPr>
        <p:spPr>
          <a:xfrm>
            <a:off x="971550" y="2047875"/>
            <a:ext cx="4762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resultado es una razón logarítmica respecto de 20 µPa.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Lₚ=20log₁₀ (dfrac0,202,0×10⁻⁵)=80 dB SPL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aire, 0,20 Pa RMS respecto de 20 µPa equivale a 80 dB SPL.</a:t>
            </a:r>
          </a:p>
        </p:txBody>
      </p:sp>
      <p:sp>
        <p:nvSpPr>
          <p:cNvPr id="7" name="slide-number-63">
            <a:extLst>
              <a:ext uri="{FF2B5EF4-FFF2-40B4-BE49-F238E27FC236}">
                <a16:creationId xmlns:a16="http://schemas.microsoft.com/office/drawing/2014/main" id="{5BED737B-8C0E-4823-8E06-9E1B5FC793D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La escala logarítmica comprime un rango enorme»: reconstrucción pedagógica de figura 4.4, sin asociar aún sonoridad subjetiva. La lectura central es que multiplicar presión por diez suma 20 dB; duplicarla suma aproximadamente 6 dB. Recurso principal: U04-CH-007." title="Gráfico sobre «La escala logarítmica comprime un rango enorme»: reconstrucción pedagógica de figura 4.4, sin asociar aún sonoridad subjetiva. La lectura central es que multiplicar presión por diez suma 20 dB; duplicarla suma aproximadamente 6 dB. Recurso principal: U04-CH-00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14F0BA5-2C4A-4B24-A850-5DE31BFB989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4">
            <a:extLst>
              <a:ext uri="{FF2B5EF4-FFF2-40B4-BE49-F238E27FC236}">
                <a16:creationId xmlns:a16="http://schemas.microsoft.com/office/drawing/2014/main" id="{B196E125-198E-4876-B2B4-E98278481A8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4">
            <a:extLst>
              <a:ext uri="{FF2B5EF4-FFF2-40B4-BE49-F238E27FC236}">
                <a16:creationId xmlns:a16="http://schemas.microsoft.com/office/drawing/2014/main" id="{97F8D454-6B4F-4874-85B0-083450B41076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escala logarítmica comprime un rango enorme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E98B427-4C5B-4FA3-84AE-40073FB8C35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6818288-FFFC-4D04-85BB-700D14006DC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Multiplicar presión por diez suma 20 dB; duplicarla suma aproximadamente 6 dB.</a:t>
            </a:r>
          </a:p>
        </p:txBody>
      </p:sp>
      <p:sp>
        <p:nvSpPr>
          <p:cNvPr id="7" name="slide-number-64">
            <a:extLst>
              <a:ext uri="{FF2B5EF4-FFF2-40B4-BE49-F238E27FC236}">
                <a16:creationId xmlns:a16="http://schemas.microsoft.com/office/drawing/2014/main" id="{F1FC5216-3D6A-4474-AD76-D764C8E5440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65">
            <a:extLst>
              <a:ext uri="{FF2B5EF4-FFF2-40B4-BE49-F238E27FC236}">
                <a16:creationId xmlns:a16="http://schemas.microsoft.com/office/drawing/2014/main" id="{B13C1DF7-79AA-4CF0-8122-4A26FBA328A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65">
            <a:extLst>
              <a:ext uri="{FF2B5EF4-FFF2-40B4-BE49-F238E27FC236}">
                <a16:creationId xmlns:a16="http://schemas.microsoft.com/office/drawing/2014/main" id="{8644896E-0E13-4445-8B73-AE1B9FE846F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presión y distinto pᵣef producen niveles distintos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317A794C-FEDD-4500-8756-A4A450E11813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9423FA34-58AA-40E8-84BA-A24533827034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pᵣₑf,ₐᵢᵣₑ=20 µPa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pᵣₑf,ₐgᵤₐ=1 µPa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7AFCC70A-1E13-44F6-8F36-30BF685FCB5F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niveles en aire y agua no se comparan sin declarar referencias y condiciones.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pᵣₑf,ₐᵢᵣₑ=20 µPa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pᵣₑf,ₐgᵤₐ=1 µPa</a:t>
            </a:r>
          </a:p>
        </p:txBody>
      </p:sp>
      <p:sp>
        <p:nvSpPr>
          <p:cNvPr id="6" name="slide-number-65">
            <a:extLst>
              <a:ext uri="{FF2B5EF4-FFF2-40B4-BE49-F238E27FC236}">
                <a16:creationId xmlns:a16="http://schemas.microsoft.com/office/drawing/2014/main" id="{BC280486-3959-452A-A3D7-C60FB1A1FC5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66">
            <a:extLst>
              <a:ext uri="{FF2B5EF4-FFF2-40B4-BE49-F238E27FC236}">
                <a16:creationId xmlns:a16="http://schemas.microsoft.com/office/drawing/2014/main" id="{A3B8A715-88B4-4374-94B6-09E9264877E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66">
            <a:extLst>
              <a:ext uri="{FF2B5EF4-FFF2-40B4-BE49-F238E27FC236}">
                <a16:creationId xmlns:a16="http://schemas.microsoft.com/office/drawing/2014/main" id="{F39EA961-6E2F-46DB-8C42-5D7C90F51B8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factor 20 proviene de una relación cuadrática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0A6E3193-F834-4807-BBF3-078751832BB3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27DE897E-AC9E-48F5-90BB-A946BFDF6ECD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10log₁₀ [(p/pᵣₑf)²]=20log₁₀(p/pᵣₑf)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AD3510E1-C757-4258-9D31-1E38F02E38C4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potencia o intensidad es proporcional al cuadrado de presión, el exponente pasa delante del logaritmo.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10log₁₀ [(p/pᵣₑf)²]=20log₁₀(p/pᵣₑf)</a:t>
            </a:r>
          </a:p>
        </p:txBody>
      </p:sp>
      <p:sp>
        <p:nvSpPr>
          <p:cNvPr id="6" name="slide-number-66">
            <a:extLst>
              <a:ext uri="{FF2B5EF4-FFF2-40B4-BE49-F238E27FC236}">
                <a16:creationId xmlns:a16="http://schemas.microsoft.com/office/drawing/2014/main" id="{0C76BD20-41AD-4ED0-8C71-46B436FAEF2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a 8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Prefijo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kHz = 1000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mili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10⁻³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ms = 0,001 s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µs = 0,000001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mega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10⁶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MHz = 1 000 000 Hz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Marcador de tabla 6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Marcador de tabla 6"/>
          <p:cNvGraphicFramePr/>
          <p:nvPr/>
        </p:nvGraphicFramePr>
        <p:xfrm>
          <a:off x="-47625000" y="-47625000"/>
          <a:ext cx="9525" cy="9525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eyebrow-U04-067">
            <a:extLst>
              <a:ext uri="{FF2B5EF4-FFF2-40B4-BE49-F238E27FC236}">
                <a16:creationId xmlns:a16="http://schemas.microsoft.com/office/drawing/2014/main" id="{4462818C-527C-4A8B-9E09-876ED9F3637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14" name="title-U04-067">
            <a:extLst>
              <a:ext uri="{FF2B5EF4-FFF2-40B4-BE49-F238E27FC236}">
                <a16:creationId xmlns:a16="http://schemas.microsoft.com/office/drawing/2014/main" id="{C0B28C3B-151A-421B-92BD-7128EDA3BBB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Presión, intensidad y potencia tienen niveles distintos</a:t>
            </a:r>
          </a:p>
        </p:txBody>
      </p:sp>
      <p:sp>
        <p:nvSpPr>
          <p:cNvPr id="15" name="equation-surface">
            <a:extLst>
              <a:ext uri="{FF2B5EF4-FFF2-40B4-BE49-F238E27FC236}">
                <a16:creationId xmlns:a16="http://schemas.microsoft.com/office/drawing/2014/main" id="{BE322ECF-EC68-43D3-88AA-32E8D6080F5B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16" name="equation">
            <a:extLst>
              <a:ext uri="{FF2B5EF4-FFF2-40B4-BE49-F238E27FC236}">
                <a16:creationId xmlns:a16="http://schemas.microsoft.com/office/drawing/2014/main" id="{776DEA89-36FA-4E41-8850-F877707F8510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Lₚ=20log₁₀(pᵣₘₛ/pᵣₑf)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LI=10log₁₀(I/Iᵣₑf)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LW=10log₁₀(Wₐc/Wᵣₑf)</a:t>
            </a:r>
          </a:p>
        </p:txBody>
      </p:sp>
      <p:sp>
        <p:nvSpPr>
          <p:cNvPr id="17" name="bullets">
            <a:extLst>
              <a:ext uri="{FF2B5EF4-FFF2-40B4-BE49-F238E27FC236}">
                <a16:creationId xmlns:a16="http://schemas.microsoft.com/office/drawing/2014/main" id="{36B722DC-B7EA-44C4-ABE5-B351690E65A8}"/>
              </a:ext>
            </a:extLst>
          </p:cNvPr>
          <p:cNvSpPr>
            <a:spLocks noGrp="1"/>
          </p:cNvSpPr>
          <p:nvPr/>
        </p:nvSpPr>
        <p:spPr>
          <a:xfrm>
            <a:off x="1000125" y="3762375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 y potencia usan 10 log y referencias propias.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Lₚ=20log₁₀(pᵣₘₛ/pᵣₑf)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LI=10log₁₀(I/Iᵣₑf)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LW=10log₁₀(Wₐc/Wᵣₑf)</a:t>
            </a:r>
          </a:p>
        </p:txBody>
      </p:sp>
      <p:sp>
        <p:nvSpPr>
          <p:cNvPr id="18" name="slide-number-67">
            <a:extLst>
              <a:ext uri="{FF2B5EF4-FFF2-40B4-BE49-F238E27FC236}">
                <a16:creationId xmlns:a16="http://schemas.microsoft.com/office/drawing/2014/main" id="{A2A0DFD4-478C-4772-B1DF-84E9F53DC66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SPL, HL y sonoridad no son sinónimos»: tres columnas con relaciones permitidas y límites. La lectura central es que `dB SPL` describe presión relativa; `dB HL` usa referencias audiométricas; sonoridad es perceptual. Recurso principal: U04-DG-013." title="Diagrama sobre «SPL, HL y sonoridad no son sinónimos»: tres columnas con relaciones permitidas y límites. La lectura central es que `dB SPL` describe presión relativa; `dB HL` usa referencias audiométricas; sonoridad es perceptual. Recurso principal: U04-DG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491E50CC-6A50-4334-806B-8EEA262BCB1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68">
            <a:extLst>
              <a:ext uri="{FF2B5EF4-FFF2-40B4-BE49-F238E27FC236}">
                <a16:creationId xmlns:a16="http://schemas.microsoft.com/office/drawing/2014/main" id="{448B0BED-5625-4EAA-960F-0C1784DD643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68">
            <a:extLst>
              <a:ext uri="{FF2B5EF4-FFF2-40B4-BE49-F238E27FC236}">
                <a16:creationId xmlns:a16="http://schemas.microsoft.com/office/drawing/2014/main" id="{6911DCEE-84DD-4859-81DE-303CE878C543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SPL, HL y sonoridad no son sinónimos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349E0B4-21B4-463F-AB58-32415C867B5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801CE9E-1BE0-40F1-BCA1-269CE1A8AB11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 describe presión relativa; dB HL usa referencias audiométricas; sonoridad es perceptual.</a:t>
            </a:r>
          </a:p>
        </p:txBody>
      </p:sp>
      <p:sp>
        <p:nvSpPr>
          <p:cNvPr id="7" name="slide-number-68">
            <a:extLst>
              <a:ext uri="{FF2B5EF4-FFF2-40B4-BE49-F238E27FC236}">
                <a16:creationId xmlns:a16="http://schemas.microsoft.com/office/drawing/2014/main" id="{D038C166-11C3-4459-A745-14D306899A5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A74F8318-B970-4307-9C13-C2DEEFD8FFA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6F231F2F-7F17-4BC3-82B9-7A00BEBDA3AC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Para sumar sonidos hay que saber su relación temporal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14850D13-1596-44E2-A72D-3B515422A6E0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cambia según la relación temporal entre las señales?</a:t>
            </a:r>
          </a:p>
        </p:txBody>
      </p:sp>
      <p:sp>
        <p:nvSpPr>
          <p:cNvPr id="4" name="slide-number-69">
            <a:extLst>
              <a:ext uri="{FF2B5EF4-FFF2-40B4-BE49-F238E27FC236}">
                <a16:creationId xmlns:a16="http://schemas.microsoft.com/office/drawing/2014/main" id="{30396D26-975A-4ADC-9183-9D49B7051D2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áfico 31" descr="Esquema mixto sobre «Primero se suman presiones instantáneas»: suma temporal de dos señales sencillas; para el algoritmo. La lectura central es que `p_total(t)=p_1(t)+p_2(t)`; los dB se calculan después. Recurso principal: U04-CH-008." title="Esquema mixto sobre «Primero se suman presiones instantáneas»: suma temporal de dos señales sencillas; para el algoritmo. La lectura central es que `p_total(t)=p_1(t)+p_2(t)`; los dB se calculan después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82681A0B-45E1-4B18-9771-FAAC3C61D8A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70">
            <a:extLst>
              <a:ext uri="{FF2B5EF4-FFF2-40B4-BE49-F238E27FC236}">
                <a16:creationId xmlns:a16="http://schemas.microsoft.com/office/drawing/2014/main" id="{AAD8DA74-30E2-420B-9F18-CBD25ADCD26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70">
            <a:extLst>
              <a:ext uri="{FF2B5EF4-FFF2-40B4-BE49-F238E27FC236}">
                <a16:creationId xmlns:a16="http://schemas.microsoft.com/office/drawing/2014/main" id="{7C400540-107E-4960-AE15-B256C4411E5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Primero se suman presiones instantáneas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94EB7554-1F10-455D-A1EA-623073E9F8C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9CD9F4E5-9458-45B0-9FF4-C85D45A00F9C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pₜotal(t)=p₁(t)+p₂(t); los dB se calculan después.</a:t>
            </a:r>
          </a:p>
        </p:txBody>
      </p:sp>
      <p:sp>
        <p:nvSpPr>
          <p:cNvPr id="27" name="slide-number-70">
            <a:extLst>
              <a:ext uri="{FF2B5EF4-FFF2-40B4-BE49-F238E27FC236}">
                <a16:creationId xmlns:a16="http://schemas.microsoft.com/office/drawing/2014/main" id="{6AB0D0AF-E1A3-4F3E-ADCE-98DAFD2753B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71">
            <a:extLst>
              <a:ext uri="{FF2B5EF4-FFF2-40B4-BE49-F238E27FC236}">
                <a16:creationId xmlns:a16="http://schemas.microsoft.com/office/drawing/2014/main" id="{C87332A0-894D-4555-BEAE-2988A000D42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71">
            <a:extLst>
              <a:ext uri="{FF2B5EF4-FFF2-40B4-BE49-F238E27FC236}">
                <a16:creationId xmlns:a16="http://schemas.microsoft.com/office/drawing/2014/main" id="{69694514-DCCC-410F-BE63-3D8021E874E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Coherencia exige una relación de fase estable</a:t>
            </a:r>
          </a:p>
        </p:txBody>
      </p:sp>
      <p:sp>
        <p:nvSpPr>
          <p:cNvPr id="3" name="definition-surface">
            <a:extLst>
              <a:ext uri="{FF2B5EF4-FFF2-40B4-BE49-F238E27FC236}">
                <a16:creationId xmlns:a16="http://schemas.microsoft.com/office/drawing/2014/main" id="{52EAA851-6819-40DF-908E-4E7B58812697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591800" cy="1476375"/>
          </a:xfrm>
          <a:prstGeom prst="roundRect">
            <a:avLst>
              <a:gd name="adj" fmla="val 645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definition">
            <a:extLst>
              <a:ext uri="{FF2B5EF4-FFF2-40B4-BE49-F238E27FC236}">
                <a16:creationId xmlns:a16="http://schemas.microsoft.com/office/drawing/2014/main" id="{7565F67E-1DC8-485E-A1CA-77D3F5809EB1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9906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Dos componentes coherentes mantienen frecuencia común y diferencia de fase estable durante la observación.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900D265E-6DCF-4EAA-8473-82047B2E4C80}"/>
              </a:ext>
            </a:extLst>
          </p:cNvPr>
          <p:cNvSpPr>
            <a:spLocks noGrp="1"/>
          </p:cNvSpPr>
          <p:nvPr/>
        </p:nvSpPr>
        <p:spPr>
          <a:xfrm>
            <a:off x="952500" y="3571875"/>
            <a:ext cx="102870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Coherencia: relación temporal estable; para sinusoides de igual frecuencia, diferencia de fase constante durante la observación.</a:t>
            </a:r>
          </a:p>
        </p:txBody>
      </p:sp>
      <p:sp>
        <p:nvSpPr>
          <p:cNvPr id="6" name="slide-number-71">
            <a:extLst>
              <a:ext uri="{FF2B5EF4-FFF2-40B4-BE49-F238E27FC236}">
                <a16:creationId xmlns:a16="http://schemas.microsoft.com/office/drawing/2014/main" id="{11BDA3E3-FFAC-4708-B09C-F8EF6582D51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La fase cambia el resultado de fuentes coherentes»: paneles para `φ=0`, `π/2` y `π`; audio opcional controlado. La lectura central es que con igual amplitud, fase 0 refuerza, fase π cancela y valores intermedios producen resultados intermedios. Recurso principal: U04-CH-008." title="Gráfico sobre «La fase cambia el resultado de fuentes coherentes»: paneles para `φ=0`, `π/2` y `π`; audio opcional controlado. La lectura central es que con igual amplitud, fase 0 refuerza, fase π cancela y valores intermedios producen resultados intermedios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70CC996-1EB1-42FD-B631-7716848F2A1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2">
            <a:extLst>
              <a:ext uri="{FF2B5EF4-FFF2-40B4-BE49-F238E27FC236}">
                <a16:creationId xmlns:a16="http://schemas.microsoft.com/office/drawing/2014/main" id="{002DD191-7659-4CB3-AC08-B357F408EC7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2">
            <a:extLst>
              <a:ext uri="{FF2B5EF4-FFF2-40B4-BE49-F238E27FC236}">
                <a16:creationId xmlns:a16="http://schemas.microsoft.com/office/drawing/2014/main" id="{5D5184D8-9F53-4DC3-9587-781CA36C99C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fase cambia el resultado de fuentes coherentes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7366A91-A610-4DB1-B5B9-42097D0F7D0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7EFD55FE-A815-411A-9278-ACE2E739859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 igual amplitud, fase 0 refuerza, fase π cancela y valores intermedios producen resultados intermedios.</a:t>
            </a:r>
          </a:p>
        </p:txBody>
      </p:sp>
      <p:sp>
        <p:nvSpPr>
          <p:cNvPr id="7" name="slide-number-72">
            <a:extLst>
              <a:ext uri="{FF2B5EF4-FFF2-40B4-BE49-F238E27FC236}">
                <a16:creationId xmlns:a16="http://schemas.microsoft.com/office/drawing/2014/main" id="{D7D9D630-D864-4C4B-AE00-7EA9D43DE36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73">
            <a:extLst>
              <a:ext uri="{FF2B5EF4-FFF2-40B4-BE49-F238E27FC236}">
                <a16:creationId xmlns:a16="http://schemas.microsoft.com/office/drawing/2014/main" id="{18CF5986-C0B3-464E-813D-EC3F7E19EF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73">
            <a:extLst>
              <a:ext uri="{FF2B5EF4-FFF2-40B4-BE49-F238E27FC236}">
                <a16:creationId xmlns:a16="http://schemas.microsoft.com/office/drawing/2014/main" id="{CEB1E1BF-696B-4646-B517-4575C6447DB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suma coherente conserva el término de fase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F2595CB6-817E-4B24-ABFB-F695F1E3A4F3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B73565A2-476B-4C31-9E26-205E5E21E9F1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pR,ᵣₘₛ²=p₁,ᵣₘₛ²+p₂,ᵣₘₛ²+2p₁,ᵣₘₛp₂,ᵣₘₛcosφ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40255F4C-6845-459A-9FB8-998ED5A16CCD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término 2p₁p₂ cosφ explica refuerzo y cancelación.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pR,ᵣₘₛ²=p₁,ᵣₘₛ²+p₂,ᵣₘₛ²+2p₁,ᵣₘₛp₂,ᵣₘₛcosφ</a:t>
            </a:r>
          </a:p>
        </p:txBody>
      </p:sp>
      <p:sp>
        <p:nvSpPr>
          <p:cNvPr id="6" name="slide-number-73">
            <a:extLst>
              <a:ext uri="{FF2B5EF4-FFF2-40B4-BE49-F238E27FC236}">
                <a16:creationId xmlns:a16="http://schemas.microsoft.com/office/drawing/2014/main" id="{D2153A53-D9D5-4290-BA2B-01F370094FA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Dos presiones iguales en fase suman aproximadamente `+6,02 dB`»: Ecuaciones editables y mini gráfico de amplitud duplicada. La lectura central es que duplicar amplitud de presión implica `20 log10(2)`. Recurso principal: U04-CH-008." title="Esquema mixto sobre «Dos presiones iguales en fase suman aproximadamente `+6,02 dB`»: Ecuaciones editables y mini gráfico de amplitud duplicada. La lectura central es que duplicar amplitud de presión implica `20 log10(2)`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7E95835-BD59-4DC7-B672-2769FCDC31F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4">
            <a:extLst>
              <a:ext uri="{FF2B5EF4-FFF2-40B4-BE49-F238E27FC236}">
                <a16:creationId xmlns:a16="http://schemas.microsoft.com/office/drawing/2014/main" id="{27F4F5D0-38D5-4407-9D4D-0B9ECEB9276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4">
            <a:extLst>
              <a:ext uri="{FF2B5EF4-FFF2-40B4-BE49-F238E27FC236}">
                <a16:creationId xmlns:a16="http://schemas.microsoft.com/office/drawing/2014/main" id="{4D6DFBAE-33D3-495D-A414-E196990E9777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presiones iguales en fase suman aproximadamente +6,02 dB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9E875683-DDAF-49E9-8F71-C4DC2EA0CC8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123D790-89F9-4CE6-AC32-2DB72D170659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Duplicar amplitud de presión implica 20 log10(2).</a:t>
            </a:r>
          </a:p>
        </p:txBody>
      </p:sp>
      <p:sp>
        <p:nvSpPr>
          <p:cNvPr id="7" name="slide-number-74">
            <a:extLst>
              <a:ext uri="{FF2B5EF4-FFF2-40B4-BE49-F238E27FC236}">
                <a16:creationId xmlns:a16="http://schemas.microsoft.com/office/drawing/2014/main" id="{F3ABAF0C-1B50-4997-A74F-97B8D71C610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75">
            <a:extLst>
              <a:ext uri="{FF2B5EF4-FFF2-40B4-BE49-F238E27FC236}">
                <a16:creationId xmlns:a16="http://schemas.microsoft.com/office/drawing/2014/main" id="{C9A856BD-9E1B-44B8-9AF2-67E3D629621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75">
            <a:extLst>
              <a:ext uri="{FF2B5EF4-FFF2-40B4-BE49-F238E27FC236}">
                <a16:creationId xmlns:a16="http://schemas.microsoft.com/office/drawing/2014/main" id="{0142557B-F0A6-4930-9BD3-ADCA4AB2E86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¿Dos fuentes iguales siempre aumentan el nivel?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BE1CB319-D4AC-418D-82F1-4B284025138F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FDDB1F6D-14D6-4F0B-B2CE-DC5F4AAB0BE0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φ=π⇒ pR(t)=0 en el punto ideal si las amplitudes son iguales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4C49024B-115C-4A9C-BB13-E4FB3E6D94E5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coherentes iguales y en oposición pueden cancelar la presión en un punto ideal.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φ=π⇒ pR(t)=0 en el punto ideal si las amplitudes son iguales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tonos iguales en oposición de fase pueden cancelar la presión en un punto ideal; no es una regla global del recinto.</a:t>
            </a:r>
          </a:p>
        </p:txBody>
      </p:sp>
      <p:sp>
        <p:nvSpPr>
          <p:cNvPr id="6" name="slide-number-75">
            <a:extLst>
              <a:ext uri="{FF2B5EF4-FFF2-40B4-BE49-F238E27FC236}">
                <a16:creationId xmlns:a16="http://schemas.microsoft.com/office/drawing/2014/main" id="{E7979514-485B-419D-9865-0B02D31A73E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76">
            <a:extLst>
              <a:ext uri="{FF2B5EF4-FFF2-40B4-BE49-F238E27FC236}">
                <a16:creationId xmlns:a16="http://schemas.microsoft.com/office/drawing/2014/main" id="{6165436B-8DA4-42A2-BA11-1F18C92466B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76">
            <a:extLst>
              <a:ext uri="{FF2B5EF4-FFF2-40B4-BE49-F238E27FC236}">
                <a16:creationId xmlns:a16="http://schemas.microsoft.com/office/drawing/2014/main" id="{1D7DB4B6-1A36-4402-831A-E879A7C5F1E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señales no correlacionadas, el término cruzado promedia a cero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E2437C94-D833-4578-BA99-CCF61E37FBA4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2F289368-CA8F-4D4F-B77E-757BBECAEAA1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promedio[p₁(t)p₂(t)]=0 durante Tₒbₛ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EFF78074-F0CD-4E9A-B793-D345F6B362E3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Durante la ventana, no hay una relación de fase estable que produzca refuerzo sistemático.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correlacionadas: señales cuyo término cruzado medio es nulo durante la ventana considerada.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promedio temporal de p₁(t)p₂(t) es cero durante Tₒbₛ</a:t>
            </a:r>
          </a:p>
        </p:txBody>
      </p:sp>
      <p:sp>
        <p:nvSpPr>
          <p:cNvPr id="6" name="slide-number-76">
            <a:extLst>
              <a:ext uri="{FF2B5EF4-FFF2-40B4-BE49-F238E27FC236}">
                <a16:creationId xmlns:a16="http://schemas.microsoft.com/office/drawing/2014/main" id="{08F0E689-682F-41F7-BDF1-B595754CB6A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Para fuentes no correlacionadas se suman cuadrados RMS»: ecuación anotada más flujo dB→lineal→suma→dB. La lectura central es que `p_total,rms²=Σp_i,rms²`; luego se convierte a dB. Recurso principal: U04-DG-014." title="Ecuación anotada sobre «Para fuentes no correlacionadas se suman cuadrados RMS»: ecuación anotada más flujo dB→lineal→suma→dB. La lectura central es que `p_total,rms²=Σp_i,rms²`; luego se convierte a dB. Recurso principal: U04-DG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1EFB1C6-CBC0-474D-822B-E71A7EBED98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77">
            <a:extLst>
              <a:ext uri="{FF2B5EF4-FFF2-40B4-BE49-F238E27FC236}">
                <a16:creationId xmlns:a16="http://schemas.microsoft.com/office/drawing/2014/main" id="{51A87BEF-DD76-48C1-BB86-91FD6734C18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77">
            <a:extLst>
              <a:ext uri="{FF2B5EF4-FFF2-40B4-BE49-F238E27FC236}">
                <a16:creationId xmlns:a16="http://schemas.microsoft.com/office/drawing/2014/main" id="{7CA8B2CC-6138-4A70-99F3-2BE80CDD8F1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fuentes no correlacionadas se suman cuadrados RMS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422F0752-2AB9-445A-B3FD-9D4A26EDDF6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9D466BD-AB0E-4A3E-9578-376AE69E0747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pₜotal,rms²=Σpᵢ,rms²; luego se convierte a dB.</a:t>
            </a:r>
          </a:p>
        </p:txBody>
      </p:sp>
      <p:sp>
        <p:nvSpPr>
          <p:cNvPr id="7" name="slide-number-77">
            <a:extLst>
              <a:ext uri="{FF2B5EF4-FFF2-40B4-BE49-F238E27FC236}">
                <a16:creationId xmlns:a16="http://schemas.microsoft.com/office/drawing/2014/main" id="{D35D9315-5A35-4422-8493-04A54A9FA83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78">
            <a:extLst>
              <a:ext uri="{FF2B5EF4-FFF2-40B4-BE49-F238E27FC236}">
                <a16:creationId xmlns:a16="http://schemas.microsoft.com/office/drawing/2014/main" id="{8BCB3746-8508-467D-845A-8F210A8BCDC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78">
            <a:extLst>
              <a:ext uri="{FF2B5EF4-FFF2-40B4-BE49-F238E27FC236}">
                <a16:creationId xmlns:a16="http://schemas.microsoft.com/office/drawing/2014/main" id="{FF14703F-5D58-4EB6-ABED-A785409D556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suma de niveles vuelve primero a escala lineal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2B6672C6-24FA-424E-A8D1-FA5016FA6664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8DB27749-0707-44BE-B019-955194E9E30F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LR=10log₁₀ (Σᵢ10L_ⁱ/¹⁰)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35D3824A-C1FD-4BC1-AF77-9E024FC7CFFE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nivel se deslogaritma, se suma y recién entonces se aplica logaritmo.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LR=10log₁₀ (Σᵢ10L_ⁱ/¹⁰)</a:t>
            </a:r>
          </a:p>
        </p:txBody>
      </p:sp>
      <p:sp>
        <p:nvSpPr>
          <p:cNvPr id="6" name="slide-number-78">
            <a:extLst>
              <a:ext uri="{FF2B5EF4-FFF2-40B4-BE49-F238E27FC236}">
                <a16:creationId xmlns:a16="http://schemas.microsoft.com/office/drawing/2014/main" id="{72713170-F4ED-4532-8654-D01D233874B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-U04-079">
            <a:extLst>
              <a:ext uri="{FF2B5EF4-FFF2-40B4-BE49-F238E27FC236}">
                <a16:creationId xmlns:a16="http://schemas.microsoft.com/office/drawing/2014/main" id="{DEEB905F-401A-44FA-AF47-D32D1945579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79">
            <a:extLst>
              <a:ext uri="{FF2B5EF4-FFF2-40B4-BE49-F238E27FC236}">
                <a16:creationId xmlns:a16="http://schemas.microsoft.com/office/drawing/2014/main" id="{5F1129C3-1464-4C2C-98C8-3675DE72D40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fuentes no correlacionadas de 70 dB dan 73,01 dB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E2B3C238-A2E9-417D-95A0-DD94081BABF4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762500" cy="1524000"/>
          </a:xfrm>
          <a:prstGeom prst="roundRect">
            <a:avLst>
              <a:gd name="adj" fmla="val 6250"/>
            </a:avLst>
          </a:prstGeom>
          <a:solidFill>
            <a:srgbClr val="F7F6F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A841298F-913D-4B40-B76F-535C26BA55D8}"/>
              </a:ext>
            </a:extLst>
          </p:cNvPr>
          <p:cNvSpPr>
            <a:spLocks noGrp="1"/>
          </p:cNvSpPr>
          <p:nvPr/>
        </p:nvSpPr>
        <p:spPr>
          <a:xfrm>
            <a:off x="6800850" y="2124075"/>
            <a:ext cx="43053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LR=10log₁₀(2×10⁷⁰/¹⁰)=73,01 dB SPL</a:t>
            </a:r>
          </a:p>
        </p:txBody>
      </p:sp>
      <p:sp>
        <p:nvSpPr>
          <p:cNvPr id="5" name="example-surface">
            <a:extLst>
              <a:ext uri="{FF2B5EF4-FFF2-40B4-BE49-F238E27FC236}">
                <a16:creationId xmlns:a16="http://schemas.microsoft.com/office/drawing/2014/main" id="{A9302BE8-B9DF-4F5C-AF9A-A9A6E608346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334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6" name="bullets">
            <a:extLst>
              <a:ext uri="{FF2B5EF4-FFF2-40B4-BE49-F238E27FC236}">
                <a16:creationId xmlns:a16="http://schemas.microsoft.com/office/drawing/2014/main" id="{28BDB684-D74F-453F-823E-75AE4822D31C}"/>
              </a:ext>
            </a:extLst>
          </p:cNvPr>
          <p:cNvSpPr>
            <a:spLocks noGrp="1"/>
          </p:cNvSpPr>
          <p:nvPr/>
        </p:nvSpPr>
        <p:spPr>
          <a:xfrm>
            <a:off x="971550" y="2047875"/>
            <a:ext cx="4762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Duplicar una magnitud cuadrática suma aproximadamente 3,01 dB.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LR=10log₁₀(2×10⁷⁰/¹⁰)=73,01 dB SPL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8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señales no correlacionadas de 70 dB SPL producen 73,01 dB SPL con la misma referencia.</a:t>
            </a:r>
          </a:p>
        </p:txBody>
      </p:sp>
      <p:sp>
        <p:nvSpPr>
          <p:cNvPr id="7" name="slide-number-79">
            <a:extLst>
              <a:ext uri="{FF2B5EF4-FFF2-40B4-BE49-F238E27FC236}">
                <a16:creationId xmlns:a16="http://schemas.microsoft.com/office/drawing/2014/main" id="{1C059ACF-A4B8-4EC4-BB2B-2691BB93956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80">
            <a:extLst>
              <a:ext uri="{FF2B5EF4-FFF2-40B4-BE49-F238E27FC236}">
                <a16:creationId xmlns:a16="http://schemas.microsoft.com/office/drawing/2014/main" id="{7288C4B0-50CB-4129-A755-4238AAB943A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80">
            <a:extLst>
              <a:ext uri="{FF2B5EF4-FFF2-40B4-BE49-F238E27FC236}">
                <a16:creationId xmlns:a16="http://schemas.microsoft.com/office/drawing/2014/main" id="{39ECE9F0-65F2-4A24-80BF-15050C85CA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+6 dB y +3 dB responden a relaciones distintas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71BE2135-CFCD-41C1-B70C-DE31624617E6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8098C421-3673-4096-91D6-3D7B71C1C267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+6,02 dB: presiones iguales coherentes en fase</a:t>
            </a:r>
          </a:p>
          <a:p>
            <a:pPr algn="ctr">
              <a:lnSpc>
                <a:spcPct val="108000"/>
              </a:lnSpc>
              <a:buNone/>
              <a:def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+3,01 dB: señales iguales no correlacionadas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4E3784B3-75BC-45DE-A176-E12DA86238FC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Antes de sumar hay que decidir si la fase relativa es estable y qué magnitud se combina.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+6,02 dB: presiones iguales coherentes en fase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+3,01 dB: señales iguales no correlacionadas</a:t>
            </a:r>
          </a:p>
        </p:txBody>
      </p:sp>
      <p:sp>
        <p:nvSpPr>
          <p:cNvPr id="6" name="slide-number-80">
            <a:extLst>
              <a:ext uri="{FF2B5EF4-FFF2-40B4-BE49-F238E27FC236}">
                <a16:creationId xmlns:a16="http://schemas.microsoft.com/office/drawing/2014/main" id="{B5C5DC70-6E4D-4AB3-A19A-2E4B94646D6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4737026D-0166-4E4A-8A2B-1BE5B7F55B7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682522A8-A708-405E-A09A-79347DEF5E1C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geometría determina cómo se reparte la potencia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9D7F8C0E-BCAB-40C3-9229-DCA6911A3191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cambia la distribución de energía según el frente de onda y el entorno?</a:t>
            </a:r>
          </a:p>
        </p:txBody>
      </p:sp>
      <p:sp>
        <p:nvSpPr>
          <p:cNvPr id="4" name="slide-number-81">
            <a:extLst>
              <a:ext uri="{FF2B5EF4-FFF2-40B4-BE49-F238E27FC236}">
                <a16:creationId xmlns:a16="http://schemas.microsoft.com/office/drawing/2014/main" id="{E8B4719B-0037-4A56-A910-04D83245B8E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 frente de onda reúne puntos de igual fase»: superficies/curvas con normales y etiqueta de fase; sin partículas decorativas. La lectura central es que los dibujos de frente no muestran trayectorias de partículas. Recurso principal: U04-DG-015." title="Diagrama sobre «Un frente de onda reúne puntos de igual fase»: superficies/curvas con normales y etiqueta de fase; sin partículas decorativas. La lectura central es que los dibujos de frente no muestran trayectorias de partícula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5693FCFD-12B8-443D-8C66-784A950EFB8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2">
            <a:extLst>
              <a:ext uri="{FF2B5EF4-FFF2-40B4-BE49-F238E27FC236}">
                <a16:creationId xmlns:a16="http://schemas.microsoft.com/office/drawing/2014/main" id="{E3ED87C2-9665-4B76-8996-443166704C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2">
            <a:extLst>
              <a:ext uri="{FF2B5EF4-FFF2-40B4-BE49-F238E27FC236}">
                <a16:creationId xmlns:a16="http://schemas.microsoft.com/office/drawing/2014/main" id="{55EAD5D4-942D-4EDF-93AC-D9F1C20ED91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frente de onda reúne puntos de igual fase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3FC426E0-CAB6-40AF-B73A-68DAD1A3041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00EB6EA-9EC7-4846-97E6-28FD9233E1D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dibujos de frente no muestran trayectorias de partículas.</a:t>
            </a:r>
          </a:p>
        </p:txBody>
      </p:sp>
      <p:sp>
        <p:nvSpPr>
          <p:cNvPr id="7" name="slide-number-82">
            <a:extLst>
              <a:ext uri="{FF2B5EF4-FFF2-40B4-BE49-F238E27FC236}">
                <a16:creationId xmlns:a16="http://schemas.microsoft.com/office/drawing/2014/main" id="{F7A2E695-6D7C-4D2D-A6FD-624576C2051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onda plana es un modelo local útil»: frentes paralelos dentro de una zona de validez. La lectura central es que frentes paralelos y área aproximadamente constante simplifican las relaciones. Recurso principal: U04-DG-015." title="Diagrama sobre «La onda plana es un modelo local útil»: frentes paralelos dentro de una zona de validez. La lectura central es que frentes paralelos y área aproximadamente constante simplifican las relacione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84A695D-A0B4-4FE6-80E1-1598F0483E5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3">
            <a:extLst>
              <a:ext uri="{FF2B5EF4-FFF2-40B4-BE49-F238E27FC236}">
                <a16:creationId xmlns:a16="http://schemas.microsoft.com/office/drawing/2014/main" id="{D7CC8922-C1E9-4361-8318-C2342D40C0F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3">
            <a:extLst>
              <a:ext uri="{FF2B5EF4-FFF2-40B4-BE49-F238E27FC236}">
                <a16:creationId xmlns:a16="http://schemas.microsoft.com/office/drawing/2014/main" id="{8AA1CDC9-B364-427E-9152-C3D8BAE99A2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plana es un modelo local útil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B17E496-FC30-44A9-98E3-A334F783B4B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84335C90-9395-444E-B384-FDCC1C96EDC5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Frentes paralelos y área aproximadamente constante simplifican las relaciones.</a:t>
            </a:r>
          </a:p>
        </p:txBody>
      </p:sp>
      <p:sp>
        <p:nvSpPr>
          <p:cNvPr id="7" name="slide-number-83">
            <a:extLst>
              <a:ext uri="{FF2B5EF4-FFF2-40B4-BE49-F238E27FC236}">
                <a16:creationId xmlns:a16="http://schemas.microsoft.com/office/drawing/2014/main" id="{8167A019-255E-4EFA-ABBB-C68D6569493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áfico 31" descr="Esquema mixto sobre «La onda cilíndrica reparte potencia sobre un área proporcional a `r`»: cilindros concéntricos y superficie lateral; para `1/r`. La lectura central es que para una fuente lineal ideal larga, la intensidad decrece como `1/r`. Recurso principal: U04-CH-010." title="Esquema mixto sobre «La onda cilíndrica reparte potencia sobre un área proporcional a `r`»: cilindros concéntricos y superficie lateral; para `1/r`. La lectura central es que para una fuente lineal ideal larga, la intensidad decrece como `1/r`. Recurso principal: U04-CH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48B84284-2501-482A-BBBA-FEAE2C9FD6A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84">
            <a:extLst>
              <a:ext uri="{FF2B5EF4-FFF2-40B4-BE49-F238E27FC236}">
                <a16:creationId xmlns:a16="http://schemas.microsoft.com/office/drawing/2014/main" id="{84CA9353-C1BB-4A50-BE21-F43E17A6E12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4">
            <a:extLst>
              <a:ext uri="{FF2B5EF4-FFF2-40B4-BE49-F238E27FC236}">
                <a16:creationId xmlns:a16="http://schemas.microsoft.com/office/drawing/2014/main" id="{59CF5032-B1DE-4649-834F-62790647E67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cilíndrica reparte potencia sobre un área proporcional a r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1A9FFC73-41D5-4516-9AB1-2F44B292A82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9FC7001C-7AB6-4609-9812-E0BE279D1B71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una fuente lineal ideal larga, la intensidad decrece como 1/r. · modelos ideales · no son datos experimentales.</a:t>
            </a:r>
          </a:p>
        </p:txBody>
      </p:sp>
      <p:sp>
        <p:nvSpPr>
          <p:cNvPr id="27" name="slide-number-84">
            <a:extLst>
              <a:ext uri="{FF2B5EF4-FFF2-40B4-BE49-F238E27FC236}">
                <a16:creationId xmlns:a16="http://schemas.microsoft.com/office/drawing/2014/main" id="{4BF195A3-8B1A-4BB0-9F63-2880D9C11DF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-U04-085">
            <a:extLst>
              <a:ext uri="{FF2B5EF4-FFF2-40B4-BE49-F238E27FC236}">
                <a16:creationId xmlns:a16="http://schemas.microsoft.com/office/drawing/2014/main" id="{D4E4C5B0-0DF3-419C-80A9-600A966F9E6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2" name="title-U04-085">
            <a:extLst>
              <a:ext uri="{FF2B5EF4-FFF2-40B4-BE49-F238E27FC236}">
                <a16:creationId xmlns:a16="http://schemas.microsoft.com/office/drawing/2014/main" id="{D07937E7-CA43-4520-9245-BF83C693162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esférica reparte potencia sobre 4πr²</a:t>
            </a:r>
          </a:p>
        </p:txBody>
      </p:sp>
      <p:sp>
        <p:nvSpPr>
          <p:cNvPr id="23" name="equation-surface">
            <a:extLst>
              <a:ext uri="{FF2B5EF4-FFF2-40B4-BE49-F238E27FC236}">
                <a16:creationId xmlns:a16="http://schemas.microsoft.com/office/drawing/2014/main" id="{9332F2A8-42D7-4A86-80CB-A7F9103DC620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24" name="equation">
            <a:extLst>
              <a:ext uri="{FF2B5EF4-FFF2-40B4-BE49-F238E27FC236}">
                <a16:creationId xmlns:a16="http://schemas.microsoft.com/office/drawing/2014/main" id="{4189AC06-C91A-47CD-986F-CD05560006A1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Sₑₛf=4π r²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I(r)=I(r₀)(r₀/r)²</a:t>
            </a:r>
          </a:p>
        </p:txBody>
      </p:sp>
      <p:sp>
        <p:nvSpPr>
          <p:cNvPr id="25" name="bullets">
            <a:extLst>
              <a:ext uri="{FF2B5EF4-FFF2-40B4-BE49-F238E27FC236}">
                <a16:creationId xmlns:a16="http://schemas.microsoft.com/office/drawing/2014/main" id="{367D8EAC-B506-4CB8-8679-A73F321C2B51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duplicar r, el área se cuadruplica y la intensidad se reduce a un cuarto.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Sₑₛf=4π r²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intensidad es inversamente proporcional a r²</a:t>
            </a:r>
          </a:p>
        </p:txBody>
      </p:sp>
      <p:sp>
        <p:nvSpPr>
          <p:cNvPr id="26" name="slide-number-85">
            <a:extLst>
              <a:ext uri="{FF2B5EF4-FFF2-40B4-BE49-F238E27FC236}">
                <a16:creationId xmlns:a16="http://schemas.microsoft.com/office/drawing/2014/main" id="{090C6ACC-57A3-4643-9274-0C6DAC30C9F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áfico 31" descr="Gráfico sobre «Plano, cilindro y esfera producen caídas distintas»: `I/I_0` frente a `r/r_0`, con escalas y supuestos explícitos. La lectura central es que sin pérdidas, la intensidad ideal escala como `r⁰`, `r⁻¹` o `r⁻²`. Recurso principal: U04-CH-010." title="Gráfico sobre «Plano, cilindro y esfera producen caídas distintas»: `I/I_0` frente a `r/r_0`, con escalas y supuestos explícitos. La lectura central es que sin pérdidas, la intensidad ideal escala como `r⁰`, `r⁻¹` o `r⁻²`. Recurso principal: U04-CH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E9F10987-C7C0-4FA0-AE3C-DB25AC14183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86">
            <a:extLst>
              <a:ext uri="{FF2B5EF4-FFF2-40B4-BE49-F238E27FC236}">
                <a16:creationId xmlns:a16="http://schemas.microsoft.com/office/drawing/2014/main" id="{F7DBBD2F-BE1A-4B4D-BC77-25BBD3D1751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86">
            <a:extLst>
              <a:ext uri="{FF2B5EF4-FFF2-40B4-BE49-F238E27FC236}">
                <a16:creationId xmlns:a16="http://schemas.microsoft.com/office/drawing/2014/main" id="{D936D73E-7BF2-4FB0-B6E5-05596FF3196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Plano, cilindro y esfera producen caídas distintas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3FC0B224-534D-46A5-A58F-EEA29A33410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A1D4F39B-39AE-4DCD-9807-F6F4FAAF10F5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pérdidas, la intensidad ideal escala como r⁰, r⁻¹ o r⁻². · modelos ideales · no son datos experimentales.</a:t>
            </a:r>
          </a:p>
        </p:txBody>
      </p:sp>
      <p:sp>
        <p:nvSpPr>
          <p:cNvPr id="27" name="slide-number-86">
            <a:extLst>
              <a:ext uri="{FF2B5EF4-FFF2-40B4-BE49-F238E27FC236}">
                <a16:creationId xmlns:a16="http://schemas.microsoft.com/office/drawing/2014/main" id="{1BA3DA28-925D-4AFB-B8CB-35D0AB9F54D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 tubo de sección circular no implica una onda cilíndrica»: tubo con frentes aproximadamente planos vs fuente lineal con frentes cilíndricos. La lectura central es que la geometría se clasifica por los frentes y la expansión del campo, no por la forma externa del conducto. Recurso principal: U04-DG-015." title="Diagrama sobre «Un tubo de sección circular no implica una onda cilíndrica»: tubo con frentes aproximadamente planos vs fuente lineal con frentes cilíndricos. La lectura central es que la geometría se clasifica por los frentes y la expansión del campo, no por la forma externa del conducto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E306001-530B-4FB5-80A3-C317CDAD8DF7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7">
            <a:extLst>
              <a:ext uri="{FF2B5EF4-FFF2-40B4-BE49-F238E27FC236}">
                <a16:creationId xmlns:a16="http://schemas.microsoft.com/office/drawing/2014/main" id="{72580830-C18C-417D-AA71-4C3729472D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7">
            <a:extLst>
              <a:ext uri="{FF2B5EF4-FFF2-40B4-BE49-F238E27FC236}">
                <a16:creationId xmlns:a16="http://schemas.microsoft.com/office/drawing/2014/main" id="{44821063-29A0-4DD0-BE07-14A74340BD7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tubo de sección circular no implica una onda cilíndrica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DA7DFB37-9EC8-477E-8F67-1F541ABCE78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FC522AF5-BF4B-4F0D-9A7B-BFE0D7828FA2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geometría se clasifica por los frentes y la expansión del campo, no por la forma externa del conducto.</a:t>
            </a:r>
          </a:p>
        </p:txBody>
      </p:sp>
      <p:sp>
        <p:nvSpPr>
          <p:cNvPr id="7" name="slide-number-87">
            <a:extLst>
              <a:ext uri="{FF2B5EF4-FFF2-40B4-BE49-F238E27FC236}">
                <a16:creationId xmlns:a16="http://schemas.microsoft.com/office/drawing/2014/main" id="{BE78BE20-C81B-436A-BDD3-769DEA1B97C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U04-088">
            <a:extLst>
              <a:ext uri="{FF2B5EF4-FFF2-40B4-BE49-F238E27FC236}">
                <a16:creationId xmlns:a16="http://schemas.microsoft.com/office/drawing/2014/main" id="{FC8748BA-799B-47C2-8D20-5CB997971CC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88">
            <a:extLst>
              <a:ext uri="{FF2B5EF4-FFF2-40B4-BE49-F238E27FC236}">
                <a16:creationId xmlns:a16="http://schemas.microsoft.com/office/drawing/2014/main" id="{C91B52CA-6229-49E8-9017-CE06701E050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libre, reverberante y difuso no describen lo mismo</a:t>
            </a:r>
          </a:p>
        </p:txBody>
      </p:sp>
      <p:sp>
        <p:nvSpPr>
          <p:cNvPr id="3" name="image-surface">
            <a:extLst>
              <a:ext uri="{FF2B5EF4-FFF2-40B4-BE49-F238E27FC236}">
                <a16:creationId xmlns:a16="http://schemas.microsoft.com/office/drawing/2014/main" id="{BA098EE2-8E1D-4585-8E57-C9C87E875E1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12" name="Imagen 11" descr="Diagrama sobre «Campo libre, reverberante y difuso no describen lo mismo»: tres recintos simplificados con trayectorias y densidad controlada. La lectura central es que libre enfatiza ausencia de reflexiones relevantes; reverberante, persistencia de reflexiones; difuso, idealización estadística espacial/direccional. Recurso principal: U04-DG-015." title="Diagrama sobre «Campo libre, reverberante y difuso no describen lo mismo»: tres recintos simplificados con trayectorias y densidad controlada. La lectura central es que libre enfatiza ausencia de reflexiones relevantes; reverberante, persistencia de reflexiones; difuso, idealización estadística espacial/direccional. Recurso principal: U04-DG-015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850677"/>
            <a:ext cx="4686300" cy="3632895"/>
          </a:xfrm>
          <a:prstGeom prst="rect">
            <a:avLst/>
          </a:prstGeom>
        </p:spPr>
      </p:pic>
      <p:sp>
        <p:nvSpPr>
          <p:cNvPr id="5" name="bullets">
            <a:extLst>
              <a:ext uri="{FF2B5EF4-FFF2-40B4-BE49-F238E27FC236}">
                <a16:creationId xmlns:a16="http://schemas.microsoft.com/office/drawing/2014/main" id="{E9C00656-2005-4089-BF2E-0682A9ABB832}"/>
              </a:ext>
            </a:extLst>
          </p:cNvPr>
          <p:cNvSpPr>
            <a:spLocks noGrp="1"/>
          </p:cNvSpPr>
          <p:nvPr/>
        </p:nvSpPr>
        <p:spPr>
          <a:xfrm>
            <a:off x="6000750" y="1762125"/>
            <a:ext cx="5429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Libre enfatiza ausencia de reflexiones relevantes; reverberante, persistencia de reflexiones; difuso, idealización estadística espacial/direccional.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 libre: reflexiones despreciables. Campo reverberante: contribución persistente de reflexiones. Campo difuso: idealización estadística de energía y direcciones.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D385603-94CB-41A3-A2D0-B385DB1B518A}"/>
              </a:ext>
            </a:extLst>
          </p:cNvPr>
          <p:cNvSpPr>
            <a:spLocks noGrp="1"/>
          </p:cNvSpPr>
          <p:nvPr/>
        </p:nvSpPr>
        <p:spPr>
          <a:xfrm>
            <a:off x="6000750" y="50006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Geometrías y campos.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>
              <a:ext uri="{FF2B5EF4-FFF2-40B4-BE49-F238E27FC236}">
                <a16:creationId xmlns:a16="http://schemas.microsoft.com/office/drawing/2014/main" id="{421C6178-05BC-43E7-A03A-76B6A90EF923}"/>
              </a:ext>
            </a:extLst>
          </p:cNvPr>
          <p:cNvSpPr>
            <a:spLocks noGrp="1"/>
          </p:cNvSpPr>
          <p:nvPr/>
        </p:nvSpPr>
        <p:spPr>
          <a:xfrm>
            <a:off x="6000750" y="5572125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r:id="rId4"/>
              </a:rPr>
              <a:t>Crédito: NIST.</a:t>
            </a:r>
          </a:p>
        </p:txBody>
      </p:sp>
      <p:sp>
        <p:nvSpPr>
          <p:cNvPr id="8" name="slide-number-88">
            <a:extLst>
              <a:ext uri="{FF2B5EF4-FFF2-40B4-BE49-F238E27FC236}">
                <a16:creationId xmlns:a16="http://schemas.microsoft.com/office/drawing/2014/main" id="{5BB11372-738D-4F1F-AD33-0E28C4832478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Antes de aplicar una ley, identifica geometría y campo»: árbol de decisión con tres salidas geométricas y alerta de recinto. La lectura central es que la ley de distancia depende de cómo crece el área y de si las reflexiones son despreciables. Recurso principal: U04-DG-015." title="Diagrama sobre «Antes de aplicar una ley, identifica geometría y campo»: árbol de decisión con tres salidas geométricas y alerta de recinto. La lectura central es que la ley de distancia depende de cómo crece el área y de si las reflexiones son despreciable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C22689B0-02A9-41CE-853C-7D86307EFA7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89">
            <a:extLst>
              <a:ext uri="{FF2B5EF4-FFF2-40B4-BE49-F238E27FC236}">
                <a16:creationId xmlns:a16="http://schemas.microsoft.com/office/drawing/2014/main" id="{AAAE22ED-0C3C-4A38-83EA-419497D6BB7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89">
            <a:extLst>
              <a:ext uri="{FF2B5EF4-FFF2-40B4-BE49-F238E27FC236}">
                <a16:creationId xmlns:a16="http://schemas.microsoft.com/office/drawing/2014/main" id="{65BCAE02-34F1-42F1-92C5-BB30EC8B7E1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aplicar una ley, identifica geometría y campo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C16C739-B52A-4AB0-873A-CAC2B5F23C9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74CF0ED-FCB1-43D5-B845-332E4D13EC71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ley de distancia depende de cómo crece el área y de si las reflexiones son despreciables.</a:t>
            </a:r>
          </a:p>
        </p:txBody>
      </p:sp>
      <p:sp>
        <p:nvSpPr>
          <p:cNvPr id="7" name="slide-number-89">
            <a:extLst>
              <a:ext uri="{FF2B5EF4-FFF2-40B4-BE49-F238E27FC236}">
                <a16:creationId xmlns:a16="http://schemas.microsoft.com/office/drawing/2014/main" id="{16148CEF-F14E-4C7F-B15F-AE136CAD62B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5620B8A2-F488-4AF5-BDAC-F60D02EAF8D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0D133FF5-82FA-4E6A-830F-48F273FD3541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3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3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¿Cuánto cambia el nivel al alejarnos y al cambiar de dirección?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E27E61DF-F109-452D-98B8-1B365C1D9DCE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cambian nivel y radiación con distancia y dirección?</a:t>
            </a:r>
          </a:p>
        </p:txBody>
      </p:sp>
      <p:sp>
        <p:nvSpPr>
          <p:cNvPr id="4" name="slide-number-90">
            <a:extLst>
              <a:ext uri="{FF2B5EF4-FFF2-40B4-BE49-F238E27FC236}">
                <a16:creationId xmlns:a16="http://schemas.microsoft.com/office/drawing/2014/main" id="{75858669-6C5A-45D6-B43D-FCB3061730C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misma potencia atraviesa esferas cada vez mayores»: dos esferas o cortes 2D con flechas de flujo y etiquetas fuera del dibujo. La lectura central es que en campo libre ideal, aumentar `r` aumenta el área disponible. Recurso principal: U04-DG-016." title="Diagrama sobre «La misma potencia atraviesa esferas cada vez mayores»: dos esferas o cortes 2D con flechas de flujo y etiquetas fuera del dibujo. La lectura central es que en campo libre ideal, aumentar `r` aumenta el área disponible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1B619708-DA4D-42CE-90F3-D776C3FD9A3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1">
            <a:extLst>
              <a:ext uri="{FF2B5EF4-FFF2-40B4-BE49-F238E27FC236}">
                <a16:creationId xmlns:a16="http://schemas.microsoft.com/office/drawing/2014/main" id="{3142840D-804C-4BD0-8DD6-EF45FC52256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1">
            <a:extLst>
              <a:ext uri="{FF2B5EF4-FFF2-40B4-BE49-F238E27FC236}">
                <a16:creationId xmlns:a16="http://schemas.microsoft.com/office/drawing/2014/main" id="{CA5E5F6E-A106-4E1E-8FA6-AF355780B319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potencia atraviesa esferas cada vez mayores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082104AF-1E9E-472E-98D2-18C5180D2B6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EE421CD9-96B2-4789-8237-0D167694304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campo libre ideal, aumentar r aumenta el área disponible.</a:t>
            </a:r>
          </a:p>
        </p:txBody>
      </p:sp>
      <p:sp>
        <p:nvSpPr>
          <p:cNvPr id="7" name="slide-number-91">
            <a:extLst>
              <a:ext uri="{FF2B5EF4-FFF2-40B4-BE49-F238E27FC236}">
                <a16:creationId xmlns:a16="http://schemas.microsoft.com/office/drawing/2014/main" id="{77877A84-3BA4-4EFD-9D1D-CCE7E3EB6FF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92">
            <a:extLst>
              <a:ext uri="{FF2B5EF4-FFF2-40B4-BE49-F238E27FC236}">
                <a16:creationId xmlns:a16="http://schemas.microsoft.com/office/drawing/2014/main" id="{E9468E66-CDDF-4BDC-A399-8D27C828CBC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92">
            <a:extLst>
              <a:ext uri="{FF2B5EF4-FFF2-40B4-BE49-F238E27FC236}">
                <a16:creationId xmlns:a16="http://schemas.microsoft.com/office/drawing/2014/main" id="{55A877AF-0A9D-463F-AAD4-29F7F375C6F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propagación esférica ideal, I=Wₐc/(4πr²)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0D98D55C-3B07-4D73-8536-1FDCC401586C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4E939A06-F60B-4A10-9D9F-5E120C2EE7A6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I(r)=dfracWₐc4π r²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55E73B19-7801-4F59-B2B0-E41F37D66E03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ley inversa del cuadrado surge del crecimiento del área esférica.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I(r)=dfracWₐc4π r²</a:t>
            </a:r>
          </a:p>
        </p:txBody>
      </p:sp>
      <p:sp>
        <p:nvSpPr>
          <p:cNvPr id="6" name="slide-number-92">
            <a:extLst>
              <a:ext uri="{FF2B5EF4-FFF2-40B4-BE49-F238E27FC236}">
                <a16:creationId xmlns:a16="http://schemas.microsoft.com/office/drawing/2014/main" id="{B254E7E4-46CE-45C5-BF2D-1498EACD3F8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93">
            <a:extLst>
              <a:ext uri="{FF2B5EF4-FFF2-40B4-BE49-F238E27FC236}">
                <a16:creationId xmlns:a16="http://schemas.microsoft.com/office/drawing/2014/main" id="{25B6F7A8-E374-4020-BF63-51F20AE135E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93">
            <a:extLst>
              <a:ext uri="{FF2B5EF4-FFF2-40B4-BE49-F238E27FC236}">
                <a16:creationId xmlns:a16="http://schemas.microsoft.com/office/drawing/2014/main" id="{14FB8C5E-A922-413B-AE4A-CA6F2993784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razón elimina la potencia desconocida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D840C452-BE68-4993-80C4-C523069B43A6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242A2A8A-03EF-49C2-8B22-450E43735A0A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(I₂)/(I₁)=((r₁)/(r₂))²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17C9FF05-FE96-4180-84D7-570328B8D871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posiciones permite trabajar con cambios relativos.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(I₂)/(I₁)=((r₁)/(r₂))²</a:t>
            </a:r>
          </a:p>
        </p:txBody>
      </p:sp>
      <p:sp>
        <p:nvSpPr>
          <p:cNvPr id="6" name="slide-number-93">
            <a:extLst>
              <a:ext uri="{FF2B5EF4-FFF2-40B4-BE49-F238E27FC236}">
                <a16:creationId xmlns:a16="http://schemas.microsoft.com/office/drawing/2014/main" id="{70578B5A-B8F9-4816-B620-86E7FC20FB2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094">
            <a:extLst>
              <a:ext uri="{FF2B5EF4-FFF2-40B4-BE49-F238E27FC236}">
                <a16:creationId xmlns:a16="http://schemas.microsoft.com/office/drawing/2014/main" id="{E9096466-E702-446B-B9DC-206184E66A0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094">
            <a:extLst>
              <a:ext uri="{FF2B5EF4-FFF2-40B4-BE49-F238E27FC236}">
                <a16:creationId xmlns:a16="http://schemas.microsoft.com/office/drawing/2014/main" id="{C57A1BBE-8372-4ACE-A250-EBBAD36C794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diferencia de nivel depende del cociente de distancias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CDCF0F28-D190-4BA5-845A-42981DDE0DE2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134AB79C-03CD-4E95-BE95-BF55F9A5BFEF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L₂-L₁=20log₁₀ ((r₁)/(r₂))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54ED7D2A-46EB-45E7-8E5B-9F3729279FFF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Alejarse reduce nivel cuando r₂&gt;r₁, bajo las hipótesis del modelo.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L₂-L₁=20log₁₀ ((r₁)/(r₂))</a:t>
            </a:r>
          </a:p>
        </p:txBody>
      </p:sp>
      <p:sp>
        <p:nvSpPr>
          <p:cNvPr id="6" name="slide-number-94">
            <a:extLst>
              <a:ext uri="{FF2B5EF4-FFF2-40B4-BE49-F238E27FC236}">
                <a16:creationId xmlns:a16="http://schemas.microsoft.com/office/drawing/2014/main" id="{00B8DDEB-4E69-48DB-B990-7A557CB7FD6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áfico 31" descr="Gráfico sobre «Duplicar distancia reduce aproximadamente `6,02 dB`»: `ΔL_p` versus `r/r_0` con puntos anotados. La lectura central es que la regla `−6 dB` es esférica, de campo libre y en la región válida. Recurso principal: U04-CH-011." title="Gráfico sobre «Duplicar distancia reduce aproximadamente `6,02 dB`»: `ΔL_p` versus `r/r_0` con puntos anotados. La lectura central es que la regla `−6 dB` es esférica, de campo libre y en la región válida. Recurso principal: U04-CH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8F46C66C-7D89-48F1-B233-A2876775F5D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95">
            <a:extLst>
              <a:ext uri="{FF2B5EF4-FFF2-40B4-BE49-F238E27FC236}">
                <a16:creationId xmlns:a16="http://schemas.microsoft.com/office/drawing/2014/main" id="{FEF0188D-3662-4B0C-AFF5-27C090AEF7C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95">
            <a:extLst>
              <a:ext uri="{FF2B5EF4-FFF2-40B4-BE49-F238E27FC236}">
                <a16:creationId xmlns:a16="http://schemas.microsoft.com/office/drawing/2014/main" id="{7E326335-1E0A-427D-A8A5-EFC2F16B818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Duplicar distancia reduce aproximadamente 6,02 dB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D9D08A06-6A68-4CAD-B2BA-A686E190DCA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212ED344-A9FD-44DD-958E-1C0291B4199C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regla −6 dB es esférica, de campo libre y en la región válida. · fuente puntual · campo libre y lejano · misma dirección.</a:t>
            </a:r>
          </a:p>
        </p:txBody>
      </p:sp>
      <p:sp>
        <p:nvSpPr>
          <p:cNvPr id="27" name="slide-number-95">
            <a:extLst>
              <a:ext uri="{FF2B5EF4-FFF2-40B4-BE49-F238E27FC236}">
                <a16:creationId xmlns:a16="http://schemas.microsoft.com/office/drawing/2014/main" id="{BC6EB450-3DBC-41D9-BB8D-BF3367EE0A4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La regla de `−6 dB` no vale en cualquier recinto»: semáforo de validez con campo libre/recinto/campo cercano. La lectura central es que reflexiones, campo cercano, directividad, absorción y geometría pueden alterar la caída. Recurso principal: U04-DG-016." title="Diagrama sobre «La regla de `−6 dB` no vale en cualquier recinto»: semáforo de validez con campo libre/recinto/campo cercano. La lectura central es que reflexiones, campo cercano, directividad, absorción y geometría pueden alterar la caída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89604B3C-6678-4226-9804-8F96897744F0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6">
            <a:extLst>
              <a:ext uri="{FF2B5EF4-FFF2-40B4-BE49-F238E27FC236}">
                <a16:creationId xmlns:a16="http://schemas.microsoft.com/office/drawing/2014/main" id="{41C24DEE-6734-4773-BAD5-B3313A995AA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6">
            <a:extLst>
              <a:ext uri="{FF2B5EF4-FFF2-40B4-BE49-F238E27FC236}">
                <a16:creationId xmlns:a16="http://schemas.microsoft.com/office/drawing/2014/main" id="{D9140B9C-3650-4D8F-AC20-84D04D0A045E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regla de −6 dB no vale en cualquier recinto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021C41A-1E53-43E4-B614-725A974245C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C9DEB120-9495-4D5D-8273-772F70EDD8C8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Reflexiones, campo cercano, directividad, absorción y geometría pueden alterar la caída.</a:t>
            </a:r>
          </a:p>
        </p:txBody>
      </p:sp>
      <p:sp>
        <p:nvSpPr>
          <p:cNvPr id="7" name="slide-number-96">
            <a:extLst>
              <a:ext uri="{FF2B5EF4-FFF2-40B4-BE49-F238E27FC236}">
                <a16:creationId xmlns:a16="http://schemas.microsoft.com/office/drawing/2014/main" id="{1E78DBC4-51DF-4C44-B353-8087DC26A8ED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De `80 dB` a 1 m a `≈68 dB` a 4 m»: Ecuaciones editables más línea de distancias. La lectura central es que cuadruplicar distancia equivale a dos duplicaciones y cerca de `−12,04 dB`. Recurso principal: U04-CH-011." title="Esquema mixto sobre «De `80 dB` a 1 m a `≈68 dB` a 4 m»: Ecuaciones editables más línea de distancias. La lectura central es que cuadruplicar distancia equivale a dos duplicaciones y cerca de `−12,04 dB`. Recurso principal: U04-CH-011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5FCA534-C1D1-4F5B-B0E2-518D8F3E80B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7">
            <a:extLst>
              <a:ext uri="{FF2B5EF4-FFF2-40B4-BE49-F238E27FC236}">
                <a16:creationId xmlns:a16="http://schemas.microsoft.com/office/drawing/2014/main" id="{81E82E5A-9D58-47A1-B9D4-36C7C3C2FA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7">
            <a:extLst>
              <a:ext uri="{FF2B5EF4-FFF2-40B4-BE49-F238E27FC236}">
                <a16:creationId xmlns:a16="http://schemas.microsoft.com/office/drawing/2014/main" id="{065A6E97-5A7F-4A9D-9840-4F11D1D2119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80 dB a 1 m a ≈68 dB a 4 m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72363799-D8FC-423B-90FF-190A6CFDE3F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8CD94F0-A1F2-4A1C-9FB0-358694DDB92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Cuadruplicar distancia equivale a dos duplicaciones y cerca de −12,04 dB. · fuente puntual · campo libre y lejano · misma dirección.</a:t>
            </a:r>
          </a:p>
        </p:txBody>
      </p:sp>
      <p:sp>
        <p:nvSpPr>
          <p:cNvPr id="7" name="slide-number-97">
            <a:extLst>
              <a:ext uri="{FF2B5EF4-FFF2-40B4-BE49-F238E27FC236}">
                <a16:creationId xmlns:a16="http://schemas.microsoft.com/office/drawing/2014/main" id="{E23A44C1-566E-4275-B8E4-5469DB642206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Una fuente omnidireccional ideal reparte por igual en todas las direcciones»: patrón polar ideal con fuente central y ejes. La lectura central es que la omnidireccionalidad es un modelo de comparación, no una propiedad absoluta de toda fuente. Recurso principal: U04-DG-017." title="Diagrama sobre «Una fuente omnidireccional ideal reparte por igual en todas las direcciones»: patrón polar ideal con fuente central y ejes. La lectura central es que la omnidireccionalidad es un modelo de comparación, no una propiedad absoluta de toda fuente. Recurso principal: U04-DG-01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B564DF9-1106-4A4F-9449-6224FA67081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098">
            <a:extLst>
              <a:ext uri="{FF2B5EF4-FFF2-40B4-BE49-F238E27FC236}">
                <a16:creationId xmlns:a16="http://schemas.microsoft.com/office/drawing/2014/main" id="{D5DFBD18-8CC7-47CE-91E6-1A5FCDB659E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098">
            <a:extLst>
              <a:ext uri="{FF2B5EF4-FFF2-40B4-BE49-F238E27FC236}">
                <a16:creationId xmlns:a16="http://schemas.microsoft.com/office/drawing/2014/main" id="{6061FE90-B2A6-4586-A58A-0A00421B8A9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omnidireccional ideal reparte por igual en todas las direcciones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6A34EE78-F227-408B-9FFD-E75042DD0CC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D9CF40BE-2B46-4ED8-B2D3-EF17AC7017D7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omnidireccionalidad es un modelo de comparación, no una propiedad absoluta de toda fuente.</a:t>
            </a:r>
          </a:p>
        </p:txBody>
      </p:sp>
      <p:sp>
        <p:nvSpPr>
          <p:cNvPr id="7" name="slide-number-98">
            <a:extLst>
              <a:ext uri="{FF2B5EF4-FFF2-40B4-BE49-F238E27FC236}">
                <a16:creationId xmlns:a16="http://schemas.microsoft.com/office/drawing/2014/main" id="{FA35353A-8315-42C4-9DFE-90277BB9BFD4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áfico 31" descr="Diagrama sobre «Una fuente real puede concentrar energía en ciertas direcciones»: patrones polares editables simples; gráfico cuantitativo real reservado a U04-102. La lectura central es que el nivel depende del ángulo, la frecuencia, el montaje y el entorno. Recurso principal: U04-DG-017." title="Diagrama sobre «Una fuente real puede concentrar energía en ciertas direcciones»: patrones polares editables simples; gráfico cuantitativo real reservado a U04-102. La lectura central es que el nivel depende del ángulo, la frecuencia, el montaje y el entorno. Recurso principal: U04-DG-017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2" name="visual-title-backing">
            <a:extLst>
              <a:ext uri="{FF2B5EF4-FFF2-40B4-BE49-F238E27FC236}">
                <a16:creationId xmlns:a16="http://schemas.microsoft.com/office/drawing/2014/main" id="{9D6C3223-124E-4587-81C4-039B0C1E563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eyebrow-U04-099">
            <a:extLst>
              <a:ext uri="{FF2B5EF4-FFF2-40B4-BE49-F238E27FC236}">
                <a16:creationId xmlns:a16="http://schemas.microsoft.com/office/drawing/2014/main" id="{0FDB46FE-5A19-4EBF-9CF7-55EF4BD9F50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4" name="title-U04-099">
            <a:extLst>
              <a:ext uri="{FF2B5EF4-FFF2-40B4-BE49-F238E27FC236}">
                <a16:creationId xmlns:a16="http://schemas.microsoft.com/office/drawing/2014/main" id="{3F1FC7EE-0843-4C35-AE4B-03F12291AD9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real puede concentrar energía en ciertas direcciones</a:t>
            </a:r>
          </a:p>
        </p:txBody>
      </p:sp>
      <p:sp>
        <p:nvSpPr>
          <p:cNvPr id="25" name="caption-backing">
            <a:extLst>
              <a:ext uri="{FF2B5EF4-FFF2-40B4-BE49-F238E27FC236}">
                <a16:creationId xmlns:a16="http://schemas.microsoft.com/office/drawing/2014/main" id="{8486B035-A6AB-4090-8627-A3F7D5A9822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CFA1EC29-CC55-4C0D-B0C3-6314ED1E31ED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nivel depende del ángulo, la frecuencia, el montaje y el entorno.</a:t>
            </a:r>
          </a:p>
        </p:txBody>
      </p:sp>
      <p:sp>
        <p:nvSpPr>
          <p:cNvPr id="27" name="slide-number-99">
            <a:extLst>
              <a:ext uri="{FF2B5EF4-FFF2-40B4-BE49-F238E27FC236}">
                <a16:creationId xmlns:a16="http://schemas.microsoft.com/office/drawing/2014/main" id="{FE33F113-E5EB-4575-BF37-1ACA896718B5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00">
            <a:extLst>
              <a:ext uri="{FF2B5EF4-FFF2-40B4-BE49-F238E27FC236}">
                <a16:creationId xmlns:a16="http://schemas.microsoft.com/office/drawing/2014/main" id="{A2D1D2CA-FB5A-4C38-901B-0002E2E396E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0">
            <a:extLst>
              <a:ext uri="{FF2B5EF4-FFF2-40B4-BE49-F238E27FC236}">
                <a16:creationId xmlns:a16="http://schemas.microsoft.com/office/drawing/2014/main" id="{D975A390-B26F-464E-AA47-69BFD6BC256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factor Qdir compara concentración con una fuente omnidireccional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520DA049-C48C-4021-A663-D6AEA8C70DE4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A2567FC2-BCA1-42F3-AEB3-4CD57AE18961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Qdᵢᵣ=Idᵢᵣ/Iₒₘₙᵢ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Iₒₘₙᵢ=Wₐc/(4π r²)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C4B874F9-FC44-4DB8-B99B-603BB10E826B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Qdir expresa cuántas veces aumenta la intensidad en una dirección respecto del reparto omnidireccional equivalente.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Factor de directividad Qdᵢᵣ: razón adimensional entre la intensidad en una dirección y la de una fuente omnidireccional de igual potencia y distancia.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Qdᵢᵣ=Idᵢᵣ/Iₒₘₙᵢ, con Iₒₘₙᵢ=Wₐc/(4π r²)</a:t>
            </a:r>
          </a:p>
        </p:txBody>
      </p:sp>
      <p:sp>
        <p:nvSpPr>
          <p:cNvPr id="6" name="slide-number-100">
            <a:extLst>
              <a:ext uri="{FF2B5EF4-FFF2-40B4-BE49-F238E27FC236}">
                <a16:creationId xmlns:a16="http://schemas.microsoft.com/office/drawing/2014/main" id="{051A7F41-81E3-4F92-A24E-40B84FC8BF4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01">
            <a:extLst>
              <a:ext uri="{FF2B5EF4-FFF2-40B4-BE49-F238E27FC236}">
                <a16:creationId xmlns:a16="http://schemas.microsoft.com/office/drawing/2014/main" id="{B70AB297-565E-40CD-898C-0E60031D504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1">
            <a:extLst>
              <a:ext uri="{FF2B5EF4-FFF2-40B4-BE49-F238E27FC236}">
                <a16:creationId xmlns:a16="http://schemas.microsoft.com/office/drawing/2014/main" id="{97F5C5C3-5B55-4AAD-8227-F92CE987F6E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índice de directividad es DI=10log10(Qdir)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E5534F28-5796-46AE-8F65-2128BEE3AD78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51590DCB-F70C-48FD-9267-205B59E5165A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DI=10log₁₀(Qdᵢᵣ)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Qdᵢᵣ=4⇒ DI≈6,02 dB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C8DABAA4-ECB6-444A-952A-0E130D25EDD7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Qdir=4 corresponde a DI≈6,02 dB.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Índice de directividad DI: expresión logarítmica del factor de directividad, en dB.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DI=10log₁₀(Qdᵢᵣ)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Qdᵢᵣ=4⇒ DI≈6,02 dB</a:t>
            </a:r>
          </a:p>
        </p:txBody>
      </p:sp>
      <p:sp>
        <p:nvSpPr>
          <p:cNvPr id="6" name="slide-number-101">
            <a:extLst>
              <a:ext uri="{FF2B5EF4-FFF2-40B4-BE49-F238E27FC236}">
                <a16:creationId xmlns:a16="http://schemas.microsoft.com/office/drawing/2014/main" id="{4458AA9F-851B-4571-BAB6-CE019E369E73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102">
            <a:extLst>
              <a:ext uri="{FF2B5EF4-FFF2-40B4-BE49-F238E27FC236}">
                <a16:creationId xmlns:a16="http://schemas.microsoft.com/office/drawing/2014/main" id="{62FB2242-44DE-4542-891C-28B9335602F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2">
            <a:extLst>
              <a:ext uri="{FF2B5EF4-FFF2-40B4-BE49-F238E27FC236}">
                <a16:creationId xmlns:a16="http://schemas.microsoft.com/office/drawing/2014/main" id="{DC7581AA-5CC3-4DCC-A672-6E0C94F32B9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respuesta angular cambia con la frecuencia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3ECA95D9-D3DE-441C-9E63-68213A3E380B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 didácticos normalizados: a 500 Hz, la respuesta relativa es 0, -3 y -6 dB a 0°, 90° y 180°.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4 kHz, los mismos ángulos dan 0, -12 y -20 dB.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¿En qué frecuencia la fuente concentra más la radiación hacia el frente? ¿Qué dato debe acompañar siempre a una respuesta angular?</a:t>
            </a:r>
          </a:p>
        </p:txBody>
      </p:sp>
      <p:sp>
        <p:nvSpPr>
          <p:cNvPr id="4" name="slide-number-102">
            <a:extLst>
              <a:ext uri="{FF2B5EF4-FFF2-40B4-BE49-F238E27FC236}">
                <a16:creationId xmlns:a16="http://schemas.microsoft.com/office/drawing/2014/main" id="{59D2E67E-802C-4D04-A8E5-88228716DB4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-eyebrow">
            <a:extLst>
              <a:ext uri="{FF2B5EF4-FFF2-40B4-BE49-F238E27FC236}">
                <a16:creationId xmlns:a16="http://schemas.microsoft.com/office/drawing/2014/main" id="{57C2DDBB-D9B3-48EF-81D4-7BB32D076C9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71913299-434A-4775-B0D2-231EF3322B2B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Medir sonido exige elegir variable, referencia y modelo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64B8EA6A-A30E-4FD9-95B7-788905471691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permite interpretar una medición acústica en Fonoaudiología?</a:t>
            </a:r>
          </a:p>
        </p:txBody>
      </p:sp>
      <p:sp>
        <p:nvSpPr>
          <p:cNvPr id="4" name="slide-number-103">
            <a:extLst>
              <a:ext uri="{FF2B5EF4-FFF2-40B4-BE49-F238E27FC236}">
                <a16:creationId xmlns:a16="http://schemas.microsoft.com/office/drawing/2014/main" id="{A51BD412-2D35-4837-A81C-78CF5F4002C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U04-104">
            <a:extLst>
              <a:ext uri="{FF2B5EF4-FFF2-40B4-BE49-F238E27FC236}">
                <a16:creationId xmlns:a16="http://schemas.microsoft.com/office/drawing/2014/main" id="{1CC12400-7B29-4416-AE7C-534702656BE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4">
            <a:extLst>
              <a:ext uri="{FF2B5EF4-FFF2-40B4-BE49-F238E27FC236}">
                <a16:creationId xmlns:a16="http://schemas.microsoft.com/office/drawing/2014/main" id="{F924A397-08D8-4B05-B101-B1ACEA43797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informa realmente un sonómetro o micrófono calibrado?</a:t>
            </a:r>
          </a:p>
        </p:txBody>
      </p:sp>
      <p:sp>
        <p:nvSpPr>
          <p:cNvPr id="3" name="image-surface">
            <a:extLst>
              <a:ext uri="{FF2B5EF4-FFF2-40B4-BE49-F238E27FC236}">
                <a16:creationId xmlns:a16="http://schemas.microsoft.com/office/drawing/2014/main" id="{DBCD38FE-611E-4AFB-AA2E-BDCEB0828CC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12" name="Imagen 11" descr="Diagrama sobre «¿Qué informa realmente un sonómetro o micrófono calibrado?»: proceso de 6 nodos con cajas de condiciones; sin desarrollar ponderaciones. La lectura central es que el instrumento estima una magnitud en un punto y bajo ajustes declarados; no informa por sí solo percepción ni potencia total. Recurso principal: U04-DG-018." title="Diagrama sobre «¿Qué informa realmente un sonómetro o micrófono calibrado?»: proceso de 6 nodos con cajas de condiciones; sin desarrollar ponderaciones. La lectura central es que el instrumento estima una magnitud en un punto y bajo ajustes declarados; no informa por sí solo percepción ni potencia total. Recurso principal: U04-DG-018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24301" y="1752600"/>
            <a:ext cx="1723597" cy="3829050"/>
          </a:xfrm>
          <a:prstGeom prst="rect">
            <a:avLst/>
          </a:prstGeom>
        </p:spPr>
      </p:pic>
      <p:sp>
        <p:nvSpPr>
          <p:cNvPr id="5" name="bullets">
            <a:extLst>
              <a:ext uri="{FF2B5EF4-FFF2-40B4-BE49-F238E27FC236}">
                <a16:creationId xmlns:a16="http://schemas.microsoft.com/office/drawing/2014/main" id="{653E3BB7-23D2-424B-A79D-908B6180E8A2}"/>
              </a:ext>
            </a:extLst>
          </p:cNvPr>
          <p:cNvSpPr>
            <a:spLocks noGrp="1"/>
          </p:cNvSpPr>
          <p:nvPr/>
        </p:nvSpPr>
        <p:spPr>
          <a:xfrm>
            <a:off x="6000750" y="1762125"/>
            <a:ext cx="5429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instrumento estima una magnitud en un punto y bajo ajustes declarados; no informa por sí solo percepción ni potencia total.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sonómetro informa un nivel en un punto con ponderación y respuesta temporal declaradas; no informa sonoridad individual.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9AA1C49-C90D-4C70-A9DA-446EAEBFB166}"/>
              </a:ext>
            </a:extLst>
          </p:cNvPr>
          <p:cNvSpPr>
            <a:spLocks noGrp="1"/>
          </p:cNvSpPr>
          <p:nvPr/>
        </p:nvSpPr>
        <p:spPr>
          <a:xfrm>
            <a:off x="6000750" y="5000625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y caso. Esquema conceptual; las distancias, tamaños y formas no representan una escala física salvo indicación expresa.</a:t>
            </a:r>
          </a:p>
        </p:txBody>
      </p:sp>
      <p:sp>
        <p:nvSpPr>
          <p:cNvPr id="7" name="credit">
            <a:extLst>
              <a:ext uri="{FF2B5EF4-FFF2-40B4-BE49-F238E27FC236}">
                <a16:creationId xmlns:a16="http://schemas.microsoft.com/office/drawing/2014/main" id="{BD6F3086-B684-49C4-B502-6012A33A8C0E}"/>
              </a:ext>
            </a:extLst>
          </p:cNvPr>
          <p:cNvSpPr>
            <a:spLocks noGrp="1"/>
          </p:cNvSpPr>
          <p:nvPr/>
        </p:nvSpPr>
        <p:spPr>
          <a:xfrm>
            <a:off x="6000750" y="5572125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969FA7"/>
                </a:solidFill>
                <a:latin typeface="Calibri"/>
                <a:ea typeface="Calibri"/>
                <a:cs typeface="Calibri"/>
                <a:hlinkClick r:id="rId4"/>
              </a:rPr>
              <a:t>Foto: Harke, dominio público, vía Wikimedia Commons.</a:t>
            </a:r>
          </a:p>
        </p:txBody>
      </p:sp>
      <p:sp>
        <p:nvSpPr>
          <p:cNvPr id="8" name="slide-number-104">
            <a:extLst>
              <a:ext uri="{FF2B5EF4-FFF2-40B4-BE49-F238E27FC236}">
                <a16:creationId xmlns:a16="http://schemas.microsoft.com/office/drawing/2014/main" id="{06186FD6-482B-43B2-A658-CE314716FC4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U04-105">
            <a:extLst>
              <a:ext uri="{FF2B5EF4-FFF2-40B4-BE49-F238E27FC236}">
                <a16:creationId xmlns:a16="http://schemas.microsoft.com/office/drawing/2014/main" id="{C8C63D3B-59EF-4F10-A8F4-75BAD9CD4AE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5">
            <a:extLst>
              <a:ext uri="{FF2B5EF4-FFF2-40B4-BE49-F238E27FC236}">
                <a16:creationId xmlns:a16="http://schemas.microsoft.com/office/drawing/2014/main" id="{CB249409-8466-430E-A0CD-098F4456E86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dos fuentes a distancias diferentes</a:t>
            </a:r>
          </a:p>
        </p:txBody>
      </p:sp>
      <p:sp>
        <p:nvSpPr>
          <p:cNvPr id="3" name="question-surface">
            <a:extLst>
              <a:ext uri="{FF2B5EF4-FFF2-40B4-BE49-F238E27FC236}">
                <a16:creationId xmlns:a16="http://schemas.microsoft.com/office/drawing/2014/main" id="{6D25E1DA-13FF-4AE1-BCD3-66F83F1EDA87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>
              <a:ext uri="{FF2B5EF4-FFF2-40B4-BE49-F238E27FC236}">
                <a16:creationId xmlns:a16="http://schemas.microsoft.com/office/drawing/2014/main" id="{D72E0A43-DAAD-4B70-A98C-F4B2FAD8252B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971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100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Dos fuentes puntuales no correlacionadas producen cada una 80 dB SPL a 1 m, con referencia 20 µPa.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100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El receptor está a 2 m de la fuente A y a 4 m de la fuente B.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100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Suponer campo libre, región lejana, misma dirección de referencia y Qdᵢᵣ=1.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100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Calcular el nivel de cada contribución en el receptor y luego el nivel combinado.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100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Antes de operar, indicá qué cambiaría si las señales fueran coherentes.</a:t>
            </a:r>
          </a:p>
        </p:txBody>
      </p:sp>
      <p:sp>
        <p:nvSpPr>
          <p:cNvPr id="5" name="slide-number-105">
            <a:extLst>
              <a:ext uri="{FF2B5EF4-FFF2-40B4-BE49-F238E27FC236}">
                <a16:creationId xmlns:a16="http://schemas.microsoft.com/office/drawing/2014/main" id="{A7715149-FD32-4698-8C7F-B0786B56E76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Siete atajos que producen respuestas incorrectas»: lista priorizada en dos columnas con corrección mínima. La lectura central es que confundir magnitudes, referencias o dominios de validez cambia el significado del resultado. Recurso principal: U04-DG-018." title="Diagrama sobre «Siete atajos que producen respuestas incorrectas»: lista priorizada en dos columnas con corrección mínima. La lectura central es que confundir magnitudes, referencias o dominios de validez cambia el significado del resultado. Recurso principal: U04-DG-01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F959E7F-86F9-4A64-986A-908812159BE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6">
            <a:extLst>
              <a:ext uri="{FF2B5EF4-FFF2-40B4-BE49-F238E27FC236}">
                <a16:creationId xmlns:a16="http://schemas.microsoft.com/office/drawing/2014/main" id="{B42EFEA1-8306-461F-B215-0557234E83F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6">
            <a:extLst>
              <a:ext uri="{FF2B5EF4-FFF2-40B4-BE49-F238E27FC236}">
                <a16:creationId xmlns:a16="http://schemas.microsoft.com/office/drawing/2014/main" id="{A720B4B1-FF7B-42C1-8408-587E208A8711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Siete atajos que producen respuestas incorrectas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1D09113C-1BE7-44F3-A479-BB743A830FD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6D32DEF8-55AF-45F0-9411-DDF64BE1B6E2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Confundir magnitudes, referencias o dominios de validez cambia el significado del resultado.</a:t>
            </a:r>
          </a:p>
        </p:txBody>
      </p:sp>
      <p:sp>
        <p:nvSpPr>
          <p:cNvPr id="7" name="slide-number-106">
            <a:extLst>
              <a:ext uri="{FF2B5EF4-FFF2-40B4-BE49-F238E27FC236}">
                <a16:creationId xmlns:a16="http://schemas.microsoft.com/office/drawing/2014/main" id="{70513E96-7AED-4EC2-ACED-6ABAE41AA17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Del sonido como fenómeno a una medición interpretable»: mapa conceptual final derivado de U04-006, con revelado por bloques. La lectura central es que fuente y medio producen un campo; magnitudes y descriptores permiten medirlo; niveles, geometría y directividad condicionan la interpretación. Recurso principal: U04-DG-002." title="Diagrama sobre «Del sonido como fenómeno a una medición interpretable»: mapa conceptual final derivado de U04-006, con revelado por bloques. La lectura central es que fuente y medio producen un campo; magnitudes y descriptores permiten medirlo; niveles, geometría y directividad condicionan la interpretación. Recurso principal: U04-DG-00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824B579-693F-4BB7-BF8B-C98D256A6D6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7">
            <a:extLst>
              <a:ext uri="{FF2B5EF4-FFF2-40B4-BE49-F238E27FC236}">
                <a16:creationId xmlns:a16="http://schemas.microsoft.com/office/drawing/2014/main" id="{5EE021F7-CD1B-4E20-A789-C0B65246B52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7">
            <a:extLst>
              <a:ext uri="{FF2B5EF4-FFF2-40B4-BE49-F238E27FC236}">
                <a16:creationId xmlns:a16="http://schemas.microsoft.com/office/drawing/2014/main" id="{ABE0DA5F-D078-48ED-BEA4-C0D45AEE804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sonido como fenómeno a una medición interpretable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20DA8559-DE27-43A0-8006-1339070D9AE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556C8174-30C4-42D0-9D09-A10A6DB19C81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y medio producen un campo; magnitudes y descriptores permiten medirlo; niveles, geometría y directividad condicionan la interpretación.</a:t>
            </a:r>
          </a:p>
        </p:txBody>
      </p:sp>
      <p:sp>
        <p:nvSpPr>
          <p:cNvPr id="7" name="slide-number-107">
            <a:extLst>
              <a:ext uri="{FF2B5EF4-FFF2-40B4-BE49-F238E27FC236}">
                <a16:creationId xmlns:a16="http://schemas.microsoft.com/office/drawing/2014/main" id="{E5A87382-EE47-449A-BE2E-BE9DC617C0DB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U04-108">
            <a:extLst>
              <a:ext uri="{FF2B5EF4-FFF2-40B4-BE49-F238E27FC236}">
                <a16:creationId xmlns:a16="http://schemas.microsoft.com/office/drawing/2014/main" id="{EDA058B2-EB64-4575-B3F7-525851B4E5C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08">
            <a:extLst>
              <a:ext uri="{FF2B5EF4-FFF2-40B4-BE49-F238E27FC236}">
                <a16:creationId xmlns:a16="http://schemas.microsoft.com/office/drawing/2014/main" id="{E8E6ECD2-0DAD-4E9C-8504-833E01E87D6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podés explicar ahora que al inicio no podías?</a:t>
            </a:r>
          </a:p>
        </p:txBody>
      </p:sp>
      <p:sp>
        <p:nvSpPr>
          <p:cNvPr id="3" name="question-surface">
            <a:extLst>
              <a:ext uri="{FF2B5EF4-FFF2-40B4-BE49-F238E27FC236}">
                <a16:creationId xmlns:a16="http://schemas.microsoft.com/office/drawing/2014/main" id="{94BC074B-E118-4863-A623-77070C19E6FF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4" name="bullets">
            <a:extLst>
              <a:ext uri="{FF2B5EF4-FFF2-40B4-BE49-F238E27FC236}">
                <a16:creationId xmlns:a16="http://schemas.microsoft.com/office/drawing/2014/main" id="{42CD47F0-7C79-4B5F-ABEF-E05756492CD2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9715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Explicá con tus palabras: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existe sin oyente;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por qué u y c no representan la misma magnitud;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distingue RMS de media;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qué completa a un valor en dB;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cuándo aparecen +6, +3 o cancelación;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242A2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2A2E"/>
                </a:solidFill>
                <a:latin typeface="Calibri"/>
                <a:ea typeface="Calibri"/>
                <a:cs typeface="Calibri"/>
              </a:rPr>
              <a:t>cuándo puede usarse la regla de distancia.</a:t>
            </a:r>
          </a:p>
        </p:txBody>
      </p:sp>
      <p:sp>
        <p:nvSpPr>
          <p:cNvPr id="5" name="slide-number-108">
            <a:extLst>
              <a:ext uri="{FF2B5EF4-FFF2-40B4-BE49-F238E27FC236}">
                <a16:creationId xmlns:a16="http://schemas.microsoft.com/office/drawing/2014/main" id="{801EC1FA-77D3-435F-94E0-69353B11E69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Gráfico sobre «Un mismo RMS puede ocultar señales muy diferentes»: dos señales de igual RMS y distinta forma; espectros solo como silueta anticipatoria. La lectura central es que magnitudes globales describen tamaño; el contenido frecuencial explicará de qué componentes está formada la señal. Recurso principal: U04-CH-006." title="Gráfico sobre «Un mismo RMS puede ocultar señales muy diferentes»: dos señales de igual RMS y distinta forma; espectros solo como silueta anticipatoria. La lectura central es que magnitudes globales describen tamaño; el contenido frecuencial explicará de qué componentes está formada la señal. Recurso principal: U04-CH-00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E146DCBC-B3A8-450B-BA09-B1A842545DA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09">
            <a:extLst>
              <a:ext uri="{FF2B5EF4-FFF2-40B4-BE49-F238E27FC236}">
                <a16:creationId xmlns:a16="http://schemas.microsoft.com/office/drawing/2014/main" id="{EE996626-DB57-4654-9230-E2AFC6840C8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09">
            <a:extLst>
              <a:ext uri="{FF2B5EF4-FFF2-40B4-BE49-F238E27FC236}">
                <a16:creationId xmlns:a16="http://schemas.microsoft.com/office/drawing/2014/main" id="{AF0911BC-A159-4AE1-BB17-0A90480B9474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RMS puede ocultar señales muy diferentes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A71C8513-36FC-43BE-844A-132078E499B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A039C506-44D1-4C15-93C6-5404D724917A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Magnitudes globales describen tamaño; el contenido frecuencial explicará de qué componentes está formada la señal. · señales sintéticas · mism…</a:t>
            </a:r>
          </a:p>
        </p:txBody>
      </p:sp>
      <p:sp>
        <p:nvSpPr>
          <p:cNvPr id="7" name="slide-number-109">
            <a:extLst>
              <a:ext uri="{FF2B5EF4-FFF2-40B4-BE49-F238E27FC236}">
                <a16:creationId xmlns:a16="http://schemas.microsoft.com/office/drawing/2014/main" id="{C164FA47-622E-49F3-853A-4818B1F8BA5F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Recordatorio matemático: razones, potencias y logaritmos»: Ecuaciones editables y escala simple. La lectura central es que las operaciones usadas pueden interpretarse sin un curso formal de logaritmos. Recurso principal: U04-DG-022." title="Ecuación anotada sobre «Recordatorio matemático: razones, potencias y logaritmos»: Ecuaciones editables y escala simple. La lectura central es que las operaciones usadas pueden interpretarse sin un curso formal de logaritmos. Recurso principal: U04-DG-02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018C8EC8-ECD0-4F5A-9ACA-66B7F4D0D41F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0">
            <a:extLst>
              <a:ext uri="{FF2B5EF4-FFF2-40B4-BE49-F238E27FC236}">
                <a16:creationId xmlns:a16="http://schemas.microsoft.com/office/drawing/2014/main" id="{BA4B5F26-27EC-4A45-8C68-514DEAD965D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0">
            <a:extLst>
              <a:ext uri="{FF2B5EF4-FFF2-40B4-BE49-F238E27FC236}">
                <a16:creationId xmlns:a16="http://schemas.microsoft.com/office/drawing/2014/main" id="{AE9BE18B-E670-4650-9BB5-0D3A14F41D47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Recordatorio matemático: razones, potencias y logaritmos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478D2739-83DF-4BE0-967F-0D90C9C3B39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05EF610-75F2-4726-B75B-16397F2EC54E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operaciones usadas pueden interpretarse sin un curso formal de logaritmos.</a:t>
            </a:r>
          </a:p>
        </p:txBody>
      </p:sp>
      <p:sp>
        <p:nvSpPr>
          <p:cNvPr id="7" name="slide-number-110">
            <a:extLst>
              <a:ext uri="{FF2B5EF4-FFF2-40B4-BE49-F238E27FC236}">
                <a16:creationId xmlns:a16="http://schemas.microsoft.com/office/drawing/2014/main" id="{20EE5B39-E2DD-4C6D-A5B0-58618BB871F9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Promedio y RMS en datos discretos»: ecuaciones anotadas con tabla de muestras. La lectura central es que un registro digital aproxima las operaciones mediante sumas finitas. Recurso principal: U04-DG-012." title="Ecuación anotada sobre «Promedio y RMS en datos discretos»: ecuaciones anotadas con tabla de muestras. La lectura central es que un registro digital aproxima las operaciones mediante sumas finitas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2B687F2-4CD7-4302-BCD2-44432CF6CA5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1">
            <a:extLst>
              <a:ext uri="{FF2B5EF4-FFF2-40B4-BE49-F238E27FC236}">
                <a16:creationId xmlns:a16="http://schemas.microsoft.com/office/drawing/2014/main" id="{C1A4FD3F-B240-4A34-9AEE-6F9DA9869B9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1">
            <a:extLst>
              <a:ext uri="{FF2B5EF4-FFF2-40B4-BE49-F238E27FC236}">
                <a16:creationId xmlns:a16="http://schemas.microsoft.com/office/drawing/2014/main" id="{98F3B62C-B49F-4187-B619-6618DCC9564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Promedio y RMS en datos discretos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20221F6-22FB-4D26-84A2-B397A1F2CF4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3D648827-C393-4434-A084-CDE6ED3B941A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registro digital aproxima las operaciones mediante sumas finitas.</a:t>
            </a:r>
          </a:p>
        </p:txBody>
      </p:sp>
      <p:sp>
        <p:nvSpPr>
          <p:cNvPr id="7" name="slide-number-111">
            <a:extLst>
              <a:ext uri="{FF2B5EF4-FFF2-40B4-BE49-F238E27FC236}">
                <a16:creationId xmlns:a16="http://schemas.microsoft.com/office/drawing/2014/main" id="{2BB1776F-5ED5-47BD-8980-CB2AD2A2689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finiciones integrales de media, RMS e intensidad»: tres ecuaciones alineadas y ventana común. La lectura central es que las tres operaciones comparten ventana pero promedian expresiones distintas. Recurso principal: U04-DG-012." title="Ecuación anotada sobre «Definiciones integrales de media, RMS e intensidad»: tres ecuaciones alineadas y ventana común. La lectura central es que las tres operaciones comparten ventana pero promedian expresiones distintas. Recurso principal: U04-DG-012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DD61152D-A086-4217-A76A-01552DB50818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2">
            <a:extLst>
              <a:ext uri="{FF2B5EF4-FFF2-40B4-BE49-F238E27FC236}">
                <a16:creationId xmlns:a16="http://schemas.microsoft.com/office/drawing/2014/main" id="{E3F18292-84D2-4ED1-A0A5-B6C393EF2F3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2">
            <a:extLst>
              <a:ext uri="{FF2B5EF4-FFF2-40B4-BE49-F238E27FC236}">
                <a16:creationId xmlns:a16="http://schemas.microsoft.com/office/drawing/2014/main" id="{0C14E58C-9B3B-415D-9DA0-C027AFAFC0EB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Definiciones integrales de media, RMS e intensidad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C1DC501D-3908-4032-9FC9-6FE8A6E1768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BE3FA67D-9CB5-4741-861D-011201BF336C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tres operaciones comparten ventana pero promedian expresiones distintas.</a:t>
            </a:r>
          </a:p>
        </p:txBody>
      </p:sp>
      <p:sp>
        <p:nvSpPr>
          <p:cNvPr id="7" name="slide-number-112">
            <a:extLst>
              <a:ext uri="{FF2B5EF4-FFF2-40B4-BE49-F238E27FC236}">
                <a16:creationId xmlns:a16="http://schemas.microsoft.com/office/drawing/2014/main" id="{2DBB4C4C-0EF6-49A9-9E8D-2F6FF541F51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Reflexión: de `R_p` a fracción de intensidad»: interfaz y ecuaciones conectadas. La lectura central es que para incidencia normal ideal, la relación energética requiere cuadrar magnitud y considerar condiciones. Recurso principal: U04-CH-013." title="Esquema mixto sobre «Reflexión: de `R_p` a fracción de intensidad»: interfaz y ecuaciones conectadas. La lectura central es que para incidencia normal ideal, la relación energética requiere cuadrar magnitud y considerar condiciones. Recurso principal: U04-CH-013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74B0CE53-00A7-4742-A459-69C104C3991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3">
            <a:extLst>
              <a:ext uri="{FF2B5EF4-FFF2-40B4-BE49-F238E27FC236}">
                <a16:creationId xmlns:a16="http://schemas.microsoft.com/office/drawing/2014/main" id="{20ECFA3A-0A22-4EB1-9A54-F3C75B2B3B1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3">
            <a:extLst>
              <a:ext uri="{FF2B5EF4-FFF2-40B4-BE49-F238E27FC236}">
                <a16:creationId xmlns:a16="http://schemas.microsoft.com/office/drawing/2014/main" id="{DF1624C9-0DF3-4B91-80E7-8B3A34A77405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Reflexión: de Rₚ a fracción de intensidad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356671F6-4D0D-496D-AD75-D002A17FF21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06CBAFC6-D21F-4561-8247-11BFA86E4E85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incidencia normal ideal, la relación energética requiere cuadrar magnitud y considerar condiciones.</a:t>
            </a:r>
          </a:p>
        </p:txBody>
      </p:sp>
      <p:sp>
        <p:nvSpPr>
          <p:cNvPr id="7" name="slide-number-113">
            <a:extLst>
              <a:ext uri="{FF2B5EF4-FFF2-40B4-BE49-F238E27FC236}">
                <a16:creationId xmlns:a16="http://schemas.microsoft.com/office/drawing/2014/main" id="{227BF6C4-A674-4E15-97D6-4611B5747C7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14">
            <a:extLst>
              <a:ext uri="{FF2B5EF4-FFF2-40B4-BE49-F238E27FC236}">
                <a16:creationId xmlns:a16="http://schemas.microsoft.com/office/drawing/2014/main" id="{BCD16437-C042-4231-833C-8BC99FB4760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14">
            <a:extLst>
              <a:ext uri="{FF2B5EF4-FFF2-40B4-BE49-F238E27FC236}">
                <a16:creationId xmlns:a16="http://schemas.microsoft.com/office/drawing/2014/main" id="{26EDE248-4D23-4285-B827-3D523B8BC65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Referencias para LI y LW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6666C87D-5FD5-4281-9BFB-F1FE1D2E1F86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61456B64-0737-4AD4-B9A0-13F139D47DCD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Iᵣef = 10⁻¹² W·m⁻²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Wᵣef = 10⁻¹² W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3DC4D7F0-7890-45AF-883F-C7840011E325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nivel exige una referencia de la misma magnitud.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Iᵣef = 10⁻¹² W·m⁻²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Wᵣef = 10⁻¹² W</a:t>
            </a:r>
          </a:p>
        </p:txBody>
      </p:sp>
      <p:sp>
        <p:nvSpPr>
          <p:cNvPr id="6" name="slide-number-114">
            <a:extLst>
              <a:ext uri="{FF2B5EF4-FFF2-40B4-BE49-F238E27FC236}">
                <a16:creationId xmlns:a16="http://schemas.microsoft.com/office/drawing/2014/main" id="{69CD7A93-F909-4B6D-B455-23ADC1B6009C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15">
            <a:extLst>
              <a:ext uri="{FF2B5EF4-FFF2-40B4-BE49-F238E27FC236}">
                <a16:creationId xmlns:a16="http://schemas.microsoft.com/office/drawing/2014/main" id="{4D756B87-DF93-4BF2-8EC6-DC70E9CC47C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15">
            <a:extLst>
              <a:ext uri="{FF2B5EF4-FFF2-40B4-BE49-F238E27FC236}">
                <a16:creationId xmlns:a16="http://schemas.microsoft.com/office/drawing/2014/main" id="{6DA9E3B5-56A0-429A-A7B4-83A4D80297D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Entre coherente y no correlacionado existe correlación parcial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698F4119-0B52-4946-96CF-B341F4A52900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228567FE-BBA9-45CB-86C8-5C2AB997AEA3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pR,ᵣₘₛ²=p₁²+p₂²+2γ p₁p₂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-1≤γ≤1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AA711EFA-FE57-4C0F-A7B1-DE5BF9D8E928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coeficiente de correlación puede conservar parte del término cruzado.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pR,ᵣₘₛ²=p₁²+p₂²+2γ p₁p₂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-1≤γ≤1</a:t>
            </a:r>
          </a:p>
        </p:txBody>
      </p:sp>
      <p:sp>
        <p:nvSpPr>
          <p:cNvPr id="6" name="slide-number-115">
            <a:extLst>
              <a:ext uri="{FF2B5EF4-FFF2-40B4-BE49-F238E27FC236}">
                <a16:creationId xmlns:a16="http://schemas.microsoft.com/office/drawing/2014/main" id="{02A2E817-C655-41E1-95AC-E9D278B5B961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Diagrama sobre «Reverberante y difuso: condiciones y límites»: recinto y distribuciones angulares; sin datos inventados. La lectura central es que un campo reverberante real puede aproximarse a difuso solo bajo ciertas condiciones. Recurso principal: U04-DG-015." title="Diagrama sobre «Reverberante y difuso: condiciones y límites»: recinto y distribuciones angulares; sin datos inventados. La lectura central es que un campo reverberante real puede aproximarse a difuso solo bajo ciertas condiciones. Recurso principal: U04-DG-015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3550C561-4410-49C7-8318-7F88C503840E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6">
            <a:extLst>
              <a:ext uri="{FF2B5EF4-FFF2-40B4-BE49-F238E27FC236}">
                <a16:creationId xmlns:a16="http://schemas.microsoft.com/office/drawing/2014/main" id="{D3252345-32DC-480F-A41E-BEAAEF98CE2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6">
            <a:extLst>
              <a:ext uri="{FF2B5EF4-FFF2-40B4-BE49-F238E27FC236}">
                <a16:creationId xmlns:a16="http://schemas.microsoft.com/office/drawing/2014/main" id="{15E61034-8F21-4681-BFF8-F15599711AE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Reverberante y difuso: condiciones y límites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D20BDA08-8E76-4B0F-B6A5-2E508080624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09DC24C-BA1C-46D3-88B0-02C0AE0CE476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campo reverberante real puede aproximarse a difuso solo bajo ciertas condiciones.</a:t>
            </a:r>
          </a:p>
        </p:txBody>
      </p:sp>
      <p:sp>
        <p:nvSpPr>
          <p:cNvPr id="7" name="slide-number-116">
            <a:extLst>
              <a:ext uri="{FF2B5EF4-FFF2-40B4-BE49-F238E27FC236}">
                <a16:creationId xmlns:a16="http://schemas.microsoft.com/office/drawing/2014/main" id="{B4524CD9-7A17-4659-B35D-4348009B38C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Onda cilíndrica: cambio por duplicar distancia»: curva `1/r`; ecuaciones editables. La lectura central es que si `I∝1/r`, duplicar distancia produce `−3,01 dB` en intensidad/nivel bajo el modelo ideal. Recurso principal: U04-CH-010." title="Esquema mixto sobre «Onda cilíndrica: cambio por duplicar distancia»: curva `1/r`; ecuaciones editables. La lectura central es que si `I∝1/r`, duplicar distancia produce `−3,01 dB` en intensidad/nivel bajo el modelo ideal. Recurso principal: U04-CH-01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B6319544-BBAC-4AC2-99D0-82CB36916D0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7">
            <a:extLst>
              <a:ext uri="{FF2B5EF4-FFF2-40B4-BE49-F238E27FC236}">
                <a16:creationId xmlns:a16="http://schemas.microsoft.com/office/drawing/2014/main" id="{CEEDC51F-F684-4653-BA1A-E9CEBA33B13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7">
            <a:extLst>
              <a:ext uri="{FF2B5EF4-FFF2-40B4-BE49-F238E27FC236}">
                <a16:creationId xmlns:a16="http://schemas.microsoft.com/office/drawing/2014/main" id="{45D42F85-C9E1-42EB-BEF2-123FFA60B7B2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Onda cilíndrica: cambio por duplicar distancia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05C0BCB-B6E1-4CBC-AED6-2CE02F727B8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409B3EC8-EFD5-49A7-B8F1-5B2D246359F8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I∝1/r, duplicar distancia produce −3,01 dB en intensidad/nivel bajo el modelo ideal.</a:t>
            </a:r>
          </a:p>
        </p:txBody>
      </p:sp>
      <p:sp>
        <p:nvSpPr>
          <p:cNvPr id="7" name="slide-number-117">
            <a:extLst>
              <a:ext uri="{FF2B5EF4-FFF2-40B4-BE49-F238E27FC236}">
                <a16:creationId xmlns:a16="http://schemas.microsoft.com/office/drawing/2014/main" id="{742A86FA-5F1E-47B8-91A1-10771BDE401A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cuación anotada sobre «Derivación algebraica completa de la ley de distancia»: derivación en cuatro etapas, 28 pt mínimo. La lectura central es que la diferencia de nivel surge al combinar área esférica, razón de intensidades y logaritmos. Recurso principal: U04-DG-016." title="Ecuación anotada sobre «Derivación algebraica completa de la ley de distancia»: derivación en cuatro etapas, 28 pt mínimo. La lectura central es que la diferencia de nivel surge al combinar área esférica, razón de intensidades y logaritmos. Recurso principal: U04-DG-016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64E2F297-053A-44BC-B2ED-346720120A2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18">
            <a:extLst>
              <a:ext uri="{FF2B5EF4-FFF2-40B4-BE49-F238E27FC236}">
                <a16:creationId xmlns:a16="http://schemas.microsoft.com/office/drawing/2014/main" id="{D6324628-3480-4E16-92D4-46B5F9682DC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18">
            <a:extLst>
              <a:ext uri="{FF2B5EF4-FFF2-40B4-BE49-F238E27FC236}">
                <a16:creationId xmlns:a16="http://schemas.microsoft.com/office/drawing/2014/main" id="{A62BF3AD-ED0A-4FF6-9098-0AFAB20CC5F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Derivación algebraica completa de la ley de distancia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89569D59-B48C-4561-ABEE-181A58F86CA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91A58A0-A7AF-47E3-8F33-35289BB1EE21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diferencia de nivel surge al combinar área esférica, razón de intensidades y logaritmos.</a:t>
            </a:r>
          </a:p>
        </p:txBody>
      </p:sp>
      <p:sp>
        <p:nvSpPr>
          <p:cNvPr id="7" name="slide-number-118">
            <a:extLst>
              <a:ext uri="{FF2B5EF4-FFF2-40B4-BE49-F238E27FC236}">
                <a16:creationId xmlns:a16="http://schemas.microsoft.com/office/drawing/2014/main" id="{39E912B8-8587-4F13-8D23-0E27F204681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119">
            <a:extLst>
              <a:ext uri="{FF2B5EF4-FFF2-40B4-BE49-F238E27FC236}">
                <a16:creationId xmlns:a16="http://schemas.microsoft.com/office/drawing/2014/main" id="{DB900AA5-55C4-45D2-9EE8-1B1527C97DA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19">
            <a:extLst>
              <a:ext uri="{FF2B5EF4-FFF2-40B4-BE49-F238E27FC236}">
                <a16:creationId xmlns:a16="http://schemas.microsoft.com/office/drawing/2014/main" id="{58EBEDBC-E2EC-44D3-9873-FAB4FCB00ED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Respuestas del diagnóstico inicial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36643FEF-D5E0-49BA-AB7F-83246A918F77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Falso: el campo no requiere oyente.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Falso: u es movimiento local y c es propagación.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Falso: media cero puede coexistir con RMS no nulo.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Falso: todo nivel requiere magnitud y referencia.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Falso: la suma depende de fase o correlación.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6. Falso como regla universal: -6,02 dB exige propagación esférica ideal y campo libre.</a:t>
            </a:r>
          </a:p>
        </p:txBody>
      </p:sp>
      <p:sp>
        <p:nvSpPr>
          <p:cNvPr id="4" name="slide-number-119">
            <a:extLst>
              <a:ext uri="{FF2B5EF4-FFF2-40B4-BE49-F238E27FC236}">
                <a16:creationId xmlns:a16="http://schemas.microsoft.com/office/drawing/2014/main" id="{CC41C073-09E7-4FF4-B2CE-A06B8C6FB590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20">
            <a:extLst>
              <a:ext uri="{FF2B5EF4-FFF2-40B4-BE49-F238E27FC236}">
                <a16:creationId xmlns:a16="http://schemas.microsoft.com/office/drawing/2014/main" id="{6B4035BD-29CA-4778-A07F-B5B55C4A89C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20">
            <a:extLst>
              <a:ext uri="{FF2B5EF4-FFF2-40B4-BE49-F238E27FC236}">
                <a16:creationId xmlns:a16="http://schemas.microsoft.com/office/drawing/2014/main" id="{C25674A9-B160-44EA-B01B-58295B3332F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del ejercicio de RMS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4851F0CE-4803-4701-AF6C-FC651F2875AD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476375"/>
          </a:xfrm>
          <a:prstGeom prst="roundRect">
            <a:avLst>
              <a:gd name="adj" fmla="val 6452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FC04EEDC-CF96-4DF5-B661-EDCA1754453C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media(x)=(0+2+0-2)/4=0 Pa</a:t>
            </a:r>
          </a:p>
          <a:p>
            <a:pPr algn="ctr">
              <a:lnSpc>
                <a:spcPct val="108000"/>
              </a:lnSpc>
              <a:buNone/>
              <a:def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xᵣₘₛ=√((0²+2²+0²+(-2)²)/4)=√2 Pa≈1,41 Pa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AD5AD857-1988-4800-881D-8621E8808CF9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las muestras xₙ=0, 2, 0, -2 Pa, la media es 0 Pa.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cuadrados son 0, 4, 0, 4 Pa²; su promedio es 2 Pa².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Por lo tanto, xᵣₘₛ=√(2) Pa≈1,41 Pa.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atajo p̂/√2 solo puede usarse después de comprobar que la señal es sinusoidal.</a:t>
            </a:r>
          </a:p>
        </p:txBody>
      </p:sp>
      <p:sp>
        <p:nvSpPr>
          <p:cNvPr id="6" name="slide-number-120">
            <a:extLst>
              <a:ext uri="{FF2B5EF4-FFF2-40B4-BE49-F238E27FC236}">
                <a16:creationId xmlns:a16="http://schemas.microsoft.com/office/drawing/2014/main" id="{22BB9E8E-3F2C-4034-A3BB-4D1B858A7B5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Suma de niveles desiguales»: incremento total frente a diferencia de niveles. La lectura central es que la contribución de una fuente mucho menor puede ser pequeña pero no se suma aritméticamente. Recurso principal: U04-CH-014." title="Esquema mixto sobre «Suma de niveles desiguales»: incremento total frente a diferencia de niveles. La lectura central es que la contribución de una fuente mucho menor puede ser pequeña pero no se suma aritméticamente. Recurso principal: U04-CH-014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F10299FE-7677-43D0-8F5E-FFCD4911E1C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21">
            <a:extLst>
              <a:ext uri="{FF2B5EF4-FFF2-40B4-BE49-F238E27FC236}">
                <a16:creationId xmlns:a16="http://schemas.microsoft.com/office/drawing/2014/main" id="{CEC0A9B4-C4E1-477A-9EBF-A5165AC33A8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1">
            <a:extLst>
              <a:ext uri="{FF2B5EF4-FFF2-40B4-BE49-F238E27FC236}">
                <a16:creationId xmlns:a16="http://schemas.microsoft.com/office/drawing/2014/main" id="{4BA46D50-E798-4503-8AAF-E041D10B57FC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 de niveles desiguales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444F67A1-9B34-41FB-8575-C68CDD8EEE3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EBBBE072-3DE7-40EF-9673-243EE57CBA97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contribución de una fuente mucho menor puede ser pequeña pero no se suma aritméticamente. · dos fuentes no correlacionadas.</a:t>
            </a:r>
          </a:p>
        </p:txBody>
      </p:sp>
      <p:sp>
        <p:nvSpPr>
          <p:cNvPr id="7" name="slide-number-121">
            <a:extLst>
              <a:ext uri="{FF2B5EF4-FFF2-40B4-BE49-F238E27FC236}">
                <a16:creationId xmlns:a16="http://schemas.microsoft.com/office/drawing/2014/main" id="{ADDB40D9-48A9-479D-AE5C-2BE984C7A8E7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Suma coherente con fase `π/2`»: señales en cuadratura y suma; ecuación editable. La lectura central es que la fase intermedia conserva el término cruzado sin producir máximo ni cancelación. Recurso principal: U04-CH-008." title="Esquema mixto sobre «Suma coherente con fase `π/2`»: señales en cuadratura y suma; ecuación editable. La lectura central es que la fase intermedia conserva el término cruzado sin producir máximo ni cancelación. Recurso principal: U04-CH-008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90500" y="1009650"/>
            <a:ext cx="11811000" cy="504825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260882FF-F416-4760-9378-7AF42D80935B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22">
            <a:extLst>
              <a:ext uri="{FF2B5EF4-FFF2-40B4-BE49-F238E27FC236}">
                <a16:creationId xmlns:a16="http://schemas.microsoft.com/office/drawing/2014/main" id="{B0F3531B-91F4-4307-9F7F-AD10A39AC0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2">
            <a:extLst>
              <a:ext uri="{FF2B5EF4-FFF2-40B4-BE49-F238E27FC236}">
                <a16:creationId xmlns:a16="http://schemas.microsoft.com/office/drawing/2014/main" id="{7BD3AB74-8B09-45A9-A74B-991F3338DE90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 coherente con fase π/2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B755B3D3-C403-403B-BB62-5AC1EA630E0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22ACB625-5BB9-416D-8D2A-752AA2E5A8B9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fase intermedia conserva el término cruzado sin producir máximo ni cancelación.</a:t>
            </a:r>
          </a:p>
        </p:txBody>
      </p:sp>
      <p:sp>
        <p:nvSpPr>
          <p:cNvPr id="7" name="slide-number-122">
            <a:extLst>
              <a:ext uri="{FF2B5EF4-FFF2-40B4-BE49-F238E27FC236}">
                <a16:creationId xmlns:a16="http://schemas.microsoft.com/office/drawing/2014/main" id="{532328DA-02D7-4C49-8F19-4C27DC8DF74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 descr="Esquema mixto sobre «Distancia y directividad en un mismo cálculo»: fuente direccional, dos puntos y ecuaciones por etapas. La lectura central es que el cambio radial y la ganancia direccional pueden combinarse en nivel si comparten referencia y modelo. Recurso principal: U04-DG-020." title="Esquema mixto sobre «Distancia y directividad en un mismo cálculo»: fuente direccional, dos puntos y ecuaciones por etapas. La lectura central es que el cambio radial y la ganancia direccional pueden combinarse en nivel si comparten referencia y modelo. Recurso principal: U04-DG-020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952500"/>
            <a:ext cx="12192000" cy="5143500"/>
          </a:xfrm>
          <a:prstGeom prst="rect">
            <a:avLst/>
          </a:prstGeom>
        </p:spPr>
      </p:pic>
      <p:sp>
        <p:nvSpPr>
          <p:cNvPr id="2" name="visual-title-backing">
            <a:extLst>
              <a:ext uri="{FF2B5EF4-FFF2-40B4-BE49-F238E27FC236}">
                <a16:creationId xmlns:a16="http://schemas.microsoft.com/office/drawing/2014/main" id="{935F17BC-99B6-468B-8E9B-572A0F48545A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1633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eyebrow-U04-123">
            <a:extLst>
              <a:ext uri="{FF2B5EF4-FFF2-40B4-BE49-F238E27FC236}">
                <a16:creationId xmlns:a16="http://schemas.microsoft.com/office/drawing/2014/main" id="{A36B69E0-49BE-4025-8A7E-D57965847F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4" name="title-U04-123">
            <a:extLst>
              <a:ext uri="{FF2B5EF4-FFF2-40B4-BE49-F238E27FC236}">
                <a16:creationId xmlns:a16="http://schemas.microsoft.com/office/drawing/2014/main" id="{8D588C29-90A7-4265-B7FD-4ED67A300D5F}"/>
              </a:ext>
            </a:extLst>
          </p:cNvPr>
          <p:cNvSpPr>
            <a:spLocks noGrp="1"/>
          </p:cNvSpPr>
          <p:nvPr/>
        </p:nvSpPr>
        <p:spPr>
          <a:xfrm>
            <a:off x="609600" y="56197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y directividad en un mismo cálculo</a:t>
            </a:r>
          </a:p>
        </p:txBody>
      </p:sp>
      <p:sp>
        <p:nvSpPr>
          <p:cNvPr id="5" name="caption-backing">
            <a:extLst>
              <a:ext uri="{FF2B5EF4-FFF2-40B4-BE49-F238E27FC236}">
                <a16:creationId xmlns:a16="http://schemas.microsoft.com/office/drawing/2014/main" id="{FBF281BC-6C21-43AD-94F0-BC82286C985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572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F0084BF-5724-444E-86FC-B3E51BC3A153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458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cambio radial y la ganancia direccional pueden combinarse en nivel si comparten referencia y modelo.</a:t>
            </a:r>
          </a:p>
        </p:txBody>
      </p:sp>
      <p:sp>
        <p:nvSpPr>
          <p:cNvPr id="7" name="slide-number-123">
            <a:extLst>
              <a:ext uri="{FF2B5EF4-FFF2-40B4-BE49-F238E27FC236}">
                <a16:creationId xmlns:a16="http://schemas.microsoft.com/office/drawing/2014/main" id="{E5C0AFFD-D81B-4341-ADD7-2D55823CE9A2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U04-124">
            <a:extLst>
              <a:ext uri="{FF2B5EF4-FFF2-40B4-BE49-F238E27FC236}">
                <a16:creationId xmlns:a16="http://schemas.microsoft.com/office/drawing/2014/main" id="{790A0862-7B4F-4FD0-A99A-FA619109659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24">
            <a:extLst>
              <a:ext uri="{FF2B5EF4-FFF2-40B4-BE49-F238E27FC236}">
                <a16:creationId xmlns:a16="http://schemas.microsoft.com/office/drawing/2014/main" id="{B886C06F-AF3E-4E70-A3AF-ADD1705A104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numérica del caso integrador</a:t>
            </a:r>
          </a:p>
        </p:txBody>
      </p:sp>
      <p:sp>
        <p:nvSpPr>
          <p:cNvPr id="3" name="equation-surface">
            <a:extLst>
              <a:ext uri="{FF2B5EF4-FFF2-40B4-BE49-F238E27FC236}">
                <a16:creationId xmlns:a16="http://schemas.microsoft.com/office/drawing/2014/main" id="{C808CEC2-EC80-4C0B-A742-B9380861130A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1009650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2DCBE4CD-C4C8-43F5-8887-EB65A85DD473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96393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LA=80+20log₁₀(1/2)=73,98 dB SPL</a:t>
            </a:r>
          </a:p>
          <a:p>
            <a:pPr algn="ctr">
              <a:lnSpc>
                <a:spcPct val="108000"/>
              </a:lnSpc>
              <a:buNone/>
              <a:def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LB=80+20log₁₀(1/4)=67,96 dB SPL</a:t>
            </a:r>
          </a:p>
          <a:p>
            <a:pPr algn="ctr">
              <a:lnSpc>
                <a:spcPct val="108000"/>
              </a:lnSpc>
              <a:buNone/>
              <a:def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2A2E"/>
                </a:solidFill>
                <a:latin typeface="Cambria Math"/>
                <a:ea typeface="Cambria Math"/>
                <a:cs typeface="Cambria Math"/>
              </a:rPr>
              <a:t>LR=10log₁₀(10LA/¹⁰+10LB/¹⁰)≈74,95 dB SPL</a:t>
            </a:r>
          </a:p>
        </p:txBody>
      </p:sp>
      <p:sp>
        <p:nvSpPr>
          <p:cNvPr id="5" name="bullets">
            <a:extLst>
              <a:ext uri="{FF2B5EF4-FFF2-40B4-BE49-F238E27FC236}">
                <a16:creationId xmlns:a16="http://schemas.microsoft.com/office/drawing/2014/main" id="{012E047E-4EBE-4AC9-9931-4DBF2F35CEE7}"/>
              </a:ext>
            </a:extLst>
          </p:cNvPr>
          <p:cNvSpPr>
            <a:spLocks noGrp="1"/>
          </p:cNvSpPr>
          <p:nvPr/>
        </p:nvSpPr>
        <p:spPr>
          <a:xfrm>
            <a:off x="1000125" y="3762375"/>
            <a:ext cx="10191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A: 80-20log₁₀(2)=73,98 dB SPL.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B: 80-20log₁₀(4)=67,96 dB SPL.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Como son no correlacionadas, se suman en escala lineal: LR=10log₁₀(10^7,398+10^6,796).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 LR≈74,95 dB SPL en el receptor.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17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fueran coherentes, faltaría la fase relativa: no podría usarse esta suma energética.</a:t>
            </a:r>
          </a:p>
        </p:txBody>
      </p:sp>
      <p:sp>
        <p:nvSpPr>
          <p:cNvPr id="6" name="slide-number-124">
            <a:extLst>
              <a:ext uri="{FF2B5EF4-FFF2-40B4-BE49-F238E27FC236}">
                <a16:creationId xmlns:a16="http://schemas.microsoft.com/office/drawing/2014/main" id="{C5AF637A-3446-4CD7-9B2E-3577850FBD5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-U04-125">
            <a:extLst>
              <a:ext uri="{FF2B5EF4-FFF2-40B4-BE49-F238E27FC236}">
                <a16:creationId xmlns:a16="http://schemas.microsoft.com/office/drawing/2014/main" id="{16E61AB4-B520-4D10-AE0B-4B9C3FEEF42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 4 · FÍSICA ACÚSTICA</a:t>
            </a:r>
          </a:p>
        </p:txBody>
      </p:sp>
      <p:sp>
        <p:nvSpPr>
          <p:cNvPr id="2" name="title-U04-125">
            <a:extLst>
              <a:ext uri="{FF2B5EF4-FFF2-40B4-BE49-F238E27FC236}">
                <a16:creationId xmlns:a16="http://schemas.microsoft.com/office/drawing/2014/main" id="{AFA65CC9-956E-48AE-853C-BB4244EFB42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Notación, glosario y fuentes de la unidad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21A8B230-D532-4687-8DD6-CC83A2440923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>
            <a:noAutofit/>
          </a:bodyPr>
          <a:lstStyle/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Símbolos principales: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 — presión acústica (Pa); u — velocidad de partícula (m s⁻¹); I — intensidad (W m⁻²).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Wₐc — potencia acústica (W); Eₐc — energía acústica (J).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Lₚ — nivel de presión sonora (dB); Qdᵢᵣ — factor de directividad (1); DI — índice de directividad (dB).</a:t>
            </a:r>
          </a:p>
          <a:p>
            <a:pPr marL="26" indent="-16">
              <a:lnSpc>
                <a:spcPct val="100000"/>
              </a:lnSpc>
              <a:spcAft>
                <a:spcPts val="10"/>
              </a:spcAft>
              <a:buNone/>
              <a:defRPr sz="202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principales: programa oficial; libro del curso, Unidad 4; guía transversal de notación y glosario.</a:t>
            </a:r>
          </a:p>
        </p:txBody>
      </p:sp>
      <p:sp>
        <p:nvSpPr>
          <p:cNvPr id="4" name="slide-number-125">
            <a:extLst>
              <a:ext uri="{FF2B5EF4-FFF2-40B4-BE49-F238E27FC236}">
                <a16:creationId xmlns:a16="http://schemas.microsoft.com/office/drawing/2014/main" id="{F6E6983F-7D64-42BF-9609-7AF2445E157E}"/>
              </a:ext>
            </a:extLst>
          </p:cNvPr>
          <p:cNvSpPr>
            <a:spLocks noGrp="1"/>
          </p:cNvSpPr>
          <p:nvPr/>
        </p:nvSpPr>
        <p:spPr>
          <a:xfrm>
            <a:off x="11201400" y="64484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43266</Words>
  <Application>Microsoft Office PowerPoint</Application>
  <DocSecurity>0</DocSecurity>
  <PresentationFormat>Panorámica</PresentationFormat>
  <Paragraphs>4042</Paragraphs>
  <Slides>125</Slides>
  <Notes>125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125</vt:i4>
      </vt:variant>
    </vt:vector>
  </HeadingPairs>
  <TitlesOfParts>
    <vt:vector size="132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2026-07-31T17:54:14Z</dcterms:created>
  <dcterms:modified xsi:type="dcterms:W3CDTF">2026-07-31T17:57:05Z</dcterms:modified>
</cp:coreProperties>
</file>