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85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86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3" r:id="rId2"/>
  </p:sldMasterIdLst>
  <p:notesMasterIdLst>
    <p:notesMasterId r:id="rId12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  <p:sldId id="376" r:id="rId123"/>
    <p:sldId id="377" r:id="rId124"/>
    <p:sldId id="378" r:id="rId125"/>
    <p:sldId id="379" r:id="rId126"/>
    <p:sldId id="380" r:id="rId12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presProps" Target="presProps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viewProps" Target="viewProps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theme" Target="theme/theme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tableStyles" Target="tableStyles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ano Ortiz" userId="90727fd8e92db46b" providerId="LiveId" clId="{9BC7EBD1-E6C7-40E2-9BE0-E69EBE0B6810}"/>
    <pc:docChg chg="custSel modSld">
      <pc:chgData name="Maximiliano Ortiz" userId="90727fd8e92db46b" providerId="LiveId" clId="{9BC7EBD1-E6C7-40E2-9BE0-E69EBE0B6810}" dt="2026-07-31T16:30:16.279" v="225"/>
      <pc:docMkLst>
        <pc:docMk/>
      </pc:docMkLst>
      <pc:sldChg chg="modSp mod">
        <pc:chgData name="Maximiliano Ortiz" userId="90727fd8e92db46b" providerId="LiveId" clId="{9BC7EBD1-E6C7-40E2-9BE0-E69EBE0B6810}" dt="2026-07-31T16:30:12.713" v="29"/>
        <pc:sldMkLst>
          <pc:docMk/>
          <pc:sldMk cId="1995449240" sldId="257"/>
        </pc:sldMkLst>
        <pc:picChg chg="mod">
          <ac:chgData name="Maximiliano Ortiz" userId="90727fd8e92db46b" providerId="LiveId" clId="{9BC7EBD1-E6C7-40E2-9BE0-E69EBE0B6810}" dt="2026-07-31T16:30:12.713" v="29"/>
          <ac:picMkLst>
            <pc:docMk/>
            <pc:sldMk cId="1995449240" sldId="257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2.760" v="31"/>
        <pc:sldMkLst>
          <pc:docMk/>
          <pc:sldMk cId="1833595117" sldId="259"/>
        </pc:sldMkLst>
        <pc:picChg chg="mod">
          <ac:chgData name="Maximiliano Ortiz" userId="90727fd8e92db46b" providerId="LiveId" clId="{9BC7EBD1-E6C7-40E2-9BE0-E69EBE0B6810}" dt="2026-07-31T16:30:12.760" v="31"/>
          <ac:picMkLst>
            <pc:docMk/>
            <pc:sldMk cId="1833595117" sldId="259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2.797" v="33"/>
        <pc:sldMkLst>
          <pc:docMk/>
          <pc:sldMk cId="1271479030" sldId="261"/>
        </pc:sldMkLst>
        <pc:picChg chg="mod">
          <ac:chgData name="Maximiliano Ortiz" userId="90727fd8e92db46b" providerId="LiveId" clId="{9BC7EBD1-E6C7-40E2-9BE0-E69EBE0B6810}" dt="2026-07-31T16:30:12.797" v="33"/>
          <ac:picMkLst>
            <pc:docMk/>
            <pc:sldMk cId="1271479030" sldId="261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2.826" v="35"/>
        <pc:sldMkLst>
          <pc:docMk/>
          <pc:sldMk cId="318321949" sldId="263"/>
        </pc:sldMkLst>
        <pc:picChg chg="mod">
          <ac:chgData name="Maximiliano Ortiz" userId="90727fd8e92db46b" providerId="LiveId" clId="{9BC7EBD1-E6C7-40E2-9BE0-E69EBE0B6810}" dt="2026-07-31T16:30:12.826" v="35"/>
          <ac:picMkLst>
            <pc:docMk/>
            <pc:sldMk cId="318321949" sldId="263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2.847" v="37"/>
        <pc:sldMkLst>
          <pc:docMk/>
          <pc:sldMk cId="1741329192" sldId="264"/>
        </pc:sldMkLst>
        <pc:picChg chg="mod">
          <ac:chgData name="Maximiliano Ortiz" userId="90727fd8e92db46b" providerId="LiveId" clId="{9BC7EBD1-E6C7-40E2-9BE0-E69EBE0B6810}" dt="2026-07-31T16:30:12.847" v="37"/>
          <ac:picMkLst>
            <pc:docMk/>
            <pc:sldMk cId="1741329192" sldId="264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2.866" v="39"/>
        <pc:sldMkLst>
          <pc:docMk/>
          <pc:sldMk cId="567438305" sldId="265"/>
        </pc:sldMkLst>
        <pc:picChg chg="mod">
          <ac:chgData name="Maximiliano Ortiz" userId="90727fd8e92db46b" providerId="LiveId" clId="{9BC7EBD1-E6C7-40E2-9BE0-E69EBE0B6810}" dt="2026-07-31T16:30:12.866" v="39"/>
          <ac:picMkLst>
            <pc:docMk/>
            <pc:sldMk cId="567438305" sldId="265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2.901" v="41"/>
        <pc:sldMkLst>
          <pc:docMk/>
          <pc:sldMk cId="817057724" sldId="267"/>
        </pc:sldMkLst>
        <pc:picChg chg="mod">
          <ac:chgData name="Maximiliano Ortiz" userId="90727fd8e92db46b" providerId="LiveId" clId="{9BC7EBD1-E6C7-40E2-9BE0-E69EBE0B6810}" dt="2026-07-31T16:30:12.901" v="41"/>
          <ac:picMkLst>
            <pc:docMk/>
            <pc:sldMk cId="817057724" sldId="267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2.927" v="43"/>
        <pc:sldMkLst>
          <pc:docMk/>
          <pc:sldMk cId="1046213385" sldId="268"/>
        </pc:sldMkLst>
        <pc:picChg chg="mod">
          <ac:chgData name="Maximiliano Ortiz" userId="90727fd8e92db46b" providerId="LiveId" clId="{9BC7EBD1-E6C7-40E2-9BE0-E69EBE0B6810}" dt="2026-07-31T16:30:12.927" v="43"/>
          <ac:picMkLst>
            <pc:docMk/>
            <pc:sldMk cId="1046213385" sldId="268"/>
            <ac:picMk id="10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2.947" v="45"/>
        <pc:sldMkLst>
          <pc:docMk/>
          <pc:sldMk cId="1320203634" sldId="269"/>
        </pc:sldMkLst>
        <pc:picChg chg="mod">
          <ac:chgData name="Maximiliano Ortiz" userId="90727fd8e92db46b" providerId="LiveId" clId="{9BC7EBD1-E6C7-40E2-9BE0-E69EBE0B6810}" dt="2026-07-31T16:30:12.947" v="45"/>
          <ac:picMkLst>
            <pc:docMk/>
            <pc:sldMk cId="1320203634" sldId="269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2.985" v="47"/>
        <pc:sldMkLst>
          <pc:docMk/>
          <pc:sldMk cId="1995449240" sldId="271"/>
        </pc:sldMkLst>
        <pc:picChg chg="mod">
          <ac:chgData name="Maximiliano Ortiz" userId="90727fd8e92db46b" providerId="LiveId" clId="{9BC7EBD1-E6C7-40E2-9BE0-E69EBE0B6810}" dt="2026-07-31T16:30:12.985" v="47"/>
          <ac:picMkLst>
            <pc:docMk/>
            <pc:sldMk cId="1995449240" sldId="271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008" v="49"/>
        <pc:sldMkLst>
          <pc:docMk/>
          <pc:sldMk cId="986630461" sldId="272"/>
        </pc:sldMkLst>
        <pc:picChg chg="mod">
          <ac:chgData name="Maximiliano Ortiz" userId="90727fd8e92db46b" providerId="LiveId" clId="{9BC7EBD1-E6C7-40E2-9BE0-E69EBE0B6810}" dt="2026-07-31T16:30:13.008" v="49"/>
          <ac:picMkLst>
            <pc:docMk/>
            <pc:sldMk cId="986630461" sldId="272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036" v="51"/>
        <pc:sldMkLst>
          <pc:docMk/>
          <pc:sldMk cId="986630461" sldId="273"/>
        </pc:sldMkLst>
        <pc:picChg chg="mod">
          <ac:chgData name="Maximiliano Ortiz" userId="90727fd8e92db46b" providerId="LiveId" clId="{9BC7EBD1-E6C7-40E2-9BE0-E69EBE0B6810}" dt="2026-07-31T16:30:13.036" v="51"/>
          <ac:picMkLst>
            <pc:docMk/>
            <pc:sldMk cId="986630461" sldId="273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062" v="53"/>
        <pc:sldMkLst>
          <pc:docMk/>
          <pc:sldMk cId="567438305" sldId="274"/>
        </pc:sldMkLst>
        <pc:picChg chg="mod">
          <ac:chgData name="Maximiliano Ortiz" userId="90727fd8e92db46b" providerId="LiveId" clId="{9BC7EBD1-E6C7-40E2-9BE0-E69EBE0B6810}" dt="2026-07-31T16:30:13.062" v="53"/>
          <ac:picMkLst>
            <pc:docMk/>
            <pc:sldMk cId="567438305" sldId="274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087" v="55"/>
        <pc:sldMkLst>
          <pc:docMk/>
          <pc:sldMk cId="1602286470" sldId="275"/>
        </pc:sldMkLst>
        <pc:picChg chg="mod">
          <ac:chgData name="Maximiliano Ortiz" userId="90727fd8e92db46b" providerId="LiveId" clId="{9BC7EBD1-E6C7-40E2-9BE0-E69EBE0B6810}" dt="2026-07-31T16:30:13.087" v="55"/>
          <ac:picMkLst>
            <pc:docMk/>
            <pc:sldMk cId="1602286470" sldId="275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109" v="57"/>
        <pc:sldMkLst>
          <pc:docMk/>
          <pc:sldMk cId="1741329192" sldId="276"/>
        </pc:sldMkLst>
        <pc:picChg chg="mod">
          <ac:chgData name="Maximiliano Ortiz" userId="90727fd8e92db46b" providerId="LiveId" clId="{9BC7EBD1-E6C7-40E2-9BE0-E69EBE0B6810}" dt="2026-07-31T16:30:13.109" v="57"/>
          <ac:picMkLst>
            <pc:docMk/>
            <pc:sldMk cId="1741329192" sldId="276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135" v="59"/>
        <pc:sldMkLst>
          <pc:docMk/>
          <pc:sldMk cId="1320203634" sldId="277"/>
        </pc:sldMkLst>
        <pc:picChg chg="mod">
          <ac:chgData name="Maximiliano Ortiz" userId="90727fd8e92db46b" providerId="LiveId" clId="{9BC7EBD1-E6C7-40E2-9BE0-E69EBE0B6810}" dt="2026-07-31T16:30:13.135" v="59"/>
          <ac:picMkLst>
            <pc:docMk/>
            <pc:sldMk cId="1320203634" sldId="277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172" v="61"/>
        <pc:sldMkLst>
          <pc:docMk/>
          <pc:sldMk cId="986630461" sldId="279"/>
        </pc:sldMkLst>
        <pc:picChg chg="mod">
          <ac:chgData name="Maximiliano Ortiz" userId="90727fd8e92db46b" providerId="LiveId" clId="{9BC7EBD1-E6C7-40E2-9BE0-E69EBE0B6810}" dt="2026-07-31T16:30:13.172" v="61"/>
          <ac:picMkLst>
            <pc:docMk/>
            <pc:sldMk cId="986630461" sldId="279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221" v="63"/>
        <pc:sldMkLst>
          <pc:docMk/>
          <pc:sldMk cId="1687263069" sldId="280"/>
        </pc:sldMkLst>
        <pc:picChg chg="mod">
          <ac:chgData name="Maximiliano Ortiz" userId="90727fd8e92db46b" providerId="LiveId" clId="{9BC7EBD1-E6C7-40E2-9BE0-E69EBE0B6810}" dt="2026-07-31T16:30:13.221" v="63"/>
          <ac:picMkLst>
            <pc:docMk/>
            <pc:sldMk cId="1687263069" sldId="280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242" v="65"/>
        <pc:sldMkLst>
          <pc:docMk/>
          <pc:sldMk cId="1741329192" sldId="281"/>
        </pc:sldMkLst>
        <pc:picChg chg="mod">
          <ac:chgData name="Maximiliano Ortiz" userId="90727fd8e92db46b" providerId="LiveId" clId="{9BC7EBD1-E6C7-40E2-9BE0-E69EBE0B6810}" dt="2026-07-31T16:30:13.242" v="65"/>
          <ac:picMkLst>
            <pc:docMk/>
            <pc:sldMk cId="1741329192" sldId="281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262" v="67"/>
        <pc:sldMkLst>
          <pc:docMk/>
          <pc:sldMk cId="986630461" sldId="282"/>
        </pc:sldMkLst>
        <pc:picChg chg="mod">
          <ac:chgData name="Maximiliano Ortiz" userId="90727fd8e92db46b" providerId="LiveId" clId="{9BC7EBD1-E6C7-40E2-9BE0-E69EBE0B6810}" dt="2026-07-31T16:30:13.262" v="67"/>
          <ac:picMkLst>
            <pc:docMk/>
            <pc:sldMk cId="986630461" sldId="282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284" v="69"/>
        <pc:sldMkLst>
          <pc:docMk/>
          <pc:sldMk cId="318321949" sldId="283"/>
        </pc:sldMkLst>
        <pc:picChg chg="mod">
          <ac:chgData name="Maximiliano Ortiz" userId="90727fd8e92db46b" providerId="LiveId" clId="{9BC7EBD1-E6C7-40E2-9BE0-E69EBE0B6810}" dt="2026-07-31T16:30:13.284" v="69"/>
          <ac:picMkLst>
            <pc:docMk/>
            <pc:sldMk cId="318321949" sldId="283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349" v="71"/>
        <pc:sldMkLst>
          <pc:docMk/>
          <pc:sldMk cId="986630461" sldId="284"/>
        </pc:sldMkLst>
        <pc:picChg chg="mod">
          <ac:chgData name="Maximiliano Ortiz" userId="90727fd8e92db46b" providerId="LiveId" clId="{9BC7EBD1-E6C7-40E2-9BE0-E69EBE0B6810}" dt="2026-07-31T16:30:13.349" v="71"/>
          <ac:picMkLst>
            <pc:docMk/>
            <pc:sldMk cId="986630461" sldId="284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387" v="73"/>
        <pc:sldMkLst>
          <pc:docMk/>
          <pc:sldMk cId="1602286470" sldId="285"/>
        </pc:sldMkLst>
        <pc:picChg chg="mod">
          <ac:chgData name="Maximiliano Ortiz" userId="90727fd8e92db46b" providerId="LiveId" clId="{9BC7EBD1-E6C7-40E2-9BE0-E69EBE0B6810}" dt="2026-07-31T16:30:13.387" v="73"/>
          <ac:picMkLst>
            <pc:docMk/>
            <pc:sldMk cId="1602286470" sldId="285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420" v="75"/>
        <pc:sldMkLst>
          <pc:docMk/>
          <pc:sldMk cId="1995449240" sldId="286"/>
        </pc:sldMkLst>
        <pc:picChg chg="mod">
          <ac:chgData name="Maximiliano Ortiz" userId="90727fd8e92db46b" providerId="LiveId" clId="{9BC7EBD1-E6C7-40E2-9BE0-E69EBE0B6810}" dt="2026-07-31T16:30:13.420" v="75"/>
          <ac:picMkLst>
            <pc:docMk/>
            <pc:sldMk cId="1995449240" sldId="286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453" v="77"/>
        <pc:sldMkLst>
          <pc:docMk/>
          <pc:sldMk cId="1602286470" sldId="287"/>
        </pc:sldMkLst>
        <pc:picChg chg="mod">
          <ac:chgData name="Maximiliano Ortiz" userId="90727fd8e92db46b" providerId="LiveId" clId="{9BC7EBD1-E6C7-40E2-9BE0-E69EBE0B6810}" dt="2026-07-31T16:30:13.453" v="77"/>
          <ac:picMkLst>
            <pc:docMk/>
            <pc:sldMk cId="1602286470" sldId="287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481" v="79"/>
        <pc:sldMkLst>
          <pc:docMk/>
          <pc:sldMk cId="1320203634" sldId="288"/>
        </pc:sldMkLst>
        <pc:picChg chg="mod">
          <ac:chgData name="Maximiliano Ortiz" userId="90727fd8e92db46b" providerId="LiveId" clId="{9BC7EBD1-E6C7-40E2-9BE0-E69EBE0B6810}" dt="2026-07-31T16:30:13.481" v="79"/>
          <ac:picMkLst>
            <pc:docMk/>
            <pc:sldMk cId="1320203634" sldId="288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523" v="81"/>
        <pc:sldMkLst>
          <pc:docMk/>
          <pc:sldMk cId="1602286470" sldId="290"/>
        </pc:sldMkLst>
        <pc:picChg chg="mod">
          <ac:chgData name="Maximiliano Ortiz" userId="90727fd8e92db46b" providerId="LiveId" clId="{9BC7EBD1-E6C7-40E2-9BE0-E69EBE0B6810}" dt="2026-07-31T16:30:13.523" v="81"/>
          <ac:picMkLst>
            <pc:docMk/>
            <pc:sldMk cId="1602286470" sldId="290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572" v="83"/>
        <pc:sldMkLst>
          <pc:docMk/>
          <pc:sldMk cId="1995449240" sldId="291"/>
        </pc:sldMkLst>
        <pc:picChg chg="mod">
          <ac:chgData name="Maximiliano Ortiz" userId="90727fd8e92db46b" providerId="LiveId" clId="{9BC7EBD1-E6C7-40E2-9BE0-E69EBE0B6810}" dt="2026-07-31T16:30:13.572" v="83"/>
          <ac:picMkLst>
            <pc:docMk/>
            <pc:sldMk cId="1995449240" sldId="291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598" v="85"/>
        <pc:sldMkLst>
          <pc:docMk/>
          <pc:sldMk cId="1602286470" sldId="292"/>
        </pc:sldMkLst>
        <pc:picChg chg="mod">
          <ac:chgData name="Maximiliano Ortiz" userId="90727fd8e92db46b" providerId="LiveId" clId="{9BC7EBD1-E6C7-40E2-9BE0-E69EBE0B6810}" dt="2026-07-31T16:30:13.598" v="85"/>
          <ac:picMkLst>
            <pc:docMk/>
            <pc:sldMk cId="1602286470" sldId="292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620" v="87"/>
        <pc:sldMkLst>
          <pc:docMk/>
          <pc:sldMk cId="1602286470" sldId="293"/>
        </pc:sldMkLst>
        <pc:picChg chg="mod">
          <ac:chgData name="Maximiliano Ortiz" userId="90727fd8e92db46b" providerId="LiveId" clId="{9BC7EBD1-E6C7-40E2-9BE0-E69EBE0B6810}" dt="2026-07-31T16:30:13.620" v="87"/>
          <ac:picMkLst>
            <pc:docMk/>
            <pc:sldMk cId="1602286470" sldId="293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644" v="89"/>
        <pc:sldMkLst>
          <pc:docMk/>
          <pc:sldMk cId="1133635661" sldId="294"/>
        </pc:sldMkLst>
        <pc:picChg chg="mod">
          <ac:chgData name="Maximiliano Ortiz" userId="90727fd8e92db46b" providerId="LiveId" clId="{9BC7EBD1-E6C7-40E2-9BE0-E69EBE0B6810}" dt="2026-07-31T16:30:13.644" v="89"/>
          <ac:picMkLst>
            <pc:docMk/>
            <pc:sldMk cId="1133635661" sldId="294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667" v="91"/>
        <pc:sldMkLst>
          <pc:docMk/>
          <pc:sldMk cId="651197825" sldId="295"/>
        </pc:sldMkLst>
        <pc:picChg chg="mod">
          <ac:chgData name="Maximiliano Ortiz" userId="90727fd8e92db46b" providerId="LiveId" clId="{9BC7EBD1-E6C7-40E2-9BE0-E69EBE0B6810}" dt="2026-07-31T16:30:13.667" v="91"/>
          <ac:picMkLst>
            <pc:docMk/>
            <pc:sldMk cId="651197825" sldId="295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687" v="93"/>
        <pc:sldMkLst>
          <pc:docMk/>
          <pc:sldMk cId="1602286470" sldId="296"/>
        </pc:sldMkLst>
        <pc:picChg chg="mod">
          <ac:chgData name="Maximiliano Ortiz" userId="90727fd8e92db46b" providerId="LiveId" clId="{9BC7EBD1-E6C7-40E2-9BE0-E69EBE0B6810}" dt="2026-07-31T16:30:13.687" v="93"/>
          <ac:picMkLst>
            <pc:docMk/>
            <pc:sldMk cId="1602286470" sldId="296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700" v="95"/>
        <pc:sldMkLst>
          <pc:docMk/>
          <pc:sldMk cId="817057724" sldId="297"/>
        </pc:sldMkLst>
        <pc:picChg chg="mod">
          <ac:chgData name="Maximiliano Ortiz" userId="90727fd8e92db46b" providerId="LiveId" clId="{9BC7EBD1-E6C7-40E2-9BE0-E69EBE0B6810}" dt="2026-07-31T16:30:13.700" v="95"/>
          <ac:picMkLst>
            <pc:docMk/>
            <pc:sldMk cId="817057724" sldId="297"/>
            <ac:picMk id="12" creationId="{00000000-0000-0000-0000-000000000000}"/>
          </ac:picMkLst>
        </pc:picChg>
      </pc:sldChg>
      <pc:sldChg chg="delSp modSp mod">
        <pc:chgData name="Maximiliano Ortiz" userId="90727fd8e92db46b" providerId="LiveId" clId="{9BC7EBD1-E6C7-40E2-9BE0-E69EBE0B6810}" dt="2026-07-31T16:30:13.747" v="97"/>
        <pc:sldMkLst>
          <pc:docMk/>
          <pc:sldMk cId="48649001" sldId="299"/>
        </pc:sldMkLst>
        <pc:spChg chg="del">
          <ac:chgData name="Maximiliano Ortiz" userId="90727fd8e92db46b" providerId="LiveId" clId="{9BC7EBD1-E6C7-40E2-9BE0-E69EBE0B6810}" dt="2026-07-31T16:28:58.717" v="3"/>
          <ac:spMkLst>
            <pc:docMk/>
            <pc:sldMk cId="48649001" sldId="299"/>
            <ac:spMk id="15" creationId="{037E51DA-6697-7984-784B-648406DB4719}"/>
          </ac:spMkLst>
        </pc:spChg>
        <pc:picChg chg="mod">
          <ac:chgData name="Maximiliano Ortiz" userId="90727fd8e92db46b" providerId="LiveId" clId="{9BC7EBD1-E6C7-40E2-9BE0-E69EBE0B6810}" dt="2026-07-31T16:30:13.747" v="97"/>
          <ac:picMkLst>
            <pc:docMk/>
            <pc:sldMk cId="48649001" sldId="299"/>
            <ac:picMk id="32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774" v="99"/>
        <pc:sldMkLst>
          <pc:docMk/>
          <pc:sldMk cId="318321949" sldId="300"/>
        </pc:sldMkLst>
        <pc:picChg chg="mod">
          <ac:chgData name="Maximiliano Ortiz" userId="90727fd8e92db46b" providerId="LiveId" clId="{9BC7EBD1-E6C7-40E2-9BE0-E69EBE0B6810}" dt="2026-07-31T16:30:13.774" v="99"/>
          <ac:picMkLst>
            <pc:docMk/>
            <pc:sldMk cId="318321949" sldId="300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792" v="101"/>
        <pc:sldMkLst>
          <pc:docMk/>
          <pc:sldMk cId="986630461" sldId="301"/>
        </pc:sldMkLst>
        <pc:picChg chg="mod">
          <ac:chgData name="Maximiliano Ortiz" userId="90727fd8e92db46b" providerId="LiveId" clId="{9BC7EBD1-E6C7-40E2-9BE0-E69EBE0B6810}" dt="2026-07-31T16:30:13.792" v="101"/>
          <ac:picMkLst>
            <pc:docMk/>
            <pc:sldMk cId="986630461" sldId="301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820" v="103"/>
        <pc:sldMkLst>
          <pc:docMk/>
          <pc:sldMk cId="1602286470" sldId="302"/>
        </pc:sldMkLst>
        <pc:picChg chg="mod">
          <ac:chgData name="Maximiliano Ortiz" userId="90727fd8e92db46b" providerId="LiveId" clId="{9BC7EBD1-E6C7-40E2-9BE0-E69EBE0B6810}" dt="2026-07-31T16:30:13.820" v="103"/>
          <ac:picMkLst>
            <pc:docMk/>
            <pc:sldMk cId="1602286470" sldId="302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857" v="105"/>
        <pc:sldMkLst>
          <pc:docMk/>
          <pc:sldMk cId="1741329192" sldId="303"/>
        </pc:sldMkLst>
        <pc:picChg chg="mod">
          <ac:chgData name="Maximiliano Ortiz" userId="90727fd8e92db46b" providerId="LiveId" clId="{9BC7EBD1-E6C7-40E2-9BE0-E69EBE0B6810}" dt="2026-07-31T16:30:13.857" v="105"/>
          <ac:picMkLst>
            <pc:docMk/>
            <pc:sldMk cId="1741329192" sldId="303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878" v="107"/>
        <pc:sldMkLst>
          <pc:docMk/>
          <pc:sldMk cId="281546375" sldId="304"/>
        </pc:sldMkLst>
        <pc:picChg chg="mod">
          <ac:chgData name="Maximiliano Ortiz" userId="90727fd8e92db46b" providerId="LiveId" clId="{9BC7EBD1-E6C7-40E2-9BE0-E69EBE0B6810}" dt="2026-07-31T16:30:13.878" v="107"/>
          <ac:picMkLst>
            <pc:docMk/>
            <pc:sldMk cId="281546375" sldId="304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897" v="109"/>
        <pc:sldMkLst>
          <pc:docMk/>
          <pc:sldMk cId="1320203634" sldId="305"/>
        </pc:sldMkLst>
        <pc:picChg chg="mod">
          <ac:chgData name="Maximiliano Ortiz" userId="90727fd8e92db46b" providerId="LiveId" clId="{9BC7EBD1-E6C7-40E2-9BE0-E69EBE0B6810}" dt="2026-07-31T16:30:13.897" v="109"/>
          <ac:picMkLst>
            <pc:docMk/>
            <pc:sldMk cId="1320203634" sldId="305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926" v="111"/>
        <pc:sldMkLst>
          <pc:docMk/>
          <pc:sldMk cId="567438305" sldId="307"/>
        </pc:sldMkLst>
        <pc:picChg chg="mod">
          <ac:chgData name="Maximiliano Ortiz" userId="90727fd8e92db46b" providerId="LiveId" clId="{9BC7EBD1-E6C7-40E2-9BE0-E69EBE0B6810}" dt="2026-07-31T16:30:13.926" v="111"/>
          <ac:picMkLst>
            <pc:docMk/>
            <pc:sldMk cId="567438305" sldId="307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950" v="113"/>
        <pc:sldMkLst>
          <pc:docMk/>
          <pc:sldMk cId="1995449240" sldId="308"/>
        </pc:sldMkLst>
        <pc:picChg chg="mod">
          <ac:chgData name="Maximiliano Ortiz" userId="90727fd8e92db46b" providerId="LiveId" clId="{9BC7EBD1-E6C7-40E2-9BE0-E69EBE0B6810}" dt="2026-07-31T16:30:13.950" v="113"/>
          <ac:picMkLst>
            <pc:docMk/>
            <pc:sldMk cId="1995449240" sldId="308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3.996" v="115"/>
        <pc:sldMkLst>
          <pc:docMk/>
          <pc:sldMk cId="1602286470" sldId="309"/>
        </pc:sldMkLst>
        <pc:picChg chg="mod">
          <ac:chgData name="Maximiliano Ortiz" userId="90727fd8e92db46b" providerId="LiveId" clId="{9BC7EBD1-E6C7-40E2-9BE0-E69EBE0B6810}" dt="2026-07-31T16:30:13.996" v="115"/>
          <ac:picMkLst>
            <pc:docMk/>
            <pc:sldMk cId="1602286470" sldId="309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032" v="117"/>
        <pc:sldMkLst>
          <pc:docMk/>
          <pc:sldMk cId="1602286470" sldId="310"/>
        </pc:sldMkLst>
        <pc:picChg chg="mod">
          <ac:chgData name="Maximiliano Ortiz" userId="90727fd8e92db46b" providerId="LiveId" clId="{9BC7EBD1-E6C7-40E2-9BE0-E69EBE0B6810}" dt="2026-07-31T16:30:14.032" v="117"/>
          <ac:picMkLst>
            <pc:docMk/>
            <pc:sldMk cId="1602286470" sldId="310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076" v="119"/>
        <pc:sldMkLst>
          <pc:docMk/>
          <pc:sldMk cId="1133635661" sldId="311"/>
        </pc:sldMkLst>
        <pc:picChg chg="mod">
          <ac:chgData name="Maximiliano Ortiz" userId="90727fd8e92db46b" providerId="LiveId" clId="{9BC7EBD1-E6C7-40E2-9BE0-E69EBE0B6810}" dt="2026-07-31T16:30:14.076" v="119"/>
          <ac:picMkLst>
            <pc:docMk/>
            <pc:sldMk cId="1133635661" sldId="311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114" v="121"/>
        <pc:sldMkLst>
          <pc:docMk/>
          <pc:sldMk cId="318321949" sldId="312"/>
        </pc:sldMkLst>
        <pc:picChg chg="mod">
          <ac:chgData name="Maximiliano Ortiz" userId="90727fd8e92db46b" providerId="LiveId" clId="{9BC7EBD1-E6C7-40E2-9BE0-E69EBE0B6810}" dt="2026-07-31T16:30:14.114" v="121"/>
          <ac:picMkLst>
            <pc:docMk/>
            <pc:sldMk cId="318321949" sldId="312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162" v="123"/>
        <pc:sldMkLst>
          <pc:docMk/>
          <pc:sldMk cId="986630461" sldId="315"/>
        </pc:sldMkLst>
        <pc:picChg chg="mod">
          <ac:chgData name="Maximiliano Ortiz" userId="90727fd8e92db46b" providerId="LiveId" clId="{9BC7EBD1-E6C7-40E2-9BE0-E69EBE0B6810}" dt="2026-07-31T16:30:14.162" v="123"/>
          <ac:picMkLst>
            <pc:docMk/>
            <pc:sldMk cId="986630461" sldId="315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185" v="125"/>
        <pc:sldMkLst>
          <pc:docMk/>
          <pc:sldMk cId="1741329192" sldId="316"/>
        </pc:sldMkLst>
        <pc:picChg chg="mod">
          <ac:chgData name="Maximiliano Ortiz" userId="90727fd8e92db46b" providerId="LiveId" clId="{9BC7EBD1-E6C7-40E2-9BE0-E69EBE0B6810}" dt="2026-07-31T16:30:14.185" v="125"/>
          <ac:picMkLst>
            <pc:docMk/>
            <pc:sldMk cId="1741329192" sldId="316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204" v="127"/>
        <pc:sldMkLst>
          <pc:docMk/>
          <pc:sldMk cId="1602286470" sldId="317"/>
        </pc:sldMkLst>
        <pc:picChg chg="mod">
          <ac:chgData name="Maximiliano Ortiz" userId="90727fd8e92db46b" providerId="LiveId" clId="{9BC7EBD1-E6C7-40E2-9BE0-E69EBE0B6810}" dt="2026-07-31T16:30:14.204" v="127"/>
          <ac:picMkLst>
            <pc:docMk/>
            <pc:sldMk cId="1602286470" sldId="317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222" v="129"/>
        <pc:sldMkLst>
          <pc:docMk/>
          <pc:sldMk cId="1133635661" sldId="318"/>
        </pc:sldMkLst>
        <pc:picChg chg="mod">
          <ac:chgData name="Maximiliano Ortiz" userId="90727fd8e92db46b" providerId="LiveId" clId="{9BC7EBD1-E6C7-40E2-9BE0-E69EBE0B6810}" dt="2026-07-31T16:30:14.222" v="129"/>
          <ac:picMkLst>
            <pc:docMk/>
            <pc:sldMk cId="1133635661" sldId="318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265" v="131"/>
        <pc:sldMkLst>
          <pc:docMk/>
          <pc:sldMk cId="1995449240" sldId="319"/>
        </pc:sldMkLst>
        <pc:picChg chg="mod">
          <ac:chgData name="Maximiliano Ortiz" userId="90727fd8e92db46b" providerId="LiveId" clId="{9BC7EBD1-E6C7-40E2-9BE0-E69EBE0B6810}" dt="2026-07-31T16:30:14.265" v="131"/>
          <ac:picMkLst>
            <pc:docMk/>
            <pc:sldMk cId="1995449240" sldId="319"/>
            <ac:picMk id="8" creationId="{00000000-0000-0000-0000-000000000000}"/>
          </ac:picMkLst>
        </pc:picChg>
      </pc:sldChg>
      <pc:sldChg chg="delSp modSp mod">
        <pc:chgData name="Maximiliano Ortiz" userId="90727fd8e92db46b" providerId="LiveId" clId="{9BC7EBD1-E6C7-40E2-9BE0-E69EBE0B6810}" dt="2026-07-31T16:30:14.315" v="133"/>
        <pc:sldMkLst>
          <pc:docMk/>
          <pc:sldMk cId="34619112" sldId="322"/>
        </pc:sldMkLst>
        <pc:spChg chg="del">
          <ac:chgData name="Maximiliano Ortiz" userId="90727fd8e92db46b" providerId="LiveId" clId="{9BC7EBD1-E6C7-40E2-9BE0-E69EBE0B6810}" dt="2026-07-31T16:29:00.136" v="5"/>
          <ac:spMkLst>
            <pc:docMk/>
            <pc:sldMk cId="34619112" sldId="322"/>
            <ac:spMk id="7" creationId="{3E0641FC-7532-A427-1590-9BE2BA261B03}"/>
          </ac:spMkLst>
        </pc:spChg>
        <pc:picChg chg="mod">
          <ac:chgData name="Maximiliano Ortiz" userId="90727fd8e92db46b" providerId="LiveId" clId="{9BC7EBD1-E6C7-40E2-9BE0-E69EBE0B6810}" dt="2026-07-31T16:30:14.315" v="133"/>
          <ac:picMkLst>
            <pc:docMk/>
            <pc:sldMk cId="34619112" sldId="322"/>
            <ac:picMk id="24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339" v="135"/>
        <pc:sldMkLst>
          <pc:docMk/>
          <pc:sldMk cId="817057724" sldId="323"/>
        </pc:sldMkLst>
        <pc:picChg chg="mod">
          <ac:chgData name="Maximiliano Ortiz" userId="90727fd8e92db46b" providerId="LiveId" clId="{9BC7EBD1-E6C7-40E2-9BE0-E69EBE0B6810}" dt="2026-07-31T16:30:14.339" v="135"/>
          <ac:picMkLst>
            <pc:docMk/>
            <pc:sldMk cId="817057724" sldId="323"/>
            <ac:picMk id="8" creationId="{00000000-0000-0000-0000-000000000000}"/>
          </ac:picMkLst>
        </pc:picChg>
      </pc:sldChg>
      <pc:sldChg chg="delSp modSp mod">
        <pc:chgData name="Maximiliano Ortiz" userId="90727fd8e92db46b" providerId="LiveId" clId="{9BC7EBD1-E6C7-40E2-9BE0-E69EBE0B6810}" dt="2026-07-31T16:30:14.393" v="137"/>
        <pc:sldMkLst>
          <pc:docMk/>
          <pc:sldMk cId="48649001" sldId="325"/>
        </pc:sldMkLst>
        <pc:spChg chg="del">
          <ac:chgData name="Maximiliano Ortiz" userId="90727fd8e92db46b" providerId="LiveId" clId="{9BC7EBD1-E6C7-40E2-9BE0-E69EBE0B6810}" dt="2026-07-31T16:29:00.463" v="7"/>
          <ac:spMkLst>
            <pc:docMk/>
            <pc:sldMk cId="48649001" sldId="325"/>
            <ac:spMk id="15" creationId="{037E51DA-6697-7984-784B-648406DB4719}"/>
          </ac:spMkLst>
        </pc:spChg>
        <pc:picChg chg="mod">
          <ac:chgData name="Maximiliano Ortiz" userId="90727fd8e92db46b" providerId="LiveId" clId="{9BC7EBD1-E6C7-40E2-9BE0-E69EBE0B6810}" dt="2026-07-31T16:30:14.393" v="137"/>
          <ac:picMkLst>
            <pc:docMk/>
            <pc:sldMk cId="48649001" sldId="325"/>
            <ac:picMk id="32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423" v="139"/>
        <pc:sldMkLst>
          <pc:docMk/>
          <pc:sldMk cId="986630461" sldId="326"/>
        </pc:sldMkLst>
        <pc:picChg chg="mod">
          <ac:chgData name="Maximiliano Ortiz" userId="90727fd8e92db46b" providerId="LiveId" clId="{9BC7EBD1-E6C7-40E2-9BE0-E69EBE0B6810}" dt="2026-07-31T16:30:14.423" v="139"/>
          <ac:picMkLst>
            <pc:docMk/>
            <pc:sldMk cId="986630461" sldId="326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450" v="141"/>
        <pc:sldMkLst>
          <pc:docMk/>
          <pc:sldMk cId="1995449240" sldId="327"/>
        </pc:sldMkLst>
        <pc:picChg chg="mod">
          <ac:chgData name="Maximiliano Ortiz" userId="90727fd8e92db46b" providerId="LiveId" clId="{9BC7EBD1-E6C7-40E2-9BE0-E69EBE0B6810}" dt="2026-07-31T16:30:14.450" v="141"/>
          <ac:picMkLst>
            <pc:docMk/>
            <pc:sldMk cId="1995449240" sldId="327"/>
            <ac:picMk id="10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487" v="143"/>
        <pc:sldMkLst>
          <pc:docMk/>
          <pc:sldMk cId="1602286470" sldId="328"/>
        </pc:sldMkLst>
        <pc:picChg chg="mod">
          <ac:chgData name="Maximiliano Ortiz" userId="90727fd8e92db46b" providerId="LiveId" clId="{9BC7EBD1-E6C7-40E2-9BE0-E69EBE0B6810}" dt="2026-07-31T16:30:14.487" v="143"/>
          <ac:picMkLst>
            <pc:docMk/>
            <pc:sldMk cId="1602286470" sldId="328"/>
            <ac:picMk id="10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525" v="145"/>
        <pc:sldMkLst>
          <pc:docMk/>
          <pc:sldMk cId="1133635661" sldId="329"/>
        </pc:sldMkLst>
        <pc:picChg chg="mod">
          <ac:chgData name="Maximiliano Ortiz" userId="90727fd8e92db46b" providerId="LiveId" clId="{9BC7EBD1-E6C7-40E2-9BE0-E69EBE0B6810}" dt="2026-07-31T16:30:14.525" v="145"/>
          <ac:picMkLst>
            <pc:docMk/>
            <pc:sldMk cId="1133635661" sldId="329"/>
            <ac:picMk id="10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550" v="147"/>
        <pc:sldMkLst>
          <pc:docMk/>
          <pc:sldMk cId="1673297158" sldId="330"/>
        </pc:sldMkLst>
        <pc:picChg chg="mod">
          <ac:chgData name="Maximiliano Ortiz" userId="90727fd8e92db46b" providerId="LiveId" clId="{9BC7EBD1-E6C7-40E2-9BE0-E69EBE0B6810}" dt="2026-07-31T16:30:14.550" v="147"/>
          <ac:picMkLst>
            <pc:docMk/>
            <pc:sldMk cId="1673297158" sldId="330"/>
            <ac:picMk id="10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574" v="149"/>
        <pc:sldMkLst>
          <pc:docMk/>
          <pc:sldMk cId="986630461" sldId="331"/>
        </pc:sldMkLst>
        <pc:picChg chg="mod">
          <ac:chgData name="Maximiliano Ortiz" userId="90727fd8e92db46b" providerId="LiveId" clId="{9BC7EBD1-E6C7-40E2-9BE0-E69EBE0B6810}" dt="2026-07-31T16:30:14.574" v="149"/>
          <ac:picMkLst>
            <pc:docMk/>
            <pc:sldMk cId="986630461" sldId="331"/>
            <ac:picMk id="10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617" v="151"/>
        <pc:sldMkLst>
          <pc:docMk/>
          <pc:sldMk cId="1602286470" sldId="332"/>
        </pc:sldMkLst>
        <pc:picChg chg="mod">
          <ac:chgData name="Maximiliano Ortiz" userId="90727fd8e92db46b" providerId="LiveId" clId="{9BC7EBD1-E6C7-40E2-9BE0-E69EBE0B6810}" dt="2026-07-31T16:30:14.617" v="151"/>
          <ac:picMkLst>
            <pc:docMk/>
            <pc:sldMk cId="1602286470" sldId="332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651" v="153"/>
        <pc:sldMkLst>
          <pc:docMk/>
          <pc:sldMk cId="1602286470" sldId="333"/>
        </pc:sldMkLst>
        <pc:picChg chg="mod">
          <ac:chgData name="Maximiliano Ortiz" userId="90727fd8e92db46b" providerId="LiveId" clId="{9BC7EBD1-E6C7-40E2-9BE0-E69EBE0B6810}" dt="2026-07-31T16:30:14.651" v="153"/>
          <ac:picMkLst>
            <pc:docMk/>
            <pc:sldMk cId="1602286470" sldId="333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691" v="155"/>
        <pc:sldMkLst>
          <pc:docMk/>
          <pc:sldMk cId="1133635661" sldId="334"/>
        </pc:sldMkLst>
        <pc:picChg chg="mod">
          <ac:chgData name="Maximiliano Ortiz" userId="90727fd8e92db46b" providerId="LiveId" clId="{9BC7EBD1-E6C7-40E2-9BE0-E69EBE0B6810}" dt="2026-07-31T16:30:14.691" v="155"/>
          <ac:picMkLst>
            <pc:docMk/>
            <pc:sldMk cId="1133635661" sldId="334"/>
            <ac:picMk id="10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711" v="157"/>
        <pc:sldMkLst>
          <pc:docMk/>
          <pc:sldMk cId="1320203634" sldId="335"/>
        </pc:sldMkLst>
        <pc:picChg chg="mod">
          <ac:chgData name="Maximiliano Ortiz" userId="90727fd8e92db46b" providerId="LiveId" clId="{9BC7EBD1-E6C7-40E2-9BE0-E69EBE0B6810}" dt="2026-07-31T16:30:14.711" v="157"/>
          <ac:picMkLst>
            <pc:docMk/>
            <pc:sldMk cId="1320203634" sldId="335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743" v="159"/>
        <pc:sldMkLst>
          <pc:docMk/>
          <pc:sldMk cId="986630461" sldId="337"/>
        </pc:sldMkLst>
        <pc:picChg chg="mod">
          <ac:chgData name="Maximiliano Ortiz" userId="90727fd8e92db46b" providerId="LiveId" clId="{9BC7EBD1-E6C7-40E2-9BE0-E69EBE0B6810}" dt="2026-07-31T16:30:14.743" v="159"/>
          <ac:picMkLst>
            <pc:docMk/>
            <pc:sldMk cId="986630461" sldId="337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768" v="161"/>
        <pc:sldMkLst>
          <pc:docMk/>
          <pc:sldMk cId="1926975773" sldId="338"/>
        </pc:sldMkLst>
        <pc:picChg chg="mod">
          <ac:chgData name="Maximiliano Ortiz" userId="90727fd8e92db46b" providerId="LiveId" clId="{9BC7EBD1-E6C7-40E2-9BE0-E69EBE0B6810}" dt="2026-07-31T16:30:14.768" v="161"/>
          <ac:picMkLst>
            <pc:docMk/>
            <pc:sldMk cId="1926975773" sldId="338"/>
            <ac:picMk id="8" creationId="{00000000-0000-0000-0000-000000000000}"/>
          </ac:picMkLst>
        </pc:picChg>
      </pc:sldChg>
      <pc:sldChg chg="delSp modSp mod">
        <pc:chgData name="Maximiliano Ortiz" userId="90727fd8e92db46b" providerId="LiveId" clId="{9BC7EBD1-E6C7-40E2-9BE0-E69EBE0B6810}" dt="2026-07-31T16:30:14.803" v="163"/>
        <pc:sldMkLst>
          <pc:docMk/>
          <pc:sldMk cId="48649001" sldId="339"/>
        </pc:sldMkLst>
        <pc:spChg chg="del">
          <ac:chgData name="Maximiliano Ortiz" userId="90727fd8e92db46b" providerId="LiveId" clId="{9BC7EBD1-E6C7-40E2-9BE0-E69EBE0B6810}" dt="2026-07-31T16:29:01.127" v="9"/>
          <ac:spMkLst>
            <pc:docMk/>
            <pc:sldMk cId="48649001" sldId="339"/>
            <ac:spMk id="15" creationId="{037E51DA-6697-7984-784B-648406DB4719}"/>
          </ac:spMkLst>
        </pc:spChg>
        <pc:picChg chg="mod">
          <ac:chgData name="Maximiliano Ortiz" userId="90727fd8e92db46b" providerId="LiveId" clId="{9BC7EBD1-E6C7-40E2-9BE0-E69EBE0B6810}" dt="2026-07-31T16:30:14.803" v="163"/>
          <ac:picMkLst>
            <pc:docMk/>
            <pc:sldMk cId="48649001" sldId="339"/>
            <ac:picMk id="32" creationId="{00000000-0000-0000-0000-000000000000}"/>
          </ac:picMkLst>
        </pc:picChg>
      </pc:sldChg>
      <pc:sldChg chg="delSp modSp mod">
        <pc:chgData name="Maximiliano Ortiz" userId="90727fd8e92db46b" providerId="LiveId" clId="{9BC7EBD1-E6C7-40E2-9BE0-E69EBE0B6810}" dt="2026-07-31T16:30:14.832" v="165"/>
        <pc:sldMkLst>
          <pc:docMk/>
          <pc:sldMk cId="48649001" sldId="340"/>
        </pc:sldMkLst>
        <pc:spChg chg="del">
          <ac:chgData name="Maximiliano Ortiz" userId="90727fd8e92db46b" providerId="LiveId" clId="{9BC7EBD1-E6C7-40E2-9BE0-E69EBE0B6810}" dt="2026-07-31T16:29:01.177" v="11"/>
          <ac:spMkLst>
            <pc:docMk/>
            <pc:sldMk cId="48649001" sldId="340"/>
            <ac:spMk id="15" creationId="{037E51DA-6697-7984-784B-648406DB4719}"/>
          </ac:spMkLst>
        </pc:spChg>
        <pc:picChg chg="mod">
          <ac:chgData name="Maximiliano Ortiz" userId="90727fd8e92db46b" providerId="LiveId" clId="{9BC7EBD1-E6C7-40E2-9BE0-E69EBE0B6810}" dt="2026-07-31T16:30:14.832" v="165"/>
          <ac:picMkLst>
            <pc:docMk/>
            <pc:sldMk cId="48649001" sldId="340"/>
            <ac:picMk id="32" creationId="{00000000-0000-0000-0000-000000000000}"/>
          </ac:picMkLst>
        </pc:picChg>
      </pc:sldChg>
      <pc:sldChg chg="delSp modSp mod">
        <pc:chgData name="Maximiliano Ortiz" userId="90727fd8e92db46b" providerId="LiveId" clId="{9BC7EBD1-E6C7-40E2-9BE0-E69EBE0B6810}" dt="2026-07-31T16:30:14.866" v="167"/>
        <pc:sldMkLst>
          <pc:docMk/>
          <pc:sldMk cId="48649001" sldId="341"/>
        </pc:sldMkLst>
        <pc:spChg chg="del">
          <ac:chgData name="Maximiliano Ortiz" userId="90727fd8e92db46b" providerId="LiveId" clId="{9BC7EBD1-E6C7-40E2-9BE0-E69EBE0B6810}" dt="2026-07-31T16:29:01.218" v="13"/>
          <ac:spMkLst>
            <pc:docMk/>
            <pc:sldMk cId="48649001" sldId="341"/>
            <ac:spMk id="15" creationId="{037E51DA-6697-7984-784B-648406DB4719}"/>
          </ac:spMkLst>
        </pc:spChg>
        <pc:picChg chg="mod">
          <ac:chgData name="Maximiliano Ortiz" userId="90727fd8e92db46b" providerId="LiveId" clId="{9BC7EBD1-E6C7-40E2-9BE0-E69EBE0B6810}" dt="2026-07-31T16:30:14.866" v="167"/>
          <ac:picMkLst>
            <pc:docMk/>
            <pc:sldMk cId="48649001" sldId="341"/>
            <ac:picMk id="32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896" v="169"/>
        <pc:sldMkLst>
          <pc:docMk/>
          <pc:sldMk cId="1741329192" sldId="342"/>
        </pc:sldMkLst>
        <pc:picChg chg="mod">
          <ac:chgData name="Maximiliano Ortiz" userId="90727fd8e92db46b" providerId="LiveId" clId="{9BC7EBD1-E6C7-40E2-9BE0-E69EBE0B6810}" dt="2026-07-31T16:30:14.896" v="169"/>
          <ac:picMkLst>
            <pc:docMk/>
            <pc:sldMk cId="1741329192" sldId="342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911" v="171"/>
        <pc:sldMkLst>
          <pc:docMk/>
          <pc:sldMk cId="318321949" sldId="343"/>
        </pc:sldMkLst>
        <pc:picChg chg="mod">
          <ac:chgData name="Maximiliano Ortiz" userId="90727fd8e92db46b" providerId="LiveId" clId="{9BC7EBD1-E6C7-40E2-9BE0-E69EBE0B6810}" dt="2026-07-31T16:30:14.911" v="171"/>
          <ac:picMkLst>
            <pc:docMk/>
            <pc:sldMk cId="318321949" sldId="343"/>
            <ac:picMk id="12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938" v="173"/>
        <pc:sldMkLst>
          <pc:docMk/>
          <pc:sldMk cId="1320203634" sldId="344"/>
        </pc:sldMkLst>
        <pc:picChg chg="mod">
          <ac:chgData name="Maximiliano Ortiz" userId="90727fd8e92db46b" providerId="LiveId" clId="{9BC7EBD1-E6C7-40E2-9BE0-E69EBE0B6810}" dt="2026-07-31T16:30:14.938" v="173"/>
          <ac:picMkLst>
            <pc:docMk/>
            <pc:sldMk cId="1320203634" sldId="344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972" v="175"/>
        <pc:sldMkLst>
          <pc:docMk/>
          <pc:sldMk cId="1995449240" sldId="346"/>
        </pc:sldMkLst>
        <pc:picChg chg="mod">
          <ac:chgData name="Maximiliano Ortiz" userId="90727fd8e92db46b" providerId="LiveId" clId="{9BC7EBD1-E6C7-40E2-9BE0-E69EBE0B6810}" dt="2026-07-31T16:30:14.972" v="175"/>
          <ac:picMkLst>
            <pc:docMk/>
            <pc:sldMk cId="1995449240" sldId="346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4.993" v="177"/>
        <pc:sldMkLst>
          <pc:docMk/>
          <pc:sldMk cId="1602286470" sldId="347"/>
        </pc:sldMkLst>
        <pc:picChg chg="mod">
          <ac:chgData name="Maximiliano Ortiz" userId="90727fd8e92db46b" providerId="LiveId" clId="{9BC7EBD1-E6C7-40E2-9BE0-E69EBE0B6810}" dt="2026-07-31T16:30:14.993" v="177"/>
          <ac:picMkLst>
            <pc:docMk/>
            <pc:sldMk cId="1602286470" sldId="347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5.021" v="179"/>
        <pc:sldMkLst>
          <pc:docMk/>
          <pc:sldMk cId="1602286470" sldId="348"/>
        </pc:sldMkLst>
        <pc:picChg chg="mod">
          <ac:chgData name="Maximiliano Ortiz" userId="90727fd8e92db46b" providerId="LiveId" clId="{9BC7EBD1-E6C7-40E2-9BE0-E69EBE0B6810}" dt="2026-07-31T16:30:15.021" v="179"/>
          <ac:picMkLst>
            <pc:docMk/>
            <pc:sldMk cId="1602286470" sldId="348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5.043" v="181"/>
        <pc:sldMkLst>
          <pc:docMk/>
          <pc:sldMk cId="1602286470" sldId="349"/>
        </pc:sldMkLst>
        <pc:picChg chg="mod">
          <ac:chgData name="Maximiliano Ortiz" userId="90727fd8e92db46b" providerId="LiveId" clId="{9BC7EBD1-E6C7-40E2-9BE0-E69EBE0B6810}" dt="2026-07-31T16:30:15.043" v="181"/>
          <ac:picMkLst>
            <pc:docMk/>
            <pc:sldMk cId="1602286470" sldId="349"/>
            <ac:picMk id="8" creationId="{00000000-0000-0000-0000-000000000000}"/>
          </ac:picMkLst>
        </pc:picChg>
      </pc:sldChg>
      <pc:sldChg chg="delSp modSp mod">
        <pc:chgData name="Maximiliano Ortiz" userId="90727fd8e92db46b" providerId="LiveId" clId="{9BC7EBD1-E6C7-40E2-9BE0-E69EBE0B6810}" dt="2026-07-31T16:30:15.083" v="183"/>
        <pc:sldMkLst>
          <pc:docMk/>
          <pc:sldMk cId="48649001" sldId="350"/>
        </pc:sldMkLst>
        <pc:spChg chg="del">
          <ac:chgData name="Maximiliano Ortiz" userId="90727fd8e92db46b" providerId="LiveId" clId="{9BC7EBD1-E6C7-40E2-9BE0-E69EBE0B6810}" dt="2026-07-31T16:29:01.461" v="17"/>
          <ac:spMkLst>
            <pc:docMk/>
            <pc:sldMk cId="48649001" sldId="350"/>
            <ac:spMk id="15" creationId="{037E51DA-6697-7984-784B-648406DB4719}"/>
          </ac:spMkLst>
        </pc:spChg>
        <pc:picChg chg="mod">
          <ac:chgData name="Maximiliano Ortiz" userId="90727fd8e92db46b" providerId="LiveId" clId="{9BC7EBD1-E6C7-40E2-9BE0-E69EBE0B6810}" dt="2026-07-31T16:30:15.083" v="183"/>
          <ac:picMkLst>
            <pc:docMk/>
            <pc:sldMk cId="48649001" sldId="350"/>
            <ac:picMk id="34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5.112" v="185"/>
        <pc:sldMkLst>
          <pc:docMk/>
          <pc:sldMk cId="1741329192" sldId="351"/>
        </pc:sldMkLst>
        <pc:picChg chg="mod">
          <ac:chgData name="Maximiliano Ortiz" userId="90727fd8e92db46b" providerId="LiveId" clId="{9BC7EBD1-E6C7-40E2-9BE0-E69EBE0B6810}" dt="2026-07-31T16:30:15.112" v="185"/>
          <ac:picMkLst>
            <pc:docMk/>
            <pc:sldMk cId="1741329192" sldId="351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5.155" v="187"/>
        <pc:sldMkLst>
          <pc:docMk/>
          <pc:sldMk cId="1133635661" sldId="352"/>
        </pc:sldMkLst>
        <pc:picChg chg="mod">
          <ac:chgData name="Maximiliano Ortiz" userId="90727fd8e92db46b" providerId="LiveId" clId="{9BC7EBD1-E6C7-40E2-9BE0-E69EBE0B6810}" dt="2026-07-31T16:30:15.155" v="187"/>
          <ac:picMkLst>
            <pc:docMk/>
            <pc:sldMk cId="1133635661" sldId="352"/>
            <ac:picMk id="10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5.180" v="189"/>
        <pc:sldMkLst>
          <pc:docMk/>
          <pc:sldMk cId="986630461" sldId="353"/>
        </pc:sldMkLst>
        <pc:picChg chg="mod">
          <ac:chgData name="Maximiliano Ortiz" userId="90727fd8e92db46b" providerId="LiveId" clId="{9BC7EBD1-E6C7-40E2-9BE0-E69EBE0B6810}" dt="2026-07-31T16:30:15.180" v="189"/>
          <ac:picMkLst>
            <pc:docMk/>
            <pc:sldMk cId="986630461" sldId="353"/>
            <ac:picMk id="8" creationId="{00000000-0000-0000-0000-000000000000}"/>
          </ac:picMkLst>
        </pc:picChg>
      </pc:sldChg>
      <pc:sldChg chg="delSp modSp mod">
        <pc:chgData name="Maximiliano Ortiz" userId="90727fd8e92db46b" providerId="LiveId" clId="{9BC7EBD1-E6C7-40E2-9BE0-E69EBE0B6810}" dt="2026-07-31T16:30:15.208" v="191"/>
        <pc:sldMkLst>
          <pc:docMk/>
          <pc:sldMk cId="48649001" sldId="354"/>
        </pc:sldMkLst>
        <pc:spChg chg="del">
          <ac:chgData name="Maximiliano Ortiz" userId="90727fd8e92db46b" providerId="LiveId" clId="{9BC7EBD1-E6C7-40E2-9BE0-E69EBE0B6810}" dt="2026-07-31T16:29:01.570" v="19"/>
          <ac:spMkLst>
            <pc:docMk/>
            <pc:sldMk cId="48649001" sldId="354"/>
            <ac:spMk id="15" creationId="{037E51DA-6697-7984-784B-648406DB4719}"/>
          </ac:spMkLst>
        </pc:spChg>
        <pc:picChg chg="mod">
          <ac:chgData name="Maximiliano Ortiz" userId="90727fd8e92db46b" providerId="LiveId" clId="{9BC7EBD1-E6C7-40E2-9BE0-E69EBE0B6810}" dt="2026-07-31T16:30:15.208" v="191"/>
          <ac:picMkLst>
            <pc:docMk/>
            <pc:sldMk cId="48649001" sldId="354"/>
            <ac:picMk id="32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5.297" v="193"/>
        <pc:sldMkLst>
          <pc:docMk/>
          <pc:sldMk cId="1602286470" sldId="355"/>
        </pc:sldMkLst>
        <pc:picChg chg="mod">
          <ac:chgData name="Maximiliano Ortiz" userId="90727fd8e92db46b" providerId="LiveId" clId="{9BC7EBD1-E6C7-40E2-9BE0-E69EBE0B6810}" dt="2026-07-31T16:30:15.297" v="193"/>
          <ac:picMkLst>
            <pc:docMk/>
            <pc:sldMk cId="1602286470" sldId="355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5.449" v="195"/>
        <pc:sldMkLst>
          <pc:docMk/>
          <pc:sldMk cId="1602286470" sldId="356"/>
        </pc:sldMkLst>
        <pc:picChg chg="mod">
          <ac:chgData name="Maximiliano Ortiz" userId="90727fd8e92db46b" providerId="LiveId" clId="{9BC7EBD1-E6C7-40E2-9BE0-E69EBE0B6810}" dt="2026-07-31T16:30:15.449" v="195"/>
          <ac:picMkLst>
            <pc:docMk/>
            <pc:sldMk cId="1602286470" sldId="356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5.544" v="197"/>
        <pc:sldMkLst>
          <pc:docMk/>
          <pc:sldMk cId="817057724" sldId="359"/>
        </pc:sldMkLst>
        <pc:picChg chg="mod">
          <ac:chgData name="Maximiliano Ortiz" userId="90727fd8e92db46b" providerId="LiveId" clId="{9BC7EBD1-E6C7-40E2-9BE0-E69EBE0B6810}" dt="2026-07-31T16:30:15.544" v="197"/>
          <ac:picMkLst>
            <pc:docMk/>
            <pc:sldMk cId="817057724" sldId="359"/>
            <ac:picMk id="12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5.678" v="199"/>
        <pc:sldMkLst>
          <pc:docMk/>
          <pc:sldMk cId="1741329192" sldId="361"/>
        </pc:sldMkLst>
        <pc:picChg chg="mod">
          <ac:chgData name="Maximiliano Ortiz" userId="90727fd8e92db46b" providerId="LiveId" clId="{9BC7EBD1-E6C7-40E2-9BE0-E69EBE0B6810}" dt="2026-07-31T16:30:15.678" v="199"/>
          <ac:picMkLst>
            <pc:docMk/>
            <pc:sldMk cId="1741329192" sldId="361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5.733" v="201"/>
        <pc:sldMkLst>
          <pc:docMk/>
          <pc:sldMk cId="951530275" sldId="362"/>
        </pc:sldMkLst>
        <pc:picChg chg="mod">
          <ac:chgData name="Maximiliano Ortiz" userId="90727fd8e92db46b" providerId="LiveId" clId="{9BC7EBD1-E6C7-40E2-9BE0-E69EBE0B6810}" dt="2026-07-31T16:30:15.733" v="201"/>
          <ac:picMkLst>
            <pc:docMk/>
            <pc:sldMk cId="951530275" sldId="362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5.809" v="203"/>
        <pc:sldMkLst>
          <pc:docMk/>
          <pc:sldMk cId="880112903" sldId="364"/>
        </pc:sldMkLst>
        <pc:picChg chg="mod">
          <ac:chgData name="Maximiliano Ortiz" userId="90727fd8e92db46b" providerId="LiveId" clId="{9BC7EBD1-E6C7-40E2-9BE0-E69EBE0B6810}" dt="2026-07-31T16:30:15.809" v="203"/>
          <ac:picMkLst>
            <pc:docMk/>
            <pc:sldMk cId="880112903" sldId="364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5.854" v="205"/>
        <pc:sldMkLst>
          <pc:docMk/>
          <pc:sldMk cId="313021856" sldId="365"/>
        </pc:sldMkLst>
        <pc:picChg chg="mod">
          <ac:chgData name="Maximiliano Ortiz" userId="90727fd8e92db46b" providerId="LiveId" clId="{9BC7EBD1-E6C7-40E2-9BE0-E69EBE0B6810}" dt="2026-07-31T16:30:15.854" v="205"/>
          <ac:picMkLst>
            <pc:docMk/>
            <pc:sldMk cId="313021856" sldId="365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5.884" v="207"/>
        <pc:sldMkLst>
          <pc:docMk/>
          <pc:sldMk cId="313021856" sldId="366"/>
        </pc:sldMkLst>
        <pc:picChg chg="mod">
          <ac:chgData name="Maximiliano Ortiz" userId="90727fd8e92db46b" providerId="LiveId" clId="{9BC7EBD1-E6C7-40E2-9BE0-E69EBE0B6810}" dt="2026-07-31T16:30:15.884" v="207"/>
          <ac:picMkLst>
            <pc:docMk/>
            <pc:sldMk cId="313021856" sldId="366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5.912" v="209"/>
        <pc:sldMkLst>
          <pc:docMk/>
          <pc:sldMk cId="313021856" sldId="367"/>
        </pc:sldMkLst>
        <pc:picChg chg="mod">
          <ac:chgData name="Maximiliano Ortiz" userId="90727fd8e92db46b" providerId="LiveId" clId="{9BC7EBD1-E6C7-40E2-9BE0-E69EBE0B6810}" dt="2026-07-31T16:30:15.912" v="209"/>
          <ac:picMkLst>
            <pc:docMk/>
            <pc:sldMk cId="313021856" sldId="367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5.969" v="211"/>
        <pc:sldMkLst>
          <pc:docMk/>
          <pc:sldMk cId="313021856" sldId="368"/>
        </pc:sldMkLst>
        <pc:picChg chg="mod">
          <ac:chgData name="Maximiliano Ortiz" userId="90727fd8e92db46b" providerId="LiveId" clId="{9BC7EBD1-E6C7-40E2-9BE0-E69EBE0B6810}" dt="2026-07-31T16:30:15.969" v="211"/>
          <ac:picMkLst>
            <pc:docMk/>
            <pc:sldMk cId="313021856" sldId="368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6.022" v="213"/>
        <pc:sldMkLst>
          <pc:docMk/>
          <pc:sldMk cId="313021856" sldId="370"/>
        </pc:sldMkLst>
        <pc:picChg chg="mod">
          <ac:chgData name="Maximiliano Ortiz" userId="90727fd8e92db46b" providerId="LiveId" clId="{9BC7EBD1-E6C7-40E2-9BE0-E69EBE0B6810}" dt="2026-07-31T16:30:16.022" v="213"/>
          <ac:picMkLst>
            <pc:docMk/>
            <pc:sldMk cId="313021856" sldId="370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6.054" v="215"/>
        <pc:sldMkLst>
          <pc:docMk/>
          <pc:sldMk cId="313021856" sldId="371"/>
        </pc:sldMkLst>
        <pc:picChg chg="mod">
          <ac:chgData name="Maximiliano Ortiz" userId="90727fd8e92db46b" providerId="LiveId" clId="{9BC7EBD1-E6C7-40E2-9BE0-E69EBE0B6810}" dt="2026-07-31T16:30:16.054" v="215"/>
          <ac:picMkLst>
            <pc:docMk/>
            <pc:sldMk cId="313021856" sldId="371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6.082" v="217"/>
        <pc:sldMkLst>
          <pc:docMk/>
          <pc:sldMk cId="313021856" sldId="372"/>
        </pc:sldMkLst>
        <pc:picChg chg="mod">
          <ac:chgData name="Maximiliano Ortiz" userId="90727fd8e92db46b" providerId="LiveId" clId="{9BC7EBD1-E6C7-40E2-9BE0-E69EBE0B6810}" dt="2026-07-31T16:30:16.082" v="217"/>
          <ac:picMkLst>
            <pc:docMk/>
            <pc:sldMk cId="313021856" sldId="372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6.115" v="219"/>
        <pc:sldMkLst>
          <pc:docMk/>
          <pc:sldMk cId="313021856" sldId="373"/>
        </pc:sldMkLst>
        <pc:picChg chg="mod">
          <ac:chgData name="Maximiliano Ortiz" userId="90727fd8e92db46b" providerId="LiveId" clId="{9BC7EBD1-E6C7-40E2-9BE0-E69EBE0B6810}" dt="2026-07-31T16:30:16.115" v="219"/>
          <ac:picMkLst>
            <pc:docMk/>
            <pc:sldMk cId="313021856" sldId="373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6.191" v="221"/>
        <pc:sldMkLst>
          <pc:docMk/>
          <pc:sldMk cId="313021856" sldId="376"/>
        </pc:sldMkLst>
        <pc:picChg chg="mod">
          <ac:chgData name="Maximiliano Ortiz" userId="90727fd8e92db46b" providerId="LiveId" clId="{9BC7EBD1-E6C7-40E2-9BE0-E69EBE0B6810}" dt="2026-07-31T16:30:16.191" v="221"/>
          <ac:picMkLst>
            <pc:docMk/>
            <pc:sldMk cId="313021856" sldId="376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6.243" v="223"/>
        <pc:sldMkLst>
          <pc:docMk/>
          <pc:sldMk cId="313021856" sldId="377"/>
        </pc:sldMkLst>
        <pc:picChg chg="mod">
          <ac:chgData name="Maximiliano Ortiz" userId="90727fd8e92db46b" providerId="LiveId" clId="{9BC7EBD1-E6C7-40E2-9BE0-E69EBE0B6810}" dt="2026-07-31T16:30:16.243" v="223"/>
          <ac:picMkLst>
            <pc:docMk/>
            <pc:sldMk cId="313021856" sldId="377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6:30:16.279" v="225"/>
        <pc:sldMkLst>
          <pc:docMk/>
          <pc:sldMk cId="313021856" sldId="378"/>
        </pc:sldMkLst>
        <pc:picChg chg="mod">
          <ac:chgData name="Maximiliano Ortiz" userId="90727fd8e92db46b" providerId="LiveId" clId="{9BC7EBD1-E6C7-40E2-9BE0-E69EBE0B6810}" dt="2026-07-31T16:30:16.279" v="225"/>
          <ac:picMkLst>
            <pc:docMk/>
            <pc:sldMk cId="313021856" sldId="378"/>
            <ac:picMk id="8" creationId="{00000000-0000-0000-0000-000000000000}"/>
          </ac:picMkLst>
        </pc:picChg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Señal A</c:v>
          </c:tx>
          <c:spPr>
            <a:ln w="28575">
              <a:solidFill>
                <a:srgbClr val="2F7E83"/>
              </a:solidFill>
              <a:prstDash val="solid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1</c:v>
              </c:pt>
              <c:pt idx="2">
                <c:v>0</c:v>
              </c:pt>
              <c:pt idx="3">
                <c:v>-1</c:v>
              </c:pt>
              <c:pt idx="4">
                <c:v>0</c:v>
              </c:pt>
              <c:pt idx="5">
                <c:v>1</c:v>
              </c:pt>
              <c:pt idx="6">
                <c:v>0</c:v>
              </c:pt>
              <c:pt idx="7">
                <c:v>-1</c:v>
              </c:pt>
              <c:pt idx="8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AB74-4FA9-9BE1-EEEBFAF05E0A}"/>
            </c:ext>
          </c:extLst>
        </c:ser>
        <c:ser>
          <c:idx val="1"/>
          <c:order val="1"/>
          <c:tx>
            <c:v>Señal B</c:v>
          </c:tx>
          <c:spPr>
            <a:ln w="14288">
              <a:solidFill>
                <a:srgbClr val="969FA7"/>
              </a:solidFill>
              <a:prstDash val="dash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AB74-4FA9-9BE1-EEEBFAF05E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50">
                    <a:solidFill>
                      <a:srgbClr val="667079"/>
                    </a:solidFill>
                  </a:rPr>
                  <a:t>tiempo (ms)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667079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67079"/>
                </a:solidFill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-1"/>
        </c:scaling>
        <c:delete val="0"/>
        <c:axPos val="l"/>
        <c:majorGridlines>
          <c:spPr>
            <a:ln w="9525">
              <a:solidFill>
                <a:srgbClr val="D9DCE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050">
                    <a:solidFill>
                      <a:srgbClr val="667079"/>
                    </a:solidFill>
                  </a:rPr>
                  <a:t>amplitud relativa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667079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67079"/>
                </a:solidFill>
              </a:defRPr>
            </a:pPr>
            <a:endParaRPr lang="es-ES"/>
          </a:p>
        </c:txPr>
        <c:crossAx val="48650112"/>
        <c:crosses val="autoZero"/>
        <c:crossBetween val="between"/>
        <c:majorUnit val="0.5"/>
      </c:valAx>
      <c:spPr>
        <a:solidFill>
          <a:srgbClr val="FFFFFF"/>
        </a:solidFill>
        <a:ln w="0">
          <a:solidFill>
            <a:srgbClr val="000000">
              <a:alpha val="0"/>
            </a:srgbClr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000000">
          <a:alpha val="0"/>
        </a:srgbClr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lineChart>
        <c:grouping val="standard"/>
        <c:varyColors val="1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Señal A</c:v>
          </c:tx>
          <c:spPr>
            <a:ln w="28575">
              <a:solidFill>
                <a:srgbClr val="2F7E83"/>
              </a:solidFill>
              <a:prstDash val="solid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1</c:v>
              </c:pt>
              <c:pt idx="2">
                <c:v>0</c:v>
              </c:pt>
              <c:pt idx="3">
                <c:v>-1</c:v>
              </c:pt>
              <c:pt idx="4">
                <c:v>0</c:v>
              </c:pt>
              <c:pt idx="5">
                <c:v>1</c:v>
              </c:pt>
              <c:pt idx="6">
                <c:v>0</c:v>
              </c:pt>
              <c:pt idx="7">
                <c:v>-1</c:v>
              </c:pt>
              <c:pt idx="8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E5CC-42F9-B074-05DD24423397}"/>
            </c:ext>
          </c:extLst>
        </c:ser>
        <c:ser>
          <c:idx val="1"/>
          <c:order val="1"/>
          <c:tx>
            <c:v>Señal B</c:v>
          </c:tx>
          <c:spPr>
            <a:ln w="14288">
              <a:solidFill>
                <a:srgbClr val="969FA7"/>
              </a:solidFill>
              <a:prstDash val="dash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E5CC-42F9-B074-05DD244233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50">
                    <a:solidFill>
                      <a:srgbClr val="667079"/>
                    </a:solidFill>
                  </a:rPr>
                  <a:t>tiempo (ms)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667079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67079"/>
                </a:solidFill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-1"/>
        </c:scaling>
        <c:delete val="0"/>
        <c:axPos val="l"/>
        <c:majorGridlines>
          <c:spPr>
            <a:ln w="9525">
              <a:solidFill>
                <a:srgbClr val="D9DCE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050">
                    <a:solidFill>
                      <a:srgbClr val="667079"/>
                    </a:solidFill>
                  </a:rPr>
                  <a:t>amplitud relativa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667079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67079"/>
                </a:solidFill>
              </a:defRPr>
            </a:pPr>
            <a:endParaRPr lang="es-ES"/>
          </a:p>
        </c:txPr>
        <c:crossAx val="48650112"/>
        <c:crosses val="autoZero"/>
        <c:crossBetween val="between"/>
        <c:majorUnit val="0.5"/>
      </c:valAx>
      <c:spPr>
        <a:solidFill>
          <a:srgbClr val="FFFFFF"/>
        </a:solidFill>
        <a:ln w="0">
          <a:solidFill>
            <a:srgbClr val="000000">
              <a:alpha val="0"/>
            </a:srgbClr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000000">
          <a:alpha val="0"/>
        </a:srgbClr>
      </a:solidFill>
      <a:prstDash val="solid"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lineChart>
        <c:grouping val="standard"/>
        <c:varyColors val="1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Señal A</c:v>
          </c:tx>
          <c:spPr>
            <a:ln w="28575">
              <a:solidFill>
                <a:srgbClr val="2F7E83"/>
              </a:solidFill>
              <a:prstDash val="solid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1</c:v>
              </c:pt>
              <c:pt idx="2">
                <c:v>0</c:v>
              </c:pt>
              <c:pt idx="3">
                <c:v>-1</c:v>
              </c:pt>
              <c:pt idx="4">
                <c:v>0</c:v>
              </c:pt>
              <c:pt idx="5">
                <c:v>1</c:v>
              </c:pt>
              <c:pt idx="6">
                <c:v>0</c:v>
              </c:pt>
              <c:pt idx="7">
                <c:v>-1</c:v>
              </c:pt>
              <c:pt idx="8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F711-4D15-83FD-FCD18255D6D7}"/>
            </c:ext>
          </c:extLst>
        </c:ser>
        <c:ser>
          <c:idx val="1"/>
          <c:order val="1"/>
          <c:tx>
            <c:v>Señal B</c:v>
          </c:tx>
          <c:spPr>
            <a:ln w="14288">
              <a:solidFill>
                <a:srgbClr val="969FA7"/>
              </a:solidFill>
              <a:prstDash val="dash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F711-4D15-83FD-FCD18255D6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50">
                    <a:solidFill>
                      <a:srgbClr val="667079"/>
                    </a:solidFill>
                  </a:rPr>
                  <a:t>tiempo (ms)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667079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67079"/>
                </a:solidFill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-1"/>
        </c:scaling>
        <c:delete val="0"/>
        <c:axPos val="l"/>
        <c:majorGridlines>
          <c:spPr>
            <a:ln w="9525">
              <a:solidFill>
                <a:srgbClr val="D9DCE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050">
                    <a:solidFill>
                      <a:srgbClr val="667079"/>
                    </a:solidFill>
                  </a:rPr>
                  <a:t>amplitud relativa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667079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67079"/>
                </a:solidFill>
              </a:defRPr>
            </a:pPr>
            <a:endParaRPr lang="es-ES"/>
          </a:p>
        </c:txPr>
        <c:crossAx val="48650112"/>
        <c:crosses val="autoZero"/>
        <c:crossBetween val="between"/>
        <c:majorUnit val="0.5"/>
      </c:valAx>
      <c:spPr>
        <a:solidFill>
          <a:srgbClr val="FFFFFF"/>
        </a:solidFill>
        <a:ln w="0">
          <a:solidFill>
            <a:srgbClr val="000000">
              <a:alpha val="0"/>
            </a:srgbClr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000000">
          <a:alpha val="0"/>
        </a:srgbClr>
      </a:solidFill>
      <a:prstDash val="solid"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lineChart>
        <c:grouping val="standard"/>
        <c:varyColors val="1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Señal A</c:v>
          </c:tx>
          <c:spPr>
            <a:ln w="28575">
              <a:solidFill>
                <a:srgbClr val="2F7E83"/>
              </a:solidFill>
              <a:prstDash val="solid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1</c:v>
              </c:pt>
              <c:pt idx="2">
                <c:v>0</c:v>
              </c:pt>
              <c:pt idx="3">
                <c:v>-1</c:v>
              </c:pt>
              <c:pt idx="4">
                <c:v>0</c:v>
              </c:pt>
              <c:pt idx="5">
                <c:v>1</c:v>
              </c:pt>
              <c:pt idx="6">
                <c:v>0</c:v>
              </c:pt>
              <c:pt idx="7">
                <c:v>-1</c:v>
              </c:pt>
              <c:pt idx="8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A53C-43A5-9F1E-0F34EE664299}"/>
            </c:ext>
          </c:extLst>
        </c:ser>
        <c:ser>
          <c:idx val="1"/>
          <c:order val="1"/>
          <c:tx>
            <c:v>Señal B</c:v>
          </c:tx>
          <c:spPr>
            <a:ln w="14288">
              <a:solidFill>
                <a:srgbClr val="969FA7"/>
              </a:solidFill>
              <a:prstDash val="dash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A53C-43A5-9F1E-0F34EE6642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50">
                    <a:solidFill>
                      <a:srgbClr val="667079"/>
                    </a:solidFill>
                  </a:rPr>
                  <a:t>tiempo (ms)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667079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67079"/>
                </a:solidFill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-1"/>
        </c:scaling>
        <c:delete val="0"/>
        <c:axPos val="l"/>
        <c:majorGridlines>
          <c:spPr>
            <a:ln w="9525">
              <a:solidFill>
                <a:srgbClr val="D9DCE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050">
                    <a:solidFill>
                      <a:srgbClr val="667079"/>
                    </a:solidFill>
                  </a:rPr>
                  <a:t>amplitud relativa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667079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67079"/>
                </a:solidFill>
              </a:defRPr>
            </a:pPr>
            <a:endParaRPr lang="es-ES"/>
          </a:p>
        </c:txPr>
        <c:crossAx val="48650112"/>
        <c:crosses val="autoZero"/>
        <c:crossBetween val="between"/>
        <c:majorUnit val="0.5"/>
      </c:valAx>
      <c:spPr>
        <a:solidFill>
          <a:srgbClr val="FFFFFF"/>
        </a:solidFill>
        <a:ln w="0">
          <a:solidFill>
            <a:srgbClr val="000000">
              <a:alpha val="0"/>
            </a:srgbClr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000000">
          <a:alpha val="0"/>
        </a:srgbClr>
      </a:solidFill>
      <a:prstDash val="solid"/>
    </a:ln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lineChart>
        <c:grouping val="standard"/>
        <c:varyColors val="1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Señal A</c:v>
          </c:tx>
          <c:spPr>
            <a:ln w="28575">
              <a:solidFill>
                <a:srgbClr val="2F7E83"/>
              </a:solidFill>
              <a:prstDash val="solid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1</c:v>
              </c:pt>
              <c:pt idx="2">
                <c:v>0</c:v>
              </c:pt>
              <c:pt idx="3">
                <c:v>-1</c:v>
              </c:pt>
              <c:pt idx="4">
                <c:v>0</c:v>
              </c:pt>
              <c:pt idx="5">
                <c:v>1</c:v>
              </c:pt>
              <c:pt idx="6">
                <c:v>0</c:v>
              </c:pt>
              <c:pt idx="7">
                <c:v>-1</c:v>
              </c:pt>
              <c:pt idx="8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A06C-4019-91C4-6AF05CF80643}"/>
            </c:ext>
          </c:extLst>
        </c:ser>
        <c:ser>
          <c:idx val="1"/>
          <c:order val="1"/>
          <c:tx>
            <c:v>Señal B</c:v>
          </c:tx>
          <c:spPr>
            <a:ln w="14288">
              <a:solidFill>
                <a:srgbClr val="969FA7"/>
              </a:solidFill>
              <a:prstDash val="dash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A06C-4019-91C4-6AF05CF806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50">
                    <a:solidFill>
                      <a:srgbClr val="667079"/>
                    </a:solidFill>
                  </a:rPr>
                  <a:t>tiempo (ms)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667079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67079"/>
                </a:solidFill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-1"/>
        </c:scaling>
        <c:delete val="0"/>
        <c:axPos val="l"/>
        <c:majorGridlines>
          <c:spPr>
            <a:ln w="9525">
              <a:solidFill>
                <a:srgbClr val="D9DCE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050">
                    <a:solidFill>
                      <a:srgbClr val="667079"/>
                    </a:solidFill>
                  </a:rPr>
                  <a:t>amplitud relativa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667079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67079"/>
                </a:solidFill>
              </a:defRPr>
            </a:pPr>
            <a:endParaRPr lang="es-ES"/>
          </a:p>
        </c:txPr>
        <c:crossAx val="48650112"/>
        <c:crosses val="autoZero"/>
        <c:crossBetween val="between"/>
        <c:majorUnit val="0.5"/>
      </c:valAx>
      <c:spPr>
        <a:solidFill>
          <a:srgbClr val="FFFFFF"/>
        </a:solidFill>
        <a:ln w="0">
          <a:solidFill>
            <a:srgbClr val="000000">
              <a:alpha val="0"/>
            </a:srgbClr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000000">
          <a:alpha val="0"/>
        </a:srgbClr>
      </a:solidFill>
      <a:prstDash val="solid"/>
    </a:ln>
  </c:sp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lineChart>
        <c:grouping val="standard"/>
        <c:varyColors val="1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Señal A</c:v>
          </c:tx>
          <c:spPr>
            <a:ln w="28575">
              <a:solidFill>
                <a:srgbClr val="2F7E83"/>
              </a:solidFill>
              <a:prstDash val="solid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1</c:v>
              </c:pt>
              <c:pt idx="2">
                <c:v>0</c:v>
              </c:pt>
              <c:pt idx="3">
                <c:v>-1</c:v>
              </c:pt>
              <c:pt idx="4">
                <c:v>0</c:v>
              </c:pt>
              <c:pt idx="5">
                <c:v>1</c:v>
              </c:pt>
              <c:pt idx="6">
                <c:v>0</c:v>
              </c:pt>
              <c:pt idx="7">
                <c:v>-1</c:v>
              </c:pt>
              <c:pt idx="8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A7B9-4D36-90D3-0B2CC680E840}"/>
            </c:ext>
          </c:extLst>
        </c:ser>
        <c:ser>
          <c:idx val="1"/>
          <c:order val="1"/>
          <c:tx>
            <c:v>Señal B</c:v>
          </c:tx>
          <c:spPr>
            <a:ln w="14288">
              <a:solidFill>
                <a:srgbClr val="969FA7"/>
              </a:solidFill>
              <a:prstDash val="dash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A7B9-4D36-90D3-0B2CC680E8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50">
                    <a:solidFill>
                      <a:srgbClr val="667079"/>
                    </a:solidFill>
                  </a:rPr>
                  <a:t>tiempo (ms)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667079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67079"/>
                </a:solidFill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-1"/>
        </c:scaling>
        <c:delete val="0"/>
        <c:axPos val="l"/>
        <c:majorGridlines>
          <c:spPr>
            <a:ln w="9525">
              <a:solidFill>
                <a:srgbClr val="D9DCE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050">
                    <a:solidFill>
                      <a:srgbClr val="667079"/>
                    </a:solidFill>
                  </a:rPr>
                  <a:t>amplitud relativa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667079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67079"/>
                </a:solidFill>
              </a:defRPr>
            </a:pPr>
            <a:endParaRPr lang="es-ES"/>
          </a:p>
        </c:txPr>
        <c:crossAx val="48650112"/>
        <c:crosses val="autoZero"/>
        <c:crossBetween val="between"/>
        <c:majorUnit val="0.5"/>
      </c:valAx>
      <c:spPr>
        <a:solidFill>
          <a:srgbClr val="FFFFFF"/>
        </a:solidFill>
        <a:ln w="0">
          <a:solidFill>
            <a:srgbClr val="000000">
              <a:alpha val="0"/>
            </a:srgbClr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000000">
          <a:alpha val="0"/>
        </a:srgbClr>
      </a:solidFill>
      <a:prstDash val="solid"/>
    </a:ln>
  </c:sp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lineChart>
        <c:grouping val="standard"/>
        <c:varyColors val="1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Señal A</c:v>
          </c:tx>
          <c:spPr>
            <a:ln w="28575">
              <a:solidFill>
                <a:srgbClr val="2F7E83"/>
              </a:solidFill>
              <a:prstDash val="solid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1</c:v>
              </c:pt>
              <c:pt idx="2">
                <c:v>0</c:v>
              </c:pt>
              <c:pt idx="3">
                <c:v>-1</c:v>
              </c:pt>
              <c:pt idx="4">
                <c:v>0</c:v>
              </c:pt>
              <c:pt idx="5">
                <c:v>1</c:v>
              </c:pt>
              <c:pt idx="6">
                <c:v>0</c:v>
              </c:pt>
              <c:pt idx="7">
                <c:v>-1</c:v>
              </c:pt>
              <c:pt idx="8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54B9-4576-8C07-BC43F57DF6FB}"/>
            </c:ext>
          </c:extLst>
        </c:ser>
        <c:ser>
          <c:idx val="1"/>
          <c:order val="1"/>
          <c:tx>
            <c:v>Señal B</c:v>
          </c:tx>
          <c:spPr>
            <a:ln w="14288">
              <a:solidFill>
                <a:srgbClr val="969FA7"/>
              </a:solidFill>
              <a:prstDash val="dash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54B9-4576-8C07-BC43F57DF6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50">
                    <a:solidFill>
                      <a:srgbClr val="667079"/>
                    </a:solidFill>
                  </a:rPr>
                  <a:t>tiempo (ms)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667079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67079"/>
                </a:solidFill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-1"/>
        </c:scaling>
        <c:delete val="0"/>
        <c:axPos val="l"/>
        <c:majorGridlines>
          <c:spPr>
            <a:ln w="9525">
              <a:solidFill>
                <a:srgbClr val="D9DCE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050">
                    <a:solidFill>
                      <a:srgbClr val="667079"/>
                    </a:solidFill>
                  </a:rPr>
                  <a:t>amplitud relativa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667079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67079"/>
                </a:solidFill>
              </a:defRPr>
            </a:pPr>
            <a:endParaRPr lang="es-ES"/>
          </a:p>
        </c:txPr>
        <c:crossAx val="48650112"/>
        <c:crosses val="autoZero"/>
        <c:crossBetween val="between"/>
        <c:majorUnit val="0.5"/>
      </c:valAx>
      <c:spPr>
        <a:solidFill>
          <a:srgbClr val="FFFFFF"/>
        </a:solidFill>
        <a:ln w="0">
          <a:solidFill>
            <a:srgbClr val="000000">
              <a:alpha val="0"/>
            </a:srgbClr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000000">
          <a:alpha val="0"/>
        </a:srgbClr>
      </a:solidFill>
      <a:prstDash val="solid"/>
    </a:ln>
  </c:spPr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lineChart>
        <c:grouping val="standard"/>
        <c:varyColors val="1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U04-001 · Generalidades sobre el sonido, sus propiedades y magnitudes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Identificar la unidad y su problema organizador.</a:t>
            </a:r>
          </a:p>
          <a:p>
            <a:endParaRPr/>
          </a:p>
          <a:p>
            <a:r>
              <a:t>**Explicación extendida:** Escribir o decir «80 dB» antes de mostrar el subtítulo. Pedir qué información falta y conservar las respuestas sin corregirlas todavía. Presentar la unidad como una búsqueda de magnitud, referencia y condiciones, no como una lista de fórmulas.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Describir un sonido exige nombrar la magnitud, el valor y las condiciones.</a:t>
            </a:r>
          </a:p>
          <a:p>
            <a:endParaRPr/>
          </a:p>
          <a:p>
            <a:r>
              <a:t>**Énfasis / error frecuente:** Abrir con un valor “80 dB” y preguntar qué información todavía falta.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Convertir el valor incompleto en la pregunta central.</a:t>
            </a:r>
          </a:p>
          <a:p>
            <a:endParaRPr/>
          </a:p>
          <a:p>
            <a:r>
              <a:t>**Fuente de apoyo:** PO; TEX 4.1; PDF p. 89; BR</a:t>
            </a:r>
          </a:p>
          <a:p>
            <a:endParaRPr/>
          </a:p>
          <a:p>
            <a:r>
              <a:t>[Texto alternativo] Slide tipográfica titulada «Generalidades sobre el sonido, sus propiedades y magnitudes»; destaca que describir un sonido exige nombrar la magnitud, el valor y las condiciones.</a:t>
            </a:r>
          </a:p>
          <a:p>
            <a:endParaRPr/>
          </a:p>
          <a:p>
            <a:r>
              <a:t>[Sources]</a:t>
            </a:r>
          </a:p>
          <a:p>
            <a:r>
              <a:t>- PO; TEX 4.1; PDF p. 89; BR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U04-002 · El mismo sonido, cinco preguntas físicas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Activar la necesidad de distinguir magnitudes.</a:t>
            </a:r>
          </a:p>
          <a:p>
            <a:endParaRPr/>
          </a:p>
          <a:p>
            <a:r>
              <a:t>**Explicación extendida:** Dar unos segundos de trabajo individual antes de escuchar respuestas. Organizar lo que aparezca alrededor del propósito de la slide: Activar la necesidad de distinguir magnitudes. No resolver por adelantado; usar como criterio de cierre que presión, movimiento, flujo, potencia y percepción responden preguntas diferentes.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fuente, medio, punto de medición y receptor; cinco callouts breves.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Presión, movimiento, flujo, potencia y percepción responden preguntas diferentes.</a:t>
            </a:r>
          </a:p>
          <a:p>
            <a:endParaRPr/>
          </a:p>
          <a:p>
            <a:r>
              <a:t>**Énfasis / error frecuente:** Recoger qué palabras usa el grupo y detectar si “intensidad”, “volumen” y “dB” aparecen como sinónimos.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Diagnosticar las confusiones antes de recuperar herramientas.</a:t>
            </a:r>
          </a:p>
          <a:p>
            <a:endParaRPr/>
          </a:p>
          <a:p>
            <a:r>
              <a:t>**Fuente de apoyo:** TEX 4.1–4.3; PDF pp. 89–91; BR</a:t>
            </a:r>
          </a:p>
          <a:p>
            <a:endParaRPr/>
          </a:p>
          <a:p>
            <a:r>
              <a:t>[Texto alternativo] Diagrama sobre «El mismo sonido, cinco preguntas físicas»: fuente, medio, punto de medición y receptor; cinco callouts breves. La lectura central es que presión, movimiento, flujo, potencia y percepción responden preguntas diferentes. Recurso principal: U04-DG-001.</a:t>
            </a:r>
          </a:p>
          <a:p>
            <a:endParaRPr/>
          </a:p>
          <a:p>
            <a:r>
              <a:t>[Sources]</a:t>
            </a:r>
          </a:p>
          <a:p>
            <a:r>
              <a:t>- TEX 4.1–4.3; PDF pp. 89–91; BR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U04-003 · Seis afirmaciones para empezar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Diagnosticar ideas previas críticas.</a:t>
            </a:r>
          </a:p>
          <a:p>
            <a:endParaRPr/>
          </a:p>
          <a:p>
            <a:r>
              <a:t>**Explicación extendida:** Dar unos segundos de trabajo individual antes de escuchar respuestas. Organizar lo que aparezca alrededor del propósito de la slide: Diagnosticar ideas previas críticas. No resolver por adelantado; usar como criterio de cierre que justificar importa más que acertar por intuición.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¿Cuál afirmación te resulta más dudosa y qué dato necesitarías para justificarla?</a:t>
            </a:r>
          </a:p>
          <a:p>
            <a:endParaRPr/>
          </a:p>
          <a:p>
            <a:r>
              <a:t>**Respuesta esperada:** No se corrige todavía; se espera que nombren al menos magnitud, referencia, fase/correlación o condiciones de campo.</a:t>
            </a:r>
          </a:p>
          <a:p>
            <a:endParaRPr/>
          </a:p>
          <a:p>
            <a:r>
              <a:t>**Énfasis / error frecuente:** Registrar patrones y anunciar que cada afirmación se retomará con evidencia.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Recuperar conocimientos que permiten evaluar las afirmaciones.</a:t>
            </a:r>
          </a:p>
          <a:p>
            <a:endParaRPr/>
          </a:p>
          <a:p>
            <a:r>
              <a:t>**Fuente de apoyo:** TEX 4.13 y ejercicios D; PDF pp. 106–111; INV errores</a:t>
            </a:r>
          </a:p>
          <a:p>
            <a:endParaRPr/>
          </a:p>
          <a:p>
            <a:r>
              <a:t>[Texto alternativo] Slide tipográfica titulada «Seis afirmaciones para empezar»; destaca que justificar importa más que acertar por intuición.</a:t>
            </a:r>
          </a:p>
          <a:p>
            <a:endParaRPr/>
          </a:p>
          <a:p>
            <a:r>
              <a:t>[Sources]</a:t>
            </a:r>
          </a:p>
          <a:p>
            <a:r>
              <a:t>- TEX 4.13 y ejercicios D; PDF pp. 106–111; INV errores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U04-004 · Lo que necesitamos recuperar de las tres unidades anteriores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Activar prerrequisitos sin repetirlos.</a:t>
            </a:r>
          </a:p>
          <a:p>
            <a:endParaRPr/>
          </a:p>
          <a:p>
            <a:r>
              <a:t>**Explicación extendida:** Dar unos segundos de trabajo individual antes de escuchar respuestas. Organizar lo que aparezca alrededor del propósito de la slide: Activar prerrequisitos sin repetirlos. No resolver por adelantado; usar como criterio de cierre que unidades, energía, onda, fase, superposición y logaritmos sostienen toda la unidad.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Continuidad visual con U3; micrográfico y ecuaciones mínimas.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Unidades, energía, onda, fase, superposición y logaritmos sostienen toda la unidad.</a:t>
            </a:r>
          </a:p>
          <a:p>
            <a:endParaRPr/>
          </a:p>
          <a:p>
            <a:r>
              <a:t>**Énfasis / error frecuente:** Verificar `Pa`, `W`, `J`, `m/s`, argumento adimensional y diferencia `u/c`.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Traducir los prerrequisitos en resultados observables.</a:t>
            </a:r>
          </a:p>
          <a:p>
            <a:endParaRPr/>
          </a:p>
          <a:p>
            <a:r>
              <a:t>**Fuente de apoyo:** BR; CM; CDM; U3; NOT</a:t>
            </a:r>
          </a:p>
          <a:p>
            <a:endParaRPr/>
          </a:p>
          <a:p>
            <a:r>
              <a:t>[Texto alternativo] Esquema mixto sobre «Lo que necesitamos recuperar de las tres unidades anteriores»: Continuidad visual con U3; micrográfico y ecuaciones mínimas. La lectura central es que unidades, energía, onda, fase, superposición y logaritmos sostienen toda la unidad. Recurso principal: U04-DG-021.</a:t>
            </a:r>
          </a:p>
          <a:p>
            <a:endParaRPr/>
          </a:p>
          <a:p>
            <a:r>
              <a:t>[Sources]</a:t>
            </a:r>
          </a:p>
          <a:p>
            <a:r>
              <a:t>- BR; CM; CDM; U3; NOT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U04-005 · Qué podremos distinguir, calcular e interpretar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Declarar resultados de aprendizaje observables.</a:t>
            </a:r>
          </a:p>
          <a:p>
            <a:endParaRPr/>
          </a:p>
          <a:p>
            <a:r>
              <a:t>**Explicación extendida:** Dar unos segundos de trabajo individual antes de escuchar respuestas. Organizar lo que aparezca alrededor del propósito de la slide: Declarar resultados de aprendizaje observables. No resolver por adelantado; usar como criterio de cierre que la unidad combina significado físico, cálculo simple, hipótesis y aplicación.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 unidad combina significado físico, cálculo simple, hipótesis y aplicación.</a:t>
            </a:r>
          </a:p>
          <a:p>
            <a:endParaRPr/>
          </a:p>
          <a:p>
            <a:r>
              <a:t>**Énfasis / error frecuente:** Explicar la evidencia esperada sin leer una lista administrativa.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Mostrar el recorrido que construye esas capacidades.</a:t>
            </a:r>
          </a:p>
          <a:p>
            <a:endParaRPr/>
          </a:p>
          <a:p>
            <a:r>
              <a:t>**Fuente de apoyo:** BR objetivos; CM</a:t>
            </a:r>
          </a:p>
          <a:p>
            <a:endParaRPr/>
          </a:p>
          <a:p>
            <a:r>
              <a:t>[Texto alternativo] Slide tipográfica titulada «Qué podremos distinguir, calcular e interpretar»; destaca que la unidad combina significado físico, cálculo simple, hipótesis y aplicación.</a:t>
            </a:r>
          </a:p>
          <a:p>
            <a:endParaRPr/>
          </a:p>
          <a:p>
            <a:r>
              <a:t>[Sources]</a:t>
            </a:r>
          </a:p>
          <a:p>
            <a:r>
              <a:t>- BR objetivos; CM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U04-006 · Del fenómeno al dato y del dato a una interpretación responsable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Orientar la secuencia completa.</a:t>
            </a:r>
          </a:p>
          <a:p>
            <a:endParaRPr/>
          </a:p>
          <a:p>
            <a:r>
              <a:t>**Explicación extendida:** Recorrer el mapa por encuentros y explicar que representa decisiones encadenadas, no el índice del capítulo. Señalar la etapa actual y anticipar solo la siguiente. Idea organizadora: Cada bloque responde una pregunta distinta sobre el mismo campo acústico.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mapa en tres líneas, máximo cuatro nodos por línea; destacar etapa activa en recaps.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Cada bloque responde una pregunta distinta sobre el mismo campo acústico.</a:t>
            </a:r>
          </a:p>
          <a:p>
            <a:endParaRPr/>
          </a:p>
          <a:p>
            <a:r>
              <a:t>**Énfasis / error frecuente:** Aclarar que el mapa es una progresión de decisiones, no el índice del capítulo.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Abrir la distinción entre fenómeno físico y experiencia.</a:t>
            </a:r>
          </a:p>
          <a:p>
            <a:endParaRPr/>
          </a:p>
          <a:p>
            <a:r>
              <a:t>**Fuente de apoyo:** BR; CM; CDM; ED</a:t>
            </a:r>
          </a:p>
          <a:p>
            <a:endParaRPr/>
          </a:p>
          <a:p>
            <a:r>
              <a:t>[Texto alternativo] Diagrama sobre «Del fenómeno al dato y del dato a una interpretación responsable»: mapa en tres líneas, máximo cuatro nodos por línea; destacar etapa activa en recaps. La lectura central es que cada bloque responde una pregunta distinta sobre el mismo campo acústico. Recurso principal: U04-DG-002.</a:t>
            </a:r>
          </a:p>
          <a:p>
            <a:endParaRPr/>
          </a:p>
          <a:p>
            <a:r>
              <a:t>[Sources]</a:t>
            </a:r>
          </a:p>
          <a:p>
            <a:r>
              <a:t>- BR; CM; CDM; 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U04-007 · Antes de medir: fenómeno, fuente y medio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Marcar el bloque y su pregunta guía.</a:t>
            </a:r>
          </a:p>
          <a:p>
            <a:endParaRPr/>
          </a:p>
          <a:p>
            <a:r>
              <a:t>**Explicación extendida:** Leer la pregunta guía y recuperar una respuesta del bloque anterior. Instalar el nuevo problema con lenguaje cotidiano; cerrar con el criterio que se construirá: El campo puede existir antes de ser detectado o percibido.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¿Qué existe físicamente antes de medir o escuchar?</a:t>
            </a:r>
          </a:p>
          <a:p>
            <a:endParaRPr/>
          </a:p>
          <a:p>
            <a:r>
              <a:t>**Respuesta esperada:** El campo puede existir antes de ser detectado o percibido.</a:t>
            </a:r>
          </a:p>
          <a:p>
            <a:endParaRPr/>
          </a:p>
          <a:p>
            <a:r>
              <a:t>**Énfasis / error frecuente:** Volver a U04-002 y pedir qué elementos son necesarios para propagación.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Definir primero los dos sentidos de “sonido”.</a:t>
            </a:r>
          </a:p>
          <a:p>
            <a:endParaRPr/>
          </a:p>
          <a:p>
            <a:r>
              <a:t>**Fuente de apoyo:** PO; TEX 4.3; PDF p. 90</a:t>
            </a:r>
          </a:p>
          <a:p>
            <a:endParaRPr/>
          </a:p>
          <a:p>
            <a:r>
              <a:t>[Texto alternativo] Slide tipográfica titulada «Antes de medir: fenómeno, fuente y medio»; destaca que el campo puede existir antes de ser detectado o percibido.</a:t>
            </a:r>
          </a:p>
          <a:p>
            <a:endParaRPr/>
          </a:p>
          <a:p>
            <a:r>
              <a:t>[Sources]</a:t>
            </a:r>
          </a:p>
          <a:p>
            <a:r>
              <a:t>- PO; TEX 4.3; PDF p. 90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U04-008 · Fenómeno físico y sensación sonora no son sinónimos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Separar estímulo y experiencia.</a:t>
            </a:r>
          </a:p>
          <a:p>
            <a:endParaRPr/>
          </a:p>
          <a:p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Una perturbación puede medirse sin oyente; la sensación depende del sistema auditivo y del contexto.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comparación físico/perceptual con códigos teal/ocre y síntesis inferior.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Una perturbación puede medirse sin oyente; la sensación depende del sistema auditivo y del contexto.</a:t>
            </a:r>
          </a:p>
          <a:p>
            <a:endParaRPr/>
          </a:p>
          <a:p>
            <a:r>
              <a:t>**Énfasis / error frecuente:** No desarrollar psicoacústica; indicar que U7 formalizará los atributos.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Preguntar si el campo desaparece al retirar al receptor.</a:t>
            </a:r>
          </a:p>
          <a:p>
            <a:endParaRPr/>
          </a:p>
          <a:p>
            <a:r>
              <a:t>**Fuente de apoyo:** PO; TEX 4.3; PDF p. 90; GLO; CCM U04-01 y U04-14</a:t>
            </a:r>
          </a:p>
          <a:p>
            <a:endParaRPr/>
          </a:p>
          <a:p>
            <a:r>
              <a:t>[Texto alternativo] Diagrama sobre «Fenómeno físico y sensación sonora no son sinónimos»: comparación físico/perceptual con códigos teal/ocre y síntesis inferior. La lectura central es que una perturbación puede medirse sin oyente; la sensación depende del sistema auditivo y del contexto. Recurso principal: U04-DG-003.</a:t>
            </a:r>
          </a:p>
          <a:p>
            <a:endParaRPr/>
          </a:p>
          <a:p>
            <a:r>
              <a:t>[Sources]</a:t>
            </a:r>
          </a:p>
          <a:p>
            <a:r>
              <a:t>- PO; TEX 4.3; PDF p. 90; GLO; CCM U04-01 y U04-14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U04-009 · El campo no necesita un oyente para existir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Corregir dependencia entre fenómeno y receptor.</a:t>
            </a:r>
          </a:p>
          <a:p>
            <a:endParaRPr/>
          </a:p>
          <a:p>
            <a:r>
              <a:t>**Explicación extendida:** Mostrar primero la afirmación problemática y pedir un contraejemplo o la condición faltante. Corregirla nombrando la magnitud adecuada, sin reemplazarla por otra regla memorizada. Formulación correcta: El receptor detecta o procesa un campo; no lo crea por estar presente.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campo existente con receptor presente/ausente; sin flechas causales ambiguas. No leer cada caja: usar el diagrama como guía y explicar la relación entre nodos.</a:t>
            </a:r>
          </a:p>
          <a:p>
            <a:endParaRPr/>
          </a:p>
          <a:p>
            <a:r>
              <a:t>**Pregunta al grupo:** ¿Qué condición o distinción falta en la afirmación «El campo no necesita un oyente para existir»?</a:t>
            </a:r>
          </a:p>
          <a:p>
            <a:endParaRPr/>
          </a:p>
          <a:p>
            <a:r>
              <a:t>**Respuesta esperada:** El receptor detecta o procesa un campo; no lo crea por estar presente.</a:t>
            </a:r>
          </a:p>
          <a:p>
            <a:endParaRPr/>
          </a:p>
          <a:p>
            <a:r>
              <a:t>**Énfasis / error frecuente:** Distinguir existencia, detección y experiencia.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Organizar los elementos de la cadena acústica.</a:t>
            </a:r>
          </a:p>
          <a:p>
            <a:endParaRPr/>
          </a:p>
          <a:p>
            <a:r>
              <a:t>**Fuente de apoyo:** TEX 4.3.1 y ejercicios C1; PDF pp. 91, 108; GLO</a:t>
            </a:r>
          </a:p>
          <a:p>
            <a:endParaRPr/>
          </a:p>
          <a:p>
            <a:r>
              <a:t>[Texto alternativo] Diagrama sobre «El campo no necesita un oyente para existir»: campo existente con receptor presente/ausente; sin flechas causales ambiguas. La lectura central es que el receptor detecta o procesa un campo; no lo crea por estar presente. Recurso principal: U04-DG-003.</a:t>
            </a:r>
          </a:p>
          <a:p>
            <a:endParaRPr/>
          </a:p>
          <a:p>
            <a:r>
              <a:t>[Sources]</a:t>
            </a:r>
          </a:p>
          <a:p>
            <a:r>
              <a:t>- TEX 4.3.1 y ejercicios C1; PDF pp. 91, 108; GLO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U04-010 · Fuente, medio, campo y receptor cumplen funciones distintas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Construir la cadena funcional.</a:t>
            </a:r>
          </a:p>
          <a:p>
            <a:endParaRPr/>
          </a:p>
          <a:p>
            <a:r>
              <a:t>**Explicación extendida:** Narrar la secuencia paso a paso sin convertirla en una cadena causal más rígida de lo aprobado. En cada etapa preguntar qué entidad cambia y qué permanece. Alcance visual: Cuatro etapas con verbos y una advertencia: solo fuente y medio son necesarios para generar y propagar. Idea de cierre: La fuente perturba, el medio sostiene la propagación, el campo describe y el receptor responde.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4 nodos, 3 conectores, rótulos de función y corredor libre para flechas.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 fuente perturba, el medio sostiene la propagación, el campo describe y el receptor responde.</a:t>
            </a:r>
          </a:p>
          <a:p>
            <a:endParaRPr/>
          </a:p>
          <a:p>
            <a:r>
              <a:t>**Énfasis / error frecuente:** Evitar convertir el diagrama en una secuencia temporal rígida; “campo” es descripción del estado.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Mostrar que las fuentes pueden producir perturbaciones de modos diferentes.</a:t>
            </a:r>
          </a:p>
          <a:p>
            <a:endParaRPr/>
          </a:p>
          <a:p>
            <a:r>
              <a:t>**Fuente de apoyo:** PO; TEX 4.3.1; PDF p. 91; BR; GLO</a:t>
            </a:r>
          </a:p>
          <a:p>
            <a:endParaRPr/>
          </a:p>
          <a:p>
            <a:r>
              <a:t>[Texto alternativo] Diagrama sobre «Fuente, medio, campo y receptor cumplen funciones distintas»: 4 nodos, 3 conectores, rótulos de función y corredor libre para flechas. La lectura central es que la fuente perturba, el medio sostiene la propagación, el campo describe y el receptor responde. Recurso principal: U04-DG-003.</a:t>
            </a:r>
          </a:p>
          <a:p>
            <a:endParaRPr/>
          </a:p>
          <a:p>
            <a:r>
              <a:t>[Sources]</a:t>
            </a:r>
          </a:p>
          <a:p>
            <a:r>
              <a:t>- PO; TEX 4.3.1; PDF p. 91; BR; GLO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U04-011 · Distintas fuentes, una misma pregunta: ¿qué perturba el medio?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Cubrir las formas de generación del programa.</a:t>
            </a:r>
          </a:p>
          <a:p>
            <a:endParaRPr/>
          </a:p>
          <a:p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Membrana, cuerda, pliegues vocales, columna de aire y turbulencia originan perturbaciones mediante mecanismos distintos.</a:t>
            </a:r>
          </a:p>
          <a:p>
            <a:endParaRPr/>
          </a:p>
          <a:p>
            <a:r>
              <a:t>**Guía para el visual o diagrama:** Identificar qué parte del recurso aporta evidencia y qué parte solo orienta. Esquema propio U04-DG-021 con cinco mecanismos de generación; una imagen técnica externa solo puede añadirse si está verificada y registrada.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Membrana, cuerda, pliegues vocales, columna de aire y turbulencia originan perturbaciones mediante mecanismos distintos.</a:t>
            </a:r>
          </a:p>
          <a:p>
            <a:endParaRPr/>
          </a:p>
          <a:p>
            <a:r>
              <a:t>**Énfasis / error frecuente:** Nombrar la variable mecánica inicial y evitar afirmar que todas las fuentes son sinusoidales.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Elegir dos mecanismos próximos a Fonoaudiología para profundizar.</a:t>
            </a:r>
          </a:p>
          <a:p>
            <a:endParaRPr/>
          </a:p>
          <a:p>
            <a:r>
              <a:t>**Fuente de apoyo:** PO; SA; OD-U04-07; ED</a:t>
            </a:r>
          </a:p>
          <a:p>
            <a:endParaRPr/>
          </a:p>
          <a:p>
            <a:r>
              <a:t>[Texto alternativo] Diagrama conceptual alternativo sobre «Distintas fuentes, una misma pregunta: ¿qué perturba el medio?»: Esquema propio U04-DG-021 con cinco mecanismos de generación; una imagen técnica externa solo puede añadirse si está verificada y registrada. La lectura central es que membrana, cuerda, pliegues vocales, columna de aire y turbulencia originan perturbaciones mediante mecanismos distintos. Recurso principal: U04-DG-021.</a:t>
            </a:r>
          </a:p>
          <a:p>
            <a:endParaRPr/>
          </a:p>
          <a:p>
            <a:r>
              <a:t>[Sources]</a:t>
            </a:r>
          </a:p>
          <a:p>
            <a:r>
              <a:t>- PO; SA; OD-U04-07; 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U04-012 · Los pliegues vocales generan; el aire transporta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Vincular generación con voz.</a:t>
            </a:r>
          </a:p>
          <a:p>
            <a:endParaRPr/>
          </a:p>
          <a:p>
            <a:r>
              <a:t>**Explicación extendida:** Presentar la situación profesional sin prometer una inferencia clínica mayor que la evidencia disponible. Separar fenómeno, sensor, procesamiento y decisión. Vínculo que debe quedar: La oscilación de la fuente y la propagación por el aire son procesos distintos.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4 nodos y 3 conectores; sin anatomía detallada ni datos no verificados.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 oscilación de la fuente y la propagación por el aire son procesos distintos.</a:t>
            </a:r>
          </a:p>
          <a:p>
            <a:endParaRPr/>
          </a:p>
          <a:p>
            <a:r>
              <a:t>**Énfasis / error frecuente:** Usar el ejemplo para reforzar fuente/medio, no para enseñar fonación completa.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Comparar con una fuente electroacústica más controlable.</a:t>
            </a:r>
          </a:p>
          <a:p>
            <a:endParaRPr/>
          </a:p>
          <a:p>
            <a:r>
              <a:t>**Fuente de apoyo:** PO; BR aplicaciones; ED</a:t>
            </a:r>
          </a:p>
          <a:p>
            <a:endParaRPr/>
          </a:p>
          <a:p>
            <a:r>
              <a:t>[Texto alternativo] Diagrama sobre «Los pliegues vocales generan; el aire transporta»: 4 nodos y 3 conectores; sin anatomía detallada ni datos no verificados. La lectura central es que la oscilación de la fuente y la propagación por el aire son procesos distintos. Recurso principal: U04-DG-004.</a:t>
            </a:r>
          </a:p>
          <a:p>
            <a:endParaRPr/>
          </a:p>
          <a:p>
            <a:r>
              <a:t>[Sources]</a:t>
            </a:r>
          </a:p>
          <a:p>
            <a:r>
              <a:t>- PO; BR aplicaciones; 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U04-013 · El cono del parlante alterna compresiones y rarefacciones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Concretar generación mecánica en aire.</a:t>
            </a:r>
          </a:p>
          <a:p>
            <a:endParaRPr/>
          </a:p>
          <a:p>
            <a:r>
              <a:t>**Explicación extendida:** Narrar la secuencia paso a paso sin convertirla en una cadena causal más rígida de lo aprobado. En cada etapa preguntar qué entidad cambia y qué permanece. Alcance visual: Dos estados del cono y regiones de compresión/rarefacción; avance del frente separado del movimiento del cono. Idea de cierre: El cono se desplaza localmente y modifica la presión del aire vecino.</a:t>
            </a:r>
          </a:p>
          <a:p>
            <a:endParaRPr/>
          </a:p>
          <a:p>
            <a:r>
              <a:t>**Guía para el visual o diagrama:** Antes de reproducir, pedir una predicción. Pausar en un cuadro donde se distingan movimiento local y propagación. Usar U04-DG-004 como alternativa estática. El GIF U04-MED-001 es opcional y solo se reproduce después de aprobar encuadre y crédito. Usar la alternativa estática si el medio falla.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El cono se desplaza localmente y modifica la presión del aire vecino.</a:t>
            </a:r>
          </a:p>
          <a:p>
            <a:endParaRPr/>
          </a:p>
          <a:p>
            <a:r>
              <a:t>**Énfasis / error frecuente:** Recuperar U3 y pedir qué variable acústica se formalizará después.</a:t>
            </a:r>
          </a:p>
          <a:p>
            <a:endParaRPr/>
          </a:p>
          <a:p>
            <a:r>
              <a:t>**Demostración o multimedia:** `U04-MED-001` está preseleccionado: verificar encuadre/crédito antes de reproducir y conservar alternativa estática.</a:t>
            </a:r>
          </a:p>
          <a:p>
            <a:endParaRPr/>
          </a:p>
          <a:p>
            <a:r>
              <a:t>**Transición:** Consolidar el bloque antes de explicar el medio.</a:t>
            </a:r>
          </a:p>
          <a:p>
            <a:endParaRPr/>
          </a:p>
          <a:p>
            <a:r>
              <a:t>**Fuente de apoyo:** TEX 4.3.1; PDF p. 91; U3</a:t>
            </a:r>
          </a:p>
          <a:p>
            <a:endParaRPr/>
          </a:p>
          <a:p>
            <a:r>
              <a:t>[Texto alternativo] Diagrama estático alternativo sobre «El cono del parlante alterna compresiones y rarefacciones»: Usar U04-DG-004 como alternativa estática. El GIF U04-MED-001 es opcional y solo se reproduce después de aprobar encuadre y crédito. La lectura central es que el cono se desplaza localmente y modifica la presión del aire vecino. Recurso principal: U04-DG-004.</a:t>
            </a:r>
          </a:p>
          <a:p>
            <a:endParaRPr/>
          </a:p>
          <a:p>
            <a:r>
              <a:t>[Sources]</a:t>
            </a:r>
          </a:p>
          <a:p>
            <a:r>
              <a:t>- TEX 4.3.1; PDF p. 91; U3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U04-014 · Hasta acá: existir, generar, propagar, detectar y percibir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Consolidar cinco verbos que no deben confundirse.</a:t>
            </a:r>
          </a:p>
          <a:p>
            <a:endParaRPr/>
          </a:p>
          <a:p>
            <a:r>
              <a:t>**Explicación extendida:** Usar recuperación activa: ocultar inicialmente las respuestas y pedir que completen el mapa o la matriz. Volver solo a los nodos que generen duda. La síntesis debe poder expresarse así: Cada verbo exige un objeto y una evidencia diferente.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mapa reducido fuente–medio–campo–receptor con bifurcación medir/percibir.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Cada verbo exige un objeto y una evidencia diferente.</a:t>
            </a:r>
          </a:p>
          <a:p>
            <a:endParaRPr/>
          </a:p>
          <a:p>
            <a:r>
              <a:t>**Énfasis / error frecuente:** Repetición pedagógica: pasar de definiciones a decisiones sobre dos casos; no repetir párrafos.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Preguntar qué propiedades del medio hacen posible la propagación.</a:t>
            </a:r>
          </a:p>
          <a:p>
            <a:endParaRPr/>
          </a:p>
          <a:p>
            <a:r>
              <a:t>**Fuente de apoyo:** PO; TEX 4.3; CM; BR</a:t>
            </a:r>
          </a:p>
          <a:p>
            <a:endParaRPr/>
          </a:p>
          <a:p>
            <a:r>
              <a:t>[Texto alternativo] Diagrama sobre «Hasta acá: existir, generar, propagar, detectar y percibir»: mapa reducido fuente–medio–campo–receptor con bifurcación medir/percibir. La lectura central es que cada verbo exige un objeto y una evidencia diferente. Recurso principal: U04-DG-002.</a:t>
            </a:r>
          </a:p>
          <a:p>
            <a:endParaRPr/>
          </a:p>
          <a:p>
            <a:r>
              <a:t>[Sources]</a:t>
            </a:r>
          </a:p>
          <a:p>
            <a:r>
              <a:t>- PO; TEX 4.3; CM; BR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U04-015 · El medio responde: elasticidad, inercia y rapidez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Marcar el bloque del mecanismo de propagación.</a:t>
            </a:r>
          </a:p>
          <a:p>
            <a:endParaRPr/>
          </a:p>
          <a:p>
            <a:r>
              <a:t>**Explicación extendida:** Leer la pregunta guía y recuperar una respuesta del bloque anterior. Instalar el nuevo problema con lenguaje cotidiano; cerrar con el criterio que se construirá: La onda avanza porque regiones vecinas pueden deformarse, restaurarse y adquirir movimiento.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¿Cómo permiten la elasticidad y la inercia que avance una perturbación?</a:t>
            </a:r>
          </a:p>
          <a:p>
            <a:endParaRPr/>
          </a:p>
          <a:p>
            <a:r>
              <a:t>**Respuesta esperada:** La onda avanza porque regiones vecinas pueden deformarse, restaurarse y adquirir movimiento.</a:t>
            </a:r>
          </a:p>
          <a:p>
            <a:endParaRPr/>
          </a:p>
          <a:p>
            <a:r>
              <a:t>**Énfasis / error frecuente:** Recuperar elasticidad, inercia y densidad de U2.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Observar primero el tipo de movimiento en un fluido.</a:t>
            </a:r>
          </a:p>
          <a:p>
            <a:endParaRPr/>
          </a:p>
          <a:p>
            <a:r>
              <a:t>**Fuente de apoyo:** PO; TEX 4.4; PDF p. 91; U2</a:t>
            </a:r>
          </a:p>
          <a:p>
            <a:endParaRPr/>
          </a:p>
          <a:p>
            <a:r>
              <a:t>[Texto alternativo] Slide tipográfica titulada «El medio responde: elasticidad, inercia y rapidez»; destaca que la onda avanza porque regiones vecinas pueden deformarse, restaurarse y adquirir movimiento.</a:t>
            </a:r>
          </a:p>
          <a:p>
            <a:endParaRPr/>
          </a:p>
          <a:p>
            <a:r>
              <a:t>[Sources]</a:t>
            </a:r>
          </a:p>
          <a:p>
            <a:r>
              <a:t>- PO; TEX 4.4; PDF p. 91; U2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U04-016 · En un fluido, el movimiento local es principalmente longitudinal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Aplicar propiedades de onda de U3 al sonido.</a:t>
            </a:r>
          </a:p>
          <a:p>
            <a:endParaRPr/>
          </a:p>
          <a:p>
            <a:r>
              <a:t>**Explicación extendida:** Desarrollar el alcance aprobado —Compresión, rarefacción, movimiento local y frente; `f`, `λ`, fase y amplitud como propiedades recuperadas— y vincular cada afirmación con una magnitud, unidad, referencia o condición. Idea central: Las regiones del fluido oscilan aproximadamente en la dirección de propagación.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partículas y bandas de presión con flechas locales/propagación diferenciadas.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Las regiones del fluido oscilan aproximadamente en la dirección de propagación.</a:t>
            </a:r>
          </a:p>
          <a:p>
            <a:endParaRPr/>
          </a:p>
          <a:p>
            <a:r>
              <a:t>**Énfasis / error frecuente:** Aclarar que el dibujo de onda no representa trayectoria transversal del aire.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Explicar qué hace volver a una región comprimida.</a:t>
            </a:r>
          </a:p>
          <a:p>
            <a:endParaRPr/>
          </a:p>
          <a:p>
            <a:r>
              <a:t>**Fuente de apoyo:** PO; TEX 4.3–4.4; PDF pp. 90–91; CCM U04-04; U3</a:t>
            </a:r>
          </a:p>
          <a:p>
            <a:endParaRPr/>
          </a:p>
          <a:p>
            <a:r>
              <a:t>[Texto alternativo] Diagrama sobre «En un fluido, el movimiento local es principalmente longitudinal»: partículas y bandas de presión con flechas locales/propagación diferenciadas. La lectura central es que las regiones del fluido oscilan aproximadamente en la dirección de propagación. Recurso principal: U04-DG-005.</a:t>
            </a:r>
          </a:p>
          <a:p>
            <a:endParaRPr/>
          </a:p>
          <a:p>
            <a:r>
              <a:t>[Sources]</a:t>
            </a:r>
          </a:p>
          <a:p>
            <a:r>
              <a:t>- PO; TEX 4.3–4.4; PDF pp. 90–91; CCM U04-04; U3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U04-017 · La elasticidad aporta la acción restauradora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Recuperar elasticidad en escala distribuida.</a:t>
            </a:r>
          </a:p>
          <a:p>
            <a:endParaRPr/>
          </a:p>
          <a:p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Al comprimir una región, el medio desarrolla fuerzas que tienden al equilibrio.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tres regiones antes/durante/después con fuerzas restauradoras.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Al comprimir una región, el medio desarrolla fuerzas que tienden al equilibrio.</a:t>
            </a:r>
          </a:p>
          <a:p>
            <a:endParaRPr/>
          </a:p>
          <a:p>
            <a:r>
              <a:t>**Énfasis / error frecuente:** Conectar con el resorte sin afirmar que el aire es una hilera literal de resortes.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Añadir la oposición al cambio de movimiento.</a:t>
            </a:r>
          </a:p>
          <a:p>
            <a:endParaRPr/>
          </a:p>
          <a:p>
            <a:r>
              <a:t>**Fuente de apoyo:** PO; TEX 4.4; PDF p. 91; GLO; U2</a:t>
            </a:r>
          </a:p>
          <a:p>
            <a:endParaRPr/>
          </a:p>
          <a:p>
            <a:r>
              <a:t>[Texto alternativo] Diagrama sobre «La elasticidad aporta la acción restauradora»: tres regiones antes/durante/después con fuerzas restauradoras. La lectura central es que al comprimir una región, el medio desarrolla fuerzas que tienden al equilibrio. Recurso principal: U04-DG-005.</a:t>
            </a:r>
          </a:p>
          <a:p>
            <a:endParaRPr/>
          </a:p>
          <a:p>
            <a:r>
              <a:t>[Sources]</a:t>
            </a:r>
          </a:p>
          <a:p>
            <a:r>
              <a:t>- PO; TEX 4.4; PDF p. 91; GLO; U2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U04-018 · La inercia distribuida evita cambios instantáneos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Relacionar masa del medio y densidad.</a:t>
            </a:r>
          </a:p>
          <a:p>
            <a:endParaRPr/>
          </a:p>
          <a:p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La densidad representa cuánta inercia contiene un volumen del medio.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misma deformación conceptual con dos inercias y advertencia de variables acopladas.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 densidad representa cuánta inercia contiene un volumen del medio.</a:t>
            </a:r>
          </a:p>
          <a:p>
            <a:endParaRPr/>
          </a:p>
          <a:p>
            <a:r>
              <a:t>**Énfasis / error frecuente:** Recordar que comparar materiales requiere mantener o conocer otras propiedades.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Integrar elasticidad e inercia en una secuencia.</a:t>
            </a:r>
          </a:p>
          <a:p>
            <a:endParaRPr/>
          </a:p>
          <a:p>
            <a:r>
              <a:t>**Fuente de apoyo:** TEX 4.4; PDF p. 91; NOT; GLO</a:t>
            </a:r>
          </a:p>
          <a:p>
            <a:endParaRPr/>
          </a:p>
          <a:p>
            <a:r>
              <a:t>[Texto alternativo] Diagrama sobre «La inercia distribuida evita cambios instantáneos»: misma deformación conceptual con dos inercias y advertencia de variables acopladas. La lectura central es que la densidad representa cuánta inercia contiene un volumen del medio. Recurso principal: U04-DG-005.</a:t>
            </a:r>
          </a:p>
          <a:p>
            <a:endParaRPr/>
          </a:p>
          <a:p>
            <a:r>
              <a:t>[Sources]</a:t>
            </a:r>
          </a:p>
          <a:p>
            <a:r>
              <a:t>- TEX 4.4; PDF p. 91; NOT; GLO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U04-019 · Restauración e inercia transmiten la perturbación a la región vecina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Explicar el mecanismo completo.</a:t>
            </a:r>
          </a:p>
          <a:p>
            <a:endParaRPr/>
          </a:p>
          <a:p>
            <a:r>
              <a:t>**Explicación extendida:** Narrar la secuencia paso a paso sin convertirla en una cadena causal más rígida de lo aprobado. En cada etapa preguntar qué entidad cambia y qué permanece. Alcance visual: Secuencia de 4–5 estados: compresión, fuerza vecina, movimiento, nueva compresión y avance. Idea de cierre: La propagación resulta de la interacción entre deformación elástica e inercia.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5 etapas; flechas de fuerza y avance con semántica distinta.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 propagación resulta de la interacción entre deformación elástica e inercia.</a:t>
            </a:r>
          </a:p>
          <a:p>
            <a:endParaRPr/>
          </a:p>
          <a:p>
            <a:r>
              <a:t>**Énfasis / error frecuente:** Narrar causalidad local y evitar que “energía” aparezca como sustancia que empuja.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Formalizar qué propiedades fijan `c`.</a:t>
            </a:r>
          </a:p>
          <a:p>
            <a:endParaRPr/>
          </a:p>
          <a:p>
            <a:r>
              <a:t>**Fuente de apoyo:** TEX 4.4; PDF p. 91; BR</a:t>
            </a:r>
          </a:p>
          <a:p>
            <a:endParaRPr/>
          </a:p>
          <a:p>
            <a:r>
              <a:t>[Texto alternativo] Diagrama sobre «Restauración e inercia transmiten la perturbación a la región vecina»: 5 etapas; flechas de fuerza y avance con semántica distinta. La lectura central es que la propagación resulta de la interacción entre deformación elástica e inercia. Recurso principal: U04-DG-005.</a:t>
            </a:r>
          </a:p>
          <a:p>
            <a:endParaRPr/>
          </a:p>
          <a:p>
            <a:r>
              <a:t>[Sources]</a:t>
            </a:r>
          </a:p>
          <a:p>
            <a:r>
              <a:t>- TEX 4.4; PDF p. 91; BR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U04-020 · La rapidez depende de rigidez volumétrica y densidad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Interpretar `c=√(K_s/ρ)` sin sobregeneralizar.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Mayor `K_s` favorece `c` mayor y mayor `ρ`, aislada, favorece `c` menor.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con dos ramas de tendencia y caja de condiciones.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Mayor `K_s` favorece `c` mayor y mayor `ρ`, aislada, favorece `c` menor.</a:t>
            </a:r>
          </a:p>
          <a:p>
            <a:endParaRPr/>
          </a:p>
          <a:p>
            <a:r>
              <a:t>**Énfasis / error frecuente:** Tratar la relación como modelo de fluido homogéneo y pequeñas perturbaciones; no exigir derivación.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Prevenir la lectura “más denso siempre más lento”.</a:t>
            </a:r>
          </a:p>
          <a:p>
            <a:endParaRPr/>
          </a:p>
          <a:p>
            <a:r>
              <a:t>**Fuente de apoyo:** TEX 4.4; PDF p. 91; NOT; INV F-U04-01</a:t>
            </a:r>
          </a:p>
          <a:p>
            <a:endParaRPr/>
          </a:p>
          <a:p>
            <a:r>
              <a:t>[Texto alternativo] Ecuación anotada sobre «La rapidez depende de rigidez volumétrica y densidad»: ecuación anotada con dos ramas de tendencia y caja de condiciones. La lectura central es que mayor `K_s` favorece `c` mayor y mayor `ρ`, aislada, favorece `c` menor. Recurso principal: U04-DG-006.</a:t>
            </a:r>
          </a:p>
          <a:p>
            <a:endParaRPr/>
          </a:p>
          <a:p>
            <a:r>
              <a:t>[Sources]</a:t>
            </a:r>
          </a:p>
          <a:p>
            <a:r>
              <a:t>- TEX 4.4; PDF p. 91; NOT; INV F-U04-01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U04-021 · La densidad sola no determina la rapidez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Corregir una inferencia causal incompleta.</a:t>
            </a:r>
          </a:p>
          <a:p>
            <a:endParaRPr/>
          </a:p>
          <a:p>
            <a:r>
              <a:t>**Explicación extendida:** Mostrar primero la afirmación problemática y pedir un contraejemplo o la condición faltante. Corregirla nombrando la magnitud adecuada, sin reemplazarla por otra regla memorizada. Formulación correcta: La comparación entre medios requiere considerar simultáneamente elasticidad y densidad.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tabla de tendencias y condición “si lo demás no cambia”. No leer cada caja: usar el diagrama como guía y explicar la relación entre nodos.</a:t>
            </a:r>
          </a:p>
          <a:p>
            <a:endParaRPr/>
          </a:p>
          <a:p>
            <a:r>
              <a:t>**Pregunta al grupo:** ¿Qué condición o distinción falta en la afirmación «La densidad sola no determina la rapidez»?</a:t>
            </a:r>
          </a:p>
          <a:p>
            <a:endParaRPr/>
          </a:p>
          <a:p>
            <a:r>
              <a:t>**Respuesta esperada:** La comparación entre medios requiere considerar simultáneamente elasticidad y densidad.</a:t>
            </a:r>
          </a:p>
          <a:p>
            <a:endParaRPr/>
          </a:p>
          <a:p>
            <a:r>
              <a:t>**Énfasis / error frecuente:** Pedir que nombren qué variable falta antes de comparar.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Aplicar la dependencia a una condición conocida del aire.</a:t>
            </a:r>
          </a:p>
          <a:p>
            <a:endParaRPr/>
          </a:p>
          <a:p>
            <a:r>
              <a:t>**Fuente de apoyo:** TEX 4.4; PDF p. 91; BR errores</a:t>
            </a:r>
          </a:p>
          <a:p>
            <a:endParaRPr/>
          </a:p>
          <a:p>
            <a:r>
              <a:t>[Texto alternativo] Diagrama sobre «La densidad sola no determina la rapidez»: tabla de tendencias y condición “si lo demás no cambia”. La lectura central es que la comparación entre medios requiere considerar simultáneamente elasticidad y densidad. Recurso principal: U04-DG-006.</a:t>
            </a:r>
          </a:p>
          <a:p>
            <a:endParaRPr/>
          </a:p>
          <a:p>
            <a:r>
              <a:t>[Sources]</a:t>
            </a:r>
          </a:p>
          <a:p>
            <a:r>
              <a:t>- TEX 4.4; PDF p. 91; BR errores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U04-022 · Al cambiar el medio: f se conserva; c y λ pueden cambiar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Integrar mecanismo y relaciones de U3.</a:t>
            </a:r>
          </a:p>
          <a:p>
            <a:endParaRPr/>
          </a:p>
          <a:p>
            <a:r>
              <a:t>**Explicación extendida:** Usar recuperación activa: ocultar inicialmente las respuestas y pedir que completen el mapa o la matriz. Volver solo a los nodos que generen duda. La síntesis debe poder expresarse así: En una interfaz estacionaria usual, la fuente fija `f`; el medio fija `c` y se ajusta `λ`.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dos medios, misma frecuencia y longitudes de onda diferentes; mini ecuación `λ=c/f`.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En una interfaz estacionaria usual, la fuente fija `f`; el medio fija `c` y se ajusta `λ`.</a:t>
            </a:r>
          </a:p>
          <a:p>
            <a:endParaRPr/>
          </a:p>
          <a:p>
            <a:r>
              <a:t>**Énfasis / error frecuente:** Repetición pedagógica de U3 con nueva función: decidir qué cambia al variar el medio.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Abrir la pregunta: ¿qué magnitudes describen ahora el campo?</a:t>
            </a:r>
          </a:p>
          <a:p>
            <a:endParaRPr/>
          </a:p>
          <a:p>
            <a:r>
              <a:t>**Fuente de apoyo:** TEX 4.4; PDF p. 91; U3; NOT</a:t>
            </a:r>
          </a:p>
          <a:p>
            <a:endParaRPr/>
          </a:p>
          <a:p>
            <a:r>
              <a:t>[Texto alternativo] Esquema mixto sobre «Al cambiar el medio: `f` se conserva; `c` y `λ` pueden cambiar»: dos medios, misma frecuencia y longitudes de onda diferentes; mini ecuación `λ=c/f`. La lectura central es que en una interfaz estacionaria usual, la fuente fija `f`; el medio fija `c` y se ajusta `λ`. Recurso principal: U04-DG-006.</a:t>
            </a:r>
          </a:p>
          <a:p>
            <a:endParaRPr/>
          </a:p>
          <a:p>
            <a:r>
              <a:t>[Sources]</a:t>
            </a:r>
          </a:p>
          <a:p>
            <a:r>
              <a:t>- TEX 4.4; PDF p. 91; U3; NOT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U04-023 · Del avance de la onda a las magnitudes del campo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Marcar el paso desde mecanismo a medición.</a:t>
            </a:r>
          </a:p>
          <a:p>
            <a:endParaRPr/>
          </a:p>
          <a:p>
            <a:r>
              <a:t>**Explicación extendida:** Leer la pregunta guía y recuperar una respuesta del bloque anterior. Instalar el nuevo problema con lenguaje cotidiano; cerrar con el criterio que se construirá: Un campo acústico asigna valores a posiciones e instantes.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¿Qué magnitudes cambian en el campo y qué ocurre en una interfaz?</a:t>
            </a:r>
          </a:p>
          <a:p>
            <a:endParaRPr/>
          </a:p>
          <a:p>
            <a:r>
              <a:t>**Respuesta esperada:** Un campo acústico asigna valores a posiciones e instantes.</a:t>
            </a:r>
          </a:p>
          <a:p>
            <a:endParaRPr/>
          </a:p>
          <a:p>
            <a:r>
              <a:t>**Énfasis / error frecuente:** Recuperar `ξ(x,t)` de U3 y anunciar que ahora la variable será física y calibrable.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Definir campo antes de enumerar magnitudes.</a:t>
            </a:r>
          </a:p>
          <a:p>
            <a:endParaRPr/>
          </a:p>
          <a:p>
            <a:r>
              <a:t>**Fuente de apoyo:** TEX 4.5; PDF p. 92; U3</a:t>
            </a:r>
          </a:p>
          <a:p>
            <a:endParaRPr/>
          </a:p>
          <a:p>
            <a:r>
              <a:t>[Texto alternativo] Slide tipográfica titulada «Del avance de la onda a las magnitudes del campo»; destaca que un campo acústico asigna valores a posiciones e instantes.</a:t>
            </a:r>
          </a:p>
          <a:p>
            <a:endParaRPr/>
          </a:p>
          <a:p>
            <a:r>
              <a:t>[Sources]</a:t>
            </a:r>
          </a:p>
          <a:p>
            <a:r>
              <a:t>- TEX 4.5; PDF p. 92; U3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U04-024 · Un campo acústico cambia con posición y tiempo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Definir el objeto de estudio.</a:t>
            </a:r>
          </a:p>
          <a:p>
            <a:endParaRPr/>
          </a:p>
          <a:p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Presión, velocidad e intensidad pueden tener valores diferentes en cada lugar e instante.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mapa simple con dos posiciones, dos instantes y tres magnitudes listadas fuera del dibujo.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Presión, velocidad e intensidad pueden tener valores diferentes en cada lugar e instante.</a:t>
            </a:r>
          </a:p>
          <a:p>
            <a:endParaRPr/>
          </a:p>
          <a:p>
            <a:r>
              <a:t>**Énfasis / error frecuente:** Evitar convertir “campo” en sinónimo de recinto; señalar que es una distribución.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Elegir la primera variable fundamental.</a:t>
            </a:r>
          </a:p>
          <a:p>
            <a:endParaRPr/>
          </a:p>
          <a:p>
            <a:r>
              <a:t>**Fuente de apoyo:** PO; TEX 4.5; PDF p. 92; GLO</a:t>
            </a:r>
          </a:p>
          <a:p>
            <a:endParaRPr/>
          </a:p>
          <a:p>
            <a:r>
              <a:t>[Texto alternativo] Diagrama sobre «Un campo acústico cambia con posición y tiempo»: mapa simple con dos posiciones, dos instantes y tres magnitudes listadas fuera del dibujo. La lectura central es que presión, velocidad e intensidad pueden tener valores diferentes en cada lugar e instante. Recurso principal: U04-DG-007.</a:t>
            </a:r>
          </a:p>
          <a:p>
            <a:endParaRPr/>
          </a:p>
          <a:p>
            <a:r>
              <a:t>[Sources]</a:t>
            </a:r>
          </a:p>
          <a:p>
            <a:r>
              <a:t>- PO; TEX 4.5; PDF p. 92; GLO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U04-025 · La presión acústica es una variación alrededor de la presión estática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Definir `p(r,t)` con referente físico.</a:t>
            </a:r>
          </a:p>
          <a:p>
            <a:endParaRPr/>
          </a:p>
          <a:p>
            <a:r>
              <a:t>**Explicación extendida:** Desarrollar el alcance aprobado —`p_total=p_0+p(r,t)` como relación conceptual; unidades y signo respecto de `p_0`— y vincular cada afirmación con una magnitud, unidad, referencia o condición. Idea central: La presión total se separa en equilibrio y variación acústica.</a:t>
            </a:r>
          </a:p>
          <a:p>
            <a:endParaRPr/>
          </a:p>
          <a:p>
            <a:r>
              <a:t>**Guía para el visual o diagrama:** Nombrar primero ejes, variables, unidades y escala. Después identificar una tendencia o ancla y recién entonces formular la conclusión. presión total y pequeña oscilación acústica sobre una línea de equilibrio.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 presión total se separa en equilibrio y variación acústica.</a:t>
            </a:r>
          </a:p>
          <a:p>
            <a:endParaRPr/>
          </a:p>
          <a:p>
            <a:r>
              <a:t>**Énfasis / error frecuente:** Diferenciar `p_0`, `p(t)` y `p_ref`; no introducir aún nivel.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Resolver el significado de valores negativos.</a:t>
            </a:r>
          </a:p>
          <a:p>
            <a:endParaRPr/>
          </a:p>
          <a:p>
            <a:r>
              <a:t>**Fuente de apoyo:** TEX 4.5.1; PDF p. 92; NOT; GLO</a:t>
            </a:r>
          </a:p>
          <a:p>
            <a:endParaRPr/>
          </a:p>
          <a:p>
            <a:r>
              <a:t>[Texto alternativo] Gráfico sobre «La presión acústica es una variación alrededor de la presión estática»: presión total y pequeña oscilación acústica sobre una línea de equilibrio. La lectura central es que la presión total se separa en equilibrio y variación acústica. Recurso principal: U04-CH-001.</a:t>
            </a:r>
          </a:p>
          <a:p>
            <a:endParaRPr/>
          </a:p>
          <a:p>
            <a:r>
              <a:t>[Sources]</a:t>
            </a:r>
          </a:p>
          <a:p>
            <a:r>
              <a:t>- TEX 4.5.1; PDF p. 92; NOT; GLO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U04-026 · p(t)&lt;0 no significa presión total negativa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Corregir la lectura del signo.</a:t>
            </a:r>
          </a:p>
          <a:p>
            <a:endParaRPr/>
          </a:p>
          <a:p>
            <a:r>
              <a:t>**Explicación extendida:** Mostrar primero la afirmación problemática y pedir un contraejemplo o la condición faltante. Corregirla nombrando la magnitud adecuada, sin reemplazarla por otra regla memorizada. Formulación correcta: Un valor acústico negativo indica presión menor que el equilibrio local.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eje de presión con `p_0`, sobrepresión y rarefacción. No leer cada caja: usar el diagrama como guía y explicar la relación entre nodos.</a:t>
            </a:r>
          </a:p>
          <a:p>
            <a:endParaRPr/>
          </a:p>
          <a:p>
            <a:r>
              <a:t>**Pregunta al grupo:** ¿Qué condición o distinción falta en la afirmación «`p(t)&lt;0` no significa presión total negativa»?</a:t>
            </a:r>
          </a:p>
          <a:p>
            <a:endParaRPr/>
          </a:p>
          <a:p>
            <a:r>
              <a:t>**Respuesta esperada:** Un valor acústico negativo indica presión menor que el equilibrio local.</a:t>
            </a:r>
          </a:p>
          <a:p>
            <a:endParaRPr/>
          </a:p>
          <a:p>
            <a:r>
              <a:t>**Énfasis / error frecuente:** Usar la distinción entre variable relativa y valor total.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Introducir la variable de movimiento local.</a:t>
            </a:r>
          </a:p>
          <a:p>
            <a:endParaRPr/>
          </a:p>
          <a:p>
            <a:r>
              <a:t>**Fuente de apoyo:** TEX 4.5.1; PDF p. 92; BR errores</a:t>
            </a:r>
          </a:p>
          <a:p>
            <a:endParaRPr/>
          </a:p>
          <a:p>
            <a:r>
              <a:t>[Texto alternativo] Diagrama sobre «`p(t)&lt;0` no significa presión total negativa»: eje de presión con `p_0`, sobrepresión y rarefacción. La lectura central es que un valor acústico negativo indica presión menor que el equilibrio local. Recurso principal: U04-DG-007.</a:t>
            </a:r>
          </a:p>
          <a:p>
            <a:endParaRPr/>
          </a:p>
          <a:p>
            <a:r>
              <a:t>[Sources]</a:t>
            </a:r>
          </a:p>
          <a:p>
            <a:r>
              <a:t>- TEX 4.5.1; PDF p. 92; BR errores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U04-027 · La velocidad de partícula describe movimiento local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Formalizar `u(r,t)`.</a:t>
            </a:r>
          </a:p>
          <a:p>
            <a:endParaRPr/>
          </a:p>
          <a:p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`u` indica cómo se mueve una pequeña región del medio, no cuán rápido avanza la onda.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partícula marcada, flecha local `u` y frente separado.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`u` indica cómo se mueve una pequeña región del medio, no cuán rápido avanza la onda.</a:t>
            </a:r>
          </a:p>
          <a:p>
            <a:endParaRPr/>
          </a:p>
          <a:p>
            <a:r>
              <a:t>**Énfasis / error frecuente:** Recordar que puede cambiar de sentido durante un ciclo.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Contrastar `u` con `c` antes de relacionarla con presión.</a:t>
            </a:r>
          </a:p>
          <a:p>
            <a:endParaRPr/>
          </a:p>
          <a:p>
            <a:r>
              <a:t>**Fuente de apoyo:** TEX 4.5.2; PDF p. 92; NOT; GLO; U3</a:t>
            </a:r>
          </a:p>
          <a:p>
            <a:endParaRPr/>
          </a:p>
          <a:p>
            <a:r>
              <a:t>[Texto alternativo] Diagrama sobre «La velocidad de partícula describe movimiento local»: partícula marcada, flecha local `u` y frente separado. La lectura central es que `u` indica cómo se mueve una pequeña región del medio, no cuán rápido avanza la onda. Recurso principal: U04-DG-007.</a:t>
            </a:r>
          </a:p>
          <a:p>
            <a:endParaRPr/>
          </a:p>
          <a:p>
            <a:r>
              <a:t>[Sources]</a:t>
            </a:r>
          </a:p>
          <a:p>
            <a:r>
              <a:t>- TEX 4.5.2; PDF p. 92; NOT; GLO; U3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U04-028 · u y c comparten unidad, pero no pregunta física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Consolidar una distinción crítica.</a:t>
            </a:r>
          </a:p>
          <a:p>
            <a:endParaRPr/>
          </a:p>
          <a:p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`u` describe movimiento local; `c`, avance de fase o perturbación.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dos paneles coordinados con flechas distintas y síntesis inferior.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`u` describe movimiento local; `c`, avance de fase o perturbación.</a:t>
            </a:r>
          </a:p>
          <a:p>
            <a:endParaRPr/>
          </a:p>
          <a:p>
            <a:r>
              <a:t>**Énfasis / error frecuente:** Pedir un ejemplo donde `u` cambie de signo mientras `c` mantiene sentido.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Relacionar esfuerzo local y respuesta de movimiento.</a:t>
            </a:r>
          </a:p>
          <a:p>
            <a:endParaRPr/>
          </a:p>
          <a:p>
            <a:r>
              <a:t>**Fuente de apoyo:** TEX 4.5.2; PDF p. 92; CDM; U3</a:t>
            </a:r>
          </a:p>
          <a:p>
            <a:endParaRPr/>
          </a:p>
          <a:p>
            <a:r>
              <a:t>[Texto alternativo] Diagrama sobre «`u` y `c` comparten unidad, pero no pregunta física»: dos paneles coordinados con flechas distintas y síntesis inferior. La lectura central es que `u` describe movimiento local; `c`, avance de fase o perturbación. Recurso principal: U04-DG-007.</a:t>
            </a:r>
          </a:p>
          <a:p>
            <a:endParaRPr/>
          </a:p>
          <a:p>
            <a:r>
              <a:t>[Sources]</a:t>
            </a:r>
          </a:p>
          <a:p>
            <a:r>
              <a:t>- TEX 4.5.2; PDF p. 92; CDM; U3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U04-029 · La impedancia relaciona presión y velocidad de partícula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Introducir `Z` con significado y unidad.</a:t>
            </a:r>
          </a:p>
          <a:p>
            <a:endParaRPr/>
          </a:p>
          <a:p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La relación `p/u` depende del tipo de campo, frecuencia y fase.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presión y movimiento como entradas a una relación, sin usar una división universal.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 relación `p/u` depende del tipo de campo, frecuencia y fase.</a:t>
            </a:r>
          </a:p>
          <a:p>
            <a:endParaRPr/>
          </a:p>
          <a:p>
            <a:r>
              <a:t>**Énfasis / error frecuente:** Aclarar que `Z` es compleja en general; mantener tratamiento cualitativo.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Introducir el caso ideal donde la relación se simplifica.</a:t>
            </a:r>
          </a:p>
          <a:p>
            <a:endParaRPr/>
          </a:p>
          <a:p>
            <a:r>
              <a:t>**Fuente de apoyo:** PO; TEX 4.5.3; PDF p. 92; NOT; GLO</a:t>
            </a:r>
          </a:p>
          <a:p>
            <a:endParaRPr/>
          </a:p>
          <a:p>
            <a:r>
              <a:t>[Texto alternativo] Diagrama sobre «La impedancia relaciona presión y velocidad de partícula»: presión y movimiento como entradas a una relación, sin usar una división universal. La lectura central es que la relación `p/u` depende del tipo de campo, frecuencia y fase. Recurso principal: U04-DG-008.</a:t>
            </a:r>
          </a:p>
          <a:p>
            <a:endParaRPr/>
          </a:p>
          <a:p>
            <a:r>
              <a:t>[Sources]</a:t>
            </a:r>
          </a:p>
          <a:p>
            <a:r>
              <a:t>- PO; TEX 4.5.3; PDF p. 92; NOT; GLO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U04-030 · En una onda plana progresiva ideal, p/u=ρc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Presentar una relación condicionada.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`Z_0=ρc` vale para un modelo específico, no para todo campo.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y sello de condiciones; callouts sin cruzar texto.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`Z_0=ρc` vale para un modelo específico, no para todo campo.</a:t>
            </a:r>
          </a:p>
          <a:p>
            <a:endParaRPr/>
          </a:p>
          <a:p>
            <a:r>
              <a:t>**Énfasis / error frecuente:** Explicar que presión y velocidad están en fase en este caso.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Usar la impedancia para anticipar lo que ocurre en una frontera.</a:t>
            </a:r>
          </a:p>
          <a:p>
            <a:endParaRPr/>
          </a:p>
          <a:p>
            <a:r>
              <a:t>**Fuente de apoyo:** TEX 4.5.3; PDF p. 92; NOT; INV F-U04-03</a:t>
            </a:r>
          </a:p>
          <a:p>
            <a:endParaRPr/>
          </a:p>
          <a:p>
            <a:r>
              <a:t>[Texto alternativo] Ecuación anotada sobre «En una onda plana progresiva ideal, `p/u=ρc`»: ecuación anotada y sello de condiciones; callouts sin cruzar texto. La lectura central es que `Z_0=ρc` vale para un modelo específico, no para todo campo. Recurso principal: U04-DG-008.</a:t>
            </a:r>
          </a:p>
          <a:p>
            <a:endParaRPr/>
          </a:p>
          <a:p>
            <a:r>
              <a:t>[Sources]</a:t>
            </a:r>
          </a:p>
          <a:p>
            <a:r>
              <a:t>- TEX 4.5.3; PDF p. 92; NOT; INV F-U04-03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U04-031 · Una interfaz separa onda incidente, reflejada y transmitida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Explicar reflexión por desajuste de impedancias.</a:t>
            </a:r>
          </a:p>
          <a:p>
            <a:endParaRPr/>
          </a:p>
          <a:p>
            <a:r>
              <a:t>**Explicación extendida:** Narrar la secuencia paso a paso sin convertirla en una cadena causal más rígida de lo aprobado. En cada etapa preguntar qué entidad cambia y qué permanece. Alcance visual: Dos medios, interfaz, tres ondas y casos límite `Z_01=Z_02` y gran diferencia. Idea de cierre: Una parte puede regresar y otra continuar; las proporciones dependen de las impedancias y las condiciones.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reconstrucción de figura 4.1; 3 flechas, 2 nodos de medio y etiquetas fuera de trayectorias.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Una parte puede regresar y otra continuar; las proporciones dependen de las impedancias y las condiciones.</a:t>
            </a:r>
          </a:p>
          <a:p>
            <a:endParaRPr/>
          </a:p>
          <a:p>
            <a:r>
              <a:t>**Énfasis / error frecuente:** No usar longitud de flecha como amplitud; diferenciar coeficiente de presión y energía.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Formalizar el coeficiente solo como profundidad opcional.</a:t>
            </a:r>
          </a:p>
          <a:p>
            <a:endParaRPr/>
          </a:p>
          <a:p>
            <a:r>
              <a:t>**Fuente de apoyo:** PO; TEX 4.5.4; PDF pp. 92–93; figura 4.1</a:t>
            </a:r>
          </a:p>
          <a:p>
            <a:endParaRPr/>
          </a:p>
          <a:p>
            <a:r>
              <a:t>[Texto alternativo] Diagrama sobre «Una interfaz separa onda incidente, reflejada y transmitida»: reconstrucción de figura 4.1; 3 flechas, 2 nodos de medio y etiquetas fuera de trayectorias. La lectura central es que una parte puede regresar y otra continuar; las proporciones dependen de las impedancias y las condiciones. Recurso principal: U04-DG-008.</a:t>
            </a:r>
          </a:p>
          <a:p>
            <a:endParaRPr/>
          </a:p>
          <a:p>
            <a:r>
              <a:t>[Sources]</a:t>
            </a:r>
          </a:p>
          <a:p>
            <a:r>
              <a:t>- PO; TEX 4.5.4; PDF pp. 92–93; figura 4.1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U04-032 · Rₚ cuantifica la amplitud de presión reflejada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Interpretar el coeficiente de reflexión de presión.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Signo y módulo de `R_p` responden preguntas distintas.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conectada a los dos medios y dos casos límite.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Signo y módulo de `R_p` responden preguntas distintas.</a:t>
            </a:r>
          </a:p>
          <a:p>
            <a:endParaRPr/>
          </a:p>
          <a:p>
            <a:r>
              <a:t>**Énfasis / error frecuente:** No enseñar como fórmula universal ni confundir con transmisión de presión.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Cerrar con una aplicación y una síntesis de magnitudes locales.</a:t>
            </a:r>
          </a:p>
          <a:p>
            <a:endParaRPr/>
          </a:p>
          <a:p>
            <a:r>
              <a:t>**Fuente de apoyo:** TEX 4.5.4; PDF p. 93; INV F-U04-04–05</a:t>
            </a:r>
          </a:p>
          <a:p>
            <a:endParaRPr/>
          </a:p>
          <a:p>
            <a:r>
              <a:t>[Texto alternativo] Ecuación anotada sobre «`R_p` cuantifica la amplitud de presión reflejada»: ecuación anotada conectada a los dos medios y dos casos límite. La lectura central es que signo y módulo de `R_p` responden preguntas distintas. Recurso principal: U04-DG-008.</a:t>
            </a:r>
          </a:p>
          <a:p>
            <a:endParaRPr/>
          </a:p>
          <a:p>
            <a:r>
              <a:t>[Sources]</a:t>
            </a:r>
          </a:p>
          <a:p>
            <a:r>
              <a:t>- TEX 4.5.4; PDF p. 93; INV F-U04-04–05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U04-033 · Hasta acá: p, u, Z y reflexión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Consolidar magnitudes y condiciones.</a:t>
            </a:r>
          </a:p>
          <a:p>
            <a:endParaRPr/>
          </a:p>
          <a:p>
            <a:r>
              <a:t>**Explicación extendida:** Usar recuperación activa: ocultar inicialmente las respuestas y pedir que completen el mapa o la matriz. Volver solo a los nodos que generen duda. La síntesis debe poder expresarse así: Antes de usar una relación hay que identificar variable, unidad, campo e interfaz.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mapa reducido `p ↔ u → Z → reflexión`; máximo 4 nodos.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Antes de usar una relación hay que identificar variable, unidad, campo e interfaz.</a:t>
            </a:r>
          </a:p>
          <a:p>
            <a:endParaRPr/>
          </a:p>
          <a:p>
            <a:r>
              <a:t>**Énfasis / error frecuente:** Repetición pedagógica: pasar de definiciones a diagnóstico de una interfaz; no anticipar anatomía de U6.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Preguntar qué magnitud describe el flujo de energía.</a:t>
            </a:r>
          </a:p>
          <a:p>
            <a:endParaRPr/>
          </a:p>
          <a:p>
            <a:r>
              <a:t>**Fuente de apoyo:** PO; TEX 4.5 y 4.12; PDF pp. 92–93, 106; CM</a:t>
            </a:r>
          </a:p>
          <a:p>
            <a:endParaRPr/>
          </a:p>
          <a:p>
            <a:r>
              <a:t>[Texto alternativo] Diagrama sobre «Hasta acá: `p`, `u`, `Z` y reflexión»: mapa reducido `p ↔ u → Z → reflexión`; máximo 4 nodos. La lectura central es que antes de usar una relación hay que identificar variable, unidad, campo e interfaz. Recurso principal: U04-DG-008.</a:t>
            </a:r>
          </a:p>
          <a:p>
            <a:endParaRPr/>
          </a:p>
          <a:p>
            <a:r>
              <a:t>[Sources]</a:t>
            </a:r>
          </a:p>
          <a:p>
            <a:r>
              <a:t>- PO; TEX 4.5 y 4.12; PDF pp. 92–93, 106; CM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U04-034 · Del movimiento local al flujo de energía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Marcar el bloque de intensidad, potencia y energía.</a:t>
            </a:r>
          </a:p>
          <a:p>
            <a:endParaRPr/>
          </a:p>
          <a:p>
            <a:r>
              <a:t>**Explicación extendida:** Leer la pregunta guía y recuperar una respuesta del bloque anterior. Instalar el nuevo problema con lenguaje cotidiano; cerrar con el criterio que se construirá: Presión no es intensidad y una magnitud local no es el total de la fuente.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¿Cómo distinguimos una variable local de la transferencia de energía?</a:t>
            </a:r>
          </a:p>
          <a:p>
            <a:endParaRPr/>
          </a:p>
          <a:p>
            <a:r>
              <a:t>**Respuesta esperada:** Presión no es intensidad y una magnitud local no es el total de la fuente.</a:t>
            </a:r>
          </a:p>
          <a:p>
            <a:endParaRPr/>
          </a:p>
          <a:p>
            <a:r>
              <a:t>**Énfasis / error frecuente:** Recuperar potencia y energía de U2.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Construir primero la intensidad instantánea.</a:t>
            </a:r>
          </a:p>
          <a:p>
            <a:endParaRPr/>
          </a:p>
          <a:p>
            <a:r>
              <a:t>**Fuente de apoyo:** TEX 4.5.5; PDF pp. 93–95; U2</a:t>
            </a:r>
          </a:p>
          <a:p>
            <a:endParaRPr/>
          </a:p>
          <a:p>
            <a:r>
              <a:t>[Texto alternativo] Slide tipográfica titulada «Del movimiento local al flujo de energía»; destaca que presión no es intensidad y una magnitud local no es el total de la fuente.</a:t>
            </a:r>
          </a:p>
          <a:p>
            <a:endParaRPr/>
          </a:p>
          <a:p>
            <a:r>
              <a:t>[Sources]</a:t>
            </a:r>
          </a:p>
          <a:p>
            <a:r>
              <a:t>- TEX 4.5.5; PDF pp. 93–95; U2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U04-035 · La intensidad instantánea combina presión y velocidad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Interpretar `i(t)=p(t)u(t)`.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El signo del producto indica dirección instantánea del flujo en el eje elegido.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y tabla de signos; no superponer flechas a texto.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El signo del producto indica dirección instantánea del flujo en el eje elegido.</a:t>
            </a:r>
          </a:p>
          <a:p>
            <a:endParaRPr/>
          </a:p>
          <a:p>
            <a:r>
              <a:t>**Énfasis / error frecuente:** Mostrar dimensionalmente que `Pa·m/s=W/m²`.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Visualizar el producto durante un ciclo.</a:t>
            </a:r>
          </a:p>
          <a:p>
            <a:endParaRPr/>
          </a:p>
          <a:p>
            <a:r>
              <a:t>**Fuente de apoyo:** TEX 4.5.5; PDF pp. 93–94; NOT; INV F-U04-06</a:t>
            </a:r>
          </a:p>
          <a:p>
            <a:endParaRPr/>
          </a:p>
          <a:p>
            <a:r>
              <a:t>[Texto alternativo] Ecuación anotada sobre «La intensidad instantánea combina presión y velocidad»: ecuación anotada y tabla de signos; no superponer flechas a texto. La lectura central es que el signo del producto indica dirección instantánea del flujo en el eje elegido. Recurso principal: U04-DG-009.</a:t>
            </a:r>
          </a:p>
          <a:p>
            <a:endParaRPr/>
          </a:p>
          <a:p>
            <a:r>
              <a:t>[Sources]</a:t>
            </a:r>
          </a:p>
          <a:p>
            <a:r>
              <a:t>- TEX 4.5.5; PDF pp. 93–94; NOT; INV F-U04-06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U04-036 · Presión y velocidad oscilan; su producto describe el flujo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Leer `p(t)`, `u(t)` e `i(t)` coordinadamente.</a:t>
            </a:r>
          </a:p>
          <a:p>
            <a:endParaRPr/>
          </a:p>
          <a:p>
            <a:r>
              <a:t>**Explicación extendida:** Solicitar una lectura sin conclusiones: identificar ejes, unidades, escala y curvas. Luego comparar dos puntos o regiones y formular la tendencia. Aclarar qué representa la figura y qué no permite inferir. Síntesis: En la onda progresiva ideal, `p` y `u` están en fase y `i` presenta dos máximos por período.</a:t>
            </a:r>
          </a:p>
          <a:p>
            <a:endParaRPr/>
          </a:p>
          <a:p>
            <a:r>
              <a:t>**Guía para el visual o diagrama:** Nombrar primero ejes, variables, unidades y escala. Después identificar una tendencia o ancla y recién entonces formular la conclusión. reconstrucción de figura 4.2 con tres ejes coordinados y normalización explícita.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En la onda progresiva ideal, `p` y `u` están en fase y `i` presenta dos máximos por período.</a:t>
            </a:r>
          </a:p>
          <a:p>
            <a:endParaRPr/>
          </a:p>
          <a:p>
            <a:r>
              <a:t>**Énfasis / error frecuente:** Pedir por qué el producto es positivo cuando ambas variables son negativas.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Pasar del valor instantáneo al promedio temporal.</a:t>
            </a:r>
          </a:p>
          <a:p>
            <a:endParaRPr/>
          </a:p>
          <a:p>
            <a:r>
              <a:t>**Fuente de apoyo:** TEX 4.5.5; PDF pp. 94–95; figura 4.2; ejercicios R2</a:t>
            </a:r>
          </a:p>
          <a:p>
            <a:endParaRPr/>
          </a:p>
          <a:p>
            <a:r>
              <a:t>[Texto alternativo] Gráfico sobre «Presión y velocidad oscilan; su producto describe el flujo»: reconstrucción de figura 4.2 con tres ejes coordinados y normalización explícita. La lectura central es que en la onda progresiva ideal, `p` y `u` están en fase y `i` presenta dos máximos por período. Recurso principal: U04-CH-002.</a:t>
            </a:r>
          </a:p>
          <a:p>
            <a:endParaRPr/>
          </a:p>
          <a:p>
            <a:r>
              <a:t>[Sources]</a:t>
            </a:r>
          </a:p>
          <a:p>
            <a:r>
              <a:t>- TEX 4.5.5; PDF pp. 94–95; figura 4.2; ejercicios R2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U04-037 · La intensidad media resume el flujo durante un intervalo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Introducir el promedio temporal del producto.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Integrar aquí significa promediar `p(t)u(t)` durante una ventana definida.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y línea temporal con ventana; fórmula discreta como apoyo.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Integrar aquí significa promediar `p(t)u(t)` durante una ventana definida.</a:t>
            </a:r>
          </a:p>
          <a:p>
            <a:endParaRPr/>
          </a:p>
          <a:p>
            <a:r>
              <a:t>**Énfasis / error frecuente:** No enseñar técnicas de integración; vincular con promedio de muestras.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Relacionar intensidad media con RMS en el modelo ideal.</a:t>
            </a:r>
          </a:p>
          <a:p>
            <a:endParaRPr/>
          </a:p>
          <a:p>
            <a:r>
              <a:t>**Fuente de apoyo:** TEX 4.5.5; PDF p. 94; OD-U04-19; INV F-U04-07</a:t>
            </a:r>
          </a:p>
          <a:p>
            <a:endParaRPr/>
          </a:p>
          <a:p>
            <a:r>
              <a:t>[Texto alternativo] Ecuación anotada sobre «La intensidad media resume el flujo durante un intervalo»: ecuación anotada y línea temporal con ventana; fórmula discreta como apoyo. La lectura central es que integrar aquí significa promediar `p(t)u(t)` durante una ventana definida. Recurso principal: U04-DG-009.</a:t>
            </a:r>
          </a:p>
          <a:p>
            <a:endParaRPr/>
          </a:p>
          <a:p>
            <a:r>
              <a:t>[Sources]</a:t>
            </a:r>
          </a:p>
          <a:p>
            <a:r>
              <a:t>- TEX 4.5.5; PDF p. 94; OD-U04-19; INV F-U04-07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U04-038 · En onda plana ideal, I se relaciona con valores RMS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Conectar presión, velocidad e impedancia.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`I=p_rms²/Z_0` requiere el mismo conjunto de hipótesis que `p/u=ρc`.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central anotada y equivalencias laterales; reservar 28 pt mínimo.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`I=p_rms²/Z_0` requiere el mismo conjunto de hipótesis que `p/u=ρc`.</a:t>
            </a:r>
          </a:p>
          <a:p>
            <a:endParaRPr/>
          </a:p>
          <a:p>
            <a:r>
              <a:t>**Énfasis / error frecuente:** Repetir las condiciones de forma intencional porque ahora habilitan un cálculo energético.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Modelar un ejemplo numérico antes de sumar más magnitudes.</a:t>
            </a:r>
          </a:p>
          <a:p>
            <a:endParaRPr/>
          </a:p>
          <a:p>
            <a:r>
              <a:t>**Fuente de apoyo:** TEX 4.5.5; PDF p. 94; NOT; INV F-U04-08</a:t>
            </a:r>
          </a:p>
          <a:p>
            <a:endParaRPr/>
          </a:p>
          <a:p>
            <a:r>
              <a:t>[Texto alternativo] Ecuación anotada sobre «En onda plana ideal, `I` se relaciona con valores RMS»: ecuación central anotada y equivalencias laterales; reservar 28 pt mínimo. La lectura central es que `I=p_rms²/Z_0` requiere el mismo conjunto de hipótesis que `p/u=ρc`. Recurso principal: U04-DG-009.</a:t>
            </a:r>
          </a:p>
          <a:p>
            <a:endParaRPr/>
          </a:p>
          <a:p>
            <a:r>
              <a:t>[Sources]</a:t>
            </a:r>
          </a:p>
          <a:p>
            <a:r>
              <a:t>- TEX 4.5.5; PDF p. 94; NOT; INV F-U04-08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U04-039 · De pᵣms a uᵣms e intensidad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Modelar un procedimiento con unidades.</a:t>
            </a:r>
          </a:p>
          <a:p>
            <a:endParaRPr/>
          </a:p>
          <a:p>
            <a:r>
              <a:t>**Explicación extendida:** Pedir primero una estimación cualitativa. Resolver en el orden dato → relación válida → sustitución con unidades → resultado → interpretación. Hacer explícito el redondeo y volver a la condición del modelo. Conclusión: Presión, velocidad e intensidad son resultados distintos aunque estén relacionados.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Ecuaciones editables con revelado por pasos; sin gráfico adicional.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Presión, velocidad e intensidad son resultados distintos aunque estén relacionados.</a:t>
            </a:r>
          </a:p>
          <a:p>
            <a:endParaRPr/>
          </a:p>
          <a:p>
            <a:r>
              <a:t>**Énfasis / error frecuente:** Leer datos, elegir relación, conservar unidades e interpretar cada resultado.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Distinguir el flujo local del total que atraviesa una superficie.</a:t>
            </a:r>
          </a:p>
          <a:p>
            <a:endParaRPr/>
          </a:p>
          <a:p>
            <a:r>
              <a:t>**Fuente de apoyo:** TEX 4.5.6; PDF pp. 94–95; INV ejemplo</a:t>
            </a:r>
          </a:p>
          <a:p>
            <a:endParaRPr/>
          </a:p>
          <a:p>
            <a:r>
              <a:t>[Texto alternativo] Ecuación anotada sobre «De `p_rms` a `u_rms` e intensidad»: Ecuaciones editables con revelado por pasos; sin gráfico adicional. La lectura central es que presión, velocidad e intensidad son resultados distintos aunque estén relacionados. Recurso principal: U04-DG-022.</a:t>
            </a:r>
          </a:p>
          <a:p>
            <a:endParaRPr/>
          </a:p>
          <a:p>
            <a:r>
              <a:t>[Sources]</a:t>
            </a:r>
          </a:p>
          <a:p>
            <a:r>
              <a:t>- TEX 4.5.6; PDF pp. 94–95; INV ejemplo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U04-040 · Intensidad, potencia y energía responden escalas diferentes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Diferenciar flujo por área, tasa total y cantidad transferida.</a:t>
            </a:r>
          </a:p>
          <a:p>
            <a:endParaRPr/>
          </a:p>
          <a:p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`I` es local/areal; `W_ac` es tasa total; `E_ac` acumula durante un intervalo.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diagrama `I → superficie → W_ac → tiempo → E_ac` con tabla lateral mínima.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`I` es local/areal; `W_ac` es tasa total; `E_ac` acumula durante un intervalo.</a:t>
            </a:r>
          </a:p>
          <a:p>
            <a:endParaRPr/>
          </a:p>
          <a:p>
            <a:r>
              <a:t>**Énfasis / error frecuente:** Adoptar provisionalmente `W_ac`; mencionar abreviación `W` del libro.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Formalizar las dos relaciones como profundidad opcional.</a:t>
            </a:r>
          </a:p>
          <a:p>
            <a:endParaRPr/>
          </a:p>
          <a:p>
            <a:r>
              <a:t>**Fuente de apoyo:** TEX 4.5.5; PDF p. 94; NOT; GLO; OD-U04-02</a:t>
            </a:r>
          </a:p>
          <a:p>
            <a:endParaRPr/>
          </a:p>
          <a:p>
            <a:r>
              <a:t>[Texto alternativo] Esquema mixto sobre «Intensidad, potencia y energía responden escalas diferentes»: diagrama `I → superficie → W_ac → tiempo → E_ac` con tabla lateral mínima. La lectura central es que `I` es local/areal; `W_ac` es tasa total; `E_ac` acumula durante un intervalo. Recurso principal: U04-DG-010.</a:t>
            </a:r>
          </a:p>
          <a:p>
            <a:endParaRPr/>
          </a:p>
          <a:p>
            <a:r>
              <a:t>[Sources]</a:t>
            </a:r>
          </a:p>
          <a:p>
            <a:r>
              <a:t>- TEX 4.5.5; PDF p. 94; NOT; GLO; OD-U04-02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U04-041 · Superficie y tiempo conectan I, Wₐc y Eₐc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Registrar `W_ac=IS` y `E_ac=W_acΔt`.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Las relaciones simples requieren intensidad uniforme/normal y potencia constante.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dos ecuaciones anotadas en secuencia y superficie/intervalo esquemáticos.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Las relaciones simples requieren intensidad uniforme/normal y potencia constante.</a:t>
            </a:r>
          </a:p>
          <a:p>
            <a:endParaRPr/>
          </a:p>
          <a:p>
            <a:r>
              <a:t>**Énfasis / error frecuente:** Evitar generalizar `W=IS` cuando la intensidad no es uniforme o normal.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Cerrar el bloque con una situación de medición.</a:t>
            </a:r>
          </a:p>
          <a:p>
            <a:endParaRPr/>
          </a:p>
          <a:p>
            <a:r>
              <a:t>**Fuente de apoyo:** TEX 4.5.5; PDF p. 94; INV F-U04-09–10</a:t>
            </a:r>
          </a:p>
          <a:p>
            <a:endParaRPr/>
          </a:p>
          <a:p>
            <a:r>
              <a:t>[Texto alternativo] Ecuación anotada sobre «Superficie y tiempo conectan `I`, `W_ac` y `E_ac`»: dos ecuaciones anotadas en secuencia y superficie/intervalo esquemáticos. La lectura central es que las relaciones simples requieren intensidad uniforme/normal y potencia constante. Recurso principal: U04-DG-010.</a:t>
            </a:r>
          </a:p>
          <a:p>
            <a:endParaRPr/>
          </a:p>
          <a:p>
            <a:r>
              <a:t>[Sources]</a:t>
            </a:r>
          </a:p>
          <a:p>
            <a:r>
              <a:t>- TEX 4.5.5; PDF p. 94; INV F-U04-09–10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U04-042 · Un micrófono mide una variable local; no la potencia total de la fuente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Aplicar y consolidar `p/u/I/W_ac/E_ac`.</a:t>
            </a:r>
          </a:p>
          <a:p>
            <a:endParaRPr/>
          </a:p>
          <a:p>
            <a:r>
              <a:t>**Explicación extendida:** Usar recuperación activa: ocultar inicialmente las respuestas y pedir que completen el mapa o la matriz. Volver solo a los nodos que generen duda. La síntesis debe poder expresarse así: La variable informada depende del sensor, el punto y el procesamiento.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proceso de medición con 4 nodos y callout de límites; conexión clínica.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La variable informada depende del sensor, el punto y el procesamiento.</a:t>
            </a:r>
          </a:p>
          <a:p>
            <a:endParaRPr/>
          </a:p>
          <a:p>
            <a:r>
              <a:t>**Énfasis / error frecuente:** Repetición pedagógica: usar las magnitudes para interpretar un instrumento, no volver a definirlas.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Preguntar qué valor debe extraerse de una señal variable.</a:t>
            </a:r>
          </a:p>
          <a:p>
            <a:endParaRPr/>
          </a:p>
          <a:p>
            <a:r>
              <a:t>**Fuente de apoyo:** TEX 4.12; PDF p. 106; BR aplicaciones; CM</a:t>
            </a:r>
          </a:p>
          <a:p>
            <a:endParaRPr/>
          </a:p>
          <a:p>
            <a:r>
              <a:t>[Texto alternativo] Diagrama sobre «Un micrófono mide una variable local; no la potencia total de la fuente»: proceso de medición con 4 nodos y callout de límites; conexión clínica. La lectura central es que la variable informada depende del sensor, el punto y el procesamiento. Recurso principal: U04-DG-010.</a:t>
            </a:r>
          </a:p>
          <a:p>
            <a:endParaRPr/>
          </a:p>
          <a:p>
            <a:r>
              <a:t>[Sources]</a:t>
            </a:r>
          </a:p>
          <a:p>
            <a:r>
              <a:t>- TEX 4.12; PDF p. 106; BR aplicaciones; CM</a:t>
            </a:r>
          </a:p>
          <a:p>
            <a:r>
              <a:t>- https://commons.wikimedia.org/wiki/File:Sound_level_meter_Bruel_Kjaer.jpg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U04-043 · Una señal variable necesita más de un descriptor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Abrir el bloque de valores instantáneo, pico, pico a pico y medio.</a:t>
            </a:r>
          </a:p>
          <a:p>
            <a:endParaRPr/>
          </a:p>
          <a:p>
            <a:r>
              <a:t>**Explicación extendida:** Leer la pregunta guía y recuperar una respuesta del bloque anterior. Instalar el nuevo problema con lenguaje cotidiano; cerrar con el criterio que se construirá: Cada descriptor responde una pregunta distinta sobre la señal.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¿Qué número resume cada aspecto de una señal variable?</a:t>
            </a:r>
          </a:p>
          <a:p>
            <a:endParaRPr/>
          </a:p>
          <a:p>
            <a:r>
              <a:t>**Respuesta esperada:** Cada descriptor responde una pregunta distinta sobre la señal.</a:t>
            </a:r>
          </a:p>
          <a:p>
            <a:endParaRPr/>
          </a:p>
          <a:p>
            <a:r>
              <a:t>**Énfasis / error frecuente:** Retomar la lectura temporal de U3.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Mostrar por qué un solo número puede ser insuficiente.</a:t>
            </a:r>
          </a:p>
          <a:p>
            <a:endParaRPr/>
          </a:p>
          <a:p>
            <a:r>
              <a:t>**Fuente de apoyo:** PO; TEX 4.6; PDF pp. 95–97</a:t>
            </a:r>
          </a:p>
          <a:p>
            <a:endParaRPr/>
          </a:p>
          <a:p>
            <a:r>
              <a:t>[Texto alternativo] Slide tipográfica titulada «Una señal variable necesita más de un descriptor»; destaca que cada descriptor responde una pregunta distinta sobre la señal.</a:t>
            </a:r>
          </a:p>
          <a:p>
            <a:endParaRPr/>
          </a:p>
          <a:p>
            <a:r>
              <a:t>[Sources]</a:t>
            </a:r>
          </a:p>
          <a:p>
            <a:r>
              <a:t>- PO; TEX 4.6; PDF pp. 95–97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U04-044 · Un mismo registro admite resúmenes diferentes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Crear necesidad antes de definir.</a:t>
            </a:r>
          </a:p>
          <a:p>
            <a:endParaRPr/>
          </a:p>
          <a:p>
            <a:r>
              <a:t>**Explicación extendida:** Desarrollar el alcance aprobado —Una señal asimétrica marcada en un instante, sus extremos y línea media— y vincular cada afirmación con una magnitud, unidad, referencia o condición. Idea central: Forma temporal, extremos y balance no contienen la misma información.</a:t>
            </a:r>
          </a:p>
          <a:p>
            <a:endParaRPr/>
          </a:p>
          <a:p>
            <a:r>
              <a:t>**Guía para el visual o diagrama:** Nombrar primero ejes, variables, unidades y escala. Después identificar una tendencia o ancla y recién entonces formular la conclusión. señal única reutilizable en U04-045–050, con marcadores progresivos.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Forma temporal, extremos y balance no contienen la misma información.</a:t>
            </a:r>
          </a:p>
          <a:p>
            <a:endParaRPr/>
          </a:p>
          <a:p>
            <a:r>
              <a:t>**Énfasis / error frecuente:** Pedir qué número elegirían para prevenir saturación y cuál para describir balance.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Separar primero instante y extremo.</a:t>
            </a:r>
          </a:p>
          <a:p>
            <a:endParaRPr/>
          </a:p>
          <a:p>
            <a:r>
              <a:t>**Fuente de apoyo:** TEX 4.6; PDF pp. 95–97; BR</a:t>
            </a:r>
          </a:p>
          <a:p>
            <a:endParaRPr/>
          </a:p>
          <a:p>
            <a:r>
              <a:t>[Texto alternativo] Gráfico sobre «Un mismo registro admite resúmenes diferentes»: señal única reutilizable en U04-045–050, con marcadores progresivos. La lectura central es que forma temporal, extremos y balance no contienen la misma información. Recurso principal: U04-CH-003.</a:t>
            </a:r>
          </a:p>
          <a:p>
            <a:endParaRPr/>
          </a:p>
          <a:p>
            <a:r>
              <a:t>[Sources]</a:t>
            </a:r>
          </a:p>
          <a:p>
            <a:r>
              <a:t>- TEX 4.6; PDF pp. 95–97; BR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U04-045 · Valor instantáneo y valor pico no son intercambiables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Definir dos descriptores básicos.</a:t>
            </a:r>
          </a:p>
          <a:p>
            <a:endParaRPr/>
          </a:p>
          <a:p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El instantáneo depende de `t`; el pico es el mayor módulo o extremo según convención declarada.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gráfico anotado con callouts; declarar convención de pico.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El instantáneo depende de `t`; el pico es el mayor módulo o extremo según convención declarada.</a:t>
            </a:r>
          </a:p>
          <a:p>
            <a:endParaRPr/>
          </a:p>
          <a:p>
            <a:r>
              <a:t>**Énfasis / error frecuente:** Evitar usar “amplitud” sin aclarar si es pico, RMS u otro valor.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Añadir la excursión completa entre extremos.</a:t>
            </a:r>
          </a:p>
          <a:p>
            <a:endParaRPr/>
          </a:p>
          <a:p>
            <a:r>
              <a:t>**Fuente de apoyo:** TEX 4.6.1–4.6.2; PDF pp. 95–96; NOT; GLO</a:t>
            </a:r>
          </a:p>
          <a:p>
            <a:endParaRPr/>
          </a:p>
          <a:p>
            <a:r>
              <a:t>[Texto alternativo] Esquema mixto sobre «Valor instantáneo y valor pico no son intercambiables»: gráfico anotado con callouts; declarar convención de pico. La lectura central es que el instantáneo depende de `t`; el pico es el mayor módulo o extremo según convención declarada. Recurso principal: U04-CH-003.</a:t>
            </a:r>
          </a:p>
          <a:p>
            <a:endParaRPr/>
          </a:p>
          <a:p>
            <a:r>
              <a:t>[Sources]</a:t>
            </a:r>
          </a:p>
          <a:p>
            <a:r>
              <a:t>- TEX 4.6.1–4.6.2; PDF pp. 95–96; NOT; GLO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U04-046 · Pico a pico mide la excursión entre extremos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Definir `x_pp=x_max-x_min`.</a:t>
            </a:r>
          </a:p>
          <a:p>
            <a:endParaRPr/>
          </a:p>
          <a:p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El valor pico a pico no equivale siempre a dos veces el pico.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más dos mini gráficos coordinados.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El valor pico a pico no equivale siempre a dos veces el pico.</a:t>
            </a:r>
          </a:p>
          <a:p>
            <a:endParaRPr/>
          </a:p>
          <a:p>
            <a:r>
              <a:t>**Énfasis / error frecuente:** Reservar `2x_pico` para señales simétricas respecto de cero.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Introducir un descriptor de balance temporal.</a:t>
            </a:r>
          </a:p>
          <a:p>
            <a:endParaRPr/>
          </a:p>
          <a:p>
            <a:r>
              <a:t>**Fuente de apoyo:** TEX 4.6.3; PDF p. 96; NOT</a:t>
            </a:r>
          </a:p>
          <a:p>
            <a:endParaRPr/>
          </a:p>
          <a:p>
            <a:r>
              <a:t>[Texto alternativo] Esquema mixto sobre «Pico a pico mide la excursión entre extremos»: ecuación anotada más dos mini gráficos coordinados. La lectura central es que el valor pico a pico no equivale siempre a dos veces el pico. Recurso principal: U04-CH-003.</a:t>
            </a:r>
          </a:p>
          <a:p>
            <a:endParaRPr/>
          </a:p>
          <a:p>
            <a:r>
              <a:t>[Sources]</a:t>
            </a:r>
          </a:p>
          <a:p>
            <a:r>
              <a:t>- TEX 4.6.3; PDF p. 96; NOT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U04-047 · El valor medio expresa balance durante una ventana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Interpretar el promedio temporal.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El resultado depende de la ventana y puede ocultar oscilaciones grandes.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con ventana temporal y áreas de signo opuesto.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El resultado depende de la ventana y puede ocultar oscilaciones grandes.</a:t>
            </a:r>
          </a:p>
          <a:p>
            <a:endParaRPr/>
          </a:p>
          <a:p>
            <a:r>
              <a:t>**Énfasis / error frecuente:** No enseñar cálculo integral; usar promedio de muestras como puente.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Corregir la interpretación de media nula.</a:t>
            </a:r>
          </a:p>
          <a:p>
            <a:endParaRPr/>
          </a:p>
          <a:p>
            <a:r>
              <a:t>**Fuente de apoyo:** TEX 4.6.4; PDF p. 96; OD-U04-19; INV F-U04-11</a:t>
            </a:r>
          </a:p>
          <a:p>
            <a:endParaRPr/>
          </a:p>
          <a:p>
            <a:r>
              <a:t>[Texto alternativo] Ecuación anotada sobre «El valor medio expresa balance durante una ventana»: ecuación anotada con ventana temporal y áreas de signo opuesto. La lectura central es que el resultado depende de la ventana y puede ocultar oscilaciones grandes. Recurso principal: U04-DG-011.</a:t>
            </a:r>
          </a:p>
          <a:p>
            <a:endParaRPr/>
          </a:p>
          <a:p>
            <a:r>
              <a:t>[Sources]</a:t>
            </a:r>
          </a:p>
          <a:p>
            <a:r>
              <a:t>- TEX 4.6.4; PDF p. 96; OD-U04-19; INV F-U04-11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U04-048 · Media cero no significa señal nula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Prevenir una confusión central.</a:t>
            </a:r>
          </a:p>
          <a:p>
            <a:endParaRPr/>
          </a:p>
          <a:p>
            <a:r>
              <a:t>**Explicación extendida:** Mostrar primero la afirmación problemática y pedir un contraejemplo o la condición faltante. Corregirla nombrando la magnitud adecuada, sin reemplazarla por otra regla memorizada. Formulación correcta: Una oscilación equilibrada puede tener energía y amplitud aunque su promedio sea cero.</a:t>
            </a:r>
          </a:p>
          <a:p>
            <a:endParaRPr/>
          </a:p>
          <a:p>
            <a:r>
              <a:t>**Guía para el visual o diagrama:** Nombrar primero ejes, variables, unidades y escala. Después identificar una tendencia o ancla y recién entonces formular la conclusión. seno completo y señal cero con la misma media.</a:t>
            </a:r>
          </a:p>
          <a:p>
            <a:endParaRPr/>
          </a:p>
          <a:p>
            <a:r>
              <a:t>**Pregunta al grupo:** ¿Qué condición o distinción falta en la afirmación «Media cero no significa señal nula»?</a:t>
            </a:r>
          </a:p>
          <a:p>
            <a:endParaRPr/>
          </a:p>
          <a:p>
            <a:r>
              <a:t>**Respuesta esperada:** Una oscilación equilibrada puede tener energía y amplitud aunque su promedio sea cero.</a:t>
            </a:r>
          </a:p>
          <a:p>
            <a:endParaRPr/>
          </a:p>
          <a:p>
            <a:r>
              <a:t>**Énfasis / error frecuente:** Pedir que nombren qué descriptor sí distingue ambas señales.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Hacer clasificar descriptores por pregunta.</a:t>
            </a:r>
          </a:p>
          <a:p>
            <a:endParaRPr/>
          </a:p>
          <a:p>
            <a:r>
              <a:t>**Fuente de apoyo:** TEX 4.6.4; PDF p. 96; BR errores</a:t>
            </a:r>
          </a:p>
          <a:p>
            <a:endParaRPr/>
          </a:p>
          <a:p>
            <a:r>
              <a:t>[Texto alternativo] Gráfico sobre «Media cero no significa señal nula»: seno completo y señal cero con la misma media. La lectura central es que una oscilación equilibrada puede tener energía y amplitud aunque su promedio sea cero. Recurso principal: U04-CH-004.</a:t>
            </a:r>
          </a:p>
          <a:p>
            <a:endParaRPr/>
          </a:p>
          <a:p>
            <a:r>
              <a:t>[Sources]</a:t>
            </a:r>
          </a:p>
          <a:p>
            <a:r>
              <a:t>- TEX 4.6.4; PDF p. 96; BR errores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U04-049 · ¿Qué descriptor elegirías en cada problema?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Practicar selección conceptual.</a:t>
            </a:r>
          </a:p>
          <a:p>
            <a:endParaRPr/>
          </a:p>
          <a:p>
            <a:r>
              <a:t>**Explicación extendida:** Dar unos segundos de trabajo individual antes de escuchar respuestas. Organizar lo que aparezca alrededor del propósito de la slide: Practicar selección conceptual. No resolver por adelantado; usar como criterio de cierre que la elección depende de si interesa instante, límite, excursión o balance.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¿Qué descriptor elegirías para detectar saturación y cuál para estimar componente continua?</a:t>
            </a:r>
          </a:p>
          <a:p>
            <a:endParaRPr/>
          </a:p>
          <a:p>
            <a:r>
              <a:t>**Respuesta esperada:** Pico para saturación; valor medio para componente continua.</a:t>
            </a:r>
          </a:p>
          <a:p>
            <a:endParaRPr/>
          </a:p>
          <a:p>
            <a:r>
              <a:t>**Énfasis / error frecuente:** Solicitar justificación de una oración; aceptar notación equivalente si se declara.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Recapitular y señalar el descriptor aún faltante.</a:t>
            </a:r>
          </a:p>
          <a:p>
            <a:endParaRPr/>
          </a:p>
          <a:p>
            <a:r>
              <a:t>**Fuente de apoyo:** TEX 4.6; PDF pp. 95–97; BR ejercicios</a:t>
            </a:r>
          </a:p>
          <a:p>
            <a:endParaRPr/>
          </a:p>
          <a:p>
            <a:r>
              <a:t>[Texto alternativo] Slide tipográfica titulada «¿Qué descriptor elegirías en cada problema?»; destaca que la elección depende de si interesa instante, límite, excursión o balance.</a:t>
            </a:r>
          </a:p>
          <a:p>
            <a:endParaRPr/>
          </a:p>
          <a:p>
            <a:r>
              <a:t>[Sources]</a:t>
            </a:r>
          </a:p>
          <a:p>
            <a:r>
              <a:t>- TEX 4.6; PDF pp. 95–97; BR ejercicios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U04-050 · Instante, extremo, excursión y balance: cuatro preguntas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Consolidar sin redundancia.</a:t>
            </a:r>
          </a:p>
          <a:p>
            <a:endParaRPr/>
          </a:p>
          <a:p>
            <a:r>
              <a:t>**Explicación extendida:** Usar recuperación activa: ocultar inicialmente las respuestas y pedir que completen el mapa o la matriz. Volver solo a los nodos que generen duda. La síntesis debe poder expresarse así: Ninguno de estos valores describe por sí solo el “tamaño efectivo” de una señal alternante.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matriz visual de cuatro filas y señal común.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Ninguno de estos valores describe por sí solo el “tamaño efectivo” de una señal alternante.</a:t>
            </a:r>
          </a:p>
          <a:p>
            <a:endParaRPr/>
          </a:p>
          <a:p>
            <a:r>
              <a:t>**Énfasis / error frecuente:** Repetición pedagógica por comparación; no repetir definiciones completas.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Presentar el valor eficaz como respuesta a la limitación.</a:t>
            </a:r>
          </a:p>
          <a:p>
            <a:endParaRPr/>
          </a:p>
          <a:p>
            <a:r>
              <a:t>**Fuente de apoyo:** PO; TEX 4.6.1–4.6.4; PDF pp. 95–97</a:t>
            </a:r>
          </a:p>
          <a:p>
            <a:endParaRPr/>
          </a:p>
          <a:p>
            <a:r>
              <a:t>[Texto alternativo] Diagrama sobre «Instante, extremo, excursión y balance: cuatro preguntas»: matriz visual de cuatro filas y señal común. La lectura central es que ninguno de estos valores describe por sí solo el “tamaño efectivo” de una señal alternante. Recurso principal: U04-DG-011.</a:t>
            </a:r>
          </a:p>
          <a:p>
            <a:endParaRPr/>
          </a:p>
          <a:p>
            <a:r>
              <a:t>[Sources]</a:t>
            </a:r>
          </a:p>
          <a:p>
            <a:r>
              <a:t>- PO; TEX 4.6.1–4.6.4; PDF pp. 95–97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U04-051 · ¿Cómo resumimos el efecto de una señal alternante?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Abrir RMS y clasificación de señales.</a:t>
            </a:r>
          </a:p>
          <a:p>
            <a:endParaRPr/>
          </a:p>
          <a:p>
            <a:r>
              <a:t>**Explicación extendida:** Leer la pregunta guía y recuperar una respuesta del bloque anterior. Instalar el nuevo problema con lenguaje cotidiano; cerrar con el criterio que se construirá: El valor eficaz conserva información cuadrática que el promedio puede cancelar.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¿Cómo cuantificamos el tamaño cuadrático de una señal?</a:t>
            </a:r>
          </a:p>
          <a:p>
            <a:endParaRPr/>
          </a:p>
          <a:p>
            <a:r>
              <a:t>**Respuesta esperada:** El valor eficaz conserva información cuadrática que el promedio puede cancelar.</a:t>
            </a:r>
          </a:p>
          <a:p>
            <a:endParaRPr/>
          </a:p>
          <a:p>
            <a:r>
              <a:t>**Énfasis / error frecuente:** Recuperar cuadrados y raíz cuadrada.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Construir el algoritmo antes de mostrar la fórmula.</a:t>
            </a:r>
          </a:p>
          <a:p>
            <a:endParaRPr/>
          </a:p>
          <a:p>
            <a:r>
              <a:t>**Fuente de apoyo:** PO; TEX 4.6.5–4.7; PDF pp. 96–97</a:t>
            </a:r>
          </a:p>
          <a:p>
            <a:endParaRPr/>
          </a:p>
          <a:p>
            <a:r>
              <a:t>[Texto alternativo] Slide tipográfica titulada «¿Cómo resumimos el efecto de una señal alternante?»; destaca que el valor eficaz conserva información cuadrática que el promedio puede cancelar.</a:t>
            </a:r>
          </a:p>
          <a:p>
            <a:endParaRPr/>
          </a:p>
          <a:p>
            <a:r>
              <a:t>[Sources]</a:t>
            </a:r>
          </a:p>
          <a:p>
            <a:r>
              <a:t>- PO; TEX 4.6.5–4.7; PDF pp. 96–97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U04-052 · RMS: cuadrar, promediar y extraer raíz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Comprender el procedimiento.</a:t>
            </a:r>
          </a:p>
          <a:p>
            <a:endParaRPr/>
          </a:p>
          <a:p>
            <a:r>
              <a:t>**Explicación extendida:** Narrar la secuencia paso a paso sin convertirla en una cadena causal más rígida de lo aprobado. En cada etapa preguntar qué entidad cambia y qué permanece. Alcance visual: Tres etapas con mini señal y resultado intermedio. Idea de cierre: Cada paso cumple una función: elimina signo, resume y recupera unidad.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3 nodos, conectores y rótulos de función; posible revelado progresivo.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Cada paso cumple una función: elimina signo, resume y recupera unidad.</a:t>
            </a:r>
          </a:p>
          <a:p>
            <a:endParaRPr/>
          </a:p>
          <a:p>
            <a:r>
              <a:t>**Énfasis / error frecuente:** Destacar que la unidad final coincide con la magnitud original.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Visualizar el procedimiento completo.</a:t>
            </a:r>
          </a:p>
          <a:p>
            <a:endParaRPr/>
          </a:p>
          <a:p>
            <a:r>
              <a:t>**Fuente de apoyo:** TEX 4.6.5; PDF pp. 96–97; NOT</a:t>
            </a:r>
          </a:p>
          <a:p>
            <a:endParaRPr/>
          </a:p>
          <a:p>
            <a:r>
              <a:t>[Texto alternativo] Diagrama sobre «RMS: cuadrar, promediar y extraer raíz»: 3 nodos, conectores y rótulos de función; posible revelado progresivo. La lectura central es que cada paso cumple una función: elimina signo, resume y recupera unidad. Recurso principal: U04-DG-012.</a:t>
            </a:r>
          </a:p>
          <a:p>
            <a:endParaRPr/>
          </a:p>
          <a:p>
            <a:r>
              <a:t>[Sources]</a:t>
            </a:r>
          </a:p>
          <a:p>
            <a:r>
              <a:t>- TEX 4.6.5; PDF pp. 96–97; NOT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U04-053 · El cuadrado transforma signo en contribución positiva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Leer la construcción gráfica del RMS.</a:t>
            </a:r>
          </a:p>
          <a:p>
            <a:endParaRPr/>
          </a:p>
          <a:p>
            <a:r>
              <a:t>**Explicación extendida:** Solicitar una lectura sin conclusiones: identificar ejes, unidades, escala y curvas. Luego comparar dos puntos o regiones y formular la tendencia. Aclarar qué representa la figura y qué no permite inferir. Síntesis: Regiones positivas y negativas de la señal aportan positivamente tras elevar al cuadrado.</a:t>
            </a:r>
          </a:p>
          <a:p>
            <a:endParaRPr/>
          </a:p>
          <a:p>
            <a:r>
              <a:t>**Guía para el visual o diagrama:** Nombrar primero ejes, variables, unidades y escala. Después identificar una tendencia o ancla y recién entonces formular la conclusión. reconstrucción de figura 4.3 en cuatro paneles coordinados.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Regiones positivas y negativas de la señal aportan positivamente tras elevar al cuadrado.</a:t>
            </a:r>
          </a:p>
          <a:p>
            <a:endParaRPr/>
          </a:p>
          <a:p>
            <a:r>
              <a:t>**Énfasis / error frecuente:** Evitar sugerir que RMS es el promedio de valores absolutos.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Formalizar la operación sobre una ventana.</a:t>
            </a:r>
          </a:p>
          <a:p>
            <a:endParaRPr/>
          </a:p>
          <a:p>
            <a:r>
              <a:t>**Fuente de apoyo:** TEX 4.6.5; PDF p. 97; figura 4.3</a:t>
            </a:r>
          </a:p>
          <a:p>
            <a:endParaRPr/>
          </a:p>
          <a:p>
            <a:r>
              <a:t>[Texto alternativo] Gráfico sobre «El cuadrado transforma signo en contribución positiva»: reconstrucción de figura 4.3 en cuatro paneles coordinados. La lectura central es que regiones positivas y negativas de la señal aportan positivamente tras elevar al cuadrado. Recurso principal: U04-CH-005.</a:t>
            </a:r>
          </a:p>
          <a:p>
            <a:endParaRPr/>
          </a:p>
          <a:p>
            <a:r>
              <a:t>[Sources]</a:t>
            </a:r>
          </a:p>
          <a:p>
            <a:r>
              <a:t>- TEX 4.6.5; PDF p. 97; figura 4.3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U04-054 · La ventana de observación forma parte del RMS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Interpretar la definición general.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`x_rms` depende de qué intervalo se promedia.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y ventana sobre eje temporal.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`x_rms` depende de qué intervalo se promedia.</a:t>
            </a:r>
          </a:p>
          <a:p>
            <a:endParaRPr/>
          </a:p>
          <a:p>
            <a:r>
              <a:t>**Énfasis / error frecuente:** Vincular con señales periódicas y registros finitos sin enseñar integración.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Resolver el caso sinusoidal.</a:t>
            </a:r>
          </a:p>
          <a:p>
            <a:endParaRPr/>
          </a:p>
          <a:p>
            <a:r>
              <a:t>**Fuente de apoyo:** TEX 4.6.5; PDF p. 97; INV F-U04-12</a:t>
            </a:r>
          </a:p>
          <a:p>
            <a:endParaRPr/>
          </a:p>
          <a:p>
            <a:r>
              <a:t>[Texto alternativo] Ecuación anotada sobre «La ventana de observación forma parte del RMS»: ecuación anotada y ventana sobre eje temporal. La lectura central es que `x_rms` depende de qué intervalo se promedia. Recurso principal: U04-DG-012.</a:t>
            </a:r>
          </a:p>
          <a:p>
            <a:endParaRPr/>
          </a:p>
          <a:p>
            <a:r>
              <a:t>[Sources]</a:t>
            </a:r>
          </a:p>
          <a:p>
            <a:r>
              <a:t>- TEX 4.6.5; PDF p. 97; INV F-U04-12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U04-055 · Para una sinusoide, xᵣms=xₚico/√2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Presentar una relación útil y limitada.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El factor `1/√2` no vale para cualquier forma de onda.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con sello “solo sinusoide”.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El factor `1/√2` no vale para cualquier forma de onda.</a:t>
            </a:r>
          </a:p>
          <a:p>
            <a:endParaRPr/>
          </a:p>
          <a:p>
            <a:r>
              <a:t>**Énfasis / error frecuente:** Repetir el límite inmediatamente y en la recapitulación.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Aplicar con números simples.</a:t>
            </a:r>
          </a:p>
          <a:p>
            <a:endParaRPr/>
          </a:p>
          <a:p>
            <a:r>
              <a:t>**Fuente de apoyo:** TEX 4.6.5; PDF p. 97; NOT</a:t>
            </a:r>
          </a:p>
          <a:p>
            <a:endParaRPr/>
          </a:p>
          <a:p>
            <a:r>
              <a:t>[Texto alternativo] Ecuación anotada sobre «Para una sinusoide, `x_rms=x_pico/√2`»: ecuación anotada con sello “solo sinusoide”. La lectura central es que el factor `1/√2` no vale para cualquier forma de onda. Recurso principal: U04-DG-012.</a:t>
            </a:r>
          </a:p>
          <a:p>
            <a:endParaRPr/>
          </a:p>
          <a:p>
            <a:r>
              <a:t>[Sources]</a:t>
            </a:r>
          </a:p>
          <a:p>
            <a:r>
              <a:t>- TEX 4.6.5; PDF p. 97; NOT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U04-056 · De pico a RMS sin perder unidades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Modelar un cálculo breve.</a:t>
            </a:r>
          </a:p>
          <a:p>
            <a:endParaRPr/>
          </a:p>
          <a:p>
            <a:r>
              <a:t>**Explicación extendida:** Pedir primero una estimación cualitativa. Resolver en el orden dato → relación válida → sustitución con unidades → resultado → interpretación. Hacer explícito el redondeo y volver a la condición del modelo. Conclusión: La operación cambia el valor, no la magnitud ni su unidad.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Ecuaciones editables con revelado por pasos.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La operación cambia el valor, no la magnitud ni su unidad.</a:t>
            </a:r>
          </a:p>
          <a:p>
            <a:endParaRPr/>
          </a:p>
          <a:p>
            <a:r>
              <a:t>**Énfasis / error frecuente:** Usar redondeo explícito y preguntar si la señal debe ser sinusoidal.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Ampliar desde tono puro a señales complejas.</a:t>
            </a:r>
          </a:p>
          <a:p>
            <a:endParaRPr/>
          </a:p>
          <a:p>
            <a:r>
              <a:t>**Fuente de apoyo:** TEX 4.6.5; PDF p. 97; ED</a:t>
            </a:r>
          </a:p>
          <a:p>
            <a:endParaRPr/>
          </a:p>
          <a:p>
            <a:r>
              <a:t>[Texto alternativo] Ecuación anotada sobre «De pico a RMS sin perder unidades»: Ecuaciones editables con revelado por pasos. La lectura central es que la operación cambia el valor, no la magnitud ni su unidad. Recurso principal: U04-CH-005.</a:t>
            </a:r>
          </a:p>
          <a:p>
            <a:endParaRPr/>
          </a:p>
          <a:p>
            <a:r>
              <a:t>[Sources]</a:t>
            </a:r>
          </a:p>
          <a:p>
            <a:r>
              <a:t>- TEX 4.6.5; PDF p. 97; 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U04-057 · Tono puro y señal compleja pueden compartir RMS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Separar forma temporal y valor global.</a:t>
            </a:r>
          </a:p>
          <a:p>
            <a:endParaRPr/>
          </a:p>
          <a:p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Igual RMS no implica igual forma de onda ni igual contenido frecuencial.</a:t>
            </a:r>
          </a:p>
          <a:p>
            <a:endParaRPr/>
          </a:p>
          <a:p>
            <a:r>
              <a:t>**Guía para el visual o diagrama:** Nombrar primero ejes, variables, unidades y escala. Después identificar una tendencia o ancla y recién entonces formular la conclusión. dos señales normalizadas con igual RMS; sin anticipar espectros detallados.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Igual RMS no implica igual forma de onda ni igual contenido frecuencial.</a:t>
            </a:r>
          </a:p>
          <a:p>
            <a:endParaRPr/>
          </a:p>
          <a:p>
            <a:r>
              <a:t>**Énfasis / error frecuente:** Preparar U5 sin desarrollar Fourier.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Cerrar con el límite de la relación sinusoidal.</a:t>
            </a:r>
          </a:p>
          <a:p>
            <a:endParaRPr/>
          </a:p>
          <a:p>
            <a:r>
              <a:t>**Fuente de apoyo:** PO; TEX 4.7; PDF p. 97; CM</a:t>
            </a:r>
          </a:p>
          <a:p>
            <a:endParaRPr/>
          </a:p>
          <a:p>
            <a:r>
              <a:t>[Texto alternativo] Gráfico sobre «Tono puro y señal compleja pueden compartir RMS»: dos señales normalizadas con igual RMS; sin anticipar espectros detallados. La lectura central es que igual RMS no implica igual forma de onda ni igual contenido frecuencial. Recurso principal: U04-CH-006.</a:t>
            </a:r>
          </a:p>
          <a:p>
            <a:endParaRPr/>
          </a:p>
          <a:p>
            <a:r>
              <a:t>[Sources]</a:t>
            </a:r>
          </a:p>
          <a:p>
            <a:r>
              <a:t>- PO; TEX 4.7; PDF p. 97; CM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U04-058 · RMS resume tamaño eficaz, no forma ni frecuencia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Consolidar usos y límites.</a:t>
            </a:r>
          </a:p>
          <a:p>
            <a:endParaRPr/>
          </a:p>
          <a:p>
            <a:r>
              <a:t>**Explicación extendida:** Usar recuperación activa: ocultar inicialmente las respuestas y pedir que completen el mapa o la matriz. Volver solo a los nodos que generen duda. La síntesis debe poder expresarse así: Para interpretar RMS también hay que conocer señal, ventana y condiciones.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checklist señal–ventana–valor–unidad.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Para interpretar RMS también hay que conocer señal, ventana y condiciones.</a:t>
            </a:r>
          </a:p>
          <a:p>
            <a:endParaRPr/>
          </a:p>
          <a:p>
            <a:r>
              <a:t>**Énfasis / error frecuente:** Repetición pedagógica mediante detección de condiciones, no mediante recopia.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Preguntar cómo comparar rangos enormes de presión.</a:t>
            </a:r>
          </a:p>
          <a:p>
            <a:endParaRPr/>
          </a:p>
          <a:p>
            <a:r>
              <a:t>**Fuente de apoyo:** PO; TEX 4.6.5–4.7; PDF p. 97</a:t>
            </a:r>
          </a:p>
          <a:p>
            <a:endParaRPr/>
          </a:p>
          <a:p>
            <a:r>
              <a:t>[Texto alternativo] Diagrama sobre «RMS resume tamaño eficaz, no forma ni frecuencia»: checklist señal–ventana–valor–unidad. La lectura central es que para interpretar RMS también hay que conocer señal, ventana y condiciones. Recurso principal: U04-DG-021.</a:t>
            </a:r>
          </a:p>
          <a:p>
            <a:endParaRPr/>
          </a:p>
          <a:p>
            <a:r>
              <a:t>[Sources]</a:t>
            </a:r>
          </a:p>
          <a:p>
            <a:r>
              <a:t>- PO; TEX 4.6.5–4.7; PDF p. 97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U04-059 · Un nivel siempre compara con una referencia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Abrir el bloque logarítmico.</a:t>
            </a:r>
          </a:p>
          <a:p>
            <a:endParaRPr/>
          </a:p>
          <a:p>
            <a:r>
              <a:t>**Explicación extendida:** Leer la pregunta guía y recuperar una respuesta del bloque anterior. Instalar el nuevo problema con lenguaje cotidiano; cerrar con el criterio que se construirá: El decibel expresa una razón; no es una magnitud física aislada.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¿Qué debe acompañar siempre a un valor en decibeles?</a:t>
            </a:r>
          </a:p>
          <a:p>
            <a:endParaRPr/>
          </a:p>
          <a:p>
            <a:r>
              <a:t>**Respuesta esperada:** El decibel expresa una razón; no es una magnitud física aislada.</a:t>
            </a:r>
          </a:p>
          <a:p>
            <a:endParaRPr/>
          </a:p>
          <a:p>
            <a:r>
              <a:t>**Énfasis / error frecuente:** Recuperar potencias y logaritmos como soporte.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Construir el concepto antes de la fórmula.</a:t>
            </a:r>
          </a:p>
          <a:p>
            <a:endParaRPr/>
          </a:p>
          <a:p>
            <a:r>
              <a:t>**Fuente de apoyo:** PO; TEX 4.7; PDF pp. 97–100</a:t>
            </a:r>
          </a:p>
          <a:p>
            <a:endParaRPr/>
          </a:p>
          <a:p>
            <a:r>
              <a:t>[Texto alternativo] Slide tipográfica titulada «Un nivel siempre compara con una referencia»; destaca que el decibel expresa una razón; no es una magnitud física aislada.</a:t>
            </a:r>
          </a:p>
          <a:p>
            <a:endParaRPr/>
          </a:p>
          <a:p>
            <a:r>
              <a:t>[Sources]</a:t>
            </a:r>
          </a:p>
          <a:p>
            <a:r>
              <a:t>- PO; TEX 4.7; PDF pp. 97–100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U04-060 · Para informar un nivel hacen falta tres datos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Establecer una rutina de lectura.</a:t>
            </a:r>
          </a:p>
          <a:p>
            <a:endParaRPr/>
          </a:p>
          <a:p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Magnitud, referencia y tipo de nivel determinan el significado.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tríada de tres nodos convergentes en una lectura completa.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Magnitud, referencia y tipo de nivel determinan el significado.</a:t>
            </a:r>
          </a:p>
          <a:p>
            <a:endParaRPr/>
          </a:p>
          <a:p>
            <a:r>
              <a:t>**Énfasis / error frecuente:** Usar ejemplos completos e incompletos; no llamar “unidad absoluta” al dB.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Corregir el uso de “60 dB” sin contexto.</a:t>
            </a:r>
          </a:p>
          <a:p>
            <a:endParaRPr/>
          </a:p>
          <a:p>
            <a:r>
              <a:t>**Fuente de apoyo:** PO; TEX 4.7; PDF p. 97; GLO</a:t>
            </a:r>
          </a:p>
          <a:p>
            <a:endParaRPr/>
          </a:p>
          <a:p>
            <a:r>
              <a:t>[Texto alternativo] Diagrama sobre «Para informar un nivel hacen falta tres datos»: tríada de tres nodos convergentes en una lectura completa. La lectura central es que magnitud, referencia y tipo de nivel determinan el significado. Recurso principal: U04-DG-013.</a:t>
            </a:r>
          </a:p>
          <a:p>
            <a:endParaRPr/>
          </a:p>
          <a:p>
            <a:r>
              <a:t>[Sources]</a:t>
            </a:r>
          </a:p>
          <a:p>
            <a:r>
              <a:t>- PO; TEX 4.7; PDF p. 97; GLO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U04-061 · “60 dB” es una información incompleta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Prevenir ambigüedad entre SPL, HL y otras escalas.</a:t>
            </a:r>
          </a:p>
          <a:p>
            <a:endParaRPr/>
          </a:p>
          <a:p>
            <a:r>
              <a:t>**Explicación extendida:** Mostrar primero la afirmación problemática y pedir un contraejemplo o la condición faltante. Corregirla nombrando la magnitud adecuada, sin reemplazarla por otra regla memorizada. Formulación correcta: El mismo número puede corresponder a referencias y significados distintos.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etiqueta incompleta que se completa por etapas. No leer cada caja: usar el diagrama como guía y explicar la relación entre nodos.</a:t>
            </a:r>
          </a:p>
          <a:p>
            <a:endParaRPr/>
          </a:p>
          <a:p>
            <a:r>
              <a:t>**Pregunta al grupo:** ¿Qué condición o distinción falta en la afirmación «“60 dB” es una información incompleta»?</a:t>
            </a:r>
          </a:p>
          <a:p>
            <a:endParaRPr/>
          </a:p>
          <a:p>
            <a:r>
              <a:t>**Respuesta esperada:** El mismo número puede corresponder a referencias y significados distintos.</a:t>
            </a:r>
          </a:p>
          <a:p>
            <a:endParaRPr/>
          </a:p>
          <a:p>
            <a:r>
              <a:t>**Énfasis / error frecuente:** Anticipar dB HL sin desarrollarlo; remitir a U7/U8.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Formalizar el nivel de presión sonora.</a:t>
            </a:r>
          </a:p>
          <a:p>
            <a:endParaRPr/>
          </a:p>
          <a:p>
            <a:r>
              <a:t>**Fuente de apoyo:** TEX 4.7.1, 4.12; PDF pp. 97–100, 106; BR errores</a:t>
            </a:r>
          </a:p>
          <a:p>
            <a:endParaRPr/>
          </a:p>
          <a:p>
            <a:r>
              <a:t>[Texto alternativo] Diagrama sobre «“60 dB” es una información incompleta»: etiqueta incompleta que se completa por etapas. La lectura central es que el mismo número puede corresponder a referencias y significados distintos. Recurso principal: U04-DG-013.</a:t>
            </a:r>
          </a:p>
          <a:p>
            <a:endParaRPr/>
          </a:p>
          <a:p>
            <a:r>
              <a:t>[Sources]</a:t>
            </a:r>
          </a:p>
          <a:p>
            <a:r>
              <a:t>- TEX 4.7.1, 4.12; PDF pp. 97–100, 106; BR errores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U04-062 · Lₚ compara presión RMS con una referencia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Interpretar el nivel de presión sonora.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`L_p=20 log10(p_rms/p_ref)` solo cobra sentido con `p_ref` declarado.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con callouts y caja de referencia/medio.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`L_p=20 log10(p_rms/p_ref)` solo cobra sentido con `p_ref` declarado.</a:t>
            </a:r>
          </a:p>
          <a:p>
            <a:endParaRPr/>
          </a:p>
          <a:p>
            <a:r>
              <a:t>**Énfasis / error frecuente:** Diferenciar Pa de dB; usar `20 µPa` solo para aire según la fuente.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Resolver un punto de anclaje numérico.</a:t>
            </a:r>
          </a:p>
          <a:p>
            <a:endParaRPr/>
          </a:p>
          <a:p>
            <a:r>
              <a:t>**Fuente de apoyo:** PO; TEX 4.7.1; PDF pp. 97–98; NOT; INV F-U04-15</a:t>
            </a:r>
          </a:p>
          <a:p>
            <a:endParaRPr/>
          </a:p>
          <a:p>
            <a:r>
              <a:t>[Texto alternativo] Ecuación anotada sobre «`L_p` compara presión RMS con una referencia»: ecuación anotada con callouts y caja de referencia/medio. La lectura central es que `L_p=20 log10(p_rms/p_ref)` solo cobra sentido con `p_ref` declarado. Recurso principal: U04-DG-013.</a:t>
            </a:r>
          </a:p>
          <a:p>
            <a:endParaRPr/>
          </a:p>
          <a:p>
            <a:r>
              <a:t>[Sources]</a:t>
            </a:r>
          </a:p>
          <a:p>
            <a:r>
              <a:t>- PO; TEX 4.7.1; PDF pp. 97–98; NOT; INV F-U04-15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U04-063 · 0,20 Pa corresponde a 80 dB SPL en aire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Modelar sustitución e interpretación.</a:t>
            </a:r>
          </a:p>
          <a:p>
            <a:endParaRPr/>
          </a:p>
          <a:p>
            <a:r>
              <a:t>**Explicación extendida:** Pedir primero una estimación cualitativa. Resolver en el orden dato → relación válida → sustitución con unidades → resultado → interpretación. Hacer explícito el redondeo y volver a la condición del modelo. Conclusión: El resultado es una razón logarítmica respecto de `20 µPa`.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Ecuaciones editables con revelado por pasos.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El resultado es una razón logarítmica respecto de `20 µPa`.</a:t>
            </a:r>
          </a:p>
          <a:p>
            <a:endParaRPr/>
          </a:p>
          <a:p>
            <a:r>
              <a:t>**Énfasis / error frecuente:** Comprobar que el cociente es adimensional y no escribir “80 dB Pa”.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Ubicar el ejemplo en una escala más amplia.</a:t>
            </a:r>
          </a:p>
          <a:p>
            <a:endParaRPr/>
          </a:p>
          <a:p>
            <a:r>
              <a:t>**Fuente de apoyo:** TEX 4.7.1; PDF pp. 97–98; ED</a:t>
            </a:r>
          </a:p>
          <a:p>
            <a:endParaRPr/>
          </a:p>
          <a:p>
            <a:r>
              <a:t>[Texto alternativo] Ecuación anotada sobre «`0,20 Pa` corresponde a `80 dB SPL` en aire»: Ecuaciones editables con revelado por pasos. La lectura central es que el resultado es una razón logarítmica respecto de `20 µPa`. Recurso principal: U04-DG-013.</a:t>
            </a:r>
          </a:p>
          <a:p>
            <a:endParaRPr/>
          </a:p>
          <a:p>
            <a:r>
              <a:t>[Sources]</a:t>
            </a:r>
          </a:p>
          <a:p>
            <a:r>
              <a:t>- TEX 4.7.1; PDF pp. 97–98; 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U04-064 · La escala logarítmica comprime un rango enorme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Construir intuición de escala.</a:t>
            </a:r>
          </a:p>
          <a:p>
            <a:endParaRPr/>
          </a:p>
          <a:p>
            <a:r>
              <a:t>**Explicación extendida:** Solicitar una lectura sin conclusiones: identificar ejes, unidades, escala y curvas. Luego comparar dos puntos o regiones y formular la tendencia. Aclarar qué representa la figura y qué no permite inferir. Síntesis: Multiplicar presión por diez suma 20 dB; duplicarla suma aproximadamente 6 dB.</a:t>
            </a:r>
          </a:p>
          <a:p>
            <a:endParaRPr/>
          </a:p>
          <a:p>
            <a:r>
              <a:t>**Guía para el visual o diagrama:** Nombrar primero ejes, variables, unidades y escala. Después identificar una tendencia o ancla y recién entonces formular la conclusión. reconstrucción pedagógica de figura 4.4, sin asociar aún sonoridad subjetiva.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Multiplicar presión por diez suma 20 dB; duplicarla suma aproximadamente 6 dB.</a:t>
            </a:r>
          </a:p>
          <a:p>
            <a:endParaRPr/>
          </a:p>
          <a:p>
            <a:r>
              <a:t>**Énfasis / error frecuente:** Evitar etiquetas clínicas no sustentadas; enfatizar relaciones, no umbrales universales.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Mostrar que la referencia depende del medio.</a:t>
            </a:r>
          </a:p>
          <a:p>
            <a:endParaRPr/>
          </a:p>
          <a:p>
            <a:r>
              <a:t>**Fuente de apoyo:** TEX 4.7.1; PDF p. 98; figura 4.4</a:t>
            </a:r>
          </a:p>
          <a:p>
            <a:endParaRPr/>
          </a:p>
          <a:p>
            <a:r>
              <a:t>[Texto alternativo] Gráfico sobre «La escala logarítmica comprime un rango enorme»: reconstrucción pedagógica de figura 4.4, sin asociar aún sonoridad subjetiva. La lectura central es que multiplicar presión por diez suma 20 dB; duplicarla suma aproximadamente 6 dB. Recurso principal: U04-CH-007.</a:t>
            </a:r>
          </a:p>
          <a:p>
            <a:endParaRPr/>
          </a:p>
          <a:p>
            <a:r>
              <a:t>[Sources]</a:t>
            </a:r>
          </a:p>
          <a:p>
            <a:r>
              <a:t>- TEX 4.7.1; PDF p. 98; figura 4.4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U04-065 · Igual presión y distinto pᵣef producen niveles distintos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Hacer visible la dependencia de referencia.</a:t>
            </a:r>
          </a:p>
          <a:p>
            <a:endParaRPr/>
          </a:p>
          <a:p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Los niveles en aire y agua no se comparan sin declarar referencias y condiciones.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dos ramas desde una misma presión; referencias explícitas.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Los niveles en aire y agua no se comparan sin declarar referencias y condiciones.</a:t>
            </a:r>
          </a:p>
          <a:p>
            <a:endParaRPr/>
          </a:p>
          <a:p>
            <a:r>
              <a:t>**Énfasis / error frecuente:** No presentar valores de agua como equivalentes perceptuales.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Explicar por qué algunas fórmulas usan 10 y otras 20.</a:t>
            </a:r>
          </a:p>
          <a:p>
            <a:endParaRPr/>
          </a:p>
          <a:p>
            <a:r>
              <a:t>**Fuente de apoyo:** TEX 4.7.1; PDF pp. 97–99; BR errores</a:t>
            </a:r>
          </a:p>
          <a:p>
            <a:endParaRPr/>
          </a:p>
          <a:p>
            <a:r>
              <a:t>[Texto alternativo] Esquema mixto sobre «Igual presión y distinto `p_ref` producen niveles distintos»: dos ramas desde una misma presión; referencias explícitas. La lectura central es que los niveles en aire y agua no se comparan sin declarar referencias y condiciones. Recurso principal: U04-DG-013.</a:t>
            </a:r>
          </a:p>
          <a:p>
            <a:endParaRPr/>
          </a:p>
          <a:p>
            <a:r>
              <a:t>[Sources]</a:t>
            </a:r>
          </a:p>
          <a:p>
            <a:r>
              <a:t>- TEX 4.7.1; PDF pp. 97–99; BR errores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U04-066 · El factor 20 proviene de una relación cuadrática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Derivar conceptualmente `10 log` a `20 log`.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Si potencia o intensidad es proporcional al cuadrado de presión, el exponente pasa delante del logaritmo.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derivación anotada por pasos, con `log(a²)=2log(a)` destacado.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Si potencia o intensidad es proporcional al cuadrado de presión, el exponente pasa delante del logaritmo.</a:t>
            </a:r>
          </a:p>
          <a:p>
            <a:endParaRPr/>
          </a:p>
          <a:p>
            <a:r>
              <a:t>**Énfasis / error frecuente:** No memorizar 10/20 sin identificar la magnitud que entra en la razón.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Registrar niveles de intensidad y potencia como extensión.</a:t>
            </a:r>
          </a:p>
          <a:p>
            <a:endParaRPr/>
          </a:p>
          <a:p>
            <a:r>
              <a:t>**Fuente de apoyo:** TEX 4.7.1–4.7.3; PDF pp. 97–100; INV F-U04-15–17</a:t>
            </a:r>
          </a:p>
          <a:p>
            <a:endParaRPr/>
          </a:p>
          <a:p>
            <a:r>
              <a:t>[Texto alternativo] Ecuación anotada sobre «El factor 20 proviene de una relación cuadrática»: derivación anotada por pasos, con `log(a²)=2log(a)` destacado. La lectura central es que si potencia o intensidad es proporcional al cuadrado de presión, el exponente pasa delante del logaritmo. Recurso principal: U04-DG-013.</a:t>
            </a:r>
          </a:p>
          <a:p>
            <a:endParaRPr/>
          </a:p>
          <a:p>
            <a:r>
              <a:t>[Sources]</a:t>
            </a:r>
          </a:p>
          <a:p>
            <a:r>
              <a:t>- TEX 4.7.1–4.7.3; PDF pp. 97–100; INV F-U04-15–17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U04-067 · Presión, intensidad y potencia tienen niveles distintos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Cubrir `L_I` y `L_W` sin sobrecargar la ruta central.</a:t>
            </a:r>
          </a:p>
          <a:p>
            <a:endParaRPr/>
          </a:p>
          <a:p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Intensidad y potencia usan `10 log` y referencias propias.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tabla comparativa de tres niveles; ecuaciones editables.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Intensidad y potencia usan `10 log` y referencias propias.</a:t>
            </a:r>
          </a:p>
          <a:p>
            <a:endParaRPr/>
          </a:p>
          <a:p>
            <a:r>
              <a:t>**Énfasis / error frecuente:** No inferir equivalencia numérica fuera de las condiciones de onda progresiva.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Aplicar la rutina de lectura a práctica clínica.</a:t>
            </a:r>
          </a:p>
          <a:p>
            <a:endParaRPr/>
          </a:p>
          <a:p>
            <a:r>
              <a:t>**Fuente de apoyo:** PO; TEX 4.7.2–4.7.3; PDF pp. 99–100; NOT; INV F-U04-16–17</a:t>
            </a:r>
          </a:p>
          <a:p>
            <a:endParaRPr/>
          </a:p>
          <a:p>
            <a:r>
              <a:t>[Texto alternativo] Ecuación anotada sobre «Presión, intensidad y potencia tienen niveles distintos»: tabla comparativa de tres niveles; ecuaciones editables. La lectura central es que intensidad y potencia usan `10 log` y referencias propias. Recurso principal: U04-DG-013.</a:t>
            </a:r>
          </a:p>
          <a:p>
            <a:endParaRPr/>
          </a:p>
          <a:p>
            <a:r>
              <a:t>[Sources]</a:t>
            </a:r>
          </a:p>
          <a:p>
            <a:r>
              <a:t>- PO; TEX 4.7.2–4.7.3; PDF pp. 99–100; NOT; INV F-U04-16–17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U04-068 · SPL, HL y sonoridad no son sinónimos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Integrar nivel físico, referencia y percepción.</a:t>
            </a:r>
          </a:p>
          <a:p>
            <a:endParaRPr/>
          </a:p>
          <a:p>
            <a:r>
              <a:t>**Explicación extendida:** Usar recuperación activa: ocultar inicialmente las respuestas y pedir que completen el mapa o la matriz. Volver solo a los nodos que generen duda. La síntesis debe poder expresarse así: `dB SPL` describe presión relativa; `dB HL` usa referencias audiométricas; sonoridad es perceptual.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tres columnas con relaciones permitidas y límites.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`dB SPL` describe presión relativa; `dB HL` usa referencias audiométricas; sonoridad es perceptual.</a:t>
            </a:r>
          </a:p>
          <a:p>
            <a:endParaRPr/>
          </a:p>
          <a:p>
            <a:r>
              <a:t>**Énfasis / error frecuente:** Repetición pedagógica de físico/perceptual en un contexto nuevo; no desarrollar U7/U8.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Preguntar cómo combinar dos fuentes expresadas en dB.</a:t>
            </a:r>
          </a:p>
          <a:p>
            <a:endParaRPr/>
          </a:p>
          <a:p>
            <a:r>
              <a:t>**Fuente de apoyo:** PO; TEX 4.7, 4.12; PDF pp. 97–100, 106; CM</a:t>
            </a:r>
          </a:p>
          <a:p>
            <a:endParaRPr/>
          </a:p>
          <a:p>
            <a:r>
              <a:t>[Texto alternativo] Diagrama sobre «SPL, HL y sonoridad no son sinónimos»: tres columnas con relaciones permitidas y límites. La lectura central es que `dB SPL` describe presión relativa; `dB HL` usa referencias audiométricas; sonoridad es perceptual. Recurso principal: U04-DG-013.</a:t>
            </a:r>
          </a:p>
          <a:p>
            <a:endParaRPr/>
          </a:p>
          <a:p>
            <a:r>
              <a:t>[Sources]</a:t>
            </a:r>
          </a:p>
          <a:p>
            <a:r>
              <a:t>- PO; TEX 4.7, 4.12; PDF pp. 97–100, 106; CM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U04-069 · Para sumar sonidos hay que saber su relación temporal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Abrir coherencia, correlación y suma de niveles.</a:t>
            </a:r>
          </a:p>
          <a:p>
            <a:endParaRPr/>
          </a:p>
          <a:p>
            <a:r>
              <a:t>**Explicación extendida:** Leer la pregunta guía y recuperar una respuesta del bloque anterior. Instalar el nuevo problema con lenguaje cotidiano; cerrar con el criterio que se construirá: No existe una única regla de suma válida para todos los casos.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¿Qué cambia según la relación temporal entre las señales?</a:t>
            </a:r>
          </a:p>
          <a:p>
            <a:endParaRPr/>
          </a:p>
          <a:p>
            <a:r>
              <a:t>**Respuesta esperada:** No existe una única regla de suma válida para todos los casos.</a:t>
            </a:r>
          </a:p>
          <a:p>
            <a:endParaRPr/>
          </a:p>
          <a:p>
            <a:r>
              <a:t>**Énfasis / error frecuente:** Recuperar superposición y fase de U3.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Comenzar por la magnitud que realmente se suma.</a:t>
            </a:r>
          </a:p>
          <a:p>
            <a:endParaRPr/>
          </a:p>
          <a:p>
            <a:r>
              <a:t>**Fuente de apoyo:** PO; TEX 4.8; PDF pp. 100–102</a:t>
            </a:r>
          </a:p>
          <a:p>
            <a:endParaRPr/>
          </a:p>
          <a:p>
            <a:r>
              <a:t>[Texto alternativo] Slide tipográfica titulada «Para sumar sonidos hay que saber su relación temporal»; destaca que no existe una única regla de suma válida para todos los casos.</a:t>
            </a:r>
          </a:p>
          <a:p>
            <a:endParaRPr/>
          </a:p>
          <a:p>
            <a:r>
              <a:t>[Sources]</a:t>
            </a:r>
          </a:p>
          <a:p>
            <a:r>
              <a:t>- PO; TEX 4.8; PDF pp. 100–102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U04-070 · Primero se suman presiones instantáneas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Reafirmar superposición antes de operar niveles.</a:t>
            </a:r>
          </a:p>
          <a:p>
            <a:endParaRPr/>
          </a:p>
          <a:p>
            <a:r>
              <a:t>**Explicación extendida:** Desarrollar el alcance aprobado —Dos señales y resultado; algoritmo señal–RMS–nivel— y vincular cada afirmación con una magnitud, unidad, referencia o condición. Idea central: `p_total(t)=p_1(t)+p_2(t)`; los dB se calculan después.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suma temporal de dos señales sencillas; para el algoritmo.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`p_total(t)=p_1(t)+p_2(t)`; los dB se calculan después.</a:t>
            </a:r>
          </a:p>
          <a:p>
            <a:endParaRPr/>
          </a:p>
          <a:p>
            <a:r>
              <a:t>**Énfasis / error frecuente:** Evitar sumar directamente números en dB.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Definir qué significa coherencia en esta unidad.</a:t>
            </a:r>
          </a:p>
          <a:p>
            <a:endParaRPr/>
          </a:p>
          <a:p>
            <a:r>
              <a:t>**Fuente de apoyo:** TEX 4.8; PDF p. 100; U3</a:t>
            </a:r>
          </a:p>
          <a:p>
            <a:endParaRPr/>
          </a:p>
          <a:p>
            <a:r>
              <a:t>[Texto alternativo] Esquema mixto sobre «Primero se suman presiones instantáneas»: suma temporal de dos señales sencillas; para el algoritmo. La lectura central es que `p_total(t)=p_1(t)+p_2(t)`; los dB se calculan después. Recurso principal: U04-CH-008.</a:t>
            </a:r>
          </a:p>
          <a:p>
            <a:endParaRPr/>
          </a:p>
          <a:p>
            <a:r>
              <a:t>[Sources]</a:t>
            </a:r>
          </a:p>
          <a:p>
            <a:r>
              <a:t>- TEX 4.8; PDF p. 100; U3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U04-071 · Coherencia exige una relación de fase estable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Operacionalizar el término.</a:t>
            </a:r>
          </a:p>
          <a:p>
            <a:endParaRPr/>
          </a:p>
          <a:p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Dos componentes coherentes mantienen frecuencia común y diferencia de fase estable durante la observación.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dos pares de señales y marcador de fase estable/inestable.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Dos componentes coherentes mantienen frecuencia común y diferencia de fase estable durante la observación.</a:t>
            </a:r>
          </a:p>
          <a:p>
            <a:endParaRPr/>
          </a:p>
          <a:p>
            <a:r>
              <a:t>**Énfasis / error frecuente:** Adoptar “no correlacionadas en la ventana” para el caso operativo del programa.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Explorar casos de fase.</a:t>
            </a:r>
          </a:p>
          <a:p>
            <a:endParaRPr/>
          </a:p>
          <a:p>
            <a:r>
              <a:t>**Fuente de apoyo:** PO; TEX 4.8; PDF p. 100; OD-U04-04</a:t>
            </a:r>
          </a:p>
          <a:p>
            <a:endParaRPr/>
          </a:p>
          <a:p>
            <a:r>
              <a:t>[Texto alternativo] Diagrama sobre «Coherencia exige una relación de fase estable»: dos pares de señales y marcador de fase estable/inestable. La lectura central es que dos componentes coherentes mantienen frecuencia común y diferencia de fase estable durante la observación. Recurso principal: U04-DG-014.</a:t>
            </a:r>
          </a:p>
          <a:p>
            <a:endParaRPr/>
          </a:p>
          <a:p>
            <a:r>
              <a:t>[Sources]</a:t>
            </a:r>
          </a:p>
          <a:p>
            <a:r>
              <a:t>- PO; TEX 4.8; PDF p. 100; OD-U04-04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U04-072 · La fase cambia el resultado de fuentes coherentes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Construir intuición antes de la fórmula.</a:t>
            </a:r>
          </a:p>
          <a:p>
            <a:endParaRPr/>
          </a:p>
          <a:p>
            <a:r>
              <a:t>**Explicación extendida:** Solicitar una lectura sin conclusiones: identificar ejes, unidades, escala y curvas. Luego comparar dos puntos o regiones y formular la tendencia. Aclarar qué representa la figura y qué no permite inferir. Síntesis: Con igual amplitud, fase 0 refuerza, fase π cancela y valores intermedios producen resultados intermedios.</a:t>
            </a:r>
          </a:p>
          <a:p>
            <a:endParaRPr/>
          </a:p>
          <a:p>
            <a:r>
              <a:t>**Guía para el visual o diagrama:** Nombrar primero ejes, variables, unidades y escala. Después identificar una tendencia o ancla y recién entonces formular la conclusión. paneles para `φ=0`, `π/2` y `π`; audio opcional controlado.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Con igual amplitud, fase 0 refuerza, fase π cancela y valores intermedios producen resultados intermedios.</a:t>
            </a:r>
          </a:p>
          <a:p>
            <a:endParaRPr/>
          </a:p>
          <a:p>
            <a:r>
              <a:t>**Énfasis / error frecuente:** Distinguir cancelación local ideal de “destrucción de energía” global.</a:t>
            </a:r>
          </a:p>
          <a:p>
            <a:endParaRPr/>
          </a:p>
          <a:p>
            <a:r>
              <a:t>**Demostración o multimedia:** `U04-MED-002` está propuesto: no reproducir hasta aprobarlo; usar la alternativa estática indicada. `U04-MED-003` está propuesto: no reproducir hasta aprobarlo; usar la alternativa estática indicada.</a:t>
            </a:r>
          </a:p>
          <a:p>
            <a:endParaRPr/>
          </a:p>
          <a:p>
            <a:r>
              <a:t>**Transición:** Formalizar la amplitud resultante.</a:t>
            </a:r>
          </a:p>
          <a:p>
            <a:endParaRPr/>
          </a:p>
          <a:p>
            <a:r>
              <a:t>**Fuente de apoyo:** TEX 4.8.1; PDF pp. 100–101; figura 4.5; U3</a:t>
            </a:r>
          </a:p>
          <a:p>
            <a:endParaRPr/>
          </a:p>
          <a:p>
            <a:r>
              <a:t>[Texto alternativo] Gráfico sobre «La fase cambia el resultado de fuentes coherentes»: paneles para `φ=0`, `π/2` y `π`; audio opcional controlado. La lectura central es que con igual amplitud, fase 0 refuerza, fase π cancela y valores intermedios producen resultados intermedios. Recurso principal: U04-CH-008.</a:t>
            </a:r>
          </a:p>
          <a:p>
            <a:endParaRPr/>
          </a:p>
          <a:p>
            <a:r>
              <a:t>[Sources]</a:t>
            </a:r>
          </a:p>
          <a:p>
            <a:r>
              <a:t>- TEX 4.8.1; PDF pp. 100–101; figura 4.5; U3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U04-073 · La suma coherente conserva el término de fase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Interpretar la expresión RMS general.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El término `2p_1p_2 cosφ` explica refuerzo y cancelación.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central con tres ramas de `cosφ`.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El término `2p_1p_2 cosφ` explica refuerzo y cancelación.</a:t>
            </a:r>
          </a:p>
          <a:p>
            <a:endParaRPr/>
          </a:p>
          <a:p>
            <a:r>
              <a:t>**Énfasis / error frecuente:** Mantener demostración algebraica en respaldo; trabajar significado.</a:t>
            </a:r>
          </a:p>
          <a:p>
            <a:endParaRPr/>
          </a:p>
          <a:p>
            <a:r>
              <a:t>**Demostración o multimedia:** `U04-MED-002` está propuesto: no reproducir hasta aprobarlo; usar la alternativa estática indicada.</a:t>
            </a:r>
          </a:p>
          <a:p>
            <a:endParaRPr/>
          </a:p>
          <a:p>
            <a:r>
              <a:t>**Transición:** Resolver dos fuentes iguales en fase.</a:t>
            </a:r>
          </a:p>
          <a:p>
            <a:endParaRPr/>
          </a:p>
          <a:p>
            <a:r>
              <a:t>**Fuente de apoyo:** TEX 4.8.1; PDF pp. 100–101; INV F-U04-19</a:t>
            </a:r>
          </a:p>
          <a:p>
            <a:endParaRPr/>
          </a:p>
          <a:p>
            <a:r>
              <a:t>[Texto alternativo] Ecuación anotada sobre «La suma coherente conserva el término de fase»: ecuación central con tres ramas de `cosφ`. La lectura central es que el término `2p_1p_2 cosφ` explica refuerzo y cancelación. Recurso principal: U04-DG-014.</a:t>
            </a:r>
          </a:p>
          <a:p>
            <a:endParaRPr/>
          </a:p>
          <a:p>
            <a:r>
              <a:t>[Sources]</a:t>
            </a:r>
          </a:p>
          <a:p>
            <a:r>
              <a:t>- TEX 4.8.1; PDF pp. 100–101; INV F-U04-19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U04-074 · Dos presiones iguales en fase suman aproximadamente +6,02 dB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Modelar el caso coherente.</a:t>
            </a:r>
          </a:p>
          <a:p>
            <a:endParaRPr/>
          </a:p>
          <a:p>
            <a:r>
              <a:t>**Explicación extendida:** Pedir primero una estimación cualitativa. Resolver en el orden dato → relación válida → sustitución con unidades → resultado → interpretación. Hacer explícito el redondeo y volver a la condición del modelo. Conclusión: Duplicar amplitud de presión implica `20 log10(2)`.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Ecuaciones editables y mini gráfico de amplitud duplicada.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Duplicar amplitud de presión implica `20 log10(2)`.</a:t>
            </a:r>
          </a:p>
          <a:p>
            <a:endParaRPr/>
          </a:p>
          <a:p>
            <a:r>
              <a:t>**Énfasis / error frecuente:** Nombrar “en fase y coherentes” en el resultado, no solo en los datos.</a:t>
            </a:r>
          </a:p>
          <a:p>
            <a:endParaRPr/>
          </a:p>
          <a:p>
            <a:r>
              <a:t>**Demostración o multimedia:** `U04-MED-003` está propuesto: no reproducir hasta aprobarlo; usar la alternativa estática indicada.</a:t>
            </a:r>
          </a:p>
          <a:p>
            <a:endParaRPr/>
          </a:p>
          <a:p>
            <a:r>
              <a:t>**Transición:** Contrastar con oposición de fase.</a:t>
            </a:r>
          </a:p>
          <a:p>
            <a:endParaRPr/>
          </a:p>
          <a:p>
            <a:r>
              <a:t>**Fuente de apoyo:** TEX 4.8.1; PDF p. 101; ED</a:t>
            </a:r>
          </a:p>
          <a:p>
            <a:endParaRPr/>
          </a:p>
          <a:p>
            <a:r>
              <a:t>[Texto alternativo] Esquema mixto sobre «Dos presiones iguales en fase suman aproximadamente `+6,02 dB`»: Ecuaciones editables y mini gráfico de amplitud duplicada. La lectura central es que duplicar amplitud de presión implica `20 log10(2)`. Recurso principal: U04-CH-008.</a:t>
            </a:r>
          </a:p>
          <a:p>
            <a:endParaRPr/>
          </a:p>
          <a:p>
            <a:r>
              <a:t>[Sources]</a:t>
            </a:r>
          </a:p>
          <a:p>
            <a:r>
              <a:t>- TEX 4.8.1; PDF p. 101; 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U04-075 · ¿Dos fuentes iguales siempre aumentan el nivel?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Trabajar el caso de oposición.</a:t>
            </a:r>
          </a:p>
          <a:p>
            <a:endParaRPr/>
          </a:p>
          <a:p>
            <a:r>
              <a:t>**Explicación extendida:** Dar unos segundos de trabajo individual antes de escuchar respuestas. Organizar lo que aparezca alrededor del propósito de la slide: Trabajar el caso de oposición. No resolver por adelantado; usar como criterio de cierre que fuentes coherentes iguales y en oposición pueden cancelar la presión en un punto ideal.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dos senos opuestos y suma; para límites. No leer cada caja: usar el diagrama como guía y explicar la relación entre nodos.</a:t>
            </a:r>
          </a:p>
          <a:p>
            <a:endParaRPr/>
          </a:p>
          <a:p>
            <a:r>
              <a:t>**Pregunta al grupo:** ¿Dos fuentes iguales siempre elevan el nivel?</a:t>
            </a:r>
          </a:p>
          <a:p>
            <a:endParaRPr/>
          </a:p>
          <a:p>
            <a:r>
              <a:t>**Respuesta esperada:** No. Si son coherentes y llegan en oposición de fase pueden cancelar la presión en el punto ideal.</a:t>
            </a:r>
          </a:p>
          <a:p>
            <a:endParaRPr/>
          </a:p>
          <a:p>
            <a:r>
              <a:t>**Énfasis / error frecuente:** Evitar generalizar cancelación perfecta a todo el espacio y todas las frecuencias.</a:t>
            </a:r>
          </a:p>
          <a:p>
            <a:endParaRPr/>
          </a:p>
          <a:p>
            <a:r>
              <a:t>**Demostración o multimedia:** `U04-MED-002` está propuesto: no reproducir hasta aprobarlo; usar la alternativa estática indicada. `U04-MED-003` está propuesto: no reproducir hasta aprobarlo; usar la alternativa estática indicada.</a:t>
            </a:r>
          </a:p>
          <a:p>
            <a:endParaRPr/>
          </a:p>
          <a:p>
            <a:r>
              <a:t>**Transición:** Pasar a fuentes cuya fase relativa no permanece fija.</a:t>
            </a:r>
          </a:p>
          <a:p>
            <a:endParaRPr/>
          </a:p>
          <a:p>
            <a:r>
              <a:t>**Fuente de apoyo:** TEX 4.8.1; PDF p. 101; BR errores</a:t>
            </a:r>
          </a:p>
          <a:p>
            <a:endParaRPr/>
          </a:p>
          <a:p>
            <a:r>
              <a:t>[Texto alternativo] Esquema mixto sobre «¿Dos fuentes iguales siempre aumentan el nivel?»: dos senos opuestos y suma; para límites. La lectura central es que fuentes coherentes iguales y en oposición pueden cancelar la presión en un punto ideal. Recurso principal: U04-CH-008.</a:t>
            </a:r>
          </a:p>
          <a:p>
            <a:endParaRPr/>
          </a:p>
          <a:p>
            <a:r>
              <a:t>[Sources]</a:t>
            </a:r>
          </a:p>
          <a:p>
            <a:r>
              <a:t>- TEX 4.8.1; PDF p. 101; BR errores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U04-076 · En señales no correlacionadas, el término cruzado promedia a cero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Explicar la segunda ruta.</a:t>
            </a:r>
          </a:p>
          <a:p>
            <a:endParaRPr/>
          </a:p>
          <a:p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Durante la ventana, no hay una relación de fase estable que produzca refuerzo sistemático.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ventana temporal con fase relativa variable; correlación parcial a respaldo.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Durante la ventana, no hay una relación de fase estable que produzca refuerzo sistemático.</a:t>
            </a:r>
          </a:p>
          <a:p>
            <a:endParaRPr/>
          </a:p>
          <a:p>
            <a:r>
              <a:t>**Énfasis / error frecuente:** No confundir “no correlacionadas” con “sin relación causal” o “silenciosas”.</a:t>
            </a:r>
          </a:p>
          <a:p>
            <a:endParaRPr/>
          </a:p>
          <a:p>
            <a:r>
              <a:t>**Demostración o multimedia:** `U04-MED-004` está propuesto: no reproducir hasta aprobarlo; usar la alternativa estática indicada.</a:t>
            </a:r>
          </a:p>
          <a:p>
            <a:endParaRPr/>
          </a:p>
          <a:p>
            <a:r>
              <a:t>**Transición:** Expresar la suma en magnitudes cuadráticas.</a:t>
            </a:r>
          </a:p>
          <a:p>
            <a:endParaRPr/>
          </a:p>
          <a:p>
            <a:r>
              <a:t>**Fuente de apoyo:** TEX 4.8.2; PDF p. 101; OD-U04-04</a:t>
            </a:r>
          </a:p>
          <a:p>
            <a:endParaRPr/>
          </a:p>
          <a:p>
            <a:r>
              <a:t>[Texto alternativo] Diagrama sobre «En señales no correlacionadas, el término cruzado promedia a cero»: ventana temporal con fase relativa variable; correlación parcial a respaldo. La lectura central es que durante la ventana, no hay una relación de fase estable que produzca refuerzo sistemático. Recurso principal: U04-DG-014.</a:t>
            </a:r>
          </a:p>
          <a:p>
            <a:endParaRPr/>
          </a:p>
          <a:p>
            <a:r>
              <a:t>[Sources]</a:t>
            </a:r>
          </a:p>
          <a:p>
            <a:r>
              <a:t>- TEX 4.8.2; PDF p. 101; OD-U04-04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U04-077 · Para fuentes no correlacionadas se suman cuadrados RMS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Formalizar la suma lineal previa al nivel.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`p_total,rms²=Σp_i,rms²`; luego se convierte a dB.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más flujo dB→lineal→suma→dB.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`p_total,rms²=Σp_i,rms²`; luego se convierte a dB.</a:t>
            </a:r>
          </a:p>
          <a:p>
            <a:endParaRPr/>
          </a:p>
          <a:p>
            <a:r>
              <a:t>**Énfasis / error frecuente:** Insistir en que no se suman presiones RMS con signo ni niveles aritméticamente.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Escribir la forma directa para niveles.</a:t>
            </a:r>
          </a:p>
          <a:p>
            <a:endParaRPr/>
          </a:p>
          <a:p>
            <a:r>
              <a:t>**Fuente de apoyo:** TEX 4.8.2; PDF p. 101; INV F-U04-20</a:t>
            </a:r>
          </a:p>
          <a:p>
            <a:endParaRPr/>
          </a:p>
          <a:p>
            <a:r>
              <a:t>[Texto alternativo] Ecuación anotada sobre «Para fuentes no correlacionadas se suman cuadrados RMS»: ecuación anotada más flujo dB→lineal→suma→dB. La lectura central es que `p_total,rms²=Σp_i,rms²`; luego se convierte a dB. Recurso principal: U04-DG-014.</a:t>
            </a:r>
          </a:p>
          <a:p>
            <a:endParaRPr/>
          </a:p>
          <a:p>
            <a:r>
              <a:t>[Sources]</a:t>
            </a:r>
          </a:p>
          <a:p>
            <a:r>
              <a:t>- TEX 4.8.2; PDF p. 101; INV F-U04-20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U04-078 · La suma de niveles vuelve primero a escala lineal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Interpretar `L_T=10log10(Σ10^(L_i/10))`.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Cada nivel se deslogaritma, se suma y recién entonces se aplica logaritmo.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con tres zonas y rótulos de transformación.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Cada nivel se deslogaritma, se suma y recién entonces se aplica logaritmo.</a:t>
            </a:r>
          </a:p>
          <a:p>
            <a:endParaRPr/>
          </a:p>
          <a:p>
            <a:r>
              <a:t>**Énfasis / error frecuente:** No introducir atajos sin explicar su dominio.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Resolver el caso de niveles iguales.</a:t>
            </a:r>
          </a:p>
          <a:p>
            <a:endParaRPr/>
          </a:p>
          <a:p>
            <a:r>
              <a:t>**Fuente de apoyo:** TEX 4.8.2; PDF pp. 101–102; INV F-U04-21</a:t>
            </a:r>
          </a:p>
          <a:p>
            <a:endParaRPr/>
          </a:p>
          <a:p>
            <a:r>
              <a:t>[Texto alternativo] Ecuación anotada sobre «La suma de niveles vuelve primero a escala lineal»: ecuación anotada con tres zonas y rótulos de transformación. La lectura central es que cada nivel se deslogaritma, se suma y recién entonces se aplica logaritmo. Recurso principal: U04-DG-014.</a:t>
            </a:r>
          </a:p>
          <a:p>
            <a:endParaRPr/>
          </a:p>
          <a:p>
            <a:r>
              <a:t>[Sources]</a:t>
            </a:r>
          </a:p>
          <a:p>
            <a:r>
              <a:t>- TEX 4.8.2; PDF pp. 101–102; INV F-U04-21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U04-079 · Dos fuentes no correlacionadas de 70 dB dan 73,01 dB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Modelar una suma de niveles.</a:t>
            </a:r>
          </a:p>
          <a:p>
            <a:endParaRPr/>
          </a:p>
          <a:p>
            <a:r>
              <a:t>**Explicación extendida:** Pedir primero una estimación cualitativa. Resolver en el orden dato → relación válida → sustitución con unidades → resultado → interpretación. Hacer explícito el redondeo y volver a la condición del modelo. Conclusión: Duplicar una magnitud cuadrática suma aproximadamente `3,01 dB`.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Ecuaciones editables con revelado; sin calculadora visual obligatoria.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Duplicar una magnitud cuadrática suma aproximadamente `3,01 dB`.</a:t>
            </a:r>
          </a:p>
          <a:p>
            <a:endParaRPr/>
          </a:p>
          <a:p>
            <a:r>
              <a:t>**Énfasis / error frecuente:** Contrastar explícitamente con U04-074.</a:t>
            </a:r>
          </a:p>
          <a:p>
            <a:endParaRPr/>
          </a:p>
          <a:p>
            <a:r>
              <a:t>**Demostración o multimedia:** `U04-MED-004` está propuesto: no reproducir hasta aprobarlo; usar la alternativa estática indicada.</a:t>
            </a:r>
          </a:p>
          <a:p>
            <a:endParaRPr/>
          </a:p>
          <a:p>
            <a:r>
              <a:t>**Transición:** Hacer visible la regla decisional completa.</a:t>
            </a:r>
          </a:p>
          <a:p>
            <a:endParaRPr/>
          </a:p>
          <a:p>
            <a:r>
              <a:t>**Fuente de apoyo:** TEX 4.8.2; PDF p. 102; ED</a:t>
            </a:r>
          </a:p>
          <a:p>
            <a:endParaRPr/>
          </a:p>
          <a:p>
            <a:r>
              <a:t>[Texto alternativo] Ecuación anotada sobre «Dos fuentes no correlacionadas de `70 dB` dan `73,01 dB`»: Ecuaciones editables con revelado; sin calculadora visual obligatoria. La lectura central es que duplicar una magnitud cuadrática suma aproximadamente `3,01 dB`. Recurso principal: U04-DG-014.</a:t>
            </a:r>
          </a:p>
          <a:p>
            <a:endParaRPr/>
          </a:p>
          <a:p>
            <a:r>
              <a:t>[Sources]</a:t>
            </a:r>
          </a:p>
          <a:p>
            <a:r>
              <a:t>- TEX 4.8.2; PDF p. 102; 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U04-080 · +6 dB y +3 dB responden a relaciones distintas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Consolidar coherencia, fase y suma.</a:t>
            </a:r>
          </a:p>
          <a:p>
            <a:endParaRPr/>
          </a:p>
          <a:p>
            <a:r>
              <a:t>**Explicación extendida:** Usar recuperación activa: ocultar inicialmente las respuestas y pedir que completen el mapa o la matriz. Volver solo a los nodos que generen duda. La síntesis debe poder expresarse así: Antes de sumar hay que decidir si la fase relativa es estable y qué magnitud se combina.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árbol máximo 6 nodos con rutas coherente/no correlacionada.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Antes de sumar hay que decidir si la fase relativa es estable y qué magnitud se combina.</a:t>
            </a:r>
          </a:p>
          <a:p>
            <a:endParaRPr/>
          </a:p>
          <a:p>
            <a:r>
              <a:t>**Énfasis / error frecuente:** Repetición pedagógica por decisión de casos; eliminar repeticiones algebraicas.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Preguntar cómo cambia el campo al repartirse en el espacio.</a:t>
            </a:r>
          </a:p>
          <a:p>
            <a:endParaRPr/>
          </a:p>
          <a:p>
            <a:r>
              <a:t>**Fuente de apoyo:** PO; TEX 4.8; PDF pp. 100–102; CM</a:t>
            </a:r>
          </a:p>
          <a:p>
            <a:endParaRPr/>
          </a:p>
          <a:p>
            <a:r>
              <a:t>[Texto alternativo] Diagrama sobre «`+6 dB` y `+3 dB` responden a relaciones distintas»: árbol máximo 6 nodos con rutas coherente/no correlacionada. La lectura central es que antes de sumar hay que decidir si la fase relativa es estable y qué magnitud se combina. Recurso principal: U04-DG-014.</a:t>
            </a:r>
          </a:p>
          <a:p>
            <a:endParaRPr/>
          </a:p>
          <a:p>
            <a:r>
              <a:t>[Sources]</a:t>
            </a:r>
          </a:p>
          <a:p>
            <a:r>
              <a:t>- PO; TEX 4.8; PDF pp. 100–102; CM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U04-081 · La geometría determina cómo se reparte la potencia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Abrir frentes, ondas ideales y campos.</a:t>
            </a:r>
          </a:p>
          <a:p>
            <a:endParaRPr/>
          </a:p>
          <a:p>
            <a:r>
              <a:t>**Explicación extendida:** Leer la pregunta guía y recuperar una respuesta del bloque anterior. Instalar el nuevo problema con lenguaje cotidiano; cerrar con el criterio que se construirá: El área disponible para el flujo cambia con la geometría.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¿Cómo cambia la distribución de energía según el frente de onda y el entorno?</a:t>
            </a:r>
          </a:p>
          <a:p>
            <a:endParaRPr/>
          </a:p>
          <a:p>
            <a:r>
              <a:t>**Respuesta esperada:** El área disponible para el flujo cambia con la geometría.</a:t>
            </a:r>
          </a:p>
          <a:p>
            <a:endParaRPr/>
          </a:p>
          <a:p>
            <a:r>
              <a:t>**Énfasis / error frecuente:** Recuperar frentes de onda y fase de U3.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Definir frente de onda como lugar geométrico.</a:t>
            </a:r>
          </a:p>
          <a:p>
            <a:endParaRPr/>
          </a:p>
          <a:p>
            <a:r>
              <a:t>**Fuente de apoyo:** PO; TEX 4.9; PDF pp. 102–106</a:t>
            </a:r>
          </a:p>
          <a:p>
            <a:endParaRPr/>
          </a:p>
          <a:p>
            <a:r>
              <a:t>[Texto alternativo] Slide tipográfica titulada «La geometría determina cómo se reparte la potencia»; destaca que el área disponible para el flujo cambia con la geometría.</a:t>
            </a:r>
          </a:p>
          <a:p>
            <a:endParaRPr/>
          </a:p>
          <a:p>
            <a:r>
              <a:t>[Sources]</a:t>
            </a:r>
          </a:p>
          <a:p>
            <a:r>
              <a:t>- PO; TEX 4.9; PDF pp. 102–106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U04-082 · Un frente de onda reúne puntos de igual fase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Vincular geometría y fase.</a:t>
            </a:r>
          </a:p>
          <a:p>
            <a:endParaRPr/>
          </a:p>
          <a:p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Los dibujos de frente no muestran trayectorias de partículas.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superficies/curvas con normales y etiqueta de fase; sin partículas decorativas.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Los dibujos de frente no muestran trayectorias de partículas.</a:t>
            </a:r>
          </a:p>
          <a:p>
            <a:endParaRPr/>
          </a:p>
          <a:p>
            <a:r>
              <a:t>**Énfasis / error frecuente:** Diferenciar frente, rayo y forma temporal.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Presentar modelos geométricos por comparación.</a:t>
            </a:r>
          </a:p>
          <a:p>
            <a:endParaRPr/>
          </a:p>
          <a:p>
            <a:r>
              <a:t>**Fuente de apoyo:** TEX 4.9; PDF pp. 102–103; U3</a:t>
            </a:r>
          </a:p>
          <a:p>
            <a:endParaRPr/>
          </a:p>
          <a:p>
            <a:r>
              <a:t>[Texto alternativo] Diagrama sobre «Un frente de onda reúne puntos de igual fase»: superficies/curvas con normales y etiqueta de fase; sin partículas decorativas. La lectura central es que los dibujos de frente no muestran trayectorias de partículas. Recurso principal: U04-DG-015.</a:t>
            </a:r>
          </a:p>
          <a:p>
            <a:endParaRPr/>
          </a:p>
          <a:p>
            <a:r>
              <a:t>[Sources]</a:t>
            </a:r>
          </a:p>
          <a:p>
            <a:r>
              <a:t>- TEX 4.9; PDF pp. 102–103; U3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U04-083 · La onda plana es un modelo local útil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Explicitar condiciones del modelo.</a:t>
            </a:r>
          </a:p>
          <a:p>
            <a:endParaRPr/>
          </a:p>
          <a:p>
            <a:r>
              <a:t>**Explicación extendida:** Desarrollar el alcance aprobado —Esquema, supuestos y ejemplos de región lejana/local; límites— y vincular cada afirmación con una magnitud, unidad, referencia o condición. Idea central: Frentes paralelos y área aproximadamente constante simplifican las relaciones.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frentes paralelos dentro de una zona de validez.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Frentes paralelos y área aproximadamente constante simplifican las relaciones.</a:t>
            </a:r>
          </a:p>
          <a:p>
            <a:endParaRPr/>
          </a:p>
          <a:p>
            <a:r>
              <a:t>**Énfasis / error frecuente:** No afirmar intensidad constante si existen pérdidas o apertura finita.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Comparar con una fuente lineal ideal.</a:t>
            </a:r>
          </a:p>
          <a:p>
            <a:endParaRPr/>
          </a:p>
          <a:p>
            <a:r>
              <a:t>**Fuente de apoyo:** TEX 4.9; PDF pp. 102–103</a:t>
            </a:r>
          </a:p>
          <a:p>
            <a:endParaRPr/>
          </a:p>
          <a:p>
            <a:r>
              <a:t>[Texto alternativo] Diagrama sobre «La onda plana es un modelo local útil»: frentes paralelos dentro de una zona de validez. La lectura central es que frentes paralelos y área aproximadamente constante simplifican las relaciones. Recurso principal: U04-DG-015.</a:t>
            </a:r>
          </a:p>
          <a:p>
            <a:endParaRPr/>
          </a:p>
          <a:p>
            <a:r>
              <a:t>[Sources]</a:t>
            </a:r>
          </a:p>
          <a:p>
            <a:r>
              <a:t>- TEX 4.9; PDF pp. 102–103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U04-084 · La onda cilíndrica reparte potencia sobre un área proporcional a r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Cubrir explícitamente el caso cilíndrico.</a:t>
            </a:r>
          </a:p>
          <a:p>
            <a:endParaRPr/>
          </a:p>
          <a:p>
            <a:r>
              <a:t>**Explicación extendida:** Desarrollar el alcance aprobado —Cilindro coaxial, superficie lateral y condiciones; caída de nivel `−3,01 dB` por duplicar distancia como consecuencia ideal— y vincular cada afirmación con una magnitud, unidad, referencia o condición. Idea central: Para una fuente lineal ideal larga, la intensidad decrece como `1/r`.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cilindros concéntricos y superficie lateral; para `1/r`.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Para una fuente lineal ideal larga, la intensidad decrece como `1/r`.</a:t>
            </a:r>
          </a:p>
          <a:p>
            <a:endParaRPr/>
          </a:p>
          <a:p>
            <a:r>
              <a:t>**Énfasis / error frecuente:** Aclarar que una onda en un tubo circular no es por eso cilíndrica.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Pasar a la fuente puntual ideal.</a:t>
            </a:r>
          </a:p>
          <a:p>
            <a:endParaRPr/>
          </a:p>
          <a:p>
            <a:r>
              <a:t>**Fuente de apoyo:** PO; TEX 4.9; PDF pp. 103–104; OD-U04-20</a:t>
            </a:r>
          </a:p>
          <a:p>
            <a:endParaRPr/>
          </a:p>
          <a:p>
            <a:r>
              <a:t>[Texto alternativo] Esquema mixto sobre «La onda cilíndrica reparte potencia sobre un área proporcional a `r`»: cilindros concéntricos y superficie lateral; para `1/r`. La lectura central es que para una fuente lineal ideal larga, la intensidad decrece como `1/r`. Recurso principal: U04-CH-010.</a:t>
            </a:r>
          </a:p>
          <a:p>
            <a:endParaRPr/>
          </a:p>
          <a:p>
            <a:r>
              <a:t>[Sources]</a:t>
            </a:r>
          </a:p>
          <a:p>
            <a:r>
              <a:t>- PO; TEX 4.9; PDF pp. 103–104; OD-U04-20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U04-085 · La onda esférica reparte potencia sobre 4πr²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Construir el modelo que habilita la ley de distancia.</a:t>
            </a:r>
          </a:p>
          <a:p>
            <a:endParaRPr/>
          </a:p>
          <a:p>
            <a:r>
              <a:t>**Explicación extendida:** Desarrollar el alcance aprobado —Esferas concéntricas, superficie y potencia conservada— y vincular cada afirmación con una magnitud, unidad, referencia o condición. Idea central: Al duplicar `r`, el área se cuadruplica y la intensidad se reduce a un cuarto.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reconstrucción de figura 4.6 con áreas `r` y `2r`.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Al duplicar `r`, el área se cuadruplica y la intensidad se reduce a un cuarto.</a:t>
            </a:r>
          </a:p>
          <a:p>
            <a:endParaRPr/>
          </a:p>
          <a:p>
            <a:r>
              <a:t>**Énfasis / error frecuente:** No introducir todavía la ecuación de nivel; sostener intuición geométrica.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Comparar las tres leyes en los mismos ejes.</a:t>
            </a:r>
          </a:p>
          <a:p>
            <a:endParaRPr/>
          </a:p>
          <a:p>
            <a:r>
              <a:t>**Fuente de apoyo:** TEX 4.9; PDF pp. 103–104; figura 4.6</a:t>
            </a:r>
          </a:p>
          <a:p>
            <a:endParaRPr/>
          </a:p>
          <a:p>
            <a:r>
              <a:t>[Texto alternativo] Diagrama sobre «La onda esférica reparte potencia sobre `4πr²`»: reconstrucción de figura 4.6 con áreas `r` y `2r`. La lectura central es que al duplicar `r`, el área se cuadruplica y la intensidad se reduce a un cuarto. Recurso principal: U04-DG-015.</a:t>
            </a:r>
          </a:p>
          <a:p>
            <a:endParaRPr/>
          </a:p>
          <a:p>
            <a:r>
              <a:t>[Sources]</a:t>
            </a:r>
          </a:p>
          <a:p>
            <a:r>
              <a:t>- TEX 4.9; PDF pp. 103–104; figura 4.6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U04-086 · Plano, cilindro y esfera producen caídas distintas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Comparar cuantitativamente modelos.</a:t>
            </a:r>
          </a:p>
          <a:p>
            <a:endParaRPr/>
          </a:p>
          <a:p>
            <a:r>
              <a:t>**Explicación extendida:** Solicitar una lectura sin conclusiones: identificar ejes, unidades, escala y curvas. Luego comparar dos puntos o regiones y formular la tendencia. Aclarar qué representa la figura y qué no permite inferir. Síntesis: Sin pérdidas, la intensidad ideal escala como `r⁰`, `r⁻¹` o `r⁻²`.</a:t>
            </a:r>
          </a:p>
          <a:p>
            <a:endParaRPr/>
          </a:p>
          <a:p>
            <a:r>
              <a:t>**Guía para el visual o diagrama:** Nombrar primero ejes, variables, unidades y escala. Después identificar una tendencia o ancla y recién entonces formular la conclusión. `I/I_0` frente a `r/r_0`, con escalas y supuestos explícitos.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Sin pérdidas, la intensidad ideal escala como `r⁰`, `r⁻¹` o `r⁻²`.</a:t>
            </a:r>
          </a:p>
          <a:p>
            <a:endParaRPr/>
          </a:p>
          <a:p>
            <a:r>
              <a:t>**Énfasis / error frecuente:** No sugerir que toda fuente real sigue un único modelo a cualquier distancia.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Corregir una clasificación por apariencia.</a:t>
            </a:r>
          </a:p>
          <a:p>
            <a:endParaRPr/>
          </a:p>
          <a:p>
            <a:r>
              <a:t>**Fuente de apoyo:** PO; TEX 4.9; PDF pp. 102–104; INV</a:t>
            </a:r>
          </a:p>
          <a:p>
            <a:endParaRPr/>
          </a:p>
          <a:p>
            <a:r>
              <a:t>[Texto alternativo] Gráfico sobre «Plano, cilindro y esfera producen caídas distintas»: `I/I_0` frente a `r/r_0`, con escalas y supuestos explícitos. La lectura central es que sin pérdidas, la intensidad ideal escala como `r⁰`, `r⁻¹` o `r⁻²`. Recurso principal: U04-CH-010.</a:t>
            </a:r>
          </a:p>
          <a:p>
            <a:endParaRPr/>
          </a:p>
          <a:p>
            <a:r>
              <a:t>[Sources]</a:t>
            </a:r>
          </a:p>
          <a:p>
            <a:r>
              <a:t>- PO; TEX 4.9; PDF pp. 102–104; INV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U04-087 · Un tubo de sección circular no implica una onda cilíndrica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Separar contenedor y frente de onda.</a:t>
            </a:r>
          </a:p>
          <a:p>
            <a:endParaRPr/>
          </a:p>
          <a:p>
            <a:r>
              <a:t>**Explicación extendida:** Mostrar primero la afirmación problemática y pedir un contraejemplo o la condición faltante. Corregirla nombrando la magnitud adecuada, sin reemplazarla por otra regla memorizada. Formulación correcta: La geometría se clasifica por los frentes y la expansión del campo, no por la forma externa del conducto.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tubo con frentes aproximadamente planos vs fuente lineal con frentes cilíndricos. No leer cada caja: usar el diagrama como guía y explicar la relación entre nodos.</a:t>
            </a:r>
          </a:p>
          <a:p>
            <a:endParaRPr/>
          </a:p>
          <a:p>
            <a:r>
              <a:t>**Pregunta al grupo:** ¿Qué condición o distinción falta en la afirmación «Un tubo de sección circular no implica una onda cilíndrica»?</a:t>
            </a:r>
          </a:p>
          <a:p>
            <a:endParaRPr/>
          </a:p>
          <a:p>
            <a:r>
              <a:t>**Respuesta esperada:** La geometría se clasifica por los frentes y la expansión del campo, no por la forma externa del conducto.</a:t>
            </a:r>
          </a:p>
          <a:p>
            <a:endParaRPr/>
          </a:p>
          <a:p>
            <a:r>
              <a:t>**Énfasis / error frecuente:** Pedir evidencia geométrica: cómo crece el área de flujo.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Introducir descripciones de campo en recintos.</a:t>
            </a:r>
          </a:p>
          <a:p>
            <a:endParaRPr/>
          </a:p>
          <a:p>
            <a:r>
              <a:t>**Fuente de apoyo:** BR errores; PO; TEX 4.9; ED</a:t>
            </a:r>
          </a:p>
          <a:p>
            <a:endParaRPr/>
          </a:p>
          <a:p>
            <a:r>
              <a:t>[Texto alternativo] Diagrama sobre «Un tubo de sección circular no implica una onda cilíndrica»: tubo con frentes aproximadamente planos vs fuente lineal con frentes cilíndricos. La lectura central es que la geometría se clasifica por los frentes y la expansión del campo, no por la forma externa del conducto. Recurso principal: U04-DG-015.</a:t>
            </a:r>
          </a:p>
          <a:p>
            <a:endParaRPr/>
          </a:p>
          <a:p>
            <a:r>
              <a:t>[Sources]</a:t>
            </a:r>
          </a:p>
          <a:p>
            <a:r>
              <a:t>- BR errores; PO; TEX 4.9; 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U04-088 · Campo libre, reverberante y difuso no describen lo mismo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Cubrir regímenes de propagación.</a:t>
            </a:r>
          </a:p>
          <a:p>
            <a:endParaRPr/>
          </a:p>
          <a:p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Libre enfatiza ausencia de reflexiones relevantes; reverberante, persistencia de reflexiones; difuso, idealización estadística espacial/direccional.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tres recintos simplificados con trayectorias y densidad controlada.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Libre enfatiza ausencia de reflexiones relevantes; reverberante, persistencia de reflexiones; difuso, idealización estadística espacial/direccional.</a:t>
            </a:r>
          </a:p>
          <a:p>
            <a:endParaRPr/>
          </a:p>
          <a:p>
            <a:r>
              <a:t>**Énfasis / error frecuente:** Evitar equiparar reverberante con perfectamente difuso.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Recapitular geometría, reparto y campo.</a:t>
            </a:r>
          </a:p>
          <a:p>
            <a:endParaRPr/>
          </a:p>
          <a:p>
            <a:r>
              <a:t>**Fuente de apoyo:** PO; TEX 4.9.1; PDF pp. 105–106; GLO</a:t>
            </a:r>
          </a:p>
          <a:p>
            <a:endParaRPr/>
          </a:p>
          <a:p>
            <a:r>
              <a:t>[Texto alternativo] Diagrama sobre «Campo libre, reverberante y difuso no describen lo mismo»: tres recintos simplificados con trayectorias y densidad controlada. La lectura central es que libre enfatiza ausencia de reflexiones relevantes; reverberante, persistencia de reflexiones; difuso, idealización estadística espacial/direccional. Recurso principal: U04-DG-015.</a:t>
            </a:r>
          </a:p>
          <a:p>
            <a:endParaRPr/>
          </a:p>
          <a:p>
            <a:r>
              <a:t>[Sources]</a:t>
            </a:r>
          </a:p>
          <a:p>
            <a:r>
              <a:t>- PO; TEX 4.9.1; PDF pp. 105–106; GLO</a:t>
            </a:r>
          </a:p>
          <a:p>
            <a:r>
              <a:t>- https://www.nist.gov/image/acoustic-anechoic-chamber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U04-089 · Antes de aplicar una ley, identifica geometría y campo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Consolidar selección de modelo.</a:t>
            </a:r>
          </a:p>
          <a:p>
            <a:endParaRPr/>
          </a:p>
          <a:p>
            <a:r>
              <a:t>**Explicación extendida:** Usar recuperación activa: ocultar inicialmente las respuestas y pedir que completen el mapa o la matriz. Volver solo a los nodos que generen duda. La síntesis debe poder expresarse así: La ley de distancia depende de cómo crece el área y de si las reflexiones son despreciables.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árbol de decisión con tres salidas geométricas y alerta de recinto.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La ley de distancia depende de cómo crece el área y de si las reflexiones son despreciables.</a:t>
            </a:r>
          </a:p>
          <a:p>
            <a:endParaRPr/>
          </a:p>
          <a:p>
            <a:r>
              <a:t>**Énfasis / error frecuente:** Repetición pedagógica por diagnóstico de escenarios.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Derivar ahora la ley esférica de distancia.</a:t>
            </a:r>
          </a:p>
          <a:p>
            <a:endParaRPr/>
          </a:p>
          <a:p>
            <a:r>
              <a:t>**Fuente de apoyo:** PO; TEX 4.9; PDF pp. 102–106; CM</a:t>
            </a:r>
          </a:p>
          <a:p>
            <a:endParaRPr/>
          </a:p>
          <a:p>
            <a:r>
              <a:t>[Texto alternativo] Diagrama sobre «Antes de aplicar una ley, identifica geometría y campo»: árbol de decisión con tres salidas geométricas y alerta de recinto. La lectura central es que la ley de distancia depende de cómo crece el área y de si las reflexiones son despreciables. Recurso principal: U04-DG-015.</a:t>
            </a:r>
          </a:p>
          <a:p>
            <a:endParaRPr/>
          </a:p>
          <a:p>
            <a:r>
              <a:t>[Sources]</a:t>
            </a:r>
          </a:p>
          <a:p>
            <a:r>
              <a:t>- PO; TEX 4.9; PDF pp. 102–106; CM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U04-090 · ¿Cuánto cambia el nivel al alejarnos y al cambiar de dirección?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Abrir ley de distancia y directividad.</a:t>
            </a:r>
          </a:p>
          <a:p>
            <a:endParaRPr/>
          </a:p>
          <a:p>
            <a:r>
              <a:t>**Explicación extendida:** Leer la pregunta guía y recuperar una respuesta del bloque anterior. Instalar el nuevo problema con lenguaje cotidiano; cerrar con el criterio que se construirá: Distancia y dirección son variables distintas del campo.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¿Cómo cambian nivel y radiación con distancia y dirección?</a:t>
            </a:r>
          </a:p>
          <a:p>
            <a:endParaRPr/>
          </a:p>
          <a:p>
            <a:r>
              <a:t>**Respuesta esperada:** Distancia y dirección son variables distintas del campo.</a:t>
            </a:r>
          </a:p>
          <a:p>
            <a:endParaRPr/>
          </a:p>
          <a:p>
            <a:r>
              <a:t>**Énfasis / error frecuente:** Recuperar onda esférica y logaritmos.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Empezar por el reparto sobre una esfera.</a:t>
            </a:r>
          </a:p>
          <a:p>
            <a:endParaRPr/>
          </a:p>
          <a:p>
            <a:r>
              <a:t>**Fuente de apoyo:** PO; TEX 4.10–4.11; PDF pp. 104–107</a:t>
            </a:r>
          </a:p>
          <a:p>
            <a:endParaRPr/>
          </a:p>
          <a:p>
            <a:r>
              <a:t>[Texto alternativo] Slide tipográfica titulada «¿Cuánto cambia el nivel al alejarnos y al cambiar de dirección?»; destaca que distancia y dirección son variables distintas del campo.</a:t>
            </a:r>
          </a:p>
          <a:p>
            <a:endParaRPr/>
          </a:p>
          <a:p>
            <a:r>
              <a:t>[Sources]</a:t>
            </a:r>
          </a:p>
          <a:p>
            <a:r>
              <a:t>- PO; TEX 4.10–4.11; PDF pp. 104–107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U04-091 · La misma potencia atraviesa esferas cada vez mayores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Reforzar la intuición geométrica.</a:t>
            </a:r>
          </a:p>
          <a:p>
            <a:endParaRPr/>
          </a:p>
          <a:p>
            <a:r>
              <a:t>**Explicación extendida:** Desarrollar el alcance aprobado —Esferas `r_1/r_2`, misma potencia y áreas comparadas— y vincular cada afirmación con una magnitud, unidad, referencia o condición. Idea central: En campo libre ideal, aumentar `r` aumenta el área disponible.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dos esferas o cortes 2D con flechas de flujo y etiquetas fuera del dibujo.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En campo libre ideal, aumentar `r` aumenta el área disponible.</a:t>
            </a:r>
          </a:p>
          <a:p>
            <a:endParaRPr/>
          </a:p>
          <a:p>
            <a:r>
              <a:t>**Énfasis / error frecuente:** Distinguir conservación de potencia de intensidad local.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Escribir la relación intensidad–distancia.</a:t>
            </a:r>
          </a:p>
          <a:p>
            <a:endParaRPr/>
          </a:p>
          <a:p>
            <a:r>
              <a:t>**Fuente de apoyo:** TEX 4.10; PDF p. 104; figura 4.6</a:t>
            </a:r>
          </a:p>
          <a:p>
            <a:endParaRPr/>
          </a:p>
          <a:p>
            <a:r>
              <a:t>[Texto alternativo] Diagrama sobre «La misma potencia atraviesa esferas cada vez mayores»: dos esferas o cortes 2D con flechas de flujo y etiquetas fuera del dibujo. La lectura central es que en campo libre ideal, aumentar `r` aumenta el área disponible. Recurso principal: U04-DG-016.</a:t>
            </a:r>
          </a:p>
          <a:p>
            <a:endParaRPr/>
          </a:p>
          <a:p>
            <a:r>
              <a:t>[Sources]</a:t>
            </a:r>
          </a:p>
          <a:p>
            <a:r>
              <a:t>- TEX 4.10; PDF p. 104; figura 4.6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U04-092 · En propagación esférica ideal, I=Wₐc/(4πr²)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Relacionar potencia, área e intensidad.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La ley inversa del cuadrado surge del crecimiento del área esférica.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conectada a superficie esférica.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La ley inversa del cuadrado surge del crecimiento del área esférica.</a:t>
            </a:r>
          </a:p>
          <a:p>
            <a:endParaRPr/>
          </a:p>
          <a:p>
            <a:r>
              <a:t>**Énfasis / error frecuente:** Repetir campo libre, fuente puntual y potencia estable.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Comparar dos distancias sin conocer la potencia.</a:t>
            </a:r>
          </a:p>
          <a:p>
            <a:endParaRPr/>
          </a:p>
          <a:p>
            <a:r>
              <a:t>**Fuente de apoyo:** TEX 4.10; PDF p. 104; NOT; INV F-U04-23</a:t>
            </a:r>
          </a:p>
          <a:p>
            <a:endParaRPr/>
          </a:p>
          <a:p>
            <a:r>
              <a:t>[Texto alternativo] Ecuación anotada sobre «En propagación esférica ideal, `I=W_ac/(4πr²)`»: ecuación anotada conectada a superficie esférica. La lectura central es que la ley inversa del cuadrado surge del crecimiento del área esférica. Recurso principal: U04-DG-016.</a:t>
            </a:r>
          </a:p>
          <a:p>
            <a:endParaRPr/>
          </a:p>
          <a:p>
            <a:r>
              <a:t>[Sources]</a:t>
            </a:r>
          </a:p>
          <a:p>
            <a:r>
              <a:t>- TEX 4.10; PDF p. 104; NOT; INV F-U04-23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U04-093 · La razón elimina la potencia desconocida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Derivar `I_2/I_1=(r_1/r_2)^2`.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Comparar posiciones permite trabajar con cambios relativos.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derivación anotada con cancelaciones y dos posiciones.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Comparar posiciones permite trabajar con cambios relativos.</a:t>
            </a:r>
          </a:p>
          <a:p>
            <a:endParaRPr/>
          </a:p>
          <a:p>
            <a:r>
              <a:t>**Énfasis / error frecuente:** Mantener álgebra extendida en respaldo si el ritmo lo exige.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Convertir la razón en diferencia de nivel.</a:t>
            </a:r>
          </a:p>
          <a:p>
            <a:endParaRPr/>
          </a:p>
          <a:p>
            <a:r>
              <a:t>**Fuente de apoyo:** TEX 4.10; PDF pp. 104–105; INV</a:t>
            </a:r>
          </a:p>
          <a:p>
            <a:endParaRPr/>
          </a:p>
          <a:p>
            <a:r>
              <a:t>[Texto alternativo] Ecuación anotada sobre «La razón elimina la potencia desconocida»: derivación anotada con cancelaciones y dos posiciones. La lectura central es que comparar posiciones permite trabajar con cambios relativos. Recurso principal: U04-DG-016.</a:t>
            </a:r>
          </a:p>
          <a:p>
            <a:endParaRPr/>
          </a:p>
          <a:p>
            <a:r>
              <a:t>[Sources]</a:t>
            </a:r>
          </a:p>
          <a:p>
            <a:r>
              <a:t>- TEX 4.10; PDF pp. 104–105; INV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U04-094 · La diferencia de nivel depende del cociente de distancias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Interpretar `L_{p2}=L_{p1}+20log10(r_1/r_2)`.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Alejarse reduce nivel cuando `r_2&gt;r_1`, bajo las hipótesis del modelo.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con recta de distancias y prueba de signo.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Alejarse reduce nivel cuando `r_2&gt;r_1`, bajo las hipótesis del modelo.</a:t>
            </a:r>
          </a:p>
          <a:p>
            <a:endParaRPr/>
          </a:p>
          <a:p>
            <a:r>
              <a:t>**Énfasis / error frecuente:** Distinguir nivel en dos puntos de potencia de la fuente.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Extraer la regla por duplicación.</a:t>
            </a:r>
          </a:p>
          <a:p>
            <a:endParaRPr/>
          </a:p>
          <a:p>
            <a:r>
              <a:t>**Fuente de apoyo:** TEX 4.10; PDF pp. 104–105; NOT; INV F-U04-25</a:t>
            </a:r>
          </a:p>
          <a:p>
            <a:endParaRPr/>
          </a:p>
          <a:p>
            <a:r>
              <a:t>[Texto alternativo] Ecuación anotada sobre «La diferencia de nivel depende del cociente de distancias»: ecuación anotada con recta de distancias y prueba de signo. La lectura central es que alejarse reduce nivel cuando `r_2&gt;r_1`, bajo las hipótesis del modelo. Recurso principal: U04-DG-016.</a:t>
            </a:r>
          </a:p>
          <a:p>
            <a:endParaRPr/>
          </a:p>
          <a:p>
            <a:r>
              <a:t>[Sources]</a:t>
            </a:r>
          </a:p>
          <a:p>
            <a:r>
              <a:t>- TEX 4.10; PDF pp. 104–105; NOT; INV F-U04-25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U04-095 · Duplicar distancia reduce aproximadamente 6,02 dB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Fijar una regla útil con condiciones.</a:t>
            </a:r>
          </a:p>
          <a:p>
            <a:endParaRPr/>
          </a:p>
          <a:p>
            <a:r>
              <a:t>**Explicación extendida:** Solicitar una lectura sin conclusiones: identificar ejes, unidades, escala y curvas. Luego comparar dos puntos o regiones y formular la tendencia. Aclarar qué representa la figura y qué no permite inferir. Síntesis: La regla `−6 dB` es esférica, de campo libre y en la región válida.</a:t>
            </a:r>
          </a:p>
          <a:p>
            <a:endParaRPr/>
          </a:p>
          <a:p>
            <a:r>
              <a:t>**Guía para el visual o diagrama:** Nombrar primero ejes, variables, unidades y escala. Después identificar una tendencia o ancla y recién entonces formular la conclusión. `ΔL_p` versus `r/r_0` con puntos anotados.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La regla `−6 dB` es esférica, de campo libre y en la región válida.</a:t>
            </a:r>
          </a:p>
          <a:p>
            <a:endParaRPr/>
          </a:p>
          <a:p>
            <a:r>
              <a:t>**Énfasis / error frecuente:** Contrastar mentalmente con `−3 dB` cilíndrico, sin mezclar fórmulas.</a:t>
            </a:r>
          </a:p>
          <a:p>
            <a:endParaRPr/>
          </a:p>
          <a:p>
            <a:r>
              <a:t>**Demostración o multimedia:** `U04-MED-005` está propuesto: no reproducir hasta aprobarlo; usar la alternativa estática indicada.</a:t>
            </a:r>
          </a:p>
          <a:p>
            <a:endParaRPr/>
          </a:p>
          <a:p>
            <a:r>
              <a:t>**Transición:** Hacer explícitas las condiciones de uso.</a:t>
            </a:r>
          </a:p>
          <a:p>
            <a:endParaRPr/>
          </a:p>
          <a:p>
            <a:r>
              <a:t>**Fuente de apoyo:** TEX 4.10; PDF pp. 104–105</a:t>
            </a:r>
          </a:p>
          <a:p>
            <a:endParaRPr/>
          </a:p>
          <a:p>
            <a:r>
              <a:t>[Texto alternativo] Gráfico sobre «Duplicar distancia reduce aproximadamente `6,02 dB`»: `ΔL_p` versus `r/r_0` con puntos anotados. La lectura central es que la regla `−6 dB` es esférica, de campo libre y en la región válida. Recurso principal: U04-CH-011.</a:t>
            </a:r>
          </a:p>
          <a:p>
            <a:endParaRPr/>
          </a:p>
          <a:p>
            <a:r>
              <a:t>[Sources]</a:t>
            </a:r>
          </a:p>
          <a:p>
            <a:r>
              <a:t>- TEX 4.10; PDF pp. 104–105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U04-096 · La regla de −6 dB no vale en cualquier recinto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Delimitar el modelo.</a:t>
            </a:r>
          </a:p>
          <a:p>
            <a:endParaRPr/>
          </a:p>
          <a:p>
            <a:r>
              <a:t>**Explicación extendida:** Mostrar primero la afirmación problemática y pedir un contraejemplo o la condición faltante. Corregirla nombrando la magnitud adecuada, sin reemplazarla por otra regla memorizada. Formulación correcta: Reflexiones, campo cercano, directividad, absorción y geometría pueden alterar la caída.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semáforo de validez con campo libre/recinto/campo cercano. No leer cada caja: usar el diagrama como guía y explicar la relación entre nodos.</a:t>
            </a:r>
          </a:p>
          <a:p>
            <a:endParaRPr/>
          </a:p>
          <a:p>
            <a:r>
              <a:t>**Pregunta al grupo:** ¿Qué condición o distinción falta en la afirmación «La regla de `−6 dB` no vale en cualquier recinto»?</a:t>
            </a:r>
          </a:p>
          <a:p>
            <a:endParaRPr/>
          </a:p>
          <a:p>
            <a:r>
              <a:t>**Respuesta esperada:** Reflexiones, campo cercano, directividad, absorción y geometría pueden alterar la caída.</a:t>
            </a:r>
          </a:p>
          <a:p>
            <a:endParaRPr/>
          </a:p>
          <a:p>
            <a:r>
              <a:t>**Énfasis / error frecuente:** Evitar convertir la lista en explicación completa de U9.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Resolver un ejemplo dentro del dominio válido.</a:t>
            </a:r>
          </a:p>
          <a:p>
            <a:endParaRPr/>
          </a:p>
          <a:p>
            <a:r>
              <a:t>**Fuente de apoyo:** TEX 4.9.1–4.10; PDF pp. 104–106; BR errores; CM</a:t>
            </a:r>
          </a:p>
          <a:p>
            <a:endParaRPr/>
          </a:p>
          <a:p>
            <a:r>
              <a:t>[Texto alternativo] Diagrama sobre «La regla de `−6 dB` no vale en cualquier recinto»: semáforo de validez con campo libre/recinto/campo cercano. La lectura central es que reflexiones, campo cercano, directividad, absorción y geometría pueden alterar la caída. Recurso principal: U04-DG-016.</a:t>
            </a:r>
          </a:p>
          <a:p>
            <a:endParaRPr/>
          </a:p>
          <a:p>
            <a:r>
              <a:t>[Sources]</a:t>
            </a:r>
          </a:p>
          <a:p>
            <a:r>
              <a:t>- TEX 4.9.1–4.10; PDF pp. 104–106; BR errores; CM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U04-097 · De 80 dB a 1 m a ≈68 dB a 4 m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Modelar aplicación de distancia.</a:t>
            </a:r>
          </a:p>
          <a:p>
            <a:endParaRPr/>
          </a:p>
          <a:p>
            <a:r>
              <a:t>**Explicación extendida:** Pedir primero una estimación cualitativa. Resolver en el orden dato → relación válida → sustitución con unidades → resultado → interpretación. Hacer explícito el redondeo y volver a la condición del modelo. Conclusión: Cuadruplicar distancia equivale a dos duplicaciones y cerca de `−12,04 dB`.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Ecuaciones editables más línea de distancias.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Cuadruplicar distancia equivale a dos duplicaciones y cerca de `−12,04 dB`.</a:t>
            </a:r>
          </a:p>
          <a:p>
            <a:endParaRPr/>
          </a:p>
          <a:p>
            <a:r>
              <a:t>**Énfasis / error frecuente:** Comparar ambos métodos y declarar redondeo.</a:t>
            </a:r>
          </a:p>
          <a:p>
            <a:endParaRPr/>
          </a:p>
          <a:p>
            <a:r>
              <a:t>**Demostración o multimedia:** `U04-MED-005` está propuesto: no reproducir hasta aprobarlo; usar la alternativa estática indicada.</a:t>
            </a:r>
          </a:p>
          <a:p>
            <a:endParaRPr/>
          </a:p>
          <a:p>
            <a:r>
              <a:t>**Transición:** Cambiar de variación radial a angular.</a:t>
            </a:r>
          </a:p>
          <a:p>
            <a:endParaRPr/>
          </a:p>
          <a:p>
            <a:r>
              <a:t>**Fuente de apoyo:** TEX 4.10; PDF pp. 104–105; ED</a:t>
            </a:r>
          </a:p>
          <a:p>
            <a:endParaRPr/>
          </a:p>
          <a:p>
            <a:r>
              <a:t>[Texto alternativo] Esquema mixto sobre «De `80 dB` a 1 m a `≈68 dB` a 4 m»: Ecuaciones editables más línea de distancias. La lectura central es que cuadruplicar distancia equivale a dos duplicaciones y cerca de `−12,04 dB`. Recurso principal: U04-CH-011.</a:t>
            </a:r>
          </a:p>
          <a:p>
            <a:endParaRPr/>
          </a:p>
          <a:p>
            <a:r>
              <a:t>[Sources]</a:t>
            </a:r>
          </a:p>
          <a:p>
            <a:r>
              <a:t>- TEX 4.10; PDF pp. 104–105; 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U04-098 · Una fuente omnidireccional ideal reparte por igual en todas las direcciones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Fijar la referencia angular.</a:t>
            </a:r>
          </a:p>
          <a:p>
            <a:endParaRPr/>
          </a:p>
          <a:p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La omnidireccionalidad es un modelo de comparación, no una propiedad absoluta de toda fuente.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patrón polar ideal con fuente central y ejes.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 omnidireccionalidad es un modelo de comparación, no una propiedad absoluta de toda fuente.</a:t>
            </a:r>
          </a:p>
          <a:p>
            <a:endParaRPr/>
          </a:p>
          <a:p>
            <a:r>
              <a:t>**Énfasis / error frecuente:** Aclarar que una gráfica polar no es una trayectoria espacial.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Introducir fuentes reales y dirección.</a:t>
            </a:r>
          </a:p>
          <a:p>
            <a:endParaRPr/>
          </a:p>
          <a:p>
            <a:r>
              <a:t>**Fuente de apoyo:** TEX 4.11; PDF pp. 106–107; GLO</a:t>
            </a:r>
          </a:p>
          <a:p>
            <a:endParaRPr/>
          </a:p>
          <a:p>
            <a:r>
              <a:t>[Texto alternativo] Diagrama sobre «Una fuente omnidireccional ideal reparte por igual en todas las direcciones»: patrón polar ideal con fuente central y ejes. La lectura central es que la omnidireccionalidad es un modelo de comparación, no una propiedad absoluta de toda fuente. Recurso principal: U04-DG-017.</a:t>
            </a:r>
          </a:p>
          <a:p>
            <a:endParaRPr/>
          </a:p>
          <a:p>
            <a:r>
              <a:t>[Sources]</a:t>
            </a:r>
          </a:p>
          <a:p>
            <a:r>
              <a:t>- TEX 4.11; PDF pp. 106–107; GLO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U04-099 · Una fuente real puede concentrar energía en ciertas direcciones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Construir el concepto de directividad.</a:t>
            </a:r>
          </a:p>
          <a:p>
            <a:endParaRPr/>
          </a:p>
          <a:p>
            <a:r>
              <a:t>**Explicación extendida:** Desarrollar el alcance aprobado —Dos patrones cualitativos y lectura de eje/ángulo/lóbulo; voz o altavoz como aplicación— y vincular cada afirmación con una magnitud, unidad, referencia o condición. Idea central: El nivel depende del ángulo, la frecuencia, el montaje y el entorno.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patrones polares editables simples; gráfico cuantitativo real reservado a U04-102.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El nivel depende del ángulo, la frecuencia, el montaje y el entorno.</a:t>
            </a:r>
          </a:p>
          <a:p>
            <a:endParaRPr/>
          </a:p>
          <a:p>
            <a:r>
              <a:t>**Énfasis / error frecuente:** No interpretar área dibujada como potencia total sin definición.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Cuantificar concentración mediante `Q`.</a:t>
            </a:r>
          </a:p>
          <a:p>
            <a:endParaRPr/>
          </a:p>
          <a:p>
            <a:r>
              <a:t>**Fuente de apoyo:** PO; TEX 4.11; PDF pp. 106–107; figura 4.7</a:t>
            </a:r>
          </a:p>
          <a:p>
            <a:endParaRPr/>
          </a:p>
          <a:p>
            <a:r>
              <a:t>[Texto alternativo] Diagrama sobre «Una fuente real puede concentrar energía en ciertas direcciones»: patrones polares editables simples; gráfico cuantitativo real reservado a U04-102. La lectura central es que el nivel depende del ángulo, la frecuencia, el montaje y el entorno. Recurso principal: U04-DG-017.</a:t>
            </a:r>
          </a:p>
          <a:p>
            <a:endParaRPr/>
          </a:p>
          <a:p>
            <a:r>
              <a:t>[Sources]</a:t>
            </a:r>
          </a:p>
          <a:p>
            <a:r>
              <a:t>- PO; TEX 4.11; PDF pp. 106–107; figura 4.7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U04-100 · El factor Q compara concentración con una fuente omnidireccional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Interpretar el factor de directividad.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`Q` expresa cuántas veces aumenta la intensidad en una dirección respecto del reparto omnidireccional equivalente.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con dos fuentes comparadas a igual potencia/distancia.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`Q` expresa cuántas veces aumenta la intensidad en una dirección respecto del reparto omnidireccional equivalente.</a:t>
            </a:r>
          </a:p>
          <a:p>
            <a:endParaRPr/>
          </a:p>
          <a:p>
            <a:r>
              <a:t>**Énfasis / error frecuente:** Adoptar `Q` y no inventar un tercer “índice Q”; registrar dependencia de frecuencia.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Expresar la misma comparación en dB.</a:t>
            </a:r>
          </a:p>
          <a:p>
            <a:endParaRPr/>
          </a:p>
          <a:p>
            <a:r>
              <a:t>**Fuente de apoyo:** PO; TEX 4.11; PDF pp. 106–107; OD-U04-03; NOT; INV F-U04-26</a:t>
            </a:r>
          </a:p>
          <a:p>
            <a:endParaRPr/>
          </a:p>
          <a:p>
            <a:r>
              <a:t>[Texto alternativo] Ecuación anotada sobre «El factor `Q` compara concentración con una fuente omnidireccional»: ecuación anotada con dos fuentes comparadas a igual potencia/distancia. La lectura central es que `Q` expresa cuántas veces aumenta la intensidad en una dirección respecto del reparto omnidireccional equivalente. Recurso principal: U04-DG-017.</a:t>
            </a:r>
          </a:p>
          <a:p>
            <a:endParaRPr/>
          </a:p>
          <a:p>
            <a:r>
              <a:t>[Sources]</a:t>
            </a:r>
          </a:p>
          <a:p>
            <a:r>
              <a:t>- PO; TEX 4.11; PDF pp. 106–107; OD-U04-03; NOT; INV F-U04-26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U04-101 · El índice de directividad es DI=10log10(Q)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Relacionar factor lineal e índice logarítmico.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`Q=4` corresponde a `DI≈6,02 dB`.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y escala `Q↔DI`.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`Q=4` corresponde a `DI≈6,02 dB`.</a:t>
            </a:r>
          </a:p>
          <a:p>
            <a:endParaRPr/>
          </a:p>
          <a:p>
            <a:r>
              <a:t>**Énfasis / error frecuente:** Distinguir `DI` de nivel absoluto y declarar dirección/frecuencia.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Ver un patrón real como aplicación, no como adorno.</a:t>
            </a:r>
          </a:p>
          <a:p>
            <a:endParaRPr/>
          </a:p>
          <a:p>
            <a:r>
              <a:t>**Fuente de apoyo:** PO; TEX 4.11; PDF pp. 106–107; NOT; INV F-U04-27</a:t>
            </a:r>
          </a:p>
          <a:p>
            <a:endParaRPr/>
          </a:p>
          <a:p>
            <a:r>
              <a:t>[Texto alternativo] Ecuación anotada sobre «El índice de directividad es `DI=10log10(Q)`»: ecuación anotada y escala `Q↔DI`. La lectura central es que `Q=4` corresponde a `DI≈6,02 dB`. Recurso principal: U04-DG-017.</a:t>
            </a:r>
          </a:p>
          <a:p>
            <a:endParaRPr/>
          </a:p>
          <a:p>
            <a:r>
              <a:t>[Sources]</a:t>
            </a:r>
          </a:p>
          <a:p>
            <a:r>
              <a:t>- PO; TEX 4.11; PDF pp. 106–107; NOT; INV F-U04-27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U04-102 · Un patrón polar solo sirve si conocemos frecuencia y condiciones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Aplicar lectura técnica.</a:t>
            </a:r>
          </a:p>
          <a:p>
            <a:endParaRPr/>
          </a:p>
          <a:p>
            <a:r>
              <a:t>**Explicación extendida:** Presentar la situación profesional sin prometer una inferencia clínica mayor que la evidencia disponible. Separar fenómeno, sensor, procesamiento y decisión. Vínculo que debe quedar: La directividad cambia con frecuencia; un único contorno no describe toda la fuente.</a:t>
            </a:r>
          </a:p>
          <a:p>
            <a:endParaRPr/>
          </a:p>
          <a:p>
            <a:r>
              <a:t>**Guía para el visual o diagrama:** Identificar qué parte del recurso aporta evidencia y qué parte solo orienta. Usar U04-DG-017 como esquema conceptual mientras U04-CH-012 permanezca pendiente. Al aprobar el dataset abierto, reemplazar o complementar con patrones polares a dos o tres frecuencias, con ejes y condiciones declaradas.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 directividad cambia con frecuencia; un único contorno no describe toda la fuente.</a:t>
            </a:r>
          </a:p>
          <a:p>
            <a:endParaRPr/>
          </a:p>
          <a:p>
            <a:r>
              <a:t>**Énfasis / error frecuente:** Registrar fuente, frecuencia, normalización y condiciones de medición.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Integrar magnitudes, medición y límites del modelo.</a:t>
            </a:r>
          </a:p>
          <a:p>
            <a:endParaRPr/>
          </a:p>
          <a:p>
            <a:r>
              <a:t>**Fuente de apoyo:** PO; TEX 4.11; PDF pp. 106–107; figura 4.7; BR aplicaciones</a:t>
            </a:r>
          </a:p>
          <a:p>
            <a:endParaRPr/>
          </a:p>
          <a:p>
            <a:r>
              <a:t>[Texto alternativo] Diagrama conceptual alternativo sobre «Un patrón polar solo sirve si conocemos frecuencia y condiciones»: Usar U04-DG-017 como esquema conceptual mientras U04-CH-012 permanezca pendiente. Al aprobar el dataset abierto, reemplazar o complementar con patrones polares a dos o tres frecuencias, con ejes y condiciones declaradas. La lectura central es que la directividad cambia con frecuencia; un único contorno no describe toda la fuente. Recurso principal: U04-DG-017.</a:t>
            </a:r>
          </a:p>
          <a:p>
            <a:endParaRPr/>
          </a:p>
          <a:p>
            <a:r>
              <a:t>[Sources]</a:t>
            </a:r>
          </a:p>
          <a:p>
            <a:r>
              <a:t>- PO; TEX 4.11; PDF pp. 106–107; figura 4.7; BR aplicaciones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U04-103 · Medir sonido exige elegir variable, referencia y modelo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Abrir síntesis integradora.</a:t>
            </a:r>
          </a:p>
          <a:p>
            <a:endParaRPr/>
          </a:p>
          <a:p>
            <a:r>
              <a:t>**Explicación extendida:** Leer la pregunta guía y recuperar una respuesta del bloque anterior. Instalar el nuevo problema con lenguaje cotidiano; cerrar con el criterio que se construirá: Una lectura correcta conecta fenómeno, magnitud, procesamiento y condiciones de campo.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¿Qué permite interpretar una medición acústica en Fonoaudiología?</a:t>
            </a:r>
          </a:p>
          <a:p>
            <a:endParaRPr/>
          </a:p>
          <a:p>
            <a:r>
              <a:t>**Respuesta esperada:** Una lectura correcta conecta fenómeno, magnitud, procesamiento y condiciones de campo.</a:t>
            </a:r>
          </a:p>
          <a:p>
            <a:endParaRPr/>
          </a:p>
          <a:p>
            <a:r>
              <a:t>**Énfasis / error frecuente:** Retomar el mapa completo.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Aplicar la cadena a un instrumento cercano.</a:t>
            </a:r>
          </a:p>
          <a:p>
            <a:endParaRPr/>
          </a:p>
          <a:p>
            <a:r>
              <a:t>**Fuente de apoyo:** PO; TEX 4.12–4.17; PDF pp. 105–117; BR</a:t>
            </a:r>
          </a:p>
          <a:p>
            <a:endParaRPr/>
          </a:p>
          <a:p>
            <a:r>
              <a:t>[Texto alternativo] Slide tipográfica titulada «Medir sonido exige elegir variable, referencia y modelo»; destaca que una lectura correcta conecta fenómeno, magnitud, procesamiento y condiciones de campo.</a:t>
            </a:r>
          </a:p>
          <a:p>
            <a:endParaRPr/>
          </a:p>
          <a:p>
            <a:r>
              <a:t>[Sources]</a:t>
            </a:r>
          </a:p>
          <a:p>
            <a:r>
              <a:t>- PO; TEX 4.12–4.17; PDF pp. 105–117; BR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U04-104 · ¿Qué informa realmente un sonómetro o micrófono calibrado?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Integrar cadena de medición.</a:t>
            </a:r>
          </a:p>
          <a:p>
            <a:endParaRPr/>
          </a:p>
          <a:p>
            <a:r>
              <a:t>**Explicación extendida:** Presentar la situación profesional sin prometer una inferencia clínica mayor que la evidencia disponible. Separar fenómeno, sensor, procesamiento y decisión. Vínculo que debe quedar: El instrumento estima una magnitud en un punto y bajo ajustes declarados; no informa por sí solo percepción ni potencia total.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proceso de 6 nodos con cajas de condiciones; sin desarrollar ponderaciones.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El instrumento estima una magnitud en un punto y bajo ajustes declarados; no informa por sí solo percepción ni potencia total.</a:t>
            </a:r>
          </a:p>
          <a:p>
            <a:endParaRPr/>
          </a:p>
          <a:p>
            <a:r>
              <a:t>**Énfasis / error frecuente:** Diferenciar transductor, procesamiento y reporte; ponderaciones quedan para U10.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Proponer un caso que obligue a elegir modelo.</a:t>
            </a:r>
          </a:p>
          <a:p>
            <a:endParaRPr/>
          </a:p>
          <a:p>
            <a:r>
              <a:t>**Fuente de apoyo:** TEX 4.12; PDF p. 106; CM; GLO</a:t>
            </a:r>
          </a:p>
          <a:p>
            <a:endParaRPr/>
          </a:p>
          <a:p>
            <a:r>
              <a:t>[Texto alternativo] Diagrama sobre «¿Qué informa realmente un sonómetro o micrófono calibrado?»: proceso de 6 nodos con cajas de condiciones; sin desarrollar ponderaciones. La lectura central es que el instrumento estima una magnitud en un punto y bajo ajustes declarados; no informa por sí solo percepción ni potencia total. Recurso principal: U04-DG-018.</a:t>
            </a:r>
          </a:p>
          <a:p>
            <a:endParaRPr/>
          </a:p>
          <a:p>
            <a:r>
              <a:t>[Sources]</a:t>
            </a:r>
          </a:p>
          <a:p>
            <a:r>
              <a:t>- TEX 4.12; PDF p. 106; CM; GLO</a:t>
            </a:r>
          </a:p>
          <a:p>
            <a:r>
              <a:t>- https://commons.wikimedia.org/wiki/File:Sound_level_meter_Bruel_Kjaer.jpg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U04-105 · Caso integrador: dos fuentes, dos distancias y un recinto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Transferir decisiones sin cálculo excesivo.</a:t>
            </a:r>
          </a:p>
          <a:p>
            <a:endParaRPr/>
          </a:p>
          <a:p>
            <a:r>
              <a:t>**Explicación extendida:** Dar unos segundos de trabajo individual antes de escuchar respuestas. Organizar lo que aparezca alrededor del propósito de la slide: Transferir decisiones sin cálculo excesivo. No resolver por adelantado; usar como criterio de cierre que antes de calcular hay que identificar coherencia, geometría, campo, referencia y variable.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plano simple del caso con etiquetas; no resolver en la misma slide. No leer cada caja: usar el diagrama como guía y explicar la relación entre nodos.</a:t>
            </a:r>
          </a:p>
          <a:p>
            <a:endParaRPr/>
          </a:p>
          <a:p>
            <a:r>
              <a:t>**Pregunta al grupo:** ¿Qué dato debe conocerse antes de elegir una fórmula de suma?</a:t>
            </a:r>
          </a:p>
          <a:p>
            <a:endParaRPr/>
          </a:p>
          <a:p>
            <a:r>
              <a:t>**Respuesta esperada:** La relación temporal: fase estable/coherencia o ausencia de correlación durante la ventana.</a:t>
            </a:r>
          </a:p>
          <a:p>
            <a:endParaRPr/>
          </a:p>
          <a:p>
            <a:r>
              <a:t>**Énfasis / error frecuente:** Evaluar razonamiento y supuestos, no velocidad algebraica.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Convertir fallos del caso en lista de control.</a:t>
            </a:r>
          </a:p>
          <a:p>
            <a:endParaRPr/>
          </a:p>
          <a:p>
            <a:r>
              <a:t>**Fuente de apoyo:** TEX 4.8–4.12; PDF pp. 100–107; BR ejercicios</a:t>
            </a:r>
          </a:p>
          <a:p>
            <a:endParaRPr/>
          </a:p>
          <a:p>
            <a:r>
              <a:t>[Texto alternativo] Esquema mixto sobre «Caso integrador: dos fuentes, dos distancias y un recinto»: plano simple del caso con etiquetas; no resolver en la misma slide. La lectura central es que antes de calcular hay que identificar coherencia, geometría, campo, referencia y variable. Recurso principal: U04-DG-018.</a:t>
            </a:r>
          </a:p>
          <a:p>
            <a:endParaRPr/>
          </a:p>
          <a:p>
            <a:r>
              <a:t>[Sources]</a:t>
            </a:r>
          </a:p>
          <a:p>
            <a:r>
              <a:t>- TEX 4.8–4.12; PDF pp. 100–107; BR ejercicios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U04-106 · Siete atajos que producen respuestas incorrectas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Sintetizar errores conceptuales.</a:t>
            </a:r>
          </a:p>
          <a:p>
            <a:endParaRPr/>
          </a:p>
          <a:p>
            <a:r>
              <a:t>**Explicación extendida:** Mostrar primero la afirmación problemática y pedir un contraejemplo o la condición faltante. Corregirla nombrando la magnitud adecuada, sin reemplazarla por otra regla memorizada. Formulación correcta: Confundir magnitudes, referencias o dominios de validez cambia el significado del resultado.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lista priorizada en dos columnas con corrección mínima. No leer cada caja: usar el diagrama como guía y explicar la relación entre nodos.</a:t>
            </a:r>
          </a:p>
          <a:p>
            <a:endParaRPr/>
          </a:p>
          <a:p>
            <a:r>
              <a:t>**Pregunta al grupo:** ¿Qué condición o distinción falta en la afirmación «Siete atajos que producen respuestas incorrectas»?</a:t>
            </a:r>
          </a:p>
          <a:p>
            <a:endParaRPr/>
          </a:p>
          <a:p>
            <a:r>
              <a:t>**Respuesta esperada:** Confundir magnitudes, referencias o dominios de validez cambia el significado del resultado.</a:t>
            </a:r>
          </a:p>
          <a:p>
            <a:endParaRPr/>
          </a:p>
          <a:p>
            <a:r>
              <a:t>**Énfasis / error frecuente:** Pedir que cada estudiante corrija dos en lenguaje completo.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Pasar de errores a una red conceptual final.</a:t>
            </a:r>
          </a:p>
          <a:p>
            <a:endParaRPr/>
          </a:p>
          <a:p>
            <a:r>
              <a:t>**Fuente de apoyo:** BR errores; TEX 4.5–4.13; PDF pp. 92–107</a:t>
            </a:r>
          </a:p>
          <a:p>
            <a:endParaRPr/>
          </a:p>
          <a:p>
            <a:r>
              <a:t>[Texto alternativo] Diagrama sobre «Siete atajos que producen respuestas incorrectas»: lista priorizada en dos columnas con corrección mínima. La lectura central es que confundir magnitudes, referencias o dominios de validez cambia el significado del resultado. Recurso principal: U04-DG-018.</a:t>
            </a:r>
          </a:p>
          <a:p>
            <a:endParaRPr/>
          </a:p>
          <a:p>
            <a:r>
              <a:t>[Sources]</a:t>
            </a:r>
          </a:p>
          <a:p>
            <a:r>
              <a:t>- BR errores; TEX 4.5–4.13; PDF pp. 92–107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U04-107 · Del sonido como fenómeno a una medición interpretable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Reconstruir la unidad como sistema.</a:t>
            </a:r>
          </a:p>
          <a:p>
            <a:endParaRPr/>
          </a:p>
          <a:p>
            <a:r>
              <a:t>**Explicación extendida:** Usar recuperación activa: ocultar inicialmente las respuestas y pedir que completen el mapa o la matriz. Volver solo a los nodos que generen duda. La síntesis debe poder expresarse así: Fuente y medio producen un campo; magnitudes y descriptores permiten medirlo; niveles, geometría y directividad condicionan la interpretación.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mapa conceptual final derivado de U04-006, con revelado por bloques.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Fuente y medio producen un campo; magnitudes y descriptores permiten medirlo; niveles, geometría y directividad condicionan la interpretación.</a:t>
            </a:r>
          </a:p>
          <a:p>
            <a:endParaRPr/>
          </a:p>
          <a:p>
            <a:r>
              <a:t>**Énfasis / error frecuente:** Repetición pedagógica por integración jerárquica; no reenumerar todas las fórmulas.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Verificar objetivos mediante decisiones observables.</a:t>
            </a:r>
          </a:p>
          <a:p>
            <a:endParaRPr/>
          </a:p>
          <a:p>
            <a:r>
              <a:t>**Fuente de apoyo:** PO; TEX 4.3–4.13; PDF pp. 90–107; CM; CDM</a:t>
            </a:r>
          </a:p>
          <a:p>
            <a:endParaRPr/>
          </a:p>
          <a:p>
            <a:r>
              <a:t>[Texto alternativo] Diagrama sobre «Del sonido como fenómeno a una medición interpretable»: mapa conceptual final derivado de U04-006, con revelado por bloques. La lectura central es que fuente y medio producen un campo; magnitudes y descriptores permiten medirlo; niveles, geometría y directividad condicionan la interpretación. Recurso principal: U04-DG-002.</a:t>
            </a:r>
          </a:p>
          <a:p>
            <a:endParaRPr/>
          </a:p>
          <a:p>
            <a:r>
              <a:t>[Sources]</a:t>
            </a:r>
          </a:p>
          <a:p>
            <a:r>
              <a:t>- PO; TEX 4.3–4.13; PDF pp. 90–107; CM; CDM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U04-108 · ¿Qué podés explicar ahora que al inicio no podías?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Promover recuperación y autoevaluación.</a:t>
            </a:r>
          </a:p>
          <a:p>
            <a:endParaRPr/>
          </a:p>
          <a:p>
            <a:r>
              <a:t>**Explicación extendida:** Dar unos segundos de trabajo individual antes de escuchar respuestas. Organizar lo que aparezca alrededor del propósito de la slide: Promover recuperación y autoevaluación. No resolver por adelantado; usar como criterio de cierre que la comprensión se evidencia al distinguir, calcular bajo condiciones y justificar un modelo.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Elegí uno de los seis prompts y justificá la respuesta con magnitud, unidad o condición.</a:t>
            </a:r>
          </a:p>
          <a:p>
            <a:endParaRPr/>
          </a:p>
          <a:p>
            <a:r>
              <a:t>**Respuesta esperada:** La respuesta debe nombrar la variable y al menos una condición de validez; no alcanza con citar una regla numérica.</a:t>
            </a:r>
          </a:p>
          <a:p>
            <a:endParaRPr/>
          </a:p>
          <a:p>
            <a:r>
              <a:t>**Énfasis / error frecuente:** Comparar respuestas iniciales/finales sin calificar intuiciones de apertura.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Cerrar con el puente al análisis frecuencial.</a:t>
            </a:r>
          </a:p>
          <a:p>
            <a:endParaRPr/>
          </a:p>
          <a:p>
            <a:r>
              <a:t>**Fuente de apoyo:** BR objetivos; PO; U04-002–006</a:t>
            </a:r>
          </a:p>
          <a:p>
            <a:endParaRPr/>
          </a:p>
          <a:p>
            <a:r>
              <a:t>[Texto alternativo] Slide tipográfica titulada «¿Qué podés explicar ahora que al inicio no podías?»; destaca que la comprensión se evidencia al distinguir, calcular bajo condiciones y justificar un modelo.</a:t>
            </a:r>
          </a:p>
          <a:p>
            <a:endParaRPr/>
          </a:p>
          <a:p>
            <a:r>
              <a:t>[Sources]</a:t>
            </a:r>
          </a:p>
          <a:p>
            <a:r>
              <a:t>- BR objetivos; PO; U04-002–006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U04-109 · Un mismo RMS puede ocultar señales muy diferentes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Tender puente explícito a U5.</a:t>
            </a:r>
          </a:p>
          <a:p>
            <a:endParaRPr/>
          </a:p>
          <a:p>
            <a:r>
              <a:t>**Explicación extendida:** Comparar las dos señales sin entrar todavía en Fourier. Preguntar qué información falta pese a conocer el mismo RMS y dejar la pregunta abierta para U5. Cierre: Magnitudes globales describen tamaño; el contenido frecuencial explicará de qué componentes está formada la señal.</a:t>
            </a:r>
          </a:p>
          <a:p>
            <a:endParaRPr/>
          </a:p>
          <a:p>
            <a:r>
              <a:t>**Guía para el visual o diagrama:** Nombrar primero ejes, variables, unidades y escala. Después identificar una tendencia o ancla y recién entonces formular la conclusión. dos señales de igual RMS y distinta forma; espectros solo como silueta anticipatoria.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Magnitudes globales describen tamaño; el contenido frecuencial explicará de qué componentes está formada la señal.</a:t>
            </a:r>
          </a:p>
          <a:p>
            <a:endParaRPr/>
          </a:p>
          <a:p>
            <a:r>
              <a:t>**Énfasis / error frecuente:** No enseñar Fourier; dejar una necesidad auténtica para U5.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Fin de la ruta central.</a:t>
            </a:r>
          </a:p>
          <a:p>
            <a:endParaRPr/>
          </a:p>
          <a:p>
            <a:r>
              <a:t>**Fuente de apoyo:** CM U4→U5; CDM; TEX 4.7; PDF p. 97</a:t>
            </a:r>
          </a:p>
          <a:p>
            <a:endParaRPr/>
          </a:p>
          <a:p>
            <a:r>
              <a:t>[Texto alternativo] Gráfico sobre «Un mismo RMS puede ocultar señales muy diferentes»: dos señales de igual RMS y distinta forma; espectros solo como silueta anticipatoria. La lectura central es que magnitudes globales describen tamaño; el contenido frecuencial explicará de qué componentes está formada la señal. Recurso principal: U04-CH-006.</a:t>
            </a:r>
          </a:p>
          <a:p>
            <a:endParaRPr/>
          </a:p>
          <a:p>
            <a:r>
              <a:t>[Sources]</a:t>
            </a:r>
          </a:p>
          <a:p>
            <a:r>
              <a:t>- CM U4→U5; CDM; TEX 4.7; PDF p. 97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U04-110 · Recordatorio matemático: razones, potencias y logaritmos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Ofrecer apoyo bajo demanda.</a:t>
            </a:r>
          </a:p>
          <a:p>
            <a:endParaRPr/>
          </a:p>
          <a:p>
            <a:r>
              <a:t>**Explicación extendida:** Usar esta slide solo si la ruta central deja una duda concreta. Reconstruir el paso solicitado, mantener símbolos y unidades, y regresar a la slide de origen. Resultado conceptual: Las operaciones usadas pueden interpretarse sin un curso formal de logaritmos.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Ecuaciones editables y escala simple.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Las operaciones usadas pueden interpretarse sin un curso formal de logaritmos.</a:t>
            </a:r>
          </a:p>
          <a:p>
            <a:endParaRPr/>
          </a:p>
          <a:p>
            <a:r>
              <a:t>**Énfasis / error frecuente:** Usar solo si el diagnóstico muestra dificultad.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Volver a la slide que motivó la consulta.</a:t>
            </a:r>
          </a:p>
          <a:p>
            <a:endParaRPr/>
          </a:p>
          <a:p>
            <a:r>
              <a:t>**Fuente de apoyo:** BR prerrequisitos; U1; NOT</a:t>
            </a:r>
          </a:p>
          <a:p>
            <a:endParaRPr/>
          </a:p>
          <a:p>
            <a:r>
              <a:t>[Texto alternativo] Ecuación anotada sobre «Recordatorio matemático: razones, potencias y logaritmos»: Ecuaciones editables y escala simple. La lectura central es que las operaciones usadas pueden interpretarse sin un curso formal de logaritmos. Recurso principal: U04-DG-022.</a:t>
            </a:r>
          </a:p>
          <a:p>
            <a:endParaRPr/>
          </a:p>
          <a:p>
            <a:r>
              <a:t>[Sources]</a:t>
            </a:r>
          </a:p>
          <a:p>
            <a:r>
              <a:t>- BR prerrequisitos; U1; NOT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U04-111 · Promedio y RMS en datos discretos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Traducir integrales a muestras.</a:t>
            </a:r>
          </a:p>
          <a:p>
            <a:endParaRPr/>
          </a:p>
          <a:p>
            <a:r>
              <a:t>**Explicación extendida:** Usar esta slide solo si la ruta central deja una duda concreta. Reconstruir el paso solicitado, mantener símbolos y unidades, y regresar a la slide de origen. Resultado conceptual: Un registro digital aproxima las operaciones mediante sumas finitas.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ecuaciones anotadas con tabla de muestras.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Un registro digital aproxima las operaciones mediante sumas finitas.</a:t>
            </a:r>
          </a:p>
          <a:p>
            <a:endParaRPr/>
          </a:p>
          <a:p>
            <a:r>
              <a:t>**Énfasis / error frecuente:** No introducir frecuencia de muestreo en profundidad.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 U04-047 o U04-054.</a:t>
            </a:r>
          </a:p>
          <a:p>
            <a:endParaRPr/>
          </a:p>
          <a:p>
            <a:r>
              <a:t>**Fuente de apoyo:** TEX 4.6; PDF pp. 96–97; ED</a:t>
            </a:r>
          </a:p>
          <a:p>
            <a:endParaRPr/>
          </a:p>
          <a:p>
            <a:r>
              <a:t>[Texto alternativo] Ecuación anotada sobre «Promedio y RMS en datos discretos»: ecuaciones anotadas con tabla de muestras. La lectura central es que un registro digital aproxima las operaciones mediante sumas finitas. Recurso principal: U04-DG-012.</a:t>
            </a:r>
          </a:p>
          <a:p>
            <a:endParaRPr/>
          </a:p>
          <a:p>
            <a:r>
              <a:t>[Sources]</a:t>
            </a:r>
          </a:p>
          <a:p>
            <a:r>
              <a:t>- TEX 4.6; PDF pp. 96–97; 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U04-112 · Definiciones integrales de media, RMS e intensidad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Reunir formalismo extendido.</a:t>
            </a:r>
          </a:p>
          <a:p>
            <a:endParaRPr/>
          </a:p>
          <a:p>
            <a:r>
              <a:t>**Explicación extendida:** Usar esta slide solo si la ruta central deja una duda concreta. Reconstruir el paso solicitado, mantener símbolos y unidades, y regresar a la slide de origen. Resultado conceptual: Las tres operaciones comparten ventana pero promedian expresiones distintas.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tres ecuaciones alineadas y ventana común.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Las tres operaciones comparten ventana pero promedian expresiones distintas.</a:t>
            </a:r>
          </a:p>
          <a:p>
            <a:endParaRPr/>
          </a:p>
          <a:p>
            <a:r>
              <a:t>**Énfasis / error frecuente:** Destacar significado, no técnica de integración.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al bloque correspondiente.</a:t>
            </a:r>
          </a:p>
          <a:p>
            <a:endParaRPr/>
          </a:p>
          <a:p>
            <a:r>
              <a:t>**Fuente de apoyo:** TEX 4.5.5, 4.6.4–4.6.5; PDF pp. 94, 96–97</a:t>
            </a:r>
          </a:p>
          <a:p>
            <a:endParaRPr/>
          </a:p>
          <a:p>
            <a:r>
              <a:t>[Texto alternativo] Ecuación anotada sobre «Definiciones integrales de media, RMS e intensidad»: tres ecuaciones alineadas y ventana común. La lectura central es que las tres operaciones comparten ventana pero promedian expresiones distintas. Recurso principal: U04-DG-012.</a:t>
            </a:r>
          </a:p>
          <a:p>
            <a:endParaRPr/>
          </a:p>
          <a:p>
            <a:r>
              <a:t>[Sources]</a:t>
            </a:r>
          </a:p>
          <a:p>
            <a:r>
              <a:t>- TEX 4.5.5, 4.6.4–4.6.5; PDF pp. 94, 96–97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U04-113 · Reflexión: de Rₚ a fracción de intensidad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Profundizar coeficientes sin cargar la ruta central.</a:t>
            </a:r>
          </a:p>
          <a:p>
            <a:endParaRPr/>
          </a:p>
          <a:p>
            <a:r>
              <a:t>**Explicación extendida:** Pedir primero una estimación cualitativa. Resolver en el orden dato → relación válida → sustitución con unidades → resultado → interpretación. Hacer explícito el redondeo y volver a la condición del modelo. Conclusión: Para incidencia normal ideal, la relación energética requiere cuadrar magnitud y considerar condiciones.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interfaz y ecuaciones conectadas.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Para incidencia normal ideal, la relación energética requiere cuadrar magnitud y considerar condiciones.</a:t>
            </a:r>
          </a:p>
          <a:p>
            <a:endParaRPr/>
          </a:p>
          <a:p>
            <a:r>
              <a:t>**Énfasis / error frecuente:** Verificar convención y no confundir amplitud con energía.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Volver a la recapitulación B03.</a:t>
            </a:r>
          </a:p>
          <a:p>
            <a:endParaRPr/>
          </a:p>
          <a:p>
            <a:r>
              <a:t>**Fuente de apoyo:** TEX 4.5.4; PDF p. 93; INV F-U04-04–05</a:t>
            </a:r>
          </a:p>
          <a:p>
            <a:endParaRPr/>
          </a:p>
          <a:p>
            <a:r>
              <a:t>[Texto alternativo] Esquema mixto sobre «Reflexión: de `R_p` a fracción de intensidad»: interfaz y ecuaciones conectadas. La lectura central es que para incidencia normal ideal, la relación energética requiere cuadrar magnitud y considerar condiciones. Recurso principal: U04-CH-013.</a:t>
            </a:r>
          </a:p>
          <a:p>
            <a:endParaRPr/>
          </a:p>
          <a:p>
            <a:r>
              <a:t>[Sources]</a:t>
            </a:r>
          </a:p>
          <a:p>
            <a:r>
              <a:t>- TEX 4.5.4; PDF p. 93; INV F-U04-04–05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U04-114 · Referencias para LI y LW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Conservar detalle técnico rastreable.</a:t>
            </a:r>
          </a:p>
          <a:p>
            <a:endParaRPr/>
          </a:p>
          <a:p>
            <a:r>
              <a:t>**Explicación extendida:** Usar esta slide solo si la ruta central deja una duda concreta. Reconstruir el paso solicitado, mantener símbolos y unidades, y regresar a la slide de origen. Resultado conceptual: Cada nivel exige una referencia de la misma magnitud.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Cada nivel exige una referencia de la misma magnitud.</a:t>
            </a:r>
          </a:p>
          <a:p>
            <a:endParaRPr/>
          </a:p>
          <a:p>
            <a:r>
              <a:t>**Énfasis / error frecuente:** Confirmar valores durante slide-writing contra la fuente primaria.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 B07.</a:t>
            </a:r>
          </a:p>
          <a:p>
            <a:endParaRPr/>
          </a:p>
          <a:p>
            <a:r>
              <a:t>**Fuente de apoyo:** TEX 4.7.2–4.8.3; PDF pp. 99–100</a:t>
            </a:r>
          </a:p>
          <a:p>
            <a:endParaRPr/>
          </a:p>
          <a:p>
            <a:r>
              <a:t>[Texto alternativo] Slide tipográfica titulada «Referencias para `L_I` y `L_W`»; destaca que cada nivel exige una referencia de la misma magnitud.</a:t>
            </a:r>
          </a:p>
          <a:p>
            <a:endParaRPr/>
          </a:p>
          <a:p>
            <a:r>
              <a:t>[Sources]</a:t>
            </a:r>
          </a:p>
          <a:p>
            <a:r>
              <a:t>- TEX 4.7.2–4.8.3; PDF pp. 99–100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U04-115 · Entre coherente y no correlacionado existe correlación parcial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Evitar una falsa dicotomía para quien pregunte.</a:t>
            </a:r>
          </a:p>
          <a:p>
            <a:endParaRPr/>
          </a:p>
          <a:p>
            <a:r>
              <a:t>**Explicación extendida:** Usar esta slide solo si la ruta central deja una duda concreta. Reconstruir el paso solicitado, mantener símbolos y unidades, y regresar a la slide de origen. Resultado conceptual: Un coeficiente de correlación puede conservar parte del término cruzado.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continuo `γ=-1…1` y ecuación anotada.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Un coeficiente de correlación puede conservar parte del término cruzado.</a:t>
            </a:r>
          </a:p>
          <a:p>
            <a:endParaRPr/>
          </a:p>
          <a:p>
            <a:r>
              <a:t>**Énfasis / error frecuente:** Presentar como ampliación didáctica, no como requisito del programa.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al árbol de suma.</a:t>
            </a:r>
          </a:p>
          <a:p>
            <a:endParaRPr/>
          </a:p>
          <a:p>
            <a:r>
              <a:t>**Fuente de apoyo:** ED; TEX 4.8 como base; OD-U04-04</a:t>
            </a:r>
          </a:p>
          <a:p>
            <a:endParaRPr/>
          </a:p>
          <a:p>
            <a:r>
              <a:t>[Texto alternativo] Ecuación anotada sobre «Entre coherente y no correlacionado existe correlación parcial»: continuo `γ=-1…1` y ecuación anotada. La lectura central es que un coeficiente de correlación puede conservar parte del término cruzado. Recurso principal: U04-DG-014.</a:t>
            </a:r>
          </a:p>
          <a:p>
            <a:endParaRPr/>
          </a:p>
          <a:p>
            <a:r>
              <a:t>[Sources]</a:t>
            </a:r>
          </a:p>
          <a:p>
            <a:r>
              <a:t>- ED; TEX 4.8 como base; OD-U04-04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U04-116 · Reverberante y difuso: condiciones y límites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Ampliar terminología de campos.</a:t>
            </a:r>
          </a:p>
          <a:p>
            <a:endParaRPr/>
          </a:p>
          <a:p>
            <a:r>
              <a:t>**Explicación extendida:** Usar esta slide solo si la ruta central deja una duda concreta. Reconstruir el paso solicitado, mantener símbolos y unidades, y regresar a la slide de origen. Resultado conceptual: Un campo reverberante real puede aproximarse a difuso solo bajo ciertas condiciones.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recinto y distribuciones angulares; sin datos inventados.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Un campo reverberante real puede aproximarse a difuso solo bajo ciertas condiciones.</a:t>
            </a:r>
          </a:p>
          <a:p>
            <a:endParaRPr/>
          </a:p>
          <a:p>
            <a:r>
              <a:t>**Énfasis / error frecuente:** Registrar ampliaciones externas si se incorporan en producción.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 B09.</a:t>
            </a:r>
          </a:p>
          <a:p>
            <a:endParaRPr/>
          </a:p>
          <a:p>
            <a:r>
              <a:t>**Fuente de apoyo:** TEX 4.9.1; PDF pp. 105–106; ED</a:t>
            </a:r>
          </a:p>
          <a:p>
            <a:endParaRPr/>
          </a:p>
          <a:p>
            <a:r>
              <a:t>[Texto alternativo] Diagrama sobre «Reverberante y difuso: condiciones y límites»: recinto y distribuciones angulares; sin datos inventados. La lectura central es que un campo reverberante real puede aproximarse a difuso solo bajo ciertas condiciones. Recurso principal: U04-DG-015.</a:t>
            </a:r>
          </a:p>
          <a:p>
            <a:endParaRPr/>
          </a:p>
          <a:p>
            <a:r>
              <a:t>[Sources]</a:t>
            </a:r>
          </a:p>
          <a:p>
            <a:r>
              <a:t>- TEX 4.9.1; PDF pp. 105–106; 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U04-117 · Onda cilíndrica: cambio por duplicar distancia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Resolver el caso obligatorio menos intuitivo.</a:t>
            </a:r>
          </a:p>
          <a:p>
            <a:endParaRPr/>
          </a:p>
          <a:p>
            <a:r>
              <a:t>**Explicación extendida:** Pedir primero una estimación cualitativa. Resolver en el orden dato → relación válida → sustitución con unidades → resultado → interpretación. Hacer explícito el redondeo y volver a la condición del modelo. Conclusión: Si `I∝1/r`, duplicar distancia produce `−3,01 dB` en intensidad/nivel bajo el modelo ideal.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curva `1/r`; ecuaciones editables.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Si `I∝1/r`, duplicar distancia produce `−3,01 dB` en intensidad/nivel bajo el modelo ideal.</a:t>
            </a:r>
          </a:p>
          <a:p>
            <a:endParaRPr/>
          </a:p>
          <a:p>
            <a:r>
              <a:t>**Énfasis / error frecuente:** No trasladar la regla a fuentes lineales finitas fuera de su región.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 comparación geométrica.</a:t>
            </a:r>
          </a:p>
          <a:p>
            <a:endParaRPr/>
          </a:p>
          <a:p>
            <a:r>
              <a:t>**Fuente de apoyo:** TEX 4.9; PDF pp. 103–104; INV</a:t>
            </a:r>
          </a:p>
          <a:p>
            <a:endParaRPr/>
          </a:p>
          <a:p>
            <a:r>
              <a:t>[Texto alternativo] Esquema mixto sobre «Onda cilíndrica: cambio por duplicar distancia»: curva `1/r`; ecuaciones editables. La lectura central es que si `I∝1/r`, duplicar distancia produce `−3,01 dB` en intensidad/nivel bajo el modelo ideal. Recurso principal: U04-CH-010.</a:t>
            </a:r>
          </a:p>
          <a:p>
            <a:endParaRPr/>
          </a:p>
          <a:p>
            <a:r>
              <a:t>[Sources]</a:t>
            </a:r>
          </a:p>
          <a:p>
            <a:r>
              <a:t>- TEX 4.9; PDF pp. 103–104; INV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U04-118 · Derivación algebraica completa de la ley de distancia</a:t>
            </a:r>
          </a:p>
          <a:p>
            <a:endParaRPr/>
          </a:p>
          <a:p>
            <a:r>
              <a:t>**Duración aproximada:** 6 min</a:t>
            </a:r>
          </a:p>
          <a:p>
            <a:endParaRPr/>
          </a:p>
          <a:p>
            <a:r>
              <a:t>**Propósito:** Conservar pasos para consulta.</a:t>
            </a:r>
          </a:p>
          <a:p>
            <a:endParaRPr/>
          </a:p>
          <a:p>
            <a:r>
              <a:t>**Explicación extendida:** Usar esta slide solo si la ruta central deja una duda concreta. Reconstruir el paso solicitado, mantener símbolos y unidades, y regresar a la slide de origen. Resultado conceptual: La diferencia de nivel surge al combinar área esférica, razón de intensidades y logaritmos.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derivación en cuatro etapas, 28 pt mínimo.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 diferencia de nivel surge al combinar área esférica, razón de intensidades y logaritmos.</a:t>
            </a:r>
          </a:p>
          <a:p>
            <a:endParaRPr/>
          </a:p>
          <a:p>
            <a:r>
              <a:t>**Énfasis / error frecuente:** Usar como apoyo docente, no como prerequisito para aplicar la ley.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 U04-094.</a:t>
            </a:r>
          </a:p>
          <a:p>
            <a:endParaRPr/>
          </a:p>
          <a:p>
            <a:r>
              <a:t>**Fuente de apoyo:** TEX 4.10; PDF pp. 104–105; INV</a:t>
            </a:r>
          </a:p>
          <a:p>
            <a:endParaRPr/>
          </a:p>
          <a:p>
            <a:r>
              <a:t>[Texto alternativo] Ecuación anotada sobre «Derivación algebraica completa de la ley de distancia»: derivación en cuatro etapas, 28 pt mínimo. La lectura central es que la diferencia de nivel surge al combinar área esférica, razón de intensidades y logaritmos. Recurso principal: U04-DG-016.</a:t>
            </a:r>
          </a:p>
          <a:p>
            <a:endParaRPr/>
          </a:p>
          <a:p>
            <a:r>
              <a:t>[Sources]</a:t>
            </a:r>
          </a:p>
          <a:p>
            <a:r>
              <a:t>- TEX 4.10; PDF pp. 104–105; INV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U04-119 · Respuestas del diagnóstico inicial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Hacer recuperable la retroalimentación.</a:t>
            </a:r>
          </a:p>
          <a:p>
            <a:endParaRPr/>
          </a:p>
          <a:p>
            <a:r>
              <a:t>**Explicación extendida:** Usar esta slide solo si la ruta central deja una duda concreta. Reconstruir el paso solicitado, mantener símbolos y unidades, y regresar a la slide de origen. Resultado conceptual: Cada respuesta correcta debe incluir la condición que la vuelve válida.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Cada respuesta correcta debe incluir la condición que la vuelve válida.</a:t>
            </a:r>
          </a:p>
          <a:p>
            <a:endParaRPr/>
          </a:p>
          <a:p>
            <a:r>
              <a:t>**Énfasis / error frecuente:** Mostrar después de la discusión, nunca durante el diagnóstico.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 la ruta central.</a:t>
            </a:r>
          </a:p>
          <a:p>
            <a:endParaRPr/>
          </a:p>
          <a:p>
            <a:r>
              <a:t>**Fuente de apoyo:** BR; U04-003</a:t>
            </a:r>
          </a:p>
          <a:p>
            <a:endParaRPr/>
          </a:p>
          <a:p>
            <a:r>
              <a:t>[Texto alternativo] Slide tipográfica titulada «Respuestas del diagnóstico inicial»; destaca que cada respuesta correcta debe incluir la condición que la vuelve válida.</a:t>
            </a:r>
          </a:p>
          <a:p>
            <a:endParaRPr/>
          </a:p>
          <a:p>
            <a:r>
              <a:t>[Sources]</a:t>
            </a:r>
          </a:p>
          <a:p>
            <a:r>
              <a:t>- BR; U04-003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U04-120 · Solución del ejercicio de RMS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Proporcionar feedback paso a paso.</a:t>
            </a:r>
          </a:p>
          <a:p>
            <a:endParaRPr/>
          </a:p>
          <a:p>
            <a:r>
              <a:t>**Explicación extendida:** Usar esta slide solo si la ruta central deja una duda concreta. Reconstruir el paso solicitado, mantener símbolos y unidades, y regresar a la slide de origen. Resultado conceptual: La forma de onda determina si puede usarse el factor sinusoidal.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Ecuaciones editables más mini señales.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 forma de onda determina si puede usarse el factor sinusoidal.</a:t>
            </a:r>
          </a:p>
          <a:p>
            <a:endParaRPr/>
          </a:p>
          <a:p>
            <a:r>
              <a:t>**Énfasis / error frecuente:** Hacer explícita la decisión anterior al cálculo.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 U04-058.</a:t>
            </a:r>
          </a:p>
          <a:p>
            <a:endParaRPr/>
          </a:p>
          <a:p>
            <a:r>
              <a:t>**Fuente de apoyo:** TEX 4.6.5; PDF p. 97; U04-056</a:t>
            </a:r>
          </a:p>
          <a:p>
            <a:endParaRPr/>
          </a:p>
          <a:p>
            <a:r>
              <a:t>[Texto alternativo] Esquema mixto sobre «Solución del ejercicio de RMS»: Ecuaciones editables más mini señales. La lectura central es que la forma de onda determina si puede usarse el factor sinusoidal. Recurso principal: U04-DG-022.</a:t>
            </a:r>
          </a:p>
          <a:p>
            <a:endParaRPr/>
          </a:p>
          <a:p>
            <a:r>
              <a:t>[Sources]</a:t>
            </a:r>
          </a:p>
          <a:p>
            <a:r>
              <a:t>- TEX 4.6.5; PDF p. 97; U04-056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U04-121 · Suma de niveles desiguales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Extender el ejemplo de dos niveles iguales.</a:t>
            </a:r>
          </a:p>
          <a:p>
            <a:endParaRPr/>
          </a:p>
          <a:p>
            <a:r>
              <a:t>**Explicación extendida:** Usar esta slide solo si la ruta central deja una duda concreta. Reconstruir el paso solicitado, mantener símbolos y unidades, y regresar a la slide de origen. Resultado conceptual: La contribución de una fuente mucho menor puede ser pequeña pero no se suma aritméticamente.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incremento total frente a diferencia de niveles.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 contribución de una fuente mucho menor puede ser pequeña pero no se suma aritméticamente.</a:t>
            </a:r>
          </a:p>
          <a:p>
            <a:endParaRPr/>
          </a:p>
          <a:p>
            <a:r>
              <a:t>**Énfasis / error frecuente:** No convertir la tabla de atajos en regla sin fundamento.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 B08.</a:t>
            </a:r>
          </a:p>
          <a:p>
            <a:endParaRPr/>
          </a:p>
          <a:p>
            <a:r>
              <a:t>**Fuente de apoyo:** TEX 4.8.2; PDF pp. 101–102; ED</a:t>
            </a:r>
          </a:p>
          <a:p>
            <a:endParaRPr/>
          </a:p>
          <a:p>
            <a:r>
              <a:t>[Texto alternativo] Esquema mixto sobre «Suma de niveles desiguales»: incremento total frente a diferencia de niveles. La lectura central es que la contribución de una fuente mucho menor puede ser pequeña pero no se suma aritméticamente. Recurso principal: U04-CH-014.</a:t>
            </a:r>
          </a:p>
          <a:p>
            <a:endParaRPr/>
          </a:p>
          <a:p>
            <a:r>
              <a:t>[Sources]</a:t>
            </a:r>
          </a:p>
          <a:p>
            <a:r>
              <a:t>- TEX 4.8.2; PDF pp. 101–102; 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U04-122 · Suma coherente con fase π/2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Mostrar un caso intermedio.</a:t>
            </a:r>
          </a:p>
          <a:p>
            <a:endParaRPr/>
          </a:p>
          <a:p>
            <a:r>
              <a:t>**Explicación extendida:** Usar esta slide solo si la ruta central deja una duda concreta. Reconstruir el paso solicitado, mantener símbolos y unidades, y regresar a la slide de origen. Resultado conceptual: La fase intermedia conserva el término cruzado sin producir máximo ni cancelación.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señales en cuadratura y suma; ecuación editable.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 fase intermedia conserva el término cruzado sin producir máximo ni cancelación.</a:t>
            </a:r>
          </a:p>
          <a:p>
            <a:endParaRPr/>
          </a:p>
          <a:p>
            <a:r>
              <a:t>**Énfasis / error frecuente:** Mantener una sola frecuencia y amplitudes declaradas.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 U04-072.</a:t>
            </a:r>
          </a:p>
          <a:p>
            <a:endParaRPr/>
          </a:p>
          <a:p>
            <a:r>
              <a:t>**Fuente de apoyo:** TEX 4.8.1; PDF pp. 100–101; U04-073</a:t>
            </a:r>
          </a:p>
          <a:p>
            <a:endParaRPr/>
          </a:p>
          <a:p>
            <a:r>
              <a:t>[Texto alternativo] Esquema mixto sobre «Suma coherente con fase `π/2`»: señales en cuadratura y suma; ecuación editable. La lectura central es que la fase intermedia conserva el término cruzado sin producir máximo ni cancelación. Recurso principal: U04-CH-008.</a:t>
            </a:r>
          </a:p>
          <a:p>
            <a:endParaRPr/>
          </a:p>
          <a:p>
            <a:r>
              <a:t>[Sources]</a:t>
            </a:r>
          </a:p>
          <a:p>
            <a:r>
              <a:t>- TEX 4.8.1; PDF pp. 100–101; U04-073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U04-123 · Distancia y directividad en un mismo cálculo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Integrar dos factores con supuestos explícitos.</a:t>
            </a:r>
          </a:p>
          <a:p>
            <a:endParaRPr/>
          </a:p>
          <a:p>
            <a:r>
              <a:t>**Explicación extendida:** Usar esta slide solo si la ruta central deja una duda concreta. Reconstruir el paso solicitado, mantener símbolos y unidades, y regresar a la slide de origen. Resultado conceptual: El cambio radial y la ganancia direccional pueden combinarse en nivel si comparten referencia y modelo.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fuente direccional, dos puntos y ecuaciones por etapas.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El cambio radial y la ganancia direccional pueden combinarse en nivel si comparten referencia y modelo.</a:t>
            </a:r>
          </a:p>
          <a:p>
            <a:endParaRPr/>
          </a:p>
          <a:p>
            <a:r>
              <a:t>**Énfasis / error frecuente:** No añadir absorción ni reflexión a un ejercicio de foco conceptual.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 B10.</a:t>
            </a:r>
          </a:p>
          <a:p>
            <a:endParaRPr/>
          </a:p>
          <a:p>
            <a:r>
              <a:t>**Fuente de apoyo:** TEX 4.10–4.11; PDF pp. 104–107</a:t>
            </a:r>
          </a:p>
          <a:p>
            <a:endParaRPr/>
          </a:p>
          <a:p>
            <a:r>
              <a:t>[Texto alternativo] Esquema mixto sobre «Distancia y directividad en un mismo cálculo»: fuente direccional, dos puntos y ecuaciones por etapas. La lectura central es que el cambio radial y la ganancia direccional pueden combinarse en nivel si comparten referencia y modelo. Recurso principal: U04-DG-020.</a:t>
            </a:r>
          </a:p>
          <a:p>
            <a:endParaRPr/>
          </a:p>
          <a:p>
            <a:r>
              <a:t>[Sources]</a:t>
            </a:r>
          </a:p>
          <a:p>
            <a:r>
              <a:t>- TEX 4.10–4.11; PDF pp. 104–107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U04-124 · Solución razonada del caso integrador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Retroalimentar diagnóstico de modelo.</a:t>
            </a:r>
          </a:p>
          <a:p>
            <a:endParaRPr/>
          </a:p>
          <a:p>
            <a:r>
              <a:t>**Explicación extendida:** Usar esta slide solo si la ruta central deja una duda concreta. Reconstruir el paso solicitado, mantener símbolos y unidades, y regresar a la slide de origen. Resultado conceptual: La calidad de la solución depende de declarar qué puede y qué no puede calcularse.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mismo plano del caso con capas de solución.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 calidad de la solución depende de declarar qué puede y qué no puede calcularse.</a:t>
            </a:r>
          </a:p>
          <a:p>
            <a:endParaRPr/>
          </a:p>
          <a:p>
            <a:r>
              <a:t>**Énfasis / error frecuente:** Valorar justificaciones y detectar datos insuficientes.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al cierre.</a:t>
            </a:r>
          </a:p>
          <a:p>
            <a:endParaRPr/>
          </a:p>
          <a:p>
            <a:r>
              <a:t>**Fuente de apoyo:** U04-105; TEX 4.9–4.13; PDF pp. 100–107</a:t>
            </a:r>
          </a:p>
          <a:p>
            <a:endParaRPr/>
          </a:p>
          <a:p>
            <a:r>
              <a:t>[Texto alternativo] Esquema mixto sobre «Solución razonada del caso integrador»: mismo plano del caso con capas de solución. La lectura central es que la calidad de la solución depende de declarar qué puede y qué no puede calcularse. Recurso principal: U04-DG-018.</a:t>
            </a:r>
          </a:p>
          <a:p>
            <a:endParaRPr/>
          </a:p>
          <a:p>
            <a:r>
              <a:t>[Sources]</a:t>
            </a:r>
          </a:p>
          <a:p>
            <a:r>
              <a:t>- U04-105; TEX 4.9–4.13; PDF pp. 100–107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U04-125 · Notación, glosario y fuentes de la unidad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Facilitar consulta y trazabilidad.</a:t>
            </a:r>
          </a:p>
          <a:p>
            <a:endParaRPr/>
          </a:p>
          <a:p>
            <a:r>
              <a:t>**Explicación extendida:** Desarrollar el alcance aprobado —Tabla de símbolos/unidades, decisiones `W_ac`, `Q`, `DI` y fuentes principales— y vincular cada afirmación con una magnitud, unidad, referencia o condición. Idea central: Símbolos y referencias deben mantenerse coherentes entre unidades.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Símbolos y referencias deben mantenerse coherentes entre unidades.</a:t>
            </a:r>
          </a:p>
          <a:p>
            <a:endParaRPr/>
          </a:p>
          <a:p>
            <a:r>
              <a:t>**Énfasis / error frecuente:** Señalar decisiones provisionales pendientes de validación docente.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Fin del respaldo.</a:t>
            </a:r>
          </a:p>
          <a:p>
            <a:endParaRPr/>
          </a:p>
          <a:p>
            <a:r>
              <a:t>**Fuente de apoyo:** NOT; GLO; SA; OD; PO; TEX; PDF</a:t>
            </a:r>
          </a:p>
          <a:p>
            <a:endParaRPr/>
          </a:p>
          <a:p>
            <a:r>
              <a:t>[Texto alternativo] Slide tipográfica titulada «Notación, glosario y fuentes de la unidad»; destaca que símbolos y referencias deben mantenerse coherentes entre unidades.</a:t>
            </a:r>
          </a:p>
          <a:p>
            <a:endParaRPr/>
          </a:p>
          <a:p>
            <a:r>
              <a:t>[Sources]</a:t>
            </a:r>
          </a:p>
          <a:p>
            <a:r>
              <a:t>- NOT; GLO; SA; OD; PO; TEX; 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FA_02_OBJETIV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4E7B686E-D1DB-4795-5290-247ED77443BC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Objetivos de aprendizaje</a:t>
            </a:r>
          </a:p>
        </p:txBody>
      </p:sp>
      <p:sp>
        <p:nvSpPr>
          <p:cNvPr id="3" name="ph_body_0">
            <a:extLst>
              <a:ext uri="{FF2B5EF4-FFF2-40B4-BE49-F238E27FC236}">
                <a16:creationId xmlns:a16="http://schemas.microsoft.com/office/drawing/2014/main" id="{F07F7DEC-A90F-3966-89A5-75E897AE30F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0100" y="1733550"/>
            <a:ext cx="80010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Objetivos observables</a:t>
            </a:r>
          </a:p>
        </p:txBody>
      </p:sp>
      <p:sp>
        <p:nvSpPr>
          <p:cNvPr id="4" name="ph_content_0">
            <a:extLst>
              <a:ext uri="{FF2B5EF4-FFF2-40B4-BE49-F238E27FC236}">
                <a16:creationId xmlns:a16="http://schemas.microsoft.com/office/drawing/2014/main" id="{D4921F09-2F28-54BE-F644-07838B22BCE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144000" y="1752600"/>
            <a:ext cx="2286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Síntesis visual</a:t>
            </a:r>
          </a:p>
        </p:txBody>
      </p:sp>
      <p:sp>
        <p:nvSpPr>
          <p:cNvPr id="5" name="fa_slide_number">
            <a:extLst>
              <a:ext uri="{FF2B5EF4-FFF2-40B4-BE49-F238E27FC236}">
                <a16:creationId xmlns:a16="http://schemas.microsoft.com/office/drawing/2014/main" id="{1912B5C8-473B-C77D-A05F-B105E16C686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93598C6-FC0D-4EB0-AFF4-EF34A482731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3_APE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4F817AC1-63E9-74A3-6EEF-E53D71A0508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Apéndice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3A72ED7B-043F-EB18-1C28-92B596F251B2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10668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Material de consulta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54E6216A-7B06-7D20-00D4-14737599E1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89BA0A7D-AABB-4192-B838-2BA5BB3178BC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2_VISUAL_COMPL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B0072429-6B7A-69F4-3F2D-C2B17968DFE0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picture_0">
            <a:extLst>
              <a:ext uri="{FF2B5EF4-FFF2-40B4-BE49-F238E27FC236}">
                <a16:creationId xmlns:a16="http://schemas.microsoft.com/office/drawing/2014/main" id="{F9D8C064-C5F2-F9D4-1C9F-C48CF1E689A0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2000" y="1562100"/>
            <a:ext cx="10668000" cy="42100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Visual principal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BEAB57CB-6BFE-7577-9B58-D0EA985A28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DBBF5632-20E4-4D54-B3A4-92C990DA26E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0_BIBLIO_RECURS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9FB78823-06A2-4172-6192-1B829F9AB87F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Bibliografía y recursos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009E4BB4-6F84-BBB7-BD01-0716EEE41AB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10668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Referencias y enlaces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FCDD5430-4EE5-8B4D-B583-289E640823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E8732B64-9C97-4971-8B5F-42781D28760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9_MEDIA_AUDIO_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B0CDC979-FF33-3EDD-88CD-DF60D4B1D61C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Video, GIF o audio</a:t>
            </a:r>
          </a:p>
        </p:txBody>
      </p:sp>
      <p:sp>
        <p:nvSpPr>
          <p:cNvPr id="7" name="ph_media_0">
            <a:extLst>
              <a:ext uri="{FF2B5EF4-FFF2-40B4-BE49-F238E27FC236}">
                <a16:creationId xmlns:a16="http://schemas.microsoft.com/office/drawing/2014/main" id="{079FCF96-20BE-7B92-B825-972A93B10A07}"/>
              </a:ext>
            </a:extLst>
          </p:cNvPr>
          <p:cNvSpPr>
            <a:spLocks noGrp="1"/>
          </p:cNvSpPr>
          <p:nvPr>
            <p:ph type="media" idx="11" hasCustomPrompt="1"/>
          </p:nvPr>
        </p:nvSpPr>
        <p:spPr>
          <a:xfrm>
            <a:off x="762000" y="1657350"/>
            <a:ext cx="7239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Video, GIF o audio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F555F5DB-607B-02A3-9FCF-CDD66D2EF793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382000" y="1657350"/>
            <a:ext cx="3048000" cy="3714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Consigna de observación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B834D89-9F78-BAC7-245C-165FD788A32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076EB7A8-105E-44D9-AF9B-E4B002172AD7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8_TABLA_DA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409A66DE-F76D-5BAF-6FEA-DF1908C43A1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Tabla o datos</a:t>
            </a:r>
          </a:p>
        </p:txBody>
      </p:sp>
      <p:sp>
        <p:nvSpPr>
          <p:cNvPr id="7" name="ph_table_0">
            <a:extLst>
              <a:ext uri="{FF2B5EF4-FFF2-40B4-BE49-F238E27FC236}">
                <a16:creationId xmlns:a16="http://schemas.microsoft.com/office/drawing/2014/main" id="{4C0D0D26-F100-8659-00EA-2409004E2AEE}"/>
              </a:ext>
            </a:extLst>
          </p:cNvPr>
          <p:cNvSpPr>
            <a:spLocks noGrp="1"/>
          </p:cNvSpPr>
          <p:nvPr>
            <p:ph type="tbl" idx="11" hasCustomPrompt="1"/>
          </p:nvPr>
        </p:nvSpPr>
        <p:spPr>
          <a:xfrm>
            <a:off x="762000" y="1676400"/>
            <a:ext cx="1066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Tabla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B5DAB8AD-C9A2-9783-CB90-DB0CFE8EF09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62000" y="5581650"/>
            <a:ext cx="10668000" cy="419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Lectura principal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7408CF10-5CC7-0648-9A06-15F7433C703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FEE56A1-BB6C-438D-8886-FF44760C7C6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7_RECAP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58A1AFD7-74FA-41E6-94B3-B5C8DDCED2B7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Recapitulación final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DE1EB0DD-8791-1A8B-9D62-CD8B1EF3E7B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695450"/>
            <a:ext cx="1066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Mapa de conceptos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85F550E7-9C54-188B-FFC4-467A63CBBB3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56A0307-F779-4344-B886-D9280EB668B3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6_RECAP_PAR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39229E1F-564D-1252-8752-640CDDC94936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Resumen parcial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26942BEC-4BB7-68A8-5D3D-0F2E7C8C878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68580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Ideas consolidadas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58A41835-9B86-B2F7-FDEB-E572198A44F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01000" y="1676400"/>
            <a:ext cx="3429000" cy="31432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Llamada de recapitulación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9448B502-DD56-36BC-C80F-26C3FDF379C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33687D1-4041-4057-AFDA-E8313599D52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5_ERROR_FRECU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DF6D93D-81D3-09A3-9451-58354AAA940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Error frecuente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BEE8D141-1A7B-E1E2-4278-DACF5AEFFBB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2500" y="1809750"/>
            <a:ext cx="10287000" cy="17145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incorrecta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51AAF03A-25D3-5D01-FCF9-2955539C92E3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143000" y="3905250"/>
            <a:ext cx="9906000" cy="1714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Corrección razonada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2EC62D10-711F-D9B1-7D3A-18749CF1A78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DAFD395-8463-4588-B260-79B86AAD3E5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4B_MINI_EJERC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C11DF7D-DCF3-07BF-2350-3CEDB78BCA73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Mini ejercicio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FFBA6A1-CB2F-C08F-96BB-D862AE72699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6477000" cy="3429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Consigna y datos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91DCAFC2-EA6E-2D23-3B41-A0752099656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20000" y="1695450"/>
            <a:ext cx="3810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Espacio de resolución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A0621BFB-671E-D2BB-46AB-1C4FC083387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81336448-9F7A-438A-9B1D-8F6491D8747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4_PREGUNTA_EJERC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622FF81E-C3C8-AD07-DE0B-DA2CA2611D1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Pregunta al curso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FB5F4DDD-6CFB-7D47-14E7-EA043E89CA2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333500" y="2000250"/>
            <a:ext cx="9525000" cy="20955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Pregunta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543AE4C9-62D3-B123-DF7D-6CA4CFF8C65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524000" y="4457700"/>
            <a:ext cx="9144000" cy="1047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Pistas para discutir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81D1303B-53FE-8249-310B-E605F0EE156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CFE78DF-3976-48C8-961D-AA1C8CA99F0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3_APLICACION_CLIN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DDD03774-96DE-DA2F-A511-71B36099D23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Aplicación a Fonoaudiología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F907AE9-FAD6-BFC9-BD52-A97C988A7F5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714500"/>
            <a:ext cx="5715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Concepto físico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714E50E2-E1DA-3206-B850-EA65C2FD7D1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858000" y="1714500"/>
            <a:ext cx="4572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Aplicación clínica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51F74211-E68E-8F63-B477-ED892A0B76ED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330D82D-5740-4471-AF56-8696EEE2E4B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2_PROCE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6A7C0E02-1009-E9C6-5ACC-80E7D6880A69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Proceso secuencial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58205925-FD47-66F2-A802-416BCA053AE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924050"/>
            <a:ext cx="10668000" cy="2952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Secuencia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8685E304-E9CA-43F8-8930-8E0ED8BE7286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914400" y="5219700"/>
            <a:ext cx="10363200" cy="60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de cierre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0506C10D-1069-18D8-D511-E7658980284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9CA5DB51-531C-4AFB-9FB5-87CA9A3111B8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1_COMPAR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C3754BA9-BA43-89AA-C70D-83CA68AF3401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Comparación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4E58697A-6AA1-094E-FB77-5ED2F72D0C9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4953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Caso 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76A280CC-0448-5099-BD8C-5F5DA7427A4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695450"/>
            <a:ext cx="4953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Caso B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B22C4027-B511-C66A-3210-C4F977C71BF0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5DBCCD25-7213-4B32-B316-993301A5099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0_EJEMPLO_RESUEL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1EBA8C66-75F7-8786-62D4-8E39087D032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Ejemplo resuelto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3761D8C-5D3D-B5FC-3088-D429C5A6F94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57350"/>
            <a:ext cx="40005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Datos y pregunta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72C3AA6E-744B-B585-1A7D-4DBA772517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143500" y="1657350"/>
            <a:ext cx="62865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Resolución paso a paso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87FCAB0-F142-2C7C-6C7A-2118A60FE41C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685110A-6086-4FE8-8F00-9DEAECCAACB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9_ECUACION_INTERPRET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55D978A-66A3-12DD-6D64-38108280AE38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63049859-11E6-28FF-2063-7C84F2BCE7E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752600"/>
            <a:ext cx="10668000" cy="1524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Ecuación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27826603-AFCB-A7FC-DC5A-2E4905DA0F0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62000" y="3638550"/>
            <a:ext cx="10668000" cy="2000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Interpretación y unidades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554DD594-5FD7-1BA8-C390-3B2081E1BD9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D4E3DF21-1703-4AF3-A758-2190B581AEE3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8_DEFINI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A64F010A-6A76-C440-2396-A624262AB04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Concepto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314101D8-2C06-19A3-8BA4-89816CC2338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143000" y="1981200"/>
            <a:ext cx="9906000" cy="23812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Definición completa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4D685FE1-58B7-9044-F0E6-24526BBA1CC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333500" y="4686300"/>
            <a:ext cx="9525000" cy="952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Implicación o ejemplo breve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08CAD3E8-7C2E-D428-8533-9F43F7FD3565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EF7231C5-674D-43AF-A7BF-A95F7B1AC02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7_GRAFICO_EXPLIC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8E031ACD-0AD5-8809-0717-649540F4F383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chart_0">
            <a:extLst>
              <a:ext uri="{FF2B5EF4-FFF2-40B4-BE49-F238E27FC236}">
                <a16:creationId xmlns:a16="http://schemas.microsoft.com/office/drawing/2014/main" id="{5380A50B-6A0F-2DF2-CF30-B0F7001B31E2}"/>
              </a:ext>
            </a:extLst>
          </p:cNvPr>
          <p:cNvSpPr>
            <a:spLocks noGrp="1"/>
          </p:cNvSpPr>
          <p:nvPr>
            <p:ph type="chart" idx="11" hasCustomPrompt="1"/>
          </p:nvPr>
        </p:nvSpPr>
        <p:spPr>
          <a:xfrm>
            <a:off x="762000" y="1676400"/>
            <a:ext cx="685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Gráfico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1A6588E5-AEF0-6915-CE1D-570FEF5B471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039100" y="1676400"/>
            <a:ext cx="33909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Lectura guiada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61303251-BC98-15C7-91D2-8A07695826A0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F56D38C4-B1D5-4C8E-BE72-930FD8BDBC8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6B_DOS_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08ED06A4-5573-5517-B8B5-C2075DA9624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CFF38B9F-A684-35A1-0FA9-F59A1B5AB4C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Columna izquierda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8F895085-9CE5-6EE1-5F9D-097B6BDA3C7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6764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Columna derecha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BA13ABB1-00AB-594A-F558-8175EBCF311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602F4707-DF6D-4294-BB93-51F5AE613322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6_VISUAL_TEXTO_40_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D5AED30D-A7BD-30DD-BE10-40C7E08936F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picture_0">
            <a:extLst>
              <a:ext uri="{FF2B5EF4-FFF2-40B4-BE49-F238E27FC236}">
                <a16:creationId xmlns:a16="http://schemas.microsoft.com/office/drawing/2014/main" id="{6FA99C08-D6E3-4E98-F4FE-DDBFAED84D03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2000" y="1676400"/>
            <a:ext cx="4095750" cy="33718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Imagen o diagrama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E5F7348D-D236-9EEA-2133-597F8B48097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238750" y="1676400"/>
            <a:ext cx="619125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Explicación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9B437985-0763-FCCF-F44F-242B6F5117A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A6B0A21-BCB8-4A3F-B261-5C6ED3AE236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5_TEXTO_VISUAL_60_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3EF649E4-ADFE-13DB-6148-5183BBE49514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8F472493-280E-0CA3-7AC8-E68E8FBDBFC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619125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Explicación</a:t>
            </a:r>
          </a:p>
        </p:txBody>
      </p:sp>
      <p:sp>
        <p:nvSpPr>
          <p:cNvPr id="8" name="ph_picture_0">
            <a:extLst>
              <a:ext uri="{FF2B5EF4-FFF2-40B4-BE49-F238E27FC236}">
                <a16:creationId xmlns:a16="http://schemas.microsoft.com/office/drawing/2014/main" id="{79FC630C-AD55-24EA-E53D-308D86D07925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7334250" y="1676400"/>
            <a:ext cx="4095750" cy="33718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Imagen o diagrama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3545EB75-FA22-76BE-9CE1-5BBC0905B29C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060B985-A0D6-43B6-9BE3-5D6CD61324B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4_TITULO_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A73D0B5-44ED-C607-E4A8-F4FDBA1B460F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4067827F-3DFD-43A8-ED1D-4A061C6AADC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10668000" cy="4114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principal y desarrollo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AB672653-EF56-0789-95CE-0ACA3972421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113A982-D864-4714-BC0D-F64786B8C006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3_MAPA_CL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774C0439-FC2E-F5D5-0F77-C83354962018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Mapa de la clase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5D91A08B-7367-A177-D3A1-D4D0D4FD292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790700"/>
            <a:ext cx="10668000" cy="37338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Secuencia de bloques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CB1AB991-FF40-041B-F321-8D5FD60362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4F5DA17-0689-46E4-8362-81AB21D9139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2B_CONOCIMIENTOS_PREV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86E20EB-ACF6-E98B-A7F7-FAA63FE7A1AB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Conocimientos previos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DA74F11D-A621-76AD-1939-D17C951722B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7145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Ya conocemos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3F301BAB-D31B-43BA-8C3E-29D441A8603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7145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Necesitamos recuperar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485A1487-76D9-6CD2-5B5D-641F847EEAB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C017E5F8-CA14-4AD9-9C34-2654E5F0D860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00_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h_title_0">
            <a:extLst>
              <a:ext uri="{FF2B5EF4-FFF2-40B4-BE49-F238E27FC236}">
                <a16:creationId xmlns:a16="http://schemas.microsoft.com/office/drawing/2014/main" id="{BBF699B4-1B17-0944-8A64-D6854D8D6D1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1543049"/>
            <a:ext cx="8572500" cy="1428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de la unidad</a:t>
            </a:r>
          </a:p>
        </p:txBody>
      </p:sp>
      <p:sp>
        <p:nvSpPr>
          <p:cNvPr id="8" name="ph_subtitle_0">
            <a:extLst>
              <a:ext uri="{FF2B5EF4-FFF2-40B4-BE49-F238E27FC236}">
                <a16:creationId xmlns:a16="http://schemas.microsoft.com/office/drawing/2014/main" id="{5EEB7C2E-BFEB-6726-9C51-28E1E3242D9B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143250"/>
            <a:ext cx="7239000" cy="723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Subtítulo o alcance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9094F21-F8D4-117E-6486-B4FB78DA574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FBD13B0-F1EE-46B2-9204-54BDCC94E2F7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21_CIERRE_PU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08E6C8A6-F9D3-7926-25DF-ED045F3A4CC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2019300"/>
            <a:ext cx="8953500" cy="11239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Cierre</a:t>
            </a:r>
          </a:p>
        </p:txBody>
      </p:sp>
      <p:sp>
        <p:nvSpPr>
          <p:cNvPr id="3" name="ph_subtitle_0">
            <a:extLst>
              <a:ext uri="{FF2B5EF4-FFF2-40B4-BE49-F238E27FC236}">
                <a16:creationId xmlns:a16="http://schemas.microsoft.com/office/drawing/2014/main" id="{7DB56B4A-8D9F-CA11-B9D5-A6125863F28F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314700"/>
            <a:ext cx="8191500" cy="8191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Puente hacia la próxima clase</a:t>
            </a:r>
          </a:p>
        </p:txBody>
      </p:sp>
      <p:sp>
        <p:nvSpPr>
          <p:cNvPr id="4" name="fa_slide_number">
            <a:extLst>
              <a:ext uri="{FF2B5EF4-FFF2-40B4-BE49-F238E27FC236}">
                <a16:creationId xmlns:a16="http://schemas.microsoft.com/office/drawing/2014/main" id="{62762AF0-3B86-E082-1D9F-E94F6C836E6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551B1DD-AE22-4797-A41E-B58F85D9714A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01_DIVI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D1F88028-AD7E-5C80-FCA4-7044C14652D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2095500"/>
            <a:ext cx="9334500" cy="1047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del bloque</a:t>
            </a:r>
          </a:p>
        </p:txBody>
      </p:sp>
      <p:sp>
        <p:nvSpPr>
          <p:cNvPr id="3" name="ph_subtitle_0">
            <a:extLst>
              <a:ext uri="{FF2B5EF4-FFF2-40B4-BE49-F238E27FC236}">
                <a16:creationId xmlns:a16="http://schemas.microsoft.com/office/drawing/2014/main" id="{8858B713-BB8F-93CF-76E5-B16753D5870D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295650"/>
            <a:ext cx="78105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Pregunta guía o propósito</a:t>
            </a:r>
          </a:p>
        </p:txBody>
      </p:sp>
      <p:sp>
        <p:nvSpPr>
          <p:cNvPr id="4" name="fa_slide_number">
            <a:extLst>
              <a:ext uri="{FF2B5EF4-FFF2-40B4-BE49-F238E27FC236}">
                <a16:creationId xmlns:a16="http://schemas.microsoft.com/office/drawing/2014/main" id="{20025C06-92EB-B9DF-64E7-DAAC9343FA0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60E8974C-1134-48A5-94B6-2428CCBD93A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_maroon">
            <a:extLst>
              <a:ext uri="{FF2B5EF4-FFF2-40B4-BE49-F238E27FC236}">
                <a16:creationId xmlns:a16="http://schemas.microsoft.com/office/drawing/2014/main" id="{7ED400B0-4650-BD81-8872-00CCE5394A4B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3657600" cy="57150"/>
          </a:xfrm>
          <a:prstGeom prst="rect">
            <a:avLst/>
          </a:prstGeom>
          <a:solidFill>
            <a:srgbClr val="4D1434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ule_berry">
            <a:extLst>
              <a:ext uri="{FF2B5EF4-FFF2-40B4-BE49-F238E27FC236}">
                <a16:creationId xmlns:a16="http://schemas.microsoft.com/office/drawing/2014/main" id="{19067D9B-1D69-BEBD-53A6-E2EBCE31B809}"/>
              </a:ext>
            </a:extLst>
          </p:cNvPr>
          <p:cNvSpPr>
            <a:spLocks noGrp="1"/>
          </p:cNvSpPr>
          <p:nvPr/>
        </p:nvSpPr>
        <p:spPr>
          <a:xfrm>
            <a:off x="4362450" y="247650"/>
            <a:ext cx="3657600" cy="57150"/>
          </a:xfrm>
          <a:prstGeom prst="rect">
            <a:avLst/>
          </a:prstGeom>
          <a:solidFill>
            <a:srgbClr val="903163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ule_gray">
            <a:extLst>
              <a:ext uri="{FF2B5EF4-FFF2-40B4-BE49-F238E27FC236}">
                <a16:creationId xmlns:a16="http://schemas.microsoft.com/office/drawing/2014/main" id="{D5EE4B42-9A6B-A99D-63F0-0D1F0CDA593B}"/>
              </a:ext>
            </a:extLst>
          </p:cNvPr>
          <p:cNvSpPr>
            <a:spLocks noGrp="1"/>
          </p:cNvSpPr>
          <p:nvPr/>
        </p:nvSpPr>
        <p:spPr>
          <a:xfrm>
            <a:off x="8115300" y="247650"/>
            <a:ext cx="3467100" cy="57150"/>
          </a:xfrm>
          <a:prstGeom prst="rect">
            <a:avLst/>
          </a:prstGeom>
          <a:solidFill>
            <a:srgbClr val="969FA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_rule">
            <a:extLst>
              <a:ext uri="{FF2B5EF4-FFF2-40B4-BE49-F238E27FC236}">
                <a16:creationId xmlns:a16="http://schemas.microsoft.com/office/drawing/2014/main" id="{967B707C-1A6F-0D89-F330-66B1FD9D5071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14288"/>
          </a:xfrm>
          <a:prstGeom prst="rect">
            <a:avLst/>
          </a:prstGeom>
          <a:solidFill>
            <a:srgbClr val="D9DCE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4" name="ucasal_logo_master_light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9600" y="6429375"/>
            <a:ext cx="1028700" cy="304800"/>
          </a:xfrm>
          <a:prstGeom prst="rect">
            <a:avLst/>
          </a:prstGeom>
        </p:spPr>
      </p:pic>
      <p:sp>
        <p:nvSpPr>
          <p:cNvPr id="8" name="footer_course_light">
            <a:extLst>
              <a:ext uri="{FF2B5EF4-FFF2-40B4-BE49-F238E27FC236}">
                <a16:creationId xmlns:a16="http://schemas.microsoft.com/office/drawing/2014/main" id="{63C3527D-F71A-255A-556A-E956A5B245FC}"/>
              </a:ext>
            </a:extLst>
          </p:cNvPr>
          <p:cNvSpPr>
            <a:spLocks noGrp="1"/>
          </p:cNvSpPr>
          <p:nvPr/>
        </p:nvSpPr>
        <p:spPr>
          <a:xfrm>
            <a:off x="1809750" y="6467475"/>
            <a:ext cx="4953000" cy="253916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l">
              <a:buNone/>
            </a:pPr>
            <a:r>
              <a:rPr sz="10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le_berry">
            <a:extLst>
              <a:ext uri="{FF2B5EF4-FFF2-40B4-BE49-F238E27FC236}">
                <a16:creationId xmlns:a16="http://schemas.microsoft.com/office/drawing/2014/main" id="{54233747-3B41-236E-F508-E312E7DCB9DF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3657600" cy="57150"/>
          </a:xfrm>
          <a:prstGeom prst="rect">
            <a:avLst/>
          </a:prstGeom>
          <a:solidFill>
            <a:srgbClr val="903163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ule_white">
            <a:extLst>
              <a:ext uri="{FF2B5EF4-FFF2-40B4-BE49-F238E27FC236}">
                <a16:creationId xmlns:a16="http://schemas.microsoft.com/office/drawing/2014/main" id="{AB7800AF-4B8D-3775-268D-A94322560FCE}"/>
              </a:ext>
            </a:extLst>
          </p:cNvPr>
          <p:cNvSpPr>
            <a:spLocks noGrp="1"/>
          </p:cNvSpPr>
          <p:nvPr/>
        </p:nvSpPr>
        <p:spPr>
          <a:xfrm>
            <a:off x="4362450" y="247650"/>
            <a:ext cx="365760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ule_gray">
            <a:extLst>
              <a:ext uri="{FF2B5EF4-FFF2-40B4-BE49-F238E27FC236}">
                <a16:creationId xmlns:a16="http://schemas.microsoft.com/office/drawing/2014/main" id="{092696FC-D673-2DD3-4FCF-4D8518D87390}"/>
              </a:ext>
            </a:extLst>
          </p:cNvPr>
          <p:cNvSpPr>
            <a:spLocks noGrp="1"/>
          </p:cNvSpPr>
          <p:nvPr/>
        </p:nvSpPr>
        <p:spPr>
          <a:xfrm>
            <a:off x="8115300" y="247650"/>
            <a:ext cx="3467100" cy="57150"/>
          </a:xfrm>
          <a:prstGeom prst="rect">
            <a:avLst/>
          </a:prstGeom>
          <a:solidFill>
            <a:srgbClr val="969FA7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footer_rule">
            <a:extLst>
              <a:ext uri="{FF2B5EF4-FFF2-40B4-BE49-F238E27FC236}">
                <a16:creationId xmlns:a16="http://schemas.microsoft.com/office/drawing/2014/main" id="{99D069AE-519E-8032-14CB-9643E0ECC0A3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14288"/>
          </a:xfrm>
          <a:prstGeom prst="rect">
            <a:avLst/>
          </a:prstGeom>
          <a:solidFill>
            <a:srgbClr val="903163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logo_backing">
            <a:extLst>
              <a:ext uri="{FF2B5EF4-FFF2-40B4-BE49-F238E27FC236}">
                <a16:creationId xmlns:a16="http://schemas.microsoft.com/office/drawing/2014/main" id="{DED1A456-4096-91AC-8233-B33FFC94C29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104900" cy="3238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1" name="ucasal_logo_master_da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6467475"/>
            <a:ext cx="990600" cy="228600"/>
          </a:xfrm>
          <a:prstGeom prst="rect">
            <a:avLst/>
          </a:prstGeom>
        </p:spPr>
      </p:pic>
      <p:sp>
        <p:nvSpPr>
          <p:cNvPr id="14" name="footer_course_dark">
            <a:extLst>
              <a:ext uri="{FF2B5EF4-FFF2-40B4-BE49-F238E27FC236}">
                <a16:creationId xmlns:a16="http://schemas.microsoft.com/office/drawing/2014/main" id="{D186B626-134A-FBCD-AEA0-4A2A93AA00A6}"/>
              </a:ext>
            </a:extLst>
          </p:cNvPr>
          <p:cNvSpPr>
            <a:spLocks noGrp="1"/>
          </p:cNvSpPr>
          <p:nvPr/>
        </p:nvSpPr>
        <p:spPr>
          <a:xfrm>
            <a:off x="1885950" y="6467475"/>
            <a:ext cx="4953000" cy="253916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l">
              <a:buNone/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commons.wikimedia.org/wiki/File:Sound_level_meter_Bruel_Kjaer.jpg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7.svg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5.svg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5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5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8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9.svg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8.svg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9.svg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9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www.nist.gov/image/acoustic-anechoic-chamber" TargetMode="Externa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8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6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6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6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2.svg"/><Relationship Id="rId5" Type="http://schemas.openxmlformats.org/officeDocument/2006/relationships/chart" Target="../charts/chart18.xml"/><Relationship Id="rId4" Type="http://schemas.openxmlformats.org/officeDocument/2006/relationships/chart" Target="../charts/chart1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9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5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3.svg"/><Relationship Id="rId5" Type="http://schemas.openxmlformats.org/officeDocument/2006/relationships/chart" Target="../charts/chart21.xml"/><Relationship Id="rId4" Type="http://schemas.openxmlformats.org/officeDocument/2006/relationships/chart" Target="../charts/chart20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6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7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commons.wikimedia.org/wiki/File:Sound_level_meter_Bruel_Kjaer.jpg" TargetMode="Externa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9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6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eyebrow">
            <a:extLst>
              <a:ext uri="{FF2B5EF4-FFF2-40B4-BE49-F238E27FC236}">
                <a16:creationId xmlns:a16="http://schemas.microsoft.com/office/drawing/2014/main" id="{6AEDFDB7-B4C3-48E2-9B2F-D956AF3865C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E5217909-194E-4692-ABAD-AF041D308697}"/>
              </a:ext>
            </a:extLst>
          </p:cNvPr>
          <p:cNvSpPr>
            <a:spLocks noGrp="1"/>
          </p:cNvSpPr>
          <p:nvPr/>
        </p:nvSpPr>
        <p:spPr>
          <a:xfrm>
            <a:off x="800100" y="1428750"/>
            <a:ext cx="866775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4125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125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Generalidades sobre el sonido, sus propiedades y magnitudes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C1412A42-C767-4CFB-B238-DE5A8AE0454E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7334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1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magnitud describe realmente un valor de sonido?</a:t>
            </a:r>
          </a:p>
        </p:txBody>
      </p:sp>
      <p:sp>
        <p:nvSpPr>
          <p:cNvPr id="4" name="cover-question">
            <a:extLst>
              <a:ext uri="{FF2B5EF4-FFF2-40B4-BE49-F238E27FC236}">
                <a16:creationId xmlns:a16="http://schemas.microsoft.com/office/drawing/2014/main" id="{F2FF182F-F605-4358-A03A-5DBC907C6863}"/>
              </a:ext>
            </a:extLst>
          </p:cNvPr>
          <p:cNvSpPr>
            <a:spLocks noGrp="1"/>
          </p:cNvSpPr>
          <p:nvPr/>
        </p:nvSpPr>
        <p:spPr>
          <a:xfrm>
            <a:off x="838200" y="495300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falta saber cuando alguien informa solo “80 dB”?</a:t>
            </a:r>
          </a:p>
        </p:txBody>
      </p:sp>
      <p:sp>
        <p:nvSpPr>
          <p:cNvPr id="5" name="slide-number-1">
            <a:extLst>
              <a:ext uri="{FF2B5EF4-FFF2-40B4-BE49-F238E27FC236}">
                <a16:creationId xmlns:a16="http://schemas.microsoft.com/office/drawing/2014/main" id="{C532E1D1-0FBB-40B7-84BB-9041DC1E3D87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94663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El mismo sonido, cinco preguntas físicas»: fuente, medio, punto de medición y receptor; cinco callouts breves. La lectura central es que presión, movimiento, flujo, potencia y percepción responden preguntas diferentes. Recurso principal: U04-DG-001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53CCD9EB-05FC-4F1B-B145-40369D5BC0C0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02">
            <a:extLst>
              <a:ext uri="{FF2B5EF4-FFF2-40B4-BE49-F238E27FC236}">
                <a16:creationId xmlns:a16="http://schemas.microsoft.com/office/drawing/2014/main" id="{36916539-704D-44F5-A4AC-F456191F26A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02">
            <a:extLst>
              <a:ext uri="{FF2B5EF4-FFF2-40B4-BE49-F238E27FC236}">
                <a16:creationId xmlns:a16="http://schemas.microsoft.com/office/drawing/2014/main" id="{4B144113-95BA-4281-8691-083F28A447F6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mismo sonido, cinco preguntas físicas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05F696D0-2A13-4167-9C58-19C5B65CC144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BFF0834D-247C-415C-B842-5BE64C0EF7AC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Situación inicial. Esquema conceptual; las distancias, tamaños y formas no representan una escala física salvo indicación expresa.</a:t>
            </a:r>
          </a:p>
        </p:txBody>
      </p:sp>
      <p:sp>
        <p:nvSpPr>
          <p:cNvPr id="7" name="slide-number-2">
            <a:extLst>
              <a:ext uri="{FF2B5EF4-FFF2-40B4-BE49-F238E27FC236}">
                <a16:creationId xmlns:a16="http://schemas.microsoft.com/office/drawing/2014/main" id="{8D01642A-5C3B-4672-8318-D2A7F8AF8560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yebrow-U04-003">
            <a:extLst>
              <a:ext uri="{FF2B5EF4-FFF2-40B4-BE49-F238E27FC236}">
                <a16:creationId xmlns:a16="http://schemas.microsoft.com/office/drawing/2014/main" id="{8C98B77F-8078-4B85-8FF6-2294FA58E171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03">
            <a:extLst>
              <a:ext uri="{FF2B5EF4-FFF2-40B4-BE49-F238E27FC236}">
                <a16:creationId xmlns:a16="http://schemas.microsoft.com/office/drawing/2014/main" id="{C5936B06-A2F7-4B9E-BD30-4BA36422A3C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Seis afirmaciones para empezar</a:t>
            </a:r>
          </a:p>
        </p:txBody>
      </p:sp>
      <p:sp>
        <p:nvSpPr>
          <p:cNvPr id="3" name="question-surface">
            <a:extLst>
              <a:ext uri="{FF2B5EF4-FFF2-40B4-BE49-F238E27FC236}">
                <a16:creationId xmlns:a16="http://schemas.microsoft.com/office/drawing/2014/main" id="{E3C32161-93BA-4E5A-851C-24482CE35272}"/>
              </a:ext>
            </a:extLst>
          </p:cNvPr>
          <p:cNvSpPr>
            <a:spLocks noGrp="1"/>
          </p:cNvSpPr>
          <p:nvPr/>
        </p:nvSpPr>
        <p:spPr>
          <a:xfrm>
            <a:off x="838200" y="1666875"/>
            <a:ext cx="10515600" cy="4191000"/>
          </a:xfrm>
          <a:prstGeom prst="roundRect">
            <a:avLst>
              <a:gd name="adj" fmla="val 2273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</p:sp>
      <p:sp>
        <p:nvSpPr>
          <p:cNvPr id="4" name="bullets">
            <a:extLst>
              <a:ext uri="{FF2B5EF4-FFF2-40B4-BE49-F238E27FC236}">
                <a16:creationId xmlns:a16="http://schemas.microsoft.com/office/drawing/2014/main" id="{3DC16F79-B706-4421-B797-DC977979FDA8}"/>
              </a:ext>
            </a:extLst>
          </p:cNvPr>
          <p:cNvSpPr>
            <a:spLocks noGrp="1"/>
          </p:cNvSpPr>
          <p:nvPr/>
        </p:nvSpPr>
        <p:spPr>
          <a:xfrm>
            <a:off x="1238250" y="2047875"/>
            <a:ext cx="97155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Decidí verdadero o falso y justificá: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El sonido necesita un oyente para existir.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u=c porque ambas se expresan en m s⁻¹.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Si la media es cero, la señal es nula.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Un valor en dB es absoluto.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Dos fuentes iguales siempre agregan 3 dB.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Duplicar la distancia siempre resta 6 dB.</a:t>
            </a:r>
          </a:p>
        </p:txBody>
      </p:sp>
      <p:sp>
        <p:nvSpPr>
          <p:cNvPr id="5" name="slide-number-3">
            <a:extLst>
              <a:ext uri="{FF2B5EF4-FFF2-40B4-BE49-F238E27FC236}">
                <a16:creationId xmlns:a16="http://schemas.microsoft.com/office/drawing/2014/main" id="{2FACCD2C-D4E5-4E51-903E-A1AC76C3FAFB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squema mixto sobre «Lo que necesitamos recuperar de las tres unidades anteriores»: Continuidad visual con U3; micrográfico y ecuaciones mínimas. La lectura central es que unidades, energía, onda, fase, superposición y logaritmos sostienen toda la unidad. Recurso principal: U04-DG-021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AE063362-74D8-4D2F-BACD-1D349D2106A9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04">
            <a:extLst>
              <a:ext uri="{FF2B5EF4-FFF2-40B4-BE49-F238E27FC236}">
                <a16:creationId xmlns:a16="http://schemas.microsoft.com/office/drawing/2014/main" id="{293081B8-C946-445D-BF5B-263191ED604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04">
            <a:extLst>
              <a:ext uri="{FF2B5EF4-FFF2-40B4-BE49-F238E27FC236}">
                <a16:creationId xmlns:a16="http://schemas.microsoft.com/office/drawing/2014/main" id="{31873A86-EA45-4C79-8E2C-8786CE559EDD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Lo que necesitamos recuperar de las tres unidades anteriores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931407E6-40D0-4168-BD6D-16B2BE52BB1D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2D09D289-9EF1-4E68-BB09-8A81E58D8852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Microvisuales de apoyo. Esquema conceptual; las distancias, tamaños y formas no representan una escala física salvo indicación expresa.</a:t>
            </a:r>
          </a:p>
        </p:txBody>
      </p:sp>
      <p:sp>
        <p:nvSpPr>
          <p:cNvPr id="7" name="slide-number-4">
            <a:extLst>
              <a:ext uri="{FF2B5EF4-FFF2-40B4-BE49-F238E27FC236}">
                <a16:creationId xmlns:a16="http://schemas.microsoft.com/office/drawing/2014/main" id="{A4AF6E82-C964-4C76-A003-167FCD575CDE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33595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-U04-005">
            <a:extLst>
              <a:ext uri="{FF2B5EF4-FFF2-40B4-BE49-F238E27FC236}">
                <a16:creationId xmlns:a16="http://schemas.microsoft.com/office/drawing/2014/main" id="{CC227FFC-95E1-45C2-A7E7-1B92E103422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05">
            <a:extLst>
              <a:ext uri="{FF2B5EF4-FFF2-40B4-BE49-F238E27FC236}">
                <a16:creationId xmlns:a16="http://schemas.microsoft.com/office/drawing/2014/main" id="{98819D7C-2459-41EC-8DB9-95EEBA0ED17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podremos distinguir, calcular e interpretar</a:t>
            </a: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FEF241A3-D089-4FC8-9D37-5DB4F843ABA2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10477500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Diferenciar fenómeno físico y sensación sonora.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Explicar elasticidad, inercia y rapidez de propagación.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Relacionar p, u, Z, I, Wₐc y Eₐc.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Interpretar valores instantáneo, pico, pico a pico, medio y RMS.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Calcular niveles con referencia explícita y justificar 10/20.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Sumar señales según fase o correlación.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Aplicar modelos plano, cilíndrico y esférico con condiciones.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Interpretar Qdᵢᵣ y DI sin suponer creación de potencia.</a:t>
            </a:r>
          </a:p>
        </p:txBody>
      </p:sp>
      <p:sp>
        <p:nvSpPr>
          <p:cNvPr id="4" name="slide-number-5">
            <a:extLst>
              <a:ext uri="{FF2B5EF4-FFF2-40B4-BE49-F238E27FC236}">
                <a16:creationId xmlns:a16="http://schemas.microsoft.com/office/drawing/2014/main" id="{F3EC059F-E6FD-44B6-9DDC-ED6E10BC45F4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Del fenómeno al dato y del dato a una interpretación responsable»: mapa en tres líneas, máximo cuatro nodos por línea; destacar etapa activa en recaps. La lectura central es que cada bloque responde una pregunta distinta sobre el mismo campo acústico. Recurso principal: U04-DG-002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F83E01D5-4555-4161-B633-49AF00352ECE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06">
            <a:extLst>
              <a:ext uri="{FF2B5EF4-FFF2-40B4-BE49-F238E27FC236}">
                <a16:creationId xmlns:a16="http://schemas.microsoft.com/office/drawing/2014/main" id="{D278638F-253A-43CE-8D9B-2F2A44B06DC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06">
            <a:extLst>
              <a:ext uri="{FF2B5EF4-FFF2-40B4-BE49-F238E27FC236}">
                <a16:creationId xmlns:a16="http://schemas.microsoft.com/office/drawing/2014/main" id="{2199BB46-5F05-4041-927C-FFB1CA7B0F87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fenómeno al dato y del dato a una interpretación responsable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5797613A-FF86-4FE3-9A8D-702557F658F2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AFC9C6FA-E59D-4E4F-9049-80EBF548C023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Mapa de unidad. Esquema conceptual; las distancias, tamaños y formas no representan una escala física salvo indicación expresa.</a:t>
            </a:r>
          </a:p>
        </p:txBody>
      </p:sp>
      <p:sp>
        <p:nvSpPr>
          <p:cNvPr id="7" name="slide-number-6">
            <a:extLst>
              <a:ext uri="{FF2B5EF4-FFF2-40B4-BE49-F238E27FC236}">
                <a16:creationId xmlns:a16="http://schemas.microsoft.com/office/drawing/2014/main" id="{1A0439D0-FCE5-4E44-96BA-D80ACA1A7737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vider-eyebrow">
            <a:extLst>
              <a:ext uri="{FF2B5EF4-FFF2-40B4-BE49-F238E27FC236}">
                <a16:creationId xmlns:a16="http://schemas.microsoft.com/office/drawing/2014/main" id="{145C315C-1B76-4F8B-9FAD-8D5A5658D395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3A564E5F-5D86-458A-BE0E-5832926D01A7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000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Antes de medir: fenómeno, fuente y medio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52B70E22-4726-418A-8447-B4287927B278}"/>
              </a:ext>
            </a:extLst>
          </p:cNvPr>
          <p:cNvSpPr>
            <a:spLocks noGrp="1"/>
          </p:cNvSpPr>
          <p:nvPr/>
        </p:nvSpPr>
        <p:spPr>
          <a:xfrm>
            <a:off x="895350" y="3857625"/>
            <a:ext cx="933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existe físicamente antes de medir o escuchar?</a:t>
            </a:r>
          </a:p>
        </p:txBody>
      </p:sp>
      <p:sp>
        <p:nvSpPr>
          <p:cNvPr id="4" name="slide-number-7">
            <a:extLst>
              <a:ext uri="{FF2B5EF4-FFF2-40B4-BE49-F238E27FC236}">
                <a16:creationId xmlns:a16="http://schemas.microsoft.com/office/drawing/2014/main" id="{1FD0FDA8-63B3-4387-B8B5-677826187924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Fenómeno físico y sensación sonora no son sinónimos»: comparación físico/perceptual con códigos teal/ocre y síntesis inferior. La lectura central es que una perturbación puede medirse sin oyente; la sensación depende del sistema auditivo y del contexto. Recurso principal: U04-DG-003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1D335440-3CD4-4428-8F5A-FEF37AE18A0F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08">
            <a:extLst>
              <a:ext uri="{FF2B5EF4-FFF2-40B4-BE49-F238E27FC236}">
                <a16:creationId xmlns:a16="http://schemas.microsoft.com/office/drawing/2014/main" id="{1F0D9C06-1279-41F6-8BB1-858E9DC0573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08">
            <a:extLst>
              <a:ext uri="{FF2B5EF4-FFF2-40B4-BE49-F238E27FC236}">
                <a16:creationId xmlns:a16="http://schemas.microsoft.com/office/drawing/2014/main" id="{99C4727D-7999-4D3F-8738-406F05879E21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Fenómeno físico y sensación sonora no son sinónimos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DBD379F2-AF18-4FB1-BCA4-4F5B89CAF7D5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7897BF57-D91C-4203-8A67-E69BAADAE9E5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Físico, perceptual y cadena. Esquema conceptual; las distancias, tamaños y formas no representan una escala física salvo indicación expresa.</a:t>
            </a:r>
          </a:p>
        </p:txBody>
      </p:sp>
      <p:sp>
        <p:nvSpPr>
          <p:cNvPr id="7" name="slide-number-8">
            <a:extLst>
              <a:ext uri="{FF2B5EF4-FFF2-40B4-BE49-F238E27FC236}">
                <a16:creationId xmlns:a16="http://schemas.microsoft.com/office/drawing/2014/main" id="{79AF3A58-A67A-4FE3-9629-36AB78F863BB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El campo no necesita un oyente para existir»: campo existente con receptor presente/ausente; sin flechas causales ambiguas. La lectura central es que el receptor detecta o procesa un campo; no lo crea por estar presente. Recurso principal: U04-DG-003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9BDB1DB3-0516-49D4-9C6C-EA8E46ED5771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09">
            <a:extLst>
              <a:ext uri="{FF2B5EF4-FFF2-40B4-BE49-F238E27FC236}">
                <a16:creationId xmlns:a16="http://schemas.microsoft.com/office/drawing/2014/main" id="{FA7D8305-DD9A-4628-9794-FF2CFCBBB96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09">
            <a:extLst>
              <a:ext uri="{FF2B5EF4-FFF2-40B4-BE49-F238E27FC236}">
                <a16:creationId xmlns:a16="http://schemas.microsoft.com/office/drawing/2014/main" id="{4E14C76D-1D49-49BB-90B7-467C2B3EE056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campo no necesita un oyente para existir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8529262B-C3D4-4E0A-B5E5-7423FAFF1B76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D30B55AC-2F52-4306-987A-6723131848E2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Físico, perceptual y cadena. Esquema conceptual; las distancias, tamaños y formas no representan una escala física salvo indicación expresa.</a:t>
            </a:r>
          </a:p>
        </p:txBody>
      </p:sp>
      <p:sp>
        <p:nvSpPr>
          <p:cNvPr id="7" name="slide-number-9">
            <a:extLst>
              <a:ext uri="{FF2B5EF4-FFF2-40B4-BE49-F238E27FC236}">
                <a16:creationId xmlns:a16="http://schemas.microsoft.com/office/drawing/2014/main" id="{F0A41CE6-7045-41DF-9DA6-A6986F14B354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Fuente, medio, campo y receptor cumplen funciones distintas»: 4 nodos, 3 conectores, rótulos de función y corredor libre para flechas. La lectura central es que la fuente perturba, el medio sostiene la propagación, el campo describe y el receptor responde. Recurso principal: U04-DG-003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3AB88DBB-1FA6-433D-B90B-C5370276A0AF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10">
            <a:extLst>
              <a:ext uri="{FF2B5EF4-FFF2-40B4-BE49-F238E27FC236}">
                <a16:creationId xmlns:a16="http://schemas.microsoft.com/office/drawing/2014/main" id="{A4B39BAE-E051-47AE-B5EF-7C770973C37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10">
            <a:extLst>
              <a:ext uri="{FF2B5EF4-FFF2-40B4-BE49-F238E27FC236}">
                <a16:creationId xmlns:a16="http://schemas.microsoft.com/office/drawing/2014/main" id="{F983394A-67D0-482D-9EC1-704057AB028A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Fuente, medio, campo y receptor cumplen funciones distintas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50CDC00A-B4EA-4BE8-AB76-24A5C7484C4B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4FF55E64-3592-463F-9298-41B6CDCBDC0E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Físico, perceptual y cadena. Esquema conceptual; las distancias, tamaños y formas no representan una escala física salvo indicación expresa.</a:t>
            </a:r>
          </a:p>
        </p:txBody>
      </p:sp>
      <p:sp>
        <p:nvSpPr>
          <p:cNvPr id="7" name="slide-number-10">
            <a:extLst>
              <a:ext uri="{FF2B5EF4-FFF2-40B4-BE49-F238E27FC236}">
                <a16:creationId xmlns:a16="http://schemas.microsoft.com/office/drawing/2014/main" id="{586F7849-0876-4B07-A6ED-97A78F5A63EC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-U04-011">
            <a:extLst>
              <a:ext uri="{FF2B5EF4-FFF2-40B4-BE49-F238E27FC236}">
                <a16:creationId xmlns:a16="http://schemas.microsoft.com/office/drawing/2014/main" id="{AA2754DB-7A83-4AD7-A539-6E94EB28B15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11">
            <a:extLst>
              <a:ext uri="{FF2B5EF4-FFF2-40B4-BE49-F238E27FC236}">
                <a16:creationId xmlns:a16="http://schemas.microsoft.com/office/drawing/2014/main" id="{BB569AE7-FA70-42BD-940C-ECB0C153D4E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Distintas fuentes, una misma pregunta: ¿qué perturba el medio?</a:t>
            </a: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BB923DE1-27CE-4BAC-84F3-368DEC7EF73C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10477500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Membrana, cuerda, pliegues vocales, columna de aire y turbulencia originan perturbaciones mediante mecanismos distintos.</a:t>
            </a:r>
          </a:p>
        </p:txBody>
      </p:sp>
      <p:sp>
        <p:nvSpPr>
          <p:cNvPr id="4" name="slide-number-11">
            <a:extLst>
              <a:ext uri="{FF2B5EF4-FFF2-40B4-BE49-F238E27FC236}">
                <a16:creationId xmlns:a16="http://schemas.microsoft.com/office/drawing/2014/main" id="{6EBD2D61-5146-4A4E-96BE-C99BC78BB609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Los pliegues vocales generan; el aire transporta»: 4 nodos y 3 conectores; sin anatomía detallada ni datos no verificados. La lectura central es que la oscilación de la fuente y la propagación por el aire son procesos distintos. Recurso principal: U04-DG-004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69964BBE-D455-4A91-BEFD-ECD82E58149B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12">
            <a:extLst>
              <a:ext uri="{FF2B5EF4-FFF2-40B4-BE49-F238E27FC236}">
                <a16:creationId xmlns:a16="http://schemas.microsoft.com/office/drawing/2014/main" id="{2E990F04-7053-4E79-9FD9-5B653F006E3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12">
            <a:extLst>
              <a:ext uri="{FF2B5EF4-FFF2-40B4-BE49-F238E27FC236}">
                <a16:creationId xmlns:a16="http://schemas.microsoft.com/office/drawing/2014/main" id="{143129BB-152B-4016-81D2-EABF5F9F541D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Los pliegues vocales generan; el aire transporta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79891CA6-06FE-4D36-8B53-89C34E31756F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8FB52B03-58C7-44C4-96C5-8807F4D37B12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Generación vocal y electroacústica. Esquema conceptual; las distancias, tamaños y formas no representan una escala física salvo indicación exp…</a:t>
            </a:r>
          </a:p>
        </p:txBody>
      </p:sp>
      <p:sp>
        <p:nvSpPr>
          <p:cNvPr id="7" name="slide-number-12">
            <a:extLst>
              <a:ext uri="{FF2B5EF4-FFF2-40B4-BE49-F238E27FC236}">
                <a16:creationId xmlns:a16="http://schemas.microsoft.com/office/drawing/2014/main" id="{5D5B4A73-7C47-4E66-9BDF-A03BBAF2AD1C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 descr="Diagrama estático alternativo sobre «El cono del parlante alterna compresiones y rarefacciones»: Usar U04-DG-004 como alternativa estática. El GIF U04-MED-001 es opcional y solo se reproduce después de aprobar encuadre y crédito. La lectura central es que el cono se desplaza localmente y modifica la presión del aire vecino. Recurso principal: U04-DG-004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FB028906-5CCD-4220-A1A8-0EA6BB91CE49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13">
            <a:extLst>
              <a:ext uri="{FF2B5EF4-FFF2-40B4-BE49-F238E27FC236}">
                <a16:creationId xmlns:a16="http://schemas.microsoft.com/office/drawing/2014/main" id="{4B4EF985-BD34-44A0-A7A2-A61377A82B8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13">
            <a:extLst>
              <a:ext uri="{FF2B5EF4-FFF2-40B4-BE49-F238E27FC236}">
                <a16:creationId xmlns:a16="http://schemas.microsoft.com/office/drawing/2014/main" id="{C01C2A22-6FDB-4D95-B5C2-F164C03FEA05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cono del parlante alterna compresiones y rarefacciones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16016523-1E0E-4636-84EC-7C9E39113A26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C8AD7238-BDC8-4F34-A994-C8ECC3189846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Generación vocal y electroacústica. Recurso técnico usado para identificar el fenómeno; conservar crédito y condiciones registradas en el mani…</a:t>
            </a:r>
          </a:p>
        </p:txBody>
      </p:sp>
      <p:sp>
        <p:nvSpPr>
          <p:cNvPr id="7" name="media-status">
            <a:extLst>
              <a:ext uri="{FF2B5EF4-FFF2-40B4-BE49-F238E27FC236}">
                <a16:creationId xmlns:a16="http://schemas.microsoft.com/office/drawing/2014/main" id="{CE65532E-8C14-43D5-87A4-E22D5F9FB365}"/>
              </a:ext>
            </a:extLst>
          </p:cNvPr>
          <p:cNvSpPr>
            <a:spLocks noGrp="1"/>
          </p:cNvSpPr>
          <p:nvPr/>
        </p:nvSpPr>
        <p:spPr>
          <a:xfrm>
            <a:off x="8210550" y="400050"/>
            <a:ext cx="3371850" cy="228600"/>
          </a:xfrm>
          <a:prstGeom prst="roundRect">
            <a:avLst>
              <a:gd name="adj" fmla="val 50000"/>
            </a:avLst>
          </a:prstGeom>
          <a:solidFill>
            <a:srgbClr val="E7F1F1"/>
          </a:solidFill>
          <a:ln w="0">
            <a:noFill/>
            <a:prstDash val="solid"/>
          </a:ln>
        </p:spPr>
      </p:sp>
      <p:sp>
        <p:nvSpPr>
          <p:cNvPr id="8" name="media-label">
            <a:extLst>
              <a:ext uri="{FF2B5EF4-FFF2-40B4-BE49-F238E27FC236}">
                <a16:creationId xmlns:a16="http://schemas.microsoft.com/office/drawing/2014/main" id="{189BEB67-667D-404B-9B89-047BCFAC051F}"/>
              </a:ext>
            </a:extLst>
          </p:cNvPr>
          <p:cNvSpPr>
            <a:spLocks noGrp="1"/>
          </p:cNvSpPr>
          <p:nvPr/>
        </p:nvSpPr>
        <p:spPr>
          <a:xfrm>
            <a:off x="8324850" y="438150"/>
            <a:ext cx="3143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ALTERNATIVA ESTÁTICA · MEDIA NO INCRUSTADA</a:t>
            </a:r>
          </a:p>
        </p:txBody>
      </p:sp>
      <p:sp>
        <p:nvSpPr>
          <p:cNvPr id="9" name="slide-number-13">
            <a:extLst>
              <a:ext uri="{FF2B5EF4-FFF2-40B4-BE49-F238E27FC236}">
                <a16:creationId xmlns:a16="http://schemas.microsoft.com/office/drawing/2014/main" id="{CAA2CB87-02E8-494D-BADF-F8521E97E2AF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Hasta acá: existir, generar, propagar, detectar y percibir»: mapa reducido fuente–medio–campo–receptor con bifurcación medir/percibir. La lectura central es que cada verbo exige un objeto y una evidencia diferente. Recurso principal: U04-DG-002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D34B7681-A942-4D04-A2F9-EA87ED2BA1E5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14">
            <a:extLst>
              <a:ext uri="{FF2B5EF4-FFF2-40B4-BE49-F238E27FC236}">
                <a16:creationId xmlns:a16="http://schemas.microsoft.com/office/drawing/2014/main" id="{D223AFD8-D5BB-4721-B913-B707EB88DE2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14">
            <a:extLst>
              <a:ext uri="{FF2B5EF4-FFF2-40B4-BE49-F238E27FC236}">
                <a16:creationId xmlns:a16="http://schemas.microsoft.com/office/drawing/2014/main" id="{A22A63B6-A677-4C4B-A995-4FEEED477F58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existir, generar, propagar, detectar y percibir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85B24C35-CF0B-4204-8601-656CAEB58083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A6FDDD50-4CBC-4CA9-94A1-7BBF417ADFEA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Mapa de unidad. Esquema conceptual; las distancias, tamaños y formas no representan una escala física salvo indicación expresa.</a:t>
            </a:r>
          </a:p>
        </p:txBody>
      </p:sp>
      <p:sp>
        <p:nvSpPr>
          <p:cNvPr id="7" name="slide-number-14">
            <a:extLst>
              <a:ext uri="{FF2B5EF4-FFF2-40B4-BE49-F238E27FC236}">
                <a16:creationId xmlns:a16="http://schemas.microsoft.com/office/drawing/2014/main" id="{15E08441-AB0F-4FE3-8E50-2773665CD201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vider-eyebrow">
            <a:extLst>
              <a:ext uri="{FF2B5EF4-FFF2-40B4-BE49-F238E27FC236}">
                <a16:creationId xmlns:a16="http://schemas.microsoft.com/office/drawing/2014/main" id="{6D38E42A-2AB4-445D-B29B-504576A30308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8052A841-64AC-47D7-A674-9525AE011E2F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000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El medio responde: elasticidad, inercia y rapidez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F514D74F-D1B4-41B0-9E3E-2EF853C7A104}"/>
              </a:ext>
            </a:extLst>
          </p:cNvPr>
          <p:cNvSpPr>
            <a:spLocks noGrp="1"/>
          </p:cNvSpPr>
          <p:nvPr/>
        </p:nvSpPr>
        <p:spPr>
          <a:xfrm>
            <a:off x="895350" y="3857625"/>
            <a:ext cx="933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permiten la elasticidad y la inercia que avance una perturbación?</a:t>
            </a:r>
          </a:p>
        </p:txBody>
      </p:sp>
      <p:sp>
        <p:nvSpPr>
          <p:cNvPr id="4" name="slide-number-15">
            <a:extLst>
              <a:ext uri="{FF2B5EF4-FFF2-40B4-BE49-F238E27FC236}">
                <a16:creationId xmlns:a16="http://schemas.microsoft.com/office/drawing/2014/main" id="{72DA283D-537A-4AB8-9E4F-6C65088FD7BD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En un fluido, el movimiento local es principalmente longitudinal»: partículas y bandas de presión con flechas locales/propagación diferenciadas. La lectura central es que las regiones del fluido oscilan aproximadamente en la dirección de propagación. Recurso principal: U04-DG-005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002C7633-83A5-4A29-8A32-B53FFD974560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16">
            <a:extLst>
              <a:ext uri="{FF2B5EF4-FFF2-40B4-BE49-F238E27FC236}">
                <a16:creationId xmlns:a16="http://schemas.microsoft.com/office/drawing/2014/main" id="{0D3AC7B7-AC82-4750-90A8-B466752C5EF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16">
            <a:extLst>
              <a:ext uri="{FF2B5EF4-FFF2-40B4-BE49-F238E27FC236}">
                <a16:creationId xmlns:a16="http://schemas.microsoft.com/office/drawing/2014/main" id="{5102BEBE-9426-4747-B3E3-BBED776B1F4B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un fluido, el movimiento local es principalmente longitudinal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A9AF7E48-9BF9-44B2-B2C2-36CDF4456D75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24416FA4-3ECD-4574-8A14-6A61A9AFD080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Propagación longitudinal. Esquema conceptual; las distancias, tamaños y formas no representan una escala física salvo indicación expresa.</a:t>
            </a:r>
          </a:p>
        </p:txBody>
      </p:sp>
      <p:sp>
        <p:nvSpPr>
          <p:cNvPr id="7" name="slide-number-16">
            <a:extLst>
              <a:ext uri="{FF2B5EF4-FFF2-40B4-BE49-F238E27FC236}">
                <a16:creationId xmlns:a16="http://schemas.microsoft.com/office/drawing/2014/main" id="{A89A0AF9-970B-4CBD-BA6A-FDAB2D5CA11D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La elasticidad aporta la acción restauradora»: tres regiones antes/durante/después con fuerzas restauradoras. La lectura central es que al comprimir una región, el medio desarrolla fuerzas que tienden al equilibrio. Recurso principal: U04-DG-005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5874BDB6-17FC-45FB-BCE0-CD1B94EBED67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17">
            <a:extLst>
              <a:ext uri="{FF2B5EF4-FFF2-40B4-BE49-F238E27FC236}">
                <a16:creationId xmlns:a16="http://schemas.microsoft.com/office/drawing/2014/main" id="{F56C01B0-805F-4138-9ABB-F23184956EE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17">
            <a:extLst>
              <a:ext uri="{FF2B5EF4-FFF2-40B4-BE49-F238E27FC236}">
                <a16:creationId xmlns:a16="http://schemas.microsoft.com/office/drawing/2014/main" id="{A060172F-83CA-4B7A-ACE8-1A2C13600911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elasticidad aporta la acción restauradora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E4DC8466-F91A-4F4C-8E36-7B8A51D33769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13D83180-9DC6-4EC1-9F25-6CB20325B063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Propagación longitudinal. Esquema conceptual; las distancias, tamaños y formas no representan una escala física salvo indicación expresa.</a:t>
            </a:r>
          </a:p>
        </p:txBody>
      </p:sp>
      <p:sp>
        <p:nvSpPr>
          <p:cNvPr id="7" name="slide-number-17">
            <a:extLst>
              <a:ext uri="{FF2B5EF4-FFF2-40B4-BE49-F238E27FC236}">
                <a16:creationId xmlns:a16="http://schemas.microsoft.com/office/drawing/2014/main" id="{FB0BF379-ADB9-4ED2-ACF0-02ABC03211AB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La inercia distribuida evita cambios instantáneos»: misma deformación conceptual con dos inercias y advertencia de variables acopladas. La lectura central es que la densidad representa cuánta inercia contiene un volumen del medio. Recurso principal: U04-DG-005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EAC9FDF6-597C-4FC9-A44E-BE2C8A78440E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18">
            <a:extLst>
              <a:ext uri="{FF2B5EF4-FFF2-40B4-BE49-F238E27FC236}">
                <a16:creationId xmlns:a16="http://schemas.microsoft.com/office/drawing/2014/main" id="{9375EF87-E797-4F38-9437-55DFE5F687F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18">
            <a:extLst>
              <a:ext uri="{FF2B5EF4-FFF2-40B4-BE49-F238E27FC236}">
                <a16:creationId xmlns:a16="http://schemas.microsoft.com/office/drawing/2014/main" id="{CEC656C7-07C1-41E1-B96B-51D72C7BC4A1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inercia distribuida evita cambios instantáneos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FEA3687E-A0BE-4B23-8857-49032DDEA379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178EE945-0982-4D94-89E5-DF4B553AFD0E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Propagación longitudinal. Esquema conceptual; las distancias, tamaños y formas no representan una escala física salvo indicación expresa.</a:t>
            </a:r>
          </a:p>
        </p:txBody>
      </p:sp>
      <p:sp>
        <p:nvSpPr>
          <p:cNvPr id="7" name="slide-number-18">
            <a:extLst>
              <a:ext uri="{FF2B5EF4-FFF2-40B4-BE49-F238E27FC236}">
                <a16:creationId xmlns:a16="http://schemas.microsoft.com/office/drawing/2014/main" id="{03D57484-AA88-4199-99B3-89FF9A242634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Restauración e inercia transmiten la perturbación a la región vecina»: 5 etapas; flechas de fuerza y avance con semántica distinta. La lectura central es que la propagación resulta de la interacción entre deformación elástica e inercia. Recurso principal: U04-DG-005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7C1DAD61-D9DB-451E-A01C-4F9ECE6BA5FD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19">
            <a:extLst>
              <a:ext uri="{FF2B5EF4-FFF2-40B4-BE49-F238E27FC236}">
                <a16:creationId xmlns:a16="http://schemas.microsoft.com/office/drawing/2014/main" id="{747FFBB2-D23C-4994-937C-4A68EA5F54A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19">
            <a:extLst>
              <a:ext uri="{FF2B5EF4-FFF2-40B4-BE49-F238E27FC236}">
                <a16:creationId xmlns:a16="http://schemas.microsoft.com/office/drawing/2014/main" id="{169252FA-7645-46E0-A9E9-D67F2F4036F2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Restauración e inercia transmiten la perturbación a la región vecina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A6911439-DCCB-4064-85E0-C534D999E8B2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E4C3B61C-E7EE-49CE-B2CE-3F8EA9A16DDB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Propagación longitudinal. Esquema conceptual; las distancias, tamaños y formas no representan una escala física salvo indicación expresa.</a:t>
            </a:r>
          </a:p>
        </p:txBody>
      </p:sp>
      <p:sp>
        <p:nvSpPr>
          <p:cNvPr id="7" name="slide-number-19">
            <a:extLst>
              <a:ext uri="{FF2B5EF4-FFF2-40B4-BE49-F238E27FC236}">
                <a16:creationId xmlns:a16="http://schemas.microsoft.com/office/drawing/2014/main" id="{CCCBBE36-8A47-4F71-BC04-9B9EBD5ABE44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La rapidez depende de rigidez volumétrica y densidad»: ecuación anotada con dos ramas de tendencia y caja de condiciones. La lectura central es que mayor `K_s` favorece `c` mayor y mayor `ρ`, aislada, favorece `c` menor. Recurso principal: U04-DG-006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62FCCEEF-8177-42E0-BF60-BFB7C80A00DE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20">
            <a:extLst>
              <a:ext uri="{FF2B5EF4-FFF2-40B4-BE49-F238E27FC236}">
                <a16:creationId xmlns:a16="http://schemas.microsoft.com/office/drawing/2014/main" id="{41F3A9CC-CAF2-4CA9-975D-75E41FF6CA7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0">
            <a:extLst>
              <a:ext uri="{FF2B5EF4-FFF2-40B4-BE49-F238E27FC236}">
                <a16:creationId xmlns:a16="http://schemas.microsoft.com/office/drawing/2014/main" id="{6DD3FC57-FA28-48AC-AE4D-4FB06A929066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rapidez depende de rigidez volumétrica y densidad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F4BB252C-8740-44C1-8E8F-B2F583F126ED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6F9923AB-070A-4897-8943-FD00DB7072C2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Rapidez y cambio de medio. Esquema conceptual; las distancias, tamaños y formas no representan una escala física salvo indicación expresa.</a:t>
            </a:r>
          </a:p>
        </p:txBody>
      </p:sp>
      <p:sp>
        <p:nvSpPr>
          <p:cNvPr id="7" name="slide-number-20">
            <a:extLst>
              <a:ext uri="{FF2B5EF4-FFF2-40B4-BE49-F238E27FC236}">
                <a16:creationId xmlns:a16="http://schemas.microsoft.com/office/drawing/2014/main" id="{90B20EE9-1F07-49ED-BD3F-077498397A2D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La densidad sola no determina la rapidez»: tabla de tendencias y condición “si lo demás no cambia”. La lectura central es que la comparación entre medios requiere considerar simultáneamente elasticidad y densidad. Recurso principal: U04-DG-006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AAEDC0C1-0747-4039-828E-1CCF9858E6DF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21">
            <a:extLst>
              <a:ext uri="{FF2B5EF4-FFF2-40B4-BE49-F238E27FC236}">
                <a16:creationId xmlns:a16="http://schemas.microsoft.com/office/drawing/2014/main" id="{949BA7DB-0309-4313-BEF1-7E39E1FA576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1">
            <a:extLst>
              <a:ext uri="{FF2B5EF4-FFF2-40B4-BE49-F238E27FC236}">
                <a16:creationId xmlns:a16="http://schemas.microsoft.com/office/drawing/2014/main" id="{4D521A4C-5047-49D4-835F-A9462B4B3087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densidad sola no determina la rapidez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62DBF717-C61B-49A9-8A29-8CC038E0A687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77E8A03D-94F1-4FEE-B4EF-213D18EC8986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Rapidez y cambio de medio. Esquema conceptual; las distancias, tamaños y formas no representan una escala física salvo indicación expresa.</a:t>
            </a:r>
          </a:p>
        </p:txBody>
      </p:sp>
      <p:sp>
        <p:nvSpPr>
          <p:cNvPr id="7" name="slide-number-21">
            <a:extLst>
              <a:ext uri="{FF2B5EF4-FFF2-40B4-BE49-F238E27FC236}">
                <a16:creationId xmlns:a16="http://schemas.microsoft.com/office/drawing/2014/main" id="{EBE75BBA-948D-4234-81B7-B7E0C61D5DC5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squema mixto sobre «Al cambiar el medio: `f` se conserva; `c` y `λ` pueden cambiar»: dos medios, misma frecuencia y longitudes de onda diferentes; mini ecuación `λ=c/f`. La lectura central es que en una interfaz estacionaria usual, la fuente fija `f`; el medio fija `c` y se ajusta `λ`. Recurso principal: U04-DG-006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57E87534-C59E-41CA-B4A9-F7D4959E59E9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22">
            <a:extLst>
              <a:ext uri="{FF2B5EF4-FFF2-40B4-BE49-F238E27FC236}">
                <a16:creationId xmlns:a16="http://schemas.microsoft.com/office/drawing/2014/main" id="{0AF08E32-2894-4B13-A90B-D5CA5726435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2">
            <a:extLst>
              <a:ext uri="{FF2B5EF4-FFF2-40B4-BE49-F238E27FC236}">
                <a16:creationId xmlns:a16="http://schemas.microsoft.com/office/drawing/2014/main" id="{803FB8FE-5C85-4D60-9EEA-B1E9CB9F9355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Al cambiar el medio: f se conserva; c y λ pueden cambiar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C93F09F6-0C22-4FB6-A813-25DF8AE7B9D9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2C1D4088-42C4-4DC3-AB76-B3574464C211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Rapidez y cambio de medio. Esquema conceptual; las distancias, tamaños y formas no representan una escala física salvo indicación expresa.</a:t>
            </a:r>
          </a:p>
        </p:txBody>
      </p:sp>
      <p:sp>
        <p:nvSpPr>
          <p:cNvPr id="7" name="slide-number-22">
            <a:extLst>
              <a:ext uri="{FF2B5EF4-FFF2-40B4-BE49-F238E27FC236}">
                <a16:creationId xmlns:a16="http://schemas.microsoft.com/office/drawing/2014/main" id="{E05D084F-D360-43DD-8D1E-72A355870E8B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vider-eyebrow">
            <a:extLst>
              <a:ext uri="{FF2B5EF4-FFF2-40B4-BE49-F238E27FC236}">
                <a16:creationId xmlns:a16="http://schemas.microsoft.com/office/drawing/2014/main" id="{196CD599-D2E0-4782-9517-7B48CC78A9AF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30E4FF03-42D8-4A64-A0FB-B72494EF2A55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000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Del avance de la onda a las magnitudes del campo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8E13CB90-9041-4EBF-8B36-63E1B0FA936C}"/>
              </a:ext>
            </a:extLst>
          </p:cNvPr>
          <p:cNvSpPr>
            <a:spLocks noGrp="1"/>
          </p:cNvSpPr>
          <p:nvPr/>
        </p:nvSpPr>
        <p:spPr>
          <a:xfrm>
            <a:off x="895350" y="3857625"/>
            <a:ext cx="933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magnitudes cambian en el campo y qué ocurre en una interfaz?</a:t>
            </a:r>
          </a:p>
        </p:txBody>
      </p:sp>
      <p:sp>
        <p:nvSpPr>
          <p:cNvPr id="4" name="slide-number-23">
            <a:extLst>
              <a:ext uri="{FF2B5EF4-FFF2-40B4-BE49-F238E27FC236}">
                <a16:creationId xmlns:a16="http://schemas.microsoft.com/office/drawing/2014/main" id="{F451EBD9-6EB4-4D4B-8093-C554318EB15B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Un campo acústico cambia con posición y tiempo»: mapa simple con dos posiciones, dos instantes y tres magnitudes listadas fuera del dibujo. La lectura central es que presión, velocidad e intensidad pueden tener valores diferentes en cada lugar e instante. Recurso principal: U04-DG-007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06E994B2-E01F-44EA-A52D-F0267A673A5F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24">
            <a:extLst>
              <a:ext uri="{FF2B5EF4-FFF2-40B4-BE49-F238E27FC236}">
                <a16:creationId xmlns:a16="http://schemas.microsoft.com/office/drawing/2014/main" id="{934DAE5E-E34F-400A-93FC-CDC1FE794BF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4">
            <a:extLst>
              <a:ext uri="{FF2B5EF4-FFF2-40B4-BE49-F238E27FC236}">
                <a16:creationId xmlns:a16="http://schemas.microsoft.com/office/drawing/2014/main" id="{6555A1A7-A530-4ABD-A415-8BBBD65F5D49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campo acústico cambia con posición y tiempo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B3AF17FC-95D5-4F57-A084-A37325B82F8C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E68A6F8D-AFB2-4BF4-B64F-5469604A672C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Campo, presión y movimiento. Esquema conceptual; las distancias, tamaños y formas no representan una escala física salvo indicación expresa.</a:t>
            </a:r>
          </a:p>
        </p:txBody>
      </p:sp>
      <p:sp>
        <p:nvSpPr>
          <p:cNvPr id="7" name="slide-number-24">
            <a:extLst>
              <a:ext uri="{FF2B5EF4-FFF2-40B4-BE49-F238E27FC236}">
                <a16:creationId xmlns:a16="http://schemas.microsoft.com/office/drawing/2014/main" id="{E2ACD127-16C8-47F4-BE65-32F8750B07ED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Gráfico sobre «La presión acústica es una variación alrededor de la presión estática»: presión total y pequeña oscilación acústica sobre una línea de equilibrio. La lectura central es que la presión total se separa en equilibrio y variación acústica. Recurso principal: U04-CH-001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516F9325-DBCE-4148-86C1-D11F5402E0DB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25">
            <a:extLst>
              <a:ext uri="{FF2B5EF4-FFF2-40B4-BE49-F238E27FC236}">
                <a16:creationId xmlns:a16="http://schemas.microsoft.com/office/drawing/2014/main" id="{4B9CF71F-B630-45C8-87BA-81C061E8F7D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5">
            <a:extLst>
              <a:ext uri="{FF2B5EF4-FFF2-40B4-BE49-F238E27FC236}">
                <a16:creationId xmlns:a16="http://schemas.microsoft.com/office/drawing/2014/main" id="{AD6A5374-317C-42F4-BC87-5EE9C2B09D34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presión acústica es una variación alrededor de la presión estática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BEC13DA2-8577-4393-97D6-235C3A8A5F9B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43FEED50-6125-4A2A-8A8D-7573E491F21D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total y acústica. Figura cuantitativa reproducible; ecuaciones o datos y escala se indican en el recurso. · valores ilustrativos · esc…</a:t>
            </a:r>
          </a:p>
        </p:txBody>
      </p:sp>
      <p:sp>
        <p:nvSpPr>
          <p:cNvPr id="7" name="slide-number-25">
            <a:extLst>
              <a:ext uri="{FF2B5EF4-FFF2-40B4-BE49-F238E27FC236}">
                <a16:creationId xmlns:a16="http://schemas.microsoft.com/office/drawing/2014/main" id="{DBE12D0C-3621-46DA-9FFC-050183B96DBD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`p(t)&lt;0` no significa presión total negativa»: eje de presión con `p_0`, sobrepresión y rarefacción. La lectura central es que un valor acústico negativo indica presión menor que el equilibrio local. Recurso principal: U04-DG-007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DD93BDBC-8302-4C5F-9B5A-84444BC420AF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26">
            <a:extLst>
              <a:ext uri="{FF2B5EF4-FFF2-40B4-BE49-F238E27FC236}">
                <a16:creationId xmlns:a16="http://schemas.microsoft.com/office/drawing/2014/main" id="{DA051481-2898-4EA1-B67B-80A383FD53E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6">
            <a:extLst>
              <a:ext uri="{FF2B5EF4-FFF2-40B4-BE49-F238E27FC236}">
                <a16:creationId xmlns:a16="http://schemas.microsoft.com/office/drawing/2014/main" id="{10CD3493-5B91-4B0E-8215-F34AC346BFA8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p(t)&lt;0 no significa presión total negativa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132D4521-7462-4E93-AAE8-79929FBC65D4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B21A3CCE-5E29-4E81-B38D-ADC4DAE5E95B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Campo, presión y movimiento. Esquema conceptual; las distancias, tamaños y formas no representan una escala física salvo indicación expresa.</a:t>
            </a:r>
          </a:p>
        </p:txBody>
      </p:sp>
      <p:sp>
        <p:nvSpPr>
          <p:cNvPr id="7" name="slide-number-26">
            <a:extLst>
              <a:ext uri="{FF2B5EF4-FFF2-40B4-BE49-F238E27FC236}">
                <a16:creationId xmlns:a16="http://schemas.microsoft.com/office/drawing/2014/main" id="{43203680-CAFD-4C80-8707-0ADF0DF2BAD9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La velocidad de partícula describe movimiento local»: partícula marcada, flecha local `u` y frente separado. La lectura central es que `u` indica cómo se mueve una pequeña región del medio, no cuán rápido avanza la onda. Recurso principal: U04-DG-007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232D703F-6B6B-4E2A-91AF-4AA0488155C5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27">
            <a:extLst>
              <a:ext uri="{FF2B5EF4-FFF2-40B4-BE49-F238E27FC236}">
                <a16:creationId xmlns:a16="http://schemas.microsoft.com/office/drawing/2014/main" id="{50EEE02C-645B-4F33-B66F-2D1F519B23D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7">
            <a:extLst>
              <a:ext uri="{FF2B5EF4-FFF2-40B4-BE49-F238E27FC236}">
                <a16:creationId xmlns:a16="http://schemas.microsoft.com/office/drawing/2014/main" id="{E9B7C11C-DF23-401B-B367-90A992734E02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velocidad de partícula describe movimiento local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844CD09C-1642-4C08-B104-746F0A95BBBB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F584DB9A-E317-45C4-9FA0-FF469B717060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Campo, presión y movimiento. Esquema conceptual; las distancias, tamaños y formas no representan una escala física salvo indicación expresa.</a:t>
            </a:r>
          </a:p>
        </p:txBody>
      </p:sp>
      <p:sp>
        <p:nvSpPr>
          <p:cNvPr id="7" name="slide-number-27">
            <a:extLst>
              <a:ext uri="{FF2B5EF4-FFF2-40B4-BE49-F238E27FC236}">
                <a16:creationId xmlns:a16="http://schemas.microsoft.com/office/drawing/2014/main" id="{47ADE037-B333-423F-B532-FD51E4D055CD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`u` y `c` comparten unidad, pero no pregunta física»: dos paneles coordinados con flechas distintas y síntesis inferior. La lectura central es que `u` describe movimiento local; `c`, avance de fase o perturbación. Recurso principal: U04-DG-007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36620B94-3A63-4CC3-9FB9-F5318EF0D80B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28">
            <a:extLst>
              <a:ext uri="{FF2B5EF4-FFF2-40B4-BE49-F238E27FC236}">
                <a16:creationId xmlns:a16="http://schemas.microsoft.com/office/drawing/2014/main" id="{E8F98BB2-42C0-4860-BC37-DEB4B283B77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8">
            <a:extLst>
              <a:ext uri="{FF2B5EF4-FFF2-40B4-BE49-F238E27FC236}">
                <a16:creationId xmlns:a16="http://schemas.microsoft.com/office/drawing/2014/main" id="{926F6173-6BAF-43BF-9180-F0353C0F4088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 y c comparten unidad, pero no pregunta física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D707344B-B166-45AA-B974-7524287A1DD8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717B2281-AE4D-4485-9224-77E3E489BE80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Campo, presión y movimiento. Esquema conceptual; las distancias, tamaños y formas no representan una escala física salvo indicación expresa.</a:t>
            </a:r>
          </a:p>
        </p:txBody>
      </p:sp>
      <p:sp>
        <p:nvSpPr>
          <p:cNvPr id="7" name="slide-number-28">
            <a:extLst>
              <a:ext uri="{FF2B5EF4-FFF2-40B4-BE49-F238E27FC236}">
                <a16:creationId xmlns:a16="http://schemas.microsoft.com/office/drawing/2014/main" id="{41709AF3-5B61-4B68-AAE7-32ECD8F12313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La impedancia relaciona presión y velocidad de partícula»: presión y movimiento como entradas a una relación, sin usar una división universal. La lectura central es que la relación `p/u` depende del tipo de campo, frecuencia y fase. Recurso principal: U04-DG-008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089302F1-C2B7-41CA-91EA-3A3C03082B0B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29">
            <a:extLst>
              <a:ext uri="{FF2B5EF4-FFF2-40B4-BE49-F238E27FC236}">
                <a16:creationId xmlns:a16="http://schemas.microsoft.com/office/drawing/2014/main" id="{98323DB0-9627-43A7-BB53-1D155588102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9">
            <a:extLst>
              <a:ext uri="{FF2B5EF4-FFF2-40B4-BE49-F238E27FC236}">
                <a16:creationId xmlns:a16="http://schemas.microsoft.com/office/drawing/2014/main" id="{23F026D8-EE6F-4BBA-9327-9DE3906191F6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impedancia relaciona presión y velocidad de partícula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2E5A89AC-AAA5-47D2-808C-B2E6D6D90736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FB624F9F-4D47-4436-939E-961B1F5400A2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Impedancia y reflexión. Esquema conceptual; las distancias, tamaños y formas no representan una escala física salvo indicación expresa.</a:t>
            </a:r>
          </a:p>
        </p:txBody>
      </p:sp>
      <p:sp>
        <p:nvSpPr>
          <p:cNvPr id="7" name="slide-number-29">
            <a:extLst>
              <a:ext uri="{FF2B5EF4-FFF2-40B4-BE49-F238E27FC236}">
                <a16:creationId xmlns:a16="http://schemas.microsoft.com/office/drawing/2014/main" id="{3C5CB9C3-4265-4ACA-967D-DAB0E7EB8949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En una onda plana progresiva ideal, `p/u=ρc`»: ecuación anotada y sello de condiciones; callouts sin cruzar texto. La lectura central es que `Z_0=ρc` vale para un modelo específico, no para todo campo. Recurso principal: U04-DG-008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D7F28E86-A4D0-4984-9704-350344E5D27D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30">
            <a:extLst>
              <a:ext uri="{FF2B5EF4-FFF2-40B4-BE49-F238E27FC236}">
                <a16:creationId xmlns:a16="http://schemas.microsoft.com/office/drawing/2014/main" id="{F9CA9898-A1E5-456A-818A-56CBDE7B2C3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30">
            <a:extLst>
              <a:ext uri="{FF2B5EF4-FFF2-40B4-BE49-F238E27FC236}">
                <a16:creationId xmlns:a16="http://schemas.microsoft.com/office/drawing/2014/main" id="{5E1C3B31-7F32-4AE7-BCF2-3B54C407C285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una onda plana progresiva ideal, p/u=ρc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57C42F56-CE55-41D4-A067-9DAFEF21C452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7C118A78-855B-4EC2-88E7-904F790789E0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Impedancia y reflexión. Esquema conceptual; las distancias, tamaños y formas no representan una escala física salvo indicación expresa.</a:t>
            </a:r>
          </a:p>
        </p:txBody>
      </p:sp>
      <p:sp>
        <p:nvSpPr>
          <p:cNvPr id="7" name="slide-number-30">
            <a:extLst>
              <a:ext uri="{FF2B5EF4-FFF2-40B4-BE49-F238E27FC236}">
                <a16:creationId xmlns:a16="http://schemas.microsoft.com/office/drawing/2014/main" id="{7712ACAF-11E0-4950-B5DD-73AA71BE5993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Una interfaz separa onda incidente, reflejada y transmitida»: reconstrucción de figura 4.1; 3 flechas, 2 nodos de medio y etiquetas fuera de trayectorias. La lectura central es que una parte puede regresar y otra continuar; las proporciones dependen de las impedancias y las condiciones. Recurso principal: U04-DG-008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FBA742B3-9A46-438D-BBB0-582D366A1893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31">
            <a:extLst>
              <a:ext uri="{FF2B5EF4-FFF2-40B4-BE49-F238E27FC236}">
                <a16:creationId xmlns:a16="http://schemas.microsoft.com/office/drawing/2014/main" id="{30C065BB-24C7-42F3-9EF5-CBF2DC03A02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31">
            <a:extLst>
              <a:ext uri="{FF2B5EF4-FFF2-40B4-BE49-F238E27FC236}">
                <a16:creationId xmlns:a16="http://schemas.microsoft.com/office/drawing/2014/main" id="{EDCA5C77-DA91-4B55-943A-043BC5160B71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interfaz separa onda incidente, reflejada y transmitida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2D194ADF-71C2-4728-AC83-15BF62EE4692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27ECCB34-062E-4947-80F1-A68BB64A9F64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Impedancia y reflexión. Esquema conceptual; las distancias, tamaños y formas no representan una escala física salvo indicación expresa.</a:t>
            </a:r>
          </a:p>
        </p:txBody>
      </p:sp>
      <p:sp>
        <p:nvSpPr>
          <p:cNvPr id="7" name="slide-number-31">
            <a:extLst>
              <a:ext uri="{FF2B5EF4-FFF2-40B4-BE49-F238E27FC236}">
                <a16:creationId xmlns:a16="http://schemas.microsoft.com/office/drawing/2014/main" id="{CDC4E62B-64F3-4869-969F-8A4875079978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`R_p` cuantifica la amplitud de presión reflejada»: ecuación anotada conectada a los dos medios y dos casos límite. La lectura central es que signo y módulo de `R_p` responden preguntas distintas. Recurso principal: U04-DG-008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4078508B-FB52-433F-8015-6C6E03405817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32">
            <a:extLst>
              <a:ext uri="{FF2B5EF4-FFF2-40B4-BE49-F238E27FC236}">
                <a16:creationId xmlns:a16="http://schemas.microsoft.com/office/drawing/2014/main" id="{6138920E-54FC-4B54-BE76-54B5F6C996A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32">
            <a:extLst>
              <a:ext uri="{FF2B5EF4-FFF2-40B4-BE49-F238E27FC236}">
                <a16:creationId xmlns:a16="http://schemas.microsoft.com/office/drawing/2014/main" id="{51A7B668-F443-4076-AF40-369A52B18E5C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Rₚ cuantifica la amplitud de presión reflejada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0767A1C7-B430-4FEB-91B0-72F8E07CA616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F6609E29-DF9E-4B10-BC83-3C6A3965B0E7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Impedancia y reflexión. Esquema conceptual; las distancias, tamaños y formas no representan una escala física salvo indicación expresa.</a:t>
            </a:r>
          </a:p>
        </p:txBody>
      </p:sp>
      <p:sp>
        <p:nvSpPr>
          <p:cNvPr id="7" name="slide-number-32">
            <a:extLst>
              <a:ext uri="{FF2B5EF4-FFF2-40B4-BE49-F238E27FC236}">
                <a16:creationId xmlns:a16="http://schemas.microsoft.com/office/drawing/2014/main" id="{7AB1693E-0DEB-4252-9CEB-90CF805527E7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Hasta acá: `p`, `u`, `Z` y reflexión»: mapa reducido `p ↔ u → Z → reflexión`; máximo 4 nodos. La lectura central es que antes de usar una relación hay que identificar variable, unidad, campo e interfaz. Recurso principal: U04-DG-008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B8447890-2482-40DE-97B9-B64AE6D254AE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33">
            <a:extLst>
              <a:ext uri="{FF2B5EF4-FFF2-40B4-BE49-F238E27FC236}">
                <a16:creationId xmlns:a16="http://schemas.microsoft.com/office/drawing/2014/main" id="{0F145262-0ED2-4B42-ADE6-FECF014D52F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33">
            <a:extLst>
              <a:ext uri="{FF2B5EF4-FFF2-40B4-BE49-F238E27FC236}">
                <a16:creationId xmlns:a16="http://schemas.microsoft.com/office/drawing/2014/main" id="{6A99AEFC-B4A1-4197-A550-56E2D4E29F58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p, u, Z y reflexión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12EC5F97-D955-4DC5-9C95-847CEE26662A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43CCB8B8-DF03-4B3F-B11B-9E8F3ED25865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Impedancia y reflexión. Esquema conceptual; las distancias, tamaños y formas no representan una escala física salvo indicación expresa.</a:t>
            </a:r>
          </a:p>
        </p:txBody>
      </p:sp>
      <p:sp>
        <p:nvSpPr>
          <p:cNvPr id="7" name="slide-number-33">
            <a:extLst>
              <a:ext uri="{FF2B5EF4-FFF2-40B4-BE49-F238E27FC236}">
                <a16:creationId xmlns:a16="http://schemas.microsoft.com/office/drawing/2014/main" id="{9F85C3D7-C7FB-4DBB-9C65-F47A2C73CEA0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vider-eyebrow">
            <a:extLst>
              <a:ext uri="{FF2B5EF4-FFF2-40B4-BE49-F238E27FC236}">
                <a16:creationId xmlns:a16="http://schemas.microsoft.com/office/drawing/2014/main" id="{CFED1057-C278-4FC1-818C-48396327F865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3F622EC5-655B-4FA1-B8AC-7614E2D7CA33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000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Del movimiento local al flujo de energía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07CF7241-7CC7-4CEA-BDD9-A0AC7D9C4270}"/>
              </a:ext>
            </a:extLst>
          </p:cNvPr>
          <p:cNvSpPr>
            <a:spLocks noGrp="1"/>
          </p:cNvSpPr>
          <p:nvPr/>
        </p:nvSpPr>
        <p:spPr>
          <a:xfrm>
            <a:off x="895350" y="3857625"/>
            <a:ext cx="933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distinguimos una variable local de la transferencia de energía?</a:t>
            </a:r>
          </a:p>
        </p:txBody>
      </p:sp>
      <p:sp>
        <p:nvSpPr>
          <p:cNvPr id="4" name="slide-number-34">
            <a:extLst>
              <a:ext uri="{FF2B5EF4-FFF2-40B4-BE49-F238E27FC236}">
                <a16:creationId xmlns:a16="http://schemas.microsoft.com/office/drawing/2014/main" id="{69AE1C64-E220-4D1B-ACDA-E865807D26EB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La intensidad instantánea combina presión y velocidad»: ecuación anotada y tabla de signos; no superponer flechas a texto. La lectura central es que el signo del producto indica dirección instantánea del flujo en el eje elegido. Recurso principal: U04-DG-009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677B29D9-83D8-4A04-B8B7-8084B6CBD508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35">
            <a:extLst>
              <a:ext uri="{FF2B5EF4-FFF2-40B4-BE49-F238E27FC236}">
                <a16:creationId xmlns:a16="http://schemas.microsoft.com/office/drawing/2014/main" id="{05127353-550F-4057-AF04-FE8B177B477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35">
            <a:extLst>
              <a:ext uri="{FF2B5EF4-FFF2-40B4-BE49-F238E27FC236}">
                <a16:creationId xmlns:a16="http://schemas.microsoft.com/office/drawing/2014/main" id="{958802F5-15FE-414A-9616-6D11B0217F54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intensidad instantánea combina presión y velocidad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121D7407-EBF7-43FB-81CB-21B1609498FF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C860A742-6223-4D7D-9C27-9594A65A0D56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Intensidad. Esquema conceptual; las distancias, tamaños y formas no representan una escala física salvo indicación expresa.</a:t>
            </a:r>
          </a:p>
        </p:txBody>
      </p:sp>
      <p:sp>
        <p:nvSpPr>
          <p:cNvPr id="7" name="slide-number-35">
            <a:extLst>
              <a:ext uri="{FF2B5EF4-FFF2-40B4-BE49-F238E27FC236}">
                <a16:creationId xmlns:a16="http://schemas.microsoft.com/office/drawing/2014/main" id="{6F5993E9-F848-424E-9471-68D3C15F2EED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Gráfico sobre «Presión y velocidad oscilan; su producto describe el flujo»: reconstrucción de figura 4.2 con tres ejes coordinados y normalización explícita. La lectura central es que en la onda progresiva ideal, `p` y `u` están en fase y `i` presenta dos máximos por período. Recurso principal: U04-CH-002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11B28DF7-1B0B-4B34-B002-AE686721399B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36">
            <a:extLst>
              <a:ext uri="{FF2B5EF4-FFF2-40B4-BE49-F238E27FC236}">
                <a16:creationId xmlns:a16="http://schemas.microsoft.com/office/drawing/2014/main" id="{57C3DE9A-1638-4DB7-8F63-2840B3E5F23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36">
            <a:extLst>
              <a:ext uri="{FF2B5EF4-FFF2-40B4-BE49-F238E27FC236}">
                <a16:creationId xmlns:a16="http://schemas.microsoft.com/office/drawing/2014/main" id="{E4AFF964-F42D-418F-B1EE-7330A5DDD18E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Presión y velocidad oscilan; su producto describe el flujo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8F331AC4-581E-4932-B1F5-7861B32A61E1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5CB15072-B08E-44E6-9C14-4A2009EFA9A9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Presión, velocidad e intensidad. Figura cuantitativa reproducible; ecuaciones o datos y escala se indican en el recurso.</a:t>
            </a:r>
          </a:p>
        </p:txBody>
      </p:sp>
      <p:sp>
        <p:nvSpPr>
          <p:cNvPr id="7" name="slide-number-36">
            <a:extLst>
              <a:ext uri="{FF2B5EF4-FFF2-40B4-BE49-F238E27FC236}">
                <a16:creationId xmlns:a16="http://schemas.microsoft.com/office/drawing/2014/main" id="{8CAA486E-FB46-485C-8EBF-465905BE3352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La intensidad media resume el flujo durante un intervalo»: ecuación anotada y línea temporal con ventana; fórmula discreta como apoyo. La lectura central es que integrar aquí significa promediar `p(t)u(t)` durante una ventana definida. Recurso principal: U04-DG-009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E14C7838-7457-4DA1-ADC7-941C89F7E699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37">
            <a:extLst>
              <a:ext uri="{FF2B5EF4-FFF2-40B4-BE49-F238E27FC236}">
                <a16:creationId xmlns:a16="http://schemas.microsoft.com/office/drawing/2014/main" id="{8DF5AC64-15A8-4C54-A2DA-749922F1EEA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37">
            <a:extLst>
              <a:ext uri="{FF2B5EF4-FFF2-40B4-BE49-F238E27FC236}">
                <a16:creationId xmlns:a16="http://schemas.microsoft.com/office/drawing/2014/main" id="{EFFE1287-142F-4F61-AD59-6392060BD4CC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intensidad media resume el flujo durante un intervalo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BCC5194B-D206-4668-9884-AED0E8DFD45D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0151E492-2A7A-4AF3-A9E4-8BA07E2A3F4E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Intensidad. Esquema conceptual; las distancias, tamaños y formas no representan una escala física salvo indicación expresa.</a:t>
            </a:r>
          </a:p>
        </p:txBody>
      </p:sp>
      <p:sp>
        <p:nvSpPr>
          <p:cNvPr id="7" name="slide-number-37">
            <a:extLst>
              <a:ext uri="{FF2B5EF4-FFF2-40B4-BE49-F238E27FC236}">
                <a16:creationId xmlns:a16="http://schemas.microsoft.com/office/drawing/2014/main" id="{12D1AFA3-9A2A-4A31-BD9E-B4007EE1B9BB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En onda plana ideal, `I` se relaciona con valores RMS»: ecuación central anotada y equivalencias laterales; reservar 28 pt mínimo. La lectura central es que `I=p_rms²/Z_0` requiere el mismo conjunto de hipótesis que `p/u=ρc`. Recurso principal: U04-DG-009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BDE621AD-735C-4E2F-ACDE-FC7711A6C6A0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38">
            <a:extLst>
              <a:ext uri="{FF2B5EF4-FFF2-40B4-BE49-F238E27FC236}">
                <a16:creationId xmlns:a16="http://schemas.microsoft.com/office/drawing/2014/main" id="{21D23B7A-0ED5-4141-B4E6-FAEEE9249D6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38">
            <a:extLst>
              <a:ext uri="{FF2B5EF4-FFF2-40B4-BE49-F238E27FC236}">
                <a16:creationId xmlns:a16="http://schemas.microsoft.com/office/drawing/2014/main" id="{EF933F44-A509-4317-86D6-FEED730132D9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onda plana ideal, I se relaciona con valores RMS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C5638ABD-8B0A-4D89-84E5-D340F95CBFCB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85BAEC68-B2B5-4657-BE9A-178114F99F4F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Intensidad. Esquema conceptual; las distancias, tamaños y formas no representan una escala física salvo indicación expresa.</a:t>
            </a:r>
          </a:p>
        </p:txBody>
      </p:sp>
      <p:sp>
        <p:nvSpPr>
          <p:cNvPr id="7" name="slide-number-38">
            <a:extLst>
              <a:ext uri="{FF2B5EF4-FFF2-40B4-BE49-F238E27FC236}">
                <a16:creationId xmlns:a16="http://schemas.microsoft.com/office/drawing/2014/main" id="{5114BD6D-BF5E-444E-AB39-349AB1ACE394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De `p_rms` a `u_rms` e intensidad»: Ecuaciones editables con revelado por pasos; sin gráfico adicional. La lectura central es que presión, velocidad e intensidad son resultados distintos aunque estén relacionados. Recurso principal: U04-DG-022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E7330148-CA63-4F22-8FD7-C4F71F28915F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39">
            <a:extLst>
              <a:ext uri="{FF2B5EF4-FFF2-40B4-BE49-F238E27FC236}">
                <a16:creationId xmlns:a16="http://schemas.microsoft.com/office/drawing/2014/main" id="{DDBBC07D-1072-473C-9062-B0AFBC51FD9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39">
            <a:extLst>
              <a:ext uri="{FF2B5EF4-FFF2-40B4-BE49-F238E27FC236}">
                <a16:creationId xmlns:a16="http://schemas.microsoft.com/office/drawing/2014/main" id="{AB56AFB6-2212-4CC8-AF4D-9824CD1BE45B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pᵣms a uᵣms e intensidad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2CE3FFD6-53C3-49FF-915C-258E0584AE95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6F6EF33F-C944-4C5A-812D-803B327ECC35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Ejemplos y recordatorio matemático. Esquema conceptual; las distancias, tamaños y formas no representan una escala física salvo indicación exp…</a:t>
            </a:r>
          </a:p>
        </p:txBody>
      </p:sp>
      <p:sp>
        <p:nvSpPr>
          <p:cNvPr id="7" name="slide-number-39">
            <a:extLst>
              <a:ext uri="{FF2B5EF4-FFF2-40B4-BE49-F238E27FC236}">
                <a16:creationId xmlns:a16="http://schemas.microsoft.com/office/drawing/2014/main" id="{F2AD420A-ABD3-4DC4-A564-AC7411EDF03C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squema mixto sobre «Intensidad, potencia y energía responden escalas diferentes»: diagrama `I → superficie → W_ac → tiempo → E_ac` con tabla lateral mínima. La lectura central es que `I` es local/areal; `W_ac` es tasa total; `E_ac` acumula durante un intervalo. Recurso principal: U04-DG-010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30900441-C777-413C-91FC-42BA8DCBB415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40">
            <a:extLst>
              <a:ext uri="{FF2B5EF4-FFF2-40B4-BE49-F238E27FC236}">
                <a16:creationId xmlns:a16="http://schemas.microsoft.com/office/drawing/2014/main" id="{85123519-4D1C-4740-A800-082EF02CB53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40">
            <a:extLst>
              <a:ext uri="{FF2B5EF4-FFF2-40B4-BE49-F238E27FC236}">
                <a16:creationId xmlns:a16="http://schemas.microsoft.com/office/drawing/2014/main" id="{B32E8E3A-101D-4845-9B02-F22E6447FD11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Intensidad, potencia y energía responden escalas diferentes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5F7737B2-866B-45A4-9FD5-786B344C283E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14F53CFD-6C3D-4C2D-BF33-2297A8201C07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Intensidad, potencia, energía y medición. Esquema conceptual; las distancias, tamaños y formas no representan una escala física salvo indicaci…</a:t>
            </a:r>
          </a:p>
        </p:txBody>
      </p:sp>
      <p:sp>
        <p:nvSpPr>
          <p:cNvPr id="7" name="slide-number-40">
            <a:extLst>
              <a:ext uri="{FF2B5EF4-FFF2-40B4-BE49-F238E27FC236}">
                <a16:creationId xmlns:a16="http://schemas.microsoft.com/office/drawing/2014/main" id="{B96D2114-7323-4847-A8B7-8C6E7217E468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6511978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Superficie y tiempo conectan `I`, `W_ac` y `E_ac`»: dos ecuaciones anotadas en secuencia y superficie/intervalo esquemáticos. La lectura central es que las relaciones simples requieren intensidad uniforme/normal y potencia constante. Recurso principal: U04-DG-010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D69D4589-B2D7-4C72-A87D-F2DF9A1027D3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41">
            <a:extLst>
              <a:ext uri="{FF2B5EF4-FFF2-40B4-BE49-F238E27FC236}">
                <a16:creationId xmlns:a16="http://schemas.microsoft.com/office/drawing/2014/main" id="{6FB6EF12-E960-4D3D-9FBC-D0CC4A0D6A7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41">
            <a:extLst>
              <a:ext uri="{FF2B5EF4-FFF2-40B4-BE49-F238E27FC236}">
                <a16:creationId xmlns:a16="http://schemas.microsoft.com/office/drawing/2014/main" id="{371A20FE-A3FF-431A-B2A3-ED23E0D64596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Superficie y tiempo conectan I, Wₐc y Eₐc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EAEF679D-8E23-46C6-867B-BFC9D88A2F44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24C1F0D8-7285-4745-A5C3-8325015F49A2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Intensidad, potencia, energía y medición. Esquema conceptual; las distancias, tamaños y formas no representan una escala física salvo indicaci…</a:t>
            </a:r>
          </a:p>
        </p:txBody>
      </p:sp>
      <p:sp>
        <p:nvSpPr>
          <p:cNvPr id="7" name="slide-number-41">
            <a:extLst>
              <a:ext uri="{FF2B5EF4-FFF2-40B4-BE49-F238E27FC236}">
                <a16:creationId xmlns:a16="http://schemas.microsoft.com/office/drawing/2014/main" id="{49812F5A-DB86-4A75-B177-A6AA4DC845AF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-U04-042">
            <a:extLst>
              <a:ext uri="{FF2B5EF4-FFF2-40B4-BE49-F238E27FC236}">
                <a16:creationId xmlns:a16="http://schemas.microsoft.com/office/drawing/2014/main" id="{01D097A1-D8B5-40A5-9321-F630CA048A1F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42">
            <a:extLst>
              <a:ext uri="{FF2B5EF4-FFF2-40B4-BE49-F238E27FC236}">
                <a16:creationId xmlns:a16="http://schemas.microsoft.com/office/drawing/2014/main" id="{03B9D3D1-B0D3-440B-9319-58477B722231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micrófono mide una variable local; no la potencia total de la fuente</a:t>
            </a:r>
          </a:p>
        </p:txBody>
      </p:sp>
      <p:sp>
        <p:nvSpPr>
          <p:cNvPr id="3" name="image-surface">
            <a:extLst>
              <a:ext uri="{FF2B5EF4-FFF2-40B4-BE49-F238E27FC236}">
                <a16:creationId xmlns:a16="http://schemas.microsoft.com/office/drawing/2014/main" id="{754283EC-FCE8-4A29-8CA3-34E603D1CC37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4953000" cy="4095750"/>
          </a:xfrm>
          <a:prstGeom prst="roundRect">
            <a:avLst>
              <a:gd name="adj" fmla="val 186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</p:sp>
      <p:pic>
        <p:nvPicPr>
          <p:cNvPr id="12" name="Imagen 11" descr="Diagrama sobre «Un micrófono mide una variable local; no la potencia total de la fuente»: proceso de medición con 4 nodos y callout de límites; conexión clínica. La lectura central es que la variable informada depende del sensor, el punto y el procesamiento. Recurso principal: U04-DG-010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24301" y="1752600"/>
            <a:ext cx="1723597" cy="3829050"/>
          </a:xfrm>
          <a:prstGeom prst="rect">
            <a:avLst/>
          </a:prstGeom>
        </p:spPr>
      </p:pic>
      <p:sp>
        <p:nvSpPr>
          <p:cNvPr id="5" name="bullets">
            <a:extLst>
              <a:ext uri="{FF2B5EF4-FFF2-40B4-BE49-F238E27FC236}">
                <a16:creationId xmlns:a16="http://schemas.microsoft.com/office/drawing/2014/main" id="{30125B8F-58AA-489F-9CC8-FADC80D438F1}"/>
              </a:ext>
            </a:extLst>
          </p:cNvPr>
          <p:cNvSpPr>
            <a:spLocks noGrp="1"/>
          </p:cNvSpPr>
          <p:nvPr/>
        </p:nvSpPr>
        <p:spPr>
          <a:xfrm>
            <a:off x="6000750" y="1762125"/>
            <a:ext cx="5429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variable informada depende del sensor, el punto y el procesamiento.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 micrófono calibrado estima presión en un punto; no entrega por sí solo la potencia total de la fuente.</a:t>
            </a:r>
          </a:p>
        </p:txBody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CBD003D8-83EF-4075-A66F-322F54F92D69}"/>
              </a:ext>
            </a:extLst>
          </p:cNvPr>
          <p:cNvSpPr>
            <a:spLocks noGrp="1"/>
          </p:cNvSpPr>
          <p:nvPr/>
        </p:nvSpPr>
        <p:spPr>
          <a:xfrm>
            <a:off x="6000750" y="5000625"/>
            <a:ext cx="542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Intensidad, potencia, energía y medición. Esquema conceptual; las distancias, tamaños y formas no representan una escala física salvo indicación expresa.</a:t>
            </a:r>
          </a:p>
        </p:txBody>
      </p:sp>
      <p:sp>
        <p:nvSpPr>
          <p:cNvPr id="7" name="credit">
            <a:extLst>
              <a:ext uri="{FF2B5EF4-FFF2-40B4-BE49-F238E27FC236}">
                <a16:creationId xmlns:a16="http://schemas.microsoft.com/office/drawing/2014/main" id="{C60B358F-732E-4236-840A-E1173E22C4A0}"/>
              </a:ext>
            </a:extLst>
          </p:cNvPr>
          <p:cNvSpPr>
            <a:spLocks noGrp="1"/>
          </p:cNvSpPr>
          <p:nvPr/>
        </p:nvSpPr>
        <p:spPr>
          <a:xfrm>
            <a:off x="6000750" y="5572125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969FA7"/>
                </a:solidFill>
                <a:latin typeface="Calibri"/>
                <a:ea typeface="Calibri"/>
                <a:cs typeface="Calibri"/>
                <a:hlinkClick r:id="rId4"/>
              </a:rPr>
              <a:t>Foto: Harke, dominio público, vía Wikimedia Commons.</a:t>
            </a:r>
          </a:p>
        </p:txBody>
      </p:sp>
      <p:sp>
        <p:nvSpPr>
          <p:cNvPr id="8" name="slide-number-42">
            <a:extLst>
              <a:ext uri="{FF2B5EF4-FFF2-40B4-BE49-F238E27FC236}">
                <a16:creationId xmlns:a16="http://schemas.microsoft.com/office/drawing/2014/main" id="{71E4FB45-1DAB-4908-AF31-2702BA94A99C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vider-eyebrow">
            <a:extLst>
              <a:ext uri="{FF2B5EF4-FFF2-40B4-BE49-F238E27FC236}">
                <a16:creationId xmlns:a16="http://schemas.microsoft.com/office/drawing/2014/main" id="{3E33C0B6-BF0B-4595-ABAE-470378745295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DBBB059C-C539-4F31-99DA-48BAF7A6F233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000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Una señal variable necesita más de un descriptor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3A3276A7-915B-4AAC-A494-B8EB133D2F5A}"/>
              </a:ext>
            </a:extLst>
          </p:cNvPr>
          <p:cNvSpPr>
            <a:spLocks noGrp="1"/>
          </p:cNvSpPr>
          <p:nvPr/>
        </p:nvSpPr>
        <p:spPr>
          <a:xfrm>
            <a:off x="895350" y="3857625"/>
            <a:ext cx="933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número resume cada aspecto de una señal variable?</a:t>
            </a:r>
          </a:p>
        </p:txBody>
      </p:sp>
      <p:sp>
        <p:nvSpPr>
          <p:cNvPr id="4" name="slide-number-43">
            <a:extLst>
              <a:ext uri="{FF2B5EF4-FFF2-40B4-BE49-F238E27FC236}">
                <a16:creationId xmlns:a16="http://schemas.microsoft.com/office/drawing/2014/main" id="{B3A47C04-57D0-40DC-ABDA-55345E935598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Chart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" name="Marcador de gráfico 14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1" name="Marcador de gráfico 14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32" name="Gráfico 31" descr="Gráfico sobre «Un mismo registro admite resúmenes diferentes»: señal única reutilizable en U04-045–050, con marcadores progresivos. La lectura central es que forma temporal, extremos y balance no contienen la misma información. Recurso principal: U04-CH-003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2" name="visual-title-backing">
            <a:extLst>
              <a:ext uri="{FF2B5EF4-FFF2-40B4-BE49-F238E27FC236}">
                <a16:creationId xmlns:a16="http://schemas.microsoft.com/office/drawing/2014/main" id="{861333FA-F294-4D48-931C-31F6429EAC67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" name="eyebrow-U04-044">
            <a:extLst>
              <a:ext uri="{FF2B5EF4-FFF2-40B4-BE49-F238E27FC236}">
                <a16:creationId xmlns:a16="http://schemas.microsoft.com/office/drawing/2014/main" id="{17E7B04C-712E-4E95-9D4A-E41A0018A44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4" name="title-U04-044">
            <a:extLst>
              <a:ext uri="{FF2B5EF4-FFF2-40B4-BE49-F238E27FC236}">
                <a16:creationId xmlns:a16="http://schemas.microsoft.com/office/drawing/2014/main" id="{EE191B64-7BC6-45C2-BA92-218E2BB5DDC5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mismo registro admite resúmenes diferentes</a:t>
            </a:r>
          </a:p>
        </p:txBody>
      </p:sp>
      <p:sp>
        <p:nvSpPr>
          <p:cNvPr id="25" name="caption-backing">
            <a:extLst>
              <a:ext uri="{FF2B5EF4-FFF2-40B4-BE49-F238E27FC236}">
                <a16:creationId xmlns:a16="http://schemas.microsoft.com/office/drawing/2014/main" id="{7929C8D0-E4DD-47BD-A837-278FD409980E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6" name="caption">
            <a:extLst>
              <a:ext uri="{FF2B5EF4-FFF2-40B4-BE49-F238E27FC236}">
                <a16:creationId xmlns:a16="http://schemas.microsoft.com/office/drawing/2014/main" id="{6A0AD941-F70E-4467-A15B-59C8143BD7BD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Descriptores temporales. Figura cuantitativa reproducible; ecuaciones o datos y escala se indican en el recurso. · señal sintética · límites i…</a:t>
            </a:r>
          </a:p>
        </p:txBody>
      </p:sp>
      <p:sp>
        <p:nvSpPr>
          <p:cNvPr id="27" name="slide-number-44">
            <a:extLst>
              <a:ext uri="{FF2B5EF4-FFF2-40B4-BE49-F238E27FC236}">
                <a16:creationId xmlns:a16="http://schemas.microsoft.com/office/drawing/2014/main" id="{5D8613F5-FB2B-495E-AD9A-2BF3A39D7BCA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squema mixto sobre «Valor instantáneo y valor pico no son intercambiables»: gráfico anotado con callouts; declarar convención de pico. La lectura central es que el instantáneo depende de `t`; el pico es el mayor módulo o extremo según convención declarada. Recurso principal: U04-CH-003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631E030A-2336-4DE8-87C4-5B32937457E1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45">
            <a:extLst>
              <a:ext uri="{FF2B5EF4-FFF2-40B4-BE49-F238E27FC236}">
                <a16:creationId xmlns:a16="http://schemas.microsoft.com/office/drawing/2014/main" id="{2ADFC571-DD77-44E7-BA9B-23671761F33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45">
            <a:extLst>
              <a:ext uri="{FF2B5EF4-FFF2-40B4-BE49-F238E27FC236}">
                <a16:creationId xmlns:a16="http://schemas.microsoft.com/office/drawing/2014/main" id="{2BCEF7A0-779B-4C6D-AA1A-4B2A7A9D9612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Valor instantáneo y valor pico no son intercambiables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FCB243A3-DDA1-4318-9066-F33CC15C4F74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30341853-EA5E-406A-A716-6E2742184885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Descriptores temporales y Descriptores anotados. El gráfico es cuantitativo; el esquema organiza las condiciones y no está a escala.</a:t>
            </a:r>
          </a:p>
        </p:txBody>
      </p:sp>
      <p:sp>
        <p:nvSpPr>
          <p:cNvPr id="7" name="slide-number-45">
            <a:extLst>
              <a:ext uri="{FF2B5EF4-FFF2-40B4-BE49-F238E27FC236}">
                <a16:creationId xmlns:a16="http://schemas.microsoft.com/office/drawing/2014/main" id="{AA843028-76DE-44AD-92E2-B793F63167D0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squema mixto sobre «Pico a pico mide la excursión entre extremos»: ecuación anotada más dos mini gráficos coordinados. La lectura central es que el valor pico a pico no equivale siempre a dos veces el pico. Recurso principal: U04-CH-003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7677416F-06D9-4519-B038-6CBEC6A8AA64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46">
            <a:extLst>
              <a:ext uri="{FF2B5EF4-FFF2-40B4-BE49-F238E27FC236}">
                <a16:creationId xmlns:a16="http://schemas.microsoft.com/office/drawing/2014/main" id="{83E279DC-AF07-4370-9B4F-9C5F14CF277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46">
            <a:extLst>
              <a:ext uri="{FF2B5EF4-FFF2-40B4-BE49-F238E27FC236}">
                <a16:creationId xmlns:a16="http://schemas.microsoft.com/office/drawing/2014/main" id="{55DC6A63-BAB7-4314-A379-3FE6E791430E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Pico a pico mide la excursión entre extremos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F82327EF-5637-4425-8F61-BF61C96086BE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1BD51E5B-8DE1-4E76-877B-9A00849F845E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Descriptores temporales y Descriptores anotados. El gráfico es cuantitativo; el esquema organiza las condiciones y no está a escala.</a:t>
            </a:r>
          </a:p>
        </p:txBody>
      </p:sp>
      <p:sp>
        <p:nvSpPr>
          <p:cNvPr id="7" name="slide-number-46">
            <a:extLst>
              <a:ext uri="{FF2B5EF4-FFF2-40B4-BE49-F238E27FC236}">
                <a16:creationId xmlns:a16="http://schemas.microsoft.com/office/drawing/2014/main" id="{15C31A79-E2BA-48E4-BABD-D3FCCE78E51D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El valor medio expresa balance durante una ventana»: ecuación anotada con ventana temporal y áreas de signo opuesto. La lectura central es que el resultado depende de la ventana y puede ocultar oscilaciones grandes. Recurso principal: U04-DG-011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9FB41260-6518-4738-9F3F-A1CF3D572739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47">
            <a:extLst>
              <a:ext uri="{FF2B5EF4-FFF2-40B4-BE49-F238E27FC236}">
                <a16:creationId xmlns:a16="http://schemas.microsoft.com/office/drawing/2014/main" id="{9C4501EF-19CF-4AE5-969F-2095B9CE935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47">
            <a:extLst>
              <a:ext uri="{FF2B5EF4-FFF2-40B4-BE49-F238E27FC236}">
                <a16:creationId xmlns:a16="http://schemas.microsoft.com/office/drawing/2014/main" id="{07AA035B-FE91-4F5D-8BEF-A0099E32BFA4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valor medio expresa balance durante una ventana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59B627CA-6FD9-4684-9394-578077B83360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14CFDE7F-D12E-4AF6-B3EF-A5B9CC6FB694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Descriptores anotados. Esquema conceptual; las distancias, tamaños y formas no representan una escala física salvo indicación expresa. · señal…</a:t>
            </a:r>
          </a:p>
        </p:txBody>
      </p:sp>
      <p:sp>
        <p:nvSpPr>
          <p:cNvPr id="7" name="slide-number-47">
            <a:extLst>
              <a:ext uri="{FF2B5EF4-FFF2-40B4-BE49-F238E27FC236}">
                <a16:creationId xmlns:a16="http://schemas.microsoft.com/office/drawing/2014/main" id="{5F4EBD6B-2A73-479F-9C01-AD3051214A8E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Gráfico sobre «Media cero no significa señal nula»: seno completo y señal cero con la misma media. La lectura central es que una oscilación equilibrada puede tener energía y amplitud aunque su promedio sea cero. Recurso principal: U04-CH-004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A950AB2A-9050-4D78-9D88-253A9785C705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48">
            <a:extLst>
              <a:ext uri="{FF2B5EF4-FFF2-40B4-BE49-F238E27FC236}">
                <a16:creationId xmlns:a16="http://schemas.microsoft.com/office/drawing/2014/main" id="{F0F26514-9652-41CD-B417-566484B7811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48">
            <a:extLst>
              <a:ext uri="{FF2B5EF4-FFF2-40B4-BE49-F238E27FC236}">
                <a16:creationId xmlns:a16="http://schemas.microsoft.com/office/drawing/2014/main" id="{E32CA30F-EA71-422C-AAB7-E7B4B105F06F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Media cero no significa señal nula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B64780D5-657C-40D1-A43B-A64873393785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53D8CD52-6E2C-453E-AF0C-E15520D8F424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Media cero. Figura cuantitativa reproducible; ecuaciones o datos y escala se indican en el recurso.</a:t>
            </a:r>
          </a:p>
        </p:txBody>
      </p:sp>
      <p:sp>
        <p:nvSpPr>
          <p:cNvPr id="7" name="slide-number-48">
            <a:extLst>
              <a:ext uri="{FF2B5EF4-FFF2-40B4-BE49-F238E27FC236}">
                <a16:creationId xmlns:a16="http://schemas.microsoft.com/office/drawing/2014/main" id="{71C1DAC5-D020-4778-8805-382C3EF9708F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Slide tipográfica titulada «¿Qué descriptor elegirías en cada problema?»; destaca que la elección depende de si interesa instante, límite, excursión o balance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CFCC56FE-B006-4D26-A03C-35FE66239C5B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49">
            <a:extLst>
              <a:ext uri="{FF2B5EF4-FFF2-40B4-BE49-F238E27FC236}">
                <a16:creationId xmlns:a16="http://schemas.microsoft.com/office/drawing/2014/main" id="{CB026365-48A1-4213-BB26-9710A378490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49">
            <a:extLst>
              <a:ext uri="{FF2B5EF4-FFF2-40B4-BE49-F238E27FC236}">
                <a16:creationId xmlns:a16="http://schemas.microsoft.com/office/drawing/2014/main" id="{B5F162BD-9D19-45D5-8CCF-13C12347E1B5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descriptor elegirías en cada problema?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A1765DBC-2442-4C6B-B4EB-C427033C105C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715295CF-475C-45CC-9373-3A4EE59490C7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Pico para saturación; valor medio para componente continua.</a:t>
            </a:r>
          </a:p>
        </p:txBody>
      </p:sp>
      <p:sp>
        <p:nvSpPr>
          <p:cNvPr id="7" name="slide-number-49">
            <a:extLst>
              <a:ext uri="{FF2B5EF4-FFF2-40B4-BE49-F238E27FC236}">
                <a16:creationId xmlns:a16="http://schemas.microsoft.com/office/drawing/2014/main" id="{6317F59B-1E91-4635-BB52-4BDA952F5BF6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Instante, extremo, excursión y balance: cuatro preguntas»: matriz visual de cuatro filas y señal común. La lectura central es que ninguno de estos valores describe por sí solo el “tamaño efectivo” de una señal alternante. Recurso principal: U04-DG-011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BC3D5C82-ABFE-46A5-A226-4508C514C4B9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50">
            <a:extLst>
              <a:ext uri="{FF2B5EF4-FFF2-40B4-BE49-F238E27FC236}">
                <a16:creationId xmlns:a16="http://schemas.microsoft.com/office/drawing/2014/main" id="{CF1C897E-F3B1-4AFD-9533-EB4456FF792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50">
            <a:extLst>
              <a:ext uri="{FF2B5EF4-FFF2-40B4-BE49-F238E27FC236}">
                <a16:creationId xmlns:a16="http://schemas.microsoft.com/office/drawing/2014/main" id="{BED184B9-CB4C-4A3E-98B9-642C7F9972C5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Instante, extremo, excursión y balance: cuatro preguntas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D4D135C2-436B-4F9D-9C5B-DB1DC18EE613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1C11E6B6-4EBA-4085-99EB-D254096B2775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Descriptores anotados. Esquema conceptual; las distancias, tamaños y formas no representan una escala física salvo indicación expresa.</a:t>
            </a:r>
          </a:p>
        </p:txBody>
      </p:sp>
      <p:sp>
        <p:nvSpPr>
          <p:cNvPr id="7" name="slide-number-50">
            <a:extLst>
              <a:ext uri="{FF2B5EF4-FFF2-40B4-BE49-F238E27FC236}">
                <a16:creationId xmlns:a16="http://schemas.microsoft.com/office/drawing/2014/main" id="{15BFFAEB-67C8-400D-94C3-4030ED93B8EE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vider-eyebrow">
            <a:extLst>
              <a:ext uri="{FF2B5EF4-FFF2-40B4-BE49-F238E27FC236}">
                <a16:creationId xmlns:a16="http://schemas.microsoft.com/office/drawing/2014/main" id="{38AD9B32-D461-40BD-A503-7F30B6C9EC14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1DE35DE7-A0B4-4809-B600-B4D1C8823A1A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000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¿Cómo resumimos el efecto de una señal alternante?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0A902ACB-7C94-478F-8522-EB09DBF9C3DF}"/>
              </a:ext>
            </a:extLst>
          </p:cNvPr>
          <p:cNvSpPr>
            <a:spLocks noGrp="1"/>
          </p:cNvSpPr>
          <p:nvPr/>
        </p:nvSpPr>
        <p:spPr>
          <a:xfrm>
            <a:off x="895350" y="3857625"/>
            <a:ext cx="933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cuantificamos el tamaño cuadrático de una señal?</a:t>
            </a:r>
          </a:p>
        </p:txBody>
      </p:sp>
      <p:sp>
        <p:nvSpPr>
          <p:cNvPr id="4" name="slide-number-51">
            <a:extLst>
              <a:ext uri="{FF2B5EF4-FFF2-40B4-BE49-F238E27FC236}">
                <a16:creationId xmlns:a16="http://schemas.microsoft.com/office/drawing/2014/main" id="{AE66DA7A-51CB-4217-B6D4-85ED6DBE78D0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RMS: cuadrar, promediar y extraer raíz»: 3 nodos, conectores y rótulos de función; posible revelado progresivo. La lectura central es que cada paso cumple una función: elimina signo, resume y recupera unidad. Recurso principal: U04-DG-012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D320B28F-68C9-41E6-AFF3-0A7C1A9D42AD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52">
            <a:extLst>
              <a:ext uri="{FF2B5EF4-FFF2-40B4-BE49-F238E27FC236}">
                <a16:creationId xmlns:a16="http://schemas.microsoft.com/office/drawing/2014/main" id="{2E3376F0-BFBB-4E02-95F6-4AD40D71525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52">
            <a:extLst>
              <a:ext uri="{FF2B5EF4-FFF2-40B4-BE49-F238E27FC236}">
                <a16:creationId xmlns:a16="http://schemas.microsoft.com/office/drawing/2014/main" id="{9DBE9F50-2070-4F49-B395-9535725D668D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RMS: cuadrar, promediar y extraer raíz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01BEC34F-83B3-4CD3-91D6-96E569CE74F4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C0028D47-7E0C-4932-B763-E15B6C1369AD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Proceso RMS. Esquema conceptual; las distancias, tamaños y formas no representan una escala física salvo indicación expresa.</a:t>
            </a:r>
          </a:p>
        </p:txBody>
      </p:sp>
      <p:sp>
        <p:nvSpPr>
          <p:cNvPr id="7" name="slide-number-52">
            <a:extLst>
              <a:ext uri="{FF2B5EF4-FFF2-40B4-BE49-F238E27FC236}">
                <a16:creationId xmlns:a16="http://schemas.microsoft.com/office/drawing/2014/main" id="{0FC843D2-9DE6-4A62-BF09-F96AC575DF8C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Gráfico sobre «El cuadrado transforma signo en contribución positiva»: reconstrucción de figura 4.3 en cuatro paneles coordinados. La lectura central es que regiones positivas y negativas de la señal aportan positivamente tras elevar al cuadrado. Recurso principal: U04-CH-005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ED5AB293-2A02-46FF-B9B6-CD5DBAC53B79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53">
            <a:extLst>
              <a:ext uri="{FF2B5EF4-FFF2-40B4-BE49-F238E27FC236}">
                <a16:creationId xmlns:a16="http://schemas.microsoft.com/office/drawing/2014/main" id="{2769F622-F33A-4737-A69E-719C6345CAA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53">
            <a:extLst>
              <a:ext uri="{FF2B5EF4-FFF2-40B4-BE49-F238E27FC236}">
                <a16:creationId xmlns:a16="http://schemas.microsoft.com/office/drawing/2014/main" id="{3BD04D75-D08F-4351-B1F2-9A947150468F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cuadrado transforma signo en contribución positiva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EA49B714-2589-44BF-9C57-ADD9602A720F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60836F8D-6221-40D5-8910-B33243417F97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Construcción RMS. Figura cuantitativa reproducible; ecuaciones o datos y escala se indican en el recurso.</a:t>
            </a:r>
          </a:p>
        </p:txBody>
      </p:sp>
      <p:sp>
        <p:nvSpPr>
          <p:cNvPr id="7" name="slide-number-53">
            <a:extLst>
              <a:ext uri="{FF2B5EF4-FFF2-40B4-BE49-F238E27FC236}">
                <a16:creationId xmlns:a16="http://schemas.microsoft.com/office/drawing/2014/main" id="{6D2FF16B-F994-4D4D-87C7-9AF972B47CB1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La ventana de observación forma parte del RMS»: ecuación anotada y ventana sobre eje temporal. La lectura central es que `x_rms` depende de qué intervalo se promedia. Recurso principal: U04-DG-012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5CAF5A60-84DE-430C-95F2-76E3278394B6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54">
            <a:extLst>
              <a:ext uri="{FF2B5EF4-FFF2-40B4-BE49-F238E27FC236}">
                <a16:creationId xmlns:a16="http://schemas.microsoft.com/office/drawing/2014/main" id="{EFEB0F8F-5EC7-454D-9B5B-C2AC442FCB6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54">
            <a:extLst>
              <a:ext uri="{FF2B5EF4-FFF2-40B4-BE49-F238E27FC236}">
                <a16:creationId xmlns:a16="http://schemas.microsoft.com/office/drawing/2014/main" id="{7539826B-34AF-4559-8BD5-80EAF1D76EB0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ventana de observación forma parte del RMS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0F9F46E0-EAB5-44B3-A3C3-7879CF8C02C6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6F900348-8954-4D1F-BADF-C17F1EBF2479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Proceso RMS. Esquema conceptual; las distancias, tamaños y formas no representan una escala física salvo indicación expresa.</a:t>
            </a:r>
          </a:p>
        </p:txBody>
      </p:sp>
      <p:sp>
        <p:nvSpPr>
          <p:cNvPr id="7" name="slide-number-54">
            <a:extLst>
              <a:ext uri="{FF2B5EF4-FFF2-40B4-BE49-F238E27FC236}">
                <a16:creationId xmlns:a16="http://schemas.microsoft.com/office/drawing/2014/main" id="{B3043C37-9CD6-41D4-9E21-1B72C5796C36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Para una sinusoide, `x_rms=x_pico/√2`»: ecuación anotada con sello “solo sinusoide”. La lectura central es que el factor `1/√2` no vale para cualquier forma de onda. Recurso principal: U04-DG-012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4C1E98C3-5FA3-4D8F-85DD-6D44402ECE72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55">
            <a:extLst>
              <a:ext uri="{FF2B5EF4-FFF2-40B4-BE49-F238E27FC236}">
                <a16:creationId xmlns:a16="http://schemas.microsoft.com/office/drawing/2014/main" id="{67E590BB-B331-4E04-AE09-DFFD84CC4A3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55">
            <a:extLst>
              <a:ext uri="{FF2B5EF4-FFF2-40B4-BE49-F238E27FC236}">
                <a16:creationId xmlns:a16="http://schemas.microsoft.com/office/drawing/2014/main" id="{A96371A4-0F01-4E1E-BEFA-73A52DEDA62F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Para una sinusoide, xᵣms=xₚico/√2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9867A504-17DA-4A08-A6D6-98C6CA7FA5E1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F093162E-244A-46A5-9D10-0A722D24A493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Proceso RMS. Esquema conceptual; las distancias, tamaños y formas no representan una escala física salvo indicación expresa.</a:t>
            </a:r>
          </a:p>
        </p:txBody>
      </p:sp>
      <p:sp>
        <p:nvSpPr>
          <p:cNvPr id="7" name="slide-number-55">
            <a:extLst>
              <a:ext uri="{FF2B5EF4-FFF2-40B4-BE49-F238E27FC236}">
                <a16:creationId xmlns:a16="http://schemas.microsoft.com/office/drawing/2014/main" id="{0B3EB36C-F9CE-4267-B520-2A29DD8C9B99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De pico a RMS sin perder unidades»: Ecuaciones editables con revelado por pasos. La lectura central es que la operación cambia el valor, no la magnitud ni su unidad. Recurso principal: U04-CH-005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D28F1E81-23E1-473F-B3F6-199CCF8CDFA9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56">
            <a:extLst>
              <a:ext uri="{FF2B5EF4-FFF2-40B4-BE49-F238E27FC236}">
                <a16:creationId xmlns:a16="http://schemas.microsoft.com/office/drawing/2014/main" id="{7F111C96-298A-4686-90AE-724571FFD92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56">
            <a:extLst>
              <a:ext uri="{FF2B5EF4-FFF2-40B4-BE49-F238E27FC236}">
                <a16:creationId xmlns:a16="http://schemas.microsoft.com/office/drawing/2014/main" id="{FF12A997-E281-4B6D-B983-ACD056E3C3DE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pico a RMS sin perder unidades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0A403A8E-28A9-4B8A-84C7-7D3F26017769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62C8D8E5-ED9D-446E-B3AF-2CB06E1440CF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Construcción RMS. Esquema conceptual; las distancias, tamaños y formas no representan una escala física salvo indicación expresa.</a:t>
            </a:r>
          </a:p>
        </p:txBody>
      </p:sp>
      <p:sp>
        <p:nvSpPr>
          <p:cNvPr id="7" name="slide-number-56">
            <a:extLst>
              <a:ext uri="{FF2B5EF4-FFF2-40B4-BE49-F238E27FC236}">
                <a16:creationId xmlns:a16="http://schemas.microsoft.com/office/drawing/2014/main" id="{BB9C9D79-E273-4E39-BB60-68B1A44F99D1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Gráfico sobre «Tono puro y señal compleja pueden compartir RMS»: dos señales normalizadas con igual RMS; sin anticipar espectros detallados. La lectura central es que igual RMS no implica igual forma de onda ni igual contenido frecuencial. Recurso principal: U04-CH-006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7C8EC630-66A9-49F2-B742-B4C57BA4690C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57">
            <a:extLst>
              <a:ext uri="{FF2B5EF4-FFF2-40B4-BE49-F238E27FC236}">
                <a16:creationId xmlns:a16="http://schemas.microsoft.com/office/drawing/2014/main" id="{ED924C4B-E33A-4E6E-B8ED-7AED3D86845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57">
            <a:extLst>
              <a:ext uri="{FF2B5EF4-FFF2-40B4-BE49-F238E27FC236}">
                <a16:creationId xmlns:a16="http://schemas.microsoft.com/office/drawing/2014/main" id="{6F0B352C-3F58-4BEB-92B5-7D4FA383BAE1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Tono puro y señal compleja pueden compartir RMS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3B035CFC-2BCE-4852-8DFF-E9DAA5984AB0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63A6AB12-55E3-4EAA-ABCC-8BC9101CB9D7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Igual RMS, distinta forma. Figura cuantitativa reproducible; ecuaciones o datos y escala se indican en el recurso. · señales sintéticas · mism…</a:t>
            </a:r>
          </a:p>
        </p:txBody>
      </p:sp>
      <p:sp>
        <p:nvSpPr>
          <p:cNvPr id="7" name="slide-number-57">
            <a:extLst>
              <a:ext uri="{FF2B5EF4-FFF2-40B4-BE49-F238E27FC236}">
                <a16:creationId xmlns:a16="http://schemas.microsoft.com/office/drawing/2014/main" id="{21F0C04C-8B3C-4DC4-A76C-B2313D017D72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058">
            <a:extLst>
              <a:ext uri="{FF2B5EF4-FFF2-40B4-BE49-F238E27FC236}">
                <a16:creationId xmlns:a16="http://schemas.microsoft.com/office/drawing/2014/main" id="{2CC7D2B6-6AB0-4FE0-8D1E-D444506A9CE2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58">
            <a:extLst>
              <a:ext uri="{FF2B5EF4-FFF2-40B4-BE49-F238E27FC236}">
                <a16:creationId xmlns:a16="http://schemas.microsoft.com/office/drawing/2014/main" id="{440BDAA1-C72A-4ADA-BDF9-8EDB185F09E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RMS resume tamaño eficaz, no forma ni frecuencia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01C17129-0E71-4E8E-8AB4-9F303B922215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63B13BD1-33A2-4AF3-AA5E-2165E5B1D247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pᵣₘₛ=p̂/√2 solo para una sinusoide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AAE25ACB-D3B2-4782-90E9-3AEC23EC2D2E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Para interpretar RMS también hay que conocer señal, ventana y condiciones.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pᵣₘₛ=p̂/√2 solo para una sinusoide</a:t>
            </a:r>
          </a:p>
        </p:txBody>
      </p:sp>
      <p:sp>
        <p:nvSpPr>
          <p:cNvPr id="6" name="slide-number-58">
            <a:extLst>
              <a:ext uri="{FF2B5EF4-FFF2-40B4-BE49-F238E27FC236}">
                <a16:creationId xmlns:a16="http://schemas.microsoft.com/office/drawing/2014/main" id="{0488779D-0B27-4E2C-ACB7-3DD3CE49CA3C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vider-eyebrow">
            <a:extLst>
              <a:ext uri="{FF2B5EF4-FFF2-40B4-BE49-F238E27FC236}">
                <a16:creationId xmlns:a16="http://schemas.microsoft.com/office/drawing/2014/main" id="{F088875E-CF59-4984-8A76-CC0DACA4BEDB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F3E1FB50-C770-46D0-A33E-97A02BA76716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000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 nivel siempre compara con una referencia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90B2AD17-E9B3-483C-906D-3C5D1E3990E4}"/>
              </a:ext>
            </a:extLst>
          </p:cNvPr>
          <p:cNvSpPr>
            <a:spLocks noGrp="1"/>
          </p:cNvSpPr>
          <p:nvPr/>
        </p:nvSpPr>
        <p:spPr>
          <a:xfrm>
            <a:off x="895350" y="3857625"/>
            <a:ext cx="933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debe acompañar siempre a un valor en decibeles?</a:t>
            </a:r>
          </a:p>
        </p:txBody>
      </p:sp>
      <p:sp>
        <p:nvSpPr>
          <p:cNvPr id="4" name="slide-number-59">
            <a:extLst>
              <a:ext uri="{FF2B5EF4-FFF2-40B4-BE49-F238E27FC236}">
                <a16:creationId xmlns:a16="http://schemas.microsoft.com/office/drawing/2014/main" id="{77E94707-E9D5-4C18-BC25-AE15653DC5AA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Para informar un nivel hacen falta tres datos»: tríada de tres nodos convergentes en una lectura completa. La lectura central es que magnitud, referencia y tipo de nivel determinan el significado. Recurso principal: U04-DG-013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61FDD660-60AA-4737-BF22-42DD968AB3C1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60">
            <a:extLst>
              <a:ext uri="{FF2B5EF4-FFF2-40B4-BE49-F238E27FC236}">
                <a16:creationId xmlns:a16="http://schemas.microsoft.com/office/drawing/2014/main" id="{DE7BB694-21AF-4423-834B-ECFA8EDA661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60">
            <a:extLst>
              <a:ext uri="{FF2B5EF4-FFF2-40B4-BE49-F238E27FC236}">
                <a16:creationId xmlns:a16="http://schemas.microsoft.com/office/drawing/2014/main" id="{212FED48-0E9A-4800-B8DF-AEC2D5256EDA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Para informar un nivel hacen falta tres datos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05E73AF0-C893-44D1-80C0-86BD002FF268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525E0B81-6505-42D4-A60D-C116792D8A8D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Niveles y referencias. Esquema conceptual; las distancias, tamaños y formas no representan una escala física salvo indicación expresa.</a:t>
            </a:r>
          </a:p>
        </p:txBody>
      </p:sp>
      <p:sp>
        <p:nvSpPr>
          <p:cNvPr id="7" name="slide-number-60">
            <a:extLst>
              <a:ext uri="{FF2B5EF4-FFF2-40B4-BE49-F238E27FC236}">
                <a16:creationId xmlns:a16="http://schemas.microsoft.com/office/drawing/2014/main" id="{0BF4288D-4AA6-421A-9D2E-80D6E8F4D0A1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“60 dB” es una información incompleta»: etiqueta incompleta que se completa por etapas. La lectura central es que el mismo número puede corresponder a referencias y significados distintos. Recurso principal: U04-DG-013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F93F2D6E-BDEA-49A0-9BB2-E9D528A80168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61">
            <a:extLst>
              <a:ext uri="{FF2B5EF4-FFF2-40B4-BE49-F238E27FC236}">
                <a16:creationId xmlns:a16="http://schemas.microsoft.com/office/drawing/2014/main" id="{B2F269F2-DAE4-438F-8B3C-CE204009670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61">
            <a:extLst>
              <a:ext uri="{FF2B5EF4-FFF2-40B4-BE49-F238E27FC236}">
                <a16:creationId xmlns:a16="http://schemas.microsoft.com/office/drawing/2014/main" id="{E4B44D09-D806-4FEA-A44F-D8DD665D7BC6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“60 dB” es una información incompleta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B9D85A5F-0F5F-478C-9D1F-05B267DBE14A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4AEA90B8-32A3-4109-B269-C4534276D79C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Niveles y referencias. Esquema conceptual; las distancias, tamaños y formas no representan una escala física salvo indicación expresa.</a:t>
            </a:r>
          </a:p>
        </p:txBody>
      </p:sp>
      <p:sp>
        <p:nvSpPr>
          <p:cNvPr id="7" name="slide-number-61">
            <a:extLst>
              <a:ext uri="{FF2B5EF4-FFF2-40B4-BE49-F238E27FC236}">
                <a16:creationId xmlns:a16="http://schemas.microsoft.com/office/drawing/2014/main" id="{BC54819A-92AA-4472-98F9-80EFD6ADA6F0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`L_p` compara presión RMS con una referencia»: ecuación anotada con callouts y caja de referencia/medio. La lectura central es que `L_p=20 log10(p_rms/p_ref)` solo cobra sentido con `p_ref` declarado. Recurso principal: U04-DG-013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4ABD6816-6585-4F73-B9C5-C9C75C4790B2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62">
            <a:extLst>
              <a:ext uri="{FF2B5EF4-FFF2-40B4-BE49-F238E27FC236}">
                <a16:creationId xmlns:a16="http://schemas.microsoft.com/office/drawing/2014/main" id="{30AB0249-0044-4B49-BF12-90F27AF6090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62">
            <a:extLst>
              <a:ext uri="{FF2B5EF4-FFF2-40B4-BE49-F238E27FC236}">
                <a16:creationId xmlns:a16="http://schemas.microsoft.com/office/drawing/2014/main" id="{6D7014C3-98D5-452C-A109-C0DE1321F340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Lₚ compara presión RMS con una referencia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5BB1F8FC-D9E6-400F-A8E4-B65F11359A0E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3FFE3787-B22C-4EFC-B2E8-D7C25432A20E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Niveles y referencias. Esquema conceptual; las distancias, tamaños y formas no representan una escala física salvo indicación expresa.</a:t>
            </a:r>
          </a:p>
        </p:txBody>
      </p:sp>
      <p:sp>
        <p:nvSpPr>
          <p:cNvPr id="7" name="slide-number-62">
            <a:extLst>
              <a:ext uri="{FF2B5EF4-FFF2-40B4-BE49-F238E27FC236}">
                <a16:creationId xmlns:a16="http://schemas.microsoft.com/office/drawing/2014/main" id="{BB6C3D07-065C-42C8-9F38-5B5FE2F81556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`0,20 Pa` corresponde a `80 dB SPL` en aire»: Ecuaciones editables con revelado por pasos. La lectura central es que el resultado es una razón logarítmica respecto de `20 µPa`. Recurso principal: U04-DG-013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8DBE06A1-56F2-4298-83DE-FF3690DA3DD5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63">
            <a:extLst>
              <a:ext uri="{FF2B5EF4-FFF2-40B4-BE49-F238E27FC236}">
                <a16:creationId xmlns:a16="http://schemas.microsoft.com/office/drawing/2014/main" id="{54DB50B4-C957-42AC-AEA5-1A87E1691E4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63">
            <a:extLst>
              <a:ext uri="{FF2B5EF4-FFF2-40B4-BE49-F238E27FC236}">
                <a16:creationId xmlns:a16="http://schemas.microsoft.com/office/drawing/2014/main" id="{A61CFE30-3212-4BCE-8CA1-A8047F99DF5F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0,20 Pa corresponde a 80 dB SPL en aire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B6AECDAA-0747-4AB4-9395-15C3062E5C26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3132B926-61DE-4C44-AFD4-F9C109025971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Niveles y referencias. Esquema conceptual; las distancias, tamaños y formas no representan una escala física salvo indicación expresa.</a:t>
            </a:r>
          </a:p>
        </p:txBody>
      </p:sp>
      <p:sp>
        <p:nvSpPr>
          <p:cNvPr id="7" name="slide-number-63">
            <a:extLst>
              <a:ext uri="{FF2B5EF4-FFF2-40B4-BE49-F238E27FC236}">
                <a16:creationId xmlns:a16="http://schemas.microsoft.com/office/drawing/2014/main" id="{BD7EAE24-FDFB-4513-9F97-59ED1B4A7C09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Gráfico sobre «La escala logarítmica comprime un rango enorme»: reconstrucción pedagógica de figura 4.4, sin asociar aún sonoridad subjetiva. La lectura central es que multiplicar presión por diez suma 20 dB; duplicarla suma aproximadamente 6 dB. Recurso principal: U04-CH-007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9BE88AA3-B508-42F0-89FF-906754323552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64">
            <a:extLst>
              <a:ext uri="{FF2B5EF4-FFF2-40B4-BE49-F238E27FC236}">
                <a16:creationId xmlns:a16="http://schemas.microsoft.com/office/drawing/2014/main" id="{4FF60E82-0252-48FD-9637-F3F41DD9A2B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64">
            <a:extLst>
              <a:ext uri="{FF2B5EF4-FFF2-40B4-BE49-F238E27FC236}">
                <a16:creationId xmlns:a16="http://schemas.microsoft.com/office/drawing/2014/main" id="{4338BB72-CC6C-4D9D-B1F7-38D9630B4004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escala logarítmica comprime un rango enorme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768DF2CF-A335-4E7B-A52E-F4259DF2B1B7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6BC1348B-E9A6-438A-99C2-8D0128FE4DDC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y nivel. Figura cuantitativa reproducible; ecuaciones o datos y escala se indican en el recurso.</a:t>
            </a:r>
          </a:p>
        </p:txBody>
      </p:sp>
      <p:sp>
        <p:nvSpPr>
          <p:cNvPr id="7" name="slide-number-64">
            <a:extLst>
              <a:ext uri="{FF2B5EF4-FFF2-40B4-BE49-F238E27FC236}">
                <a16:creationId xmlns:a16="http://schemas.microsoft.com/office/drawing/2014/main" id="{4D52A3DE-ACF4-41E8-848B-F51D99E56DC1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065">
            <a:extLst>
              <a:ext uri="{FF2B5EF4-FFF2-40B4-BE49-F238E27FC236}">
                <a16:creationId xmlns:a16="http://schemas.microsoft.com/office/drawing/2014/main" id="{091E09F7-1120-447C-8C81-F9C1B37CA36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65">
            <a:extLst>
              <a:ext uri="{FF2B5EF4-FFF2-40B4-BE49-F238E27FC236}">
                <a16:creationId xmlns:a16="http://schemas.microsoft.com/office/drawing/2014/main" id="{BFD455D8-1F35-4940-906B-68BF24B345D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Igual presión y distinto pᵣef producen niveles distintos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1C1A8DF7-B078-41AB-8BDE-4F5B6AD4E55B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5B88F275-901E-4BA8-B39C-0236BF6C29A4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pᵣₑf,ₐᵢᵣₑ=20\ µPa</a:t>
            </a:r>
          </a:p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pᵣₑf,ₐgᵤₐ=1\ µPa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4E2702D8-DEA8-459A-B465-9C9369E354B1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Los niveles en aire y agua no se comparan sin declarar referencias y condiciones.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pᵣₑf,ₐᵢᵣₑ=20\ µPa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pᵣₑf,ₐgᵤₐ=1\ µPa</a:t>
            </a:r>
          </a:p>
        </p:txBody>
      </p:sp>
      <p:sp>
        <p:nvSpPr>
          <p:cNvPr id="6" name="slide-number-65">
            <a:extLst>
              <a:ext uri="{FF2B5EF4-FFF2-40B4-BE49-F238E27FC236}">
                <a16:creationId xmlns:a16="http://schemas.microsoft.com/office/drawing/2014/main" id="{4CCB354D-E618-41C9-B551-88AE8CA9207D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066">
            <a:extLst>
              <a:ext uri="{FF2B5EF4-FFF2-40B4-BE49-F238E27FC236}">
                <a16:creationId xmlns:a16="http://schemas.microsoft.com/office/drawing/2014/main" id="{CF64C291-31B8-4241-A21C-1FE8ACE795BF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66">
            <a:extLst>
              <a:ext uri="{FF2B5EF4-FFF2-40B4-BE49-F238E27FC236}">
                <a16:creationId xmlns:a16="http://schemas.microsoft.com/office/drawing/2014/main" id="{10DF68FB-1A82-48BE-AC01-58B2E2B79AE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factor 20 proviene de una relación cuadrática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285B1E52-A6A0-4200-88F7-D55412D58380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E2BDB238-8F2F-459E-B4BF-323B30422253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10log₁₀ [(p/pᵣₑf)²]=20log₁₀(p/pᵣₑf)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AD562265-CFD8-4093-B8CA-6A4A6BF9AD7C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 potencia o intensidad es proporcional al cuadrado de presión, el exponente pasa delante del logaritmo.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10log₁₀ [(p/pᵣₑf)²]=20log₁₀(p/pᵣₑf)</a:t>
            </a:r>
          </a:p>
        </p:txBody>
      </p:sp>
      <p:sp>
        <p:nvSpPr>
          <p:cNvPr id="6" name="slide-number-66">
            <a:extLst>
              <a:ext uri="{FF2B5EF4-FFF2-40B4-BE49-F238E27FC236}">
                <a16:creationId xmlns:a16="http://schemas.microsoft.com/office/drawing/2014/main" id="{30B426B7-7956-4459-946A-BC06ACDFC26B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a 8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table">
            <a:tbl>
              <a:tblPr firstRow="1" bandRow="1"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Prefijo</a:t>
                      </a:r>
                    </a:p>
                  </a:txBody>
                  <a:tcPr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Símbolo</a:t>
                      </a:r>
                    </a:p>
                  </a:txBody>
                  <a:tcPr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Factor</a:t>
                      </a:r>
                    </a:p>
                  </a:txBody>
                  <a:tcPr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Ejemplo</a:t>
                      </a:r>
                    </a:p>
                  </a:txBody>
                  <a:tcPr>
                    <a:solidFill>
                      <a:srgbClr val="4D14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kilo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10³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1 kHz = 1000 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mili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10⁻³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1 ms = 0,001 s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micro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10⁻⁶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1 µs = 0,000001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mega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10⁶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1 MHz = 1 000 000 Hz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" name="Marcador de tabla 6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Marcador de tabla 6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4" name="Gráfico 23" descr="Ecuación anotada sobre «Presión, intensidad y potencia tienen niveles distintos»: tabla comparativa de tres niveles; ecuaciones editables. La lectura central es que intensidad y potencia usan `10 log` y referencias propias. Recurso principal: U04-DG-013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14" name="visual-title-backing">
            <a:extLst>
              <a:ext uri="{FF2B5EF4-FFF2-40B4-BE49-F238E27FC236}">
                <a16:creationId xmlns:a16="http://schemas.microsoft.com/office/drawing/2014/main" id="{778B4544-AC04-4E0F-B678-326914A47C59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5" name="eyebrow-U04-067">
            <a:extLst>
              <a:ext uri="{FF2B5EF4-FFF2-40B4-BE49-F238E27FC236}">
                <a16:creationId xmlns:a16="http://schemas.microsoft.com/office/drawing/2014/main" id="{3CA532E4-14E5-4088-8DFE-3393A8B21C1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16" name="title-U04-067">
            <a:extLst>
              <a:ext uri="{FF2B5EF4-FFF2-40B4-BE49-F238E27FC236}">
                <a16:creationId xmlns:a16="http://schemas.microsoft.com/office/drawing/2014/main" id="{29C294C2-C07E-45FE-863C-670CF816C002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Presión, intensidad y potencia tienen niveles distintos</a:t>
            </a:r>
          </a:p>
        </p:txBody>
      </p:sp>
      <p:sp>
        <p:nvSpPr>
          <p:cNvPr id="17" name="caption-backing">
            <a:extLst>
              <a:ext uri="{FF2B5EF4-FFF2-40B4-BE49-F238E27FC236}">
                <a16:creationId xmlns:a16="http://schemas.microsoft.com/office/drawing/2014/main" id="{DB93E348-8A24-4C91-8077-927AF108F527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8" name="caption">
            <a:extLst>
              <a:ext uri="{FF2B5EF4-FFF2-40B4-BE49-F238E27FC236}">
                <a16:creationId xmlns:a16="http://schemas.microsoft.com/office/drawing/2014/main" id="{F4A6CB5D-5B46-4009-9AFA-9E20B60470D3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Niveles y referencias. Esquema conceptual; las distancias, tamaños y formas no representan una escala física salvo indicación expresa.</a:t>
            </a:r>
          </a:p>
        </p:txBody>
      </p:sp>
      <p:sp>
        <p:nvSpPr>
          <p:cNvPr id="19" name="slide-number-67">
            <a:extLst>
              <a:ext uri="{FF2B5EF4-FFF2-40B4-BE49-F238E27FC236}">
                <a16:creationId xmlns:a16="http://schemas.microsoft.com/office/drawing/2014/main" id="{854F1947-397C-460C-83DF-A83263BBE1D3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SPL, HL y sonoridad no son sinónimos»: tres columnas con relaciones permitidas y límites. La lectura central es que `dB SPL` describe presión relativa; `dB HL` usa referencias audiométricas; sonoridad es perceptual. Recurso principal: U04-DG-013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600FAFF1-74FF-4125-A693-6367F42A9572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68">
            <a:extLst>
              <a:ext uri="{FF2B5EF4-FFF2-40B4-BE49-F238E27FC236}">
                <a16:creationId xmlns:a16="http://schemas.microsoft.com/office/drawing/2014/main" id="{60492E44-471A-4D30-ADBE-CC954FE839B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68">
            <a:extLst>
              <a:ext uri="{FF2B5EF4-FFF2-40B4-BE49-F238E27FC236}">
                <a16:creationId xmlns:a16="http://schemas.microsoft.com/office/drawing/2014/main" id="{30523CCE-1958-4A54-B0BF-8D391F202E1B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SPL, HL y sonoridad no son sinónimos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E7F1E977-DDC7-42BD-85CF-D77E14B74D38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3B7DC73B-FEDF-4F61-A0C6-60B3DAAB3BCF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Niveles y referencias. Esquema conceptual; las distancias, tamaños y formas no representan una escala física salvo indicación expresa.</a:t>
            </a:r>
          </a:p>
        </p:txBody>
      </p:sp>
      <p:sp>
        <p:nvSpPr>
          <p:cNvPr id="7" name="slide-number-68">
            <a:extLst>
              <a:ext uri="{FF2B5EF4-FFF2-40B4-BE49-F238E27FC236}">
                <a16:creationId xmlns:a16="http://schemas.microsoft.com/office/drawing/2014/main" id="{C7A61CEC-D787-4A3B-87DD-755376B55B52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vider-eyebrow">
            <a:extLst>
              <a:ext uri="{FF2B5EF4-FFF2-40B4-BE49-F238E27FC236}">
                <a16:creationId xmlns:a16="http://schemas.microsoft.com/office/drawing/2014/main" id="{9BD57214-4B22-455C-9318-915B6586D97E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F8D5AA90-92A9-4097-9E84-D24E7A286843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000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Para sumar sonidos hay que saber su relación temporal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34464F0B-402B-4361-AEFB-5A6BEEA18F9D}"/>
              </a:ext>
            </a:extLst>
          </p:cNvPr>
          <p:cNvSpPr>
            <a:spLocks noGrp="1"/>
          </p:cNvSpPr>
          <p:nvPr/>
        </p:nvSpPr>
        <p:spPr>
          <a:xfrm>
            <a:off x="895350" y="3857625"/>
            <a:ext cx="933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cambia según la relación temporal entre las señales?</a:t>
            </a:r>
          </a:p>
        </p:txBody>
      </p:sp>
      <p:sp>
        <p:nvSpPr>
          <p:cNvPr id="4" name="slide-number-69">
            <a:extLst>
              <a:ext uri="{FF2B5EF4-FFF2-40B4-BE49-F238E27FC236}">
                <a16:creationId xmlns:a16="http://schemas.microsoft.com/office/drawing/2014/main" id="{27F30210-D5F6-43A5-928C-491B86CDC5DC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Chart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" name="Marcador de gráfico 14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1" name="Marcador de gráfico 14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32" name="Gráfico 31" descr="Esquema mixto sobre «Primero se suman presiones instantáneas»: suma temporal de dos señales sencillas; para el algoritmo. La lectura central es que `p_total(t)=p_1(t)+p_2(t)`; los dB se calculan después. Recurso principal: U04-CH-008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2" name="visual-title-backing">
            <a:extLst>
              <a:ext uri="{FF2B5EF4-FFF2-40B4-BE49-F238E27FC236}">
                <a16:creationId xmlns:a16="http://schemas.microsoft.com/office/drawing/2014/main" id="{0377633E-7F51-4CEB-971F-DD7BF4E291F4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" name="eyebrow-U04-070">
            <a:extLst>
              <a:ext uri="{FF2B5EF4-FFF2-40B4-BE49-F238E27FC236}">
                <a16:creationId xmlns:a16="http://schemas.microsoft.com/office/drawing/2014/main" id="{E2DE6931-1D17-47C8-8752-8EC24CA34BF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4" name="title-U04-070">
            <a:extLst>
              <a:ext uri="{FF2B5EF4-FFF2-40B4-BE49-F238E27FC236}">
                <a16:creationId xmlns:a16="http://schemas.microsoft.com/office/drawing/2014/main" id="{EDD7D7DB-9441-4EAA-800B-F38463E6C2E3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Primero se suman presiones instantáneas</a:t>
            </a:r>
          </a:p>
        </p:txBody>
      </p:sp>
      <p:sp>
        <p:nvSpPr>
          <p:cNvPr id="25" name="caption-backing">
            <a:extLst>
              <a:ext uri="{FF2B5EF4-FFF2-40B4-BE49-F238E27FC236}">
                <a16:creationId xmlns:a16="http://schemas.microsoft.com/office/drawing/2014/main" id="{692CE7B2-ABDE-44F2-957E-B679813D517A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6" name="caption">
            <a:extLst>
              <a:ext uri="{FF2B5EF4-FFF2-40B4-BE49-F238E27FC236}">
                <a16:creationId xmlns:a16="http://schemas.microsoft.com/office/drawing/2014/main" id="{B23036F1-C517-4491-A108-25C2337D0B62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Suma coherente y fase y Lógica de suma. El gráfico es cuantitativo; el esquema organiza las condiciones y no está a escala.</a:t>
            </a:r>
          </a:p>
        </p:txBody>
      </p:sp>
      <p:sp>
        <p:nvSpPr>
          <p:cNvPr id="27" name="slide-number-70">
            <a:extLst>
              <a:ext uri="{FF2B5EF4-FFF2-40B4-BE49-F238E27FC236}">
                <a16:creationId xmlns:a16="http://schemas.microsoft.com/office/drawing/2014/main" id="{48655D8D-E557-4E38-9573-B928AA1837EF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Coherencia exige una relación de fase estable»: dos pares de señales y marcador de fase estable/inestable. La lectura central es que dos componentes coherentes mantienen frecuencia común y diferencia de fase estable durante la observación. Recurso principal: U04-DG-014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9602B212-EA9F-44B5-A534-62577A811B4D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71">
            <a:extLst>
              <a:ext uri="{FF2B5EF4-FFF2-40B4-BE49-F238E27FC236}">
                <a16:creationId xmlns:a16="http://schemas.microsoft.com/office/drawing/2014/main" id="{70542F10-5D81-415F-A470-E1457819638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71">
            <a:extLst>
              <a:ext uri="{FF2B5EF4-FFF2-40B4-BE49-F238E27FC236}">
                <a16:creationId xmlns:a16="http://schemas.microsoft.com/office/drawing/2014/main" id="{8DEDE968-AB8C-476E-A4CE-7428A49955C1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Coherencia exige una relación de fase estable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B1C349F4-59DD-4D7F-AF84-86019B6E12C6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FE66D4A3-9C89-47E0-93BA-3FD1A59F891A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Lógica de suma. Esquema conceptual; las distancias, tamaños y formas no representan una escala física salvo indicación expresa.</a:t>
            </a:r>
          </a:p>
        </p:txBody>
      </p:sp>
      <p:sp>
        <p:nvSpPr>
          <p:cNvPr id="7" name="slide-number-71">
            <a:extLst>
              <a:ext uri="{FF2B5EF4-FFF2-40B4-BE49-F238E27FC236}">
                <a16:creationId xmlns:a16="http://schemas.microsoft.com/office/drawing/2014/main" id="{9FF5E2A9-6358-433C-83D2-971D4D0AF405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 descr="Gráfico sobre «La fase cambia el resultado de fuentes coherentes»: paneles para `φ=0`, `π/2` y `π`; audio opcional controlado. La lectura central es que con igual amplitud, fase 0 refuerza, fase π cancela y valores intermedios producen resultados intermedios. Recurso principal: U04-CH-008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3A0DFEDD-C0CC-4C66-9FF5-07229A817CEF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72">
            <a:extLst>
              <a:ext uri="{FF2B5EF4-FFF2-40B4-BE49-F238E27FC236}">
                <a16:creationId xmlns:a16="http://schemas.microsoft.com/office/drawing/2014/main" id="{02B70989-0E97-4F92-B04D-5FD30B605CF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72">
            <a:extLst>
              <a:ext uri="{FF2B5EF4-FFF2-40B4-BE49-F238E27FC236}">
                <a16:creationId xmlns:a16="http://schemas.microsoft.com/office/drawing/2014/main" id="{8D67F625-8234-485E-8F68-BF3AAB9A6A17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fase cambia el resultado de fuentes coherentes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A70B8007-27FF-49E1-ABF0-1C2E0D8DA57D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737464C8-5AF8-44BF-BFBF-0BEBB0ACC4BE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Suma coherente y fase. Figura cuantitativa reproducible; ecuaciones o datos y escala se indican en el recurso.</a:t>
            </a:r>
          </a:p>
        </p:txBody>
      </p:sp>
      <p:sp>
        <p:nvSpPr>
          <p:cNvPr id="7" name="media-status">
            <a:extLst>
              <a:ext uri="{FF2B5EF4-FFF2-40B4-BE49-F238E27FC236}">
                <a16:creationId xmlns:a16="http://schemas.microsoft.com/office/drawing/2014/main" id="{0179A86F-D8E3-4322-893A-986C8EC3FE73}"/>
              </a:ext>
            </a:extLst>
          </p:cNvPr>
          <p:cNvSpPr>
            <a:spLocks noGrp="1"/>
          </p:cNvSpPr>
          <p:nvPr/>
        </p:nvSpPr>
        <p:spPr>
          <a:xfrm>
            <a:off x="8210550" y="400050"/>
            <a:ext cx="3371850" cy="228600"/>
          </a:xfrm>
          <a:prstGeom prst="roundRect">
            <a:avLst>
              <a:gd name="adj" fmla="val 50000"/>
            </a:avLst>
          </a:prstGeom>
          <a:solidFill>
            <a:srgbClr val="E7F1F1"/>
          </a:solidFill>
          <a:ln w="0">
            <a:noFill/>
            <a:prstDash val="solid"/>
          </a:ln>
        </p:spPr>
      </p:sp>
      <p:sp>
        <p:nvSpPr>
          <p:cNvPr id="8" name="media-label">
            <a:extLst>
              <a:ext uri="{FF2B5EF4-FFF2-40B4-BE49-F238E27FC236}">
                <a16:creationId xmlns:a16="http://schemas.microsoft.com/office/drawing/2014/main" id="{7D4CEBA7-AFC2-403E-BA5E-F3C7DA0B93AD}"/>
              </a:ext>
            </a:extLst>
          </p:cNvPr>
          <p:cNvSpPr>
            <a:spLocks noGrp="1"/>
          </p:cNvSpPr>
          <p:nvPr/>
        </p:nvSpPr>
        <p:spPr>
          <a:xfrm>
            <a:off x="8324850" y="438150"/>
            <a:ext cx="3143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ALTERNATIVA ESTÁTICA · MEDIA NO INCRUSTADA</a:t>
            </a:r>
          </a:p>
        </p:txBody>
      </p:sp>
      <p:sp>
        <p:nvSpPr>
          <p:cNvPr id="9" name="slide-number-72">
            <a:extLst>
              <a:ext uri="{FF2B5EF4-FFF2-40B4-BE49-F238E27FC236}">
                <a16:creationId xmlns:a16="http://schemas.microsoft.com/office/drawing/2014/main" id="{707C07D7-35F2-4E17-BE88-0CEE6B17BBE2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 descr="Ecuación anotada sobre «La suma coherente conserva el término de fase»: ecuación central con tres ramas de `cosφ`. La lectura central es que el término `2p_1p_2 cosφ` explica refuerzo y cancelación. Recurso principal: U04-DG-014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5FD8EDB9-3FDD-4E85-AF4D-D2A22BBB716F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73">
            <a:extLst>
              <a:ext uri="{FF2B5EF4-FFF2-40B4-BE49-F238E27FC236}">
                <a16:creationId xmlns:a16="http://schemas.microsoft.com/office/drawing/2014/main" id="{CF8C67C4-553E-48E0-85EC-4A9940421ED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73">
            <a:extLst>
              <a:ext uri="{FF2B5EF4-FFF2-40B4-BE49-F238E27FC236}">
                <a16:creationId xmlns:a16="http://schemas.microsoft.com/office/drawing/2014/main" id="{FED49EA6-9185-43ED-9721-BE702B83F53F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suma coherente conserva el término de fase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6E8B7D88-EBEB-4ED1-85EC-D7D1DAE4B936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8696927B-31FA-4616-88AE-3FD5FCA33D6D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Lógica de suma. Esquema conceptual; las distancias, tamaños y formas no representan una escala física salvo indicación expresa.</a:t>
            </a:r>
          </a:p>
        </p:txBody>
      </p:sp>
      <p:sp>
        <p:nvSpPr>
          <p:cNvPr id="7" name="media-status">
            <a:extLst>
              <a:ext uri="{FF2B5EF4-FFF2-40B4-BE49-F238E27FC236}">
                <a16:creationId xmlns:a16="http://schemas.microsoft.com/office/drawing/2014/main" id="{C772E77F-2C7C-4B80-8A21-453C699BB63D}"/>
              </a:ext>
            </a:extLst>
          </p:cNvPr>
          <p:cNvSpPr>
            <a:spLocks noGrp="1"/>
          </p:cNvSpPr>
          <p:nvPr/>
        </p:nvSpPr>
        <p:spPr>
          <a:xfrm>
            <a:off x="8210550" y="400050"/>
            <a:ext cx="3371850" cy="228600"/>
          </a:xfrm>
          <a:prstGeom prst="roundRect">
            <a:avLst>
              <a:gd name="adj" fmla="val 50000"/>
            </a:avLst>
          </a:prstGeom>
          <a:solidFill>
            <a:srgbClr val="E7F1F1"/>
          </a:solidFill>
          <a:ln w="0">
            <a:noFill/>
            <a:prstDash val="solid"/>
          </a:ln>
        </p:spPr>
      </p:sp>
      <p:sp>
        <p:nvSpPr>
          <p:cNvPr id="8" name="media-label">
            <a:extLst>
              <a:ext uri="{FF2B5EF4-FFF2-40B4-BE49-F238E27FC236}">
                <a16:creationId xmlns:a16="http://schemas.microsoft.com/office/drawing/2014/main" id="{C33D5415-BAFB-433A-81D7-F004B1EF010A}"/>
              </a:ext>
            </a:extLst>
          </p:cNvPr>
          <p:cNvSpPr>
            <a:spLocks noGrp="1"/>
          </p:cNvSpPr>
          <p:nvPr/>
        </p:nvSpPr>
        <p:spPr>
          <a:xfrm>
            <a:off x="8324850" y="438150"/>
            <a:ext cx="3143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ALTERNATIVA ESTÁTICA · MEDIA NO INCRUSTADA</a:t>
            </a:r>
          </a:p>
        </p:txBody>
      </p:sp>
      <p:sp>
        <p:nvSpPr>
          <p:cNvPr id="9" name="slide-number-73">
            <a:extLst>
              <a:ext uri="{FF2B5EF4-FFF2-40B4-BE49-F238E27FC236}">
                <a16:creationId xmlns:a16="http://schemas.microsoft.com/office/drawing/2014/main" id="{8A78B00C-30A4-48AB-9855-232CCF690C82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 descr="Esquema mixto sobre «Dos presiones iguales en fase suman aproximadamente `+6,02 dB`»: Ecuaciones editables y mini gráfico de amplitud duplicada. La lectura central es que duplicar amplitud de presión implica `20 log10(2)`. Recurso principal: U04-CH-008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94402B95-BB0D-4131-8414-99EAA9668713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74">
            <a:extLst>
              <a:ext uri="{FF2B5EF4-FFF2-40B4-BE49-F238E27FC236}">
                <a16:creationId xmlns:a16="http://schemas.microsoft.com/office/drawing/2014/main" id="{085BA331-3895-4ECC-8D15-2404BBD4C49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74">
            <a:extLst>
              <a:ext uri="{FF2B5EF4-FFF2-40B4-BE49-F238E27FC236}">
                <a16:creationId xmlns:a16="http://schemas.microsoft.com/office/drawing/2014/main" id="{2F771515-A348-4E21-8D09-C7055EF7686C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Dos presiones iguales en fase suman aproximadamente +6,02 dB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69784FA2-CC4B-40ED-9C08-D9C48B645445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FCFF2C63-7B4A-4B62-A7CB-DA62B94D295A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Suma coherente y fase y Lógica de suma. El gráfico es cuantitativo; el esquema organiza las condiciones y no está a escala.</a:t>
            </a:r>
          </a:p>
        </p:txBody>
      </p:sp>
      <p:sp>
        <p:nvSpPr>
          <p:cNvPr id="7" name="media-status">
            <a:extLst>
              <a:ext uri="{FF2B5EF4-FFF2-40B4-BE49-F238E27FC236}">
                <a16:creationId xmlns:a16="http://schemas.microsoft.com/office/drawing/2014/main" id="{94DD0BCD-E4C1-40D8-9316-3840DF7CB714}"/>
              </a:ext>
            </a:extLst>
          </p:cNvPr>
          <p:cNvSpPr>
            <a:spLocks noGrp="1"/>
          </p:cNvSpPr>
          <p:nvPr/>
        </p:nvSpPr>
        <p:spPr>
          <a:xfrm>
            <a:off x="8210550" y="400050"/>
            <a:ext cx="3371850" cy="228600"/>
          </a:xfrm>
          <a:prstGeom prst="roundRect">
            <a:avLst>
              <a:gd name="adj" fmla="val 50000"/>
            </a:avLst>
          </a:prstGeom>
          <a:solidFill>
            <a:srgbClr val="E7F1F1"/>
          </a:solidFill>
          <a:ln w="0">
            <a:noFill/>
            <a:prstDash val="solid"/>
          </a:ln>
        </p:spPr>
      </p:sp>
      <p:sp>
        <p:nvSpPr>
          <p:cNvPr id="8" name="media-label">
            <a:extLst>
              <a:ext uri="{FF2B5EF4-FFF2-40B4-BE49-F238E27FC236}">
                <a16:creationId xmlns:a16="http://schemas.microsoft.com/office/drawing/2014/main" id="{0D75296A-15E8-4B9D-A355-831124E70120}"/>
              </a:ext>
            </a:extLst>
          </p:cNvPr>
          <p:cNvSpPr>
            <a:spLocks noGrp="1"/>
          </p:cNvSpPr>
          <p:nvPr/>
        </p:nvSpPr>
        <p:spPr>
          <a:xfrm>
            <a:off x="8324850" y="438150"/>
            <a:ext cx="3143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ALTERNATIVA ESTÁTICA · MEDIA NO INCRUSTADA</a:t>
            </a:r>
          </a:p>
        </p:txBody>
      </p:sp>
      <p:sp>
        <p:nvSpPr>
          <p:cNvPr id="9" name="slide-number-74">
            <a:extLst>
              <a:ext uri="{FF2B5EF4-FFF2-40B4-BE49-F238E27FC236}">
                <a16:creationId xmlns:a16="http://schemas.microsoft.com/office/drawing/2014/main" id="{3FADCA35-1DDF-4D8A-B59E-25A90687499B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 descr="Esquema mixto sobre «¿Dos fuentes iguales siempre aumentan el nivel?»: dos senos opuestos y suma; para límites. La lectura central es que fuentes coherentes iguales y en oposición pueden cancelar la presión en un punto ideal. Recurso principal: U04-CH-008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349E4CFA-D712-464A-BD99-78405BA927B0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75">
            <a:extLst>
              <a:ext uri="{FF2B5EF4-FFF2-40B4-BE49-F238E27FC236}">
                <a16:creationId xmlns:a16="http://schemas.microsoft.com/office/drawing/2014/main" id="{779D9ECB-50B1-4A22-AAE3-C05A5A63438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75">
            <a:extLst>
              <a:ext uri="{FF2B5EF4-FFF2-40B4-BE49-F238E27FC236}">
                <a16:creationId xmlns:a16="http://schemas.microsoft.com/office/drawing/2014/main" id="{CFE965E7-CB40-462E-AF2D-5B836D3CB296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¿Dos fuentes iguales siempre aumentan el nivel?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A27DDB6A-54BA-44BA-ABBE-E6ED176FCEDE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B62DBE5A-5599-476A-A037-CE4A5620102A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Suma coherente y fase y Lógica de suma. El gráfico es cuantitativo; el esquema organiza las condiciones y no está a escala.</a:t>
            </a:r>
          </a:p>
        </p:txBody>
      </p:sp>
      <p:sp>
        <p:nvSpPr>
          <p:cNvPr id="7" name="media-status">
            <a:extLst>
              <a:ext uri="{FF2B5EF4-FFF2-40B4-BE49-F238E27FC236}">
                <a16:creationId xmlns:a16="http://schemas.microsoft.com/office/drawing/2014/main" id="{E4CB032A-75F1-444A-8193-22AD40F51C2E}"/>
              </a:ext>
            </a:extLst>
          </p:cNvPr>
          <p:cNvSpPr>
            <a:spLocks noGrp="1"/>
          </p:cNvSpPr>
          <p:nvPr/>
        </p:nvSpPr>
        <p:spPr>
          <a:xfrm>
            <a:off x="8210550" y="400050"/>
            <a:ext cx="3371850" cy="228600"/>
          </a:xfrm>
          <a:prstGeom prst="roundRect">
            <a:avLst>
              <a:gd name="adj" fmla="val 50000"/>
            </a:avLst>
          </a:prstGeom>
          <a:solidFill>
            <a:srgbClr val="E7F1F1"/>
          </a:solidFill>
          <a:ln w="0">
            <a:noFill/>
            <a:prstDash val="solid"/>
          </a:ln>
        </p:spPr>
      </p:sp>
      <p:sp>
        <p:nvSpPr>
          <p:cNvPr id="8" name="media-label">
            <a:extLst>
              <a:ext uri="{FF2B5EF4-FFF2-40B4-BE49-F238E27FC236}">
                <a16:creationId xmlns:a16="http://schemas.microsoft.com/office/drawing/2014/main" id="{1804CADF-BBD8-45FD-8C8D-4B69D55F18A3}"/>
              </a:ext>
            </a:extLst>
          </p:cNvPr>
          <p:cNvSpPr>
            <a:spLocks noGrp="1"/>
          </p:cNvSpPr>
          <p:nvPr/>
        </p:nvSpPr>
        <p:spPr>
          <a:xfrm>
            <a:off x="8324850" y="438150"/>
            <a:ext cx="3143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ALTERNATIVA ESTÁTICA · MEDIA NO INCRUSTADA</a:t>
            </a:r>
          </a:p>
        </p:txBody>
      </p:sp>
      <p:sp>
        <p:nvSpPr>
          <p:cNvPr id="9" name="slide-number-75">
            <a:extLst>
              <a:ext uri="{FF2B5EF4-FFF2-40B4-BE49-F238E27FC236}">
                <a16:creationId xmlns:a16="http://schemas.microsoft.com/office/drawing/2014/main" id="{EBF20153-C599-4A31-BAB5-5F78F2A452E0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 descr="Diagrama sobre «En señales no correlacionadas, el término cruzado promedia a cero»: ventana temporal con fase relativa variable; correlación parcial a respaldo. La lectura central es que durante la ventana, no hay una relación de fase estable que produzca refuerzo sistemático. Recurso principal: U04-DG-014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65301FD3-9D8D-45B7-BF4B-98C806C8CBAB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76">
            <a:extLst>
              <a:ext uri="{FF2B5EF4-FFF2-40B4-BE49-F238E27FC236}">
                <a16:creationId xmlns:a16="http://schemas.microsoft.com/office/drawing/2014/main" id="{C557439F-E4F0-4E35-8951-890A0992389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76">
            <a:extLst>
              <a:ext uri="{FF2B5EF4-FFF2-40B4-BE49-F238E27FC236}">
                <a16:creationId xmlns:a16="http://schemas.microsoft.com/office/drawing/2014/main" id="{B690ACF5-59A0-4CAF-9ED4-917CFB1BD115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señales no correlacionadas, el término cruzado promedia a cero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29EBE702-1B50-49DE-9BE6-0F25DA2972CF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D4A4FC2D-5DD1-4184-9D57-8D6DA51F434F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Lógica de suma. Esquema conceptual; las distancias, tamaños y formas no representan una escala física salvo indicación expresa.</a:t>
            </a:r>
          </a:p>
        </p:txBody>
      </p:sp>
      <p:sp>
        <p:nvSpPr>
          <p:cNvPr id="7" name="media-status">
            <a:extLst>
              <a:ext uri="{FF2B5EF4-FFF2-40B4-BE49-F238E27FC236}">
                <a16:creationId xmlns:a16="http://schemas.microsoft.com/office/drawing/2014/main" id="{917C3621-5CC9-4358-8126-63E42D6D4DCD}"/>
              </a:ext>
            </a:extLst>
          </p:cNvPr>
          <p:cNvSpPr>
            <a:spLocks noGrp="1"/>
          </p:cNvSpPr>
          <p:nvPr/>
        </p:nvSpPr>
        <p:spPr>
          <a:xfrm>
            <a:off x="8210550" y="400050"/>
            <a:ext cx="3371850" cy="228600"/>
          </a:xfrm>
          <a:prstGeom prst="roundRect">
            <a:avLst>
              <a:gd name="adj" fmla="val 50000"/>
            </a:avLst>
          </a:prstGeom>
          <a:solidFill>
            <a:srgbClr val="E7F1F1"/>
          </a:solidFill>
          <a:ln w="0">
            <a:noFill/>
            <a:prstDash val="solid"/>
          </a:ln>
        </p:spPr>
      </p:sp>
      <p:sp>
        <p:nvSpPr>
          <p:cNvPr id="8" name="media-label">
            <a:extLst>
              <a:ext uri="{FF2B5EF4-FFF2-40B4-BE49-F238E27FC236}">
                <a16:creationId xmlns:a16="http://schemas.microsoft.com/office/drawing/2014/main" id="{2EF01C2D-429C-4A2B-8010-175FBB24CD10}"/>
              </a:ext>
            </a:extLst>
          </p:cNvPr>
          <p:cNvSpPr>
            <a:spLocks noGrp="1"/>
          </p:cNvSpPr>
          <p:nvPr/>
        </p:nvSpPr>
        <p:spPr>
          <a:xfrm>
            <a:off x="8324850" y="438150"/>
            <a:ext cx="3143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ALTERNATIVA ESTÁTICA · MEDIA NO INCRUSTADA</a:t>
            </a:r>
          </a:p>
        </p:txBody>
      </p:sp>
      <p:sp>
        <p:nvSpPr>
          <p:cNvPr id="9" name="slide-number-76">
            <a:extLst>
              <a:ext uri="{FF2B5EF4-FFF2-40B4-BE49-F238E27FC236}">
                <a16:creationId xmlns:a16="http://schemas.microsoft.com/office/drawing/2014/main" id="{C538B726-3AE2-448D-930F-249F431A423E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Para fuentes no correlacionadas se suman cuadrados RMS»: ecuación anotada más flujo dB→lineal→suma→dB. La lectura central es que `p_total,rms²=Σp_i,rms²`; luego se convierte a dB. Recurso principal: U04-DG-014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3CFEB73C-45D0-4B6C-A019-F47564AA51FC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77">
            <a:extLst>
              <a:ext uri="{FF2B5EF4-FFF2-40B4-BE49-F238E27FC236}">
                <a16:creationId xmlns:a16="http://schemas.microsoft.com/office/drawing/2014/main" id="{8FB0EE0E-3EEA-4A28-B45C-DAD2E382CC2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77">
            <a:extLst>
              <a:ext uri="{FF2B5EF4-FFF2-40B4-BE49-F238E27FC236}">
                <a16:creationId xmlns:a16="http://schemas.microsoft.com/office/drawing/2014/main" id="{0EB36EF6-F71C-4F0B-90C4-43547A6A3CDB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Para fuentes no correlacionadas se suman cuadrados RMS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1F1C5521-E2D4-47D9-8E9B-F46F9D2AECFD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08F96204-DA0C-4B6B-89F2-A8C618E24386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Lógica de suma. Esquema conceptual; las distancias, tamaños y formas no representan una escala física salvo indicación expresa.</a:t>
            </a:r>
          </a:p>
        </p:txBody>
      </p:sp>
      <p:sp>
        <p:nvSpPr>
          <p:cNvPr id="7" name="slide-number-77">
            <a:extLst>
              <a:ext uri="{FF2B5EF4-FFF2-40B4-BE49-F238E27FC236}">
                <a16:creationId xmlns:a16="http://schemas.microsoft.com/office/drawing/2014/main" id="{05A635AD-6249-448D-AD6B-17271E759A60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77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La suma de niveles vuelve primero a escala lineal»: ecuación anotada con tres zonas y rótulos de transformación. La lectura central es que cada nivel se deslogaritma, se suma y recién entonces se aplica logaritmo. Recurso principal: U04-DG-014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5D5196C5-3B97-46AA-B250-912125410B40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78">
            <a:extLst>
              <a:ext uri="{FF2B5EF4-FFF2-40B4-BE49-F238E27FC236}">
                <a16:creationId xmlns:a16="http://schemas.microsoft.com/office/drawing/2014/main" id="{79916223-4839-4CBB-8CC2-94F3399F389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78">
            <a:extLst>
              <a:ext uri="{FF2B5EF4-FFF2-40B4-BE49-F238E27FC236}">
                <a16:creationId xmlns:a16="http://schemas.microsoft.com/office/drawing/2014/main" id="{AA163263-17B7-44A2-9665-BC8FDEBE936E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suma de niveles vuelve primero a escala lineal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FB74E3F3-3EA8-4A09-B2A5-B6E0B6077B62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9242C4FB-14FD-4088-AB0F-52E08B3AE80C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Lógica de suma. Esquema conceptual; las distancias, tamaños y formas no representan una escala física salvo indicación expresa.</a:t>
            </a:r>
          </a:p>
        </p:txBody>
      </p:sp>
      <p:sp>
        <p:nvSpPr>
          <p:cNvPr id="7" name="slide-number-78">
            <a:extLst>
              <a:ext uri="{FF2B5EF4-FFF2-40B4-BE49-F238E27FC236}">
                <a16:creationId xmlns:a16="http://schemas.microsoft.com/office/drawing/2014/main" id="{D39DDDAA-93DC-4437-BC81-C2697F8A4093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 descr="Ecuación anotada sobre «Dos fuentes no correlacionadas de `70 dB` dan `73,01 dB`»: Ecuaciones editables con revelado; sin calculadora visual obligatoria. La lectura central es que duplicar una magnitud cuadrática suma aproximadamente `3,01 dB`. Recurso principal: U04-DG-014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715AD21D-5D9C-48C2-9101-E1E69A475F45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79">
            <a:extLst>
              <a:ext uri="{FF2B5EF4-FFF2-40B4-BE49-F238E27FC236}">
                <a16:creationId xmlns:a16="http://schemas.microsoft.com/office/drawing/2014/main" id="{EAFC77FB-2763-4374-905B-0A0D0ABE19F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79">
            <a:extLst>
              <a:ext uri="{FF2B5EF4-FFF2-40B4-BE49-F238E27FC236}">
                <a16:creationId xmlns:a16="http://schemas.microsoft.com/office/drawing/2014/main" id="{07CFF5D0-52F7-4F76-BA31-B0E3031E140B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Dos fuentes no correlacionadas de 70 dB dan 73,01 dB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96A16ADA-BD53-4684-A953-CA7224A5DEC7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1F8D5C3A-7768-459B-A775-A2FB9DC8B1EF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Lógica de suma. Esquema conceptual; las distancias, tamaños y formas no representan una escala física salvo indicación expresa.</a:t>
            </a:r>
          </a:p>
        </p:txBody>
      </p:sp>
      <p:sp>
        <p:nvSpPr>
          <p:cNvPr id="7" name="media-status">
            <a:extLst>
              <a:ext uri="{FF2B5EF4-FFF2-40B4-BE49-F238E27FC236}">
                <a16:creationId xmlns:a16="http://schemas.microsoft.com/office/drawing/2014/main" id="{19CB872A-3CF6-4157-8CB8-33A125156E41}"/>
              </a:ext>
            </a:extLst>
          </p:cNvPr>
          <p:cNvSpPr>
            <a:spLocks noGrp="1"/>
          </p:cNvSpPr>
          <p:nvPr/>
        </p:nvSpPr>
        <p:spPr>
          <a:xfrm>
            <a:off x="8210550" y="400050"/>
            <a:ext cx="3371850" cy="228600"/>
          </a:xfrm>
          <a:prstGeom prst="roundRect">
            <a:avLst>
              <a:gd name="adj" fmla="val 50000"/>
            </a:avLst>
          </a:prstGeom>
          <a:solidFill>
            <a:srgbClr val="E7F1F1"/>
          </a:solidFill>
          <a:ln w="0">
            <a:noFill/>
            <a:prstDash val="solid"/>
          </a:ln>
        </p:spPr>
      </p:sp>
      <p:sp>
        <p:nvSpPr>
          <p:cNvPr id="8" name="media-label">
            <a:extLst>
              <a:ext uri="{FF2B5EF4-FFF2-40B4-BE49-F238E27FC236}">
                <a16:creationId xmlns:a16="http://schemas.microsoft.com/office/drawing/2014/main" id="{4CEC9C0B-D5F1-4EC0-BE0F-7DA58A32F1FC}"/>
              </a:ext>
            </a:extLst>
          </p:cNvPr>
          <p:cNvSpPr>
            <a:spLocks noGrp="1"/>
          </p:cNvSpPr>
          <p:nvPr/>
        </p:nvSpPr>
        <p:spPr>
          <a:xfrm>
            <a:off x="8324850" y="438150"/>
            <a:ext cx="3143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ALTERNATIVA ESTÁTICA · MEDIA NO INCRUSTADA</a:t>
            </a:r>
          </a:p>
        </p:txBody>
      </p:sp>
      <p:sp>
        <p:nvSpPr>
          <p:cNvPr id="9" name="slide-number-79">
            <a:extLst>
              <a:ext uri="{FF2B5EF4-FFF2-40B4-BE49-F238E27FC236}">
                <a16:creationId xmlns:a16="http://schemas.microsoft.com/office/drawing/2014/main" id="{F9D56C28-869C-4F3B-B93B-598556FFB0D5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`+6 dB` y `+3 dB` responden a relaciones distintas»: árbol máximo 6 nodos con rutas coherente/no correlacionada. La lectura central es que antes de sumar hay que decidir si la fase relativa es estable y qué magnitud se combina. Recurso principal: U04-DG-014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2BD20BDB-9424-4B31-BA0B-11CC40E2D163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80">
            <a:extLst>
              <a:ext uri="{FF2B5EF4-FFF2-40B4-BE49-F238E27FC236}">
                <a16:creationId xmlns:a16="http://schemas.microsoft.com/office/drawing/2014/main" id="{49BD0B61-4E6D-4FC7-9A83-99D632197F9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80">
            <a:extLst>
              <a:ext uri="{FF2B5EF4-FFF2-40B4-BE49-F238E27FC236}">
                <a16:creationId xmlns:a16="http://schemas.microsoft.com/office/drawing/2014/main" id="{C13104DA-7B24-4419-B151-7F7D2C3A1384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+6 dB y +3 dB responden a relaciones distintas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EAD4986C-1845-43A7-A7AE-08A2C5D7CCE3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D09E4FD9-6D93-4CE5-910A-5470DFA0D1B9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Lógica de suma. Esquema conceptual; las distancias, tamaños y formas no representan una escala física salvo indicación expresa.</a:t>
            </a:r>
          </a:p>
        </p:txBody>
      </p:sp>
      <p:sp>
        <p:nvSpPr>
          <p:cNvPr id="7" name="slide-number-80">
            <a:extLst>
              <a:ext uri="{FF2B5EF4-FFF2-40B4-BE49-F238E27FC236}">
                <a16:creationId xmlns:a16="http://schemas.microsoft.com/office/drawing/2014/main" id="{C27108AF-F5D0-4ABD-AC4D-185E36C5A4A5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vider-eyebrow">
            <a:extLst>
              <a:ext uri="{FF2B5EF4-FFF2-40B4-BE49-F238E27FC236}">
                <a16:creationId xmlns:a16="http://schemas.microsoft.com/office/drawing/2014/main" id="{90E650A3-5AAB-4380-B98D-66B0E0FF5973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71DC5522-3231-428B-9F83-DAEC24470788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000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La geometría determina cómo se reparte la potencia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D0B37542-51D7-4C04-98D9-581EA227A4CB}"/>
              </a:ext>
            </a:extLst>
          </p:cNvPr>
          <p:cNvSpPr>
            <a:spLocks noGrp="1"/>
          </p:cNvSpPr>
          <p:nvPr/>
        </p:nvSpPr>
        <p:spPr>
          <a:xfrm>
            <a:off x="895350" y="3857625"/>
            <a:ext cx="933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cambia la distribución de energía según el frente de onda y el entorno?</a:t>
            </a:r>
          </a:p>
        </p:txBody>
      </p:sp>
      <p:sp>
        <p:nvSpPr>
          <p:cNvPr id="4" name="slide-number-81">
            <a:extLst>
              <a:ext uri="{FF2B5EF4-FFF2-40B4-BE49-F238E27FC236}">
                <a16:creationId xmlns:a16="http://schemas.microsoft.com/office/drawing/2014/main" id="{38D5B370-C1A0-4DAA-9060-82275ED1A03A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81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Un frente de onda reúne puntos de igual fase»: superficies/curvas con normales y etiqueta de fase; sin partículas decorativas. La lectura central es que los dibujos de frente no muestran trayectorias de partículas. Recurso principal: U04-DG-015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EDFF6993-77B0-4536-9BA2-30D4C3D0A6CB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82">
            <a:extLst>
              <a:ext uri="{FF2B5EF4-FFF2-40B4-BE49-F238E27FC236}">
                <a16:creationId xmlns:a16="http://schemas.microsoft.com/office/drawing/2014/main" id="{71C3A473-5F72-42E2-91F3-6D31A17A4D7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82">
            <a:extLst>
              <a:ext uri="{FF2B5EF4-FFF2-40B4-BE49-F238E27FC236}">
                <a16:creationId xmlns:a16="http://schemas.microsoft.com/office/drawing/2014/main" id="{400A09C3-85BF-4BE3-9778-A5FAFE69E258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frente de onda reúne puntos de igual fase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DBA1C3E5-1F8A-4FF2-A668-1DBA1CE9474D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01D63E91-4101-41B1-AD71-C3D969D4974D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Geometrías y campos. Esquema conceptual; las distancias, tamaños y formas no representan una escala física salvo indicación expresa.</a:t>
            </a:r>
          </a:p>
        </p:txBody>
      </p:sp>
      <p:sp>
        <p:nvSpPr>
          <p:cNvPr id="7" name="slide-number-82">
            <a:extLst>
              <a:ext uri="{FF2B5EF4-FFF2-40B4-BE49-F238E27FC236}">
                <a16:creationId xmlns:a16="http://schemas.microsoft.com/office/drawing/2014/main" id="{FA107AB7-6100-4558-81E7-10931AF7FF4B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82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La onda plana es un modelo local útil»: frentes paralelos dentro de una zona de validez. La lectura central es que frentes paralelos y área aproximadamente constante simplifican las relaciones. Recurso principal: U04-DG-015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DD014EB5-B8CA-46D8-A2D5-696162F93713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83">
            <a:extLst>
              <a:ext uri="{FF2B5EF4-FFF2-40B4-BE49-F238E27FC236}">
                <a16:creationId xmlns:a16="http://schemas.microsoft.com/office/drawing/2014/main" id="{2CF54C9C-F95D-4F01-81F3-B562F74C9E1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83">
            <a:extLst>
              <a:ext uri="{FF2B5EF4-FFF2-40B4-BE49-F238E27FC236}">
                <a16:creationId xmlns:a16="http://schemas.microsoft.com/office/drawing/2014/main" id="{A483E8CE-820B-4513-9BC0-06FDDD88F8BD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onda plana es un modelo local útil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702C61BD-0141-4317-8EB6-57B0CBCA152F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F8A91F63-D8B9-43DB-8983-27F7FDE4A899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Geometrías y campos. Esquema conceptual; las distancias, tamaños y formas no representan una escala física salvo indicación expresa.</a:t>
            </a:r>
          </a:p>
        </p:txBody>
      </p:sp>
      <p:sp>
        <p:nvSpPr>
          <p:cNvPr id="7" name="slide-number-83">
            <a:extLst>
              <a:ext uri="{FF2B5EF4-FFF2-40B4-BE49-F238E27FC236}">
                <a16:creationId xmlns:a16="http://schemas.microsoft.com/office/drawing/2014/main" id="{7E36BCD8-FDAE-4647-8ECF-E7434902B8EB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Chart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" name="Marcador de gráfico 14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1" name="Marcador de gráfico 14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32" name="Gráfico 31" descr="Esquema mixto sobre «La onda cilíndrica reparte potencia sobre un área proporcional a `r`»: cilindros concéntricos y superficie lateral; para `1/r`. La lectura central es que para una fuente lineal ideal larga, la intensidad decrece como `1/r`. Recurso principal: U04-CH-010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2" name="visual-title-backing">
            <a:extLst>
              <a:ext uri="{FF2B5EF4-FFF2-40B4-BE49-F238E27FC236}">
                <a16:creationId xmlns:a16="http://schemas.microsoft.com/office/drawing/2014/main" id="{16DA496C-F7CD-48C0-B41F-1AB390FEC531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" name="eyebrow-U04-084">
            <a:extLst>
              <a:ext uri="{FF2B5EF4-FFF2-40B4-BE49-F238E27FC236}">
                <a16:creationId xmlns:a16="http://schemas.microsoft.com/office/drawing/2014/main" id="{936FD03B-29BC-4F24-97CB-6FA9E158756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4" name="title-U04-084">
            <a:extLst>
              <a:ext uri="{FF2B5EF4-FFF2-40B4-BE49-F238E27FC236}">
                <a16:creationId xmlns:a16="http://schemas.microsoft.com/office/drawing/2014/main" id="{430654C5-D839-4789-9489-2ADC6BA82181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onda cilíndrica reparte potencia sobre un área proporcional a r</a:t>
            </a:r>
          </a:p>
        </p:txBody>
      </p:sp>
      <p:sp>
        <p:nvSpPr>
          <p:cNvPr id="25" name="caption-backing">
            <a:extLst>
              <a:ext uri="{FF2B5EF4-FFF2-40B4-BE49-F238E27FC236}">
                <a16:creationId xmlns:a16="http://schemas.microsoft.com/office/drawing/2014/main" id="{13188132-5531-441D-8583-E9F36BDE690B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6" name="caption">
            <a:extLst>
              <a:ext uri="{FF2B5EF4-FFF2-40B4-BE49-F238E27FC236}">
                <a16:creationId xmlns:a16="http://schemas.microsoft.com/office/drawing/2014/main" id="{F2AB6423-B6E2-4D71-BA77-3ADA937D9768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Geometrías y decaimiento y Geometrías y campos. El gráfico es cuantitativo; el esquema organiza las condiciones y no está a escala. · modelos…</a:t>
            </a:r>
          </a:p>
        </p:txBody>
      </p:sp>
      <p:sp>
        <p:nvSpPr>
          <p:cNvPr id="27" name="slide-number-84">
            <a:extLst>
              <a:ext uri="{FF2B5EF4-FFF2-40B4-BE49-F238E27FC236}">
                <a16:creationId xmlns:a16="http://schemas.microsoft.com/office/drawing/2014/main" id="{70A99DFA-BF31-45E7-BC0F-0EFDE99D5688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Chart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" name="Marcador de gráfico 14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1" name="Marcador de gráfico 14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32" name="Gráfico 31" descr="Diagrama sobre «La onda esférica reparte potencia sobre `4πr²`»: reconstrucción de figura 4.6 con áreas `r` y `2r`. La lectura central es que al duplicar `r`, el área se cuadruplica y la intensidad se reduce a un cuarto. Recurso principal: U04-DG-015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2" name="visual-title-backing">
            <a:extLst>
              <a:ext uri="{FF2B5EF4-FFF2-40B4-BE49-F238E27FC236}">
                <a16:creationId xmlns:a16="http://schemas.microsoft.com/office/drawing/2014/main" id="{6F3F4960-BC6C-44CF-A736-FE3D4508F5DF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" name="eyebrow-U04-085">
            <a:extLst>
              <a:ext uri="{FF2B5EF4-FFF2-40B4-BE49-F238E27FC236}">
                <a16:creationId xmlns:a16="http://schemas.microsoft.com/office/drawing/2014/main" id="{DD2193DE-1FC7-47BA-AD97-CB5036679B7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4" name="title-U04-085">
            <a:extLst>
              <a:ext uri="{FF2B5EF4-FFF2-40B4-BE49-F238E27FC236}">
                <a16:creationId xmlns:a16="http://schemas.microsoft.com/office/drawing/2014/main" id="{026D3335-6CEC-4E41-AB6F-A05774489826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onda esférica reparte potencia sobre 4πr²</a:t>
            </a:r>
          </a:p>
        </p:txBody>
      </p:sp>
      <p:sp>
        <p:nvSpPr>
          <p:cNvPr id="25" name="caption-backing">
            <a:extLst>
              <a:ext uri="{FF2B5EF4-FFF2-40B4-BE49-F238E27FC236}">
                <a16:creationId xmlns:a16="http://schemas.microsoft.com/office/drawing/2014/main" id="{6BD047F9-790C-43FF-A5E9-903852297CB1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6" name="caption">
            <a:extLst>
              <a:ext uri="{FF2B5EF4-FFF2-40B4-BE49-F238E27FC236}">
                <a16:creationId xmlns:a16="http://schemas.microsoft.com/office/drawing/2014/main" id="{83289B27-4F23-48FB-BA7F-8701C45E451C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Geometrías y campos. Esquema conceptual; las distancias, tamaños y formas no representan una escala física salvo indicación expresa.</a:t>
            </a:r>
          </a:p>
        </p:txBody>
      </p:sp>
      <p:sp>
        <p:nvSpPr>
          <p:cNvPr id="27" name="slide-number-85">
            <a:extLst>
              <a:ext uri="{FF2B5EF4-FFF2-40B4-BE49-F238E27FC236}">
                <a16:creationId xmlns:a16="http://schemas.microsoft.com/office/drawing/2014/main" id="{7624E705-7D66-4D61-8A8D-260E1071702D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85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Chart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" name="Marcador de gráfico 14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1" name="Marcador de gráfico 14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32" name="Gráfico 31" descr="Gráfico sobre «Plano, cilindro y esfera producen caídas distintas»: `I/I_0` frente a `r/r_0`, con escalas y supuestos explícitos. La lectura central es que sin pérdidas, la intensidad ideal escala como `r⁰`, `r⁻¹` o `r⁻²`. Recurso principal: U04-CH-010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2" name="visual-title-backing">
            <a:extLst>
              <a:ext uri="{FF2B5EF4-FFF2-40B4-BE49-F238E27FC236}">
                <a16:creationId xmlns:a16="http://schemas.microsoft.com/office/drawing/2014/main" id="{491223F1-F99B-4178-A04B-78DF9F3FD250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" name="eyebrow-U04-086">
            <a:extLst>
              <a:ext uri="{FF2B5EF4-FFF2-40B4-BE49-F238E27FC236}">
                <a16:creationId xmlns:a16="http://schemas.microsoft.com/office/drawing/2014/main" id="{0F793833-DF8D-4ED5-AC14-3CFC3CF4348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4" name="title-U04-086">
            <a:extLst>
              <a:ext uri="{FF2B5EF4-FFF2-40B4-BE49-F238E27FC236}">
                <a16:creationId xmlns:a16="http://schemas.microsoft.com/office/drawing/2014/main" id="{9D8C8204-50E8-4046-83E8-BC1D48891373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Plano, cilindro y esfera producen caídas distintas</a:t>
            </a:r>
          </a:p>
        </p:txBody>
      </p:sp>
      <p:sp>
        <p:nvSpPr>
          <p:cNvPr id="25" name="caption-backing">
            <a:extLst>
              <a:ext uri="{FF2B5EF4-FFF2-40B4-BE49-F238E27FC236}">
                <a16:creationId xmlns:a16="http://schemas.microsoft.com/office/drawing/2014/main" id="{E45E54D5-9DEC-411E-AD79-FFACCA117008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6" name="caption">
            <a:extLst>
              <a:ext uri="{FF2B5EF4-FFF2-40B4-BE49-F238E27FC236}">
                <a16:creationId xmlns:a16="http://schemas.microsoft.com/office/drawing/2014/main" id="{CBCACB17-5038-4CCF-9C6D-BF75743CF28E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Geometrías y decaimiento. Figura cuantitativa reproducible; ecuaciones o datos y escala se indican en el recurso. · modelos ideales · no son d…</a:t>
            </a:r>
          </a:p>
        </p:txBody>
      </p:sp>
      <p:sp>
        <p:nvSpPr>
          <p:cNvPr id="27" name="slide-number-86">
            <a:extLst>
              <a:ext uri="{FF2B5EF4-FFF2-40B4-BE49-F238E27FC236}">
                <a16:creationId xmlns:a16="http://schemas.microsoft.com/office/drawing/2014/main" id="{93A6C392-7703-49CD-B1CF-F184D3B435EE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Un tubo de sección circular no implica una onda cilíndrica»: tubo con frentes aproximadamente planos vs fuente lineal con frentes cilíndricos. La lectura central es que la geometría se clasifica por los frentes y la expansión del campo, no por la forma externa del conducto. Recurso principal: U04-DG-015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13EEDEE9-97E7-4BC1-8E74-46B861932CA2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87">
            <a:extLst>
              <a:ext uri="{FF2B5EF4-FFF2-40B4-BE49-F238E27FC236}">
                <a16:creationId xmlns:a16="http://schemas.microsoft.com/office/drawing/2014/main" id="{4F64C303-CE85-4D6C-ADEF-1323C8572D7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87">
            <a:extLst>
              <a:ext uri="{FF2B5EF4-FFF2-40B4-BE49-F238E27FC236}">
                <a16:creationId xmlns:a16="http://schemas.microsoft.com/office/drawing/2014/main" id="{1E29FAA9-937E-4AED-BB45-498FC1D9BC2B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tubo de sección circular no implica una onda cilíndrica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BCFD6E38-0C83-4BC4-8233-28C8F73E4727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C9B7A72C-4E6A-45A9-88E7-B5E9966881E0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Geometrías y campos. Esquema conceptual; las distancias, tamaños y formas no representan una escala física salvo indicación expresa.</a:t>
            </a:r>
          </a:p>
        </p:txBody>
      </p:sp>
      <p:sp>
        <p:nvSpPr>
          <p:cNvPr id="7" name="slide-number-87">
            <a:extLst>
              <a:ext uri="{FF2B5EF4-FFF2-40B4-BE49-F238E27FC236}">
                <a16:creationId xmlns:a16="http://schemas.microsoft.com/office/drawing/2014/main" id="{808471F6-2915-4698-B47D-8C198D531F06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87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-U04-088">
            <a:extLst>
              <a:ext uri="{FF2B5EF4-FFF2-40B4-BE49-F238E27FC236}">
                <a16:creationId xmlns:a16="http://schemas.microsoft.com/office/drawing/2014/main" id="{CEA2525E-B42A-4981-8607-903400ADD38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88">
            <a:extLst>
              <a:ext uri="{FF2B5EF4-FFF2-40B4-BE49-F238E27FC236}">
                <a16:creationId xmlns:a16="http://schemas.microsoft.com/office/drawing/2014/main" id="{C5D0640C-37B8-43C0-9F92-37A47C7697A0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Campo libre, reverberante y difuso no describen lo mismo</a:t>
            </a:r>
          </a:p>
        </p:txBody>
      </p:sp>
      <p:sp>
        <p:nvSpPr>
          <p:cNvPr id="3" name="image-surface">
            <a:extLst>
              <a:ext uri="{FF2B5EF4-FFF2-40B4-BE49-F238E27FC236}">
                <a16:creationId xmlns:a16="http://schemas.microsoft.com/office/drawing/2014/main" id="{7CA5729C-578B-40D2-B8AF-3E9BCBA2A3A6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4953000" cy="4095750"/>
          </a:xfrm>
          <a:prstGeom prst="roundRect">
            <a:avLst>
              <a:gd name="adj" fmla="val 186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</p:sp>
      <p:pic>
        <p:nvPicPr>
          <p:cNvPr id="12" name="Imagen 11" descr="Diagrama sobre «Campo libre, reverberante y difuso no describen lo mismo»: tres recintos simplificados con trayectorias y densidad controlada. La lectura central es que libre enfatiza ausencia de reflexiones relevantes; reverberante, persistencia de reflexiones; difuso, idealización estadística espacial/direccional. Recurso principal: U04-DG-015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1850677"/>
            <a:ext cx="4686300" cy="3632895"/>
          </a:xfrm>
          <a:prstGeom prst="rect">
            <a:avLst/>
          </a:prstGeom>
        </p:spPr>
      </p:pic>
      <p:sp>
        <p:nvSpPr>
          <p:cNvPr id="5" name="bullets">
            <a:extLst>
              <a:ext uri="{FF2B5EF4-FFF2-40B4-BE49-F238E27FC236}">
                <a16:creationId xmlns:a16="http://schemas.microsoft.com/office/drawing/2014/main" id="{532B3B82-8606-4890-8189-72C9440CEE3A}"/>
              </a:ext>
            </a:extLst>
          </p:cNvPr>
          <p:cNvSpPr>
            <a:spLocks noGrp="1"/>
          </p:cNvSpPr>
          <p:nvPr/>
        </p:nvSpPr>
        <p:spPr>
          <a:xfrm>
            <a:off x="6000750" y="1762125"/>
            <a:ext cx="5429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Libre enfatiza ausencia de reflexiones relevantes; reverberante, persistencia de reflexiones; difuso, idealización estadística espacial/direccional.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Campo libre: reflexiones despreciables. Campo reverberante: contribución persistente de reflexiones. Campo difuso: idealización estadística de energía y direcciones.</a:t>
            </a:r>
          </a:p>
        </p:txBody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D82DA5C5-500B-42D5-B61B-CE23EC47A462}"/>
              </a:ext>
            </a:extLst>
          </p:cNvPr>
          <p:cNvSpPr>
            <a:spLocks noGrp="1"/>
          </p:cNvSpPr>
          <p:nvPr/>
        </p:nvSpPr>
        <p:spPr>
          <a:xfrm>
            <a:off x="6000750" y="5000625"/>
            <a:ext cx="542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Geometrías y campos. Esquema conceptual; las distancias, tamaños y formas no representan una escala física salvo indicación expresa.</a:t>
            </a:r>
          </a:p>
        </p:txBody>
      </p:sp>
      <p:sp>
        <p:nvSpPr>
          <p:cNvPr id="7" name="credit">
            <a:extLst>
              <a:ext uri="{FF2B5EF4-FFF2-40B4-BE49-F238E27FC236}">
                <a16:creationId xmlns:a16="http://schemas.microsoft.com/office/drawing/2014/main" id="{6FDA9DEE-19E8-44B8-A996-F4D8FD37AA3D}"/>
              </a:ext>
            </a:extLst>
          </p:cNvPr>
          <p:cNvSpPr>
            <a:spLocks noGrp="1"/>
          </p:cNvSpPr>
          <p:nvPr/>
        </p:nvSpPr>
        <p:spPr>
          <a:xfrm>
            <a:off x="6000750" y="5572125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969FA7"/>
                </a:solidFill>
                <a:latin typeface="Calibri"/>
                <a:ea typeface="Calibri"/>
                <a:cs typeface="Calibri"/>
                <a:hlinkClick r:id="rId4"/>
              </a:rPr>
              <a:t>Crédito: NIST.</a:t>
            </a:r>
          </a:p>
        </p:txBody>
      </p:sp>
      <p:sp>
        <p:nvSpPr>
          <p:cNvPr id="8" name="slide-number-88">
            <a:extLst>
              <a:ext uri="{FF2B5EF4-FFF2-40B4-BE49-F238E27FC236}">
                <a16:creationId xmlns:a16="http://schemas.microsoft.com/office/drawing/2014/main" id="{26BB3E2C-706B-4744-9219-8C8C3CE40040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88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Antes de aplicar una ley, identifica geometría y campo»: árbol de decisión con tres salidas geométricas y alerta de recinto. La lectura central es que la ley de distancia depende de cómo crece el área y de si las reflexiones son despreciables. Recurso principal: U04-DG-015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94C4F60E-F9C1-4F72-8302-85E1B747E162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89">
            <a:extLst>
              <a:ext uri="{FF2B5EF4-FFF2-40B4-BE49-F238E27FC236}">
                <a16:creationId xmlns:a16="http://schemas.microsoft.com/office/drawing/2014/main" id="{FB5AFB97-16F4-420C-AE4C-BC969E95981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89">
            <a:extLst>
              <a:ext uri="{FF2B5EF4-FFF2-40B4-BE49-F238E27FC236}">
                <a16:creationId xmlns:a16="http://schemas.microsoft.com/office/drawing/2014/main" id="{3DD4378F-D4DA-43B7-8268-5EB71F7511D2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Antes de aplicar una ley, identifica geometría y campo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8C9A182F-DD99-42EA-9A6B-13C0CDA96407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B38AB559-D7C6-4B36-94D3-3A7C04D8948B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Geometrías y campos. Esquema conceptual; las distancias, tamaños y formas no representan una escala física salvo indicación expresa.</a:t>
            </a:r>
          </a:p>
        </p:txBody>
      </p:sp>
      <p:sp>
        <p:nvSpPr>
          <p:cNvPr id="7" name="slide-number-89">
            <a:extLst>
              <a:ext uri="{FF2B5EF4-FFF2-40B4-BE49-F238E27FC236}">
                <a16:creationId xmlns:a16="http://schemas.microsoft.com/office/drawing/2014/main" id="{133F6A50-35E2-4775-B21A-AF5CCEFFDCA9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89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vider-eyebrow">
            <a:extLst>
              <a:ext uri="{FF2B5EF4-FFF2-40B4-BE49-F238E27FC236}">
                <a16:creationId xmlns:a16="http://schemas.microsoft.com/office/drawing/2014/main" id="{D81F7DA3-1940-4E44-8C51-2B2CA8CD66D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8AD65076-1761-47EF-9932-AE3652A6E772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000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3375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375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¿Cuánto cambia el nivel al alejarnos y al cambiar de dirección?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83A65828-1D4C-4D47-84B3-A52440781599}"/>
              </a:ext>
            </a:extLst>
          </p:cNvPr>
          <p:cNvSpPr>
            <a:spLocks noGrp="1"/>
          </p:cNvSpPr>
          <p:nvPr/>
        </p:nvSpPr>
        <p:spPr>
          <a:xfrm>
            <a:off x="895350" y="3857625"/>
            <a:ext cx="933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cambian nivel y radiación con distancia y dirección?</a:t>
            </a:r>
          </a:p>
        </p:txBody>
      </p:sp>
      <p:sp>
        <p:nvSpPr>
          <p:cNvPr id="4" name="slide-number-90">
            <a:extLst>
              <a:ext uri="{FF2B5EF4-FFF2-40B4-BE49-F238E27FC236}">
                <a16:creationId xmlns:a16="http://schemas.microsoft.com/office/drawing/2014/main" id="{8DF6DB6D-E3D5-4020-9455-9FBDE300E2BC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La misma potencia atraviesa esferas cada vez mayores»: dos esferas o cortes 2D con flechas de flujo y etiquetas fuera del dibujo. La lectura central es que en campo libre ideal, aumentar `r` aumenta el área disponible. Recurso principal: U04-DG-016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404C06D2-14D2-4281-BF6B-4B37B7F01B71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91">
            <a:extLst>
              <a:ext uri="{FF2B5EF4-FFF2-40B4-BE49-F238E27FC236}">
                <a16:creationId xmlns:a16="http://schemas.microsoft.com/office/drawing/2014/main" id="{A6ADD65F-93DB-4D39-8CB3-60D1B76BBFE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91">
            <a:extLst>
              <a:ext uri="{FF2B5EF4-FFF2-40B4-BE49-F238E27FC236}">
                <a16:creationId xmlns:a16="http://schemas.microsoft.com/office/drawing/2014/main" id="{44E38954-14A5-4A06-B03A-B2BDB02E0201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misma potencia atraviesa esferas cada vez mayores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C2A86FC7-EAEA-4488-9945-7DCF43F289C5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574F6B0C-D0F3-4454-9849-A8FDA7FD195C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Ley de distancia. Esquema conceptual; las distancias, tamaños y formas no representan una escala física salvo indicación expresa.</a:t>
            </a:r>
          </a:p>
        </p:txBody>
      </p:sp>
      <p:sp>
        <p:nvSpPr>
          <p:cNvPr id="7" name="slide-number-91">
            <a:extLst>
              <a:ext uri="{FF2B5EF4-FFF2-40B4-BE49-F238E27FC236}">
                <a16:creationId xmlns:a16="http://schemas.microsoft.com/office/drawing/2014/main" id="{F9736660-1BB5-4943-993F-56EBF45A60A5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En propagación esférica ideal, `I=W_ac/(4πr²)`»: ecuación anotada conectada a superficie esférica. La lectura central es que la ley inversa del cuadrado surge del crecimiento del área esférica. Recurso principal: U04-DG-016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B4950797-056F-43BF-B0B5-09DD67ED28AE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92">
            <a:extLst>
              <a:ext uri="{FF2B5EF4-FFF2-40B4-BE49-F238E27FC236}">
                <a16:creationId xmlns:a16="http://schemas.microsoft.com/office/drawing/2014/main" id="{84036C3B-F65F-4D6A-B79C-CEC44FB7F50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92">
            <a:extLst>
              <a:ext uri="{FF2B5EF4-FFF2-40B4-BE49-F238E27FC236}">
                <a16:creationId xmlns:a16="http://schemas.microsoft.com/office/drawing/2014/main" id="{0F6ACA1F-09D4-4D21-A8F9-0855DA7B22BF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propagación esférica ideal, I=Wₐc/(4πr²)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AA98C176-C01B-41A3-AB66-783A31CC3E20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5C71A94C-5B51-4C90-B4AC-BC8408F97EE5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Ley de distancia. Esquema conceptual; las distancias, tamaños y formas no representan una escala física salvo indicación expresa.</a:t>
            </a:r>
          </a:p>
        </p:txBody>
      </p:sp>
      <p:sp>
        <p:nvSpPr>
          <p:cNvPr id="7" name="slide-number-92">
            <a:extLst>
              <a:ext uri="{FF2B5EF4-FFF2-40B4-BE49-F238E27FC236}">
                <a16:creationId xmlns:a16="http://schemas.microsoft.com/office/drawing/2014/main" id="{E1EF4154-D9CB-4B4E-94EE-313C20751014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92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La razón elimina la potencia desconocida»: derivación anotada con cancelaciones y dos posiciones. La lectura central es que comparar posiciones permite trabajar con cambios relativos. Recurso principal: U04-DG-016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E3616541-7D69-4560-BC48-EA62DDF75AB7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93">
            <a:extLst>
              <a:ext uri="{FF2B5EF4-FFF2-40B4-BE49-F238E27FC236}">
                <a16:creationId xmlns:a16="http://schemas.microsoft.com/office/drawing/2014/main" id="{BE643A53-FDAA-4229-BCDB-73A729014E9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93">
            <a:extLst>
              <a:ext uri="{FF2B5EF4-FFF2-40B4-BE49-F238E27FC236}">
                <a16:creationId xmlns:a16="http://schemas.microsoft.com/office/drawing/2014/main" id="{BFBC5649-8F61-4F5F-B7AC-6498B56F948F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razón elimina la potencia desconocida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98BF6FC3-9802-42AB-9F8F-312728106FC9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FCC9BA61-A75D-4CEB-8C6A-5504777B9028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Ley de distancia. Esquema conceptual; las distancias, tamaños y formas no representan una escala física salvo indicación expresa.</a:t>
            </a:r>
          </a:p>
        </p:txBody>
      </p:sp>
      <p:sp>
        <p:nvSpPr>
          <p:cNvPr id="7" name="slide-number-93">
            <a:extLst>
              <a:ext uri="{FF2B5EF4-FFF2-40B4-BE49-F238E27FC236}">
                <a16:creationId xmlns:a16="http://schemas.microsoft.com/office/drawing/2014/main" id="{FCA82018-CB56-4E8C-8C82-DDBFD0475980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93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La diferencia de nivel depende del cociente de distancias»: ecuación anotada con recta de distancias y prueba de signo. La lectura central es que alejarse reduce nivel cuando `r_2&gt;r_1`, bajo las hipótesis del modelo. Recurso principal: U04-DG-016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C5CD8253-AAB7-4DCA-BF42-0014B3EB28A0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94">
            <a:extLst>
              <a:ext uri="{FF2B5EF4-FFF2-40B4-BE49-F238E27FC236}">
                <a16:creationId xmlns:a16="http://schemas.microsoft.com/office/drawing/2014/main" id="{DBAB5075-696A-42A6-9AA7-AF1630A0C9D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94">
            <a:extLst>
              <a:ext uri="{FF2B5EF4-FFF2-40B4-BE49-F238E27FC236}">
                <a16:creationId xmlns:a16="http://schemas.microsoft.com/office/drawing/2014/main" id="{3B5AC492-265C-4D30-A904-FDA2DA73D030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diferencia de nivel depende del cociente de distancias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2C261C70-A894-4C87-8F5B-3296E173B0B0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50D76553-0D04-482E-B964-5EBBC80AE929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Ley de distancia. Esquema conceptual; las distancias, tamaños y formas no representan una escala física salvo indicación expresa.</a:t>
            </a:r>
          </a:p>
        </p:txBody>
      </p:sp>
      <p:sp>
        <p:nvSpPr>
          <p:cNvPr id="7" name="slide-number-94">
            <a:extLst>
              <a:ext uri="{FF2B5EF4-FFF2-40B4-BE49-F238E27FC236}">
                <a16:creationId xmlns:a16="http://schemas.microsoft.com/office/drawing/2014/main" id="{306EB639-D69C-4BAE-A70A-3AA66416A865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94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2" name="Marcador de gráfico 14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3" name="Marcador de gráfico 14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34" name="Gráfico 33" descr="Gráfico sobre «Duplicar distancia reduce aproximadamente `6,02 dB`»: `ΔL_p` versus `r/r_0` con puntos anotados. La lectura central es que la regla `−6 dB` es esférica, de campo libre y en la región válida. Recurso principal: U04-CH-011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2" name="visual-title-backing">
            <a:extLst>
              <a:ext uri="{FF2B5EF4-FFF2-40B4-BE49-F238E27FC236}">
                <a16:creationId xmlns:a16="http://schemas.microsoft.com/office/drawing/2014/main" id="{5EF0E502-91A6-4AD0-9A71-98DB87A17B40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" name="eyebrow-U04-095">
            <a:extLst>
              <a:ext uri="{FF2B5EF4-FFF2-40B4-BE49-F238E27FC236}">
                <a16:creationId xmlns:a16="http://schemas.microsoft.com/office/drawing/2014/main" id="{79A242BA-AFE2-45EC-B677-012345E8F68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4" name="title-U04-095">
            <a:extLst>
              <a:ext uri="{FF2B5EF4-FFF2-40B4-BE49-F238E27FC236}">
                <a16:creationId xmlns:a16="http://schemas.microsoft.com/office/drawing/2014/main" id="{E385DED2-F21C-4CF6-981A-DF2490A99D0D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Duplicar distancia reduce aproximadamente 6,02 dB</a:t>
            </a:r>
          </a:p>
        </p:txBody>
      </p:sp>
      <p:sp>
        <p:nvSpPr>
          <p:cNvPr id="25" name="caption-backing">
            <a:extLst>
              <a:ext uri="{FF2B5EF4-FFF2-40B4-BE49-F238E27FC236}">
                <a16:creationId xmlns:a16="http://schemas.microsoft.com/office/drawing/2014/main" id="{2A2E8DE7-F8FE-4EF9-9C07-CEA0865DC85D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6" name="caption">
            <a:extLst>
              <a:ext uri="{FF2B5EF4-FFF2-40B4-BE49-F238E27FC236}">
                <a16:creationId xmlns:a16="http://schemas.microsoft.com/office/drawing/2014/main" id="{A9C63798-58E7-41AE-9D14-7370521666AD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 y distancia. Figura cuantitativa reproducible; ecuaciones o datos y escala se indican en el recurso. · fuente puntual · campo libre y le…</a:t>
            </a:r>
          </a:p>
        </p:txBody>
      </p:sp>
      <p:sp>
        <p:nvSpPr>
          <p:cNvPr id="27" name="media-status">
            <a:extLst>
              <a:ext uri="{FF2B5EF4-FFF2-40B4-BE49-F238E27FC236}">
                <a16:creationId xmlns:a16="http://schemas.microsoft.com/office/drawing/2014/main" id="{D6B22BA7-BCFC-490E-B51D-6E9742BF0FDE}"/>
              </a:ext>
            </a:extLst>
          </p:cNvPr>
          <p:cNvSpPr>
            <a:spLocks noGrp="1"/>
          </p:cNvSpPr>
          <p:nvPr/>
        </p:nvSpPr>
        <p:spPr>
          <a:xfrm>
            <a:off x="8210550" y="400050"/>
            <a:ext cx="3371850" cy="228600"/>
          </a:xfrm>
          <a:prstGeom prst="roundRect">
            <a:avLst>
              <a:gd name="adj" fmla="val 50000"/>
            </a:avLst>
          </a:prstGeom>
          <a:solidFill>
            <a:srgbClr val="E7F1F1"/>
          </a:solidFill>
          <a:ln w="0">
            <a:noFill/>
            <a:prstDash val="solid"/>
          </a:ln>
        </p:spPr>
      </p:sp>
      <p:sp>
        <p:nvSpPr>
          <p:cNvPr id="28" name="media-label">
            <a:extLst>
              <a:ext uri="{FF2B5EF4-FFF2-40B4-BE49-F238E27FC236}">
                <a16:creationId xmlns:a16="http://schemas.microsoft.com/office/drawing/2014/main" id="{F0E932D0-322B-4F98-B129-5C1ED21FACAF}"/>
              </a:ext>
            </a:extLst>
          </p:cNvPr>
          <p:cNvSpPr>
            <a:spLocks noGrp="1"/>
          </p:cNvSpPr>
          <p:nvPr/>
        </p:nvSpPr>
        <p:spPr>
          <a:xfrm>
            <a:off x="8324850" y="438150"/>
            <a:ext cx="3143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ALTERNATIVA ESTÁTICA · MEDIA NO INCRUSTADA</a:t>
            </a:r>
          </a:p>
        </p:txBody>
      </p:sp>
      <p:sp>
        <p:nvSpPr>
          <p:cNvPr id="29" name="slide-number-95">
            <a:extLst>
              <a:ext uri="{FF2B5EF4-FFF2-40B4-BE49-F238E27FC236}">
                <a16:creationId xmlns:a16="http://schemas.microsoft.com/office/drawing/2014/main" id="{A7A8AC62-1ED6-45EB-9003-3A8697CDE2BE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95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La regla de `−6 dB` no vale en cualquier recinto»: semáforo de validez con campo libre/recinto/campo cercano. La lectura central es que reflexiones, campo cercano, directividad, absorción y geometría pueden alterar la caída. Recurso principal: U04-DG-016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A3F1E70E-F289-4260-AC58-ABBD48D6C617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96">
            <a:extLst>
              <a:ext uri="{FF2B5EF4-FFF2-40B4-BE49-F238E27FC236}">
                <a16:creationId xmlns:a16="http://schemas.microsoft.com/office/drawing/2014/main" id="{8F7288C1-130F-44F5-B8D7-A410188EA7F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96">
            <a:extLst>
              <a:ext uri="{FF2B5EF4-FFF2-40B4-BE49-F238E27FC236}">
                <a16:creationId xmlns:a16="http://schemas.microsoft.com/office/drawing/2014/main" id="{78733E06-AB7A-463C-926F-13F9A91FBA1C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regla de −6 dB no vale en cualquier recinto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EC3CE787-4A94-4DCF-91A8-62C6E2B974A0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147089A0-4B32-433B-9A0E-653B20539EE3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Ley de distancia. Esquema conceptual; las distancias, tamaños y formas no representan una escala física salvo indicación expresa.</a:t>
            </a:r>
          </a:p>
        </p:txBody>
      </p:sp>
      <p:sp>
        <p:nvSpPr>
          <p:cNvPr id="7" name="slide-number-96">
            <a:extLst>
              <a:ext uri="{FF2B5EF4-FFF2-40B4-BE49-F238E27FC236}">
                <a16:creationId xmlns:a16="http://schemas.microsoft.com/office/drawing/2014/main" id="{51C37833-25A4-40CB-8DCE-075CAA5B108A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 descr="Esquema mixto sobre «De `80 dB` a 1 m a `≈68 dB` a 4 m»: Ecuaciones editables más línea de distancias. La lectura central es que cuadruplicar distancia equivale a dos duplicaciones y cerca de `−12,04 dB`. Recurso principal: U04-CH-011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8DF47486-A0FE-4110-AA83-41559AF0C090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97">
            <a:extLst>
              <a:ext uri="{FF2B5EF4-FFF2-40B4-BE49-F238E27FC236}">
                <a16:creationId xmlns:a16="http://schemas.microsoft.com/office/drawing/2014/main" id="{43EA1FB1-5028-4B33-BFCD-76CC865AC0C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97">
            <a:extLst>
              <a:ext uri="{FF2B5EF4-FFF2-40B4-BE49-F238E27FC236}">
                <a16:creationId xmlns:a16="http://schemas.microsoft.com/office/drawing/2014/main" id="{94136E8B-8D5E-4EEA-9E42-2C942399ABA7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80 dB a 1 m a ≈68 dB a 4 m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A39172C1-C0AC-428D-9FEB-9BCF2D5F53D4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D731B0CC-B62F-4B6A-96A9-055AFC7E1D00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 y distancia y Ley de distancia. El gráfico es cuantitativo; el esquema organiza las condiciones y no está a escala. · fuente puntual · c…</a:t>
            </a:r>
          </a:p>
        </p:txBody>
      </p:sp>
      <p:sp>
        <p:nvSpPr>
          <p:cNvPr id="7" name="media-status">
            <a:extLst>
              <a:ext uri="{FF2B5EF4-FFF2-40B4-BE49-F238E27FC236}">
                <a16:creationId xmlns:a16="http://schemas.microsoft.com/office/drawing/2014/main" id="{B4344DD7-F5D5-4B32-97FD-4756B2FB5BD4}"/>
              </a:ext>
            </a:extLst>
          </p:cNvPr>
          <p:cNvSpPr>
            <a:spLocks noGrp="1"/>
          </p:cNvSpPr>
          <p:nvPr/>
        </p:nvSpPr>
        <p:spPr>
          <a:xfrm>
            <a:off x="8210550" y="400050"/>
            <a:ext cx="3371850" cy="228600"/>
          </a:xfrm>
          <a:prstGeom prst="roundRect">
            <a:avLst>
              <a:gd name="adj" fmla="val 50000"/>
            </a:avLst>
          </a:prstGeom>
          <a:solidFill>
            <a:srgbClr val="E7F1F1"/>
          </a:solidFill>
          <a:ln w="0">
            <a:noFill/>
            <a:prstDash val="solid"/>
          </a:ln>
        </p:spPr>
      </p:sp>
      <p:sp>
        <p:nvSpPr>
          <p:cNvPr id="8" name="media-label">
            <a:extLst>
              <a:ext uri="{FF2B5EF4-FFF2-40B4-BE49-F238E27FC236}">
                <a16:creationId xmlns:a16="http://schemas.microsoft.com/office/drawing/2014/main" id="{4CCAE4E0-4939-4508-95C1-30392C904EDF}"/>
              </a:ext>
            </a:extLst>
          </p:cNvPr>
          <p:cNvSpPr>
            <a:spLocks noGrp="1"/>
          </p:cNvSpPr>
          <p:nvPr/>
        </p:nvSpPr>
        <p:spPr>
          <a:xfrm>
            <a:off x="8324850" y="438150"/>
            <a:ext cx="3143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ALTERNATIVA ESTÁTICA · MEDIA NO INCRUSTADA</a:t>
            </a:r>
          </a:p>
        </p:txBody>
      </p:sp>
      <p:sp>
        <p:nvSpPr>
          <p:cNvPr id="9" name="slide-number-97">
            <a:extLst>
              <a:ext uri="{FF2B5EF4-FFF2-40B4-BE49-F238E27FC236}">
                <a16:creationId xmlns:a16="http://schemas.microsoft.com/office/drawing/2014/main" id="{EFA537F3-ECCF-4974-A1E8-81A39F186D17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97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Una fuente omnidireccional ideal reparte por igual en todas las direcciones»: patrón polar ideal con fuente central y ejes. La lectura central es que la omnidireccionalidad es un modelo de comparación, no una propiedad absoluta de toda fuente. Recurso principal: U04-DG-017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81807D7E-F94B-4F72-9A23-0A747E1B0852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98">
            <a:extLst>
              <a:ext uri="{FF2B5EF4-FFF2-40B4-BE49-F238E27FC236}">
                <a16:creationId xmlns:a16="http://schemas.microsoft.com/office/drawing/2014/main" id="{3F86972A-47B7-44E5-9922-85C73C064F8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98">
            <a:extLst>
              <a:ext uri="{FF2B5EF4-FFF2-40B4-BE49-F238E27FC236}">
                <a16:creationId xmlns:a16="http://schemas.microsoft.com/office/drawing/2014/main" id="{9FF4A0BB-0ECD-46D2-B619-549976E0987E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fuente omnidireccional ideal reparte por igual en todas las direcciones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5F36AE11-5AAB-4161-9DB5-A333193E6D3F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FF0E05A9-F2EF-4AE5-B660-F64415D28BAA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Directividad. Esquema conceptual; las distancias, tamaños y formas no representan una escala física salvo indicación expresa.</a:t>
            </a:r>
          </a:p>
        </p:txBody>
      </p:sp>
      <p:sp>
        <p:nvSpPr>
          <p:cNvPr id="7" name="slide-number-98">
            <a:extLst>
              <a:ext uri="{FF2B5EF4-FFF2-40B4-BE49-F238E27FC236}">
                <a16:creationId xmlns:a16="http://schemas.microsoft.com/office/drawing/2014/main" id="{20F01C6A-7BFF-40FC-92DB-331F3E2BE7F4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Chart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" name="Marcador de gráfico 14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1" name="Marcador de gráfico 14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32" name="Gráfico 31" descr="Diagrama sobre «Una fuente real puede concentrar energía en ciertas direcciones»: patrones polares editables simples; gráfico cuantitativo real reservado a U04-102. La lectura central es que el nivel depende del ángulo, la frecuencia, el montaje y el entorno. Recurso principal: U04-DG-017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2" name="visual-title-backing">
            <a:extLst>
              <a:ext uri="{FF2B5EF4-FFF2-40B4-BE49-F238E27FC236}">
                <a16:creationId xmlns:a16="http://schemas.microsoft.com/office/drawing/2014/main" id="{B4F59ADC-3E0A-4BEF-BD5C-6FB02BD720BC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" name="eyebrow-U04-099">
            <a:extLst>
              <a:ext uri="{FF2B5EF4-FFF2-40B4-BE49-F238E27FC236}">
                <a16:creationId xmlns:a16="http://schemas.microsoft.com/office/drawing/2014/main" id="{DAA2C40A-13CE-43CE-94DC-E6EB75708A8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4" name="title-U04-099">
            <a:extLst>
              <a:ext uri="{FF2B5EF4-FFF2-40B4-BE49-F238E27FC236}">
                <a16:creationId xmlns:a16="http://schemas.microsoft.com/office/drawing/2014/main" id="{BDBC6B0A-B152-4F38-9940-789540A4B2F6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fuente real puede concentrar energía en ciertas direcciones</a:t>
            </a:r>
          </a:p>
        </p:txBody>
      </p:sp>
      <p:sp>
        <p:nvSpPr>
          <p:cNvPr id="25" name="caption-backing">
            <a:extLst>
              <a:ext uri="{FF2B5EF4-FFF2-40B4-BE49-F238E27FC236}">
                <a16:creationId xmlns:a16="http://schemas.microsoft.com/office/drawing/2014/main" id="{5F12DFDA-D348-4D19-8D50-AE74EB5B925F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6" name="caption">
            <a:extLst>
              <a:ext uri="{FF2B5EF4-FFF2-40B4-BE49-F238E27FC236}">
                <a16:creationId xmlns:a16="http://schemas.microsoft.com/office/drawing/2014/main" id="{66D51E8E-1955-4EFA-9153-D9396B6454EF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Directividad. Esquema conceptual; las distancias, tamaños y formas no representan una escala física salvo indicación expresa.</a:t>
            </a:r>
          </a:p>
        </p:txBody>
      </p:sp>
      <p:sp>
        <p:nvSpPr>
          <p:cNvPr id="27" name="slide-number-99">
            <a:extLst>
              <a:ext uri="{FF2B5EF4-FFF2-40B4-BE49-F238E27FC236}">
                <a16:creationId xmlns:a16="http://schemas.microsoft.com/office/drawing/2014/main" id="{F39402CB-F2B4-488F-AF5E-91A9165702B7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99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El factor `Q` compara concentración con una fuente omnidireccional»: ecuación anotada con dos fuentes comparadas a igual potencia/distancia. La lectura central es que `Q` expresa cuántas veces aumenta la intensidad en una dirección respecto del reparto omnidireccional equivalente. Recurso principal: U04-DG-017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FBCC0D4B-9B6F-4A41-BA16-CC57FC8C26C5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00">
            <a:extLst>
              <a:ext uri="{FF2B5EF4-FFF2-40B4-BE49-F238E27FC236}">
                <a16:creationId xmlns:a16="http://schemas.microsoft.com/office/drawing/2014/main" id="{E5FFFBC2-B326-4A3C-9147-E38384A5509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00">
            <a:extLst>
              <a:ext uri="{FF2B5EF4-FFF2-40B4-BE49-F238E27FC236}">
                <a16:creationId xmlns:a16="http://schemas.microsoft.com/office/drawing/2014/main" id="{575D690D-691D-474C-9012-E86A62C71F9C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factor Q compara concentración con una fuente omnidireccional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3B916D8A-2EF4-4167-8293-D12178FC35CB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D2684898-E654-483D-9B16-E12E2B2E9B5C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Directividad. Esquema conceptual; las distancias, tamaños y formas no representan una escala física salvo indicación expresa.</a:t>
            </a:r>
          </a:p>
        </p:txBody>
      </p:sp>
      <p:sp>
        <p:nvSpPr>
          <p:cNvPr id="7" name="slide-number-100">
            <a:extLst>
              <a:ext uri="{FF2B5EF4-FFF2-40B4-BE49-F238E27FC236}">
                <a16:creationId xmlns:a16="http://schemas.microsoft.com/office/drawing/2014/main" id="{AED2AD22-CBAA-4F08-A809-066696C064A2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El índice de directividad es `DI=10log10(Q)`»: ecuación anotada y escala `Q↔DI`. La lectura central es que `Q=4` corresponde a `DI≈6,02 dB`. Recurso principal: U04-DG-017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D8850211-A9AD-45EF-98E5-1DB1D16836AF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01">
            <a:extLst>
              <a:ext uri="{FF2B5EF4-FFF2-40B4-BE49-F238E27FC236}">
                <a16:creationId xmlns:a16="http://schemas.microsoft.com/office/drawing/2014/main" id="{0DBA56A2-56BA-4F98-B7EC-3C28CBB24CB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01">
            <a:extLst>
              <a:ext uri="{FF2B5EF4-FFF2-40B4-BE49-F238E27FC236}">
                <a16:creationId xmlns:a16="http://schemas.microsoft.com/office/drawing/2014/main" id="{79335DFA-24A9-4123-9D2B-CA70553CA11A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índice de directividad es DI=10log10(Q)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7FED4F1B-4EA9-44FF-B9C8-F2759DC250C6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5B46D81B-314A-4BB0-8914-74F0E1A4AFF2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Directividad. Esquema conceptual; las distancias, tamaños y formas no representan una escala física salvo indicación expresa.</a:t>
            </a:r>
          </a:p>
        </p:txBody>
      </p:sp>
      <p:sp>
        <p:nvSpPr>
          <p:cNvPr id="7" name="slide-number-101">
            <a:extLst>
              <a:ext uri="{FF2B5EF4-FFF2-40B4-BE49-F238E27FC236}">
                <a16:creationId xmlns:a16="http://schemas.microsoft.com/office/drawing/2014/main" id="{73744E60-1BBE-423A-9AAC-BF3F8153AF83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101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-U04-102">
            <a:extLst>
              <a:ext uri="{FF2B5EF4-FFF2-40B4-BE49-F238E27FC236}">
                <a16:creationId xmlns:a16="http://schemas.microsoft.com/office/drawing/2014/main" id="{09D7896B-FAF4-42D0-8415-EA80724C1C5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102">
            <a:extLst>
              <a:ext uri="{FF2B5EF4-FFF2-40B4-BE49-F238E27FC236}">
                <a16:creationId xmlns:a16="http://schemas.microsoft.com/office/drawing/2014/main" id="{2EB542AA-F211-416A-B320-CFAEF5549E9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patrón polar solo sirve si conocemos frecuencia y condiciones</a:t>
            </a: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4033689B-5C8D-4CEB-8D1D-03D972880142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10477500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directividad cambia con frecuencia; un único contorno no describe toda la fuente.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Comparar dos patrones del mismo transductor rotulados con frecuencias distintas: identificar la dirección frontal y un ángulo donde la respuesta relativa cambie.</a:t>
            </a:r>
          </a:p>
        </p:txBody>
      </p:sp>
      <p:sp>
        <p:nvSpPr>
          <p:cNvPr id="4" name="slide-number-102">
            <a:extLst>
              <a:ext uri="{FF2B5EF4-FFF2-40B4-BE49-F238E27FC236}">
                <a16:creationId xmlns:a16="http://schemas.microsoft.com/office/drawing/2014/main" id="{F9E82B3B-9DDD-4599-A2A2-A830F9F8B0F1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102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vider-eyebrow">
            <a:extLst>
              <a:ext uri="{FF2B5EF4-FFF2-40B4-BE49-F238E27FC236}">
                <a16:creationId xmlns:a16="http://schemas.microsoft.com/office/drawing/2014/main" id="{A04153FB-DA92-4E57-9FD8-5C3FA5D8E6A6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5EDD803D-3266-438C-925F-DC5C1314B611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000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Medir sonido exige elegir variable, referencia y modelo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814D463E-D6C1-496D-8FB6-B9F761F81FDF}"/>
              </a:ext>
            </a:extLst>
          </p:cNvPr>
          <p:cNvSpPr>
            <a:spLocks noGrp="1"/>
          </p:cNvSpPr>
          <p:nvPr/>
        </p:nvSpPr>
        <p:spPr>
          <a:xfrm>
            <a:off x="895350" y="3857625"/>
            <a:ext cx="933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permite interpretar una medición acústica en Fonoaudiología?</a:t>
            </a:r>
          </a:p>
        </p:txBody>
      </p:sp>
      <p:sp>
        <p:nvSpPr>
          <p:cNvPr id="4" name="slide-number-103">
            <a:extLst>
              <a:ext uri="{FF2B5EF4-FFF2-40B4-BE49-F238E27FC236}">
                <a16:creationId xmlns:a16="http://schemas.microsoft.com/office/drawing/2014/main" id="{2D1D4B04-BC13-4DD3-BA8C-604FC7C31C31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103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-U04-104">
            <a:extLst>
              <a:ext uri="{FF2B5EF4-FFF2-40B4-BE49-F238E27FC236}">
                <a16:creationId xmlns:a16="http://schemas.microsoft.com/office/drawing/2014/main" id="{5473BD44-DCBB-4A15-B395-3FFB51AA3661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104">
            <a:extLst>
              <a:ext uri="{FF2B5EF4-FFF2-40B4-BE49-F238E27FC236}">
                <a16:creationId xmlns:a16="http://schemas.microsoft.com/office/drawing/2014/main" id="{7243241A-A0C6-46F7-B6BA-5F9E11F25D19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informa realmente un sonómetro o micrófono calibrado?</a:t>
            </a:r>
          </a:p>
        </p:txBody>
      </p:sp>
      <p:sp>
        <p:nvSpPr>
          <p:cNvPr id="3" name="image-surface">
            <a:extLst>
              <a:ext uri="{FF2B5EF4-FFF2-40B4-BE49-F238E27FC236}">
                <a16:creationId xmlns:a16="http://schemas.microsoft.com/office/drawing/2014/main" id="{1FC804CC-1B25-4381-8BB6-47122952BE82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4953000" cy="4095750"/>
          </a:xfrm>
          <a:prstGeom prst="roundRect">
            <a:avLst>
              <a:gd name="adj" fmla="val 186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</p:sp>
      <p:pic>
        <p:nvPicPr>
          <p:cNvPr id="12" name="Imagen 11" descr="Diagrama sobre «¿Qué informa realmente un sonómetro o micrófono calibrado?»: proceso de 6 nodos con cajas de condiciones; sin desarrollar ponderaciones. La lectura central es que el instrumento estima una magnitud en un punto y bajo ajustes declarados; no informa por sí solo percepción ni potencia total. Recurso principal: U04-DG-018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24301" y="1752600"/>
            <a:ext cx="1723597" cy="3829050"/>
          </a:xfrm>
          <a:prstGeom prst="rect">
            <a:avLst/>
          </a:prstGeom>
        </p:spPr>
      </p:pic>
      <p:sp>
        <p:nvSpPr>
          <p:cNvPr id="5" name="bullets">
            <a:extLst>
              <a:ext uri="{FF2B5EF4-FFF2-40B4-BE49-F238E27FC236}">
                <a16:creationId xmlns:a16="http://schemas.microsoft.com/office/drawing/2014/main" id="{7B8F2911-2373-4B4D-9C6E-E0719A1E35EA}"/>
              </a:ext>
            </a:extLst>
          </p:cNvPr>
          <p:cNvSpPr>
            <a:spLocks noGrp="1"/>
          </p:cNvSpPr>
          <p:nvPr/>
        </p:nvSpPr>
        <p:spPr>
          <a:xfrm>
            <a:off x="6000750" y="1762125"/>
            <a:ext cx="5429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instrumento estima una magnitud en un punto y bajo ajustes declarados; no informa por sí solo percepción ni potencia total.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 sonómetro informa un nivel en un punto con ponderación y respuesta temporal declaradas; no informa sonoridad individual.</a:t>
            </a:r>
          </a:p>
        </p:txBody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C32FEF59-8B74-4CB3-BF55-A72D54B07FB1}"/>
              </a:ext>
            </a:extLst>
          </p:cNvPr>
          <p:cNvSpPr>
            <a:spLocks noGrp="1"/>
          </p:cNvSpPr>
          <p:nvPr/>
        </p:nvSpPr>
        <p:spPr>
          <a:xfrm>
            <a:off x="6000750" y="5000625"/>
            <a:ext cx="542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Interpretación y caso. Esquema conceptual; las distancias, tamaños y formas no representan una escala física salvo indicación expresa.</a:t>
            </a:r>
          </a:p>
        </p:txBody>
      </p:sp>
      <p:sp>
        <p:nvSpPr>
          <p:cNvPr id="7" name="credit">
            <a:extLst>
              <a:ext uri="{FF2B5EF4-FFF2-40B4-BE49-F238E27FC236}">
                <a16:creationId xmlns:a16="http://schemas.microsoft.com/office/drawing/2014/main" id="{71EADBD2-4794-4C48-BEE7-7B24F3185C60}"/>
              </a:ext>
            </a:extLst>
          </p:cNvPr>
          <p:cNvSpPr>
            <a:spLocks noGrp="1"/>
          </p:cNvSpPr>
          <p:nvPr/>
        </p:nvSpPr>
        <p:spPr>
          <a:xfrm>
            <a:off x="6000750" y="5572125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969FA7"/>
                </a:solidFill>
                <a:latin typeface="Calibri"/>
                <a:ea typeface="Calibri"/>
                <a:cs typeface="Calibri"/>
                <a:hlinkClick r:id="rId4"/>
              </a:rPr>
              <a:t>Foto: Harke, dominio público, vía Wikimedia Commons.</a:t>
            </a:r>
          </a:p>
        </p:txBody>
      </p:sp>
      <p:sp>
        <p:nvSpPr>
          <p:cNvPr id="8" name="slide-number-104">
            <a:extLst>
              <a:ext uri="{FF2B5EF4-FFF2-40B4-BE49-F238E27FC236}">
                <a16:creationId xmlns:a16="http://schemas.microsoft.com/office/drawing/2014/main" id="{A4DE950B-0625-4987-B0D8-D999AD8CA639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104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yebrow-U04-105">
            <a:extLst>
              <a:ext uri="{FF2B5EF4-FFF2-40B4-BE49-F238E27FC236}">
                <a16:creationId xmlns:a16="http://schemas.microsoft.com/office/drawing/2014/main" id="{247BD83D-CAB4-4EEF-87AA-009F43DF6932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105">
            <a:extLst>
              <a:ext uri="{FF2B5EF4-FFF2-40B4-BE49-F238E27FC236}">
                <a16:creationId xmlns:a16="http://schemas.microsoft.com/office/drawing/2014/main" id="{2F463AAF-9D22-4377-9127-0EA97066CA2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integrador: dos fuentes, dos distancias y un recinto</a:t>
            </a:r>
          </a:p>
        </p:txBody>
      </p:sp>
      <p:sp>
        <p:nvSpPr>
          <p:cNvPr id="3" name="question-surface">
            <a:extLst>
              <a:ext uri="{FF2B5EF4-FFF2-40B4-BE49-F238E27FC236}">
                <a16:creationId xmlns:a16="http://schemas.microsoft.com/office/drawing/2014/main" id="{EFEDEA8C-D1E2-4201-B6E6-048AF20096B8}"/>
              </a:ext>
            </a:extLst>
          </p:cNvPr>
          <p:cNvSpPr>
            <a:spLocks noGrp="1"/>
          </p:cNvSpPr>
          <p:nvPr/>
        </p:nvSpPr>
        <p:spPr>
          <a:xfrm>
            <a:off x="838200" y="1666875"/>
            <a:ext cx="10515600" cy="4191000"/>
          </a:xfrm>
          <a:prstGeom prst="roundRect">
            <a:avLst>
              <a:gd name="adj" fmla="val 2273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</p:sp>
      <p:sp>
        <p:nvSpPr>
          <p:cNvPr id="4" name="bullets">
            <a:extLst>
              <a:ext uri="{FF2B5EF4-FFF2-40B4-BE49-F238E27FC236}">
                <a16:creationId xmlns:a16="http://schemas.microsoft.com/office/drawing/2014/main" id="{B5DEAC20-A40F-4870-AFA8-1B67CBF45566}"/>
              </a:ext>
            </a:extLst>
          </p:cNvPr>
          <p:cNvSpPr>
            <a:spLocks noGrp="1"/>
          </p:cNvSpPr>
          <p:nvPr/>
        </p:nvSpPr>
        <p:spPr>
          <a:xfrm>
            <a:off x="1238250" y="2047875"/>
            <a:ext cx="97155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Antes de calcular, registrá para cada fuente: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1. magnitud y referencia informadas;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2. relación temporal entre señales;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3. distancia y dirección del punto;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4. geometría y tipo de campo;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5. dato faltante que impediría el cálculo.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No se asignan valores numéricos nuevos: el objetivo es decidir qué relación sería válida.</a:t>
            </a:r>
          </a:p>
        </p:txBody>
      </p:sp>
      <p:sp>
        <p:nvSpPr>
          <p:cNvPr id="5" name="slide-number-105">
            <a:extLst>
              <a:ext uri="{FF2B5EF4-FFF2-40B4-BE49-F238E27FC236}">
                <a16:creationId xmlns:a16="http://schemas.microsoft.com/office/drawing/2014/main" id="{D4CB45EF-1C3A-4F52-B49C-5C458722929C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105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Siete atajos que producen respuestas incorrectas»: lista priorizada en dos columnas con corrección mínima. La lectura central es que confundir magnitudes, referencias o dominios de validez cambia el significado del resultado. Recurso principal: U04-DG-018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1B8E9CB7-012D-42F1-8D68-E93240F75752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06">
            <a:extLst>
              <a:ext uri="{FF2B5EF4-FFF2-40B4-BE49-F238E27FC236}">
                <a16:creationId xmlns:a16="http://schemas.microsoft.com/office/drawing/2014/main" id="{0C471086-96B4-4ABA-A247-2A422E9F010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06">
            <a:extLst>
              <a:ext uri="{FF2B5EF4-FFF2-40B4-BE49-F238E27FC236}">
                <a16:creationId xmlns:a16="http://schemas.microsoft.com/office/drawing/2014/main" id="{3308F151-77D6-46E0-A002-F04A554E7DD6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Siete atajos que producen respuestas incorrectas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51ADEDA2-649D-41A6-A361-C4557D8A4810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418E4F55-AFBE-4A90-A8AF-1C9ABBFA513A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Interpretación y caso. Esquema conceptual; las distancias, tamaños y formas no representan una escala física salvo indicación expresa.</a:t>
            </a:r>
          </a:p>
        </p:txBody>
      </p:sp>
      <p:sp>
        <p:nvSpPr>
          <p:cNvPr id="7" name="slide-number-106">
            <a:extLst>
              <a:ext uri="{FF2B5EF4-FFF2-40B4-BE49-F238E27FC236}">
                <a16:creationId xmlns:a16="http://schemas.microsoft.com/office/drawing/2014/main" id="{50873FDE-C3AB-4DF1-8141-26F736664D86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106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Del sonido como fenómeno a una medición interpretable»: mapa conceptual final derivado de U04-006, con revelado por bloques. La lectura central es que fuente y medio producen un campo; magnitudes y descriptores permiten medirlo; niveles, geometría y directividad condicionan la interpretación. Recurso principal: U04-DG-002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900856A8-160F-41B7-BAC9-B9A6FE1CD075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07">
            <a:extLst>
              <a:ext uri="{FF2B5EF4-FFF2-40B4-BE49-F238E27FC236}">
                <a16:creationId xmlns:a16="http://schemas.microsoft.com/office/drawing/2014/main" id="{BD5D21E3-8185-409C-B0D4-1F9E997043F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07">
            <a:extLst>
              <a:ext uri="{FF2B5EF4-FFF2-40B4-BE49-F238E27FC236}">
                <a16:creationId xmlns:a16="http://schemas.microsoft.com/office/drawing/2014/main" id="{50227479-22AC-4134-8972-DB61D9A1288E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sonido como fenómeno a una medición interpretable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48DB3C87-45E0-4347-8527-18C17A02FE31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51585D9D-7C8C-4FB8-ABBB-D3A7E347B67A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Mapa de unidad. Esquema conceptual; las distancias, tamaños y formas no representan una escala física salvo indicación expresa.</a:t>
            </a:r>
          </a:p>
        </p:txBody>
      </p:sp>
      <p:sp>
        <p:nvSpPr>
          <p:cNvPr id="7" name="slide-number-107">
            <a:extLst>
              <a:ext uri="{FF2B5EF4-FFF2-40B4-BE49-F238E27FC236}">
                <a16:creationId xmlns:a16="http://schemas.microsoft.com/office/drawing/2014/main" id="{6EC0AF6B-2CC0-4489-80C2-0387D280901C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107</a:t>
            </a:r>
          </a:p>
        </p:txBody>
      </p:sp>
    </p:spTree>
    <p:extLst>
      <p:ext uri="{BB962C8B-B14F-4D97-AF65-F5344CB8AC3E}">
        <p14:creationId xmlns:p14="http://schemas.microsoft.com/office/powerpoint/2010/main" val="95153027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yebrow-U04-108">
            <a:extLst>
              <a:ext uri="{FF2B5EF4-FFF2-40B4-BE49-F238E27FC236}">
                <a16:creationId xmlns:a16="http://schemas.microsoft.com/office/drawing/2014/main" id="{40A69D0B-4CD8-43C9-BACF-49B6DC27F67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108">
            <a:extLst>
              <a:ext uri="{FF2B5EF4-FFF2-40B4-BE49-F238E27FC236}">
                <a16:creationId xmlns:a16="http://schemas.microsoft.com/office/drawing/2014/main" id="{6E305D74-9051-4A2B-ABAF-E2AF4E5E1D2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podés explicar ahora que al inicio no podías?</a:t>
            </a:r>
          </a:p>
        </p:txBody>
      </p:sp>
      <p:sp>
        <p:nvSpPr>
          <p:cNvPr id="3" name="question-surface">
            <a:extLst>
              <a:ext uri="{FF2B5EF4-FFF2-40B4-BE49-F238E27FC236}">
                <a16:creationId xmlns:a16="http://schemas.microsoft.com/office/drawing/2014/main" id="{98CAC2AC-22C8-434B-93E1-D6493F958C9C}"/>
              </a:ext>
            </a:extLst>
          </p:cNvPr>
          <p:cNvSpPr>
            <a:spLocks noGrp="1"/>
          </p:cNvSpPr>
          <p:nvPr/>
        </p:nvSpPr>
        <p:spPr>
          <a:xfrm>
            <a:off x="838200" y="1666875"/>
            <a:ext cx="10515600" cy="4191000"/>
          </a:xfrm>
          <a:prstGeom prst="roundRect">
            <a:avLst>
              <a:gd name="adj" fmla="val 2273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</p:sp>
      <p:sp>
        <p:nvSpPr>
          <p:cNvPr id="4" name="bullets">
            <a:extLst>
              <a:ext uri="{FF2B5EF4-FFF2-40B4-BE49-F238E27FC236}">
                <a16:creationId xmlns:a16="http://schemas.microsoft.com/office/drawing/2014/main" id="{3A493C79-C31B-4825-AEE4-303D811BB27A}"/>
              </a:ext>
            </a:extLst>
          </p:cNvPr>
          <p:cNvSpPr>
            <a:spLocks noGrp="1"/>
          </p:cNvSpPr>
          <p:nvPr/>
        </p:nvSpPr>
        <p:spPr>
          <a:xfrm>
            <a:off x="1238250" y="2047875"/>
            <a:ext cx="97155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Explicá con tus palabras: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qué existe sin oyente;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por qué u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eq c;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qué distingue RMS de media;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qué completa a un valor en dB;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cuándo aparecen +6, +3 o cancelación;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cuándo puede usarse la regla de distancia.</a:t>
            </a:r>
          </a:p>
        </p:txBody>
      </p:sp>
      <p:sp>
        <p:nvSpPr>
          <p:cNvPr id="5" name="slide-number-108">
            <a:extLst>
              <a:ext uri="{FF2B5EF4-FFF2-40B4-BE49-F238E27FC236}">
                <a16:creationId xmlns:a16="http://schemas.microsoft.com/office/drawing/2014/main" id="{FB4954E7-1E6D-4BAE-858B-19F847C6ABFD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108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Gráfico sobre «Un mismo RMS puede ocultar señales muy diferentes»: dos señales de igual RMS y distinta forma; espectros solo como silueta anticipatoria. La lectura central es que magnitudes globales describen tamaño; el contenido frecuencial explicará de qué componentes está formada la señal. Recurso principal: U04-CH-006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D740B93B-2B08-4790-B8D4-5E4AF95231FB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09">
            <a:extLst>
              <a:ext uri="{FF2B5EF4-FFF2-40B4-BE49-F238E27FC236}">
                <a16:creationId xmlns:a16="http://schemas.microsoft.com/office/drawing/2014/main" id="{B51554AE-603B-490A-9D8A-4A1AF8A3DBC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09">
            <a:extLst>
              <a:ext uri="{FF2B5EF4-FFF2-40B4-BE49-F238E27FC236}">
                <a16:creationId xmlns:a16="http://schemas.microsoft.com/office/drawing/2014/main" id="{C77D5E6F-4B02-4C80-8539-95EA021B97A5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mismo RMS puede ocultar señales muy diferentes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C4B1AC02-E289-4AE5-81B7-3FA7065F126D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81260838-D054-4BCA-989C-33804BF08639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Igual RMS, distinta forma. Figura cuantitativa reproducible; ecuaciones o datos y escala se indican en el recurso. · señales sintéticas · mism…</a:t>
            </a:r>
          </a:p>
        </p:txBody>
      </p:sp>
      <p:sp>
        <p:nvSpPr>
          <p:cNvPr id="7" name="slide-number-109">
            <a:extLst>
              <a:ext uri="{FF2B5EF4-FFF2-40B4-BE49-F238E27FC236}">
                <a16:creationId xmlns:a16="http://schemas.microsoft.com/office/drawing/2014/main" id="{6CEE9CF7-0CFF-497D-A9BA-AF52BC70FBB8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109</a:t>
            </a:r>
          </a:p>
        </p:txBody>
      </p:sp>
    </p:spTree>
    <p:extLst>
      <p:ext uri="{BB962C8B-B14F-4D97-AF65-F5344CB8AC3E}">
        <p14:creationId xmlns:p14="http://schemas.microsoft.com/office/powerpoint/2010/main" val="88011290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Recordatorio matemático: razones, potencias y logaritmos»: Ecuaciones editables y escala simple. La lectura central es que las operaciones usadas pueden interpretarse sin un curso formal de logaritmos. Recurso principal: U04-DG-022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E27E3D68-B046-4A5D-AC4A-C4A82A843F3D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10">
            <a:extLst>
              <a:ext uri="{FF2B5EF4-FFF2-40B4-BE49-F238E27FC236}">
                <a16:creationId xmlns:a16="http://schemas.microsoft.com/office/drawing/2014/main" id="{EE544675-F877-420C-B50A-ACE9018B3A2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10">
            <a:extLst>
              <a:ext uri="{FF2B5EF4-FFF2-40B4-BE49-F238E27FC236}">
                <a16:creationId xmlns:a16="http://schemas.microsoft.com/office/drawing/2014/main" id="{D7EE7FDD-64C6-49AD-8017-5E802E5320EF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Recordatorio matemático: razones, potencias y logaritmos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748585CE-7A8C-4244-8B68-A650387EBAEB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4FB55B26-E540-4A90-BE34-B75D158A3B18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Ejemplos y recordatorio matemático. Esquema conceptual; las distancias, tamaños y formas no representan una escala física salvo indicación exp…</a:t>
            </a:r>
          </a:p>
        </p:txBody>
      </p:sp>
      <p:sp>
        <p:nvSpPr>
          <p:cNvPr id="7" name="slide-number-110">
            <a:extLst>
              <a:ext uri="{FF2B5EF4-FFF2-40B4-BE49-F238E27FC236}">
                <a16:creationId xmlns:a16="http://schemas.microsoft.com/office/drawing/2014/main" id="{E666A6A3-F964-4318-8D96-A6C54375A521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110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Promedio y RMS en datos discretos»: ecuaciones anotadas con tabla de muestras. La lectura central es que un registro digital aproxima las operaciones mediante sumas finitas. Recurso principal: U04-DG-012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69C019C5-1C21-4571-B022-4A5A7D63EA66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11">
            <a:extLst>
              <a:ext uri="{FF2B5EF4-FFF2-40B4-BE49-F238E27FC236}">
                <a16:creationId xmlns:a16="http://schemas.microsoft.com/office/drawing/2014/main" id="{1B9B8993-ECFB-4660-9621-DA2B516A29C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11">
            <a:extLst>
              <a:ext uri="{FF2B5EF4-FFF2-40B4-BE49-F238E27FC236}">
                <a16:creationId xmlns:a16="http://schemas.microsoft.com/office/drawing/2014/main" id="{B94AABD4-2609-44A9-80DD-65407459D285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Promedio y RMS en datos discretos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37DC59D6-EBB1-4954-9576-D06E7B057E91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BD35878E-4B66-4405-9EC6-6B3182C9C9F1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Proceso RMS. Esquema conceptual; las distancias, tamaños y formas no representan una escala física salvo indicación expresa.</a:t>
            </a:r>
          </a:p>
        </p:txBody>
      </p:sp>
      <p:sp>
        <p:nvSpPr>
          <p:cNvPr id="7" name="slide-number-111">
            <a:extLst>
              <a:ext uri="{FF2B5EF4-FFF2-40B4-BE49-F238E27FC236}">
                <a16:creationId xmlns:a16="http://schemas.microsoft.com/office/drawing/2014/main" id="{B2CC847E-872A-4E8B-AE26-1AC13CF68338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111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Definiciones integrales de media, RMS e intensidad»: tres ecuaciones alineadas y ventana común. La lectura central es que las tres operaciones comparten ventana pero promedian expresiones distintas. Recurso principal: U04-DG-012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F4F4088E-74D0-45E7-85ED-912413755670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12">
            <a:extLst>
              <a:ext uri="{FF2B5EF4-FFF2-40B4-BE49-F238E27FC236}">
                <a16:creationId xmlns:a16="http://schemas.microsoft.com/office/drawing/2014/main" id="{07A18016-9557-4CA2-8468-F7266CFBE58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12">
            <a:extLst>
              <a:ext uri="{FF2B5EF4-FFF2-40B4-BE49-F238E27FC236}">
                <a16:creationId xmlns:a16="http://schemas.microsoft.com/office/drawing/2014/main" id="{7433FE0C-63E8-48C2-91C4-E9B5AFB77970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Definiciones integrales de media, RMS e intensidad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B2D7D202-F2F9-49A4-8D77-2EE4EA6AFE1D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177C6DC4-F015-4B56-80CF-745137A54F19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Proceso RMS. Esquema conceptual; las distancias, tamaños y formas no representan una escala física salvo indicación expresa.</a:t>
            </a:r>
          </a:p>
        </p:txBody>
      </p:sp>
      <p:sp>
        <p:nvSpPr>
          <p:cNvPr id="7" name="slide-number-112">
            <a:extLst>
              <a:ext uri="{FF2B5EF4-FFF2-40B4-BE49-F238E27FC236}">
                <a16:creationId xmlns:a16="http://schemas.microsoft.com/office/drawing/2014/main" id="{88EA01E9-7B02-4350-80C8-900DB220C161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112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squema mixto sobre «Reflexión: de `R_p` a fracción de intensidad»: interfaz y ecuaciones conectadas. La lectura central es que para incidencia normal ideal, la relación energética requiere cuadrar magnitud y considerar condiciones. Recurso principal: U04-CH-013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E0474694-B11C-4BC1-BA20-F4F8B24304B2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13">
            <a:extLst>
              <a:ext uri="{FF2B5EF4-FFF2-40B4-BE49-F238E27FC236}">
                <a16:creationId xmlns:a16="http://schemas.microsoft.com/office/drawing/2014/main" id="{AFFBF1CA-9169-418B-A756-B75AB4287D3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13">
            <a:extLst>
              <a:ext uri="{FF2B5EF4-FFF2-40B4-BE49-F238E27FC236}">
                <a16:creationId xmlns:a16="http://schemas.microsoft.com/office/drawing/2014/main" id="{12EA267B-FA89-470F-9A2C-5AB6C61D0D26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Reflexión: de Rₚ a fracción de intensidad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590F59FD-2932-41EB-82BF-42B1A1DDC094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3F8A19E5-D243-4B56-83B7-F4C0CA634088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Reflexión e impedancia y Impedancia y reflexión. El gráfico es cuantitativo; el esquema organiza las condiciones y no está a escala.</a:t>
            </a:r>
          </a:p>
        </p:txBody>
      </p:sp>
      <p:sp>
        <p:nvSpPr>
          <p:cNvPr id="7" name="slide-number-113">
            <a:extLst>
              <a:ext uri="{FF2B5EF4-FFF2-40B4-BE49-F238E27FC236}">
                <a16:creationId xmlns:a16="http://schemas.microsoft.com/office/drawing/2014/main" id="{5BF6E67F-38B8-4076-B10D-570EBEDCB32D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113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114">
            <a:extLst>
              <a:ext uri="{FF2B5EF4-FFF2-40B4-BE49-F238E27FC236}">
                <a16:creationId xmlns:a16="http://schemas.microsoft.com/office/drawing/2014/main" id="{4E5E409C-05DD-4028-A76F-9FF9A93F47C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114">
            <a:extLst>
              <a:ext uri="{FF2B5EF4-FFF2-40B4-BE49-F238E27FC236}">
                <a16:creationId xmlns:a16="http://schemas.microsoft.com/office/drawing/2014/main" id="{78428B29-196D-47B1-88F6-9B4AB8863C7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Referencias para LI y LW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19C733CC-7D16-4C85-925A-677229459398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43D64C38-0FB3-4AB6-9337-5CD4ABC0845C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Iᵣef = 10⁻¹² W·m⁻²</a:t>
            </a:r>
          </a:p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Wᵣef = 10⁻¹² W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D3E2B89D-CAF7-4E49-9677-2EA0A4E6A236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Cada nivel exige una referencia de la misma magnitud.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Iᵣef = 10⁻¹² W·m⁻²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Wᵣef = 10⁻¹² W</a:t>
            </a:r>
          </a:p>
        </p:txBody>
      </p:sp>
      <p:sp>
        <p:nvSpPr>
          <p:cNvPr id="6" name="slide-number-114">
            <a:extLst>
              <a:ext uri="{FF2B5EF4-FFF2-40B4-BE49-F238E27FC236}">
                <a16:creationId xmlns:a16="http://schemas.microsoft.com/office/drawing/2014/main" id="{47BBE6FC-631B-4073-9BB1-26A746E1760F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114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Entre coherente y no correlacionado existe correlación parcial»: continuo `γ=-1…1` y ecuación anotada. La lectura central es que un coeficiente de correlación puede conservar parte del término cruzado. Recurso principal: U04-DG-014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9BFD84A1-B448-4A9F-9864-F3BC5E99F20F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15">
            <a:extLst>
              <a:ext uri="{FF2B5EF4-FFF2-40B4-BE49-F238E27FC236}">
                <a16:creationId xmlns:a16="http://schemas.microsoft.com/office/drawing/2014/main" id="{EBF95B17-B6A4-4033-91EE-28D3ECD0EC1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15">
            <a:extLst>
              <a:ext uri="{FF2B5EF4-FFF2-40B4-BE49-F238E27FC236}">
                <a16:creationId xmlns:a16="http://schemas.microsoft.com/office/drawing/2014/main" id="{9F538716-5114-41BA-A032-2C8AD9B83582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Entre coherente y no correlacionado existe correlación parcial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6669D925-22FD-49B6-8428-4EFC0B5CF05B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73CA6587-FF11-4662-9F9C-82F7309FCC24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Lógica de suma. Esquema conceptual; las distancias, tamaños y formas no representan una escala física salvo indicación expresa.</a:t>
            </a:r>
          </a:p>
        </p:txBody>
      </p:sp>
      <p:sp>
        <p:nvSpPr>
          <p:cNvPr id="7" name="slide-number-115">
            <a:extLst>
              <a:ext uri="{FF2B5EF4-FFF2-40B4-BE49-F238E27FC236}">
                <a16:creationId xmlns:a16="http://schemas.microsoft.com/office/drawing/2014/main" id="{C1CF27B1-0732-46DF-8BED-3C30595D854A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115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Reverberante y difuso: condiciones y límites»: recinto y distribuciones angulares; sin datos inventados. La lectura central es que un campo reverberante real puede aproximarse a difuso solo bajo ciertas condiciones. Recurso principal: U04-DG-015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4ABC198D-BB16-4C43-9029-E7D09248C3F9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16">
            <a:extLst>
              <a:ext uri="{FF2B5EF4-FFF2-40B4-BE49-F238E27FC236}">
                <a16:creationId xmlns:a16="http://schemas.microsoft.com/office/drawing/2014/main" id="{D230FB8C-E7CF-44B5-8280-98A85BAD405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16">
            <a:extLst>
              <a:ext uri="{FF2B5EF4-FFF2-40B4-BE49-F238E27FC236}">
                <a16:creationId xmlns:a16="http://schemas.microsoft.com/office/drawing/2014/main" id="{6ED73EFA-DB9E-4C7A-B033-D0A81B3851E1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Reverberante y difuso: condiciones y límites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B383A02E-03F9-49E6-A5F5-D8333D16AE08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EE1C17EB-2E87-4893-9B2A-6013B50064F4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Geometrías y campos. Esquema conceptual; las distancias, tamaños y formas no representan una escala física salvo indicación expresa.</a:t>
            </a:r>
          </a:p>
        </p:txBody>
      </p:sp>
      <p:sp>
        <p:nvSpPr>
          <p:cNvPr id="7" name="slide-number-116">
            <a:extLst>
              <a:ext uri="{FF2B5EF4-FFF2-40B4-BE49-F238E27FC236}">
                <a16:creationId xmlns:a16="http://schemas.microsoft.com/office/drawing/2014/main" id="{7F9A44B6-384D-4C6B-8940-F51D167E433E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116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squema mixto sobre «Onda cilíndrica: cambio por duplicar distancia»: curva `1/r`; ecuaciones editables. La lectura central es que si `I∝1/r`, duplicar distancia produce `−3,01 dB` en intensidad/nivel bajo el modelo ideal. Recurso principal: U04-CH-010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F3A5B43A-D8F3-46A5-A355-57667CA6BC53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17">
            <a:extLst>
              <a:ext uri="{FF2B5EF4-FFF2-40B4-BE49-F238E27FC236}">
                <a16:creationId xmlns:a16="http://schemas.microsoft.com/office/drawing/2014/main" id="{B6CFA59A-D501-4EF3-B090-923BEC2B748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17">
            <a:extLst>
              <a:ext uri="{FF2B5EF4-FFF2-40B4-BE49-F238E27FC236}">
                <a16:creationId xmlns:a16="http://schemas.microsoft.com/office/drawing/2014/main" id="{98BF816A-BF85-4022-8E64-A465FCF2A726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Onda cilíndrica: cambio por duplicar distancia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B2E70622-D611-4544-BFDD-60C82A378756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00E8BF92-9AE6-4AF0-BE1D-6F51A48EBE39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Geometrías y decaimiento y Geometrías y campos. El gráfico es cuantitativo; el esquema organiza las condiciones y no está a escala.</a:t>
            </a:r>
          </a:p>
        </p:txBody>
      </p:sp>
      <p:sp>
        <p:nvSpPr>
          <p:cNvPr id="7" name="slide-number-117">
            <a:extLst>
              <a:ext uri="{FF2B5EF4-FFF2-40B4-BE49-F238E27FC236}">
                <a16:creationId xmlns:a16="http://schemas.microsoft.com/office/drawing/2014/main" id="{E5E241BD-4763-4F66-B814-75EAD2EEF139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117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Derivación algebraica completa de la ley de distancia»: derivación en cuatro etapas, 28 pt mínimo. La lectura central es que la diferencia de nivel surge al combinar área esférica, razón de intensidades y logaritmos. Recurso principal: U04-DG-016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3152F457-3BD9-44BF-A164-50426638C3C1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18">
            <a:extLst>
              <a:ext uri="{FF2B5EF4-FFF2-40B4-BE49-F238E27FC236}">
                <a16:creationId xmlns:a16="http://schemas.microsoft.com/office/drawing/2014/main" id="{BA325B09-94DF-48D1-8AEF-FF3B4044460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18">
            <a:extLst>
              <a:ext uri="{FF2B5EF4-FFF2-40B4-BE49-F238E27FC236}">
                <a16:creationId xmlns:a16="http://schemas.microsoft.com/office/drawing/2014/main" id="{EADA5AF7-8AED-4278-AA42-A62F1842B090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Derivación algebraica completa de la ley de distancia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B7B87059-C80E-4FD3-8601-DE1C3ED3920E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F7771619-98C4-4E4E-9A49-37724C72C5B6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Ley de distancia. Esquema conceptual; las distancias, tamaños y formas no representan una escala física salvo indicación expresa.</a:t>
            </a:r>
          </a:p>
        </p:txBody>
      </p:sp>
      <p:sp>
        <p:nvSpPr>
          <p:cNvPr id="7" name="slide-number-118">
            <a:extLst>
              <a:ext uri="{FF2B5EF4-FFF2-40B4-BE49-F238E27FC236}">
                <a16:creationId xmlns:a16="http://schemas.microsoft.com/office/drawing/2014/main" id="{D89C9CC7-39B7-4242-BF8C-ACB9AB2BB79C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118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-U04-119">
            <a:extLst>
              <a:ext uri="{FF2B5EF4-FFF2-40B4-BE49-F238E27FC236}">
                <a16:creationId xmlns:a16="http://schemas.microsoft.com/office/drawing/2014/main" id="{FDB1B070-6C7E-48C4-A2CD-2DC6ECEB2B2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119">
            <a:extLst>
              <a:ext uri="{FF2B5EF4-FFF2-40B4-BE49-F238E27FC236}">
                <a16:creationId xmlns:a16="http://schemas.microsoft.com/office/drawing/2014/main" id="{47330BFB-2CE0-450A-AAC5-918F9B7FAF6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Respuestas del diagnóstico inicial</a:t>
            </a: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8F3DE9A2-4058-4CED-85BD-BEEDA688B371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10477500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Falso: el campo no requiere oyente.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Falso: u es movimiento local y c es propagación.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Falso: media cero puede coexistir con RMS no nulo.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4. Falso: todo nivel requiere magnitud y referencia.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5. Falso: la suma depende de fase o correlación.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6. Falso como regla universal: -6,02\ dB exige propagación esférica ideal y campo libre.</a:t>
            </a:r>
          </a:p>
        </p:txBody>
      </p:sp>
      <p:sp>
        <p:nvSpPr>
          <p:cNvPr id="4" name="slide-number-119">
            <a:extLst>
              <a:ext uri="{FF2B5EF4-FFF2-40B4-BE49-F238E27FC236}">
                <a16:creationId xmlns:a16="http://schemas.microsoft.com/office/drawing/2014/main" id="{F2C7DF33-3080-48C0-9CFD-8E8AFD622B77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119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120">
            <a:extLst>
              <a:ext uri="{FF2B5EF4-FFF2-40B4-BE49-F238E27FC236}">
                <a16:creationId xmlns:a16="http://schemas.microsoft.com/office/drawing/2014/main" id="{1963DAF8-46F8-48F5-91F3-A7009FA0E528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120">
            <a:extLst>
              <a:ext uri="{FF2B5EF4-FFF2-40B4-BE49-F238E27FC236}">
                <a16:creationId xmlns:a16="http://schemas.microsoft.com/office/drawing/2014/main" id="{9290B416-CB76-4230-9F0A-9A5E768F589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Solución del ejercicio de RMS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9E8F362A-33F0-4ECB-9456-E523945AE8AF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829F2F59-EF53-4138-9125-7E3E3036C88F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400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pᵣms = p̂/√2 solo para el caso sinusoidal</a:t>
            </a:r>
          </a:p>
          <a:p>
            <a:pPr algn="ctr">
              <a:lnSpc>
                <a:spcPct val="108000"/>
              </a:lnSpc>
              <a:buNone/>
              <a:defRPr sz="2400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xᵣms = √[(1/N) Σ xₙ²] para muestras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768C97D1-0DD2-41E5-812F-F5B6576D10FA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forma de onda determina si puede usarse el factor sinusoidal.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pᵣms = p̂/√2 solo para el caso sinusoidal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xᵣms = √[(1/N) Σ xₙ²] para muestras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Comparar una sinusoide con una señal no sinusoidal de muestras dadas; usar 1/√2 solo en la primera.</a:t>
            </a:r>
          </a:p>
        </p:txBody>
      </p:sp>
      <p:sp>
        <p:nvSpPr>
          <p:cNvPr id="6" name="slide-number-120">
            <a:extLst>
              <a:ext uri="{FF2B5EF4-FFF2-40B4-BE49-F238E27FC236}">
                <a16:creationId xmlns:a16="http://schemas.microsoft.com/office/drawing/2014/main" id="{B5648539-4204-4605-AFBA-77A2F0FDA9D5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squema mixto sobre «Suma de niveles desiguales»: incremento total frente a diferencia de niveles. La lectura central es que la contribución de una fuente mucho menor puede ser pequeña pero no se suma aritméticamente. Recurso principal: U04-CH-014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686AC776-5CF5-4EF9-8A16-5E8FDBF77896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21">
            <a:extLst>
              <a:ext uri="{FF2B5EF4-FFF2-40B4-BE49-F238E27FC236}">
                <a16:creationId xmlns:a16="http://schemas.microsoft.com/office/drawing/2014/main" id="{382CD647-89E3-4E9A-ABDF-9D52E52DEDF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21">
            <a:extLst>
              <a:ext uri="{FF2B5EF4-FFF2-40B4-BE49-F238E27FC236}">
                <a16:creationId xmlns:a16="http://schemas.microsoft.com/office/drawing/2014/main" id="{392163C5-5F2A-4DFE-995F-8261CCBACBF6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Suma de niveles desiguales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1195ECA6-6AD5-4D50-A467-96FE5E9AED54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96696216-4E18-4F91-93AA-4441B6DCDEF7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Incremento al sumar niveles. Figura cuantitativa reproducible acompañada por texto o ecuaciones editables. · dos fuentes no correlacionadas.</a:t>
            </a:r>
          </a:p>
        </p:txBody>
      </p:sp>
      <p:sp>
        <p:nvSpPr>
          <p:cNvPr id="7" name="slide-number-121">
            <a:extLst>
              <a:ext uri="{FF2B5EF4-FFF2-40B4-BE49-F238E27FC236}">
                <a16:creationId xmlns:a16="http://schemas.microsoft.com/office/drawing/2014/main" id="{A9C4A39C-F6BA-4B9D-A200-57DA008F7704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121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squema mixto sobre «Suma coherente con fase `π/2`»: señales en cuadratura y suma; ecuación editable. La lectura central es que la fase intermedia conserva el término cruzado sin producir máximo ni cancelación. Recurso principal: U04-CH-008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F33FF1B1-ED68-4194-9FEA-6145DC6CFAFC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22">
            <a:extLst>
              <a:ext uri="{FF2B5EF4-FFF2-40B4-BE49-F238E27FC236}">
                <a16:creationId xmlns:a16="http://schemas.microsoft.com/office/drawing/2014/main" id="{8A13B731-4472-47D1-9371-42D19D494AA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22">
            <a:extLst>
              <a:ext uri="{FF2B5EF4-FFF2-40B4-BE49-F238E27FC236}">
                <a16:creationId xmlns:a16="http://schemas.microsoft.com/office/drawing/2014/main" id="{D29078AF-67F2-4AB8-B598-716716590E46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Suma coherente con fase π/2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35921A22-5C3E-4FAA-B3F7-632C275A4F1A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A82460D2-4E33-44E3-9637-86D88D922B24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Suma coherente y fase. Figura cuantitativa reproducible acompañada por texto o ecuaciones editables.</a:t>
            </a:r>
          </a:p>
        </p:txBody>
      </p:sp>
      <p:sp>
        <p:nvSpPr>
          <p:cNvPr id="7" name="slide-number-122">
            <a:extLst>
              <a:ext uri="{FF2B5EF4-FFF2-40B4-BE49-F238E27FC236}">
                <a16:creationId xmlns:a16="http://schemas.microsoft.com/office/drawing/2014/main" id="{B09245A3-AE8A-4414-B8D7-1C54903B1273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122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squema mixto sobre «Distancia y directividad en un mismo cálculo»: fuente direccional, dos puntos y ecuaciones por etapas. La lectura central es que el cambio radial y la ganancia direccional pueden combinarse en nivel si comparten referencia y modelo. Recurso principal: U04-DG-020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B00B4F19-AF73-4C8E-9D5A-ADCD2DC854A0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23">
            <a:extLst>
              <a:ext uri="{FF2B5EF4-FFF2-40B4-BE49-F238E27FC236}">
                <a16:creationId xmlns:a16="http://schemas.microsoft.com/office/drawing/2014/main" id="{A6E6AE55-DF8B-4B84-9C9B-4078F3D46AD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23">
            <a:extLst>
              <a:ext uri="{FF2B5EF4-FFF2-40B4-BE49-F238E27FC236}">
                <a16:creationId xmlns:a16="http://schemas.microsoft.com/office/drawing/2014/main" id="{E9388C83-8B90-4B96-8059-42A7C2BB1085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Distancia y directividad en un mismo cálculo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00CB9E05-4712-403E-92DA-F8139971B956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572750" cy="190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29FF62E8-618C-4864-9C16-0678B1484781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1045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Distancia y directividad. Esquema conceptual; las distancias, tamaños y formas no representan una escala física salvo indicación expresa.</a:t>
            </a:r>
          </a:p>
        </p:txBody>
      </p:sp>
      <p:sp>
        <p:nvSpPr>
          <p:cNvPr id="7" name="slide-number-123">
            <a:extLst>
              <a:ext uri="{FF2B5EF4-FFF2-40B4-BE49-F238E27FC236}">
                <a16:creationId xmlns:a16="http://schemas.microsoft.com/office/drawing/2014/main" id="{6B248A24-CFB1-427B-8D57-322B4B285F60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-U04-124">
            <a:extLst>
              <a:ext uri="{FF2B5EF4-FFF2-40B4-BE49-F238E27FC236}">
                <a16:creationId xmlns:a16="http://schemas.microsoft.com/office/drawing/2014/main" id="{CF42E36F-B05A-4904-B0AC-3FA77FDE7CD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124">
            <a:extLst>
              <a:ext uri="{FF2B5EF4-FFF2-40B4-BE49-F238E27FC236}">
                <a16:creationId xmlns:a16="http://schemas.microsoft.com/office/drawing/2014/main" id="{904C9149-8BD5-4DB3-AAE9-DCC8215AA31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Solución razonada del caso integrador</a:t>
            </a: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527CF197-81D6-4B14-9374-0CF1B941EBA2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10477500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Solución razonada de U04-105: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Identificar primero magnitud y referencia.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Elegir la regla de suma solo si se conoce fase o correlación.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Aplicar distancia solo con geometría y campo compatibles.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Incorporar directividad solo con dirección y frecuencia declaradas.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 falta una condición, informar qué no puede calcularse y por qué.</a:t>
            </a:r>
          </a:p>
        </p:txBody>
      </p:sp>
      <p:sp>
        <p:nvSpPr>
          <p:cNvPr id="4" name="slide-number-124">
            <a:extLst>
              <a:ext uri="{FF2B5EF4-FFF2-40B4-BE49-F238E27FC236}">
                <a16:creationId xmlns:a16="http://schemas.microsoft.com/office/drawing/2014/main" id="{D2963B82-A411-451F-BD4A-0C323BEBB1BD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124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-U04-125">
            <a:extLst>
              <a:ext uri="{FF2B5EF4-FFF2-40B4-BE49-F238E27FC236}">
                <a16:creationId xmlns:a16="http://schemas.microsoft.com/office/drawing/2014/main" id="{7692722E-A0B5-4DE6-9E20-51CE3890310C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125">
            <a:extLst>
              <a:ext uri="{FF2B5EF4-FFF2-40B4-BE49-F238E27FC236}">
                <a16:creationId xmlns:a16="http://schemas.microsoft.com/office/drawing/2014/main" id="{6EBE7E6B-D1DF-4A03-B94A-78858B742C3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Notación, glosario y fuentes de la unidad</a:t>
            </a: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E18E9F09-BDD2-4E91-82EB-05D407BCC262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10477500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Símbolos principales: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 — presión acústica (Pa); u — velocidad de partícula (m s⁻¹); I — intensidad (W m⁻²).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Wₐc — potencia acústica (W); Eₐc — energía acústica (J).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Lₚ — nivel de presión sonora (dB); Qdᵢᵣ — factor de directividad (1); DI — índice de directividad (dB).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Fuentes principales: programa oficial; libro del curso, Unidad 4; guía transversal de notación y glosario.</a:t>
            </a:r>
          </a:p>
        </p:txBody>
      </p:sp>
      <p:sp>
        <p:nvSpPr>
          <p:cNvPr id="4" name="slide-number-125">
            <a:extLst>
              <a:ext uri="{FF2B5EF4-FFF2-40B4-BE49-F238E27FC236}">
                <a16:creationId xmlns:a16="http://schemas.microsoft.com/office/drawing/2014/main" id="{E3EB1E63-74DD-4CCC-BB1E-2924376F767E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125</a:t>
            </a:r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  <p:clrMapOvr>
    <a:masterClrMapping/>
  </p:clrMapOvr>
</p:sld>
</file>

<file path=ppt/theme/theme1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_MASTER_BORDO">
  <a:themeElements>
    <a:clrScheme name="Office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42780</Words>
  <Application>Microsoft Office PowerPoint</Application>
  <DocSecurity>0</DocSecurity>
  <PresentationFormat>Panorámica</PresentationFormat>
  <Paragraphs>3989</Paragraphs>
  <Slides>125</Slides>
  <Notes>125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125</vt:i4>
      </vt:variant>
    </vt:vector>
  </HeadingPairs>
  <TitlesOfParts>
    <vt:vector size="132" baseType="lpstr">
      <vt:lpstr>Aptos</vt:lpstr>
      <vt:lpstr>Arial</vt:lpstr>
      <vt:lpstr>Calibri</vt:lpstr>
      <vt:lpstr>Calibri Light</vt:lpstr>
      <vt:lpstr>Cambria Math</vt:lpstr>
      <vt:lpstr>FA_MASTER_CLARO</vt:lpstr>
      <vt:lpstr>FA_MASTER_BORDO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Maximiliano Ortiz</cp:lastModifiedBy>
  <cp:revision>1</cp:revision>
  <dcterms:created xsi:type="dcterms:W3CDTF">2026-07-31T16:19:40Z</dcterms:created>
  <dcterms:modified xsi:type="dcterms:W3CDTF">2026-07-31T16:30:17Z</dcterms:modified>
</cp:coreProperties>
</file>