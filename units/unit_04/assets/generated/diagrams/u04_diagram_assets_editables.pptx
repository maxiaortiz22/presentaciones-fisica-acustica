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d70ead8b3b4f50" /><Relationship Type="http://schemas.openxmlformats.org/officeDocument/2006/relationships/extended-properties" Target="/docProps/app.xml" Id="Rdca88185584441ee" /><Relationship Type="http://schemas.openxmlformats.org/officeDocument/2006/relationships/officeDocument" Target="/ppt/presentation.xml" Id="R1b4cafe6735c4f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1fbe49a7e44485"/>
  </p:sldMasterIdLst>
  <p:notesMasterIdLst>
    <p:notesMasterId xmlns:r="http://schemas.openxmlformats.org/officeDocument/2006/relationships" r:id="R1455b99032ca4d64"/>
  </p:notesMasterIdLst>
  <p:sldIdLst>
    <p:sldId xmlns:r="http://schemas.openxmlformats.org/officeDocument/2006/relationships" id="256" r:id="R2731e77b3c504cf1"/>
    <p:sldId xmlns:r="http://schemas.openxmlformats.org/officeDocument/2006/relationships" id="257" r:id="R880b8a9de0874e75"/>
    <p:sldId xmlns:r="http://schemas.openxmlformats.org/officeDocument/2006/relationships" id="258" r:id="R8d94f03ba4d940f6"/>
    <p:sldId xmlns:r="http://schemas.openxmlformats.org/officeDocument/2006/relationships" id="259" r:id="R51fe8ce7072f442f"/>
    <p:sldId xmlns:r="http://schemas.openxmlformats.org/officeDocument/2006/relationships" id="260" r:id="Rff81b770b73c4420"/>
    <p:sldId xmlns:r="http://schemas.openxmlformats.org/officeDocument/2006/relationships" id="261" r:id="R0e192989a7394178"/>
    <p:sldId xmlns:r="http://schemas.openxmlformats.org/officeDocument/2006/relationships" id="262" r:id="Rb144750bfdb84f7f"/>
    <p:sldId xmlns:r="http://schemas.openxmlformats.org/officeDocument/2006/relationships" id="263" r:id="R81bb792ce7ce4c60"/>
    <p:sldId xmlns:r="http://schemas.openxmlformats.org/officeDocument/2006/relationships" id="264" r:id="R382e5984eeb9433b"/>
    <p:sldId xmlns:r="http://schemas.openxmlformats.org/officeDocument/2006/relationships" id="265" r:id="Ra6e2ef7939364c46"/>
    <p:sldId xmlns:r="http://schemas.openxmlformats.org/officeDocument/2006/relationships" id="266" r:id="R0f90cc5fcb3a4a6b"/>
    <p:sldId xmlns:r="http://schemas.openxmlformats.org/officeDocument/2006/relationships" id="267" r:id="R960ea9e3a32b48cb"/>
    <p:sldId xmlns:r="http://schemas.openxmlformats.org/officeDocument/2006/relationships" id="268" r:id="Ra9058df981f14594"/>
    <p:sldId xmlns:r="http://schemas.openxmlformats.org/officeDocument/2006/relationships" id="269" r:id="R62d9c38a2ae9476e"/>
    <p:sldId xmlns:r="http://schemas.openxmlformats.org/officeDocument/2006/relationships" id="270" r:id="R4ab79d1480ea443d"/>
    <p:sldId xmlns:r="http://schemas.openxmlformats.org/officeDocument/2006/relationships" id="271" r:id="R2eac28b16ddb4d42"/>
    <p:sldId xmlns:r="http://schemas.openxmlformats.org/officeDocument/2006/relationships" id="272" r:id="R2aa4579fd8364495"/>
    <p:sldId xmlns:r="http://schemas.openxmlformats.org/officeDocument/2006/relationships" id="273" r:id="R7c44e322f34b4ad7"/>
    <p:sldId xmlns:r="http://schemas.openxmlformats.org/officeDocument/2006/relationships" id="274" r:id="Rb6a9c7cd7ee5461b"/>
    <p:sldId xmlns:r="http://schemas.openxmlformats.org/officeDocument/2006/relationships" id="275" r:id="Rb10ad299a1254153"/>
    <p:sldId xmlns:r="http://schemas.openxmlformats.org/officeDocument/2006/relationships" id="276" r:id="R73ea67aff43041f4"/>
    <p:sldId xmlns:r="http://schemas.openxmlformats.org/officeDocument/2006/relationships" id="277" r:id="R451e4ecae1dd4a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a87f0cbefb40e7" /><Relationship Type="http://schemas.openxmlformats.org/officeDocument/2006/relationships/slideMaster" Target="/ppt/slideMasters/slideMaster1.xml" Id="R9f1fbe49a7e44485" /><Relationship Type="http://schemas.openxmlformats.org/officeDocument/2006/relationships/notesMaster" Target="/ppt/notesMasters/notesMaster1.xml" Id="R1455b99032ca4d64" /><Relationship Type="http://schemas.openxmlformats.org/officeDocument/2006/relationships/presProps" Target="/ppt/presProps.xml" Id="R4501d93af5c645a3" /><Relationship Type="http://schemas.openxmlformats.org/officeDocument/2006/relationships/tableStyles" Target="/ppt/tableStyles.xml" Id="Ra3e67a9da7294f79" /><Relationship Type="http://schemas.openxmlformats.org/officeDocument/2006/relationships/slide" Target="/ppt/slides/slide1.xml" Id="R2731e77b3c504cf1" /><Relationship Type="http://schemas.openxmlformats.org/officeDocument/2006/relationships/slide" Target="/ppt/slides/slide2.xml" Id="R880b8a9de0874e75" /><Relationship Type="http://schemas.openxmlformats.org/officeDocument/2006/relationships/slide" Target="/ppt/slides/slide3.xml" Id="R8d94f03ba4d940f6" /><Relationship Type="http://schemas.openxmlformats.org/officeDocument/2006/relationships/slide" Target="/ppt/slides/slide4.xml" Id="R51fe8ce7072f442f" /><Relationship Type="http://schemas.openxmlformats.org/officeDocument/2006/relationships/slide" Target="/ppt/slides/slide5.xml" Id="Rff81b770b73c4420" /><Relationship Type="http://schemas.openxmlformats.org/officeDocument/2006/relationships/slide" Target="/ppt/slides/slide6.xml" Id="R0e192989a7394178" /><Relationship Type="http://schemas.openxmlformats.org/officeDocument/2006/relationships/slide" Target="/ppt/slides/slide7.xml" Id="Rb144750bfdb84f7f" /><Relationship Type="http://schemas.openxmlformats.org/officeDocument/2006/relationships/slide" Target="/ppt/slides/slide8.xml" Id="R81bb792ce7ce4c60" /><Relationship Type="http://schemas.openxmlformats.org/officeDocument/2006/relationships/slide" Target="/ppt/slides/slide9.xml" Id="R382e5984eeb9433b" /><Relationship Type="http://schemas.openxmlformats.org/officeDocument/2006/relationships/slide" Target="/ppt/slides/slide10.xml" Id="Ra6e2ef7939364c46" /><Relationship Type="http://schemas.openxmlformats.org/officeDocument/2006/relationships/slide" Target="/ppt/slides/slide11.xml" Id="R0f90cc5fcb3a4a6b" /><Relationship Type="http://schemas.openxmlformats.org/officeDocument/2006/relationships/slide" Target="/ppt/slides/slide12.xml" Id="R960ea9e3a32b48cb" /><Relationship Type="http://schemas.openxmlformats.org/officeDocument/2006/relationships/slide" Target="/ppt/slides/slide13.xml" Id="Ra9058df981f14594" /><Relationship Type="http://schemas.openxmlformats.org/officeDocument/2006/relationships/slide" Target="/ppt/slides/slide14.xml" Id="R62d9c38a2ae9476e" /><Relationship Type="http://schemas.openxmlformats.org/officeDocument/2006/relationships/slide" Target="/ppt/slides/slide15.xml" Id="R4ab79d1480ea443d" /><Relationship Type="http://schemas.openxmlformats.org/officeDocument/2006/relationships/slide" Target="/ppt/slides/slide16.xml" Id="R2eac28b16ddb4d42" /><Relationship Type="http://schemas.openxmlformats.org/officeDocument/2006/relationships/slide" Target="/ppt/slides/slide17.xml" Id="R2aa4579fd8364495" /><Relationship Type="http://schemas.openxmlformats.org/officeDocument/2006/relationships/slide" Target="/ppt/slides/slide18.xml" Id="R7c44e322f34b4ad7" /><Relationship Type="http://schemas.openxmlformats.org/officeDocument/2006/relationships/slide" Target="/ppt/slides/slide19.xml" Id="Rb6a9c7cd7ee5461b" /><Relationship Type="http://schemas.openxmlformats.org/officeDocument/2006/relationships/slide" Target="/ppt/slides/slide20.xml" Id="Rb10ad299a1254153" /><Relationship Type="http://schemas.openxmlformats.org/officeDocument/2006/relationships/slide" Target="/ppt/slides/slide21.xml" Id="R73ea67aff43041f4" /><Relationship Type="http://schemas.openxmlformats.org/officeDocument/2006/relationships/slide" Target="/ppt/slides/slide22.xml" Id="R451e4ecae1dd4a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bbbaf867a24b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07f6c69d7741ac" /><Relationship Type="http://schemas.openxmlformats.org/officeDocument/2006/relationships/notesMaster" Target="/ppt/notesMasters/notesMaster1.xml" Id="Rc082a17bc3c542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546cb439e64df3" /><Relationship Type="http://schemas.openxmlformats.org/officeDocument/2006/relationships/notesMaster" Target="/ppt/notesMasters/notesMaster1.xml" Id="Re4335b0aedf84b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d6645942154f20" /><Relationship Type="http://schemas.openxmlformats.org/officeDocument/2006/relationships/notesMaster" Target="/ppt/notesMasters/notesMaster1.xml" Id="R4ee7ab08164441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0edb91649a4107" /><Relationship Type="http://schemas.openxmlformats.org/officeDocument/2006/relationships/notesMaster" Target="/ppt/notesMasters/notesMaster1.xml" Id="R0a8337f4ea544f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91e44001324f93" /><Relationship Type="http://schemas.openxmlformats.org/officeDocument/2006/relationships/notesMaster" Target="/ppt/notesMasters/notesMaster1.xml" Id="R35e4e9bdcd9349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7a4ff6cdb04761" /><Relationship Type="http://schemas.openxmlformats.org/officeDocument/2006/relationships/notesMaster" Target="/ppt/notesMasters/notesMaster1.xml" Id="R0ba6fd75fb274c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a1eada867c439d" /><Relationship Type="http://schemas.openxmlformats.org/officeDocument/2006/relationships/notesMaster" Target="/ppt/notesMasters/notesMaster1.xml" Id="Rf4b3c76435f945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a96b7e236647ba" /><Relationship Type="http://schemas.openxmlformats.org/officeDocument/2006/relationships/notesMaster" Target="/ppt/notesMasters/notesMaster1.xml" Id="Rc9a64e5db34544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85b52bc94b4892" /><Relationship Type="http://schemas.openxmlformats.org/officeDocument/2006/relationships/notesMaster" Target="/ppt/notesMasters/notesMaster1.xml" Id="R2f2e56f489ca4a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58de2441e646b7" /><Relationship Type="http://schemas.openxmlformats.org/officeDocument/2006/relationships/notesMaster" Target="/ppt/notesMasters/notesMaster1.xml" Id="Rda12638c04af41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1e7ec297fa48c2" /><Relationship Type="http://schemas.openxmlformats.org/officeDocument/2006/relationships/notesMaster" Target="/ppt/notesMasters/notesMaster1.xml" Id="Rce9a676163244e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1b007c1fbb43af" /><Relationship Type="http://schemas.openxmlformats.org/officeDocument/2006/relationships/notesMaster" Target="/ppt/notesMasters/notesMaster1.xml" Id="R8f600355596542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e7a9cc93234e43" /><Relationship Type="http://schemas.openxmlformats.org/officeDocument/2006/relationships/notesMaster" Target="/ppt/notesMasters/notesMaster1.xml" Id="R9f6e0ceb2aba464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46b77bdd3084219" /><Relationship Type="http://schemas.openxmlformats.org/officeDocument/2006/relationships/notesMaster" Target="/ppt/notesMasters/notesMaster1.xml" Id="R5fb8ee50cfa1469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0578e28121a4715" /><Relationship Type="http://schemas.openxmlformats.org/officeDocument/2006/relationships/notesMaster" Target="/ppt/notesMasters/notesMaster1.xml" Id="Rb488960b024c4ac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fa5e515e8f04649" /><Relationship Type="http://schemas.openxmlformats.org/officeDocument/2006/relationships/notesMaster" Target="/ppt/notesMasters/notesMaster1.xml" Id="R7995b1a6707a438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53628a29ac449dc" /><Relationship Type="http://schemas.openxmlformats.org/officeDocument/2006/relationships/notesMaster" Target="/ppt/notesMasters/notesMaster1.xml" Id="R22bbe41c1f0f4df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b5c994fc042444e" /><Relationship Type="http://schemas.openxmlformats.org/officeDocument/2006/relationships/notesMaster" Target="/ppt/notesMasters/notesMaster1.xml" Id="R0f77c0a03faf485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d4bb89887d6484e" /><Relationship Type="http://schemas.openxmlformats.org/officeDocument/2006/relationships/notesMaster" Target="/ppt/notesMasters/notesMaster1.xml" Id="R0bf2d3f1377543b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7b7fc8620f14267" /><Relationship Type="http://schemas.openxmlformats.org/officeDocument/2006/relationships/notesMaster" Target="/ppt/notesMasters/notesMaster1.xml" Id="Rd346e870d25b4ec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cc3c0cd9cca4b75" /><Relationship Type="http://schemas.openxmlformats.org/officeDocument/2006/relationships/notesMaster" Target="/ppt/notesMasters/notesMaster1.xml" Id="Rcc2854e4a7cb447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a2c7fbe508e4c68" /><Relationship Type="http://schemas.openxmlformats.org/officeDocument/2006/relationships/notesMaster" Target="/ppt/notesMasters/notesMaster1.xml" Id="R59304227cbab4f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Storyboard U04-002 y TEX 4.3.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Una fuente perturba el medio; el instrumento mide y el receptor responde.</a:t>
            </a:r>
          </a:p>
          <a:p xmlns:a="http://schemas.openxmlformats.org/drawingml/2006/main">
            <a:r>
              <a:t>Alt: Fuente, medio, punto de medición y receptor conectados por propagación, con cinco preguntas físicas alrededor.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Storyboard U04-006/014/107.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La unidad avanza del fenómeno hacia una interpretación responsable.</a:t>
            </a:r>
          </a:p>
          <a:p xmlns:a="http://schemas.openxmlformats.org/drawingml/2006/main">
            <a:r>
              <a:t>Alt: Mapa de once etapas organizado en tres encuentros y leído de izquierda a derecha.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4.3 y storyboard U04-008–010.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Fenómeno físico, medición y percepción no son sinónimos.</a:t>
            </a:r>
          </a:p>
          <a:p xmlns:a="http://schemas.openxmlformats.org/drawingml/2006/main">
            <a:r>
              <a:t>Alt: Comparación físico-perceptual y cadena funcional fuente, medio, campo y receptor.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4.3 y NIDCD como referencia conceptual.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La fuente oscila localmente y el aire sostiene la propagación.</a:t>
            </a:r>
          </a:p>
          <a:p xmlns:a="http://schemas.openxmlformats.org/drawingml/2006/main">
            <a:r>
              <a:t>Alt: Dos cadenas paralelas comparan generación vocal y electroacústica.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4.4. Figura conceptual, no a escala.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Restauración e inercia transmiten la perturbación a regiones vecinas.</a:t>
            </a:r>
          </a:p>
          <a:p xmlns:a="http://schemas.openxmlformats.org/drawingml/2006/main">
            <a:r>
              <a:t>Alt: Cinco estados distinguen compresión, fuerza restauradora, movimiento local, nueva compresión y avance del frente.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4.4.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La rapidez depende de rigidez y densidad; al cambiar el medio, la frecuencia se conserva.</a:t>
            </a:r>
          </a:p>
          <a:p xmlns:a="http://schemas.openxmlformats.org/drawingml/2006/main">
            <a:r>
              <a:t>Alt: Ecuación c igual raíz de K sub s sobre rho con callouts y comparación entre dos medios.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4.5.1–4.5.2.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Presión, velocidad de partícula y rapidez de propagación responden preguntas distintas.</a:t>
            </a:r>
          </a:p>
          <a:p xmlns:a="http://schemas.openxmlformats.org/drawingml/2006/main">
            <a:r>
              <a:t>Alt: Tres zonas muestran campo, presión relativa y contraste entre u y 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4.5.3–4.5.4. Figura conceptual, no a escala.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Un desajuste de impedancias produce reflexión y transmisión.</a:t>
            </a:r>
          </a:p>
          <a:p xmlns:a="http://schemas.openxmlformats.org/drawingml/2006/main">
            <a:r>
              <a:t>Alt: Dos medios separados por una interfaz reciben ondas incidente, reflejada y transmitida, con ecuaciones de Z y R 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4.5.5.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La intensidad instantánea es un producto; la media depende de una ventana y de las hipótesis.</a:t>
            </a:r>
          </a:p>
          <a:p xmlns:a="http://schemas.openxmlformats.org/drawingml/2006/main">
            <a:r>
              <a:t>Alt: Ecuaciones de intensidad instantánea, media y onda plana con callouts de unidades y condiciones.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4.5.5 y 4.12.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Área y tiempo conectan intensidad, potencia y energía.</a:t>
            </a:r>
          </a:p>
          <a:p xmlns:a="http://schemas.openxmlformats.org/drawingml/2006/main">
            <a:r>
              <a:t>Alt: Cadena I por superficie igual potencia y potencia por tiempo igual energía, con unidades bajo cada magnitud.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4.6; acompaña U04-CH-003.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La elección del descriptor depende de la pregunta.</a:t>
            </a:r>
          </a:p>
          <a:p xmlns:a="http://schemas.openxmlformats.org/drawingml/2006/main">
            <a:r>
              <a:t>Alt: Matriz conceptual conecta instante, pico, pico a pico, media y RMS con su significado.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4.6.5.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Cuadrar, promediar y extraer la raíz construyen el RMS.</a:t>
            </a:r>
          </a:p>
          <a:p xmlns:a="http://schemas.openxmlformats.org/drawingml/2006/main">
            <a:r>
              <a:t>Alt: Tres pasos con unidades Pa, Pa al cuadrado y Pa; la regla pico sobre raíz de dos se limita a senoides.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4.7.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Todo nivel necesita magnitud, referencia y condiciones.</a:t>
            </a:r>
          </a:p>
          <a:p xmlns:a="http://schemas.openxmlformats.org/drawingml/2006/main">
            <a:r>
              <a:t>Alt: Tres niveles L p, L I y L W convergen en el criterio magnitud sobre referencia, seguido del contraste SPL, HL y sonoridad.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4.8.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Primero se decide la relación temporal; después se elige la suma.</a:t>
            </a:r>
          </a:p>
          <a:p xmlns:a="http://schemas.openxmlformats.org/drawingml/2006/main">
            <a:r>
              <a:t>Alt: Árbol con rutas coherente y no correlacionada, condiciones y resultados más seis o más tres decibeles.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4.9. Figura conceptual, no a escala.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Geometría de frente y tipo de campo son decisiones diferentes.</a:t>
            </a:r>
          </a:p>
          <a:p xmlns:a="http://schemas.openxmlformats.org/drawingml/2006/main">
            <a:r>
              <a:t>Alt: Paneles de modelos plano, cilíndrico y esférico junto a campo libre, próximo y reverberante.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4.10. Figura conceptual, no a escala.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El área esférica conecta distancia, intensidad y nivel.</a:t>
            </a:r>
          </a:p>
          <a:p xmlns:a="http://schemas.openxmlformats.org/drawingml/2006/main">
            <a:r>
              <a:t>Alt: Fuente con dos radios y cadena de cuatro pasos hasta la ley de diferencia de nivel.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4.11. Patrones conceptuales, no a escala.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La directividad redistribuye potencia y depende de frecuencia y dirección.</a:t>
            </a:r>
          </a:p>
          <a:p xmlns:a="http://schemas.openxmlformats.org/drawingml/2006/main">
            <a:r>
              <a:t>Alt: Comparación omnidireccional-direccional y ecuaciones de factor e índice de directividad.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4.8–4.12 y storyboard U04-104–107/124.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Una medición interpretable exige una cadena explícita de decisiones.</a:t>
            </a:r>
          </a:p>
          <a:p xmlns:a="http://schemas.openxmlformats.org/drawingml/2006/main">
            <a:r>
              <a:t>Alt: Proceso de seis nodos desde fuente y campo hasta sensor, procesamiento, nivel e informe.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4.13 y brief de la Unidad 4.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Siete atajos frecuentes cambian el significado del resultado.</a:t>
            </a:r>
          </a:p>
          <a:p xmlns:a="http://schemas.openxmlformats.org/drawingml/2006/main">
            <a:r>
              <a:t>Alt: Siete pares alineados de error y corrección breve.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4.10–4.11.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Distancia y directividad pueden combinarse si comparten referencia y modelo.</a:t>
            </a:r>
          </a:p>
          <a:p xmlns:a="http://schemas.openxmlformats.org/drawingml/2006/main">
            <a:r>
              <a:t>Alt: Fuente direccional, dos puntos y cálculo por capas de distancia, directividad y suma 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Storyboard U04-004/011/058.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Prerrequisitos, mecanismos y control RMS se muestran como ayudas breves.</a:t>
            </a:r>
          </a:p>
          <a:p xmlns:a="http://schemas.openxmlformats.org/drawingml/2006/main">
            <a:r>
              <a:t>Alt: Tres microvisuales independientes: prerrequisitos, mecanismos de generación y checklist RMS.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4.5–4.10 y storyboard U04-039/110/120.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Un ejemplo correcto explicita datos, relación, cálculo y verificación.</a:t>
            </a:r>
          </a:p>
          <a:p xmlns:a="http://schemas.openxmlformats.org/drawingml/2006/main">
            <a:r>
              <a:t>Alt: Cuatro pasos numerados con ecuaciones y control de unidades.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3f4d0908ce4c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c19f7011984765" /><Relationship Type="http://schemas.openxmlformats.org/officeDocument/2006/relationships/slideLayout" Target="/ppt/slideLayouts/slideLayout1.xml" Id="R91297e3514a74f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297e3514a74f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d3591a2ab40c8" /><Relationship Type="http://schemas.openxmlformats.org/officeDocument/2006/relationships/notesSlide" Target="/ppt/notesSlides/notesSlide1.xml" Id="Rd1b08ace8f9b47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a06141b3740c2" /><Relationship Type="http://schemas.openxmlformats.org/officeDocument/2006/relationships/notesSlide" Target="/ppt/notesSlides/notesSlide2.xml" Id="Rc9344021b47240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751b0f603403c" /><Relationship Type="http://schemas.openxmlformats.org/officeDocument/2006/relationships/notesSlide" Target="/ppt/notesSlides/notesSlide3.xml" Id="Rb06832cb27d348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caf42b0dc4df5" /><Relationship Type="http://schemas.openxmlformats.org/officeDocument/2006/relationships/notesSlide" Target="/ppt/notesSlides/notesSlide4.xml" Id="R67cc6907e7894e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8463095ab42e5" /><Relationship Type="http://schemas.openxmlformats.org/officeDocument/2006/relationships/notesSlide" Target="/ppt/notesSlides/notesSlide5.xml" Id="Rbd082289902443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0216899034672" /><Relationship Type="http://schemas.openxmlformats.org/officeDocument/2006/relationships/notesSlide" Target="/ppt/notesSlides/notesSlide6.xml" Id="R40818d8fae8b41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12bbbee044fb3" /><Relationship Type="http://schemas.openxmlformats.org/officeDocument/2006/relationships/notesSlide" Target="/ppt/notesSlides/notesSlide7.xml" Id="R51de2d4fc5194d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99e81fb7142e8" /><Relationship Type="http://schemas.openxmlformats.org/officeDocument/2006/relationships/notesSlide" Target="/ppt/notesSlides/notesSlide8.xml" Id="Ra69372de791049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48f64dec647ce" /><Relationship Type="http://schemas.openxmlformats.org/officeDocument/2006/relationships/notesSlide" Target="/ppt/notesSlides/notesSlide9.xml" Id="R35982858a3074f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1d27e20884ecc" /><Relationship Type="http://schemas.openxmlformats.org/officeDocument/2006/relationships/notesSlide" Target="/ppt/notesSlides/notesSlide10.xml" Id="Rcbaab7323b7944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8d4b50180456e" /><Relationship Type="http://schemas.openxmlformats.org/officeDocument/2006/relationships/notesSlide" Target="/ppt/notesSlides/notesSlide11.xml" Id="R8f975322fbfd4f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3c8f524d74b1e" /><Relationship Type="http://schemas.openxmlformats.org/officeDocument/2006/relationships/notesSlide" Target="/ppt/notesSlides/notesSlide12.xml" Id="R991ee71404854c7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ce67c5eb14ee9" /><Relationship Type="http://schemas.openxmlformats.org/officeDocument/2006/relationships/notesSlide" Target="/ppt/notesSlides/notesSlide13.xml" Id="Rb3db1270428b4e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c8d45891a48d2" /><Relationship Type="http://schemas.openxmlformats.org/officeDocument/2006/relationships/notesSlide" Target="/ppt/notesSlides/notesSlide14.xml" Id="R6c366a8fa0514a6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8f613c1b143d2" /><Relationship Type="http://schemas.openxmlformats.org/officeDocument/2006/relationships/notesSlide" Target="/ppt/notesSlides/notesSlide15.xml" Id="R98bca904d9de4f6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9b706e7d44cb9" /><Relationship Type="http://schemas.openxmlformats.org/officeDocument/2006/relationships/notesSlide" Target="/ppt/notesSlides/notesSlide16.xml" Id="R704729e5f3c4433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c35f28dab47cb" /><Relationship Type="http://schemas.openxmlformats.org/officeDocument/2006/relationships/notesSlide" Target="/ppt/notesSlides/notesSlide17.xml" Id="R9dda1db5e357406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09f4f2a984e42" /><Relationship Type="http://schemas.openxmlformats.org/officeDocument/2006/relationships/notesSlide" Target="/ppt/notesSlides/notesSlide18.xml" Id="R2346edbfe0ea42a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61d00a3d54c7b" /><Relationship Type="http://schemas.openxmlformats.org/officeDocument/2006/relationships/notesSlide" Target="/ppt/notesSlides/notesSlide19.xml" Id="Rb5cb9232df5f4e8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75398efd14dd1" /><Relationship Type="http://schemas.openxmlformats.org/officeDocument/2006/relationships/notesSlide" Target="/ppt/notesSlides/notesSlide20.xml" Id="R3fa0b5b5fcaa4bb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e340b91b344bd" /><Relationship Type="http://schemas.openxmlformats.org/officeDocument/2006/relationships/notesSlide" Target="/ppt/notesSlides/notesSlide21.xml" Id="Rf73a9b15a09d41c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7771e6eaa4353" /><Relationship Type="http://schemas.openxmlformats.org/officeDocument/2006/relationships/notesSlide" Target="/ppt/notesSlides/notesSlide22.xml" Id="Rfaced2bd00bd44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U04-DG-001-N1-frame">
            <a:extLst xmlns:a="http://schemas.openxmlformats.org/drawingml/2006/main">
              <a:ext uri="{FF2B5EF4-FFF2-40B4-BE49-F238E27FC236}">
                <a16:creationId xmlns:a16="http://schemas.microsoft.com/office/drawing/2014/main" id="{72DC1FE1-D1FF-489B-B2E6-D39D9A89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0955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2" name="U04-DG-001-N2-frame">
            <a:extLst xmlns:a="http://schemas.openxmlformats.org/drawingml/2006/main">
              <a:ext uri="{FF2B5EF4-FFF2-40B4-BE49-F238E27FC236}">
                <a16:creationId xmlns:a16="http://schemas.microsoft.com/office/drawing/2014/main" id="{BF25B11A-A0C4-4344-B418-85324165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81250"/>
            <a:ext cx="20955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U04-DG-001-N3-frame">
            <a:extLst xmlns:a="http://schemas.openxmlformats.org/drawingml/2006/main">
              <a:ext uri="{FF2B5EF4-FFF2-40B4-BE49-F238E27FC236}">
                <a16:creationId xmlns:a16="http://schemas.microsoft.com/office/drawing/2014/main" id="{4C753826-877B-44D2-9F69-21EDEAC5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20955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U04-DG-001-N4-frame">
            <a:extLst xmlns:a="http://schemas.openxmlformats.org/drawingml/2006/main">
              <a:ext uri="{FF2B5EF4-FFF2-40B4-BE49-F238E27FC236}">
                <a16:creationId xmlns:a16="http://schemas.microsoft.com/office/drawing/2014/main" id="{8F57B646-A221-468B-9572-92795398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20955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cxnSp>
        <p:nvCxnSpPr>
          <p:cNvPr id="24" name="U04-DG-001-edge-U04-DG-001-N1-U04-DG-001-N2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2857500" y="3024188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5" name="U04-DG-001-edge-U04-DG-001-N2-U04-DG-001-N3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5715000" y="3024188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6" name="U04-DG-001-edge-U04-DG-001-N3-U04-DG-001-N4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8572500" y="3024188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8" name="U04-DG-001-N1-text">
            <a:extLst xmlns:a="http://schemas.openxmlformats.org/drawingml/2006/main">
              <a:ext uri="{FF2B5EF4-FFF2-40B4-BE49-F238E27FC236}">
                <a16:creationId xmlns:a16="http://schemas.microsoft.com/office/drawing/2014/main" id="{BE8B9573-328E-4766-AD95-FB73640D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17526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FUENTE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origina la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perturbación</a:t>
            </a:r>
          </a:p>
        </p:txBody>
      </p:sp>
      <p:sp>
        <p:nvSpPr>
          <p:cNvPr id="9" name="U04-DG-001-N2-text">
            <a:extLst xmlns:a="http://schemas.openxmlformats.org/drawingml/2006/main">
              <a:ext uri="{FF2B5EF4-FFF2-40B4-BE49-F238E27FC236}">
                <a16:creationId xmlns:a16="http://schemas.microsoft.com/office/drawing/2014/main" id="{C6FD1900-F03A-44B3-96F8-05FD9FD3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52700"/>
            <a:ext cx="17526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MEDIO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sostiene la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propagación</a:t>
            </a:r>
          </a:p>
        </p:txBody>
      </p:sp>
      <p:sp>
        <p:nvSpPr>
          <p:cNvPr id="10" name="U04-DG-001-N3-text">
            <a:extLst xmlns:a="http://schemas.openxmlformats.org/drawingml/2006/main">
              <a:ext uri="{FF2B5EF4-FFF2-40B4-BE49-F238E27FC236}">
                <a16:creationId xmlns:a16="http://schemas.microsoft.com/office/drawing/2014/main" id="{9CB2CC03-D9B2-492D-B236-747ADB0D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52700"/>
            <a:ext cx="17526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MEDICIÓN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estima en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un punto</a:t>
            </a:r>
          </a:p>
        </p:txBody>
      </p:sp>
      <p:sp>
        <p:nvSpPr>
          <p:cNvPr id="11" name="U04-DG-001-N4-text">
            <a:extLst xmlns:a="http://schemas.openxmlformats.org/drawingml/2006/main">
              <a:ext uri="{FF2B5EF4-FFF2-40B4-BE49-F238E27FC236}">
                <a16:creationId xmlns:a16="http://schemas.microsoft.com/office/drawing/2014/main" id="{466071B6-BFEF-4C91-B22C-A664E390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52700"/>
            <a:ext cx="17526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RECEPTOR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detecta o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percibe</a:t>
            </a:r>
          </a:p>
        </p:txBody>
      </p:sp>
      <p:sp>
        <p:nvSpPr>
          <p:cNvPr id="12" name="U04-DG-001-label-U04-DG-001-N1-U04-DG-001-N2-text">
            <a:extLst xmlns:a="http://schemas.openxmlformats.org/drawingml/2006/main">
              <a:ext uri="{FF2B5EF4-FFF2-40B4-BE49-F238E27FC236}">
                <a16:creationId xmlns:a16="http://schemas.microsoft.com/office/drawing/2014/main" id="{70360DE3-A9F6-4F54-BDE2-96B5389E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566988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perturba</a:t>
            </a:r>
          </a:p>
        </p:txBody>
      </p:sp>
      <p:sp>
        <p:nvSpPr>
          <p:cNvPr id="13" name="U04-DG-001-label-U04-DG-001-N2-U04-DG-001-N3-text">
            <a:extLst xmlns:a="http://schemas.openxmlformats.org/drawingml/2006/main">
              <a:ext uri="{FF2B5EF4-FFF2-40B4-BE49-F238E27FC236}">
                <a16:creationId xmlns:a16="http://schemas.microsoft.com/office/drawing/2014/main" id="{7C172780-A5B5-419A-A148-962B8C00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66988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se propaga</a:t>
            </a:r>
          </a:p>
        </p:txBody>
      </p:sp>
      <p:sp>
        <p:nvSpPr>
          <p:cNvPr id="14" name="U04-DG-001-label-U04-DG-001-N3-U04-DG-001-N4-text">
            <a:extLst xmlns:a="http://schemas.openxmlformats.org/drawingml/2006/main">
              <a:ext uri="{FF2B5EF4-FFF2-40B4-BE49-F238E27FC236}">
                <a16:creationId xmlns:a16="http://schemas.microsoft.com/office/drawing/2014/main" id="{7F587957-62D4-42E7-A432-01BC7DE9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66988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responde</a:t>
            </a:r>
          </a:p>
        </p:txBody>
      </p:sp>
      <p:sp>
        <p:nvSpPr>
          <p:cNvPr id="15" name="q1-text">
            <a:extLst xmlns:a="http://schemas.openxmlformats.org/drawingml/2006/main">
              <a:ext uri="{FF2B5EF4-FFF2-40B4-BE49-F238E27FC236}">
                <a16:creationId xmlns:a16="http://schemas.microsoft.com/office/drawing/2014/main" id="{0492FEF7-F391-43A8-8B92-DE4377EF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47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D1434"/>
                </a:solidFill>
              </a:defRPr>
            </a:pPr>
            <a:r>
              <a:rPr sz="1650" b="1">
                <a:solidFill>
                  <a:srgbClr val="4D1434"/>
                </a:solidFill>
              </a:rPr>
              <a:t>¿qué varía?</a:t>
            </a:r>
          </a:p>
        </p:txBody>
      </p:sp>
      <p:sp>
        <p:nvSpPr>
          <p:cNvPr id="16" name="q2-text">
            <a:extLst xmlns:a="http://schemas.openxmlformats.org/drawingml/2006/main">
              <a:ext uri="{FF2B5EF4-FFF2-40B4-BE49-F238E27FC236}">
                <a16:creationId xmlns:a16="http://schemas.microsoft.com/office/drawing/2014/main" id="{354752D3-820B-41A9-A999-500E4EB7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81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E83"/>
                </a:solidFill>
              </a:defRPr>
            </a:pPr>
            <a:r>
              <a:rPr sz="1650" b="1">
                <a:solidFill>
                  <a:srgbClr val="2F7E83"/>
                </a:solidFill>
              </a:rPr>
              <a:t>¿qué se mueve?</a:t>
            </a:r>
          </a:p>
        </p:txBody>
      </p:sp>
      <p:sp>
        <p:nvSpPr>
          <p:cNvPr id="17" name="q3-text">
            <a:extLst xmlns:a="http://schemas.openxmlformats.org/drawingml/2006/main">
              <a:ext uri="{FF2B5EF4-FFF2-40B4-BE49-F238E27FC236}">
                <a16:creationId xmlns:a16="http://schemas.microsoft.com/office/drawing/2014/main" id="{7CFC53F9-E7EC-4676-9AF1-2ACBE180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047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F541A"/>
                </a:solidFill>
              </a:defRPr>
            </a:pPr>
            <a:r>
              <a:rPr sz="1650" b="1">
                <a:solidFill>
                  <a:srgbClr val="9F541A"/>
                </a:solidFill>
              </a:rPr>
              <a:t>¿qué fluye?</a:t>
            </a:r>
          </a:p>
        </p:txBody>
      </p:sp>
      <p:sp>
        <p:nvSpPr>
          <p:cNvPr id="18" name="q4-text">
            <a:extLst xmlns:a="http://schemas.openxmlformats.org/drawingml/2006/main">
              <a:ext uri="{FF2B5EF4-FFF2-40B4-BE49-F238E27FC236}">
                <a16:creationId xmlns:a16="http://schemas.microsoft.com/office/drawing/2014/main" id="{094D99F2-85D2-46AD-BC11-77C0B863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81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D1434"/>
                </a:solidFill>
              </a:defRPr>
            </a:pPr>
            <a:r>
              <a:rPr sz="1650" b="1">
                <a:solidFill>
                  <a:srgbClr val="4D1434"/>
                </a:solidFill>
              </a:rPr>
              <a:t>¿qué se mide?</a:t>
            </a:r>
          </a:p>
        </p:txBody>
      </p:sp>
      <p:sp>
        <p:nvSpPr>
          <p:cNvPr id="19" name="q5-text">
            <a:extLst xmlns:a="http://schemas.openxmlformats.org/drawingml/2006/main">
              <a:ext uri="{FF2B5EF4-FFF2-40B4-BE49-F238E27FC236}">
                <a16:creationId xmlns:a16="http://schemas.microsoft.com/office/drawing/2014/main" id="{F0A80D92-3A5A-4CBE-A21F-1ABFD77E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619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F541A"/>
                </a:solidFill>
              </a:defRPr>
            </a:pPr>
            <a:r>
              <a:rPr sz="1650" b="1">
                <a:solidFill>
                  <a:srgbClr val="9F541A"/>
                </a:solidFill>
              </a:rPr>
              <a:t>¿qué se percibe?</a:t>
            </a:r>
          </a:p>
        </p:txBody>
      </p:sp>
    </p:spTree>
    <p:extLst>
      <p:ext uri="{BB962C8B-B14F-4D97-AF65-F5344CB8AC3E}">
        <p14:creationId xmlns:p14="http://schemas.microsoft.com/office/powerpoint/2010/main" val="7029073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U04-DG-002-N1-frame">
            <a:extLst xmlns:a="http://schemas.openxmlformats.org/drawingml/2006/main">
              <a:ext uri="{FF2B5EF4-FFF2-40B4-BE49-F238E27FC236}">
                <a16:creationId xmlns:a16="http://schemas.microsoft.com/office/drawing/2014/main" id="{6C12EBAC-7B72-427B-B670-61CED232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2095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2" name="U04-DG-002-N2-frame">
            <a:extLst xmlns:a="http://schemas.openxmlformats.org/drawingml/2006/main">
              <a:ext uri="{FF2B5EF4-FFF2-40B4-BE49-F238E27FC236}">
                <a16:creationId xmlns:a16="http://schemas.microsoft.com/office/drawing/2014/main" id="{C71B5BC2-C831-4BEC-9B57-0771D334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000125"/>
            <a:ext cx="2095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U04-DG-002-N3-frame">
            <a:extLst xmlns:a="http://schemas.openxmlformats.org/drawingml/2006/main">
              <a:ext uri="{FF2B5EF4-FFF2-40B4-BE49-F238E27FC236}">
                <a16:creationId xmlns:a16="http://schemas.microsoft.com/office/drawing/2014/main" id="{56378CB2-01E9-4088-896F-FCCD0E79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000125"/>
            <a:ext cx="2095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U04-DG-002-N4-frame">
            <a:extLst xmlns:a="http://schemas.openxmlformats.org/drawingml/2006/main">
              <a:ext uri="{FF2B5EF4-FFF2-40B4-BE49-F238E27FC236}">
                <a16:creationId xmlns:a16="http://schemas.microsoft.com/office/drawing/2014/main" id="{70C06218-AC5A-43B1-A2A5-905CF531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000125"/>
            <a:ext cx="2095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5" name="U04-DG-002-N5-frame">
            <a:extLst xmlns:a="http://schemas.openxmlformats.org/drawingml/2006/main">
              <a:ext uri="{FF2B5EF4-FFF2-40B4-BE49-F238E27FC236}">
                <a16:creationId xmlns:a16="http://schemas.microsoft.com/office/drawing/2014/main" id="{B5FA6FB1-2CA2-4179-A85D-17BA1FFC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095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U04-DG-002-N6-frame">
            <a:extLst xmlns:a="http://schemas.openxmlformats.org/drawingml/2006/main">
              <a:ext uri="{FF2B5EF4-FFF2-40B4-BE49-F238E27FC236}">
                <a16:creationId xmlns:a16="http://schemas.microsoft.com/office/drawing/2014/main" id="{992C9249-CACF-4A93-A26A-6361C8E0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48000"/>
            <a:ext cx="2095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U04-DG-002-N7-frame">
            <a:extLst xmlns:a="http://schemas.openxmlformats.org/drawingml/2006/main">
              <a:ext uri="{FF2B5EF4-FFF2-40B4-BE49-F238E27FC236}">
                <a16:creationId xmlns:a16="http://schemas.microsoft.com/office/drawing/2014/main" id="{CC217D93-44DD-4BF8-997A-140E66C2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2095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8" name="U04-DG-002-N8-frame">
            <a:extLst xmlns:a="http://schemas.openxmlformats.org/drawingml/2006/main">
              <a:ext uri="{FF2B5EF4-FFF2-40B4-BE49-F238E27FC236}">
                <a16:creationId xmlns:a16="http://schemas.microsoft.com/office/drawing/2014/main" id="{48756266-AEDD-4BA3-A0AE-E985C1F7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48000"/>
            <a:ext cx="2095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9" name="U04-DG-002-N9-frame">
            <a:extLst xmlns:a="http://schemas.openxmlformats.org/drawingml/2006/main">
              <a:ext uri="{FF2B5EF4-FFF2-40B4-BE49-F238E27FC236}">
                <a16:creationId xmlns:a16="http://schemas.microsoft.com/office/drawing/2014/main" id="{277CC2BD-CA32-47B0-ABFA-D9D7E3DB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095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U04-DG-002-N10-frame">
            <a:extLst xmlns:a="http://schemas.openxmlformats.org/drawingml/2006/main">
              <a:ext uri="{FF2B5EF4-FFF2-40B4-BE49-F238E27FC236}">
                <a16:creationId xmlns:a16="http://schemas.microsoft.com/office/drawing/2014/main" id="{2A45628E-7C1D-4686-A102-1A93A7D0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95875"/>
            <a:ext cx="2095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11" name="U04-DG-002-N11-frame">
            <a:extLst xmlns:a="http://schemas.openxmlformats.org/drawingml/2006/main">
              <a:ext uri="{FF2B5EF4-FFF2-40B4-BE49-F238E27FC236}">
                <a16:creationId xmlns:a16="http://schemas.microsoft.com/office/drawing/2014/main" id="{41AA0EE0-075B-4DDA-8D96-2099A748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95875"/>
            <a:ext cx="2095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cxnSp>
        <p:nvCxnSpPr>
          <p:cNvPr id="44" name="U04-DG-002-edge-U04-DG-002-N1-U04-DG-002-N2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2857500" y="1476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5" name="U04-DG-002-edge-U04-DG-002-N2-U04-DG-002-N3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5715000" y="1476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6" name="U04-DG-002-edge-U04-DG-002-N3-U04-DG-002-N4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8572500" y="1476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7" name="U04-DG-002-edge-U04-DG-002-N5-U04-DG-002-N6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57500" y="3524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8" name="U04-DG-002-edge-U04-DG-002-N6-U04-DG-002-N7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715000" y="3524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9" name="U04-DG-002-edge-U04-DG-002-N7-U04-DG-002-N8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72500" y="3524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0" name="U04-DG-002-edge-U04-DG-002-N9-U04-DG-002-N10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57500" y="5572125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1" name="U04-DG-002-edge-U04-DG-002-N10-U04-DG-002-N11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143750" y="5572125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2" name="U04-DG-002-edge-U04-DG-002-N4-U04-DG-002-N5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1809750" y="1952625"/>
            <a:ext cx="8572500" cy="1095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3" name="U04-DG-002-edge-U04-DG-002-N8-U04-DG-002-N9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1809750" y="4000500"/>
            <a:ext cx="8572500" cy="1095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2" name="U04-DG-002-N1-text">
            <a:extLst xmlns:a="http://schemas.openxmlformats.org/drawingml/2006/main">
              <a:ext uri="{FF2B5EF4-FFF2-40B4-BE49-F238E27FC236}">
                <a16:creationId xmlns:a16="http://schemas.microsoft.com/office/drawing/2014/main" id="{9A5817D1-2259-4B3D-B45E-8D99BF20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171575"/>
            <a:ext cx="175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Fenómeno</a:t>
            </a:r>
          </a:p>
        </p:txBody>
      </p:sp>
      <p:sp>
        <p:nvSpPr>
          <p:cNvPr id="23" name="U04-DG-002-N2-text">
            <a:extLst xmlns:a="http://schemas.openxmlformats.org/drawingml/2006/main">
              <a:ext uri="{FF2B5EF4-FFF2-40B4-BE49-F238E27FC236}">
                <a16:creationId xmlns:a16="http://schemas.microsoft.com/office/drawing/2014/main" id="{BFCFDA69-40D8-48B3-AD4D-50B4369E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171575"/>
            <a:ext cx="175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Medio</a:t>
            </a:r>
          </a:p>
        </p:txBody>
      </p:sp>
      <p:sp>
        <p:nvSpPr>
          <p:cNvPr id="24" name="U04-DG-002-N3-text">
            <a:extLst xmlns:a="http://schemas.openxmlformats.org/drawingml/2006/main">
              <a:ext uri="{FF2B5EF4-FFF2-40B4-BE49-F238E27FC236}">
                <a16:creationId xmlns:a16="http://schemas.microsoft.com/office/drawing/2014/main" id="{FEA800C2-FA75-4938-A197-558E51B5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171575"/>
            <a:ext cx="175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Campo</a:t>
            </a:r>
          </a:p>
        </p:txBody>
      </p:sp>
      <p:sp>
        <p:nvSpPr>
          <p:cNvPr id="25" name="U04-DG-002-N4-text">
            <a:extLst xmlns:a="http://schemas.openxmlformats.org/drawingml/2006/main">
              <a:ext uri="{FF2B5EF4-FFF2-40B4-BE49-F238E27FC236}">
                <a16:creationId xmlns:a16="http://schemas.microsoft.com/office/drawing/2014/main" id="{71C5B290-B173-41A2-99FC-D4BFBCA8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171575"/>
            <a:ext cx="175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Energía</a:t>
            </a:r>
          </a:p>
        </p:txBody>
      </p:sp>
      <p:sp>
        <p:nvSpPr>
          <p:cNvPr id="26" name="U04-DG-002-N5-text">
            <a:extLst xmlns:a="http://schemas.openxmlformats.org/drawingml/2006/main">
              <a:ext uri="{FF2B5EF4-FFF2-40B4-BE49-F238E27FC236}">
                <a16:creationId xmlns:a16="http://schemas.microsoft.com/office/drawing/2014/main" id="{84A4900A-3484-4C7D-88A8-772654FB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175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Valores</a:t>
            </a:r>
          </a:p>
        </p:txBody>
      </p:sp>
      <p:sp>
        <p:nvSpPr>
          <p:cNvPr id="27" name="U04-DG-002-N6-text">
            <a:extLst xmlns:a="http://schemas.openxmlformats.org/drawingml/2006/main">
              <a:ext uri="{FF2B5EF4-FFF2-40B4-BE49-F238E27FC236}">
                <a16:creationId xmlns:a16="http://schemas.microsoft.com/office/drawing/2014/main" id="{CDA24FC2-7B44-4411-8888-F83D9F3B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19450"/>
            <a:ext cx="175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RMS</a:t>
            </a:r>
          </a:p>
        </p:txBody>
      </p:sp>
      <p:sp>
        <p:nvSpPr>
          <p:cNvPr id="28" name="U04-DG-002-N7-text">
            <a:extLst xmlns:a="http://schemas.openxmlformats.org/drawingml/2006/main">
              <a:ext uri="{FF2B5EF4-FFF2-40B4-BE49-F238E27FC236}">
                <a16:creationId xmlns:a16="http://schemas.microsoft.com/office/drawing/2014/main" id="{A544D0D0-1E59-4F74-83E2-C9B663D4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175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Niveles</a:t>
            </a:r>
          </a:p>
        </p:txBody>
      </p:sp>
      <p:sp>
        <p:nvSpPr>
          <p:cNvPr id="29" name="U04-DG-002-N8-text">
            <a:extLst xmlns:a="http://schemas.openxmlformats.org/drawingml/2006/main">
              <a:ext uri="{FF2B5EF4-FFF2-40B4-BE49-F238E27FC236}">
                <a16:creationId xmlns:a16="http://schemas.microsoft.com/office/drawing/2014/main" id="{8AE8143A-433F-4DB9-A28B-DC12AE90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19450"/>
            <a:ext cx="175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Suma</a:t>
            </a:r>
          </a:p>
        </p:txBody>
      </p:sp>
      <p:sp>
        <p:nvSpPr>
          <p:cNvPr id="30" name="U04-DG-002-N9-text">
            <a:extLst xmlns:a="http://schemas.openxmlformats.org/drawingml/2006/main">
              <a:ext uri="{FF2B5EF4-FFF2-40B4-BE49-F238E27FC236}">
                <a16:creationId xmlns:a16="http://schemas.microsoft.com/office/drawing/2014/main" id="{ACFE212D-7E14-4999-8743-2753B577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67325"/>
            <a:ext cx="175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Geometría</a:t>
            </a:r>
          </a:p>
        </p:txBody>
      </p:sp>
      <p:sp>
        <p:nvSpPr>
          <p:cNvPr id="31" name="U04-DG-002-N10-text">
            <a:extLst xmlns:a="http://schemas.openxmlformats.org/drawingml/2006/main">
              <a:ext uri="{FF2B5EF4-FFF2-40B4-BE49-F238E27FC236}">
                <a16:creationId xmlns:a16="http://schemas.microsoft.com/office/drawing/2014/main" id="{C9524A31-8354-4A48-AD94-86BF9FE8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67325"/>
            <a:ext cx="175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Distancia y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directividad</a:t>
            </a:r>
          </a:p>
        </p:txBody>
      </p:sp>
      <p:sp>
        <p:nvSpPr>
          <p:cNvPr id="32" name="U04-DG-002-N11-text">
            <a:extLst xmlns:a="http://schemas.openxmlformats.org/drawingml/2006/main">
              <a:ext uri="{FF2B5EF4-FFF2-40B4-BE49-F238E27FC236}">
                <a16:creationId xmlns:a16="http://schemas.microsoft.com/office/drawing/2014/main" id="{FE300D8E-B4DB-4B95-8356-5A080AFD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67325"/>
            <a:ext cx="175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Aplicación</a:t>
            </a:r>
          </a:p>
        </p:txBody>
      </p:sp>
    </p:spTree>
    <p:extLst>
      <p:ext uri="{BB962C8B-B14F-4D97-AF65-F5344CB8AC3E}">
        <p14:creationId xmlns:p14="http://schemas.microsoft.com/office/powerpoint/2010/main" val="275627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phys-frame">
            <a:extLst xmlns:a="http://schemas.openxmlformats.org/drawingml/2006/main">
              <a:ext uri="{FF2B5EF4-FFF2-40B4-BE49-F238E27FC236}">
                <a16:creationId xmlns:a16="http://schemas.microsoft.com/office/drawing/2014/main" id="{2923A405-BB5B-49DF-B723-0D911253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49530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2" name="perc-frame">
            <a:extLst xmlns:a="http://schemas.openxmlformats.org/drawingml/2006/main">
              <a:ext uri="{FF2B5EF4-FFF2-40B4-BE49-F238E27FC236}">
                <a16:creationId xmlns:a16="http://schemas.microsoft.com/office/drawing/2014/main" id="{676E7AB7-4BB8-4D89-B85C-9F4BB917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04875"/>
            <a:ext cx="49530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3" name="c0-frame">
            <a:extLst xmlns:a="http://schemas.openxmlformats.org/drawingml/2006/main">
              <a:ext uri="{FF2B5EF4-FFF2-40B4-BE49-F238E27FC236}">
                <a16:creationId xmlns:a16="http://schemas.microsoft.com/office/drawing/2014/main" id="{D953424B-9CCE-4AEE-8F84-02E86F65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2000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c1-frame">
            <a:extLst xmlns:a="http://schemas.openxmlformats.org/drawingml/2006/main">
              <a:ext uri="{FF2B5EF4-FFF2-40B4-BE49-F238E27FC236}">
                <a16:creationId xmlns:a16="http://schemas.microsoft.com/office/drawing/2014/main" id="{72F3C03C-734B-495A-949E-AFFC449C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67125"/>
            <a:ext cx="2000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c2-frame">
            <a:extLst xmlns:a="http://schemas.openxmlformats.org/drawingml/2006/main">
              <a:ext uri="{FF2B5EF4-FFF2-40B4-BE49-F238E27FC236}">
                <a16:creationId xmlns:a16="http://schemas.microsoft.com/office/drawing/2014/main" id="{B1408FF4-CD85-41F0-9B84-ED244F37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67125"/>
            <a:ext cx="2000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3-frame">
            <a:extLst xmlns:a="http://schemas.openxmlformats.org/drawingml/2006/main">
              <a:ext uri="{FF2B5EF4-FFF2-40B4-BE49-F238E27FC236}">
                <a16:creationId xmlns:a16="http://schemas.microsoft.com/office/drawing/2014/main" id="{67B6DE78-6EF9-4EA2-8F40-641F956A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67125"/>
            <a:ext cx="2000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26" name="U04-DG-003-edge-c0-c1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048000" y="41433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F7E8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7" name="U04-DG-003-edge-c1-c2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715000" y="41433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F7E8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8" name="U04-DG-003-edge-c2-c3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382000" y="41433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F541A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" name="phys-text">
            <a:extLst xmlns:a="http://schemas.openxmlformats.org/drawingml/2006/main">
              <a:ext uri="{FF2B5EF4-FFF2-40B4-BE49-F238E27FC236}">
                <a16:creationId xmlns:a16="http://schemas.microsoft.com/office/drawing/2014/main" id="{3EC44A05-4CF7-4412-B52A-8A99E1A1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076325"/>
            <a:ext cx="4610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FENÓMENO FÍSICO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Campo medible sin oyente</a:t>
            </a:r>
          </a:p>
        </p:txBody>
      </p:sp>
      <p:sp>
        <p:nvSpPr>
          <p:cNvPr id="11" name="perc-text">
            <a:extLst xmlns:a="http://schemas.openxmlformats.org/drawingml/2006/main">
              <a:ext uri="{FF2B5EF4-FFF2-40B4-BE49-F238E27FC236}">
                <a16:creationId xmlns:a16="http://schemas.microsoft.com/office/drawing/2014/main" id="{5A56DA93-1CBA-4584-AA58-47C962DE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076325"/>
            <a:ext cx="4610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EXPERIENCIA PERCEPTUAL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Respuesta del sistema auditivo</a:t>
            </a:r>
          </a:p>
        </p:txBody>
      </p:sp>
      <p:sp>
        <p:nvSpPr>
          <p:cNvPr id="12" name="c0-text">
            <a:extLst xmlns:a="http://schemas.openxmlformats.org/drawingml/2006/main">
              <a:ext uri="{FF2B5EF4-FFF2-40B4-BE49-F238E27FC236}">
                <a16:creationId xmlns:a16="http://schemas.microsoft.com/office/drawing/2014/main" id="{7D05683C-C996-47D9-9E3D-C5F6AFA8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38575"/>
            <a:ext cx="1657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Fuente</a:t>
            </a:r>
          </a:p>
        </p:txBody>
      </p:sp>
      <p:sp>
        <p:nvSpPr>
          <p:cNvPr id="13" name="c1-text">
            <a:extLst xmlns:a="http://schemas.openxmlformats.org/drawingml/2006/main">
              <a:ext uri="{FF2B5EF4-FFF2-40B4-BE49-F238E27FC236}">
                <a16:creationId xmlns:a16="http://schemas.microsoft.com/office/drawing/2014/main" id="{5207B6E3-BB42-4C20-A8FF-25C97992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38575"/>
            <a:ext cx="1657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Medio</a:t>
            </a:r>
          </a:p>
        </p:txBody>
      </p:sp>
      <p:sp>
        <p:nvSpPr>
          <p:cNvPr id="14" name="c2-text">
            <a:extLst xmlns:a="http://schemas.openxmlformats.org/drawingml/2006/main">
              <a:ext uri="{FF2B5EF4-FFF2-40B4-BE49-F238E27FC236}">
                <a16:creationId xmlns:a16="http://schemas.microsoft.com/office/drawing/2014/main" id="{94660BCB-3578-4473-8F80-D66F6B4A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38575"/>
            <a:ext cx="1657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Campo</a:t>
            </a:r>
          </a:p>
        </p:txBody>
      </p:sp>
      <p:sp>
        <p:nvSpPr>
          <p:cNvPr id="15" name="c3-text">
            <a:extLst xmlns:a="http://schemas.openxmlformats.org/drawingml/2006/main">
              <a:ext uri="{FF2B5EF4-FFF2-40B4-BE49-F238E27FC236}">
                <a16:creationId xmlns:a16="http://schemas.microsoft.com/office/drawing/2014/main" id="{96FF58DE-0E0F-4C67-A0A4-00599996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38575"/>
            <a:ext cx="1657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Receptor</a:t>
            </a:r>
          </a:p>
        </p:txBody>
      </p:sp>
      <p:sp>
        <p:nvSpPr>
          <p:cNvPr id="16" name="U04-DG-003-label-c0-c1-text">
            <a:extLst xmlns:a="http://schemas.openxmlformats.org/drawingml/2006/main">
              <a:ext uri="{FF2B5EF4-FFF2-40B4-BE49-F238E27FC236}">
                <a16:creationId xmlns:a16="http://schemas.microsoft.com/office/drawing/2014/main" id="{75567F41-58D5-47E3-A2EF-BF86BBE6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86175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7E83"/>
                </a:solidFill>
              </a:defRPr>
            </a:pPr>
            <a:r>
              <a:rPr sz="1575" b="1">
                <a:solidFill>
                  <a:srgbClr val="2F7E83"/>
                </a:solidFill>
              </a:rPr>
              <a:t>perturba</a:t>
            </a:r>
          </a:p>
        </p:txBody>
      </p:sp>
      <p:sp>
        <p:nvSpPr>
          <p:cNvPr id="17" name="U04-DG-003-label-c1-c2-text">
            <a:extLst xmlns:a="http://schemas.openxmlformats.org/drawingml/2006/main">
              <a:ext uri="{FF2B5EF4-FFF2-40B4-BE49-F238E27FC236}">
                <a16:creationId xmlns:a16="http://schemas.microsoft.com/office/drawing/2014/main" id="{775F981D-F4DD-4F10-9CBE-CF7B806A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86175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7E83"/>
                </a:solidFill>
              </a:defRPr>
            </a:pPr>
            <a:r>
              <a:rPr sz="1575" b="1">
                <a:solidFill>
                  <a:srgbClr val="2F7E83"/>
                </a:solidFill>
              </a:rPr>
              <a:t>sostiene</a:t>
            </a:r>
          </a:p>
        </p:txBody>
      </p:sp>
      <p:sp>
        <p:nvSpPr>
          <p:cNvPr id="18" name="U04-DG-003-label-c2-c3-text">
            <a:extLst xmlns:a="http://schemas.openxmlformats.org/drawingml/2006/main">
              <a:ext uri="{FF2B5EF4-FFF2-40B4-BE49-F238E27FC236}">
                <a16:creationId xmlns:a16="http://schemas.microsoft.com/office/drawing/2014/main" id="{019BB1A1-77B1-41D0-BA69-22FFE8E6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86175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F541A"/>
                </a:solidFill>
              </a:defRPr>
            </a:pPr>
            <a:r>
              <a:rPr sz="1575" b="1">
                <a:solidFill>
                  <a:srgbClr val="9F541A"/>
                </a:solidFill>
              </a:rPr>
              <a:t>responde</a:t>
            </a:r>
          </a:p>
        </p:txBody>
      </p:sp>
      <p:sp>
        <p:nvSpPr>
          <p:cNvPr id="19" name="sum-text">
            <a:extLst xmlns:a="http://schemas.openxmlformats.org/drawingml/2006/main">
              <a:ext uri="{FF2B5EF4-FFF2-40B4-BE49-F238E27FC236}">
                <a16:creationId xmlns:a16="http://schemas.microsoft.com/office/drawing/2014/main" id="{4CD2EB65-3BC3-49BB-ADC8-47E13A8A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81625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D1434"/>
                </a:solidFill>
              </a:defRPr>
            </a:pPr>
            <a:r>
              <a:rPr sz="1875" b="1">
                <a:solidFill>
                  <a:srgbClr val="4D1434"/>
                </a:solidFill>
              </a:rPr>
              <a:t>Medir el campo no equivale a describir una sensación.</a:t>
            </a:r>
          </a:p>
        </p:txBody>
      </p:sp>
    </p:spTree>
    <p:extLst>
      <p:ext uri="{BB962C8B-B14F-4D97-AF65-F5344CB8AC3E}">
        <p14:creationId xmlns:p14="http://schemas.microsoft.com/office/powerpoint/2010/main" val="11803016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v0-frame">
            <a:extLst xmlns:a="http://schemas.openxmlformats.org/drawingml/2006/main">
              <a:ext uri="{FF2B5EF4-FFF2-40B4-BE49-F238E27FC236}">
                <a16:creationId xmlns:a16="http://schemas.microsoft.com/office/drawing/2014/main" id="{92975646-8FD0-4C96-A52E-DE68A32C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190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2" name="v1-frame">
            <a:extLst xmlns:a="http://schemas.openxmlformats.org/drawingml/2006/main">
              <a:ext uri="{FF2B5EF4-FFF2-40B4-BE49-F238E27FC236}">
                <a16:creationId xmlns:a16="http://schemas.microsoft.com/office/drawing/2014/main" id="{6A5B73B7-C392-4FB0-8053-FEC5E1F8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381125"/>
            <a:ext cx="2190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3" name="v2-frame">
            <a:extLst xmlns:a="http://schemas.openxmlformats.org/drawingml/2006/main">
              <a:ext uri="{FF2B5EF4-FFF2-40B4-BE49-F238E27FC236}">
                <a16:creationId xmlns:a16="http://schemas.microsoft.com/office/drawing/2014/main" id="{4A48835D-DE0A-4117-BFAC-687F1786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2190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4" name="v3-frame">
            <a:extLst xmlns:a="http://schemas.openxmlformats.org/drawingml/2006/main">
              <a:ext uri="{FF2B5EF4-FFF2-40B4-BE49-F238E27FC236}">
                <a16:creationId xmlns:a16="http://schemas.microsoft.com/office/drawing/2014/main" id="{9FAC4719-7DCC-491A-A833-8D667B7C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81125"/>
            <a:ext cx="2190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5" name="e0-frame">
            <a:extLst xmlns:a="http://schemas.openxmlformats.org/drawingml/2006/main">
              <a:ext uri="{FF2B5EF4-FFF2-40B4-BE49-F238E27FC236}">
                <a16:creationId xmlns:a16="http://schemas.microsoft.com/office/drawing/2014/main" id="{040DBFE7-76B3-47EE-B583-ABF1E77A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2190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e1-frame">
            <a:extLst xmlns:a="http://schemas.openxmlformats.org/drawingml/2006/main">
              <a:ext uri="{FF2B5EF4-FFF2-40B4-BE49-F238E27FC236}">
                <a16:creationId xmlns:a16="http://schemas.microsoft.com/office/drawing/2014/main" id="{5DD93F30-8F2D-47C0-A587-3697600E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48125"/>
            <a:ext cx="2190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2-frame">
            <a:extLst xmlns:a="http://schemas.openxmlformats.org/drawingml/2006/main">
              <a:ext uri="{FF2B5EF4-FFF2-40B4-BE49-F238E27FC236}">
                <a16:creationId xmlns:a16="http://schemas.microsoft.com/office/drawing/2014/main" id="{096CD282-10FD-418E-A0A7-79A782AC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48125"/>
            <a:ext cx="2190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8" name="e3-frame">
            <a:extLst xmlns:a="http://schemas.openxmlformats.org/drawingml/2006/main">
              <a:ext uri="{FF2B5EF4-FFF2-40B4-BE49-F238E27FC236}">
                <a16:creationId xmlns:a16="http://schemas.microsoft.com/office/drawing/2014/main" id="{5A67ACB4-0F13-4F03-88BA-AC3C50A5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48125"/>
            <a:ext cx="2190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cxnSp>
        <p:nvCxnSpPr>
          <p:cNvPr id="39" name="U04-DG-004-edge-v0-v1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2857500" y="188118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F541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0" name="U04-DG-004-edge-e0-e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57500" y="454818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F7E8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1" name="U04-DG-004-edge-v1-v2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5715000" y="188118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F541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2" name="U04-DG-004-edge-e1-e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715000" y="454818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F7E8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3" name="U04-DG-004-edge-v2-v3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8572500" y="188118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F541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4" name="U04-DG-004-edge-e2-e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72500" y="454818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F7E8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v0-text">
            <a:extLst xmlns:a="http://schemas.openxmlformats.org/drawingml/2006/main">
              <a:ext uri="{FF2B5EF4-FFF2-40B4-BE49-F238E27FC236}">
                <a16:creationId xmlns:a16="http://schemas.microsoft.com/office/drawing/2014/main" id="{75C02AE3-2C41-419E-A981-1EFB16B4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52575"/>
            <a:ext cx="18478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Flujo pulmonar</a:t>
            </a:r>
          </a:p>
        </p:txBody>
      </p:sp>
      <p:sp>
        <p:nvSpPr>
          <p:cNvPr id="16" name="v1-text">
            <a:extLst xmlns:a="http://schemas.openxmlformats.org/drawingml/2006/main">
              <a:ext uri="{FF2B5EF4-FFF2-40B4-BE49-F238E27FC236}">
                <a16:creationId xmlns:a16="http://schemas.microsoft.com/office/drawing/2014/main" id="{5B250A26-C22E-411A-B1C6-74349189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552575"/>
            <a:ext cx="18478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Pliegues vocales</a:t>
            </a:r>
          </a:p>
        </p:txBody>
      </p:sp>
      <p:sp>
        <p:nvSpPr>
          <p:cNvPr id="17" name="v2-text">
            <a:extLst xmlns:a="http://schemas.openxmlformats.org/drawingml/2006/main">
              <a:ext uri="{FF2B5EF4-FFF2-40B4-BE49-F238E27FC236}">
                <a16:creationId xmlns:a16="http://schemas.microsoft.com/office/drawing/2014/main" id="{04BEB21F-F2EE-46AC-9F00-90FE9DC3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52575"/>
            <a:ext cx="18478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Perturbación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aérea</a:t>
            </a:r>
          </a:p>
        </p:txBody>
      </p:sp>
      <p:sp>
        <p:nvSpPr>
          <p:cNvPr id="18" name="v3-text">
            <a:extLst xmlns:a="http://schemas.openxmlformats.org/drawingml/2006/main">
              <a:ext uri="{FF2B5EF4-FFF2-40B4-BE49-F238E27FC236}">
                <a16:creationId xmlns:a16="http://schemas.microsoft.com/office/drawing/2014/main" id="{3E65207C-A342-44A3-B06D-1F229CF0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552575"/>
            <a:ext cx="18478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Campo acústico</a:t>
            </a:r>
          </a:p>
        </p:txBody>
      </p:sp>
      <p:sp>
        <p:nvSpPr>
          <p:cNvPr id="19" name="e0-text">
            <a:extLst xmlns:a="http://schemas.openxmlformats.org/drawingml/2006/main">
              <a:ext uri="{FF2B5EF4-FFF2-40B4-BE49-F238E27FC236}">
                <a16:creationId xmlns:a16="http://schemas.microsoft.com/office/drawing/2014/main" id="{86C7C497-D1F1-4756-9D34-C76F411B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9575"/>
            <a:ext cx="18478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Señal eléctrica</a:t>
            </a:r>
          </a:p>
        </p:txBody>
      </p:sp>
      <p:sp>
        <p:nvSpPr>
          <p:cNvPr id="20" name="e1-text">
            <a:extLst xmlns:a="http://schemas.openxmlformats.org/drawingml/2006/main">
              <a:ext uri="{FF2B5EF4-FFF2-40B4-BE49-F238E27FC236}">
                <a16:creationId xmlns:a16="http://schemas.microsoft.com/office/drawing/2014/main" id="{1C3F1C65-6513-4042-AD07-6CD35D6A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19575"/>
            <a:ext cx="18478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Diafragma</a:t>
            </a:r>
          </a:p>
        </p:txBody>
      </p:sp>
      <p:sp>
        <p:nvSpPr>
          <p:cNvPr id="21" name="e2-text">
            <a:extLst xmlns:a="http://schemas.openxmlformats.org/drawingml/2006/main">
              <a:ext uri="{FF2B5EF4-FFF2-40B4-BE49-F238E27FC236}">
                <a16:creationId xmlns:a16="http://schemas.microsoft.com/office/drawing/2014/main" id="{783BF7D2-F4D5-45C9-9707-5EB91F71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19575"/>
            <a:ext cx="18478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Perturbación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aérea</a:t>
            </a:r>
          </a:p>
        </p:txBody>
      </p:sp>
      <p:sp>
        <p:nvSpPr>
          <p:cNvPr id="22" name="e3-text">
            <a:extLst xmlns:a="http://schemas.openxmlformats.org/drawingml/2006/main">
              <a:ext uri="{FF2B5EF4-FFF2-40B4-BE49-F238E27FC236}">
                <a16:creationId xmlns:a16="http://schemas.microsoft.com/office/drawing/2014/main" id="{8D7E4CE2-A89E-4BF1-AD6D-B743F905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19575"/>
            <a:ext cx="18478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Campo acústico</a:t>
            </a:r>
          </a:p>
        </p:txBody>
      </p:sp>
      <p:sp>
        <p:nvSpPr>
          <p:cNvPr id="23" name="U04-DG-004-label-v0-v1-text">
            <a:extLst xmlns:a="http://schemas.openxmlformats.org/drawingml/2006/main">
              <a:ext uri="{FF2B5EF4-FFF2-40B4-BE49-F238E27FC236}">
                <a16:creationId xmlns:a16="http://schemas.microsoft.com/office/drawing/2014/main" id="{9025132D-BD4B-4204-AC13-267789C5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23988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F541A"/>
                </a:solidFill>
              </a:defRPr>
            </a:pPr>
            <a:r>
              <a:rPr sz="1575" b="1">
                <a:solidFill>
                  <a:srgbClr val="9F541A"/>
                </a:solidFill>
              </a:rPr>
              <a:t>excita</a:t>
            </a:r>
          </a:p>
        </p:txBody>
      </p:sp>
      <p:sp>
        <p:nvSpPr>
          <p:cNvPr id="24" name="U04-DG-004-label-e0-e1-text">
            <a:extLst xmlns:a="http://schemas.openxmlformats.org/drawingml/2006/main">
              <a:ext uri="{FF2B5EF4-FFF2-40B4-BE49-F238E27FC236}">
                <a16:creationId xmlns:a16="http://schemas.microsoft.com/office/drawing/2014/main" id="{C7B976A3-0417-4862-A627-77AA5CAA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90988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7E83"/>
                </a:solidFill>
              </a:defRPr>
            </a:pPr>
            <a:r>
              <a:rPr sz="1575" b="1">
                <a:solidFill>
                  <a:srgbClr val="2F7E83"/>
                </a:solidFill>
              </a:rPr>
              <a:t>excita</a:t>
            </a:r>
          </a:p>
        </p:txBody>
      </p:sp>
      <p:sp>
        <p:nvSpPr>
          <p:cNvPr id="25" name="U04-DG-004-label-v1-v2-text">
            <a:extLst xmlns:a="http://schemas.openxmlformats.org/drawingml/2006/main">
              <a:ext uri="{FF2B5EF4-FFF2-40B4-BE49-F238E27FC236}">
                <a16:creationId xmlns:a16="http://schemas.microsoft.com/office/drawing/2014/main" id="{89AC3B91-4A15-40A8-8416-2C65B53B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423988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F541A"/>
                </a:solidFill>
              </a:defRPr>
            </a:pPr>
            <a:r>
              <a:rPr sz="1575" b="1">
                <a:solidFill>
                  <a:srgbClr val="9F541A"/>
                </a:solidFill>
              </a:rPr>
              <a:t>oscila</a:t>
            </a:r>
          </a:p>
        </p:txBody>
      </p:sp>
      <p:sp>
        <p:nvSpPr>
          <p:cNvPr id="26" name="U04-DG-004-label-e1-e2-text">
            <a:extLst xmlns:a="http://schemas.openxmlformats.org/drawingml/2006/main">
              <a:ext uri="{FF2B5EF4-FFF2-40B4-BE49-F238E27FC236}">
                <a16:creationId xmlns:a16="http://schemas.microsoft.com/office/drawing/2014/main" id="{28B8B2CC-62B0-4491-9A7F-BC9DDA4A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0988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7E83"/>
                </a:solidFill>
              </a:defRPr>
            </a:pPr>
            <a:r>
              <a:rPr sz="1575" b="1">
                <a:solidFill>
                  <a:srgbClr val="2F7E83"/>
                </a:solidFill>
              </a:rPr>
              <a:t>oscila</a:t>
            </a:r>
          </a:p>
        </p:txBody>
      </p:sp>
      <p:sp>
        <p:nvSpPr>
          <p:cNvPr id="27" name="U04-DG-004-label-v2-v3-text">
            <a:extLst xmlns:a="http://schemas.openxmlformats.org/drawingml/2006/main">
              <a:ext uri="{FF2B5EF4-FFF2-40B4-BE49-F238E27FC236}">
                <a16:creationId xmlns:a16="http://schemas.microsoft.com/office/drawing/2014/main" id="{223396D6-9128-4BEF-8352-4E060753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3988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F541A"/>
                </a:solidFill>
              </a:defRPr>
            </a:pPr>
            <a:r>
              <a:rPr sz="1575" b="1">
                <a:solidFill>
                  <a:srgbClr val="9F541A"/>
                </a:solidFill>
              </a:rPr>
              <a:t>perturba</a:t>
            </a:r>
          </a:p>
        </p:txBody>
      </p:sp>
      <p:sp>
        <p:nvSpPr>
          <p:cNvPr id="28" name="U04-DG-004-label-e2-e3-text">
            <a:extLst xmlns:a="http://schemas.openxmlformats.org/drawingml/2006/main">
              <a:ext uri="{FF2B5EF4-FFF2-40B4-BE49-F238E27FC236}">
                <a16:creationId xmlns:a16="http://schemas.microsoft.com/office/drawing/2014/main" id="{5BF3D01B-F53E-4D42-8654-EB96CC87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0988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7E83"/>
                </a:solidFill>
              </a:defRPr>
            </a:pPr>
            <a:r>
              <a:rPr sz="1575" b="1">
                <a:solidFill>
                  <a:srgbClr val="2F7E83"/>
                </a:solidFill>
              </a:rPr>
              <a:t>perturba</a:t>
            </a:r>
          </a:p>
        </p:txBody>
      </p:sp>
      <p:sp>
        <p:nvSpPr>
          <p:cNvPr id="29" name="voice-text">
            <a:extLst xmlns:a="http://schemas.openxmlformats.org/drawingml/2006/main">
              <a:ext uri="{FF2B5EF4-FFF2-40B4-BE49-F238E27FC236}">
                <a16:creationId xmlns:a16="http://schemas.microsoft.com/office/drawing/2014/main" id="{EF852CB1-E72D-441C-B728-7DE28B29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F541A"/>
                </a:solidFill>
              </a:defRPr>
            </a:pPr>
            <a:r>
              <a:rPr sz="1800" b="1">
                <a:solidFill>
                  <a:srgbClr val="9F541A"/>
                </a:solidFill>
              </a:rPr>
              <a:t>GENERACIÓN VOCAL</a:t>
            </a:r>
          </a:p>
        </p:txBody>
      </p:sp>
      <p:sp>
        <p:nvSpPr>
          <p:cNvPr id="30" name="speaker-text">
            <a:extLst xmlns:a="http://schemas.openxmlformats.org/drawingml/2006/main">
              <a:ext uri="{FF2B5EF4-FFF2-40B4-BE49-F238E27FC236}">
                <a16:creationId xmlns:a16="http://schemas.microsoft.com/office/drawing/2014/main" id="{CA3FE816-9DEA-495E-AB5F-A8C33752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E83"/>
                </a:solidFill>
              </a:defRPr>
            </a:pPr>
            <a:r>
              <a:rPr sz="1800" b="1">
                <a:solidFill>
                  <a:srgbClr val="2F7E83"/>
                </a:solidFill>
              </a:rPr>
              <a:t>GENERACIÓN ELECTROACÚSTICA</a:t>
            </a:r>
          </a:p>
        </p:txBody>
      </p:sp>
    </p:spTree>
    <p:extLst>
      <p:ext uri="{BB962C8B-B14F-4D97-AF65-F5344CB8AC3E}">
        <p14:creationId xmlns:p14="http://schemas.microsoft.com/office/powerpoint/2010/main" val="7224056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U04-DG-005-N1-frame">
            <a:extLst xmlns:a="http://schemas.openxmlformats.org/drawingml/2006/main">
              <a:ext uri="{FF2B5EF4-FFF2-40B4-BE49-F238E27FC236}">
                <a16:creationId xmlns:a16="http://schemas.microsoft.com/office/drawing/2014/main" id="{FAE1E2E6-39D1-4F8F-AF08-5BEB8E9E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80975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2" name="U04-DG-005-N2-frame">
            <a:extLst xmlns:a="http://schemas.openxmlformats.org/drawingml/2006/main">
              <a:ext uri="{FF2B5EF4-FFF2-40B4-BE49-F238E27FC236}">
                <a16:creationId xmlns:a16="http://schemas.microsoft.com/office/drawing/2014/main" id="{DF416717-0756-4D94-A95E-FA06DBEB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3" y="2286000"/>
            <a:ext cx="180975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U04-DG-005-N3-frame">
            <a:extLst xmlns:a="http://schemas.openxmlformats.org/drawingml/2006/main">
              <a:ext uri="{FF2B5EF4-FFF2-40B4-BE49-F238E27FC236}">
                <a16:creationId xmlns:a16="http://schemas.microsoft.com/office/drawing/2014/main" id="{A191E18D-4310-454B-9F5B-F8BBC42D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86000"/>
            <a:ext cx="180975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U04-DG-005-N4-frame">
            <a:extLst xmlns:a="http://schemas.openxmlformats.org/drawingml/2006/main">
              <a:ext uri="{FF2B5EF4-FFF2-40B4-BE49-F238E27FC236}">
                <a16:creationId xmlns:a16="http://schemas.microsoft.com/office/drawing/2014/main" id="{61063F3E-5576-4C08-9265-0BCF96F3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688" y="2286000"/>
            <a:ext cx="180975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5" name="U04-DG-005-N5-frame">
            <a:extLst xmlns:a="http://schemas.openxmlformats.org/drawingml/2006/main">
              <a:ext uri="{FF2B5EF4-FFF2-40B4-BE49-F238E27FC236}">
                <a16:creationId xmlns:a16="http://schemas.microsoft.com/office/drawing/2014/main" id="{EFF5B7C3-676B-41AF-9A78-CA93A8B5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86000"/>
            <a:ext cx="180975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cxnSp>
        <p:nvCxnSpPr>
          <p:cNvPr id="22" name="U04-DG-005-edge-U04-DG-005-N1-U04-DG-005-N2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2571750" y="2928938"/>
            <a:ext cx="404813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D14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3" name="U04-DG-005-edge-U04-DG-005-N2-U04-DG-005-N3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786313" y="2928938"/>
            <a:ext cx="404812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F7E8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4" name="U04-DG-005-edge-U04-DG-005-N3-U04-DG-005-N4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7000875" y="2928938"/>
            <a:ext cx="404813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D14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5" name="U04-DG-005-edge-U04-DG-005-N4-U04-DG-005-N5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9215438" y="2928938"/>
            <a:ext cx="404812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" name="U04-DG-005-N1-text">
            <a:extLst xmlns:a="http://schemas.openxmlformats.org/drawingml/2006/main">
              <a:ext uri="{FF2B5EF4-FFF2-40B4-BE49-F238E27FC236}">
                <a16:creationId xmlns:a16="http://schemas.microsoft.com/office/drawing/2014/main" id="{D35E478D-DDD3-4A71-A237-F62780FF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14668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Compresión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local</a:t>
            </a:r>
          </a:p>
        </p:txBody>
      </p:sp>
      <p:sp>
        <p:nvSpPr>
          <p:cNvPr id="11" name="U04-DG-005-N2-text">
            <a:extLst xmlns:a="http://schemas.openxmlformats.org/drawingml/2006/main">
              <a:ext uri="{FF2B5EF4-FFF2-40B4-BE49-F238E27FC236}">
                <a16:creationId xmlns:a16="http://schemas.microsoft.com/office/drawing/2014/main" id="{D886B435-AFB5-4A86-8980-61862B3A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013" y="2457450"/>
            <a:ext cx="14668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Fuerza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restauradora</a:t>
            </a:r>
          </a:p>
        </p:txBody>
      </p:sp>
      <p:sp>
        <p:nvSpPr>
          <p:cNvPr id="12" name="U04-DG-005-N3-text">
            <a:extLst xmlns:a="http://schemas.openxmlformats.org/drawingml/2006/main">
              <a:ext uri="{FF2B5EF4-FFF2-40B4-BE49-F238E27FC236}">
                <a16:creationId xmlns:a16="http://schemas.microsoft.com/office/drawing/2014/main" id="{9C5E880B-95CB-4F24-B70A-D424ADA0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457450"/>
            <a:ext cx="14668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Movimiento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local</a:t>
            </a:r>
          </a:p>
        </p:txBody>
      </p:sp>
      <p:sp>
        <p:nvSpPr>
          <p:cNvPr id="13" name="U04-DG-005-N4-text">
            <a:extLst xmlns:a="http://schemas.openxmlformats.org/drawingml/2006/main">
              <a:ext uri="{FF2B5EF4-FFF2-40B4-BE49-F238E27FC236}">
                <a16:creationId xmlns:a16="http://schemas.microsoft.com/office/drawing/2014/main" id="{2D884D6F-B244-4D7E-A293-F20F7BF7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7138" y="2457450"/>
            <a:ext cx="14668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Nueva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compresión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vecina</a:t>
            </a:r>
          </a:p>
        </p:txBody>
      </p:sp>
      <p:sp>
        <p:nvSpPr>
          <p:cNvPr id="14" name="U04-DG-005-N5-text">
            <a:extLst xmlns:a="http://schemas.openxmlformats.org/drawingml/2006/main">
              <a:ext uri="{FF2B5EF4-FFF2-40B4-BE49-F238E27FC236}">
                <a16:creationId xmlns:a16="http://schemas.microsoft.com/office/drawing/2014/main" id="{CC38E5AD-E81C-449F-9D4F-D0158F19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57450"/>
            <a:ext cx="14668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Avance del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frente</a:t>
            </a:r>
          </a:p>
        </p:txBody>
      </p:sp>
      <p:sp>
        <p:nvSpPr>
          <p:cNvPr id="15" name="legend-text">
            <a:extLst xmlns:a="http://schemas.openxmlformats.org/drawingml/2006/main">
              <a:ext uri="{FF2B5EF4-FFF2-40B4-BE49-F238E27FC236}">
                <a16:creationId xmlns:a16="http://schemas.microsoft.com/office/drawing/2014/main" id="{D4C915F7-9590-4EA7-A8D7-6AE8FD97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7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A2E"/>
                </a:solidFill>
              </a:defRPr>
            </a:pPr>
            <a:r>
              <a:rPr sz="1650" b="0">
                <a:solidFill>
                  <a:srgbClr val="242A2E"/>
                </a:solidFill>
              </a:rPr>
              <a:t>bordó: fuerza · teal: movimiento local · gris: propagación</a:t>
            </a:r>
          </a:p>
        </p:txBody>
      </p:sp>
      <p:sp>
        <p:nvSpPr>
          <p:cNvPr id="16" name="U04-DG-005-scale-text">
            <a:extLst xmlns:a="http://schemas.openxmlformats.org/drawingml/2006/main">
              <a:ext uri="{FF2B5EF4-FFF2-40B4-BE49-F238E27FC236}">
                <a16:creationId xmlns:a16="http://schemas.microsoft.com/office/drawing/2014/main" id="{2AFEEACC-02B0-4D66-B49C-72B4208E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103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69FA7"/>
                </a:solidFill>
              </a:defRPr>
            </a:pPr>
            <a:r>
              <a:rPr sz="1350" b="1">
                <a:solidFill>
                  <a:srgbClr val="969FA7"/>
                </a:solidFill>
              </a:rPr>
              <a:t>FIGURA NO A ESCALA</a:t>
            </a:r>
          </a:p>
        </p:txBody>
      </p:sp>
    </p:spTree>
    <p:extLst>
      <p:ext uri="{BB962C8B-B14F-4D97-AF65-F5344CB8AC3E}">
        <p14:creationId xmlns:p14="http://schemas.microsoft.com/office/powerpoint/2010/main" val="3938155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U04-DG-006-EQ-frame">
            <a:extLst xmlns:a="http://schemas.openxmlformats.org/drawingml/2006/main">
              <a:ext uri="{FF2B5EF4-FFF2-40B4-BE49-F238E27FC236}">
                <a16:creationId xmlns:a16="http://schemas.microsoft.com/office/drawing/2014/main" id="{D33115CF-C9EE-4029-A0B6-0BF1443F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33625"/>
            <a:ext cx="590550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2" name="U04-DG-006-A1-frame">
            <a:extLst xmlns:a="http://schemas.openxmlformats.org/drawingml/2006/main">
              <a:ext uri="{FF2B5EF4-FFF2-40B4-BE49-F238E27FC236}">
                <a16:creationId xmlns:a16="http://schemas.microsoft.com/office/drawing/2014/main" id="{4F6F5408-0AAC-4E44-88D5-D3F8CDC9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400300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</p:sp>
      <p:sp>
        <p:nvSpPr>
          <p:cNvPr id="3" name="U04-DG-006-A2-frame">
            <a:extLst xmlns:a="http://schemas.openxmlformats.org/drawingml/2006/main">
              <a:ext uri="{FF2B5EF4-FFF2-40B4-BE49-F238E27FC236}">
                <a16:creationId xmlns:a16="http://schemas.microsoft.com/office/drawing/2014/main" id="{D1FEA450-42C9-43FB-A691-FC6C8CB6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00300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</p:sp>
      <p:sp>
        <p:nvSpPr>
          <p:cNvPr id="4" name="U04-DG-006-A3-frame">
            <a:extLst xmlns:a="http://schemas.openxmlformats.org/drawingml/2006/main">
              <a:ext uri="{FF2B5EF4-FFF2-40B4-BE49-F238E27FC236}">
                <a16:creationId xmlns:a16="http://schemas.microsoft.com/office/drawing/2014/main" id="{267BA025-739B-4E73-A990-C2E366C9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76625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</p:sp>
      <p:sp>
        <p:nvSpPr>
          <p:cNvPr id="5" name="U04-DG-006-A4-frame">
            <a:extLst xmlns:a="http://schemas.openxmlformats.org/drawingml/2006/main">
              <a:ext uri="{FF2B5EF4-FFF2-40B4-BE49-F238E27FC236}">
                <a16:creationId xmlns:a16="http://schemas.microsoft.com/office/drawing/2014/main" id="{6ECC1982-CF09-4DE1-91C3-760F5F0D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76625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</p:sp>
      <p:sp>
        <p:nvSpPr>
          <p:cNvPr id="6" name="U04-DG-006-C1-frame">
            <a:extLst xmlns:a="http://schemas.openxmlformats.org/drawingml/2006/main">
              <a:ext uri="{FF2B5EF4-FFF2-40B4-BE49-F238E27FC236}">
                <a16:creationId xmlns:a16="http://schemas.microsoft.com/office/drawing/2014/main" id="{617C2447-347C-45D3-BD8D-5A7EF59F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09625"/>
            <a:ext cx="24765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U04-DG-006-C2-frame">
            <a:extLst xmlns:a="http://schemas.openxmlformats.org/drawingml/2006/main">
              <a:ext uri="{FF2B5EF4-FFF2-40B4-BE49-F238E27FC236}">
                <a16:creationId xmlns:a16="http://schemas.microsoft.com/office/drawing/2014/main" id="{D6A22233-9D4E-4583-AE17-0551E4EC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809625"/>
            <a:ext cx="24765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8" name="U04-DG-006-C3-frame">
            <a:extLst xmlns:a="http://schemas.openxmlformats.org/drawingml/2006/main">
              <a:ext uri="{FF2B5EF4-FFF2-40B4-BE49-F238E27FC236}">
                <a16:creationId xmlns:a16="http://schemas.microsoft.com/office/drawing/2014/main" id="{2619C895-DAE5-4775-B164-E17B6817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24765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U04-DG-006-C4-frame">
            <a:extLst xmlns:a="http://schemas.openxmlformats.org/drawingml/2006/main">
              <a:ext uri="{FF2B5EF4-FFF2-40B4-BE49-F238E27FC236}">
                <a16:creationId xmlns:a16="http://schemas.microsoft.com/office/drawing/2014/main" id="{E2F45561-F493-4445-8B9D-F0B61694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286250"/>
            <a:ext cx="24765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U04-DG-006-B1-frame">
            <a:extLst xmlns:a="http://schemas.openxmlformats.org/drawingml/2006/main">
              <a:ext uri="{FF2B5EF4-FFF2-40B4-BE49-F238E27FC236}">
                <a16:creationId xmlns:a16="http://schemas.microsoft.com/office/drawing/2014/main" id="{469F2702-5FFD-4711-9281-E2B66BF8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67250"/>
            <a:ext cx="26670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1" name="U04-DG-006-B2-frame">
            <a:extLst xmlns:a="http://schemas.openxmlformats.org/drawingml/2006/main">
              <a:ext uri="{FF2B5EF4-FFF2-40B4-BE49-F238E27FC236}">
                <a16:creationId xmlns:a16="http://schemas.microsoft.com/office/drawing/2014/main" id="{863D5892-1B88-40F9-AA85-88381569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26670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5" name="U04-DG-006-edge-U04-DG-006-C1-U04-DG-006-A1"/>
          <p:cNvCxnSpPr>
            <a:stCxn xmlns:a="http://schemas.openxmlformats.org/drawingml/2006/main" id="6" idx="2"/>
            <a:endCxn xmlns:a="http://schemas.openxmlformats.org/drawingml/2006/main" id="2" idx="0"/>
          </p:cNvCxnSpPr>
          <p:nvPr/>
        </p:nvCxnSpPr>
        <p:spPr>
          <a:xfrm xmlns:a="http://schemas.openxmlformats.org/drawingml/2006/main">
            <a:off x="1952625" y="2009775"/>
            <a:ext cx="3543300" cy="390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2F7E83"/>
            </a:solidFill>
            <a:prstDash val="solid"/>
            <a:headEnd type="none" w="med" len="med"/>
            <a:tailEnd type="none" w="sm" len="sm"/>
          </a:ln>
        </p:spPr>
      </p:cxnSp>
      <p:cxnSp>
        <p:nvCxnSpPr>
          <p:cNvPr id="36" name="U04-DG-006-edge-U04-DG-006-C2-U04-DG-006-A2"/>
          <p:cNvCxnSpPr>
            <a:stCxn xmlns:a="http://schemas.openxmlformats.org/drawingml/2006/main" id="7" idx="2"/>
            <a:endCxn xmlns:a="http://schemas.openxmlformats.org/drawingml/2006/main" id="3" idx="0"/>
          </p:cNvCxnSpPr>
          <p:nvPr/>
        </p:nvCxnSpPr>
        <p:spPr>
          <a:xfrm xmlns:a="http://schemas.openxmlformats.org/drawingml/2006/main" flipH="1">
            <a:off x="6734175" y="2009775"/>
            <a:ext cx="3505200" cy="390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2F7E83"/>
            </a:solidFill>
            <a:prstDash val="solid"/>
            <a:headEnd type="none" w="med" len="med"/>
            <a:tailEnd type="none" w="sm" len="sm"/>
          </a:ln>
        </p:spPr>
      </p:cxnSp>
      <p:cxnSp>
        <p:nvCxnSpPr>
          <p:cNvPr id="37" name="U04-DG-006-edge-U04-DG-006-C3-U04-DG-006-A3"/>
          <p:cNvCxnSpPr>
            <a:stCxn xmlns:a="http://schemas.openxmlformats.org/drawingml/2006/main" id="8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1952625" y="3514725"/>
            <a:ext cx="2924175" cy="771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9F541A"/>
            </a:solidFill>
            <a:prstDash val="solid"/>
            <a:headEnd type="none" w="med" len="med"/>
            <a:tailEnd type="none" w="sm" len="sm"/>
          </a:ln>
        </p:spPr>
      </p:cxnSp>
      <p:cxnSp>
        <p:nvCxnSpPr>
          <p:cNvPr id="38" name="U04-DG-006-edge-U04-DG-006-C4-U04-DG-006-A4"/>
          <p:cNvCxnSpPr>
            <a:stCxn xmlns:a="http://schemas.openxmlformats.org/drawingml/2006/main" id="9" idx="0"/>
            <a:endCxn xmlns:a="http://schemas.openxmlformats.org/drawingml/2006/main" id="5" idx="2"/>
          </p:cNvCxnSpPr>
          <p:nvPr/>
        </p:nvCxnSpPr>
        <p:spPr>
          <a:xfrm xmlns:a="http://schemas.openxmlformats.org/drawingml/2006/main" flipH="1" flipV="1">
            <a:off x="7496175" y="3514725"/>
            <a:ext cx="2743200" cy="771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9F541A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16" name="U04-DG-006-EQ-text">
            <a:extLst xmlns:a="http://schemas.openxmlformats.org/drawingml/2006/main">
              <a:ext uri="{FF2B5EF4-FFF2-40B4-BE49-F238E27FC236}">
                <a16:creationId xmlns:a16="http://schemas.microsoft.com/office/drawing/2014/main" id="{49A578B6-BF95-44E3-A1A7-22C5051F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05075"/>
            <a:ext cx="5562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42A2E"/>
                </a:solidFill>
              </a:defRPr>
            </a:pPr>
            <a:r>
              <a:rPr sz="3000" b="1">
                <a:solidFill>
                  <a:srgbClr val="242A2E"/>
                </a:solidFill>
              </a:rPr>
              <a:t>c = √(Kₛ / ρ)</a:t>
            </a:r>
          </a:p>
        </p:txBody>
      </p:sp>
      <p:sp>
        <p:nvSpPr>
          <p:cNvPr id="17" name="U04-DG-006-C1-text">
            <a:extLst xmlns:a="http://schemas.openxmlformats.org/drawingml/2006/main">
              <a:ext uri="{FF2B5EF4-FFF2-40B4-BE49-F238E27FC236}">
                <a16:creationId xmlns:a16="http://schemas.microsoft.com/office/drawing/2014/main" id="{BEAF5C41-02F2-41BC-BF36-E705DAB3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981075"/>
            <a:ext cx="2133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Kₛ ↑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mayor rigidez</a:t>
            </a:r>
          </a:p>
        </p:txBody>
      </p:sp>
      <p:sp>
        <p:nvSpPr>
          <p:cNvPr id="18" name="U04-DG-006-C2-text">
            <a:extLst xmlns:a="http://schemas.openxmlformats.org/drawingml/2006/main">
              <a:ext uri="{FF2B5EF4-FFF2-40B4-BE49-F238E27FC236}">
                <a16:creationId xmlns:a16="http://schemas.microsoft.com/office/drawing/2014/main" id="{0B298470-E8B4-4D86-A1B3-50AF9958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981075"/>
            <a:ext cx="2133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ρ ↑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mayor inercia</a:t>
            </a:r>
          </a:p>
        </p:txBody>
      </p:sp>
      <p:sp>
        <p:nvSpPr>
          <p:cNvPr id="19" name="U04-DG-006-C3-text">
            <a:extLst xmlns:a="http://schemas.openxmlformats.org/drawingml/2006/main">
              <a:ext uri="{FF2B5EF4-FFF2-40B4-BE49-F238E27FC236}">
                <a16:creationId xmlns:a16="http://schemas.microsoft.com/office/drawing/2014/main" id="{ED50DB4F-26D7-40C4-B23C-70C0E0A1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57700"/>
            <a:ext cx="2133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Fluido homogéneo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pequeñas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perturbaciones</a:t>
            </a:r>
          </a:p>
        </p:txBody>
      </p:sp>
      <p:sp>
        <p:nvSpPr>
          <p:cNvPr id="20" name="U04-DG-006-C4-text">
            <a:extLst xmlns:a="http://schemas.openxmlformats.org/drawingml/2006/main">
              <a:ext uri="{FF2B5EF4-FFF2-40B4-BE49-F238E27FC236}">
                <a16:creationId xmlns:a16="http://schemas.microsoft.com/office/drawing/2014/main" id="{5FB70D26-9ACC-49B4-8AE6-E8E3B82D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457700"/>
            <a:ext cx="2133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No comparar medios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con una sola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variable</a:t>
            </a:r>
          </a:p>
        </p:txBody>
      </p:sp>
      <p:sp>
        <p:nvSpPr>
          <p:cNvPr id="21" name="U04-DG-006-B1-text">
            <a:extLst xmlns:a="http://schemas.openxmlformats.org/drawingml/2006/main">
              <a:ext uri="{FF2B5EF4-FFF2-40B4-BE49-F238E27FC236}">
                <a16:creationId xmlns:a16="http://schemas.microsoft.com/office/drawing/2014/main" id="{357396ED-4907-4638-BB65-B6A09221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38700"/>
            <a:ext cx="2324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Medio 1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f fija · c₁ · λ₁</a:t>
            </a:r>
          </a:p>
        </p:txBody>
      </p:sp>
      <p:sp>
        <p:nvSpPr>
          <p:cNvPr id="22" name="U04-DG-006-B2-text">
            <a:extLst xmlns:a="http://schemas.openxmlformats.org/drawingml/2006/main">
              <a:ext uri="{FF2B5EF4-FFF2-40B4-BE49-F238E27FC236}">
                <a16:creationId xmlns:a16="http://schemas.microsoft.com/office/drawing/2014/main" id="{2A03FDFE-6932-4850-89AB-F0984A23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38700"/>
            <a:ext cx="2324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Medio 2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f fija · c₂ · λ₂</a:t>
            </a:r>
          </a:p>
        </p:txBody>
      </p:sp>
      <p:sp>
        <p:nvSpPr>
          <p:cNvPr id="23" name="lam-text">
            <a:extLst xmlns:a="http://schemas.openxmlformats.org/drawingml/2006/main">
              <a:ext uri="{FF2B5EF4-FFF2-40B4-BE49-F238E27FC236}">
                <a16:creationId xmlns:a16="http://schemas.microsoft.com/office/drawing/2014/main" id="{7021D8F2-EFF6-4B1C-B35F-AA11B647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8102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λ = c / f</a:t>
            </a:r>
          </a:p>
        </p:txBody>
      </p:sp>
    </p:spTree>
    <p:extLst>
      <p:ext uri="{BB962C8B-B14F-4D97-AF65-F5344CB8AC3E}">
        <p14:creationId xmlns:p14="http://schemas.microsoft.com/office/powerpoint/2010/main" val="1874829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ield-frame">
            <a:extLst xmlns:a="http://schemas.openxmlformats.org/drawingml/2006/main">
              <a:ext uri="{FF2B5EF4-FFF2-40B4-BE49-F238E27FC236}">
                <a16:creationId xmlns:a16="http://schemas.microsoft.com/office/drawing/2014/main" id="{D28CD9BC-65C1-4C4E-ADD6-BCB2111F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33500"/>
            <a:ext cx="3333750" cy="361950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2" name="press-frame">
            <a:extLst xmlns:a="http://schemas.openxmlformats.org/drawingml/2006/main">
              <a:ext uri="{FF2B5EF4-FFF2-40B4-BE49-F238E27FC236}">
                <a16:creationId xmlns:a16="http://schemas.microsoft.com/office/drawing/2014/main" id="{40216D8E-DF4A-4578-84D7-49B49567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333500"/>
            <a:ext cx="3333750" cy="361950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speed-frame">
            <a:extLst xmlns:a="http://schemas.openxmlformats.org/drawingml/2006/main">
              <a:ext uri="{FF2B5EF4-FFF2-40B4-BE49-F238E27FC236}">
                <a16:creationId xmlns:a16="http://schemas.microsoft.com/office/drawing/2014/main" id="{C4A213EE-E34E-4E46-B4A0-5BB97207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333500"/>
            <a:ext cx="3333750" cy="361950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4" name="field-text">
            <a:extLst xmlns:a="http://schemas.openxmlformats.org/drawingml/2006/main">
              <a:ext uri="{FF2B5EF4-FFF2-40B4-BE49-F238E27FC236}">
                <a16:creationId xmlns:a16="http://schemas.microsoft.com/office/drawing/2014/main" id="{26346177-F3EB-438D-AFBD-6B277C61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04950"/>
            <a:ext cx="29908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CAMPO ACÚSTICO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p(r,t)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u(r,t)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I(r,t)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Dos puntos pueden tener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valores diferentes.</a:t>
            </a:r>
          </a:p>
        </p:txBody>
      </p:sp>
      <p:sp>
        <p:nvSpPr>
          <p:cNvPr id="5" name="press-text">
            <a:extLst xmlns:a="http://schemas.openxmlformats.org/drawingml/2006/main">
              <a:ext uri="{FF2B5EF4-FFF2-40B4-BE49-F238E27FC236}">
                <a16:creationId xmlns:a16="http://schemas.microsoft.com/office/drawing/2014/main" id="{2F124255-9AEB-4A27-B441-D0F2900E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504950"/>
            <a:ext cx="29908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PRESIÓN ACÚSTICA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p_total = p₀ + 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p &gt; 0: sobrepresión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p &lt; 0: rarefacción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p_total sigue positiva.</a:t>
            </a:r>
          </a:p>
        </p:txBody>
      </p:sp>
      <p:sp>
        <p:nvSpPr>
          <p:cNvPr id="6" name="speed-text">
            <a:extLst xmlns:a="http://schemas.openxmlformats.org/drawingml/2006/main">
              <a:ext uri="{FF2B5EF4-FFF2-40B4-BE49-F238E27FC236}">
                <a16:creationId xmlns:a16="http://schemas.microsoft.com/office/drawing/2014/main" id="{3E4ECDCA-06B2-408B-A257-5946D533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504950"/>
            <a:ext cx="29908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DOS VELOCIDADES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u: movimiento local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c: avance de la onda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Ambas: m/s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No son la misma magnitud.</a:t>
            </a:r>
          </a:p>
        </p:txBody>
      </p:sp>
    </p:spTree>
    <p:extLst>
      <p:ext uri="{BB962C8B-B14F-4D97-AF65-F5344CB8AC3E}">
        <p14:creationId xmlns:p14="http://schemas.microsoft.com/office/powerpoint/2010/main" val="10352920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m1-frame">
            <a:extLst xmlns:a="http://schemas.openxmlformats.org/drawingml/2006/main">
              <a:ext uri="{FF2B5EF4-FFF2-40B4-BE49-F238E27FC236}">
                <a16:creationId xmlns:a16="http://schemas.microsoft.com/office/drawing/2014/main" id="{9A5B1BD1-2E70-4A94-BF1C-1100AABC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33500"/>
            <a:ext cx="4095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2" name="int-frame">
            <a:extLst xmlns:a="http://schemas.openxmlformats.org/drawingml/2006/main">
              <a:ext uri="{FF2B5EF4-FFF2-40B4-BE49-F238E27FC236}">
                <a16:creationId xmlns:a16="http://schemas.microsoft.com/office/drawing/2014/main" id="{B142A1BB-1094-4FB5-BF80-7D1400DA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095375"/>
            <a:ext cx="952500" cy="37147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m2-frame">
            <a:extLst xmlns:a="http://schemas.openxmlformats.org/drawingml/2006/main">
              <a:ext uri="{FF2B5EF4-FFF2-40B4-BE49-F238E27FC236}">
                <a16:creationId xmlns:a16="http://schemas.microsoft.com/office/drawing/2014/main" id="{CA00AC59-2FE1-4B51-AA11-72B54063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333500"/>
            <a:ext cx="5619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19" name="U04-DG-008-edge-m1-int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4714875" y="295275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F7E8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0" name="U04-DG-008-edge-int-m2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5810250" y="295275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F541A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6" name="m1-text">
            <a:extLst xmlns:a="http://schemas.openxmlformats.org/drawingml/2006/main">
              <a:ext uri="{FF2B5EF4-FFF2-40B4-BE49-F238E27FC236}">
                <a16:creationId xmlns:a16="http://schemas.microsoft.com/office/drawing/2014/main" id="{638E5E4C-4007-4F90-B957-3EA884E9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04950"/>
            <a:ext cx="37528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MEDIO 1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Z₀₁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onda incidente →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← onda reflejada</a:t>
            </a:r>
          </a:p>
        </p:txBody>
      </p:sp>
      <p:sp>
        <p:nvSpPr>
          <p:cNvPr id="7" name="int-text">
            <a:extLst xmlns:a="http://schemas.openxmlformats.org/drawingml/2006/main">
              <a:ext uri="{FF2B5EF4-FFF2-40B4-BE49-F238E27FC236}">
                <a16:creationId xmlns:a16="http://schemas.microsoft.com/office/drawing/2014/main" id="{28F36D72-1307-4100-9A70-80A08D89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266825"/>
            <a:ext cx="6096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m2-text">
            <a:extLst xmlns:a="http://schemas.openxmlformats.org/drawingml/2006/main">
              <a:ext uri="{FF2B5EF4-FFF2-40B4-BE49-F238E27FC236}">
                <a16:creationId xmlns:a16="http://schemas.microsoft.com/office/drawing/2014/main" id="{5CBA754C-4181-41AF-920C-B55A2A31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504950"/>
            <a:ext cx="52768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MEDIO 2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Z₀₂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onda transmitida →</a:t>
            </a:r>
          </a:p>
        </p:txBody>
      </p:sp>
      <p:sp>
        <p:nvSpPr>
          <p:cNvPr id="9" name="U04-DG-008-label-m1-int-text">
            <a:extLst xmlns:a="http://schemas.openxmlformats.org/drawingml/2006/main">
              <a:ext uri="{FF2B5EF4-FFF2-40B4-BE49-F238E27FC236}">
                <a16:creationId xmlns:a16="http://schemas.microsoft.com/office/drawing/2014/main" id="{15E93264-F4EF-4975-BE07-4F4D00F5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688" y="24955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7E83"/>
                </a:solidFill>
              </a:defRPr>
            </a:pPr>
            <a:r>
              <a:rPr sz="1575" b="1">
                <a:solidFill>
                  <a:srgbClr val="2F7E83"/>
                </a:solidFill>
              </a:rPr>
              <a:t>incidente</a:t>
            </a:r>
          </a:p>
        </p:txBody>
      </p:sp>
      <p:sp>
        <p:nvSpPr>
          <p:cNvPr id="10" name="U04-DG-008-label-int-m2-text">
            <a:extLst xmlns:a="http://schemas.openxmlformats.org/drawingml/2006/main">
              <a:ext uri="{FF2B5EF4-FFF2-40B4-BE49-F238E27FC236}">
                <a16:creationId xmlns:a16="http://schemas.microsoft.com/office/drawing/2014/main" id="{18BE4645-4CDB-4E23-B9AC-85C9A17B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24955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F541A"/>
                </a:solidFill>
              </a:defRPr>
            </a:pPr>
            <a:r>
              <a:rPr sz="1575" b="1">
                <a:solidFill>
                  <a:srgbClr val="9F541A"/>
                </a:solidFill>
              </a:rPr>
              <a:t>transmitida</a:t>
            </a:r>
          </a:p>
        </p:txBody>
      </p:sp>
      <p:sp>
        <p:nvSpPr>
          <p:cNvPr id="11" name="intLabel-text">
            <a:extLst xmlns:a="http://schemas.openxmlformats.org/drawingml/2006/main">
              <a:ext uri="{FF2B5EF4-FFF2-40B4-BE49-F238E27FC236}">
                <a16:creationId xmlns:a16="http://schemas.microsoft.com/office/drawing/2014/main" id="{50A87277-0774-4FAB-AD18-50ADDF88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77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D1434"/>
                </a:solidFill>
              </a:defRPr>
            </a:pPr>
            <a:r>
              <a:rPr sz="1650" b="1">
                <a:solidFill>
                  <a:srgbClr val="4D1434"/>
                </a:solidFill>
              </a:rPr>
              <a:t>INTERFAZ</a:t>
            </a:r>
          </a:p>
        </p:txBody>
      </p:sp>
      <p:sp>
        <p:nvSpPr>
          <p:cNvPr id="12" name="eqz-text">
            <a:extLst xmlns:a="http://schemas.openxmlformats.org/drawingml/2006/main">
              <a:ext uri="{FF2B5EF4-FFF2-40B4-BE49-F238E27FC236}">
                <a16:creationId xmlns:a16="http://schemas.microsoft.com/office/drawing/2014/main" id="{D6662750-1134-4F91-B16A-CCEECE60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482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Z₀ = p/u = ρc</a:t>
            </a:r>
          </a:p>
        </p:txBody>
      </p:sp>
      <p:sp>
        <p:nvSpPr>
          <p:cNvPr id="13" name="eqr-text">
            <a:extLst xmlns:a="http://schemas.openxmlformats.org/drawingml/2006/main">
              <a:ext uri="{FF2B5EF4-FFF2-40B4-BE49-F238E27FC236}">
                <a16:creationId xmlns:a16="http://schemas.microsoft.com/office/drawing/2014/main" id="{37E392E5-004C-4BD9-B0CE-67AECDCC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482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D1434"/>
                </a:solidFill>
              </a:defRPr>
            </a:pPr>
            <a:r>
              <a:rPr sz="2325" b="1">
                <a:solidFill>
                  <a:srgbClr val="4D1434"/>
                </a:solidFill>
              </a:rPr>
              <a:t>Rₚ = (Z₀₂−Z₀₁)/(Z₀₂+Z₀₁)</a:t>
            </a:r>
          </a:p>
        </p:txBody>
      </p:sp>
      <p:sp>
        <p:nvSpPr>
          <p:cNvPr id="14" name="note-text">
            <a:extLst xmlns:a="http://schemas.openxmlformats.org/drawingml/2006/main">
              <a:ext uri="{FF2B5EF4-FFF2-40B4-BE49-F238E27FC236}">
                <a16:creationId xmlns:a16="http://schemas.microsoft.com/office/drawing/2014/main" id="{089CC70C-EE4E-40D3-A813-C45FDCC2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10250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Longitud de flecha no representa amplitud.</a:t>
            </a:r>
          </a:p>
        </p:txBody>
      </p:sp>
      <p:sp>
        <p:nvSpPr>
          <p:cNvPr id="15" name="U04-DG-008-scale-text">
            <a:extLst xmlns:a="http://schemas.openxmlformats.org/drawingml/2006/main">
              <a:ext uri="{FF2B5EF4-FFF2-40B4-BE49-F238E27FC236}">
                <a16:creationId xmlns:a16="http://schemas.microsoft.com/office/drawing/2014/main" id="{7498300E-64C4-47ED-897E-322428C3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103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69FA7"/>
                </a:solidFill>
              </a:defRPr>
            </a:pPr>
            <a:r>
              <a:rPr sz="1350" b="1">
                <a:solidFill>
                  <a:srgbClr val="969FA7"/>
                </a:solidFill>
              </a:rPr>
              <a:t>FIGURA NO A ESCALA</a:t>
            </a:r>
          </a:p>
        </p:txBody>
      </p:sp>
    </p:spTree>
    <p:extLst>
      <p:ext uri="{BB962C8B-B14F-4D97-AF65-F5344CB8AC3E}">
        <p14:creationId xmlns:p14="http://schemas.microsoft.com/office/powerpoint/2010/main" val="15125605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U04-DG-009-EQ-frame">
            <a:extLst xmlns:a="http://schemas.openxmlformats.org/drawingml/2006/main">
              <a:ext uri="{FF2B5EF4-FFF2-40B4-BE49-F238E27FC236}">
                <a16:creationId xmlns:a16="http://schemas.microsoft.com/office/drawing/2014/main" id="{17F40BB9-9A1A-41B1-851E-C9B6959B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33625"/>
            <a:ext cx="590550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2" name="U04-DG-009-A1-frame">
            <a:extLst xmlns:a="http://schemas.openxmlformats.org/drawingml/2006/main">
              <a:ext uri="{FF2B5EF4-FFF2-40B4-BE49-F238E27FC236}">
                <a16:creationId xmlns:a16="http://schemas.microsoft.com/office/drawing/2014/main" id="{6A289005-A72D-46D7-9D02-88C22BA0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400300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</p:sp>
      <p:sp>
        <p:nvSpPr>
          <p:cNvPr id="3" name="U04-DG-009-A2-frame">
            <a:extLst xmlns:a="http://schemas.openxmlformats.org/drawingml/2006/main">
              <a:ext uri="{FF2B5EF4-FFF2-40B4-BE49-F238E27FC236}">
                <a16:creationId xmlns:a16="http://schemas.microsoft.com/office/drawing/2014/main" id="{51CEF8FC-A004-485A-A8C5-BF626246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00300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</p:sp>
      <p:sp>
        <p:nvSpPr>
          <p:cNvPr id="4" name="U04-DG-009-A3-frame">
            <a:extLst xmlns:a="http://schemas.openxmlformats.org/drawingml/2006/main">
              <a:ext uri="{FF2B5EF4-FFF2-40B4-BE49-F238E27FC236}">
                <a16:creationId xmlns:a16="http://schemas.microsoft.com/office/drawing/2014/main" id="{9F39AC42-9B96-47B1-8D57-AB2E8BD4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76625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</p:sp>
      <p:sp>
        <p:nvSpPr>
          <p:cNvPr id="5" name="U04-DG-009-A4-frame">
            <a:extLst xmlns:a="http://schemas.openxmlformats.org/drawingml/2006/main">
              <a:ext uri="{FF2B5EF4-FFF2-40B4-BE49-F238E27FC236}">
                <a16:creationId xmlns:a16="http://schemas.microsoft.com/office/drawing/2014/main" id="{028C4D6C-791D-4E28-8848-EB4F8150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76625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</p:sp>
      <p:sp>
        <p:nvSpPr>
          <p:cNvPr id="6" name="U04-DG-009-C1-frame">
            <a:extLst xmlns:a="http://schemas.openxmlformats.org/drawingml/2006/main">
              <a:ext uri="{FF2B5EF4-FFF2-40B4-BE49-F238E27FC236}">
                <a16:creationId xmlns:a16="http://schemas.microsoft.com/office/drawing/2014/main" id="{059CC461-E867-4C4A-AA13-2CBAE9F9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09625"/>
            <a:ext cx="24765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U04-DG-009-C2-frame">
            <a:extLst xmlns:a="http://schemas.openxmlformats.org/drawingml/2006/main">
              <a:ext uri="{FF2B5EF4-FFF2-40B4-BE49-F238E27FC236}">
                <a16:creationId xmlns:a16="http://schemas.microsoft.com/office/drawing/2014/main" id="{91C4F56F-FC91-4254-85AD-0F832780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809625"/>
            <a:ext cx="24765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8" name="U04-DG-009-C3-frame">
            <a:extLst xmlns:a="http://schemas.openxmlformats.org/drawingml/2006/main">
              <a:ext uri="{FF2B5EF4-FFF2-40B4-BE49-F238E27FC236}">
                <a16:creationId xmlns:a16="http://schemas.microsoft.com/office/drawing/2014/main" id="{731C9BF1-1CD7-46DE-AE11-48BB1C89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24765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U04-DG-009-C4-frame">
            <a:extLst xmlns:a="http://schemas.openxmlformats.org/drawingml/2006/main">
              <a:ext uri="{FF2B5EF4-FFF2-40B4-BE49-F238E27FC236}">
                <a16:creationId xmlns:a16="http://schemas.microsoft.com/office/drawing/2014/main" id="{2EAE87DC-7F01-4159-B1ED-453B3A3F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286250"/>
            <a:ext cx="24765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rms-frame">
            <a:extLst xmlns:a="http://schemas.openxmlformats.org/drawingml/2006/main">
              <a:ext uri="{FF2B5EF4-FFF2-40B4-BE49-F238E27FC236}">
                <a16:creationId xmlns:a16="http://schemas.microsoft.com/office/drawing/2014/main" id="{90BC604A-0E59-4FBA-9B38-512911A9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72000"/>
            <a:ext cx="58102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1" name="U04-DG-009-edge-U04-DG-009-C1-U04-DG-009-A1"/>
          <p:cNvCxnSpPr>
            <a:stCxn xmlns:a="http://schemas.openxmlformats.org/drawingml/2006/main" id="6" idx="2"/>
            <a:endCxn xmlns:a="http://schemas.openxmlformats.org/drawingml/2006/main" id="2" idx="0"/>
          </p:cNvCxnSpPr>
          <p:nvPr/>
        </p:nvCxnSpPr>
        <p:spPr>
          <a:xfrm xmlns:a="http://schemas.openxmlformats.org/drawingml/2006/main">
            <a:off x="1952625" y="2009775"/>
            <a:ext cx="3543300" cy="390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2F7E83"/>
            </a:solidFill>
            <a:prstDash val="solid"/>
            <a:headEnd type="none" w="med" len="med"/>
            <a:tailEnd type="none" w="sm" len="sm"/>
          </a:ln>
        </p:spPr>
      </p:cxnSp>
      <p:cxnSp>
        <p:nvCxnSpPr>
          <p:cNvPr id="32" name="U04-DG-009-edge-U04-DG-009-C2-U04-DG-009-A2"/>
          <p:cNvCxnSpPr>
            <a:stCxn xmlns:a="http://schemas.openxmlformats.org/drawingml/2006/main" id="7" idx="2"/>
            <a:endCxn xmlns:a="http://schemas.openxmlformats.org/drawingml/2006/main" id="3" idx="0"/>
          </p:cNvCxnSpPr>
          <p:nvPr/>
        </p:nvCxnSpPr>
        <p:spPr>
          <a:xfrm xmlns:a="http://schemas.openxmlformats.org/drawingml/2006/main" flipH="1">
            <a:off x="6734175" y="2009775"/>
            <a:ext cx="3505200" cy="390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2F7E83"/>
            </a:solidFill>
            <a:prstDash val="solid"/>
            <a:headEnd type="none" w="med" len="med"/>
            <a:tailEnd type="none" w="sm" len="sm"/>
          </a:ln>
        </p:spPr>
      </p:cxnSp>
      <p:cxnSp>
        <p:nvCxnSpPr>
          <p:cNvPr id="33" name="U04-DG-009-edge-U04-DG-009-C3-U04-DG-009-A3"/>
          <p:cNvCxnSpPr>
            <a:stCxn xmlns:a="http://schemas.openxmlformats.org/drawingml/2006/main" id="8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1952625" y="3514725"/>
            <a:ext cx="2924175" cy="771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9F541A"/>
            </a:solidFill>
            <a:prstDash val="solid"/>
            <a:headEnd type="none" w="med" len="med"/>
            <a:tailEnd type="none" w="sm" len="sm"/>
          </a:ln>
        </p:spPr>
      </p:cxnSp>
      <p:cxnSp>
        <p:nvCxnSpPr>
          <p:cNvPr id="34" name="U04-DG-009-edge-U04-DG-009-C4-U04-DG-009-A4"/>
          <p:cNvCxnSpPr>
            <a:stCxn xmlns:a="http://schemas.openxmlformats.org/drawingml/2006/main" id="9" idx="0"/>
            <a:endCxn xmlns:a="http://schemas.openxmlformats.org/drawingml/2006/main" id="5" idx="2"/>
          </p:cNvCxnSpPr>
          <p:nvPr/>
        </p:nvCxnSpPr>
        <p:spPr>
          <a:xfrm xmlns:a="http://schemas.openxmlformats.org/drawingml/2006/main" flipH="1" flipV="1">
            <a:off x="7496175" y="3514725"/>
            <a:ext cx="2743200" cy="771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9F541A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15" name="U04-DG-009-EQ-text">
            <a:extLst xmlns:a="http://schemas.openxmlformats.org/drawingml/2006/main">
              <a:ext uri="{FF2B5EF4-FFF2-40B4-BE49-F238E27FC236}">
                <a16:creationId xmlns:a16="http://schemas.microsoft.com/office/drawing/2014/main" id="{9F0C052D-AA9C-4A7A-BAE5-78CF60F9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05075"/>
            <a:ext cx="5562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42A2E"/>
                </a:solidFill>
              </a:defRPr>
            </a:pPr>
            <a:r>
              <a:rPr sz="3000" b="1">
                <a:solidFill>
                  <a:srgbClr val="242A2E"/>
                </a:solidFill>
              </a:rPr>
              <a:t>i(t) = p(t) · u(t)</a:t>
            </a:r>
          </a:p>
        </p:txBody>
      </p:sp>
      <p:sp>
        <p:nvSpPr>
          <p:cNvPr id="16" name="U04-DG-009-C1-text">
            <a:extLst xmlns:a="http://schemas.openxmlformats.org/drawingml/2006/main">
              <a:ext uri="{FF2B5EF4-FFF2-40B4-BE49-F238E27FC236}">
                <a16:creationId xmlns:a16="http://schemas.microsoft.com/office/drawing/2014/main" id="{38C0DA4B-DF0F-4A5F-B131-168E334E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981075"/>
            <a:ext cx="2133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p en Pa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presión local</a:t>
            </a:r>
          </a:p>
        </p:txBody>
      </p:sp>
      <p:sp>
        <p:nvSpPr>
          <p:cNvPr id="17" name="U04-DG-009-C2-text">
            <a:extLst xmlns:a="http://schemas.openxmlformats.org/drawingml/2006/main">
              <a:ext uri="{FF2B5EF4-FFF2-40B4-BE49-F238E27FC236}">
                <a16:creationId xmlns:a16="http://schemas.microsoft.com/office/drawing/2014/main" id="{AE8668CB-99F1-46C6-AF9D-FBDE83E0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981075"/>
            <a:ext cx="2133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u en m/s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movimiento local</a:t>
            </a:r>
          </a:p>
        </p:txBody>
      </p:sp>
      <p:sp>
        <p:nvSpPr>
          <p:cNvPr id="18" name="U04-DG-009-C3-text">
            <a:extLst xmlns:a="http://schemas.openxmlformats.org/drawingml/2006/main">
              <a:ext uri="{FF2B5EF4-FFF2-40B4-BE49-F238E27FC236}">
                <a16:creationId xmlns:a16="http://schemas.microsoft.com/office/drawing/2014/main" id="{87796A13-A514-410E-AEBF-4E6871C0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57700"/>
            <a:ext cx="2133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i en W/m²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el signo da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dirección</a:t>
            </a:r>
          </a:p>
        </p:txBody>
      </p:sp>
      <p:sp>
        <p:nvSpPr>
          <p:cNvPr id="19" name="U04-DG-009-C4-text">
            <a:extLst xmlns:a="http://schemas.openxmlformats.org/drawingml/2006/main">
              <a:ext uri="{FF2B5EF4-FFF2-40B4-BE49-F238E27FC236}">
                <a16:creationId xmlns:a16="http://schemas.microsoft.com/office/drawing/2014/main" id="{CC631B1F-88C5-4958-83DB-EF8D301E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457700"/>
            <a:ext cx="2133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I: promedio en Δt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ventana declarada</a:t>
            </a:r>
          </a:p>
        </p:txBody>
      </p:sp>
      <p:sp>
        <p:nvSpPr>
          <p:cNvPr id="20" name="rms-text">
            <a:extLst xmlns:a="http://schemas.openxmlformats.org/drawingml/2006/main">
              <a:ext uri="{FF2B5EF4-FFF2-40B4-BE49-F238E27FC236}">
                <a16:creationId xmlns:a16="http://schemas.microsoft.com/office/drawing/2014/main" id="{07102A07-3BC2-4E46-97D6-BF15DAEE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43450"/>
            <a:ext cx="54673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42A2E"/>
                </a:solidFill>
              </a:defRPr>
            </a:pPr>
            <a:r>
              <a:rPr sz="2250" b="1">
                <a:solidFill>
                  <a:srgbClr val="242A2E"/>
                </a:solidFill>
              </a:rPr>
              <a:t>Onda plana progresiva</a:t>
            </a:r>
          </a:p>
          <a:p xmlns:a="http://schemas.openxmlformats.org/drawingml/2006/main">
            <a:pPr algn="ctr">
              <a:defRPr sz="2250" b="1">
                <a:solidFill>
                  <a:srgbClr val="242A2E"/>
                </a:solidFill>
              </a:defRPr>
            </a:pPr>
            <a:r>
              <a:rPr sz="2250" b="1">
                <a:solidFill>
                  <a:srgbClr val="242A2E"/>
                </a:solidFill>
              </a:rPr>
              <a:t>I = pᵣₘₛ² / Z₀</a:t>
            </a:r>
          </a:p>
        </p:txBody>
      </p:sp>
    </p:spTree>
    <p:extLst>
      <p:ext uri="{BB962C8B-B14F-4D97-AF65-F5344CB8AC3E}">
        <p14:creationId xmlns:p14="http://schemas.microsoft.com/office/powerpoint/2010/main" val="19341447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U04-DG-010-N1-frame">
            <a:extLst xmlns:a="http://schemas.openxmlformats.org/drawingml/2006/main">
              <a:ext uri="{FF2B5EF4-FFF2-40B4-BE49-F238E27FC236}">
                <a16:creationId xmlns:a16="http://schemas.microsoft.com/office/drawing/2014/main" id="{ABE855C9-7DEE-42B3-AA22-CE2560F7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809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2" name="U04-DG-010-N2-frame">
            <a:extLst xmlns:a="http://schemas.openxmlformats.org/drawingml/2006/main">
              <a:ext uri="{FF2B5EF4-FFF2-40B4-BE49-F238E27FC236}">
                <a16:creationId xmlns:a16="http://schemas.microsoft.com/office/drawing/2014/main" id="{CF1BEDEE-81A1-4BE3-9013-137504F9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3" y="2476500"/>
            <a:ext cx="1809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U04-DG-010-N3-frame">
            <a:extLst xmlns:a="http://schemas.openxmlformats.org/drawingml/2006/main">
              <a:ext uri="{FF2B5EF4-FFF2-40B4-BE49-F238E27FC236}">
                <a16:creationId xmlns:a16="http://schemas.microsoft.com/office/drawing/2014/main" id="{50711F54-DA82-4DA6-BC81-6B48952A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76500"/>
            <a:ext cx="1809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U04-DG-010-N4-frame">
            <a:extLst xmlns:a="http://schemas.openxmlformats.org/drawingml/2006/main">
              <a:ext uri="{FF2B5EF4-FFF2-40B4-BE49-F238E27FC236}">
                <a16:creationId xmlns:a16="http://schemas.microsoft.com/office/drawing/2014/main" id="{0CBA604E-8094-44DD-A586-88EDB3DA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688" y="2476500"/>
            <a:ext cx="1809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5" name="U04-DG-010-N5-frame">
            <a:extLst xmlns:a="http://schemas.openxmlformats.org/drawingml/2006/main">
              <a:ext uri="{FF2B5EF4-FFF2-40B4-BE49-F238E27FC236}">
                <a16:creationId xmlns:a16="http://schemas.microsoft.com/office/drawing/2014/main" id="{CFB4A076-44E3-4C06-8914-F0EE7493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76500"/>
            <a:ext cx="1809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cxnSp>
        <p:nvCxnSpPr>
          <p:cNvPr id="24" name="U04-DG-010-edge-U04-DG-010-N1-U04-DG-010-N2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2571750" y="3000375"/>
            <a:ext cx="404813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5" name="U04-DG-010-edge-U04-DG-010-N2-U04-DG-010-N3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786313" y="3000375"/>
            <a:ext cx="404812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6" name="U04-DG-010-edge-U04-DG-010-N3-U04-DG-010-N4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7000875" y="3000375"/>
            <a:ext cx="404813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7" name="U04-DG-010-edge-U04-DG-010-N4-U04-DG-010-N5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9215438" y="3000375"/>
            <a:ext cx="404812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" name="U04-DG-010-N1-text">
            <a:extLst xmlns:a="http://schemas.openxmlformats.org/drawingml/2006/main">
              <a:ext uri="{FF2B5EF4-FFF2-40B4-BE49-F238E27FC236}">
                <a16:creationId xmlns:a16="http://schemas.microsoft.com/office/drawing/2014/main" id="{B17DEA06-14C8-4B4F-B1CB-49EC55DC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1466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Intensidad I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W/m²</a:t>
            </a:r>
          </a:p>
        </p:txBody>
      </p:sp>
      <p:sp>
        <p:nvSpPr>
          <p:cNvPr id="11" name="U04-DG-010-N2-text">
            <a:extLst xmlns:a="http://schemas.openxmlformats.org/drawingml/2006/main">
              <a:ext uri="{FF2B5EF4-FFF2-40B4-BE49-F238E27FC236}">
                <a16:creationId xmlns:a16="http://schemas.microsoft.com/office/drawing/2014/main" id="{024E183C-835B-4B43-8106-F406A394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013" y="2647950"/>
            <a:ext cx="1466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Superficie S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m²</a:t>
            </a:r>
          </a:p>
        </p:txBody>
      </p:sp>
      <p:sp>
        <p:nvSpPr>
          <p:cNvPr id="12" name="U04-DG-010-N3-text">
            <a:extLst xmlns:a="http://schemas.openxmlformats.org/drawingml/2006/main">
              <a:ext uri="{FF2B5EF4-FFF2-40B4-BE49-F238E27FC236}">
                <a16:creationId xmlns:a16="http://schemas.microsoft.com/office/drawing/2014/main" id="{683569D6-C1F6-44D2-948E-63A74E6E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647950"/>
            <a:ext cx="1466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Potencia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W_ac (W)</a:t>
            </a:r>
          </a:p>
        </p:txBody>
      </p:sp>
      <p:sp>
        <p:nvSpPr>
          <p:cNvPr id="13" name="U04-DG-010-N4-text">
            <a:extLst xmlns:a="http://schemas.openxmlformats.org/drawingml/2006/main">
              <a:ext uri="{FF2B5EF4-FFF2-40B4-BE49-F238E27FC236}">
                <a16:creationId xmlns:a16="http://schemas.microsoft.com/office/drawing/2014/main" id="{081A5A47-FBB7-4260-AA06-DC2A41D1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7138" y="2647950"/>
            <a:ext cx="1466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Intervalo Δt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s</a:t>
            </a:r>
          </a:p>
        </p:txBody>
      </p:sp>
      <p:sp>
        <p:nvSpPr>
          <p:cNvPr id="14" name="U04-DG-010-N5-text">
            <a:extLst xmlns:a="http://schemas.openxmlformats.org/drawingml/2006/main">
              <a:ext uri="{FF2B5EF4-FFF2-40B4-BE49-F238E27FC236}">
                <a16:creationId xmlns:a16="http://schemas.microsoft.com/office/drawing/2014/main" id="{A94110B5-4649-4351-883F-A8FB0382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47950"/>
            <a:ext cx="1466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Energía E_ac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J</a:t>
            </a:r>
          </a:p>
        </p:txBody>
      </p:sp>
      <p:sp>
        <p:nvSpPr>
          <p:cNvPr id="15" name="U04-DG-010-label-U04-DG-010-N1-U04-DG-010-N2-text">
            <a:extLst xmlns:a="http://schemas.openxmlformats.org/drawingml/2006/main">
              <a:ext uri="{FF2B5EF4-FFF2-40B4-BE49-F238E27FC236}">
                <a16:creationId xmlns:a16="http://schemas.microsoft.com/office/drawing/2014/main" id="{146E56B1-20F6-4A83-9712-4FEB7591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531" y="2543175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× S</a:t>
            </a:r>
          </a:p>
        </p:txBody>
      </p:sp>
      <p:sp>
        <p:nvSpPr>
          <p:cNvPr id="16" name="U04-DG-010-label-U04-DG-010-N3-U04-DG-010-N4-text">
            <a:extLst xmlns:a="http://schemas.openxmlformats.org/drawingml/2006/main">
              <a:ext uri="{FF2B5EF4-FFF2-40B4-BE49-F238E27FC236}">
                <a16:creationId xmlns:a16="http://schemas.microsoft.com/office/drawing/2014/main" id="{D66497C3-46F2-4CB3-B3A7-BDD07B0D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656" y="2543175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× Δt</a:t>
            </a:r>
          </a:p>
        </p:txBody>
      </p:sp>
      <p:sp>
        <p:nvSpPr>
          <p:cNvPr id="17" name="eq1-text">
            <a:extLst xmlns:a="http://schemas.openxmlformats.org/drawingml/2006/main">
              <a:ext uri="{FF2B5EF4-FFF2-40B4-BE49-F238E27FC236}">
                <a16:creationId xmlns:a16="http://schemas.microsoft.com/office/drawing/2014/main" id="{C74F2191-8E81-4455-A692-0216F68F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862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W_ac = I·S</a:t>
            </a:r>
          </a:p>
        </p:txBody>
      </p:sp>
      <p:sp>
        <p:nvSpPr>
          <p:cNvPr id="18" name="eq2-text">
            <a:extLst xmlns:a="http://schemas.openxmlformats.org/drawingml/2006/main">
              <a:ext uri="{FF2B5EF4-FFF2-40B4-BE49-F238E27FC236}">
                <a16:creationId xmlns:a16="http://schemas.microsoft.com/office/drawing/2014/main" id="{055DFE0B-086C-4385-88F0-D55BA5D2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862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E_ac = W_ac·Δt</a:t>
            </a:r>
          </a:p>
        </p:txBody>
      </p:sp>
    </p:spTree>
    <p:extLst>
      <p:ext uri="{BB962C8B-B14F-4D97-AF65-F5344CB8AC3E}">
        <p14:creationId xmlns:p14="http://schemas.microsoft.com/office/powerpoint/2010/main" val="17765517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d0-frame">
            <a:extLst xmlns:a="http://schemas.openxmlformats.org/drawingml/2006/main">
              <a:ext uri="{FF2B5EF4-FFF2-40B4-BE49-F238E27FC236}">
                <a16:creationId xmlns:a16="http://schemas.microsoft.com/office/drawing/2014/main" id="{0DAC392F-5D2A-4A61-8CEB-86341CB7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81125"/>
            <a:ext cx="304800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2" name="d1-frame">
            <a:extLst xmlns:a="http://schemas.openxmlformats.org/drawingml/2006/main">
              <a:ext uri="{FF2B5EF4-FFF2-40B4-BE49-F238E27FC236}">
                <a16:creationId xmlns:a16="http://schemas.microsoft.com/office/drawing/2014/main" id="{2CBDAEC4-A616-4DFD-902D-3E66DF12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381125"/>
            <a:ext cx="304800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d2-frame">
            <a:extLst xmlns:a="http://schemas.openxmlformats.org/drawingml/2006/main">
              <a:ext uri="{FF2B5EF4-FFF2-40B4-BE49-F238E27FC236}">
                <a16:creationId xmlns:a16="http://schemas.microsoft.com/office/drawing/2014/main" id="{11B10CDC-C402-49DA-B928-1E23E38B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81125"/>
            <a:ext cx="304800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d3-frame">
            <a:extLst xmlns:a="http://schemas.openxmlformats.org/drawingml/2006/main">
              <a:ext uri="{FF2B5EF4-FFF2-40B4-BE49-F238E27FC236}">
                <a16:creationId xmlns:a16="http://schemas.microsoft.com/office/drawing/2014/main" id="{C965E3A2-0BA8-444B-B6AE-696AA7D9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71875"/>
            <a:ext cx="304800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d4-frame">
            <a:extLst xmlns:a="http://schemas.openxmlformats.org/drawingml/2006/main">
              <a:ext uri="{FF2B5EF4-FFF2-40B4-BE49-F238E27FC236}">
                <a16:creationId xmlns:a16="http://schemas.microsoft.com/office/drawing/2014/main" id="{A20BEC9E-C0C0-4219-B777-2AD2156B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71875"/>
            <a:ext cx="304800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d0-text">
            <a:extLst xmlns:a="http://schemas.openxmlformats.org/drawingml/2006/main">
              <a:ext uri="{FF2B5EF4-FFF2-40B4-BE49-F238E27FC236}">
                <a16:creationId xmlns:a16="http://schemas.microsoft.com/office/drawing/2014/main" id="{30B471A9-2B6A-4A5A-A583-30EAA789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552575"/>
            <a:ext cx="2705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Instantáneo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valor en t₁</a:t>
            </a:r>
          </a:p>
        </p:txBody>
      </p:sp>
      <p:sp>
        <p:nvSpPr>
          <p:cNvPr id="7" name="d1-text">
            <a:extLst xmlns:a="http://schemas.openxmlformats.org/drawingml/2006/main">
              <a:ext uri="{FF2B5EF4-FFF2-40B4-BE49-F238E27FC236}">
                <a16:creationId xmlns:a16="http://schemas.microsoft.com/office/drawing/2014/main" id="{1ACC5E18-9BE2-4826-A52B-35313317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552575"/>
            <a:ext cx="2705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Pico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máximo |p|</a:t>
            </a:r>
          </a:p>
        </p:txBody>
      </p:sp>
      <p:sp>
        <p:nvSpPr>
          <p:cNvPr id="8" name="d2-text">
            <a:extLst xmlns:a="http://schemas.openxmlformats.org/drawingml/2006/main">
              <a:ext uri="{FF2B5EF4-FFF2-40B4-BE49-F238E27FC236}">
                <a16:creationId xmlns:a16="http://schemas.microsoft.com/office/drawing/2014/main" id="{EA0526FB-ABC2-4490-B626-B4F8749C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552575"/>
            <a:ext cx="2705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Pico a pico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p_max − p_min</a:t>
            </a:r>
          </a:p>
        </p:txBody>
      </p:sp>
      <p:sp>
        <p:nvSpPr>
          <p:cNvPr id="9" name="d3-text">
            <a:extLst xmlns:a="http://schemas.openxmlformats.org/drawingml/2006/main">
              <a:ext uri="{FF2B5EF4-FFF2-40B4-BE49-F238E27FC236}">
                <a16:creationId xmlns:a16="http://schemas.microsoft.com/office/drawing/2014/main" id="{643D3DAD-3ABE-4E72-8509-4A25B4DF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743325"/>
            <a:ext cx="2705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Media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promedio algebraico</a:t>
            </a:r>
          </a:p>
        </p:txBody>
      </p:sp>
      <p:sp>
        <p:nvSpPr>
          <p:cNvPr id="10" name="d4-text">
            <a:extLst xmlns:a="http://schemas.openxmlformats.org/drawingml/2006/main">
              <a:ext uri="{FF2B5EF4-FFF2-40B4-BE49-F238E27FC236}">
                <a16:creationId xmlns:a16="http://schemas.microsoft.com/office/drawing/2014/main" id="{84480605-FB33-4386-BAD9-6E7E0C23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743325"/>
            <a:ext cx="2705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2A2E"/>
                </a:solidFill>
              </a:defRPr>
            </a:pPr>
            <a:r>
              <a:rPr sz="1800" b="1">
                <a:solidFill>
                  <a:srgbClr val="242A2E"/>
                </a:solidFill>
              </a:rPr>
              <a:t>RMS</a:t>
            </a:r>
          </a:p>
          <a:p xmlns:a="http://schemas.openxmlformats.org/drawingml/2006/main">
            <a:pPr algn="ctr">
              <a:defRPr sz="1800" b="1">
                <a:solidFill>
                  <a:srgbClr val="242A2E"/>
                </a:solidFill>
              </a:defRPr>
            </a:pPr>
            <a:r>
              <a:rPr sz="1800" b="1">
                <a:solidFill>
                  <a:srgbClr val="242A2E"/>
                </a:solidFill>
              </a:rPr>
              <a:t>tamaño eficaz</a:t>
            </a:r>
          </a:p>
        </p:txBody>
      </p:sp>
      <p:sp>
        <p:nvSpPr>
          <p:cNvPr id="11" name="choose-text">
            <a:extLst xmlns:a="http://schemas.openxmlformats.org/drawingml/2006/main">
              <a:ext uri="{FF2B5EF4-FFF2-40B4-BE49-F238E27FC236}">
                <a16:creationId xmlns:a16="http://schemas.microsoft.com/office/drawing/2014/main" id="{DD7F9C60-148A-46A3-9CFB-6E1B4F7C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67375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D1434"/>
                </a:solidFill>
              </a:defRPr>
            </a:pPr>
            <a:r>
              <a:rPr sz="1800" b="1">
                <a:solidFill>
                  <a:srgbClr val="4D1434"/>
                </a:solidFill>
              </a:rPr>
              <a:t>Elegir el descriptor según la pregunta y la ventana.</a:t>
            </a:r>
          </a:p>
        </p:txBody>
      </p:sp>
    </p:spTree>
    <p:extLst>
      <p:ext uri="{BB962C8B-B14F-4D97-AF65-F5344CB8AC3E}">
        <p14:creationId xmlns:p14="http://schemas.microsoft.com/office/powerpoint/2010/main" val="6164167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U04-DG-012-N1-frame">
            <a:extLst xmlns:a="http://schemas.openxmlformats.org/drawingml/2006/main">
              <a:ext uri="{FF2B5EF4-FFF2-40B4-BE49-F238E27FC236}">
                <a16:creationId xmlns:a16="http://schemas.microsoft.com/office/drawing/2014/main" id="{28DCB8B8-E96E-4411-83DA-4099C80D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2" name="U04-DG-012-N2-frame">
            <a:extLst xmlns:a="http://schemas.openxmlformats.org/drawingml/2006/main">
              <a:ext uri="{FF2B5EF4-FFF2-40B4-BE49-F238E27FC236}">
                <a16:creationId xmlns:a16="http://schemas.microsoft.com/office/drawing/2014/main" id="{38E4BC72-04D5-4AB4-B01A-FA67244D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U04-DG-012-N3-frame">
            <a:extLst xmlns:a="http://schemas.openxmlformats.org/drawingml/2006/main">
              <a:ext uri="{FF2B5EF4-FFF2-40B4-BE49-F238E27FC236}">
                <a16:creationId xmlns:a16="http://schemas.microsoft.com/office/drawing/2014/main" id="{B99410C3-9069-4D31-8170-D89A2626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cxnSp>
        <p:nvCxnSpPr>
          <p:cNvPr id="16" name="U04-DG-012-edge-U04-DG-012-N1-U04-DG-012-N2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3619500" y="28813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7" name="U04-DG-012-edge-U04-DG-012-N2-U04-DG-012-N3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7524750" y="28813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6" name="U04-DG-012-N1-text">
            <a:extLst xmlns:a="http://schemas.openxmlformats.org/drawingml/2006/main">
              <a:ext uri="{FF2B5EF4-FFF2-40B4-BE49-F238E27FC236}">
                <a16:creationId xmlns:a16="http://schemas.microsoft.com/office/drawing/2014/main" id="{48FEBC56-50E4-4A54-B7C8-B90D602D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25146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42A2E"/>
                </a:solidFill>
              </a:defRPr>
            </a:pPr>
            <a:r>
              <a:rPr sz="1950" b="0">
                <a:solidFill>
                  <a:srgbClr val="242A2E"/>
                </a:solidFill>
              </a:rPr>
              <a:t>1 · CUADRAR</a:t>
            </a:r>
          </a:p>
          <a:p xmlns:a="http://schemas.openxmlformats.org/drawingml/2006/main">
            <a:pPr algn="ctr">
              <a:defRPr sz="1950" b="0">
                <a:solidFill>
                  <a:srgbClr val="242A2E"/>
                </a:solidFill>
              </a:defRPr>
            </a:pPr>
            <a:r>
              <a:rPr sz="1950" b="0">
                <a:solidFill>
                  <a:srgbClr val="242A2E"/>
                </a:solidFill>
              </a:rPr>
              <a:t>Pa → Pa²</a:t>
            </a:r>
          </a:p>
        </p:txBody>
      </p:sp>
      <p:sp>
        <p:nvSpPr>
          <p:cNvPr id="7" name="U04-DG-012-N2-text">
            <a:extLst xmlns:a="http://schemas.openxmlformats.org/drawingml/2006/main">
              <a:ext uri="{FF2B5EF4-FFF2-40B4-BE49-F238E27FC236}">
                <a16:creationId xmlns:a16="http://schemas.microsoft.com/office/drawing/2014/main" id="{B09820E1-2AEB-48CD-875D-70D5DA1D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62200"/>
            <a:ext cx="25146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42A2E"/>
                </a:solidFill>
              </a:defRPr>
            </a:pPr>
            <a:r>
              <a:rPr sz="1950" b="0">
                <a:solidFill>
                  <a:srgbClr val="242A2E"/>
                </a:solidFill>
              </a:rPr>
              <a:t>2 · PROMEDIAR</a:t>
            </a:r>
          </a:p>
          <a:p xmlns:a="http://schemas.openxmlformats.org/drawingml/2006/main">
            <a:pPr algn="ctr">
              <a:defRPr sz="1950" b="0">
                <a:solidFill>
                  <a:srgbClr val="242A2E"/>
                </a:solidFill>
              </a:defRPr>
            </a:pPr>
            <a:r>
              <a:rPr sz="1950" b="0">
                <a:solidFill>
                  <a:srgbClr val="242A2E"/>
                </a:solidFill>
              </a:rPr>
              <a:t>media de p²</a:t>
            </a:r>
          </a:p>
        </p:txBody>
      </p:sp>
      <p:sp>
        <p:nvSpPr>
          <p:cNvPr id="8" name="U04-DG-012-N3-text">
            <a:extLst xmlns:a="http://schemas.openxmlformats.org/drawingml/2006/main">
              <a:ext uri="{FF2B5EF4-FFF2-40B4-BE49-F238E27FC236}">
                <a16:creationId xmlns:a16="http://schemas.microsoft.com/office/drawing/2014/main" id="{C30C8431-A856-4AFE-A8B7-96DB6D22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62200"/>
            <a:ext cx="25146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42A2E"/>
                </a:solidFill>
              </a:defRPr>
            </a:pPr>
            <a:r>
              <a:rPr sz="1950" b="0">
                <a:solidFill>
                  <a:srgbClr val="242A2E"/>
                </a:solidFill>
              </a:rPr>
              <a:t>3 · RAÍZ</a:t>
            </a:r>
          </a:p>
          <a:p xmlns:a="http://schemas.openxmlformats.org/drawingml/2006/main">
            <a:pPr algn="ctr">
              <a:defRPr sz="1950" b="0">
                <a:solidFill>
                  <a:srgbClr val="242A2E"/>
                </a:solidFill>
              </a:defRPr>
            </a:pPr>
            <a:r>
              <a:rPr sz="1950" b="0">
                <a:solidFill>
                  <a:srgbClr val="242A2E"/>
                </a:solidFill>
              </a:rPr>
              <a:t>Pa² → Pa</a:t>
            </a:r>
          </a:p>
        </p:txBody>
      </p:sp>
      <p:sp>
        <p:nvSpPr>
          <p:cNvPr id="9" name="U04-DG-012-label-U04-DG-012-N1-U04-DG-012-N2-text">
            <a:extLst xmlns:a="http://schemas.openxmlformats.org/drawingml/2006/main">
              <a:ext uri="{FF2B5EF4-FFF2-40B4-BE49-F238E27FC236}">
                <a16:creationId xmlns:a16="http://schemas.microsoft.com/office/drawing/2014/main" id="{69848906-2981-4132-B27E-DD3A5D5F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24113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elimina el signo</a:t>
            </a:r>
          </a:p>
        </p:txBody>
      </p:sp>
      <p:sp>
        <p:nvSpPr>
          <p:cNvPr id="10" name="U04-DG-012-label-U04-DG-012-N2-U04-DG-012-N3-text">
            <a:extLst xmlns:a="http://schemas.openxmlformats.org/drawingml/2006/main">
              <a:ext uri="{FF2B5EF4-FFF2-40B4-BE49-F238E27FC236}">
                <a16:creationId xmlns:a16="http://schemas.microsoft.com/office/drawing/2014/main" id="{12AE53AE-CB36-4CFF-9E40-5CA2C934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24113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recupera la unidad</a:t>
            </a:r>
          </a:p>
        </p:txBody>
      </p:sp>
      <p:sp>
        <p:nvSpPr>
          <p:cNvPr id="11" name="rmsEq-text">
            <a:extLst xmlns:a="http://schemas.openxmlformats.org/drawingml/2006/main">
              <a:ext uri="{FF2B5EF4-FFF2-40B4-BE49-F238E27FC236}">
                <a16:creationId xmlns:a16="http://schemas.microsoft.com/office/drawing/2014/main" id="{72BE22FA-7F22-4791-8178-AE0B346B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767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4D1434"/>
                </a:solidFill>
              </a:defRPr>
            </a:pPr>
            <a:r>
              <a:rPr sz="2550" b="1">
                <a:solidFill>
                  <a:srgbClr val="4D1434"/>
                </a:solidFill>
              </a:rPr>
              <a:t>pᵣₘₛ = √(media de p²)</a:t>
            </a:r>
          </a:p>
        </p:txBody>
      </p:sp>
      <p:sp>
        <p:nvSpPr>
          <p:cNvPr id="12" name="sin-text">
            <a:extLst xmlns:a="http://schemas.openxmlformats.org/drawingml/2006/main">
              <a:ext uri="{FF2B5EF4-FFF2-40B4-BE49-F238E27FC236}">
                <a16:creationId xmlns:a16="http://schemas.microsoft.com/office/drawing/2014/main" id="{A929B93E-F355-4478-851D-7A690E6D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387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F541A"/>
                </a:solidFill>
              </a:defRPr>
            </a:pPr>
            <a:r>
              <a:rPr sz="1650" b="1">
                <a:solidFill>
                  <a:srgbClr val="9F541A"/>
                </a:solidFill>
              </a:rPr>
              <a:t>pico/√2: solo para una senoide</a:t>
            </a:r>
          </a:p>
        </p:txBody>
      </p:sp>
    </p:spTree>
    <p:extLst>
      <p:ext uri="{BB962C8B-B14F-4D97-AF65-F5344CB8AC3E}">
        <p14:creationId xmlns:p14="http://schemas.microsoft.com/office/powerpoint/2010/main" val="16654776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0-frame">
            <a:extLst xmlns:a="http://schemas.openxmlformats.org/drawingml/2006/main">
              <a:ext uri="{FF2B5EF4-FFF2-40B4-BE49-F238E27FC236}">
                <a16:creationId xmlns:a16="http://schemas.microsoft.com/office/drawing/2014/main" id="{B0D2A909-5A0D-42B4-9FF7-3137ADB3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85875"/>
            <a:ext cx="31432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2" name="l1-frame">
            <a:extLst xmlns:a="http://schemas.openxmlformats.org/drawingml/2006/main">
              <a:ext uri="{FF2B5EF4-FFF2-40B4-BE49-F238E27FC236}">
                <a16:creationId xmlns:a16="http://schemas.microsoft.com/office/drawing/2014/main" id="{9D6A533E-50D3-4F8D-A033-3DA7BD8A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285875"/>
            <a:ext cx="31432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l2-frame">
            <a:extLst xmlns:a="http://schemas.openxmlformats.org/drawingml/2006/main">
              <a:ext uri="{FF2B5EF4-FFF2-40B4-BE49-F238E27FC236}">
                <a16:creationId xmlns:a16="http://schemas.microsoft.com/office/drawing/2014/main" id="{66541B2B-5961-4969-AFB3-D11D1413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285875"/>
            <a:ext cx="31432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4" name="rule-frame">
            <a:extLst xmlns:a="http://schemas.openxmlformats.org/drawingml/2006/main">
              <a:ext uri="{FF2B5EF4-FFF2-40B4-BE49-F238E27FC236}">
                <a16:creationId xmlns:a16="http://schemas.microsoft.com/office/drawing/2014/main" id="{95BA9CCC-6CE7-4617-A822-9DF1DB72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24250"/>
            <a:ext cx="571500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cxnSp>
        <p:nvCxnSpPr>
          <p:cNvPr id="17" name="U04-DG-013-edge-l0-rule"/>
          <p:cNvCxnSpPr>
            <a:stCxn xmlns:a="http://schemas.openxmlformats.org/drawingml/2006/main" id="1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2381250" y="2714625"/>
            <a:ext cx="371475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2F7E8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8" name="U04-DG-013-edge-l1-rule"/>
          <p:cNvCxnSpPr>
            <a:stCxn xmlns:a="http://schemas.openxmlformats.org/drawingml/2006/main" id="2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6096000" y="2714625"/>
            <a:ext cx="142875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4D14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9" name="U04-DG-013-edge-l2-rule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6096000" y="2714625"/>
            <a:ext cx="400050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4D14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8" name="l0-text">
            <a:extLst xmlns:a="http://schemas.openxmlformats.org/drawingml/2006/main">
              <a:ext uri="{FF2B5EF4-FFF2-40B4-BE49-F238E27FC236}">
                <a16:creationId xmlns:a16="http://schemas.microsoft.com/office/drawing/2014/main" id="{90680158-2980-4620-A68B-0BA5484D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457325"/>
            <a:ext cx="2800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Lₚ</a:t>
            </a:r>
          </a:p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presión / p_ref</a:t>
            </a:r>
          </a:p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20 log₁₀</a:t>
            </a:r>
          </a:p>
        </p:txBody>
      </p:sp>
      <p:sp>
        <p:nvSpPr>
          <p:cNvPr id="9" name="l1-text">
            <a:extLst xmlns:a="http://schemas.openxmlformats.org/drawingml/2006/main">
              <a:ext uri="{FF2B5EF4-FFF2-40B4-BE49-F238E27FC236}">
                <a16:creationId xmlns:a16="http://schemas.microsoft.com/office/drawing/2014/main" id="{DF1ABC0C-D8BF-4B25-8813-7D4E51B7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457325"/>
            <a:ext cx="2800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Lᵢ</a:t>
            </a:r>
          </a:p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intensidad / I_ref</a:t>
            </a:r>
          </a:p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10 log₁₀</a:t>
            </a:r>
          </a:p>
        </p:txBody>
      </p:sp>
      <p:sp>
        <p:nvSpPr>
          <p:cNvPr id="10" name="l2-text">
            <a:extLst xmlns:a="http://schemas.openxmlformats.org/drawingml/2006/main">
              <a:ext uri="{FF2B5EF4-FFF2-40B4-BE49-F238E27FC236}">
                <a16:creationId xmlns:a16="http://schemas.microsoft.com/office/drawing/2014/main" id="{9E8554EF-EFA2-479F-A21B-BBD333F3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457325"/>
            <a:ext cx="2800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L_W</a:t>
            </a:r>
          </a:p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potencia / W_ref</a:t>
            </a:r>
          </a:p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10 log₁₀</a:t>
            </a:r>
          </a:p>
        </p:txBody>
      </p:sp>
      <p:sp>
        <p:nvSpPr>
          <p:cNvPr id="11" name="rule-text">
            <a:extLst xmlns:a="http://schemas.openxmlformats.org/drawingml/2006/main">
              <a:ext uri="{FF2B5EF4-FFF2-40B4-BE49-F238E27FC236}">
                <a16:creationId xmlns:a16="http://schemas.microsoft.com/office/drawing/2014/main" id="{ADBCEBD0-DE23-463F-8F21-C10A87B7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95700"/>
            <a:ext cx="5372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RAZÓN ADIMENSIONAL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magnitud y referencia de la misma clase</a:t>
            </a:r>
          </a:p>
        </p:txBody>
      </p:sp>
      <p:sp>
        <p:nvSpPr>
          <p:cNvPr id="12" name="compare-text">
            <a:extLst xmlns:a="http://schemas.openxmlformats.org/drawingml/2006/main">
              <a:ext uri="{FF2B5EF4-FFF2-40B4-BE49-F238E27FC236}">
                <a16:creationId xmlns:a16="http://schemas.microsoft.com/office/drawing/2014/main" id="{93F59214-F5B8-49A0-A3FE-B849A11C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9112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F541A"/>
                </a:solidFill>
              </a:defRPr>
            </a:pPr>
            <a:r>
              <a:rPr sz="2100" b="1">
                <a:solidFill>
                  <a:srgbClr val="9F541A"/>
                </a:solidFill>
              </a:rPr>
              <a:t>dB SPL ≠ dB HL ≠ sonoridad</a:t>
            </a:r>
          </a:p>
        </p:txBody>
      </p:sp>
    </p:spTree>
    <p:extLst>
      <p:ext uri="{BB962C8B-B14F-4D97-AF65-F5344CB8AC3E}">
        <p14:creationId xmlns:p14="http://schemas.microsoft.com/office/powerpoint/2010/main" val="21182869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tart-frame">
            <a:extLst xmlns:a="http://schemas.openxmlformats.org/drawingml/2006/main">
              <a:ext uri="{FF2B5EF4-FFF2-40B4-BE49-F238E27FC236}">
                <a16:creationId xmlns:a16="http://schemas.microsoft.com/office/drawing/2014/main" id="{42A0C3BD-2940-4FD3-B5B9-AA0F56E0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62000"/>
            <a:ext cx="381000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2" name="coh-frame">
            <a:extLst xmlns:a="http://schemas.openxmlformats.org/drawingml/2006/main">
              <a:ext uri="{FF2B5EF4-FFF2-40B4-BE49-F238E27FC236}">
                <a16:creationId xmlns:a16="http://schemas.microsoft.com/office/drawing/2014/main" id="{B4A842EE-BBC9-4C7D-A61C-E2AA1F18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4000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unc-frame">
            <a:extLst xmlns:a="http://schemas.openxmlformats.org/drawingml/2006/main">
              <a:ext uri="{FF2B5EF4-FFF2-40B4-BE49-F238E27FC236}">
                <a16:creationId xmlns:a16="http://schemas.microsoft.com/office/drawing/2014/main" id="{77ACD5E6-7FD9-4D43-AD8B-1C91E8C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428875"/>
            <a:ext cx="4000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4" name="cohr-frame">
            <a:extLst xmlns:a="http://schemas.openxmlformats.org/drawingml/2006/main">
              <a:ext uri="{FF2B5EF4-FFF2-40B4-BE49-F238E27FC236}">
                <a16:creationId xmlns:a16="http://schemas.microsoft.com/office/drawing/2014/main" id="{199DAF5B-8A1B-4D9D-AAE2-71919115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67250"/>
            <a:ext cx="4000500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uncr-frame">
            <a:extLst xmlns:a="http://schemas.openxmlformats.org/drawingml/2006/main">
              <a:ext uri="{FF2B5EF4-FFF2-40B4-BE49-F238E27FC236}">
                <a16:creationId xmlns:a16="http://schemas.microsoft.com/office/drawing/2014/main" id="{1F21E4CE-75BF-4C91-86B8-265DECAB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67250"/>
            <a:ext cx="4000500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24" name="U04-DG-014-edge-start-coh"/>
          <p:cNvCxnSpPr>
            <a:stCxn xmlns:a="http://schemas.openxmlformats.org/drawingml/2006/main" id="1" idx="1"/>
            <a:endCxn xmlns:a="http://schemas.openxmlformats.org/drawingml/2006/main" id="2" idx="0"/>
          </p:cNvCxnSpPr>
          <p:nvPr/>
        </p:nvCxnSpPr>
        <p:spPr>
          <a:xfrm xmlns:a="http://schemas.openxmlformats.org/drawingml/2006/main" flipH="1">
            <a:off x="2905125" y="1285875"/>
            <a:ext cx="1285875" cy="1143000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2F7E8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5" name="U04-DG-014-edge-start-unc"/>
          <p:cNvCxnSpPr>
            <a:stCxn xmlns:a="http://schemas.openxmlformats.org/drawingml/2006/main" id="1" idx="3"/>
            <a:endCxn xmlns:a="http://schemas.openxmlformats.org/drawingml/2006/main" id="3" idx="0"/>
          </p:cNvCxnSpPr>
          <p:nvPr/>
        </p:nvCxnSpPr>
        <p:spPr>
          <a:xfrm xmlns:a="http://schemas.openxmlformats.org/drawingml/2006/main">
            <a:off x="8001000" y="1285875"/>
            <a:ext cx="1285875" cy="1143000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9F541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6" name="U04-DG-014-edge-coh-cohr"/>
          <p:cNvCxnSpPr>
            <a:stCxn xmlns:a="http://schemas.openxmlformats.org/drawingml/2006/main" id="2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2905125" y="3667125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F7E8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7" name="U04-DG-014-edge-unc-uncr"/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9286875" y="3667125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F541A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" name="start-text">
            <a:extLst xmlns:a="http://schemas.openxmlformats.org/drawingml/2006/main">
              <a:ext uri="{FF2B5EF4-FFF2-40B4-BE49-F238E27FC236}">
                <a16:creationId xmlns:a16="http://schemas.microsoft.com/office/drawing/2014/main" id="{508EA71B-41B5-4EE2-9EA9-D3513CEB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933450"/>
            <a:ext cx="3467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¿Qué relación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temporal tienen?</a:t>
            </a:r>
          </a:p>
        </p:txBody>
      </p:sp>
      <p:sp>
        <p:nvSpPr>
          <p:cNvPr id="11" name="coh-text">
            <a:extLst xmlns:a="http://schemas.openxmlformats.org/drawingml/2006/main">
              <a:ext uri="{FF2B5EF4-FFF2-40B4-BE49-F238E27FC236}">
                <a16:creationId xmlns:a16="http://schemas.microsoft.com/office/drawing/2014/main" id="{F0F57DB3-8566-40A0-9D32-3FBAFCC7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600325"/>
            <a:ext cx="3657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COHERENTES</a:t>
            </a:r>
          </a:p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fase estable</a:t>
            </a:r>
          </a:p>
        </p:txBody>
      </p:sp>
      <p:sp>
        <p:nvSpPr>
          <p:cNvPr id="12" name="unc-text">
            <a:extLst xmlns:a="http://schemas.openxmlformats.org/drawingml/2006/main">
              <a:ext uri="{FF2B5EF4-FFF2-40B4-BE49-F238E27FC236}">
                <a16:creationId xmlns:a16="http://schemas.microsoft.com/office/drawing/2014/main" id="{CA74BCBD-AA88-4111-BD53-5E200AC8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600325"/>
            <a:ext cx="3657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2A2E"/>
                </a:solidFill>
              </a:defRPr>
            </a:pPr>
            <a:r>
              <a:rPr sz="1800" b="1">
                <a:solidFill>
                  <a:srgbClr val="242A2E"/>
                </a:solidFill>
              </a:rPr>
              <a:t>NO CORRELACIONADAS</a:t>
            </a:r>
          </a:p>
          <a:p xmlns:a="http://schemas.openxmlformats.org/drawingml/2006/main">
            <a:pPr algn="ctr">
              <a:defRPr sz="1800" b="1">
                <a:solidFill>
                  <a:srgbClr val="242A2E"/>
                </a:solidFill>
              </a:defRPr>
            </a:pPr>
            <a:r>
              <a:rPr sz="1800" b="1">
                <a:solidFill>
                  <a:srgbClr val="242A2E"/>
                </a:solidFill>
              </a:rPr>
              <a:t>término cruzado</a:t>
            </a:r>
          </a:p>
          <a:p xmlns:a="http://schemas.openxmlformats.org/drawingml/2006/main">
            <a:pPr algn="ctr">
              <a:defRPr sz="1800" b="1">
                <a:solidFill>
                  <a:srgbClr val="242A2E"/>
                </a:solidFill>
              </a:defRPr>
            </a:pPr>
            <a:r>
              <a:rPr sz="1800" b="1">
                <a:solidFill>
                  <a:srgbClr val="242A2E"/>
                </a:solidFill>
              </a:rPr>
              <a:t>promedia a cero</a:t>
            </a:r>
          </a:p>
        </p:txBody>
      </p:sp>
      <p:sp>
        <p:nvSpPr>
          <p:cNvPr id="13" name="cohr-text">
            <a:extLst xmlns:a="http://schemas.openxmlformats.org/drawingml/2006/main">
              <a:ext uri="{FF2B5EF4-FFF2-40B4-BE49-F238E27FC236}">
                <a16:creationId xmlns:a16="http://schemas.microsoft.com/office/drawing/2014/main" id="{DF632DB1-BCFE-4D72-8E9A-DA6DDACD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838700"/>
            <a:ext cx="36576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Sumar presiones</a:t>
            </a:r>
          </a:p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en fase: +6,02 dB</a:t>
            </a:r>
          </a:p>
        </p:txBody>
      </p:sp>
      <p:sp>
        <p:nvSpPr>
          <p:cNvPr id="14" name="uncr-text">
            <a:extLst xmlns:a="http://schemas.openxmlformats.org/drawingml/2006/main">
              <a:ext uri="{FF2B5EF4-FFF2-40B4-BE49-F238E27FC236}">
                <a16:creationId xmlns:a16="http://schemas.microsoft.com/office/drawing/2014/main" id="{0CCA750E-5A24-4B51-ADBC-09EE451B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838700"/>
            <a:ext cx="36576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Sumar cuadrados RMS</a:t>
            </a:r>
          </a:p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iguales: +3,01 dB</a:t>
            </a:r>
          </a:p>
        </p:txBody>
      </p:sp>
      <p:sp>
        <p:nvSpPr>
          <p:cNvPr id="15" name="U04-DG-014-label-start-coh-text">
            <a:extLst xmlns:a="http://schemas.openxmlformats.org/drawingml/2006/main">
              <a:ext uri="{FF2B5EF4-FFF2-40B4-BE49-F238E27FC236}">
                <a16:creationId xmlns:a16="http://schemas.microsoft.com/office/drawing/2014/main" id="{80CCE65A-2101-4528-9AC6-A7179D51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7E83"/>
                </a:solidFill>
              </a:defRPr>
            </a:pPr>
            <a:r>
              <a:rPr sz="1575" b="1">
                <a:solidFill>
                  <a:srgbClr val="2F7E83"/>
                </a:solidFill>
              </a:rPr>
              <a:t>fase estable</a:t>
            </a:r>
          </a:p>
        </p:txBody>
      </p:sp>
      <p:sp>
        <p:nvSpPr>
          <p:cNvPr id="16" name="U04-DG-014-label-start-unc-text">
            <a:extLst xmlns:a="http://schemas.openxmlformats.org/drawingml/2006/main">
              <a:ext uri="{FF2B5EF4-FFF2-40B4-BE49-F238E27FC236}">
                <a16:creationId xmlns:a16="http://schemas.microsoft.com/office/drawing/2014/main" id="{6699C07B-86FE-44AB-9583-3FAE163D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F541A"/>
                </a:solidFill>
              </a:defRPr>
            </a:pPr>
            <a:r>
              <a:rPr sz="1575" b="1">
                <a:solidFill>
                  <a:srgbClr val="9F541A"/>
                </a:solidFill>
              </a:rPr>
              <a:t>sin correlación</a:t>
            </a:r>
          </a:p>
        </p:txBody>
      </p:sp>
      <p:sp>
        <p:nvSpPr>
          <p:cNvPr id="17" name="U04-DG-014-label-coh-cohr-text">
            <a:extLst xmlns:a="http://schemas.openxmlformats.org/drawingml/2006/main">
              <a:ext uri="{FF2B5EF4-FFF2-40B4-BE49-F238E27FC236}">
                <a16:creationId xmlns:a16="http://schemas.microsoft.com/office/drawing/2014/main" id="{8F7D9965-FDD7-4162-917C-1C40B032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48125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7E83"/>
                </a:solidFill>
              </a:defRPr>
            </a:pPr>
            <a:r>
              <a:rPr sz="1575" b="1">
                <a:solidFill>
                  <a:srgbClr val="2F7E83"/>
                </a:solidFill>
              </a:rPr>
              <a:t>conservar término cruzado</a:t>
            </a:r>
          </a:p>
        </p:txBody>
      </p:sp>
      <p:sp>
        <p:nvSpPr>
          <p:cNvPr id="18" name="U04-DG-014-label-unc-uncr-text">
            <a:extLst xmlns:a="http://schemas.openxmlformats.org/drawingml/2006/main">
              <a:ext uri="{FF2B5EF4-FFF2-40B4-BE49-F238E27FC236}">
                <a16:creationId xmlns:a16="http://schemas.microsoft.com/office/drawing/2014/main" id="{73825DF5-6B99-4A4F-BCA9-A4ADA8E6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48125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F541A"/>
                </a:solidFill>
              </a:defRPr>
            </a:pPr>
            <a:r>
              <a:rPr sz="1575" b="1">
                <a:solidFill>
                  <a:srgbClr val="9F541A"/>
                </a:solidFill>
              </a:rPr>
              <a:t>sumar energías</a:t>
            </a:r>
          </a:p>
        </p:txBody>
      </p:sp>
    </p:spTree>
    <p:extLst>
      <p:ext uri="{BB962C8B-B14F-4D97-AF65-F5344CB8AC3E}">
        <p14:creationId xmlns:p14="http://schemas.microsoft.com/office/powerpoint/2010/main" val="2293777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0-frame">
            <a:extLst xmlns:a="http://schemas.openxmlformats.org/drawingml/2006/main">
              <a:ext uri="{FF2B5EF4-FFF2-40B4-BE49-F238E27FC236}">
                <a16:creationId xmlns:a16="http://schemas.microsoft.com/office/drawing/2014/main" id="{46FC7424-2944-4CC9-9251-3B1195A9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3238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2" name="g1-frame">
            <a:extLst xmlns:a="http://schemas.openxmlformats.org/drawingml/2006/main">
              <a:ext uri="{FF2B5EF4-FFF2-40B4-BE49-F238E27FC236}">
                <a16:creationId xmlns:a16="http://schemas.microsoft.com/office/drawing/2014/main" id="{AC667D26-C12F-482D-ACCE-0EB0CD8F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000125"/>
            <a:ext cx="3238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g2-frame">
            <a:extLst xmlns:a="http://schemas.openxmlformats.org/drawingml/2006/main">
              <a:ext uri="{FF2B5EF4-FFF2-40B4-BE49-F238E27FC236}">
                <a16:creationId xmlns:a16="http://schemas.microsoft.com/office/drawing/2014/main" id="{71BE199D-C9D8-48AB-A413-51DCB49D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00125"/>
            <a:ext cx="3238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4" name="f0-frame">
            <a:extLst xmlns:a="http://schemas.openxmlformats.org/drawingml/2006/main">
              <a:ext uri="{FF2B5EF4-FFF2-40B4-BE49-F238E27FC236}">
                <a16:creationId xmlns:a16="http://schemas.microsoft.com/office/drawing/2014/main" id="{14E92B0C-9A28-4D52-9D29-EF66B6B7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3238500" cy="1190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5" name="f1-frame">
            <a:extLst xmlns:a="http://schemas.openxmlformats.org/drawingml/2006/main">
              <a:ext uri="{FF2B5EF4-FFF2-40B4-BE49-F238E27FC236}">
                <a16:creationId xmlns:a16="http://schemas.microsoft.com/office/drawing/2014/main" id="{05EC1519-1BCB-42BC-9327-F6A6BE0B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3238500" cy="1190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f2-frame">
            <a:extLst xmlns:a="http://schemas.openxmlformats.org/drawingml/2006/main">
              <a:ext uri="{FF2B5EF4-FFF2-40B4-BE49-F238E27FC236}">
                <a16:creationId xmlns:a16="http://schemas.microsoft.com/office/drawing/2014/main" id="{5D0E2D8C-6CCC-42AD-9813-49232DF4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05250"/>
            <a:ext cx="3238500" cy="1190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g0-text">
            <a:extLst xmlns:a="http://schemas.openxmlformats.org/drawingml/2006/main">
              <a:ext uri="{FF2B5EF4-FFF2-40B4-BE49-F238E27FC236}">
                <a16:creationId xmlns:a16="http://schemas.microsoft.com/office/drawing/2014/main" id="{48393673-08BD-44BC-BF5A-91F95A4E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71575"/>
            <a:ext cx="28956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PLANO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área constante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I ∝ r⁰</a:t>
            </a:r>
          </a:p>
        </p:txBody>
      </p:sp>
      <p:sp>
        <p:nvSpPr>
          <p:cNvPr id="8" name="g1-text">
            <a:extLst xmlns:a="http://schemas.openxmlformats.org/drawingml/2006/main">
              <a:ext uri="{FF2B5EF4-FFF2-40B4-BE49-F238E27FC236}">
                <a16:creationId xmlns:a16="http://schemas.microsoft.com/office/drawing/2014/main" id="{3E287721-FAFF-46C0-96B3-5FEC12C9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171575"/>
            <a:ext cx="28956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CILÍNDRICO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área ∝ r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I ∝ r⁻¹</a:t>
            </a:r>
          </a:p>
        </p:txBody>
      </p:sp>
      <p:sp>
        <p:nvSpPr>
          <p:cNvPr id="9" name="g2-text">
            <a:extLst xmlns:a="http://schemas.openxmlformats.org/drawingml/2006/main">
              <a:ext uri="{FF2B5EF4-FFF2-40B4-BE49-F238E27FC236}">
                <a16:creationId xmlns:a16="http://schemas.microsoft.com/office/drawing/2014/main" id="{E6EC2EFA-8D5F-4B65-A7EB-8EF2A5A1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171575"/>
            <a:ext cx="28956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ESFÉRICO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área ∝ r²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I ∝ r⁻²</a:t>
            </a:r>
          </a:p>
        </p:txBody>
      </p:sp>
      <p:sp>
        <p:nvSpPr>
          <p:cNvPr id="10" name="f0-text">
            <a:extLst xmlns:a="http://schemas.openxmlformats.org/drawingml/2006/main">
              <a:ext uri="{FF2B5EF4-FFF2-40B4-BE49-F238E27FC236}">
                <a16:creationId xmlns:a16="http://schemas.microsoft.com/office/drawing/2014/main" id="{AA1C77A1-22AC-42B5-B88E-8F66691D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28956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Campo libre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onda directa domina</a:t>
            </a:r>
          </a:p>
        </p:txBody>
      </p:sp>
      <p:sp>
        <p:nvSpPr>
          <p:cNvPr id="11" name="f1-text">
            <a:extLst xmlns:a="http://schemas.openxmlformats.org/drawingml/2006/main">
              <a:ext uri="{FF2B5EF4-FFF2-40B4-BE49-F238E27FC236}">
                <a16:creationId xmlns:a16="http://schemas.microsoft.com/office/drawing/2014/main" id="{DD7B99A9-B095-4833-A1DF-227D4478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76700"/>
            <a:ext cx="28956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Campo próximo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modelo lejano no vale</a:t>
            </a:r>
          </a:p>
        </p:txBody>
      </p:sp>
      <p:sp>
        <p:nvSpPr>
          <p:cNvPr id="12" name="f2-text">
            <a:extLst xmlns:a="http://schemas.openxmlformats.org/drawingml/2006/main">
              <a:ext uri="{FF2B5EF4-FFF2-40B4-BE49-F238E27FC236}">
                <a16:creationId xmlns:a16="http://schemas.microsoft.com/office/drawing/2014/main" id="{B0421407-63FF-4AA0-86B7-98CB7478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76700"/>
            <a:ext cx="28956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Reverberante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reflexiones importantes</a:t>
            </a:r>
          </a:p>
        </p:txBody>
      </p:sp>
      <p:sp>
        <p:nvSpPr>
          <p:cNvPr id="13" name="sep-text">
            <a:extLst xmlns:a="http://schemas.openxmlformats.org/drawingml/2006/main">
              <a:ext uri="{FF2B5EF4-FFF2-40B4-BE49-F238E27FC236}">
                <a16:creationId xmlns:a16="http://schemas.microsoft.com/office/drawing/2014/main" id="{51A53F32-A63C-4E79-8D00-27C17920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7150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F541A"/>
                </a:solidFill>
              </a:defRPr>
            </a:pPr>
            <a:r>
              <a:rPr sz="1875" b="1">
                <a:solidFill>
                  <a:srgbClr val="9F541A"/>
                </a:solidFill>
              </a:rPr>
              <a:t>Geometría del frente ≠ tipo de campo</a:t>
            </a:r>
          </a:p>
        </p:txBody>
      </p:sp>
      <p:sp>
        <p:nvSpPr>
          <p:cNvPr id="14" name="U04-DG-015-scale-text">
            <a:extLst xmlns:a="http://schemas.openxmlformats.org/drawingml/2006/main">
              <a:ext uri="{FF2B5EF4-FFF2-40B4-BE49-F238E27FC236}">
                <a16:creationId xmlns:a16="http://schemas.microsoft.com/office/drawing/2014/main" id="{D2113D94-7842-4543-B92C-F351EFF2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103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69FA7"/>
                </a:solidFill>
              </a:defRPr>
            </a:pPr>
            <a:r>
              <a:rPr sz="1350" b="1">
                <a:solidFill>
                  <a:srgbClr val="969FA7"/>
                </a:solidFill>
              </a:rPr>
              <a:t>FIGURA NO A ESCALA</a:t>
            </a:r>
          </a:p>
        </p:txBody>
      </p:sp>
    </p:spTree>
    <p:extLst>
      <p:ext uri="{BB962C8B-B14F-4D97-AF65-F5344CB8AC3E}">
        <p14:creationId xmlns:p14="http://schemas.microsoft.com/office/powerpoint/2010/main" val="19619231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rc-frame">
            <a:extLst xmlns:a="http://schemas.openxmlformats.org/drawingml/2006/main">
              <a:ext uri="{FF2B5EF4-FFF2-40B4-BE49-F238E27FC236}">
                <a16:creationId xmlns:a16="http://schemas.microsoft.com/office/drawing/2014/main" id="{4005D035-944C-4803-9F12-E9E9958C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6192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2" name="r1-frame">
            <a:extLst xmlns:a="http://schemas.openxmlformats.org/drawingml/2006/main">
              <a:ext uri="{FF2B5EF4-FFF2-40B4-BE49-F238E27FC236}">
                <a16:creationId xmlns:a16="http://schemas.microsoft.com/office/drawing/2014/main" id="{3220B695-5726-4C65-850B-F8D10FAA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19250"/>
            <a:ext cx="2095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r2-frame">
            <a:extLst xmlns:a="http://schemas.openxmlformats.org/drawingml/2006/main">
              <a:ext uri="{FF2B5EF4-FFF2-40B4-BE49-F238E27FC236}">
                <a16:creationId xmlns:a16="http://schemas.microsoft.com/office/drawing/2014/main" id="{6DB60AAD-F2D6-4524-B5B1-54565EFE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14750"/>
            <a:ext cx="2095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step0-frame">
            <a:extLst xmlns:a="http://schemas.openxmlformats.org/drawingml/2006/main">
              <a:ext uri="{FF2B5EF4-FFF2-40B4-BE49-F238E27FC236}">
                <a16:creationId xmlns:a16="http://schemas.microsoft.com/office/drawing/2014/main" id="{67D71A8C-341D-4932-A701-A84CB299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904875"/>
            <a:ext cx="46672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5" name="step1-frame">
            <a:extLst xmlns:a="http://schemas.openxmlformats.org/drawingml/2006/main">
              <a:ext uri="{FF2B5EF4-FFF2-40B4-BE49-F238E27FC236}">
                <a16:creationId xmlns:a16="http://schemas.microsoft.com/office/drawing/2014/main" id="{BD7D4EBB-DC12-4A8F-8D8D-CCD3997D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46672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step2-frame">
            <a:extLst xmlns:a="http://schemas.openxmlformats.org/drawingml/2006/main">
              <a:ext uri="{FF2B5EF4-FFF2-40B4-BE49-F238E27FC236}">
                <a16:creationId xmlns:a16="http://schemas.microsoft.com/office/drawing/2014/main" id="{18BBB854-D9B4-4647-80CB-738B3CC2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46672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ep3-frame">
            <a:extLst xmlns:a="http://schemas.openxmlformats.org/drawingml/2006/main">
              <a:ext uri="{FF2B5EF4-FFF2-40B4-BE49-F238E27FC236}">
                <a16:creationId xmlns:a16="http://schemas.microsoft.com/office/drawing/2014/main" id="{A01903BB-1D11-45A1-A039-329E6680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46672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U04-DG-016-edge-src-r1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 flipV="1">
            <a:off x="2381250" y="2095500"/>
            <a:ext cx="57150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" name="U04-DG-016-edge-src-r2"/>
          <p:cNvCxnSpPr>
            <a:stCxn xmlns:a="http://schemas.openxmlformats.org/drawingml/2006/main" id="1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381250" y="3048000"/>
            <a:ext cx="57150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2" name="U04-DG-016-edge-step0-step1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8524875" y="1781175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" name="U04-DG-016-edge-step1-step2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8524875" y="3067050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" name="U04-DG-016-edge-step2-step3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8524875" y="4352925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3" name="src-text">
            <a:extLst xmlns:a="http://schemas.openxmlformats.org/drawingml/2006/main">
              <a:ext uri="{FF2B5EF4-FFF2-40B4-BE49-F238E27FC236}">
                <a16:creationId xmlns:a16="http://schemas.microsoft.com/office/drawing/2014/main" id="{B5F5E31A-500D-44D3-9167-36FA4414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1276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FUENTE</a:t>
            </a:r>
          </a:p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puntual</a:t>
            </a:r>
          </a:p>
        </p:txBody>
      </p:sp>
      <p:sp>
        <p:nvSpPr>
          <p:cNvPr id="14" name="r1-text">
            <a:extLst xmlns:a="http://schemas.openxmlformats.org/drawingml/2006/main">
              <a:ext uri="{FF2B5EF4-FFF2-40B4-BE49-F238E27FC236}">
                <a16:creationId xmlns:a16="http://schemas.microsoft.com/office/drawing/2014/main" id="{DD3588F6-3A91-42D0-819C-126DE97F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5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Superficie 1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A₁=4πr₁²</a:t>
            </a:r>
          </a:p>
        </p:txBody>
      </p:sp>
      <p:sp>
        <p:nvSpPr>
          <p:cNvPr id="15" name="r2-text">
            <a:extLst xmlns:a="http://schemas.openxmlformats.org/drawingml/2006/main">
              <a:ext uri="{FF2B5EF4-FFF2-40B4-BE49-F238E27FC236}">
                <a16:creationId xmlns:a16="http://schemas.microsoft.com/office/drawing/2014/main" id="{A37EA278-9E17-4BD7-AB30-45A14675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86200"/>
            <a:ext cx="175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Superficie 2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A₂=4πr₂²</a:t>
            </a:r>
          </a:p>
        </p:txBody>
      </p:sp>
      <p:sp>
        <p:nvSpPr>
          <p:cNvPr id="16" name="step0-text">
            <a:extLst xmlns:a="http://schemas.openxmlformats.org/drawingml/2006/main">
              <a:ext uri="{FF2B5EF4-FFF2-40B4-BE49-F238E27FC236}">
                <a16:creationId xmlns:a16="http://schemas.microsoft.com/office/drawing/2014/main" id="{85DD452A-D5CE-471F-9AE9-81AE5B60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076325"/>
            <a:ext cx="4324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2A2E"/>
                </a:solidFill>
              </a:defRPr>
            </a:pPr>
            <a:r>
              <a:rPr sz="1875" b="0">
                <a:solidFill>
                  <a:srgbClr val="242A2E"/>
                </a:solidFill>
              </a:rPr>
              <a:t>1 · A ∝ r²</a:t>
            </a:r>
          </a:p>
        </p:txBody>
      </p:sp>
      <p:sp>
        <p:nvSpPr>
          <p:cNvPr id="17" name="step1-text">
            <a:extLst xmlns:a="http://schemas.openxmlformats.org/drawingml/2006/main">
              <a:ext uri="{FF2B5EF4-FFF2-40B4-BE49-F238E27FC236}">
                <a16:creationId xmlns:a16="http://schemas.microsoft.com/office/drawing/2014/main" id="{074097F5-643F-49C5-AFE3-06A44D9E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4324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2A2E"/>
                </a:solidFill>
              </a:defRPr>
            </a:pPr>
            <a:r>
              <a:rPr sz="1875" b="0">
                <a:solidFill>
                  <a:srgbClr val="242A2E"/>
                </a:solidFill>
              </a:rPr>
              <a:t>2 · I ∝ 1/r²</a:t>
            </a:r>
          </a:p>
        </p:txBody>
      </p:sp>
      <p:sp>
        <p:nvSpPr>
          <p:cNvPr id="18" name="step2-text">
            <a:extLst xmlns:a="http://schemas.openxmlformats.org/drawingml/2006/main">
              <a:ext uri="{FF2B5EF4-FFF2-40B4-BE49-F238E27FC236}">
                <a16:creationId xmlns:a16="http://schemas.microsoft.com/office/drawing/2014/main" id="{2CF8C7F6-CB68-4530-AEAE-BD448D0E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48075"/>
            <a:ext cx="4324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2A2E"/>
                </a:solidFill>
              </a:defRPr>
            </a:pPr>
            <a:r>
              <a:rPr sz="1875" b="0">
                <a:solidFill>
                  <a:srgbClr val="242A2E"/>
                </a:solidFill>
              </a:rPr>
              <a:t>3 · pᵣₘₛ ∝ 1/r</a:t>
            </a:r>
          </a:p>
        </p:txBody>
      </p:sp>
      <p:sp>
        <p:nvSpPr>
          <p:cNvPr id="19" name="step3-text">
            <a:extLst xmlns:a="http://schemas.openxmlformats.org/drawingml/2006/main">
              <a:ext uri="{FF2B5EF4-FFF2-40B4-BE49-F238E27FC236}">
                <a16:creationId xmlns:a16="http://schemas.microsoft.com/office/drawing/2014/main" id="{4F206100-DBD0-4DF0-8064-DE7CF8FE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33950"/>
            <a:ext cx="4324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2A2E"/>
                </a:solidFill>
              </a:defRPr>
            </a:pPr>
            <a:r>
              <a:rPr sz="2100" b="1">
                <a:solidFill>
                  <a:srgbClr val="242A2E"/>
                </a:solidFill>
              </a:rPr>
              <a:t>4 · ΔLₚ=20log₁₀(r₁/r₂)</a:t>
            </a:r>
          </a:p>
        </p:txBody>
      </p:sp>
      <p:sp>
        <p:nvSpPr>
          <p:cNvPr id="20" name="U04-DG-016-label-src-r1-text">
            <a:extLst xmlns:a="http://schemas.openxmlformats.org/drawingml/2006/main">
              <a:ext uri="{FF2B5EF4-FFF2-40B4-BE49-F238E27FC236}">
                <a16:creationId xmlns:a16="http://schemas.microsoft.com/office/drawing/2014/main" id="{88E4202C-A816-44F8-A91C-28E77FFA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1145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r₁</a:t>
            </a:r>
          </a:p>
        </p:txBody>
      </p:sp>
      <p:sp>
        <p:nvSpPr>
          <p:cNvPr id="21" name="U04-DG-016-label-src-r2-text">
            <a:extLst xmlns:a="http://schemas.openxmlformats.org/drawingml/2006/main">
              <a:ext uri="{FF2B5EF4-FFF2-40B4-BE49-F238E27FC236}">
                <a16:creationId xmlns:a16="http://schemas.microsoft.com/office/drawing/2014/main" id="{30396038-6F81-4C3D-AFDE-3B7C3D8F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1623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r₂</a:t>
            </a:r>
          </a:p>
        </p:txBody>
      </p:sp>
      <p:sp>
        <p:nvSpPr>
          <p:cNvPr id="22" name="U04-DG-016-scale-text">
            <a:extLst xmlns:a="http://schemas.openxmlformats.org/drawingml/2006/main">
              <a:ext uri="{FF2B5EF4-FFF2-40B4-BE49-F238E27FC236}">
                <a16:creationId xmlns:a16="http://schemas.microsoft.com/office/drawing/2014/main" id="{B72F8D13-743D-4D66-AB51-1435E3DC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103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69FA7"/>
                </a:solidFill>
              </a:defRPr>
            </a:pPr>
            <a:r>
              <a:rPr sz="1350" b="1">
                <a:solidFill>
                  <a:srgbClr val="969FA7"/>
                </a:solidFill>
              </a:rPr>
              <a:t>FIGURA NO A ESCALA</a:t>
            </a:r>
          </a:p>
        </p:txBody>
      </p:sp>
    </p:spTree>
    <p:extLst>
      <p:ext uri="{BB962C8B-B14F-4D97-AF65-F5344CB8AC3E}">
        <p14:creationId xmlns:p14="http://schemas.microsoft.com/office/powerpoint/2010/main" val="20882261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omni-frame">
            <a:extLst xmlns:a="http://schemas.openxmlformats.org/drawingml/2006/main">
              <a:ext uri="{FF2B5EF4-FFF2-40B4-BE49-F238E27FC236}">
                <a16:creationId xmlns:a16="http://schemas.microsoft.com/office/drawing/2014/main" id="{1557ED70-3DF3-4180-882B-774ECFA8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31432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2" name="dir-frame">
            <a:extLst xmlns:a="http://schemas.openxmlformats.org/drawingml/2006/main">
              <a:ext uri="{FF2B5EF4-FFF2-40B4-BE49-F238E27FC236}">
                <a16:creationId xmlns:a16="http://schemas.microsoft.com/office/drawing/2014/main" id="{A674CF03-41F9-40DE-ABB0-D5A7CE80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19250"/>
            <a:ext cx="31432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3" name="idx-frame">
            <a:extLst xmlns:a="http://schemas.openxmlformats.org/drawingml/2006/main">
              <a:ext uri="{FF2B5EF4-FFF2-40B4-BE49-F238E27FC236}">
                <a16:creationId xmlns:a16="http://schemas.microsoft.com/office/drawing/2014/main" id="{2ABBD43A-1B9D-47CE-81AA-27DCB10D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19250"/>
            <a:ext cx="31432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cxnSp>
        <p:nvCxnSpPr>
          <p:cNvPr id="16" name="U04-DG-017-edge-omni-dir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3857625" y="28098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7" name="U04-DG-017-edge-dir-idx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7667625" y="28098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6" name="omni-text">
            <a:extLst xmlns:a="http://schemas.openxmlformats.org/drawingml/2006/main">
              <a:ext uri="{FF2B5EF4-FFF2-40B4-BE49-F238E27FC236}">
                <a16:creationId xmlns:a16="http://schemas.microsoft.com/office/drawing/2014/main" id="{13801E24-87E5-446F-AAEE-11E4A9FC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790700"/>
            <a:ext cx="2800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OMNIDIRECCIONAL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referencia ideal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misma potencia total</a:t>
            </a:r>
          </a:p>
        </p:txBody>
      </p:sp>
      <p:sp>
        <p:nvSpPr>
          <p:cNvPr id="7" name="dir-text">
            <a:extLst xmlns:a="http://schemas.openxmlformats.org/drawingml/2006/main">
              <a:ext uri="{FF2B5EF4-FFF2-40B4-BE49-F238E27FC236}">
                <a16:creationId xmlns:a16="http://schemas.microsoft.com/office/drawing/2014/main" id="{E43E251A-0F18-411F-A8FB-3AB89729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790700"/>
            <a:ext cx="2800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DIRECCIONAL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redistribuye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energía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según ángulo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y frecuencia</a:t>
            </a:r>
          </a:p>
        </p:txBody>
      </p:sp>
      <p:sp>
        <p:nvSpPr>
          <p:cNvPr id="8" name="idx-text">
            <a:extLst xmlns:a="http://schemas.openxmlformats.org/drawingml/2006/main">
              <a:ext uri="{FF2B5EF4-FFF2-40B4-BE49-F238E27FC236}">
                <a16:creationId xmlns:a16="http://schemas.microsoft.com/office/drawing/2014/main" id="{E96B9956-E3D8-4D47-AD3C-6C7A3DF2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790700"/>
            <a:ext cx="2800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CUANTIFICAR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Q_dir =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I_dir / I_omni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DI = 10log₁₀(Q_dir)</a:t>
            </a:r>
          </a:p>
        </p:txBody>
      </p:sp>
      <p:sp>
        <p:nvSpPr>
          <p:cNvPr id="9" name="U04-DG-017-label-omni-dir-text">
            <a:extLst xmlns:a="http://schemas.openxmlformats.org/drawingml/2006/main">
              <a:ext uri="{FF2B5EF4-FFF2-40B4-BE49-F238E27FC236}">
                <a16:creationId xmlns:a16="http://schemas.microsoft.com/office/drawing/2014/main" id="{67AB4802-9DD7-45EF-8910-A865DCEF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52675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igual W y r</a:t>
            </a:r>
          </a:p>
        </p:txBody>
      </p:sp>
      <p:sp>
        <p:nvSpPr>
          <p:cNvPr id="10" name="U04-DG-017-label-dir-idx-text">
            <a:extLst xmlns:a="http://schemas.openxmlformats.org/drawingml/2006/main">
              <a:ext uri="{FF2B5EF4-FFF2-40B4-BE49-F238E27FC236}">
                <a16:creationId xmlns:a16="http://schemas.microsoft.com/office/drawing/2014/main" id="{44F462B8-9C15-460E-B76B-8FAA5ABB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52675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comparar</a:t>
            </a:r>
          </a:p>
        </p:txBody>
      </p:sp>
      <p:sp>
        <p:nvSpPr>
          <p:cNvPr id="11" name="freq-text">
            <a:extLst xmlns:a="http://schemas.openxmlformats.org/drawingml/2006/main">
              <a:ext uri="{FF2B5EF4-FFF2-40B4-BE49-F238E27FC236}">
                <a16:creationId xmlns:a16="http://schemas.microsoft.com/office/drawing/2014/main" id="{18F7D17B-5E22-4EE5-BDD7-3E59FEE9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530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D1434"/>
                </a:solidFill>
              </a:defRPr>
            </a:pPr>
            <a:r>
              <a:rPr sz="1800" b="1">
                <a:solidFill>
                  <a:srgbClr val="4D1434"/>
                </a:solidFill>
              </a:rPr>
              <a:t>Siempre indicar dirección, frecuencia y condiciones.</a:t>
            </a:r>
          </a:p>
        </p:txBody>
      </p:sp>
      <p:sp>
        <p:nvSpPr>
          <p:cNvPr id="12" name="U04-DG-017-scale-text">
            <a:extLst xmlns:a="http://schemas.openxmlformats.org/drawingml/2006/main">
              <a:ext uri="{FF2B5EF4-FFF2-40B4-BE49-F238E27FC236}">
                <a16:creationId xmlns:a16="http://schemas.microsoft.com/office/drawing/2014/main" id="{4A9E999E-A54D-45BE-BDF1-484FCD8F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103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69FA7"/>
                </a:solidFill>
              </a:defRPr>
            </a:pPr>
            <a:r>
              <a:rPr sz="1350" b="1">
                <a:solidFill>
                  <a:srgbClr val="969FA7"/>
                </a:solidFill>
              </a:rPr>
              <a:t>FIGURA NO A ESCALA</a:t>
            </a:r>
          </a:p>
        </p:txBody>
      </p:sp>
    </p:spTree>
    <p:extLst>
      <p:ext uri="{BB962C8B-B14F-4D97-AF65-F5344CB8AC3E}">
        <p14:creationId xmlns:p14="http://schemas.microsoft.com/office/powerpoint/2010/main" val="7807196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U04-DG-018-N1-frame">
            <a:extLst xmlns:a="http://schemas.openxmlformats.org/drawingml/2006/main">
              <a:ext uri="{FF2B5EF4-FFF2-40B4-BE49-F238E27FC236}">
                <a16:creationId xmlns:a16="http://schemas.microsoft.com/office/drawing/2014/main" id="{D77984AC-8AE5-4015-9592-8BE86F65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26670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2" name="U04-DG-018-N2-frame">
            <a:extLst xmlns:a="http://schemas.openxmlformats.org/drawingml/2006/main">
              <a:ext uri="{FF2B5EF4-FFF2-40B4-BE49-F238E27FC236}">
                <a16:creationId xmlns:a16="http://schemas.microsoft.com/office/drawing/2014/main" id="{308F0243-4F19-4E41-9F9A-BE8257F3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81125"/>
            <a:ext cx="26670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U04-DG-018-N3-frame">
            <a:extLst xmlns:a="http://schemas.openxmlformats.org/drawingml/2006/main">
              <a:ext uri="{FF2B5EF4-FFF2-40B4-BE49-F238E27FC236}">
                <a16:creationId xmlns:a16="http://schemas.microsoft.com/office/drawing/2014/main" id="{43E3A68E-B592-402D-905E-54AEDF59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81125"/>
            <a:ext cx="26670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U04-DG-018-N4-frame">
            <a:extLst xmlns:a="http://schemas.openxmlformats.org/drawingml/2006/main">
              <a:ext uri="{FF2B5EF4-FFF2-40B4-BE49-F238E27FC236}">
                <a16:creationId xmlns:a16="http://schemas.microsoft.com/office/drawing/2014/main" id="{0DD67A15-16D4-4C21-ACE5-9BF15993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6670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5" name="U04-DG-018-N5-frame">
            <a:extLst xmlns:a="http://schemas.openxmlformats.org/drawingml/2006/main">
              <a:ext uri="{FF2B5EF4-FFF2-40B4-BE49-F238E27FC236}">
                <a16:creationId xmlns:a16="http://schemas.microsoft.com/office/drawing/2014/main" id="{B4BC35F4-5C66-444A-8C30-3D259F2C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81500"/>
            <a:ext cx="26670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U04-DG-018-N6-frame">
            <a:extLst xmlns:a="http://schemas.openxmlformats.org/drawingml/2006/main">
              <a:ext uri="{FF2B5EF4-FFF2-40B4-BE49-F238E27FC236}">
                <a16:creationId xmlns:a16="http://schemas.microsoft.com/office/drawing/2014/main" id="{DC7D1137-ADB9-4F97-8781-C36C4930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81500"/>
            <a:ext cx="26670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cxnSp>
        <p:nvCxnSpPr>
          <p:cNvPr id="28" name="U04-DG-018-edge-U04-DG-018-N1-U04-DG-018-N2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3429000" y="1881188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9" name="U04-DG-018-edge-U04-DG-018-N2-U04-DG-018-N3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7429500" y="1881188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0" name="U04-DG-018-edge-U04-DG-018-N4-U04-DG-018-N5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429000" y="4881563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" name="U04-DG-018-edge-U04-DG-018-N5-U04-DG-018-N6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429500" y="4881563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2" name="U04-DG-018-edge-U04-DG-018-N3-U04-DG-018-N4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2095500" y="2381250"/>
            <a:ext cx="8001000" cy="2000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2" name="U04-DG-018-N1-text">
            <a:extLst xmlns:a="http://schemas.openxmlformats.org/drawingml/2006/main">
              <a:ext uri="{FF2B5EF4-FFF2-40B4-BE49-F238E27FC236}">
                <a16:creationId xmlns:a16="http://schemas.microsoft.com/office/drawing/2014/main" id="{148AB714-DAC6-4EFC-94D7-3A816216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52575"/>
            <a:ext cx="23241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Fuente</a:t>
            </a:r>
          </a:p>
        </p:txBody>
      </p:sp>
      <p:sp>
        <p:nvSpPr>
          <p:cNvPr id="13" name="U04-DG-018-N2-text">
            <a:extLst xmlns:a="http://schemas.openxmlformats.org/drawingml/2006/main">
              <a:ext uri="{FF2B5EF4-FFF2-40B4-BE49-F238E27FC236}">
                <a16:creationId xmlns:a16="http://schemas.microsoft.com/office/drawing/2014/main" id="{BA6305C6-8EBE-483B-9072-59AB20D0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552575"/>
            <a:ext cx="23241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Campo en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un punto</a:t>
            </a:r>
          </a:p>
        </p:txBody>
      </p:sp>
      <p:sp>
        <p:nvSpPr>
          <p:cNvPr id="14" name="U04-DG-018-N3-text">
            <a:extLst xmlns:a="http://schemas.openxmlformats.org/drawingml/2006/main">
              <a:ext uri="{FF2B5EF4-FFF2-40B4-BE49-F238E27FC236}">
                <a16:creationId xmlns:a16="http://schemas.microsoft.com/office/drawing/2014/main" id="{5143BB73-50E0-42CA-A73F-B7869AC4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52575"/>
            <a:ext cx="23241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Sensor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calibrado</a:t>
            </a:r>
          </a:p>
        </p:txBody>
      </p:sp>
      <p:sp>
        <p:nvSpPr>
          <p:cNvPr id="15" name="U04-DG-018-N4-text">
            <a:extLst xmlns:a="http://schemas.openxmlformats.org/drawingml/2006/main">
              <a:ext uri="{FF2B5EF4-FFF2-40B4-BE49-F238E27FC236}">
                <a16:creationId xmlns:a16="http://schemas.microsoft.com/office/drawing/2014/main" id="{B02B54BB-32B3-4DFA-B9FC-52AF5643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23241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Procesamiento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RMS/ajustes</a:t>
            </a:r>
          </a:p>
        </p:txBody>
      </p:sp>
      <p:sp>
        <p:nvSpPr>
          <p:cNvPr id="16" name="U04-DG-018-N5-text">
            <a:extLst xmlns:a="http://schemas.openxmlformats.org/drawingml/2006/main">
              <a:ext uri="{FF2B5EF4-FFF2-40B4-BE49-F238E27FC236}">
                <a16:creationId xmlns:a16="http://schemas.microsoft.com/office/drawing/2014/main" id="{8D78F78C-4CEF-46AD-A3C9-CD431728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552950"/>
            <a:ext cx="23241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Nivel con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referencia</a:t>
            </a:r>
          </a:p>
        </p:txBody>
      </p:sp>
      <p:sp>
        <p:nvSpPr>
          <p:cNvPr id="17" name="U04-DG-018-N6-text">
            <a:extLst xmlns:a="http://schemas.openxmlformats.org/drawingml/2006/main">
              <a:ext uri="{FF2B5EF4-FFF2-40B4-BE49-F238E27FC236}">
                <a16:creationId xmlns:a16="http://schemas.microsoft.com/office/drawing/2014/main" id="{5144582E-BD6E-4C89-87E9-50C2E495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552950"/>
            <a:ext cx="23241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Informe con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condiciones</a:t>
            </a:r>
          </a:p>
        </p:txBody>
      </p:sp>
      <p:sp>
        <p:nvSpPr>
          <p:cNvPr id="18" name="U04-DG-018-label-U04-DG-018-N1-U04-DG-018-N2-text">
            <a:extLst xmlns:a="http://schemas.openxmlformats.org/drawingml/2006/main">
              <a:ext uri="{FF2B5EF4-FFF2-40B4-BE49-F238E27FC236}">
                <a16:creationId xmlns:a16="http://schemas.microsoft.com/office/drawing/2014/main" id="{9AF4B89A-0F6D-448F-92E6-698422C5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23988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origina</a:t>
            </a:r>
          </a:p>
        </p:txBody>
      </p:sp>
      <p:sp>
        <p:nvSpPr>
          <p:cNvPr id="19" name="U04-DG-018-label-U04-DG-018-N2-U04-DG-018-N3-text">
            <a:extLst xmlns:a="http://schemas.openxmlformats.org/drawingml/2006/main">
              <a:ext uri="{FF2B5EF4-FFF2-40B4-BE49-F238E27FC236}">
                <a16:creationId xmlns:a16="http://schemas.microsoft.com/office/drawing/2014/main" id="{EA44A26A-D36E-4DC5-AFDE-9C153A16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3988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mide</a:t>
            </a:r>
          </a:p>
        </p:txBody>
      </p:sp>
      <p:sp>
        <p:nvSpPr>
          <p:cNvPr id="20" name="U04-DG-018-label-U04-DG-018-N4-U04-DG-018-N5-text">
            <a:extLst xmlns:a="http://schemas.openxmlformats.org/drawingml/2006/main">
              <a:ext uri="{FF2B5EF4-FFF2-40B4-BE49-F238E27FC236}">
                <a16:creationId xmlns:a16="http://schemas.microsoft.com/office/drawing/2014/main" id="{FD9F34D7-CBEA-4127-841D-9330ABBA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24363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expresa</a:t>
            </a:r>
          </a:p>
        </p:txBody>
      </p:sp>
      <p:sp>
        <p:nvSpPr>
          <p:cNvPr id="21" name="U04-DG-018-label-U04-DG-018-N5-U04-DG-018-N6-text">
            <a:extLst xmlns:a="http://schemas.openxmlformats.org/drawingml/2006/main">
              <a:ext uri="{FF2B5EF4-FFF2-40B4-BE49-F238E27FC236}">
                <a16:creationId xmlns:a16="http://schemas.microsoft.com/office/drawing/2014/main" id="{239EB3DA-B492-411E-8825-02A25188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24363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interpreta</a:t>
            </a:r>
          </a:p>
        </p:txBody>
      </p:sp>
    </p:spTree>
    <p:extLst>
      <p:ext uri="{BB962C8B-B14F-4D97-AF65-F5344CB8AC3E}">
        <p14:creationId xmlns:p14="http://schemas.microsoft.com/office/powerpoint/2010/main" val="111389077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0-frame">
            <a:extLst xmlns:a="http://schemas.openxmlformats.org/drawingml/2006/main">
              <a:ext uri="{FF2B5EF4-FFF2-40B4-BE49-F238E27FC236}">
                <a16:creationId xmlns:a16="http://schemas.microsoft.com/office/drawing/2014/main" id="{763156D8-11E3-4EBD-AB14-C98D2247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5334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2" name="e1-frame">
            <a:extLst xmlns:a="http://schemas.openxmlformats.org/drawingml/2006/main">
              <a:ext uri="{FF2B5EF4-FFF2-40B4-BE49-F238E27FC236}">
                <a16:creationId xmlns:a16="http://schemas.microsoft.com/office/drawing/2014/main" id="{7E0E4B70-81BA-4F46-973B-02F27A63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334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e2-frame">
            <a:extLst xmlns:a="http://schemas.openxmlformats.org/drawingml/2006/main">
              <a:ext uri="{FF2B5EF4-FFF2-40B4-BE49-F238E27FC236}">
                <a16:creationId xmlns:a16="http://schemas.microsoft.com/office/drawing/2014/main" id="{A8B4FF76-E75F-4871-8B76-5D8E1DF1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24250"/>
            <a:ext cx="5334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e3-frame">
            <a:extLst xmlns:a="http://schemas.openxmlformats.org/drawingml/2006/main">
              <a:ext uri="{FF2B5EF4-FFF2-40B4-BE49-F238E27FC236}">
                <a16:creationId xmlns:a16="http://schemas.microsoft.com/office/drawing/2014/main" id="{31B43EDC-F41D-4A3E-89C7-6D2BAB49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0"/>
            <a:ext cx="5334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5" name="e4-frame">
            <a:extLst xmlns:a="http://schemas.openxmlformats.org/drawingml/2006/main">
              <a:ext uri="{FF2B5EF4-FFF2-40B4-BE49-F238E27FC236}">
                <a16:creationId xmlns:a16="http://schemas.microsoft.com/office/drawing/2014/main" id="{802E91D8-4AD3-4E4A-9C6B-C65D409E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66750"/>
            <a:ext cx="5334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e5-frame">
            <a:extLst xmlns:a="http://schemas.openxmlformats.org/drawingml/2006/main">
              <a:ext uri="{FF2B5EF4-FFF2-40B4-BE49-F238E27FC236}">
                <a16:creationId xmlns:a16="http://schemas.microsoft.com/office/drawing/2014/main" id="{70701769-BBBE-42A3-B6F7-F1F31CF3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95500"/>
            <a:ext cx="5334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e6-frame">
            <a:extLst xmlns:a="http://schemas.openxmlformats.org/drawingml/2006/main">
              <a:ext uri="{FF2B5EF4-FFF2-40B4-BE49-F238E27FC236}">
                <a16:creationId xmlns:a16="http://schemas.microsoft.com/office/drawing/2014/main" id="{BF5CF103-F63F-49BE-834C-5E791E75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0"/>
            <a:ext cx="5334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8" name="e0-text">
            <a:extLst xmlns:a="http://schemas.openxmlformats.org/drawingml/2006/main">
              <a:ext uri="{FF2B5EF4-FFF2-40B4-BE49-F238E27FC236}">
                <a16:creationId xmlns:a16="http://schemas.microsoft.com/office/drawing/2014/main" id="{2E477D05-8AF9-45F7-B0FA-B7761D90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38200"/>
            <a:ext cx="4991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A2E"/>
                </a:solidFill>
              </a:defRPr>
            </a:pPr>
            <a:r>
              <a:rPr sz="1650" b="0">
                <a:solidFill>
                  <a:srgbClr val="242A2E"/>
                </a:solidFill>
              </a:rPr>
              <a:t>ERROR: u = c</a:t>
            </a:r>
          </a:p>
          <a:p xmlns:a="http://schemas.openxmlformats.org/drawingml/2006/main">
            <a:pPr algn="ctr">
              <a:defRPr sz="1650" b="0">
                <a:solidFill>
                  <a:srgbClr val="242A2E"/>
                </a:solidFill>
              </a:defRPr>
            </a:pPr>
            <a:r>
              <a:rPr sz="1650" b="0">
                <a:solidFill>
                  <a:srgbClr val="242A2E"/>
                </a:solidFill>
              </a:rPr>
              <a:t>CORRECCIÓN: movimiento local ≠ propagación</a:t>
            </a:r>
          </a:p>
        </p:txBody>
      </p:sp>
      <p:sp>
        <p:nvSpPr>
          <p:cNvPr id="9" name="e1-text">
            <a:extLst xmlns:a="http://schemas.openxmlformats.org/drawingml/2006/main">
              <a:ext uri="{FF2B5EF4-FFF2-40B4-BE49-F238E27FC236}">
                <a16:creationId xmlns:a16="http://schemas.microsoft.com/office/drawing/2014/main" id="{26350FDF-633E-4073-85A0-80287EAB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66950"/>
            <a:ext cx="4991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A2E"/>
                </a:solidFill>
              </a:defRPr>
            </a:pPr>
            <a:r>
              <a:rPr sz="1650" b="0">
                <a:solidFill>
                  <a:srgbClr val="242A2E"/>
                </a:solidFill>
              </a:rPr>
              <a:t>ERROR: media cero = señal nula</a:t>
            </a:r>
          </a:p>
          <a:p xmlns:a="http://schemas.openxmlformats.org/drawingml/2006/main">
            <a:pPr algn="ctr">
              <a:defRPr sz="1650" b="0">
                <a:solidFill>
                  <a:srgbClr val="242A2E"/>
                </a:solidFill>
              </a:defRPr>
            </a:pPr>
            <a:r>
              <a:rPr sz="1650" b="0">
                <a:solidFill>
                  <a:srgbClr val="242A2E"/>
                </a:solidFill>
              </a:rPr>
              <a:t>CORRECCIÓN: RMS puede ser distinto de cero</a:t>
            </a:r>
          </a:p>
        </p:txBody>
      </p:sp>
      <p:sp>
        <p:nvSpPr>
          <p:cNvPr id="10" name="e2-text">
            <a:extLst xmlns:a="http://schemas.openxmlformats.org/drawingml/2006/main">
              <a:ext uri="{FF2B5EF4-FFF2-40B4-BE49-F238E27FC236}">
                <a16:creationId xmlns:a16="http://schemas.microsoft.com/office/drawing/2014/main" id="{12F6AE9D-AB35-451E-A766-54DEA23C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95700"/>
            <a:ext cx="4991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A2E"/>
                </a:solidFill>
              </a:defRPr>
            </a:pPr>
            <a:r>
              <a:rPr sz="1650" b="0">
                <a:solidFill>
                  <a:srgbClr val="242A2E"/>
                </a:solidFill>
              </a:rPr>
              <a:t>ERROR: RMS = pico/√2 siempre</a:t>
            </a:r>
          </a:p>
          <a:p xmlns:a="http://schemas.openxmlformats.org/drawingml/2006/main">
            <a:pPr algn="ctr">
              <a:defRPr sz="1650" b="0">
                <a:solidFill>
                  <a:srgbClr val="242A2E"/>
                </a:solidFill>
              </a:defRPr>
            </a:pPr>
            <a:r>
              <a:rPr sz="1650" b="0">
                <a:solidFill>
                  <a:srgbClr val="242A2E"/>
                </a:solidFill>
              </a:rPr>
              <a:t>CORRECCIÓN: solo vale para una senoide</a:t>
            </a:r>
          </a:p>
        </p:txBody>
      </p:sp>
      <p:sp>
        <p:nvSpPr>
          <p:cNvPr id="11" name="e3-text">
            <a:extLst xmlns:a="http://schemas.openxmlformats.org/drawingml/2006/main">
              <a:ext uri="{FF2B5EF4-FFF2-40B4-BE49-F238E27FC236}">
                <a16:creationId xmlns:a16="http://schemas.microsoft.com/office/drawing/2014/main" id="{A0AEE9E0-5A99-4B25-85A3-2FD25DC1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124450"/>
            <a:ext cx="4991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A2E"/>
                </a:solidFill>
              </a:defRPr>
            </a:pPr>
            <a:r>
              <a:rPr sz="1650" b="0">
                <a:solidFill>
                  <a:srgbClr val="242A2E"/>
                </a:solidFill>
              </a:rPr>
              <a:t>ERROR: sumar dB aritméticamente</a:t>
            </a:r>
          </a:p>
          <a:p xmlns:a="http://schemas.openxmlformats.org/drawingml/2006/main">
            <a:pPr algn="ctr">
              <a:defRPr sz="1650" b="0">
                <a:solidFill>
                  <a:srgbClr val="242A2E"/>
                </a:solidFill>
              </a:defRPr>
            </a:pPr>
            <a:r>
              <a:rPr sz="1650" b="0">
                <a:solidFill>
                  <a:srgbClr val="242A2E"/>
                </a:solidFill>
              </a:rPr>
              <a:t>CORRECCIÓN: sumar magnitudes según el caso</a:t>
            </a:r>
          </a:p>
        </p:txBody>
      </p:sp>
      <p:sp>
        <p:nvSpPr>
          <p:cNvPr id="12" name="e4-text">
            <a:extLst xmlns:a="http://schemas.openxmlformats.org/drawingml/2006/main">
              <a:ext uri="{FF2B5EF4-FFF2-40B4-BE49-F238E27FC236}">
                <a16:creationId xmlns:a16="http://schemas.microsoft.com/office/drawing/2014/main" id="{23C24C6C-D86B-405C-9C34-137261E0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838200"/>
            <a:ext cx="4991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A2E"/>
                </a:solidFill>
              </a:defRPr>
            </a:pPr>
            <a:r>
              <a:rPr sz="1650" b="0">
                <a:solidFill>
                  <a:srgbClr val="242A2E"/>
                </a:solidFill>
              </a:rPr>
              <a:t>ERROR: −6 dB siempre</a:t>
            </a:r>
          </a:p>
          <a:p xmlns:a="http://schemas.openxmlformats.org/drawingml/2006/main">
            <a:pPr algn="ctr">
              <a:defRPr sz="1650" b="0">
                <a:solidFill>
                  <a:srgbClr val="242A2E"/>
                </a:solidFill>
              </a:defRPr>
            </a:pPr>
            <a:r>
              <a:rPr sz="1650" b="0">
                <a:solidFill>
                  <a:srgbClr val="242A2E"/>
                </a:solidFill>
              </a:rPr>
              <a:t>CORRECCIÓN: solo bajo modelo esférico válido</a:t>
            </a:r>
          </a:p>
        </p:txBody>
      </p:sp>
      <p:sp>
        <p:nvSpPr>
          <p:cNvPr id="13" name="e5-text">
            <a:extLst xmlns:a="http://schemas.openxmlformats.org/drawingml/2006/main">
              <a:ext uri="{FF2B5EF4-FFF2-40B4-BE49-F238E27FC236}">
                <a16:creationId xmlns:a16="http://schemas.microsoft.com/office/drawing/2014/main" id="{DE0EBD00-9CAF-4E30-959D-0B73973F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66950"/>
            <a:ext cx="4991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A2E"/>
                </a:solidFill>
              </a:defRPr>
            </a:pPr>
            <a:r>
              <a:rPr sz="1650" b="0">
                <a:solidFill>
                  <a:srgbClr val="242A2E"/>
                </a:solidFill>
              </a:rPr>
              <a:t>ERROR: reverberante = difuso</a:t>
            </a:r>
          </a:p>
          <a:p xmlns:a="http://schemas.openxmlformats.org/drawingml/2006/main">
            <a:pPr algn="ctr">
              <a:defRPr sz="1650" b="0">
                <a:solidFill>
                  <a:srgbClr val="242A2E"/>
                </a:solidFill>
              </a:defRPr>
            </a:pPr>
            <a:r>
              <a:rPr sz="1650" b="0">
                <a:solidFill>
                  <a:srgbClr val="242A2E"/>
                </a:solidFill>
              </a:rPr>
              <a:t>CORRECCIÓN: difuso requiere más condiciones</a:t>
            </a:r>
          </a:p>
        </p:txBody>
      </p:sp>
      <p:sp>
        <p:nvSpPr>
          <p:cNvPr id="14" name="e6-text">
            <a:extLst xmlns:a="http://schemas.openxmlformats.org/drawingml/2006/main">
              <a:ext uri="{FF2B5EF4-FFF2-40B4-BE49-F238E27FC236}">
                <a16:creationId xmlns:a16="http://schemas.microsoft.com/office/drawing/2014/main" id="{DD07AD2D-30BD-49DD-8185-ADDE756F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695700"/>
            <a:ext cx="4991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A2E"/>
                </a:solidFill>
              </a:defRPr>
            </a:pPr>
            <a:r>
              <a:rPr sz="1650" b="0">
                <a:solidFill>
                  <a:srgbClr val="242A2E"/>
                </a:solidFill>
              </a:rPr>
              <a:t>ERROR: dB = sonoridad</a:t>
            </a:r>
          </a:p>
          <a:p xmlns:a="http://schemas.openxmlformats.org/drawingml/2006/main">
            <a:pPr algn="ctr">
              <a:defRPr sz="1650" b="0">
                <a:solidFill>
                  <a:srgbClr val="242A2E"/>
                </a:solidFill>
              </a:defRPr>
            </a:pPr>
            <a:r>
              <a:rPr sz="1650" b="0">
                <a:solidFill>
                  <a:srgbClr val="242A2E"/>
                </a:solidFill>
              </a:rPr>
              <a:t>CORRECCIÓN: nivel físico ≠ percepción</a:t>
            </a:r>
          </a:p>
        </p:txBody>
      </p:sp>
    </p:spTree>
    <p:extLst>
      <p:ext uri="{BB962C8B-B14F-4D97-AF65-F5344CB8AC3E}">
        <p14:creationId xmlns:p14="http://schemas.microsoft.com/office/powerpoint/2010/main" val="202168414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rc-frame">
            <a:extLst xmlns:a="http://schemas.openxmlformats.org/drawingml/2006/main">
              <a:ext uri="{FF2B5EF4-FFF2-40B4-BE49-F238E27FC236}">
                <a16:creationId xmlns:a16="http://schemas.microsoft.com/office/drawing/2014/main" id="{3DEEFDF3-D13E-4A9C-884D-080D96B4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3812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2" name="p1-frame">
            <a:extLst xmlns:a="http://schemas.openxmlformats.org/drawingml/2006/main">
              <a:ext uri="{FF2B5EF4-FFF2-40B4-BE49-F238E27FC236}">
                <a16:creationId xmlns:a16="http://schemas.microsoft.com/office/drawing/2014/main" id="{6AB189CF-8E9E-4A66-9CF2-141BF366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0477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p2-frame">
            <a:extLst xmlns:a="http://schemas.openxmlformats.org/drawingml/2006/main">
              <a:ext uri="{FF2B5EF4-FFF2-40B4-BE49-F238E27FC236}">
                <a16:creationId xmlns:a16="http://schemas.microsoft.com/office/drawing/2014/main" id="{DE508AC5-098D-4236-8002-54986314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calc0-frame">
            <a:extLst xmlns:a="http://schemas.openxmlformats.org/drawingml/2006/main">
              <a:ext uri="{FF2B5EF4-FFF2-40B4-BE49-F238E27FC236}">
                <a16:creationId xmlns:a16="http://schemas.microsoft.com/office/drawing/2014/main" id="{873773A8-E0FF-4078-9982-BF0E68A1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000125"/>
            <a:ext cx="4095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5" name="calc1-frame">
            <a:extLst xmlns:a="http://schemas.openxmlformats.org/drawingml/2006/main">
              <a:ext uri="{FF2B5EF4-FFF2-40B4-BE49-F238E27FC236}">
                <a16:creationId xmlns:a16="http://schemas.microsoft.com/office/drawing/2014/main" id="{224B083A-99D2-47C1-8722-30F3021A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62250"/>
            <a:ext cx="4095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c2-frame">
            <a:extLst xmlns:a="http://schemas.openxmlformats.org/drawingml/2006/main">
              <a:ext uri="{FF2B5EF4-FFF2-40B4-BE49-F238E27FC236}">
                <a16:creationId xmlns:a16="http://schemas.microsoft.com/office/drawing/2014/main" id="{024F42B7-E29D-4B77-81F0-5DE6AD82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24375"/>
            <a:ext cx="4095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25" name="U04-DG-020-edge-src-p1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 flipV="1">
            <a:off x="3048000" y="1666875"/>
            <a:ext cx="66675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6" name="U04-DG-020-edge-src-p2"/>
          <p:cNvCxnSpPr>
            <a:stCxn xmlns:a="http://schemas.openxmlformats.org/drawingml/2006/main" id="1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048000" y="2952750"/>
            <a:ext cx="666750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7" name="U04-DG-020-edge-calc0-calc1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9001125" y="214312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8" name="U04-DG-020-edge-calc1-calc2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9001125" y="39052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1" name="src-text">
            <a:extLst xmlns:a="http://schemas.openxmlformats.org/drawingml/2006/main">
              <a:ext uri="{FF2B5EF4-FFF2-40B4-BE49-F238E27FC236}">
                <a16:creationId xmlns:a16="http://schemas.microsoft.com/office/drawing/2014/main" id="{8FE7C441-6A57-4EC3-B928-9A0070F2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2038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FUENTE</a:t>
            </a:r>
          </a:p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Q o DI declarado</a:t>
            </a:r>
          </a:p>
        </p:txBody>
      </p:sp>
      <p:sp>
        <p:nvSpPr>
          <p:cNvPr id="12" name="p1-text">
            <a:extLst xmlns:a="http://schemas.openxmlformats.org/drawingml/2006/main">
              <a:ext uri="{FF2B5EF4-FFF2-40B4-BE49-F238E27FC236}">
                <a16:creationId xmlns:a16="http://schemas.microsoft.com/office/drawing/2014/main" id="{40EBBBB9-F36A-4616-BD52-0E9BD7DD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19200"/>
            <a:ext cx="1752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Punto 1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r₁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dirección 1</a:t>
            </a:r>
          </a:p>
        </p:txBody>
      </p:sp>
      <p:sp>
        <p:nvSpPr>
          <p:cNvPr id="13" name="p2-text">
            <a:extLst xmlns:a="http://schemas.openxmlformats.org/drawingml/2006/main">
              <a:ext uri="{FF2B5EF4-FFF2-40B4-BE49-F238E27FC236}">
                <a16:creationId xmlns:a16="http://schemas.microsoft.com/office/drawing/2014/main" id="{29DA245F-6183-45EE-97D5-521E639B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86200"/>
            <a:ext cx="1752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Punto 2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r₂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dirección 2</a:t>
            </a:r>
          </a:p>
        </p:txBody>
      </p:sp>
      <p:sp>
        <p:nvSpPr>
          <p:cNvPr id="14" name="calc0-text">
            <a:extLst xmlns:a="http://schemas.openxmlformats.org/drawingml/2006/main">
              <a:ext uri="{FF2B5EF4-FFF2-40B4-BE49-F238E27FC236}">
                <a16:creationId xmlns:a16="http://schemas.microsoft.com/office/drawing/2014/main" id="{88B4A25F-F902-41AD-8C74-0EDC68E7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71575"/>
            <a:ext cx="3752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2A2E"/>
                </a:solidFill>
              </a:defRPr>
            </a:pPr>
            <a:r>
              <a:rPr sz="1875" b="0">
                <a:solidFill>
                  <a:srgbClr val="242A2E"/>
                </a:solidFill>
              </a:rPr>
              <a:t>1 · ΔL_r</a:t>
            </a:r>
          </a:p>
          <a:p xmlns:a="http://schemas.openxmlformats.org/drawingml/2006/main">
            <a:pPr algn="ctr">
              <a:defRPr sz="1875" b="0">
                <a:solidFill>
                  <a:srgbClr val="242A2E"/>
                </a:solidFill>
              </a:defRPr>
            </a:pPr>
            <a:r>
              <a:rPr sz="1875" b="0">
                <a:solidFill>
                  <a:srgbClr val="242A2E"/>
                </a:solidFill>
              </a:rPr>
              <a:t>20log₁₀(r₁/r₂)</a:t>
            </a:r>
          </a:p>
        </p:txBody>
      </p:sp>
      <p:sp>
        <p:nvSpPr>
          <p:cNvPr id="15" name="calc1-text">
            <a:extLst xmlns:a="http://schemas.openxmlformats.org/drawingml/2006/main">
              <a:ext uri="{FF2B5EF4-FFF2-40B4-BE49-F238E27FC236}">
                <a16:creationId xmlns:a16="http://schemas.microsoft.com/office/drawing/2014/main" id="{A8327F50-6C7C-49EC-AF23-F30046E9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33700"/>
            <a:ext cx="3752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2A2E"/>
                </a:solidFill>
              </a:defRPr>
            </a:pPr>
            <a:r>
              <a:rPr sz="1875" b="0">
                <a:solidFill>
                  <a:srgbClr val="242A2E"/>
                </a:solidFill>
              </a:rPr>
              <a:t>2 · ΔDI</a:t>
            </a:r>
          </a:p>
          <a:p xmlns:a="http://schemas.openxmlformats.org/drawingml/2006/main">
            <a:pPr algn="ctr">
              <a:defRPr sz="1875" b="0">
                <a:solidFill>
                  <a:srgbClr val="242A2E"/>
                </a:solidFill>
              </a:defRPr>
            </a:pPr>
            <a:r>
              <a:rPr sz="1875" b="0">
                <a:solidFill>
                  <a:srgbClr val="242A2E"/>
                </a:solidFill>
              </a:rPr>
              <a:t>misma referencia</a:t>
            </a:r>
          </a:p>
        </p:txBody>
      </p:sp>
      <p:sp>
        <p:nvSpPr>
          <p:cNvPr id="16" name="calc2-text">
            <a:extLst xmlns:a="http://schemas.openxmlformats.org/drawingml/2006/main">
              <a:ext uri="{FF2B5EF4-FFF2-40B4-BE49-F238E27FC236}">
                <a16:creationId xmlns:a16="http://schemas.microsoft.com/office/drawing/2014/main" id="{A9901BB6-FD8D-4AE0-8D9B-CE9F7480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95825"/>
            <a:ext cx="3752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2A2E"/>
                </a:solidFill>
              </a:defRPr>
            </a:pPr>
            <a:r>
              <a:rPr sz="2100" b="1">
                <a:solidFill>
                  <a:srgbClr val="242A2E"/>
                </a:solidFill>
              </a:rPr>
              <a:t>3 · ΔL_total</a:t>
            </a:r>
          </a:p>
          <a:p xmlns:a="http://schemas.openxmlformats.org/drawingml/2006/main">
            <a:pPr algn="ctr">
              <a:defRPr sz="2100" b="1">
                <a:solidFill>
                  <a:srgbClr val="242A2E"/>
                </a:solidFill>
              </a:defRPr>
            </a:pPr>
            <a:r>
              <a:rPr sz="2100" b="1">
                <a:solidFill>
                  <a:srgbClr val="242A2E"/>
                </a:solidFill>
              </a:rPr>
              <a:t>ΔL_r + ΔDI</a:t>
            </a:r>
          </a:p>
        </p:txBody>
      </p:sp>
      <p:sp>
        <p:nvSpPr>
          <p:cNvPr id="17" name="U04-DG-020-label-src-p1-text">
            <a:extLst xmlns:a="http://schemas.openxmlformats.org/drawingml/2006/main">
              <a:ext uri="{FF2B5EF4-FFF2-40B4-BE49-F238E27FC236}">
                <a16:creationId xmlns:a16="http://schemas.microsoft.com/office/drawing/2014/main" id="{77794507-6B95-4893-8E81-D79737AC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52613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r₁ / ángulo 1</a:t>
            </a:r>
          </a:p>
        </p:txBody>
      </p:sp>
      <p:sp>
        <p:nvSpPr>
          <p:cNvPr id="18" name="U04-DG-020-label-src-p2-text">
            <a:extLst xmlns:a="http://schemas.openxmlformats.org/drawingml/2006/main">
              <a:ext uri="{FF2B5EF4-FFF2-40B4-BE49-F238E27FC236}">
                <a16:creationId xmlns:a16="http://schemas.microsoft.com/office/drawing/2014/main" id="{CE10BEB6-DA19-43D5-924F-7E23E3AE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86113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r₂ / ángulo 2</a:t>
            </a:r>
          </a:p>
        </p:txBody>
      </p:sp>
    </p:spTree>
    <p:extLst>
      <p:ext uri="{BB962C8B-B14F-4D97-AF65-F5344CB8AC3E}">
        <p14:creationId xmlns:p14="http://schemas.microsoft.com/office/powerpoint/2010/main" val="169639604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re-frame">
            <a:extLst xmlns:a="http://schemas.openxmlformats.org/drawingml/2006/main">
              <a:ext uri="{FF2B5EF4-FFF2-40B4-BE49-F238E27FC236}">
                <a16:creationId xmlns:a16="http://schemas.microsoft.com/office/drawing/2014/main" id="{6DD10A49-C998-4DCD-93ED-EA96C749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3429000" cy="466725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2" name="gen-frame">
            <a:extLst xmlns:a="http://schemas.openxmlformats.org/drawingml/2006/main">
              <a:ext uri="{FF2B5EF4-FFF2-40B4-BE49-F238E27FC236}">
                <a16:creationId xmlns:a16="http://schemas.microsoft.com/office/drawing/2014/main" id="{469BD09E-CE68-4CBA-81D8-9EDF2479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047750"/>
            <a:ext cx="3429000" cy="466725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rms-frame">
            <a:extLst xmlns:a="http://schemas.openxmlformats.org/drawingml/2006/main">
              <a:ext uri="{FF2B5EF4-FFF2-40B4-BE49-F238E27FC236}">
                <a16:creationId xmlns:a16="http://schemas.microsoft.com/office/drawing/2014/main" id="{50FED46E-E7C7-48CC-8FF2-C9794E16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047750"/>
            <a:ext cx="3429000" cy="466725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4" name="pre-text">
            <a:extLst xmlns:a="http://schemas.openxmlformats.org/drawingml/2006/main">
              <a:ext uri="{FF2B5EF4-FFF2-40B4-BE49-F238E27FC236}">
                <a16:creationId xmlns:a16="http://schemas.microsoft.com/office/drawing/2014/main" id="{E3B15A4D-90D5-4D9B-BE73-16DCCAE7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30861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PRERREQUISITOS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Pa · W · J · m/s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c=λf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fase y superposición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razones y logaritmos</a:t>
            </a:r>
          </a:p>
        </p:txBody>
      </p:sp>
      <p:sp>
        <p:nvSpPr>
          <p:cNvPr id="5" name="gen-text">
            <a:extLst xmlns:a="http://schemas.openxmlformats.org/drawingml/2006/main">
              <a:ext uri="{FF2B5EF4-FFF2-40B4-BE49-F238E27FC236}">
                <a16:creationId xmlns:a16="http://schemas.microsoft.com/office/drawing/2014/main" id="{C6DFB9BB-BEC7-4A6E-9713-23AF2EFF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219200"/>
            <a:ext cx="30861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MECANISMOS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membrana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cuerda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pliegues vocales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columna de aire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turbulencia</a:t>
            </a:r>
          </a:p>
        </p:txBody>
      </p:sp>
      <p:sp>
        <p:nvSpPr>
          <p:cNvPr id="6" name="rms-text">
            <a:extLst xmlns:a="http://schemas.openxmlformats.org/drawingml/2006/main">
              <a:ext uri="{FF2B5EF4-FFF2-40B4-BE49-F238E27FC236}">
                <a16:creationId xmlns:a16="http://schemas.microsoft.com/office/drawing/2014/main" id="{4CE4D8F0-E855-441E-A256-CB096A49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219200"/>
            <a:ext cx="30861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CHECKLIST RMS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señal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ventana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operación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unidad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¿es senoide?</a:t>
            </a:r>
          </a:p>
        </p:txBody>
      </p:sp>
    </p:spTree>
    <p:extLst>
      <p:ext uri="{BB962C8B-B14F-4D97-AF65-F5344CB8AC3E}">
        <p14:creationId xmlns:p14="http://schemas.microsoft.com/office/powerpoint/2010/main" val="127273720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U04-DG-022-N1-frame">
            <a:extLst xmlns:a="http://schemas.openxmlformats.org/drawingml/2006/main">
              <a:ext uri="{FF2B5EF4-FFF2-40B4-BE49-F238E27FC236}">
                <a16:creationId xmlns:a16="http://schemas.microsoft.com/office/drawing/2014/main" id="{C1211E53-9DE3-48AF-B640-ED9A6EF1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2860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2" name="U04-DG-022-N2-frame">
            <a:extLst xmlns:a="http://schemas.openxmlformats.org/drawingml/2006/main">
              <a:ext uri="{FF2B5EF4-FFF2-40B4-BE49-F238E27FC236}">
                <a16:creationId xmlns:a16="http://schemas.microsoft.com/office/drawing/2014/main" id="{D998799C-5CB2-44FA-9094-A6F0F7E7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2095500"/>
            <a:ext cx="22860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U04-DG-022-N3-frame">
            <a:extLst xmlns:a="http://schemas.openxmlformats.org/drawingml/2006/main">
              <a:ext uri="{FF2B5EF4-FFF2-40B4-BE49-F238E27FC236}">
                <a16:creationId xmlns:a16="http://schemas.microsoft.com/office/drawing/2014/main" id="{3ACD476F-7AB3-49A2-A3F2-18F9D358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095500"/>
            <a:ext cx="22860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U04-DG-022-N4-frame">
            <a:extLst xmlns:a="http://schemas.openxmlformats.org/drawingml/2006/main">
              <a:ext uri="{FF2B5EF4-FFF2-40B4-BE49-F238E27FC236}">
                <a16:creationId xmlns:a16="http://schemas.microsoft.com/office/drawing/2014/main" id="{DE6D6F7B-2485-422A-AB5A-CA4B89CE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22860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cxnSp>
        <p:nvCxnSpPr>
          <p:cNvPr id="20" name="U04-DG-022-edge-U04-DG-022-N1-U04-DG-022-N2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3048000" y="2786063"/>
            <a:ext cx="508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" name="U04-DG-022-edge-U04-DG-022-N2-U04-DG-022-N3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5842000" y="2786063"/>
            <a:ext cx="508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" name="U04-DG-022-edge-U04-DG-022-N3-U04-DG-022-N4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8636000" y="2786063"/>
            <a:ext cx="508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8" name="U04-DG-022-N1-text">
            <a:extLst xmlns:a="http://schemas.openxmlformats.org/drawingml/2006/main">
              <a:ext uri="{FF2B5EF4-FFF2-40B4-BE49-F238E27FC236}">
                <a16:creationId xmlns:a16="http://schemas.microsoft.com/office/drawing/2014/main" id="{79FBCEDD-58F0-4E67-9098-456CC36C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19431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1 · DATOS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0,20 Pa RMS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Z₀=400 Pa·s/m</a:t>
            </a:r>
          </a:p>
        </p:txBody>
      </p:sp>
      <p:sp>
        <p:nvSpPr>
          <p:cNvPr id="9" name="U04-DG-022-N2-text">
            <a:extLst xmlns:a="http://schemas.openxmlformats.org/drawingml/2006/main">
              <a:ext uri="{FF2B5EF4-FFF2-40B4-BE49-F238E27FC236}">
                <a16:creationId xmlns:a16="http://schemas.microsoft.com/office/drawing/2014/main" id="{A0CD2A28-DB20-4E98-9A7E-B99D74AD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450" y="2266950"/>
            <a:ext cx="19431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2 · RELACIÓN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uᵣₘₛ = pᵣₘₛ/Z₀</a:t>
            </a:r>
          </a:p>
        </p:txBody>
      </p:sp>
      <p:sp>
        <p:nvSpPr>
          <p:cNvPr id="10" name="U04-DG-022-N3-text">
            <a:extLst xmlns:a="http://schemas.openxmlformats.org/drawingml/2006/main">
              <a:ext uri="{FF2B5EF4-FFF2-40B4-BE49-F238E27FC236}">
                <a16:creationId xmlns:a16="http://schemas.microsoft.com/office/drawing/2014/main" id="{8E3BA9E2-D418-4AC9-B141-3C6A278C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1450" y="2266950"/>
            <a:ext cx="19431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3 · CÁLCULO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5,0×10⁻⁴ m/s</a:t>
            </a:r>
          </a:p>
        </p:txBody>
      </p:sp>
      <p:sp>
        <p:nvSpPr>
          <p:cNvPr id="11" name="U04-DG-022-N4-text">
            <a:extLst xmlns:a="http://schemas.openxmlformats.org/drawingml/2006/main">
              <a:ext uri="{FF2B5EF4-FFF2-40B4-BE49-F238E27FC236}">
                <a16:creationId xmlns:a16="http://schemas.microsoft.com/office/drawing/2014/main" id="{1B039831-ECCA-4E45-9FAB-915955BB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66950"/>
            <a:ext cx="19431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4 · VERIFICAR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unidad y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condición</a:t>
            </a:r>
          </a:p>
        </p:txBody>
      </p:sp>
      <p:sp>
        <p:nvSpPr>
          <p:cNvPr id="12" name="U04-DG-022-label-U04-DG-022-N1-U04-DG-022-N2-text">
            <a:extLst xmlns:a="http://schemas.openxmlformats.org/drawingml/2006/main">
              <a:ext uri="{FF2B5EF4-FFF2-40B4-BE49-F238E27FC236}">
                <a16:creationId xmlns:a16="http://schemas.microsoft.com/office/drawing/2014/main" id="{C8BDD44D-7D63-4E5C-8916-7EC3BBA4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375" y="2328863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elegir</a:t>
            </a:r>
          </a:p>
        </p:txBody>
      </p:sp>
      <p:sp>
        <p:nvSpPr>
          <p:cNvPr id="13" name="U04-DG-022-label-U04-DG-022-N2-U04-DG-022-N3-text">
            <a:extLst xmlns:a="http://schemas.openxmlformats.org/drawingml/2006/main">
              <a:ext uri="{FF2B5EF4-FFF2-40B4-BE49-F238E27FC236}">
                <a16:creationId xmlns:a16="http://schemas.microsoft.com/office/drawing/2014/main" id="{B05858D3-70F5-450D-8A51-D5814C50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28863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sustituir</a:t>
            </a:r>
          </a:p>
        </p:txBody>
      </p:sp>
      <p:sp>
        <p:nvSpPr>
          <p:cNvPr id="14" name="U04-DG-022-label-U04-DG-022-N3-U04-DG-022-N4-text">
            <a:extLst xmlns:a="http://schemas.openxmlformats.org/drawingml/2006/main">
              <a:ext uri="{FF2B5EF4-FFF2-40B4-BE49-F238E27FC236}">
                <a16:creationId xmlns:a16="http://schemas.microsoft.com/office/drawing/2014/main" id="{A89308FB-81FB-4666-964F-173A0467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375" y="2328863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interpretar</a:t>
            </a:r>
          </a:p>
        </p:txBody>
      </p:sp>
      <p:sp>
        <p:nvSpPr>
          <p:cNvPr id="15" name="cond-text">
            <a:extLst xmlns:a="http://schemas.openxmlformats.org/drawingml/2006/main">
              <a:ext uri="{FF2B5EF4-FFF2-40B4-BE49-F238E27FC236}">
                <a16:creationId xmlns:a16="http://schemas.microsoft.com/office/drawing/2014/main" id="{10A6A4A2-2EE9-4B28-8D93-D927A089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62500"/>
            <a:ext cx="647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F541A"/>
                </a:solidFill>
              </a:defRPr>
            </a:pPr>
            <a:r>
              <a:rPr sz="1650" b="1">
                <a:solidFill>
                  <a:srgbClr val="9F541A"/>
                </a:solidFill>
              </a:rPr>
              <a:t>Onda plana progresiva · medio homogéneo · sin pérdidas</a:t>
            </a:r>
          </a:p>
        </p:txBody>
      </p:sp>
    </p:spTree>
    <p:extLst>
      <p:ext uri="{BB962C8B-B14F-4D97-AF65-F5344CB8AC3E}">
        <p14:creationId xmlns:p14="http://schemas.microsoft.com/office/powerpoint/2010/main" val="21435095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2026-07-31T14:01:27.4470000Z</dcterms:created>
  <dcterms:modified xsi:type="dcterms:W3CDTF">2026-07-31T14:01:27.4470000Z</dcterms:modified>
</coreProperties>
</file>