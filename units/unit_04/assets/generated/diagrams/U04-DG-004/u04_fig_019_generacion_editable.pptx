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525629980a4ad6" /><Relationship Type="http://schemas.openxmlformats.org/officeDocument/2006/relationships/extended-properties" Target="/docProps/app.xml" Id="Rf03d052402314a8d" /><Relationship Type="http://schemas.openxmlformats.org/officeDocument/2006/relationships/officeDocument" Target="/ppt/presentation.xml" Id="Rd6df8858dbcf42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f836caa51a43c8"/>
  </p:sldMasterIdLst>
  <p:notesMasterIdLst>
    <p:notesMasterId xmlns:r="http://schemas.openxmlformats.org/officeDocument/2006/relationships" r:id="R9a919655386f429c"/>
  </p:notesMasterIdLst>
  <p:sldIdLst>
    <p:sldId xmlns:r="http://schemas.openxmlformats.org/officeDocument/2006/relationships" id="256" r:id="Rc915bcb8028748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0d746a8d414355" /><Relationship Type="http://schemas.openxmlformats.org/officeDocument/2006/relationships/slideMaster" Target="/ppt/slideMasters/slideMaster1.xml" Id="R4ef836caa51a43c8" /><Relationship Type="http://schemas.openxmlformats.org/officeDocument/2006/relationships/notesMaster" Target="/ppt/notesMasters/notesMaster1.xml" Id="R9a919655386f429c" /><Relationship Type="http://schemas.openxmlformats.org/officeDocument/2006/relationships/presProps" Target="/ppt/presProps.xml" Id="R1e368169ffe6481a" /><Relationship Type="http://schemas.openxmlformats.org/officeDocument/2006/relationships/tableStyles" Target="/ppt/tableStyles.xml" Id="R18826e2653844a2b" /><Relationship Type="http://schemas.openxmlformats.org/officeDocument/2006/relationships/slide" Target="/ppt/slides/slide1.xml" Id="Rc915bcb8028748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d85905af3c4e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21a137e4e3449c" /><Relationship Type="http://schemas.openxmlformats.org/officeDocument/2006/relationships/notesMaster" Target="/ppt/notesMasters/notesMaster1.xml" Id="R0bf785d16bbf46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4.3 y NIDCD como referencia conceptual.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La fuente oscila localmente y el aire sostiene la propagación.</a:t>
            </a:r>
          </a:p>
          <a:p xmlns:a="http://schemas.openxmlformats.org/drawingml/2006/main">
            <a:r>
              <a:t>Alt: Dos cadenas paralelas comparan generación vocal y electroacústica.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54dd688be40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c9bd17582b41a4" /><Relationship Type="http://schemas.openxmlformats.org/officeDocument/2006/relationships/slideLayout" Target="/ppt/slideLayouts/slideLayout1.xml" Id="R64d3faf127954a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d3faf127954a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330ef51f44d3f" /><Relationship Type="http://schemas.openxmlformats.org/officeDocument/2006/relationships/notesSlide" Target="/ppt/notesSlides/notesSlide1.xml" Id="R2b094ebf03f547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v0-frame">
            <a:extLst xmlns:a="http://schemas.openxmlformats.org/drawingml/2006/main">
              <a:ext uri="{FF2B5EF4-FFF2-40B4-BE49-F238E27FC236}">
                <a16:creationId xmlns:a16="http://schemas.microsoft.com/office/drawing/2014/main" id="{9CDD79D8-6566-4C9E-9331-E0A9868E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190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" name="v1-frame">
            <a:extLst xmlns:a="http://schemas.openxmlformats.org/drawingml/2006/main">
              <a:ext uri="{FF2B5EF4-FFF2-40B4-BE49-F238E27FC236}">
                <a16:creationId xmlns:a16="http://schemas.microsoft.com/office/drawing/2014/main" id="{D970948B-CD4B-4C9E-9CA4-9062744F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81125"/>
            <a:ext cx="2190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3" name="v2-frame">
            <a:extLst xmlns:a="http://schemas.openxmlformats.org/drawingml/2006/main">
              <a:ext uri="{FF2B5EF4-FFF2-40B4-BE49-F238E27FC236}">
                <a16:creationId xmlns:a16="http://schemas.microsoft.com/office/drawing/2014/main" id="{FCE67926-9398-45BA-B607-72FEC44A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2190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4" name="v3-frame">
            <a:extLst xmlns:a="http://schemas.openxmlformats.org/drawingml/2006/main">
              <a:ext uri="{FF2B5EF4-FFF2-40B4-BE49-F238E27FC236}">
                <a16:creationId xmlns:a16="http://schemas.microsoft.com/office/drawing/2014/main" id="{A816EC71-CCF7-42DD-BAF7-B1B96D33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2190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5" name="e0-frame">
            <a:extLst xmlns:a="http://schemas.openxmlformats.org/drawingml/2006/main">
              <a:ext uri="{FF2B5EF4-FFF2-40B4-BE49-F238E27FC236}">
                <a16:creationId xmlns:a16="http://schemas.microsoft.com/office/drawing/2014/main" id="{C69B641A-E524-4237-BCA9-19A9AA9B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2190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e1-frame">
            <a:extLst xmlns:a="http://schemas.openxmlformats.org/drawingml/2006/main">
              <a:ext uri="{FF2B5EF4-FFF2-40B4-BE49-F238E27FC236}">
                <a16:creationId xmlns:a16="http://schemas.microsoft.com/office/drawing/2014/main" id="{05069937-6791-42C6-9934-B411323F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48125"/>
            <a:ext cx="2190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2-frame">
            <a:extLst xmlns:a="http://schemas.openxmlformats.org/drawingml/2006/main">
              <a:ext uri="{FF2B5EF4-FFF2-40B4-BE49-F238E27FC236}">
                <a16:creationId xmlns:a16="http://schemas.microsoft.com/office/drawing/2014/main" id="{1C41E921-F475-4039-938B-766D5E99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2190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e3-frame">
            <a:extLst xmlns:a="http://schemas.openxmlformats.org/drawingml/2006/main">
              <a:ext uri="{FF2B5EF4-FFF2-40B4-BE49-F238E27FC236}">
                <a16:creationId xmlns:a16="http://schemas.microsoft.com/office/drawing/2014/main" id="{D8DFA57B-9920-4567-8E32-4F4DEC3E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48125"/>
            <a:ext cx="2190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9" name="U04-DG-004-edge-v0-v1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2857500" y="18811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0" name="U04-DG-004-edge-e0-e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45481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U04-DG-004-edge-v1-v2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715000" y="18811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" name="U04-DG-004-edge-e1-e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15000" y="45481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U04-DG-004-edge-v2-v3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8572500" y="18811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" name="U04-DG-004-edge-e2-e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45481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v0-text">
            <a:extLst xmlns:a="http://schemas.openxmlformats.org/drawingml/2006/main">
              <a:ext uri="{FF2B5EF4-FFF2-40B4-BE49-F238E27FC236}">
                <a16:creationId xmlns:a16="http://schemas.microsoft.com/office/drawing/2014/main" id="{333CF03C-EE7C-41A4-B599-EA86834A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52575"/>
            <a:ext cx="1847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Flujo pulmonar</a:t>
            </a:r>
          </a:p>
        </p:txBody>
      </p:sp>
      <p:sp>
        <p:nvSpPr>
          <p:cNvPr id="16" name="v1-text">
            <a:extLst xmlns:a="http://schemas.openxmlformats.org/drawingml/2006/main">
              <a:ext uri="{FF2B5EF4-FFF2-40B4-BE49-F238E27FC236}">
                <a16:creationId xmlns:a16="http://schemas.microsoft.com/office/drawing/2014/main" id="{D56A069D-69BC-4929-A20A-AF53429E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52575"/>
            <a:ext cx="1847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Pliegues vocales</a:t>
            </a:r>
          </a:p>
        </p:txBody>
      </p:sp>
      <p:sp>
        <p:nvSpPr>
          <p:cNvPr id="17" name="v2-text">
            <a:extLst xmlns:a="http://schemas.openxmlformats.org/drawingml/2006/main">
              <a:ext uri="{FF2B5EF4-FFF2-40B4-BE49-F238E27FC236}">
                <a16:creationId xmlns:a16="http://schemas.microsoft.com/office/drawing/2014/main" id="{978960AD-DABD-4141-90E1-84228024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52575"/>
            <a:ext cx="1847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Perturbación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aérea</a:t>
            </a:r>
          </a:p>
        </p:txBody>
      </p:sp>
      <p:sp>
        <p:nvSpPr>
          <p:cNvPr id="18" name="v3-text">
            <a:extLst xmlns:a="http://schemas.openxmlformats.org/drawingml/2006/main">
              <a:ext uri="{FF2B5EF4-FFF2-40B4-BE49-F238E27FC236}">
                <a16:creationId xmlns:a16="http://schemas.microsoft.com/office/drawing/2014/main" id="{64A87D60-7311-4D97-B18B-B03D1DF3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552575"/>
            <a:ext cx="1847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Campo acústico</a:t>
            </a:r>
          </a:p>
        </p:txBody>
      </p:sp>
      <p:sp>
        <p:nvSpPr>
          <p:cNvPr id="19" name="e0-text">
            <a:extLst xmlns:a="http://schemas.openxmlformats.org/drawingml/2006/main">
              <a:ext uri="{FF2B5EF4-FFF2-40B4-BE49-F238E27FC236}">
                <a16:creationId xmlns:a16="http://schemas.microsoft.com/office/drawing/2014/main" id="{07875C3F-10CC-43D5-B151-DA1985CF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1847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Señal eléctrica</a:t>
            </a:r>
          </a:p>
        </p:txBody>
      </p:sp>
      <p:sp>
        <p:nvSpPr>
          <p:cNvPr id="20" name="e1-text">
            <a:extLst xmlns:a="http://schemas.openxmlformats.org/drawingml/2006/main">
              <a:ext uri="{FF2B5EF4-FFF2-40B4-BE49-F238E27FC236}">
                <a16:creationId xmlns:a16="http://schemas.microsoft.com/office/drawing/2014/main" id="{F2DDA1DF-A2A2-443C-840C-866D27B1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19575"/>
            <a:ext cx="1847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Diafragma</a:t>
            </a:r>
          </a:p>
        </p:txBody>
      </p:sp>
      <p:sp>
        <p:nvSpPr>
          <p:cNvPr id="21" name="e2-text">
            <a:extLst xmlns:a="http://schemas.openxmlformats.org/drawingml/2006/main">
              <a:ext uri="{FF2B5EF4-FFF2-40B4-BE49-F238E27FC236}">
                <a16:creationId xmlns:a16="http://schemas.microsoft.com/office/drawing/2014/main" id="{844ED54E-1C56-4B4B-A3BE-E29902F8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19575"/>
            <a:ext cx="1847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Perturbación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aérea</a:t>
            </a:r>
          </a:p>
        </p:txBody>
      </p:sp>
      <p:sp>
        <p:nvSpPr>
          <p:cNvPr id="22" name="e3-text">
            <a:extLst xmlns:a="http://schemas.openxmlformats.org/drawingml/2006/main">
              <a:ext uri="{FF2B5EF4-FFF2-40B4-BE49-F238E27FC236}">
                <a16:creationId xmlns:a16="http://schemas.microsoft.com/office/drawing/2014/main" id="{D2023372-8CEC-4441-A78D-55BF180B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19575"/>
            <a:ext cx="1847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Campo acústico</a:t>
            </a:r>
          </a:p>
        </p:txBody>
      </p:sp>
      <p:sp>
        <p:nvSpPr>
          <p:cNvPr id="23" name="U04-DG-004-label-v0-v1-text">
            <a:extLst xmlns:a="http://schemas.openxmlformats.org/drawingml/2006/main">
              <a:ext uri="{FF2B5EF4-FFF2-40B4-BE49-F238E27FC236}">
                <a16:creationId xmlns:a16="http://schemas.microsoft.com/office/drawing/2014/main" id="{60621563-574A-41FA-BCC0-3B4C30C4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3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F541A"/>
                </a:solidFill>
              </a:defRPr>
            </a:pPr>
            <a:r>
              <a:rPr sz="1575" b="1">
                <a:solidFill>
                  <a:srgbClr val="9F541A"/>
                </a:solidFill>
              </a:rPr>
              <a:t>excita</a:t>
            </a:r>
          </a:p>
        </p:txBody>
      </p:sp>
      <p:sp>
        <p:nvSpPr>
          <p:cNvPr id="24" name="U04-DG-004-label-e0-e1-text">
            <a:extLst xmlns:a="http://schemas.openxmlformats.org/drawingml/2006/main">
              <a:ext uri="{FF2B5EF4-FFF2-40B4-BE49-F238E27FC236}">
                <a16:creationId xmlns:a16="http://schemas.microsoft.com/office/drawing/2014/main" id="{827EA4B6-3BD7-4FB3-9B15-A06703D1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0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E83"/>
                </a:solidFill>
              </a:defRPr>
            </a:pPr>
            <a:r>
              <a:rPr sz="1575" b="1">
                <a:solidFill>
                  <a:srgbClr val="2F7E83"/>
                </a:solidFill>
              </a:rPr>
              <a:t>excita</a:t>
            </a:r>
          </a:p>
        </p:txBody>
      </p:sp>
      <p:sp>
        <p:nvSpPr>
          <p:cNvPr id="25" name="U04-DG-004-label-v1-v2-text">
            <a:extLst xmlns:a="http://schemas.openxmlformats.org/drawingml/2006/main">
              <a:ext uri="{FF2B5EF4-FFF2-40B4-BE49-F238E27FC236}">
                <a16:creationId xmlns:a16="http://schemas.microsoft.com/office/drawing/2014/main" id="{C4E1281D-A2AC-4155-BE43-DC91F879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23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F541A"/>
                </a:solidFill>
              </a:defRPr>
            </a:pPr>
            <a:r>
              <a:rPr sz="1575" b="1">
                <a:solidFill>
                  <a:srgbClr val="9F541A"/>
                </a:solidFill>
              </a:rPr>
              <a:t>oscila</a:t>
            </a:r>
          </a:p>
        </p:txBody>
      </p:sp>
      <p:sp>
        <p:nvSpPr>
          <p:cNvPr id="26" name="U04-DG-004-label-e1-e2-text">
            <a:extLst xmlns:a="http://schemas.openxmlformats.org/drawingml/2006/main">
              <a:ext uri="{FF2B5EF4-FFF2-40B4-BE49-F238E27FC236}">
                <a16:creationId xmlns:a16="http://schemas.microsoft.com/office/drawing/2014/main" id="{F949294F-257C-441B-A771-1CDEAF71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0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E83"/>
                </a:solidFill>
              </a:defRPr>
            </a:pPr>
            <a:r>
              <a:rPr sz="1575" b="1">
                <a:solidFill>
                  <a:srgbClr val="2F7E83"/>
                </a:solidFill>
              </a:rPr>
              <a:t>oscila</a:t>
            </a:r>
          </a:p>
        </p:txBody>
      </p:sp>
      <p:sp>
        <p:nvSpPr>
          <p:cNvPr id="27" name="U04-DG-004-label-v2-v3-text">
            <a:extLst xmlns:a="http://schemas.openxmlformats.org/drawingml/2006/main">
              <a:ext uri="{FF2B5EF4-FFF2-40B4-BE49-F238E27FC236}">
                <a16:creationId xmlns:a16="http://schemas.microsoft.com/office/drawing/2014/main" id="{2258A499-5827-44E6-A9DF-0760B466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3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F541A"/>
                </a:solidFill>
              </a:defRPr>
            </a:pPr>
            <a:r>
              <a:rPr sz="1575" b="1">
                <a:solidFill>
                  <a:srgbClr val="9F541A"/>
                </a:solidFill>
              </a:rPr>
              <a:t>perturba</a:t>
            </a:r>
          </a:p>
        </p:txBody>
      </p:sp>
      <p:sp>
        <p:nvSpPr>
          <p:cNvPr id="28" name="U04-DG-004-label-e2-e3-text">
            <a:extLst xmlns:a="http://schemas.openxmlformats.org/drawingml/2006/main">
              <a:ext uri="{FF2B5EF4-FFF2-40B4-BE49-F238E27FC236}">
                <a16:creationId xmlns:a16="http://schemas.microsoft.com/office/drawing/2014/main" id="{E6FB1F17-5950-4CD5-8066-EEBE6208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0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E83"/>
                </a:solidFill>
              </a:defRPr>
            </a:pPr>
            <a:r>
              <a:rPr sz="1575" b="1">
                <a:solidFill>
                  <a:srgbClr val="2F7E83"/>
                </a:solidFill>
              </a:rPr>
              <a:t>perturba</a:t>
            </a:r>
          </a:p>
        </p:txBody>
      </p:sp>
      <p:sp>
        <p:nvSpPr>
          <p:cNvPr id="29" name="voice-text">
            <a:extLst xmlns:a="http://schemas.openxmlformats.org/drawingml/2006/main">
              <a:ext uri="{FF2B5EF4-FFF2-40B4-BE49-F238E27FC236}">
                <a16:creationId xmlns:a16="http://schemas.microsoft.com/office/drawing/2014/main" id="{9CABDD58-08E2-4641-B746-0A91A9FA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F541A"/>
                </a:solidFill>
              </a:defRPr>
            </a:pPr>
            <a:r>
              <a:rPr sz="1800" b="1">
                <a:solidFill>
                  <a:srgbClr val="9F541A"/>
                </a:solidFill>
              </a:rPr>
              <a:t>GENERACIÓN VOCAL</a:t>
            </a:r>
          </a:p>
        </p:txBody>
      </p:sp>
      <p:sp>
        <p:nvSpPr>
          <p:cNvPr id="30" name="speaker-text">
            <a:extLst xmlns:a="http://schemas.openxmlformats.org/drawingml/2006/main">
              <a:ext uri="{FF2B5EF4-FFF2-40B4-BE49-F238E27FC236}">
                <a16:creationId xmlns:a16="http://schemas.microsoft.com/office/drawing/2014/main" id="{A2C53C9A-7C6A-408A-9A25-09194BE1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E83"/>
                </a:solidFill>
              </a:defRPr>
            </a:pPr>
            <a:r>
              <a:rPr sz="1800" b="1">
                <a:solidFill>
                  <a:srgbClr val="2F7E83"/>
                </a:solidFill>
              </a:rPr>
              <a:t>GENERACIÓN ELECTROACÚSTICA</a:t>
            </a:r>
          </a:p>
        </p:txBody>
      </p:sp>
    </p:spTree>
    <p:extLst>
      <p:ext uri="{BB962C8B-B14F-4D97-AF65-F5344CB8AC3E}">
        <p14:creationId xmlns:p14="http://schemas.microsoft.com/office/powerpoint/2010/main" val="2108669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2026-07-31T14:01:12.0520000Z</dcterms:created>
  <dcterms:modified xsi:type="dcterms:W3CDTF">2026-07-31T14:01:12.0520000Z</dcterms:modified>
</coreProperties>
</file>