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0a94944a143f8" /><Relationship Type="http://schemas.openxmlformats.org/officeDocument/2006/relationships/extended-properties" Target="/docProps/app.xml" Id="R233294c008cd4cab" /><Relationship Type="http://schemas.openxmlformats.org/officeDocument/2006/relationships/officeDocument" Target="/ppt/presentation.xml" Id="Rc6abaa718c69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ccfb522aa2448c"/>
  </p:sldMasterIdLst>
  <p:notesMasterIdLst>
    <p:notesMasterId xmlns:r="http://schemas.openxmlformats.org/officeDocument/2006/relationships" r:id="Rb033d4965f45478c"/>
  </p:notesMasterIdLst>
  <p:sldIdLst>
    <p:sldId xmlns:r="http://schemas.openxmlformats.org/officeDocument/2006/relationships" id="256" r:id="Rf2482a47e3e845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ee800084404be8" /><Relationship Type="http://schemas.openxmlformats.org/officeDocument/2006/relationships/slideMaster" Target="/ppt/slideMasters/slideMaster1.xml" Id="Racccfb522aa2448c" /><Relationship Type="http://schemas.openxmlformats.org/officeDocument/2006/relationships/notesMaster" Target="/ppt/notesMasters/notesMaster1.xml" Id="Rb033d4965f45478c" /><Relationship Type="http://schemas.openxmlformats.org/officeDocument/2006/relationships/presProps" Target="/ppt/presProps.xml" Id="Rb61238ce405440c6" /><Relationship Type="http://schemas.openxmlformats.org/officeDocument/2006/relationships/tableStyles" Target="/ppt/tableStyles.xml" Id="R36e38e8f56ed421f" /><Relationship Type="http://schemas.openxmlformats.org/officeDocument/2006/relationships/slide" Target="/ppt/slides/slide1.xml" Id="Rf2482a47e3e845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e3b5f3bb2c41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3c25b4739f4798" /><Relationship Type="http://schemas.openxmlformats.org/officeDocument/2006/relationships/notesMaster" Target="/ppt/notesMasters/notesMaster1.xml" Id="R1102d5f0adc048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4.13 y brief de la Unidad 4.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Siete atajos frecuentes cambian el significado del resultado.</a:t>
            </a:r>
          </a:p>
          <a:p xmlns:a="http://schemas.openxmlformats.org/drawingml/2006/main">
            <a:r>
              <a:t>Alt: Siete pares alineados de error y corrección breve.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07209247341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5add37ecd341c5" /><Relationship Type="http://schemas.openxmlformats.org/officeDocument/2006/relationships/slideLayout" Target="/ppt/slideLayouts/slideLayout1.xml" Id="R5f5db5843e9f49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5db5843e9f49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66747c8a1449a" /><Relationship Type="http://schemas.openxmlformats.org/officeDocument/2006/relationships/notesSlide" Target="/ppt/notesSlides/notesSlide1.xml" Id="Rf7c5f83f560044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0-frame">
            <a:extLst xmlns:a="http://schemas.openxmlformats.org/drawingml/2006/main">
              <a:ext uri="{FF2B5EF4-FFF2-40B4-BE49-F238E27FC236}">
                <a16:creationId xmlns:a16="http://schemas.microsoft.com/office/drawing/2014/main" id="{EA448F25-6763-469A-9FB2-02D0FAF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2" name="e1-frame">
            <a:extLst xmlns:a="http://schemas.openxmlformats.org/drawingml/2006/main">
              <a:ext uri="{FF2B5EF4-FFF2-40B4-BE49-F238E27FC236}">
                <a16:creationId xmlns:a16="http://schemas.microsoft.com/office/drawing/2014/main" id="{865B8C4B-686D-4387-9A5B-509CA862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3" name="e2-frame">
            <a:extLst xmlns:a="http://schemas.openxmlformats.org/drawingml/2006/main">
              <a:ext uri="{FF2B5EF4-FFF2-40B4-BE49-F238E27FC236}">
                <a16:creationId xmlns:a16="http://schemas.microsoft.com/office/drawing/2014/main" id="{3464709C-9A1D-4710-B3BA-9CEB045A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4" name="e3-frame">
            <a:extLst xmlns:a="http://schemas.openxmlformats.org/drawingml/2006/main">
              <a:ext uri="{FF2B5EF4-FFF2-40B4-BE49-F238E27FC236}">
                <a16:creationId xmlns:a16="http://schemas.microsoft.com/office/drawing/2014/main" id="{8CFEB9F4-C64D-49BE-B071-62ACE57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5" name="e4-frame">
            <a:extLst xmlns:a="http://schemas.openxmlformats.org/drawingml/2006/main">
              <a:ext uri="{FF2B5EF4-FFF2-40B4-BE49-F238E27FC236}">
                <a16:creationId xmlns:a16="http://schemas.microsoft.com/office/drawing/2014/main" id="{B7062553-3F18-447C-AD97-68FEE053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667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e5-frame">
            <a:extLst xmlns:a="http://schemas.openxmlformats.org/drawingml/2006/main">
              <a:ext uri="{FF2B5EF4-FFF2-40B4-BE49-F238E27FC236}">
                <a16:creationId xmlns:a16="http://schemas.microsoft.com/office/drawing/2014/main" id="{32B20ADD-1C7D-4E29-A8BE-58735BA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e6-frame">
            <a:extLst xmlns:a="http://schemas.openxmlformats.org/drawingml/2006/main">
              <a:ext uri="{FF2B5EF4-FFF2-40B4-BE49-F238E27FC236}">
                <a16:creationId xmlns:a16="http://schemas.microsoft.com/office/drawing/2014/main" id="{5FEF477B-DBA3-48E9-8FAC-64A9614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e0-text">
            <a:extLst xmlns:a="http://schemas.openxmlformats.org/drawingml/2006/main">
              <a:ext uri="{FF2B5EF4-FFF2-40B4-BE49-F238E27FC236}">
                <a16:creationId xmlns:a16="http://schemas.microsoft.com/office/drawing/2014/main" id="{2B433CE7-C27B-4ADF-8DF5-722D06E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382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u = c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movimiento local ≠ propagación</a:t>
            </a:r>
          </a:p>
        </p:txBody>
      </p:sp>
      <p:sp>
        <p:nvSpPr>
          <p:cNvPr id="9" name="e1-text">
            <a:extLst xmlns:a="http://schemas.openxmlformats.org/drawingml/2006/main">
              <a:ext uri="{FF2B5EF4-FFF2-40B4-BE49-F238E27FC236}">
                <a16:creationId xmlns:a16="http://schemas.microsoft.com/office/drawing/2014/main" id="{EAA84E32-C287-41B6-A67F-2FB2858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6695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media cero = señal nula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RMS puede ser distinto de cero</a:t>
            </a:r>
          </a:p>
        </p:txBody>
      </p:sp>
      <p:sp>
        <p:nvSpPr>
          <p:cNvPr id="10" name="e2-text">
            <a:extLst xmlns:a="http://schemas.openxmlformats.org/drawingml/2006/main">
              <a:ext uri="{FF2B5EF4-FFF2-40B4-BE49-F238E27FC236}">
                <a16:creationId xmlns:a16="http://schemas.microsoft.com/office/drawing/2014/main" id="{E78793F1-7B01-416B-A051-013EF9AB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RMS = pico/√2 siempre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solo vale para una senoide</a:t>
            </a:r>
          </a:p>
        </p:txBody>
      </p:sp>
      <p:sp>
        <p:nvSpPr>
          <p:cNvPr id="11" name="e3-text">
            <a:extLst xmlns:a="http://schemas.openxmlformats.org/drawingml/2006/main">
              <a:ext uri="{FF2B5EF4-FFF2-40B4-BE49-F238E27FC236}">
                <a16:creationId xmlns:a16="http://schemas.microsoft.com/office/drawing/2014/main" id="{92FA3CC3-633D-48DE-93B4-F762D9B5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2445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sumar dB aritméticamente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sumar magnitudes según el caso</a:t>
            </a:r>
          </a:p>
        </p:txBody>
      </p:sp>
      <p:sp>
        <p:nvSpPr>
          <p:cNvPr id="12" name="e4-text">
            <a:extLst xmlns:a="http://schemas.openxmlformats.org/drawingml/2006/main">
              <a:ext uri="{FF2B5EF4-FFF2-40B4-BE49-F238E27FC236}">
                <a16:creationId xmlns:a16="http://schemas.microsoft.com/office/drawing/2014/main" id="{E9B7F2F4-1A1A-4249-8DE1-B5AF595C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8382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−6 dB siempre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solo bajo modelo esférico válido</a:t>
            </a:r>
          </a:p>
        </p:txBody>
      </p:sp>
      <p:sp>
        <p:nvSpPr>
          <p:cNvPr id="13" name="e5-text">
            <a:extLst xmlns:a="http://schemas.openxmlformats.org/drawingml/2006/main">
              <a:ext uri="{FF2B5EF4-FFF2-40B4-BE49-F238E27FC236}">
                <a16:creationId xmlns:a16="http://schemas.microsoft.com/office/drawing/2014/main" id="{4ED3DA38-14F2-4C96-8E5F-CB2D8111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reverberante = difuso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difuso requiere más condiciones</a:t>
            </a:r>
          </a:p>
        </p:txBody>
      </p:sp>
      <p:sp>
        <p:nvSpPr>
          <p:cNvPr id="14" name="e6-text">
            <a:extLst xmlns:a="http://schemas.openxmlformats.org/drawingml/2006/main">
              <a:ext uri="{FF2B5EF4-FFF2-40B4-BE49-F238E27FC236}">
                <a16:creationId xmlns:a16="http://schemas.microsoft.com/office/drawing/2014/main" id="{E18227B7-4FF1-486E-8A9E-68CCDD1F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95700"/>
            <a:ext cx="4991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ERROR: dB = sonoridad</a:t>
            </a:r>
          </a:p>
          <a:p xmlns:a="http://schemas.openxmlformats.org/drawingml/2006/main">
            <a:pPr algn="ctr">
              <a:defRPr sz="1650" b="0">
                <a:solidFill>
                  <a:srgbClr val="242A2E"/>
                </a:solidFill>
              </a:defRPr>
            </a:pPr>
            <a:r>
              <a:rPr sz="1650" b="0">
                <a:solidFill>
                  <a:srgbClr val="242A2E"/>
                </a:solidFill>
              </a:rPr>
              <a:t>CORRECCIÓN: nivel físico ≠ percepción</a:t>
            </a:r>
          </a:p>
        </p:txBody>
      </p:sp>
    </p:spTree>
    <p:extLst>
      <p:ext uri="{BB962C8B-B14F-4D97-AF65-F5344CB8AC3E}">
        <p14:creationId xmlns:p14="http://schemas.microsoft.com/office/powerpoint/2010/main" val="1640648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2026-07-31T14:01:24.5120000Z</dcterms:created>
  <dcterms:modified xsi:type="dcterms:W3CDTF">2026-07-31T14:01:24.5120000Z</dcterms:modified>
</coreProperties>
</file>