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6993f4643bc4b11" /><Relationship Type="http://schemas.openxmlformats.org/officeDocument/2006/relationships/extended-properties" Target="/docProps/app.xml" Id="Re247d15a7f124ea0" /><Relationship Type="http://schemas.openxmlformats.org/officeDocument/2006/relationships/officeDocument" Target="/ppt/presentation.xml" Id="R724245b7636c4e2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1cd5d22f40c448f"/>
  </p:sldMasterIdLst>
  <p:notesMasterIdLst>
    <p:notesMasterId xmlns:r="http://schemas.openxmlformats.org/officeDocument/2006/relationships" r:id="R281449b1c8f34ae1"/>
  </p:notesMasterIdLst>
  <p:sldIdLst>
    <p:sldId xmlns:r="http://schemas.openxmlformats.org/officeDocument/2006/relationships" id="256" r:id="R20bcdab1f2d5454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b6d9c72a88f405d" /><Relationship Type="http://schemas.openxmlformats.org/officeDocument/2006/relationships/slideMaster" Target="/ppt/slideMasters/slideMaster1.xml" Id="R11cd5d22f40c448f" /><Relationship Type="http://schemas.openxmlformats.org/officeDocument/2006/relationships/notesMaster" Target="/ppt/notesMasters/notesMaster1.xml" Id="R281449b1c8f34ae1" /><Relationship Type="http://schemas.openxmlformats.org/officeDocument/2006/relationships/presProps" Target="/ppt/presProps.xml" Id="R0fa651ab437e4d15" /><Relationship Type="http://schemas.openxmlformats.org/officeDocument/2006/relationships/tableStyles" Target="/ppt/tableStyles.xml" Id="R3efe2a34b5364f47" /><Relationship Type="http://schemas.openxmlformats.org/officeDocument/2006/relationships/slide" Target="/ppt/slides/slide1.xml" Id="R20bcdab1f2d5454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eeaaf1d4e8343e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99b8b3491344669" /><Relationship Type="http://schemas.openxmlformats.org/officeDocument/2006/relationships/notesMaster" Target="/ppt/notesMasters/notesMaster1.xml" Id="Rd222c97b4d4a494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TEX 4.9. Figura conceptual, no a escala.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>Caption: Geometría de frente y tipo de campo son decisiones diferentes.</a:t>
            </a:r>
          </a:p>
          <a:p xmlns:a="http://schemas.openxmlformats.org/drawingml/2006/main">
            <a:r>
              <a:t>Alt: Paneles de modelos plano, cilíndrico y esférico junto a campo libre, próximo y reverberante.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eae93f311494c1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6ea9f0eea0240fb" /><Relationship Type="http://schemas.openxmlformats.org/officeDocument/2006/relationships/slideLayout" Target="/ppt/slideLayouts/slideLayout1.xml" Id="R22db507c84e04f8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2db507c84e04f8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2102d9d7254a8c" /><Relationship Type="http://schemas.openxmlformats.org/officeDocument/2006/relationships/notesSlide" Target="/ppt/notesSlides/notesSlide1.xml" Id="R13b019e9290d4f2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g0-frame">
            <a:extLst xmlns:a="http://schemas.openxmlformats.org/drawingml/2006/main">
              <a:ext uri="{FF2B5EF4-FFF2-40B4-BE49-F238E27FC236}">
                <a16:creationId xmlns:a16="http://schemas.microsoft.com/office/drawing/2014/main" id="{DB6D8CBD-4BF7-4280-B806-34CECDBC1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00125"/>
            <a:ext cx="3238500" cy="161925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D1434"/>
            </a:solidFill>
            <a:prstDash val="solid"/>
          </a:ln>
        </p:spPr>
      </p:sp>
      <p:sp>
        <p:nvSpPr>
          <p:cNvPr id="2" name="g1-frame">
            <a:extLst xmlns:a="http://schemas.openxmlformats.org/drawingml/2006/main">
              <a:ext uri="{FF2B5EF4-FFF2-40B4-BE49-F238E27FC236}">
                <a16:creationId xmlns:a16="http://schemas.microsoft.com/office/drawing/2014/main" id="{49D4780C-FD02-47F5-AB29-974DDAEEB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000125"/>
            <a:ext cx="3238500" cy="161925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3" name="g2-frame">
            <a:extLst xmlns:a="http://schemas.openxmlformats.org/drawingml/2006/main">
              <a:ext uri="{FF2B5EF4-FFF2-40B4-BE49-F238E27FC236}">
                <a16:creationId xmlns:a16="http://schemas.microsoft.com/office/drawing/2014/main" id="{4A05A88F-7970-4E07-A217-0151987FD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000125"/>
            <a:ext cx="3238500" cy="161925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D1434"/>
            </a:solidFill>
            <a:prstDash val="solid"/>
          </a:ln>
        </p:spPr>
      </p:sp>
      <p:sp>
        <p:nvSpPr>
          <p:cNvPr id="4" name="f0-frame">
            <a:extLst xmlns:a="http://schemas.openxmlformats.org/drawingml/2006/main">
              <a:ext uri="{FF2B5EF4-FFF2-40B4-BE49-F238E27FC236}">
                <a16:creationId xmlns:a16="http://schemas.microsoft.com/office/drawing/2014/main" id="{B2425D33-081A-44A3-9849-F2A0CD51E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05250"/>
            <a:ext cx="3238500" cy="1190625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BF8F2"/>
          </a:solidFill>
          <a:ln xmlns:a="http://schemas.openxmlformats.org/drawingml/2006/main" w="19050">
            <a:solidFill>
              <a:srgbClr val="969FA7"/>
            </a:solidFill>
            <a:prstDash val="solid"/>
          </a:ln>
        </p:spPr>
      </p:sp>
      <p:sp>
        <p:nvSpPr>
          <p:cNvPr id="5" name="f1-frame">
            <a:extLst xmlns:a="http://schemas.openxmlformats.org/drawingml/2006/main">
              <a:ext uri="{FF2B5EF4-FFF2-40B4-BE49-F238E27FC236}">
                <a16:creationId xmlns:a16="http://schemas.microsoft.com/office/drawing/2014/main" id="{FA4CEF71-FE26-4DCF-83B8-23B860DC3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905250"/>
            <a:ext cx="3238500" cy="1190625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BF8F2"/>
          </a:solidFill>
          <a:ln xmlns:a="http://schemas.openxmlformats.org/drawingml/2006/main" w="19050">
            <a:solidFill>
              <a:srgbClr val="969FA7"/>
            </a:solidFill>
            <a:prstDash val="solid"/>
          </a:ln>
        </p:spPr>
      </p:sp>
      <p:sp>
        <p:nvSpPr>
          <p:cNvPr id="6" name="f2-frame">
            <a:extLst xmlns:a="http://schemas.openxmlformats.org/drawingml/2006/main">
              <a:ext uri="{FF2B5EF4-FFF2-40B4-BE49-F238E27FC236}">
                <a16:creationId xmlns:a16="http://schemas.microsoft.com/office/drawing/2014/main" id="{55A0294C-EF7F-4B42-BC52-41BF48B55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905250"/>
            <a:ext cx="3238500" cy="1190625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BF8F2"/>
          </a:solidFill>
          <a:ln xmlns:a="http://schemas.openxmlformats.org/drawingml/2006/main" w="19050">
            <a:solidFill>
              <a:srgbClr val="969FA7"/>
            </a:solidFill>
            <a:prstDash val="solid"/>
          </a:ln>
        </p:spPr>
      </p:sp>
      <p:sp>
        <p:nvSpPr>
          <p:cNvPr id="7" name="g0-text">
            <a:extLst xmlns:a="http://schemas.openxmlformats.org/drawingml/2006/main">
              <a:ext uri="{FF2B5EF4-FFF2-40B4-BE49-F238E27FC236}">
                <a16:creationId xmlns:a16="http://schemas.microsoft.com/office/drawing/2014/main" id="{2F8DACA3-917A-45C0-A594-C92D78D7A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171575"/>
            <a:ext cx="2895600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242A2E"/>
                </a:solidFill>
              </a:defRPr>
            </a:pPr>
            <a:r>
              <a:rPr sz="1950" b="1">
                <a:solidFill>
                  <a:srgbClr val="242A2E"/>
                </a:solidFill>
              </a:rPr>
              <a:t>PLANO</a:t>
            </a:r>
          </a:p>
          <a:p xmlns:a="http://schemas.openxmlformats.org/drawingml/2006/main">
            <a:pPr algn="ctr">
              <a:defRPr sz="1950" b="1">
                <a:solidFill>
                  <a:srgbClr val="242A2E"/>
                </a:solidFill>
              </a:defRPr>
            </a:pPr>
            <a:r>
              <a:rPr sz="1950" b="1">
                <a:solidFill>
                  <a:srgbClr val="242A2E"/>
                </a:solidFill>
              </a:rPr>
              <a:t>área constante</a:t>
            </a:r>
          </a:p>
          <a:p xmlns:a="http://schemas.openxmlformats.org/drawingml/2006/main">
            <a:pPr algn="ctr">
              <a:defRPr sz="1950" b="1">
                <a:solidFill>
                  <a:srgbClr val="242A2E"/>
                </a:solidFill>
              </a:defRPr>
            </a:pPr>
            <a:r>
              <a:rPr sz="1950" b="1">
                <a:solidFill>
                  <a:srgbClr val="242A2E"/>
                </a:solidFill>
              </a:rPr>
              <a:t>I ∝ r⁰</a:t>
            </a:r>
          </a:p>
        </p:txBody>
      </p:sp>
      <p:sp>
        <p:nvSpPr>
          <p:cNvPr id="8" name="g1-text">
            <a:extLst xmlns:a="http://schemas.openxmlformats.org/drawingml/2006/main">
              <a:ext uri="{FF2B5EF4-FFF2-40B4-BE49-F238E27FC236}">
                <a16:creationId xmlns:a16="http://schemas.microsoft.com/office/drawing/2014/main" id="{A0F253C0-22D4-4ECA-91C4-F8B82803C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1171575"/>
            <a:ext cx="2895600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1F1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242A2E"/>
                </a:solidFill>
              </a:defRPr>
            </a:pPr>
            <a:r>
              <a:rPr sz="1950" b="1">
                <a:solidFill>
                  <a:srgbClr val="242A2E"/>
                </a:solidFill>
              </a:rPr>
              <a:t>CILÍNDRICO</a:t>
            </a:r>
          </a:p>
          <a:p xmlns:a="http://schemas.openxmlformats.org/drawingml/2006/main">
            <a:pPr algn="ctr">
              <a:defRPr sz="1950" b="1">
                <a:solidFill>
                  <a:srgbClr val="242A2E"/>
                </a:solidFill>
              </a:defRPr>
            </a:pPr>
            <a:r>
              <a:rPr sz="1950" b="1">
                <a:solidFill>
                  <a:srgbClr val="242A2E"/>
                </a:solidFill>
              </a:rPr>
              <a:t>área ∝ r</a:t>
            </a:r>
          </a:p>
          <a:p xmlns:a="http://schemas.openxmlformats.org/drawingml/2006/main">
            <a:pPr algn="ctr">
              <a:defRPr sz="1950" b="1">
                <a:solidFill>
                  <a:srgbClr val="242A2E"/>
                </a:solidFill>
              </a:defRPr>
            </a:pPr>
            <a:r>
              <a:rPr sz="1950" b="1">
                <a:solidFill>
                  <a:srgbClr val="242A2E"/>
                </a:solidFill>
              </a:rPr>
              <a:t>I ∝ r⁻¹</a:t>
            </a:r>
          </a:p>
        </p:txBody>
      </p:sp>
      <p:sp>
        <p:nvSpPr>
          <p:cNvPr id="9" name="g2-text">
            <a:extLst xmlns:a="http://schemas.openxmlformats.org/drawingml/2006/main">
              <a:ext uri="{FF2B5EF4-FFF2-40B4-BE49-F238E27FC236}">
                <a16:creationId xmlns:a16="http://schemas.microsoft.com/office/drawing/2014/main" id="{60C6799A-0249-4309-AFC0-AB515DC60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171575"/>
            <a:ext cx="2895600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242A2E"/>
                </a:solidFill>
              </a:defRPr>
            </a:pPr>
            <a:r>
              <a:rPr sz="1950" b="1">
                <a:solidFill>
                  <a:srgbClr val="242A2E"/>
                </a:solidFill>
              </a:rPr>
              <a:t>ESFÉRICO</a:t>
            </a:r>
          </a:p>
          <a:p xmlns:a="http://schemas.openxmlformats.org/drawingml/2006/main">
            <a:pPr algn="ctr">
              <a:defRPr sz="1950" b="1">
                <a:solidFill>
                  <a:srgbClr val="242A2E"/>
                </a:solidFill>
              </a:defRPr>
            </a:pPr>
            <a:r>
              <a:rPr sz="1950" b="1">
                <a:solidFill>
                  <a:srgbClr val="242A2E"/>
                </a:solidFill>
              </a:rPr>
              <a:t>área ∝ r²</a:t>
            </a:r>
          </a:p>
          <a:p xmlns:a="http://schemas.openxmlformats.org/drawingml/2006/main">
            <a:pPr algn="ctr">
              <a:defRPr sz="1950" b="1">
                <a:solidFill>
                  <a:srgbClr val="242A2E"/>
                </a:solidFill>
              </a:defRPr>
            </a:pPr>
            <a:r>
              <a:rPr sz="1950" b="1">
                <a:solidFill>
                  <a:srgbClr val="242A2E"/>
                </a:solidFill>
              </a:rPr>
              <a:t>I ∝ r⁻²</a:t>
            </a:r>
          </a:p>
        </p:txBody>
      </p:sp>
      <p:sp>
        <p:nvSpPr>
          <p:cNvPr id="10" name="f0-text">
            <a:extLst xmlns:a="http://schemas.openxmlformats.org/drawingml/2006/main">
              <a:ext uri="{FF2B5EF4-FFF2-40B4-BE49-F238E27FC236}">
                <a16:creationId xmlns:a16="http://schemas.microsoft.com/office/drawing/2014/main" id="{1FC41669-B28A-4155-85E8-EF92B0439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76700"/>
            <a:ext cx="2895600" cy="847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242A2E"/>
                </a:solidFill>
              </a:defRPr>
            </a:pPr>
            <a:r>
              <a:rPr sz="1725" b="0">
                <a:solidFill>
                  <a:srgbClr val="242A2E"/>
                </a:solidFill>
              </a:rPr>
              <a:t>Campo libre</a:t>
            </a:r>
          </a:p>
          <a:p xmlns:a="http://schemas.openxmlformats.org/drawingml/2006/main">
            <a:pPr algn="ctr">
              <a:defRPr sz="1725" b="0">
                <a:solidFill>
                  <a:srgbClr val="242A2E"/>
                </a:solidFill>
              </a:defRPr>
            </a:pPr>
            <a:r>
              <a:rPr sz="1725" b="0">
                <a:solidFill>
                  <a:srgbClr val="242A2E"/>
                </a:solidFill>
              </a:rPr>
              <a:t>onda directa domina</a:t>
            </a:r>
          </a:p>
        </p:txBody>
      </p:sp>
      <p:sp>
        <p:nvSpPr>
          <p:cNvPr id="11" name="f1-text">
            <a:extLst xmlns:a="http://schemas.openxmlformats.org/drawingml/2006/main">
              <a:ext uri="{FF2B5EF4-FFF2-40B4-BE49-F238E27FC236}">
                <a16:creationId xmlns:a16="http://schemas.microsoft.com/office/drawing/2014/main" id="{D045451C-DFD0-4A22-B43E-F23CA17CB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076700"/>
            <a:ext cx="2895600" cy="847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242A2E"/>
                </a:solidFill>
              </a:defRPr>
            </a:pPr>
            <a:r>
              <a:rPr sz="1725" b="0">
                <a:solidFill>
                  <a:srgbClr val="242A2E"/>
                </a:solidFill>
              </a:rPr>
              <a:t>Campo próximo</a:t>
            </a:r>
          </a:p>
          <a:p xmlns:a="http://schemas.openxmlformats.org/drawingml/2006/main">
            <a:pPr algn="ctr">
              <a:defRPr sz="1725" b="0">
                <a:solidFill>
                  <a:srgbClr val="242A2E"/>
                </a:solidFill>
              </a:defRPr>
            </a:pPr>
            <a:r>
              <a:rPr sz="1725" b="0">
                <a:solidFill>
                  <a:srgbClr val="242A2E"/>
                </a:solidFill>
              </a:rPr>
              <a:t>modelo lejano no vale</a:t>
            </a:r>
          </a:p>
        </p:txBody>
      </p:sp>
      <p:sp>
        <p:nvSpPr>
          <p:cNvPr id="12" name="f2-text">
            <a:extLst xmlns:a="http://schemas.openxmlformats.org/drawingml/2006/main">
              <a:ext uri="{FF2B5EF4-FFF2-40B4-BE49-F238E27FC236}">
                <a16:creationId xmlns:a16="http://schemas.microsoft.com/office/drawing/2014/main" id="{F8DAE953-FB56-45E9-8337-3C80E3507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076700"/>
            <a:ext cx="2895600" cy="847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242A2E"/>
                </a:solidFill>
              </a:defRPr>
            </a:pPr>
            <a:r>
              <a:rPr sz="1725" b="0">
                <a:solidFill>
                  <a:srgbClr val="242A2E"/>
                </a:solidFill>
              </a:rPr>
              <a:t>Reverberante</a:t>
            </a:r>
          </a:p>
          <a:p xmlns:a="http://schemas.openxmlformats.org/drawingml/2006/main">
            <a:pPr algn="ctr">
              <a:defRPr sz="1725" b="0">
                <a:solidFill>
                  <a:srgbClr val="242A2E"/>
                </a:solidFill>
              </a:defRPr>
            </a:pPr>
            <a:r>
              <a:rPr sz="1725" b="0">
                <a:solidFill>
                  <a:srgbClr val="242A2E"/>
                </a:solidFill>
              </a:rPr>
              <a:t>reflexiones importantes</a:t>
            </a:r>
          </a:p>
        </p:txBody>
      </p:sp>
      <p:sp>
        <p:nvSpPr>
          <p:cNvPr id="13" name="sep-text">
            <a:extLst xmlns:a="http://schemas.openxmlformats.org/drawingml/2006/main">
              <a:ext uri="{FF2B5EF4-FFF2-40B4-BE49-F238E27FC236}">
                <a16:creationId xmlns:a16="http://schemas.microsoft.com/office/drawing/2014/main" id="{CBEF90BF-A5A5-4E7A-BF5C-4D1FB17CA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715000"/>
            <a:ext cx="590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9F541A"/>
                </a:solidFill>
              </a:defRPr>
            </a:pPr>
            <a:r>
              <a:rPr sz="1875" b="1">
                <a:solidFill>
                  <a:srgbClr val="9F541A"/>
                </a:solidFill>
              </a:rPr>
              <a:t>Geometría del frente ≠ tipo de campo</a:t>
            </a:r>
          </a:p>
        </p:txBody>
      </p:sp>
      <p:sp>
        <p:nvSpPr>
          <p:cNvPr id="14" name="U04-DG-015-scale-text">
            <a:extLst xmlns:a="http://schemas.openxmlformats.org/drawingml/2006/main">
              <a:ext uri="{FF2B5EF4-FFF2-40B4-BE49-F238E27FC236}">
                <a16:creationId xmlns:a16="http://schemas.microsoft.com/office/drawing/2014/main" id="{64938BD0-581E-4FBC-817B-B97900C87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210300"/>
            <a:ext cx="1952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969FA7"/>
                </a:solidFill>
              </a:defRPr>
            </a:pPr>
            <a:r>
              <a:rPr sz="1350" b="1">
                <a:solidFill>
                  <a:srgbClr val="969FA7"/>
                </a:solidFill>
              </a:rPr>
              <a:t>FIGURA NO A ESCALA</a:t>
            </a:r>
          </a:p>
        </p:txBody>
      </p:sp>
    </p:spTree>
    <p:extLst>
      <p:ext uri="{BB962C8B-B14F-4D97-AF65-F5344CB8AC3E}">
        <p14:creationId xmlns:p14="http://schemas.microsoft.com/office/powerpoint/2010/main" val="107649166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2026-07-31T14:01:20.9600000Z</dcterms:created>
  <dcterms:modified xsi:type="dcterms:W3CDTF">2026-07-31T14:01:20.9600000Z</dcterms:modified>
</coreProperties>
</file>