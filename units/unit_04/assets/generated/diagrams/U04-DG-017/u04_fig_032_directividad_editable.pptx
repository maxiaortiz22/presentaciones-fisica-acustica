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c73378649f4419" /><Relationship Type="http://schemas.openxmlformats.org/officeDocument/2006/relationships/extended-properties" Target="/docProps/app.xml" Id="Rb58042abd24f4f48" /><Relationship Type="http://schemas.openxmlformats.org/officeDocument/2006/relationships/officeDocument" Target="/ppt/presentation.xml" Id="R02e1053988d14e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d9e03cf4324107"/>
  </p:sldMasterIdLst>
  <p:notesMasterIdLst>
    <p:notesMasterId xmlns:r="http://schemas.openxmlformats.org/officeDocument/2006/relationships" r:id="R058f6e2861704ed9"/>
  </p:notesMasterIdLst>
  <p:sldIdLst>
    <p:sldId xmlns:r="http://schemas.openxmlformats.org/officeDocument/2006/relationships" id="256" r:id="R0190c59814e744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e32babae7444f1" /><Relationship Type="http://schemas.openxmlformats.org/officeDocument/2006/relationships/slideMaster" Target="/ppt/slideMasters/slideMaster1.xml" Id="Rdcd9e03cf4324107" /><Relationship Type="http://schemas.openxmlformats.org/officeDocument/2006/relationships/notesMaster" Target="/ppt/notesMasters/notesMaster1.xml" Id="R058f6e2861704ed9" /><Relationship Type="http://schemas.openxmlformats.org/officeDocument/2006/relationships/presProps" Target="/ppt/presProps.xml" Id="R88150bc74ac245ee" /><Relationship Type="http://schemas.openxmlformats.org/officeDocument/2006/relationships/tableStyles" Target="/ppt/tableStyles.xml" Id="R4323ba61fe7343ce" /><Relationship Type="http://schemas.openxmlformats.org/officeDocument/2006/relationships/slide" Target="/ppt/slides/slide1.xml" Id="R0190c59814e744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8728ce1b5a46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09f1331e274f60" /><Relationship Type="http://schemas.openxmlformats.org/officeDocument/2006/relationships/notesMaster" Target="/ppt/notesMasters/notesMaster1.xml" Id="R45168332e90142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4.11. Patrones conceptuales, no a escala.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La directividad redistribuye potencia y depende de frecuencia y dirección.</a:t>
            </a:r>
          </a:p>
          <a:p xmlns:a="http://schemas.openxmlformats.org/drawingml/2006/main">
            <a:r>
              <a:t>Alt: Comparación omnidireccional-direccional y ecuaciones de factor e índice de directividad.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cfb0bcfaf46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5a42eec9984933" /><Relationship Type="http://schemas.openxmlformats.org/officeDocument/2006/relationships/slideLayout" Target="/ppt/slideLayouts/slideLayout1.xml" Id="R26486d85cb3b43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486d85cb3b43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a08a602cb4388" /><Relationship Type="http://schemas.openxmlformats.org/officeDocument/2006/relationships/notesSlide" Target="/ppt/notesSlides/notesSlide1.xml" Id="R588818cecaae41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omni-frame">
            <a:extLst xmlns:a="http://schemas.openxmlformats.org/drawingml/2006/main">
              <a:ext uri="{FF2B5EF4-FFF2-40B4-BE49-F238E27FC236}">
                <a16:creationId xmlns:a16="http://schemas.microsoft.com/office/drawing/2014/main" id="{0E22E940-3891-4B60-B2E7-2147245B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31432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dir-frame">
            <a:extLst xmlns:a="http://schemas.openxmlformats.org/drawingml/2006/main">
              <a:ext uri="{FF2B5EF4-FFF2-40B4-BE49-F238E27FC236}">
                <a16:creationId xmlns:a16="http://schemas.microsoft.com/office/drawing/2014/main" id="{6F76FB12-8602-43ED-BF77-6B5EAF6D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1432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3" name="idx-frame">
            <a:extLst xmlns:a="http://schemas.openxmlformats.org/drawingml/2006/main">
              <a:ext uri="{FF2B5EF4-FFF2-40B4-BE49-F238E27FC236}">
                <a16:creationId xmlns:a16="http://schemas.microsoft.com/office/drawing/2014/main" id="{C81BD212-1418-43BC-8503-E9D4F9E4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31432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16" name="U04-DG-017-edge-omni-dir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3857625" y="28098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" name="U04-DG-017-edge-dir-idx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7667625" y="28098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" name="omni-text">
            <a:extLst xmlns:a="http://schemas.openxmlformats.org/drawingml/2006/main">
              <a:ext uri="{FF2B5EF4-FFF2-40B4-BE49-F238E27FC236}">
                <a16:creationId xmlns:a16="http://schemas.microsoft.com/office/drawing/2014/main" id="{8E5C1C42-6D06-4B07-B06C-5B58EB62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90700"/>
            <a:ext cx="2800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OMNIDIRECCIONAL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referencia ideal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misma potencia total</a:t>
            </a:r>
          </a:p>
        </p:txBody>
      </p:sp>
      <p:sp>
        <p:nvSpPr>
          <p:cNvPr id="7" name="dir-text">
            <a:extLst xmlns:a="http://schemas.openxmlformats.org/drawingml/2006/main">
              <a:ext uri="{FF2B5EF4-FFF2-40B4-BE49-F238E27FC236}">
                <a16:creationId xmlns:a16="http://schemas.microsoft.com/office/drawing/2014/main" id="{10272008-4C6A-429D-9C3B-4D76B14B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790700"/>
            <a:ext cx="2800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DIRECCIONAL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redistribuye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energía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según ángulo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y frecuencia</a:t>
            </a:r>
          </a:p>
        </p:txBody>
      </p:sp>
      <p:sp>
        <p:nvSpPr>
          <p:cNvPr id="8" name="idx-text">
            <a:extLst xmlns:a="http://schemas.openxmlformats.org/drawingml/2006/main">
              <a:ext uri="{FF2B5EF4-FFF2-40B4-BE49-F238E27FC236}">
                <a16:creationId xmlns:a16="http://schemas.microsoft.com/office/drawing/2014/main" id="{C438011A-FE24-455D-9548-E5F377F9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90700"/>
            <a:ext cx="2800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CUANTIFICAR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Q_dir =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I_dir / I_omni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DI = 10log₁₀(Q_dir)</a:t>
            </a:r>
          </a:p>
        </p:txBody>
      </p:sp>
      <p:sp>
        <p:nvSpPr>
          <p:cNvPr id="9" name="U04-DG-017-label-omni-dir-text">
            <a:extLst xmlns:a="http://schemas.openxmlformats.org/drawingml/2006/main">
              <a:ext uri="{FF2B5EF4-FFF2-40B4-BE49-F238E27FC236}">
                <a16:creationId xmlns:a16="http://schemas.microsoft.com/office/drawing/2014/main" id="{5B5D88C7-12FF-434E-9337-53DE855F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5267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igual W y r</a:t>
            </a:r>
          </a:p>
        </p:txBody>
      </p:sp>
      <p:sp>
        <p:nvSpPr>
          <p:cNvPr id="10" name="U04-DG-017-label-dir-idx-text">
            <a:extLst xmlns:a="http://schemas.openxmlformats.org/drawingml/2006/main">
              <a:ext uri="{FF2B5EF4-FFF2-40B4-BE49-F238E27FC236}">
                <a16:creationId xmlns:a16="http://schemas.microsoft.com/office/drawing/2014/main" id="{58CA5788-4C50-49FB-8766-1BE7A81A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5267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comparar</a:t>
            </a:r>
          </a:p>
        </p:txBody>
      </p:sp>
      <p:sp>
        <p:nvSpPr>
          <p:cNvPr id="11" name="freq-text">
            <a:extLst xmlns:a="http://schemas.openxmlformats.org/drawingml/2006/main">
              <a:ext uri="{FF2B5EF4-FFF2-40B4-BE49-F238E27FC236}">
                <a16:creationId xmlns:a16="http://schemas.microsoft.com/office/drawing/2014/main" id="{FB5477C1-A0C9-46AC-8784-EC021673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D1434"/>
                </a:solidFill>
              </a:defRPr>
            </a:pPr>
            <a:r>
              <a:rPr sz="1800" b="1">
                <a:solidFill>
                  <a:srgbClr val="4D1434"/>
                </a:solidFill>
              </a:rPr>
              <a:t>Siempre indicar dirección, frecuencia y condiciones.</a:t>
            </a:r>
          </a:p>
        </p:txBody>
      </p:sp>
      <p:sp>
        <p:nvSpPr>
          <p:cNvPr id="12" name="U04-DG-017-scale-text">
            <a:extLst xmlns:a="http://schemas.openxmlformats.org/drawingml/2006/main">
              <a:ext uri="{FF2B5EF4-FFF2-40B4-BE49-F238E27FC236}">
                <a16:creationId xmlns:a16="http://schemas.microsoft.com/office/drawing/2014/main" id="{60BE75C3-9AA2-4123-81A1-94E06927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1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69FA7"/>
                </a:solidFill>
              </a:defRPr>
            </a:pPr>
            <a:r>
              <a:rPr sz="1350" b="1">
                <a:solidFill>
                  <a:srgbClr val="969FA7"/>
                </a:solidFill>
              </a:rPr>
              <a:t>FIGURA NO A ESCALA</a:t>
            </a:r>
          </a:p>
        </p:txBody>
      </p:sp>
    </p:spTree>
    <p:extLst>
      <p:ext uri="{BB962C8B-B14F-4D97-AF65-F5344CB8AC3E}">
        <p14:creationId xmlns:p14="http://schemas.microsoft.com/office/powerpoint/2010/main" val="1473758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2026-07-31T14:01:22.5180000Z</dcterms:created>
  <dcterms:modified xsi:type="dcterms:W3CDTF">2026-07-31T14:01:22.5180000Z</dcterms:modified>
</coreProperties>
</file>