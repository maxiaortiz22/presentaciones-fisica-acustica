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131acdea74c2d" /><Relationship Type="http://schemas.openxmlformats.org/officeDocument/2006/relationships/extended-properties" Target="/docProps/app.xml" Id="R451fe90895474f02" /><Relationship Type="http://schemas.openxmlformats.org/officeDocument/2006/relationships/officeDocument" Target="/ppt/presentation.xml" Id="R1bc1e5189d10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192a6d028422d"/>
  </p:sldMasterIdLst>
  <p:notesMasterIdLst>
    <p:notesMasterId xmlns:r="http://schemas.openxmlformats.org/officeDocument/2006/relationships" r:id="Rf75b4575569b4b0a"/>
  </p:notesMasterIdLst>
  <p:sldIdLst>
    <p:sldId xmlns:r="http://schemas.openxmlformats.org/officeDocument/2006/relationships" id="256" r:id="R12ea13f9aada40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ea588a3e742f8" /><Relationship Type="http://schemas.openxmlformats.org/officeDocument/2006/relationships/slideMaster" Target="/ppt/slideMasters/slideMaster1.xml" Id="Rae0192a6d028422d" /><Relationship Type="http://schemas.openxmlformats.org/officeDocument/2006/relationships/notesMaster" Target="/ppt/notesMasters/notesMaster1.xml" Id="Rf75b4575569b4b0a" /><Relationship Type="http://schemas.openxmlformats.org/officeDocument/2006/relationships/presProps" Target="/ppt/presProps.xml" Id="R34933bde189e4d31" /><Relationship Type="http://schemas.openxmlformats.org/officeDocument/2006/relationships/tableStyles" Target="/ppt/tableStyles.xml" Id="R4fff7518a48f48e1" /><Relationship Type="http://schemas.openxmlformats.org/officeDocument/2006/relationships/slide" Target="/ppt/slides/slide1.xml" Id="R12ea13f9aada40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fd3fef56a4b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f458cae71840d6" /><Relationship Type="http://schemas.openxmlformats.org/officeDocument/2006/relationships/notesMaster" Target="/ppt/notesMasters/notesMaster1.xml" Id="R9c8579c8cf9e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4.4.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rapidez depende de rigidez y densidad; al cambiar el medio, la frecuencia se conserva.</a:t>
            </a:r>
          </a:p>
          <a:p xmlns:a="http://schemas.openxmlformats.org/drawingml/2006/main">
            <a:r>
              <a:t>Alt: Ecuación c igual raíz de K sub s sobre rho con callouts y comparación entre dos medios.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231a3338a47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3dbcab245441c" /><Relationship Type="http://schemas.openxmlformats.org/officeDocument/2006/relationships/slideLayout" Target="/ppt/slideLayouts/slideLayout1.xml" Id="R5a0241a37c4c47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241a37c4c47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8eec915994cd0" /><Relationship Type="http://schemas.openxmlformats.org/officeDocument/2006/relationships/notesSlide" Target="/ppt/notesSlides/notesSlide1.xml" Id="Rf025c46489d846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U04-DG-006-EQ-frame">
            <a:extLst xmlns:a="http://schemas.openxmlformats.org/drawingml/2006/main">
              <a:ext uri="{FF2B5EF4-FFF2-40B4-BE49-F238E27FC236}">
                <a16:creationId xmlns:a16="http://schemas.microsoft.com/office/drawing/2014/main" id="{55C9F4DD-3D36-49D9-BB93-BDABD1DA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5905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U04-DG-006-A1-frame">
            <a:extLst xmlns:a="http://schemas.openxmlformats.org/drawingml/2006/main">
              <a:ext uri="{FF2B5EF4-FFF2-40B4-BE49-F238E27FC236}">
                <a16:creationId xmlns:a16="http://schemas.microsoft.com/office/drawing/2014/main" id="{ED988E8F-13E3-4B36-B8F4-155E6A3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3" name="U04-DG-006-A2-frame">
            <a:extLst xmlns:a="http://schemas.openxmlformats.org/drawingml/2006/main">
              <a:ext uri="{FF2B5EF4-FFF2-40B4-BE49-F238E27FC236}">
                <a16:creationId xmlns:a16="http://schemas.microsoft.com/office/drawing/2014/main" id="{3D58597A-D203-4ABB-8B77-94B05BD7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4" name="U04-DG-006-A3-frame">
            <a:extLst xmlns:a="http://schemas.openxmlformats.org/drawingml/2006/main">
              <a:ext uri="{FF2B5EF4-FFF2-40B4-BE49-F238E27FC236}">
                <a16:creationId xmlns:a16="http://schemas.microsoft.com/office/drawing/2014/main" id="{DDD56E1F-5901-4FBE-AD14-AAE5B896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5" name="U04-DG-006-A4-frame">
            <a:extLst xmlns:a="http://schemas.openxmlformats.org/drawingml/2006/main">
              <a:ext uri="{FF2B5EF4-FFF2-40B4-BE49-F238E27FC236}">
                <a16:creationId xmlns:a16="http://schemas.microsoft.com/office/drawing/2014/main" id="{7DAF248D-532C-417B-86E0-126FA5A0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6" name="U04-DG-006-C1-frame">
            <a:extLst xmlns:a="http://schemas.openxmlformats.org/drawingml/2006/main">
              <a:ext uri="{FF2B5EF4-FFF2-40B4-BE49-F238E27FC236}">
                <a16:creationId xmlns:a16="http://schemas.microsoft.com/office/drawing/2014/main" id="{362F7C90-A4D3-414B-B84F-6AED610A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U04-DG-006-C2-frame">
            <a:extLst xmlns:a="http://schemas.openxmlformats.org/drawingml/2006/main">
              <a:ext uri="{FF2B5EF4-FFF2-40B4-BE49-F238E27FC236}">
                <a16:creationId xmlns:a16="http://schemas.microsoft.com/office/drawing/2014/main" id="{672F7217-3BB1-43BD-A0E9-1A8E5280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U04-DG-006-C3-frame">
            <a:extLst xmlns:a="http://schemas.openxmlformats.org/drawingml/2006/main">
              <a:ext uri="{FF2B5EF4-FFF2-40B4-BE49-F238E27FC236}">
                <a16:creationId xmlns:a16="http://schemas.microsoft.com/office/drawing/2014/main" id="{D29E525B-1C79-4D57-8EC2-3F4DDCC9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4-DG-006-C4-frame">
            <a:extLst xmlns:a="http://schemas.openxmlformats.org/drawingml/2006/main">
              <a:ext uri="{FF2B5EF4-FFF2-40B4-BE49-F238E27FC236}">
                <a16:creationId xmlns:a16="http://schemas.microsoft.com/office/drawing/2014/main" id="{B5E2A383-2DD1-45E8-85E7-77B64499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U04-DG-006-B1-frame">
            <a:extLst xmlns:a="http://schemas.openxmlformats.org/drawingml/2006/main">
              <a:ext uri="{FF2B5EF4-FFF2-40B4-BE49-F238E27FC236}">
                <a16:creationId xmlns:a16="http://schemas.microsoft.com/office/drawing/2014/main" id="{CC6FF6BF-B09F-4A2C-9B34-97C94A3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2667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U04-DG-006-B2-frame">
            <a:extLst xmlns:a="http://schemas.openxmlformats.org/drawingml/2006/main">
              <a:ext uri="{FF2B5EF4-FFF2-40B4-BE49-F238E27FC236}">
                <a16:creationId xmlns:a16="http://schemas.microsoft.com/office/drawing/2014/main" id="{9F7B809C-A53E-4CCA-B75C-C36121D7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2667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5" name="U04-DG-006-edge-U04-DG-006-C1-U04-DG-006-A1"/>
          <p:cNvCxnSpPr>
            <a:stCxn xmlns:a="http://schemas.openxmlformats.org/drawingml/2006/main" id="6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1952625" y="2009775"/>
            <a:ext cx="35433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6" name="U04-DG-006-edge-U04-DG-006-C2-U04-DG-006-A2"/>
          <p:cNvCxnSpPr>
            <a:stCxn xmlns:a="http://schemas.openxmlformats.org/drawingml/2006/main" id="7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6734175" y="2009775"/>
            <a:ext cx="35052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7" name="U04-DG-006-edge-U04-DG-006-C3-U04-DG-006-A3"/>
          <p:cNvCxnSpPr>
            <a:stCxn xmlns:a="http://schemas.openxmlformats.org/drawingml/2006/main" id="8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952625" y="3514725"/>
            <a:ext cx="292417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8" name="U04-DG-006-edge-U04-DG-006-C4-U04-DG-006-A4"/>
          <p:cNvCxnSpPr>
            <a:stCxn xmlns:a="http://schemas.openxmlformats.org/drawingml/2006/main" id="9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7496175" y="3514725"/>
            <a:ext cx="2743200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6" name="U04-DG-006-EQ-text">
            <a:extLst xmlns:a="http://schemas.openxmlformats.org/drawingml/2006/main">
              <a:ext uri="{FF2B5EF4-FFF2-40B4-BE49-F238E27FC236}">
                <a16:creationId xmlns:a16="http://schemas.microsoft.com/office/drawing/2014/main" id="{0D009D13-95AB-4A9C-80CE-2DCA7B4B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6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42A2E"/>
                </a:solidFill>
              </a:defRPr>
            </a:pPr>
            <a:r>
              <a:rPr sz="3000" b="1">
                <a:solidFill>
                  <a:srgbClr val="242A2E"/>
                </a:solidFill>
              </a:rPr>
              <a:t>c = √(Kₛ / ρ)</a:t>
            </a:r>
          </a:p>
        </p:txBody>
      </p:sp>
      <p:sp>
        <p:nvSpPr>
          <p:cNvPr id="17" name="U04-DG-006-C1-text">
            <a:extLst xmlns:a="http://schemas.openxmlformats.org/drawingml/2006/main">
              <a:ext uri="{FF2B5EF4-FFF2-40B4-BE49-F238E27FC236}">
                <a16:creationId xmlns:a16="http://schemas.microsoft.com/office/drawing/2014/main" id="{BBC302D5-A3CF-4E21-B7F0-0BCEDDB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Kₛ ↑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mayor rigidez</a:t>
            </a:r>
          </a:p>
        </p:txBody>
      </p:sp>
      <p:sp>
        <p:nvSpPr>
          <p:cNvPr id="18" name="U04-DG-006-C2-text">
            <a:extLst xmlns:a="http://schemas.openxmlformats.org/drawingml/2006/main">
              <a:ext uri="{FF2B5EF4-FFF2-40B4-BE49-F238E27FC236}">
                <a16:creationId xmlns:a16="http://schemas.microsoft.com/office/drawing/2014/main" id="{FA08BDFC-AC62-45CE-8F23-22F741DC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ρ ↑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mayor inercia</a:t>
            </a:r>
          </a:p>
        </p:txBody>
      </p:sp>
      <p:sp>
        <p:nvSpPr>
          <p:cNvPr id="19" name="U04-DG-006-C3-text">
            <a:extLst xmlns:a="http://schemas.openxmlformats.org/drawingml/2006/main">
              <a:ext uri="{FF2B5EF4-FFF2-40B4-BE49-F238E27FC236}">
                <a16:creationId xmlns:a16="http://schemas.microsoft.com/office/drawing/2014/main" id="{BB6A078A-DF00-4681-94AA-1C1056CA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Fluido homogéneo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pequeñas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perturbaciones</a:t>
            </a:r>
          </a:p>
        </p:txBody>
      </p:sp>
      <p:sp>
        <p:nvSpPr>
          <p:cNvPr id="20" name="U04-DG-006-C4-text">
            <a:extLst xmlns:a="http://schemas.openxmlformats.org/drawingml/2006/main">
              <a:ext uri="{FF2B5EF4-FFF2-40B4-BE49-F238E27FC236}">
                <a16:creationId xmlns:a16="http://schemas.microsoft.com/office/drawing/2014/main" id="{F1B6E047-63E8-4D00-BEE6-9446EE3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No comparar medios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con una sola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variable</a:t>
            </a:r>
          </a:p>
        </p:txBody>
      </p:sp>
      <p:sp>
        <p:nvSpPr>
          <p:cNvPr id="21" name="U04-DG-006-B1-text">
            <a:extLst xmlns:a="http://schemas.openxmlformats.org/drawingml/2006/main">
              <a:ext uri="{FF2B5EF4-FFF2-40B4-BE49-F238E27FC236}">
                <a16:creationId xmlns:a16="http://schemas.microsoft.com/office/drawing/2014/main" id="{B105EDCF-B2D0-4F7A-B1C3-C8D126E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38700"/>
            <a:ext cx="2324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Medio 1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 fija · c₁ · λ₁</a:t>
            </a:r>
          </a:p>
        </p:txBody>
      </p:sp>
      <p:sp>
        <p:nvSpPr>
          <p:cNvPr id="22" name="U04-DG-006-B2-text">
            <a:extLst xmlns:a="http://schemas.openxmlformats.org/drawingml/2006/main">
              <a:ext uri="{FF2B5EF4-FFF2-40B4-BE49-F238E27FC236}">
                <a16:creationId xmlns:a16="http://schemas.microsoft.com/office/drawing/2014/main" id="{7C45CA1C-9F16-448F-8799-47B2282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2324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Medio 2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 fija · c₂ · λ₂</a:t>
            </a:r>
          </a:p>
        </p:txBody>
      </p:sp>
      <p:sp>
        <p:nvSpPr>
          <p:cNvPr id="23" name="lam-text">
            <a:extLst xmlns:a="http://schemas.openxmlformats.org/drawingml/2006/main">
              <a:ext uri="{FF2B5EF4-FFF2-40B4-BE49-F238E27FC236}">
                <a16:creationId xmlns:a16="http://schemas.microsoft.com/office/drawing/2014/main" id="{4175573B-B788-4AF3-BC8C-6FF38F04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λ = c / f</a:t>
            </a:r>
          </a:p>
        </p:txBody>
      </p:sp>
    </p:spTree>
    <p:extLst>
      <p:ext uri="{BB962C8B-B14F-4D97-AF65-F5344CB8AC3E}">
        <p14:creationId xmlns:p14="http://schemas.microsoft.com/office/powerpoint/2010/main" val="276860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2026-07-31T14:01:13.9250000Z</dcterms:created>
  <dcterms:modified xsi:type="dcterms:W3CDTF">2026-07-31T14:01:13.9250000Z</dcterms:modified>
</coreProperties>
</file>