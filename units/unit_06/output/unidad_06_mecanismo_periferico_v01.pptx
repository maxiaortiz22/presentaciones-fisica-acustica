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3" r:id="rId2"/>
  </p:sldMasterIdLst>
  <p:notesMasterIdLst>
    <p:notesMasterId r:id="rId1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notesMaster" Target="notesMasters/notesMaster1.xml"/><Relationship Id="rId125" Type="http://schemas.microsoft.com/office/2016/11/relationships/changesInfo" Target="changesInfos/changesInfo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imiliano Ortiz" userId="90727fd8e92db46b" providerId="LiveId" clId="{9BC7EBD1-E6C7-40E2-9BE0-E69EBE0B6810}"/>
    <pc:docChg chg="custSel modSld">
      <pc:chgData name="Maximiliano Ortiz" userId="90727fd8e92db46b" providerId="LiveId" clId="{9BC7EBD1-E6C7-40E2-9BE0-E69EBE0B6810}" dt="2026-08-10T19:51:33.772" v="287"/>
      <pc:docMkLst>
        <pc:docMk/>
      </pc:docMkLst>
      <pc:sldChg chg="modSp mod">
        <pc:chgData name="Maximiliano Ortiz" userId="90727fd8e92db46b" providerId="LiveId" clId="{9BC7EBD1-E6C7-40E2-9BE0-E69EBE0B6810}" dt="2026-08-10T19:51:27.221" v="3"/>
        <pc:sldMkLst>
          <pc:docMk/>
          <pc:sldMk cId="281546375" sldId="257"/>
        </pc:sldMkLst>
        <pc:spChg chg="mod">
          <ac:chgData name="Maximiliano Ortiz" userId="90727fd8e92db46b" providerId="LiveId" clId="{9BC7EBD1-E6C7-40E2-9BE0-E69EBE0B6810}" dt="2026-08-10T19:51:27.221" v="3"/>
          <ac:spMkLst>
            <pc:docMk/>
            <pc:sldMk cId="281546375" sldId="257"/>
            <ac:spMk id="15" creationId="{6B139E63-0766-4B34-BC27-E193038AC317}"/>
          </ac:spMkLst>
        </pc:spChg>
      </pc:sldChg>
      <pc:sldChg chg="modSp mod">
        <pc:chgData name="Maximiliano Ortiz" userId="90727fd8e92db46b" providerId="LiveId" clId="{9BC7EBD1-E6C7-40E2-9BE0-E69EBE0B6810}" dt="2026-08-10T19:51:27.312" v="7"/>
        <pc:sldMkLst>
          <pc:docMk/>
          <pc:sldMk cId="1833595117" sldId="258"/>
        </pc:sldMkLst>
        <pc:spChg chg="mod">
          <ac:chgData name="Maximiliano Ortiz" userId="90727fd8e92db46b" providerId="LiveId" clId="{9BC7EBD1-E6C7-40E2-9BE0-E69EBE0B6810}" dt="2026-08-10T19:51:27.312" v="7"/>
          <ac:spMkLst>
            <pc:docMk/>
            <pc:sldMk cId="1833595117" sldId="258"/>
            <ac:spMk id="13" creationId="{C975CE9F-6A3C-4D7B-B601-1CC12D90C2FD}"/>
          </ac:spMkLst>
        </pc:spChg>
      </pc:sldChg>
      <pc:sldChg chg="modSp mod">
        <pc:chgData name="Maximiliano Ortiz" userId="90727fd8e92db46b" providerId="LiveId" clId="{9BC7EBD1-E6C7-40E2-9BE0-E69EBE0B6810}" dt="2026-08-10T19:51:27.393" v="11"/>
        <pc:sldMkLst>
          <pc:docMk/>
          <pc:sldMk cId="281546375" sldId="259"/>
        </pc:sldMkLst>
        <pc:spChg chg="mod">
          <ac:chgData name="Maximiliano Ortiz" userId="90727fd8e92db46b" providerId="LiveId" clId="{9BC7EBD1-E6C7-40E2-9BE0-E69EBE0B6810}" dt="2026-08-10T19:51:27.393" v="11"/>
          <ac:spMkLst>
            <pc:docMk/>
            <pc:sldMk cId="281546375" sldId="259"/>
            <ac:spMk id="7" creationId="{01639A92-4EEF-4083-A1AB-14CF62B15954}"/>
          </ac:spMkLst>
        </pc:spChg>
      </pc:sldChg>
      <pc:sldChg chg="modSp mod">
        <pc:chgData name="Maximiliano Ortiz" userId="90727fd8e92db46b" providerId="LiveId" clId="{9BC7EBD1-E6C7-40E2-9BE0-E69EBE0B6810}" dt="2026-08-10T19:51:27.500" v="15"/>
        <pc:sldMkLst>
          <pc:docMk/>
          <pc:sldMk cId="1271479030" sldId="262"/>
        </pc:sldMkLst>
        <pc:spChg chg="mod">
          <ac:chgData name="Maximiliano Ortiz" userId="90727fd8e92db46b" providerId="LiveId" clId="{9BC7EBD1-E6C7-40E2-9BE0-E69EBE0B6810}" dt="2026-08-10T19:51:27.500" v="15"/>
          <ac:spMkLst>
            <pc:docMk/>
            <pc:sldMk cId="1271479030" sldId="262"/>
            <ac:spMk id="11" creationId="{9A90223F-9233-44F2-90C3-48C6F727127A}"/>
          </ac:spMkLst>
        </pc:spChg>
      </pc:sldChg>
      <pc:sldChg chg="modSp mod">
        <pc:chgData name="Maximiliano Ortiz" userId="90727fd8e92db46b" providerId="LiveId" clId="{9BC7EBD1-E6C7-40E2-9BE0-E69EBE0B6810}" dt="2026-08-10T19:51:27.615" v="19"/>
        <pc:sldMkLst>
          <pc:docMk/>
          <pc:sldMk cId="1995449240" sldId="266"/>
        </pc:sldMkLst>
        <pc:spChg chg="mod">
          <ac:chgData name="Maximiliano Ortiz" userId="90727fd8e92db46b" providerId="LiveId" clId="{9BC7EBD1-E6C7-40E2-9BE0-E69EBE0B6810}" dt="2026-08-10T19:51:27.615" v="19"/>
          <ac:spMkLst>
            <pc:docMk/>
            <pc:sldMk cId="1995449240" sldId="266"/>
            <ac:spMk id="11" creationId="{45BEA4CF-80D5-4EF2-B340-24EE8B150DBA}"/>
          </ac:spMkLst>
        </pc:spChg>
      </pc:sldChg>
      <pc:sldChg chg="modSp mod">
        <pc:chgData name="Maximiliano Ortiz" userId="90727fd8e92db46b" providerId="LiveId" clId="{9BC7EBD1-E6C7-40E2-9BE0-E69EBE0B6810}" dt="2026-08-10T19:51:27.718" v="23"/>
        <pc:sldMkLst>
          <pc:docMk/>
          <pc:sldMk cId="986630461" sldId="269"/>
        </pc:sldMkLst>
        <pc:spChg chg="mod">
          <ac:chgData name="Maximiliano Ortiz" userId="90727fd8e92db46b" providerId="LiveId" clId="{9BC7EBD1-E6C7-40E2-9BE0-E69EBE0B6810}" dt="2026-08-10T19:51:27.718" v="23"/>
          <ac:spMkLst>
            <pc:docMk/>
            <pc:sldMk cId="986630461" sldId="269"/>
            <ac:spMk id="11" creationId="{66EF23E3-12CA-403E-AE13-3B12E6A9F025}"/>
          </ac:spMkLst>
        </pc:spChg>
      </pc:sldChg>
      <pc:sldChg chg="modSp mod">
        <pc:chgData name="Maximiliano Ortiz" userId="90727fd8e92db46b" providerId="LiveId" clId="{9BC7EBD1-E6C7-40E2-9BE0-E69EBE0B6810}" dt="2026-08-10T19:51:27.794" v="27"/>
        <pc:sldMkLst>
          <pc:docMk/>
          <pc:sldMk cId="1602286470" sldId="270"/>
        </pc:sldMkLst>
        <pc:spChg chg="mod">
          <ac:chgData name="Maximiliano Ortiz" userId="90727fd8e92db46b" providerId="LiveId" clId="{9BC7EBD1-E6C7-40E2-9BE0-E69EBE0B6810}" dt="2026-08-10T19:51:27.794" v="27"/>
          <ac:spMkLst>
            <pc:docMk/>
            <pc:sldMk cId="1602286470" sldId="270"/>
            <ac:spMk id="13" creationId="{CF51D68C-FA31-47A5-ACD8-46F2CEB8D5B9}"/>
          </ac:spMkLst>
        </pc:spChg>
      </pc:sldChg>
      <pc:sldChg chg="modSp mod">
        <pc:chgData name="Maximiliano Ortiz" userId="90727fd8e92db46b" providerId="LiveId" clId="{9BC7EBD1-E6C7-40E2-9BE0-E69EBE0B6810}" dt="2026-08-10T19:51:27.872" v="31"/>
        <pc:sldMkLst>
          <pc:docMk/>
          <pc:sldMk cId="1133635661" sldId="271"/>
        </pc:sldMkLst>
        <pc:spChg chg="mod">
          <ac:chgData name="Maximiliano Ortiz" userId="90727fd8e92db46b" providerId="LiveId" clId="{9BC7EBD1-E6C7-40E2-9BE0-E69EBE0B6810}" dt="2026-08-10T19:51:27.872" v="31"/>
          <ac:spMkLst>
            <pc:docMk/>
            <pc:sldMk cId="1133635661" sldId="271"/>
            <ac:spMk id="11" creationId="{C212FB95-CCFC-4214-9048-8F37D58B6CDB}"/>
          </ac:spMkLst>
        </pc:spChg>
      </pc:sldChg>
      <pc:sldChg chg="modSp mod">
        <pc:chgData name="Maximiliano Ortiz" userId="90727fd8e92db46b" providerId="LiveId" clId="{9BC7EBD1-E6C7-40E2-9BE0-E69EBE0B6810}" dt="2026-08-10T19:51:27.969" v="35"/>
        <pc:sldMkLst>
          <pc:docMk/>
          <pc:sldMk cId="1320203634" sldId="272"/>
        </pc:sldMkLst>
        <pc:spChg chg="mod">
          <ac:chgData name="Maximiliano Ortiz" userId="90727fd8e92db46b" providerId="LiveId" clId="{9BC7EBD1-E6C7-40E2-9BE0-E69EBE0B6810}" dt="2026-08-10T19:51:27.969" v="35"/>
          <ac:spMkLst>
            <pc:docMk/>
            <pc:sldMk cId="1320203634" sldId="272"/>
            <ac:spMk id="15" creationId="{59019755-2F4C-438A-9FBE-3DAC454BF393}"/>
          </ac:spMkLst>
        </pc:spChg>
      </pc:sldChg>
      <pc:sldChg chg="modSp mod">
        <pc:chgData name="Maximiliano Ortiz" userId="90727fd8e92db46b" providerId="LiveId" clId="{9BC7EBD1-E6C7-40E2-9BE0-E69EBE0B6810}" dt="2026-08-10T19:51:28.116" v="39"/>
        <pc:sldMkLst>
          <pc:docMk/>
          <pc:sldMk cId="567438305" sldId="275"/>
        </pc:sldMkLst>
        <pc:spChg chg="mod">
          <ac:chgData name="Maximiliano Ortiz" userId="90727fd8e92db46b" providerId="LiveId" clId="{9BC7EBD1-E6C7-40E2-9BE0-E69EBE0B6810}" dt="2026-08-10T19:51:28.116" v="39"/>
          <ac:spMkLst>
            <pc:docMk/>
            <pc:sldMk cId="567438305" sldId="275"/>
            <ac:spMk id="11" creationId="{F24C27FD-85D2-48F2-8A72-9B63508ADA50}"/>
          </ac:spMkLst>
        </pc:spChg>
      </pc:sldChg>
      <pc:sldChg chg="modSp mod">
        <pc:chgData name="Maximiliano Ortiz" userId="90727fd8e92db46b" providerId="LiveId" clId="{9BC7EBD1-E6C7-40E2-9BE0-E69EBE0B6810}" dt="2026-08-10T19:51:28.240" v="43"/>
        <pc:sldMkLst>
          <pc:docMk/>
          <pc:sldMk cId="281546375" sldId="278"/>
        </pc:sldMkLst>
        <pc:spChg chg="mod">
          <ac:chgData name="Maximiliano Ortiz" userId="90727fd8e92db46b" providerId="LiveId" clId="{9BC7EBD1-E6C7-40E2-9BE0-E69EBE0B6810}" dt="2026-08-10T19:51:28.240" v="43"/>
          <ac:spMkLst>
            <pc:docMk/>
            <pc:sldMk cId="281546375" sldId="278"/>
            <ac:spMk id="8" creationId="{2060942C-C069-47E5-8F7E-B8DDE26D8084}"/>
          </ac:spMkLst>
        </pc:spChg>
      </pc:sldChg>
      <pc:sldChg chg="modSp mod">
        <pc:chgData name="Maximiliano Ortiz" userId="90727fd8e92db46b" providerId="LiveId" clId="{9BC7EBD1-E6C7-40E2-9BE0-E69EBE0B6810}" dt="2026-08-10T19:51:28.359" v="47"/>
        <pc:sldMkLst>
          <pc:docMk/>
          <pc:sldMk cId="1926975773" sldId="279"/>
        </pc:sldMkLst>
        <pc:spChg chg="mod">
          <ac:chgData name="Maximiliano Ortiz" userId="90727fd8e92db46b" providerId="LiveId" clId="{9BC7EBD1-E6C7-40E2-9BE0-E69EBE0B6810}" dt="2026-08-10T19:51:28.359" v="47"/>
          <ac:spMkLst>
            <pc:docMk/>
            <pc:sldMk cId="1926975773" sldId="279"/>
            <ac:spMk id="15" creationId="{F01D95BF-1E9C-4FB7-8282-AAC23D442184}"/>
          </ac:spMkLst>
        </pc:spChg>
      </pc:sldChg>
      <pc:sldChg chg="modSp mod">
        <pc:chgData name="Maximiliano Ortiz" userId="90727fd8e92db46b" providerId="LiveId" clId="{9BC7EBD1-E6C7-40E2-9BE0-E69EBE0B6810}" dt="2026-08-10T19:51:28.459" v="51"/>
        <pc:sldMkLst>
          <pc:docMk/>
          <pc:sldMk cId="318321949" sldId="280"/>
        </pc:sldMkLst>
        <pc:spChg chg="mod">
          <ac:chgData name="Maximiliano Ortiz" userId="90727fd8e92db46b" providerId="LiveId" clId="{9BC7EBD1-E6C7-40E2-9BE0-E69EBE0B6810}" dt="2026-08-10T19:51:28.459" v="51"/>
          <ac:spMkLst>
            <pc:docMk/>
            <pc:sldMk cId="318321949" sldId="280"/>
            <ac:spMk id="5" creationId="{8801B679-D4D7-4383-9CF8-6E81DB64855F}"/>
          </ac:spMkLst>
        </pc:spChg>
      </pc:sldChg>
      <pc:sldChg chg="modSp mod">
        <pc:chgData name="Maximiliano Ortiz" userId="90727fd8e92db46b" providerId="LiveId" clId="{9BC7EBD1-E6C7-40E2-9BE0-E69EBE0B6810}" dt="2026-08-10T19:51:28.579" v="55"/>
        <pc:sldMkLst>
          <pc:docMk/>
          <pc:sldMk cId="1320203634" sldId="282"/>
        </pc:sldMkLst>
        <pc:spChg chg="mod">
          <ac:chgData name="Maximiliano Ortiz" userId="90727fd8e92db46b" providerId="LiveId" clId="{9BC7EBD1-E6C7-40E2-9BE0-E69EBE0B6810}" dt="2026-08-10T19:51:28.579" v="55"/>
          <ac:spMkLst>
            <pc:docMk/>
            <pc:sldMk cId="1320203634" sldId="282"/>
            <ac:spMk id="14" creationId="{FFEA9AC4-F683-4BAD-9CD6-3EC8D8F12CA7}"/>
          </ac:spMkLst>
        </pc:spChg>
      </pc:sldChg>
      <pc:sldChg chg="modSp mod">
        <pc:chgData name="Maximiliano Ortiz" userId="90727fd8e92db46b" providerId="LiveId" clId="{9BC7EBD1-E6C7-40E2-9BE0-E69EBE0B6810}" dt="2026-08-10T19:51:28.760" v="59"/>
        <pc:sldMkLst>
          <pc:docMk/>
          <pc:sldMk cId="1926975773" sldId="285"/>
        </pc:sldMkLst>
        <pc:spChg chg="mod">
          <ac:chgData name="Maximiliano Ortiz" userId="90727fd8e92db46b" providerId="LiveId" clId="{9BC7EBD1-E6C7-40E2-9BE0-E69EBE0B6810}" dt="2026-08-10T19:51:28.760" v="59"/>
          <ac:spMkLst>
            <pc:docMk/>
            <pc:sldMk cId="1926975773" sldId="285"/>
            <ac:spMk id="11" creationId="{B2E794A9-6618-4EEF-B320-0CF7F8DC1CB7}"/>
          </ac:spMkLst>
        </pc:spChg>
      </pc:sldChg>
      <pc:sldChg chg="modSp mod">
        <pc:chgData name="Maximiliano Ortiz" userId="90727fd8e92db46b" providerId="LiveId" clId="{9BC7EBD1-E6C7-40E2-9BE0-E69EBE0B6810}" dt="2026-08-10T19:51:28.856" v="63"/>
        <pc:sldMkLst>
          <pc:docMk/>
          <pc:sldMk cId="567438305" sldId="286"/>
        </pc:sldMkLst>
        <pc:spChg chg="mod">
          <ac:chgData name="Maximiliano Ortiz" userId="90727fd8e92db46b" providerId="LiveId" clId="{9BC7EBD1-E6C7-40E2-9BE0-E69EBE0B6810}" dt="2026-08-10T19:51:28.856" v="63"/>
          <ac:spMkLst>
            <pc:docMk/>
            <pc:sldMk cId="567438305" sldId="286"/>
            <ac:spMk id="9" creationId="{3064B0C6-98A0-4F85-91B5-92AD50FC184A}"/>
          </ac:spMkLst>
        </pc:spChg>
      </pc:sldChg>
      <pc:sldChg chg="modSp mod">
        <pc:chgData name="Maximiliano Ortiz" userId="90727fd8e92db46b" providerId="LiveId" clId="{9BC7EBD1-E6C7-40E2-9BE0-E69EBE0B6810}" dt="2026-08-10T19:51:28.928" v="67"/>
        <pc:sldMkLst>
          <pc:docMk/>
          <pc:sldMk cId="1687263069" sldId="288"/>
        </pc:sldMkLst>
        <pc:spChg chg="mod">
          <ac:chgData name="Maximiliano Ortiz" userId="90727fd8e92db46b" providerId="LiveId" clId="{9BC7EBD1-E6C7-40E2-9BE0-E69EBE0B6810}" dt="2026-08-10T19:51:28.928" v="67"/>
          <ac:spMkLst>
            <pc:docMk/>
            <pc:sldMk cId="1687263069" sldId="288"/>
            <ac:spMk id="5" creationId="{3E6F8ED2-4BEA-4F09-8C7B-DB8442D7C644}"/>
          </ac:spMkLst>
        </pc:spChg>
      </pc:sldChg>
      <pc:sldChg chg="modSp mod">
        <pc:chgData name="Maximiliano Ortiz" userId="90727fd8e92db46b" providerId="LiveId" clId="{9BC7EBD1-E6C7-40E2-9BE0-E69EBE0B6810}" dt="2026-08-10T19:51:28.998" v="71"/>
        <pc:sldMkLst>
          <pc:docMk/>
          <pc:sldMk cId="1741329192" sldId="290"/>
        </pc:sldMkLst>
        <pc:spChg chg="mod">
          <ac:chgData name="Maximiliano Ortiz" userId="90727fd8e92db46b" providerId="LiveId" clId="{9BC7EBD1-E6C7-40E2-9BE0-E69EBE0B6810}" dt="2026-08-10T19:51:28.998" v="71"/>
          <ac:spMkLst>
            <pc:docMk/>
            <pc:sldMk cId="1741329192" sldId="290"/>
            <ac:spMk id="11" creationId="{52D93948-DF6D-40AB-A4F6-EAF13EFBFC08}"/>
          </ac:spMkLst>
        </pc:spChg>
      </pc:sldChg>
      <pc:sldChg chg="modSp mod">
        <pc:chgData name="Maximiliano Ortiz" userId="90727fd8e92db46b" providerId="LiveId" clId="{9BC7EBD1-E6C7-40E2-9BE0-E69EBE0B6810}" dt="2026-08-10T19:51:29.074" v="75"/>
        <pc:sldMkLst>
          <pc:docMk/>
          <pc:sldMk cId="1741329192" sldId="292"/>
        </pc:sldMkLst>
        <pc:spChg chg="mod">
          <ac:chgData name="Maximiliano Ortiz" userId="90727fd8e92db46b" providerId="LiveId" clId="{9BC7EBD1-E6C7-40E2-9BE0-E69EBE0B6810}" dt="2026-08-10T19:51:29.074" v="75"/>
          <ac:spMkLst>
            <pc:docMk/>
            <pc:sldMk cId="1741329192" sldId="292"/>
            <ac:spMk id="6" creationId="{97923212-DFCA-4F50-8CDB-760F6D08E904}"/>
          </ac:spMkLst>
        </pc:spChg>
      </pc:sldChg>
      <pc:sldChg chg="modSp mod">
        <pc:chgData name="Maximiliano Ortiz" userId="90727fd8e92db46b" providerId="LiveId" clId="{9BC7EBD1-E6C7-40E2-9BE0-E69EBE0B6810}" dt="2026-08-10T19:51:29.112" v="79"/>
        <pc:sldMkLst>
          <pc:docMk/>
          <pc:sldMk cId="567438305" sldId="293"/>
        </pc:sldMkLst>
        <pc:spChg chg="mod">
          <ac:chgData name="Maximiliano Ortiz" userId="90727fd8e92db46b" providerId="LiveId" clId="{9BC7EBD1-E6C7-40E2-9BE0-E69EBE0B6810}" dt="2026-08-10T19:51:29.112" v="79"/>
          <ac:spMkLst>
            <pc:docMk/>
            <pc:sldMk cId="567438305" sldId="293"/>
            <ac:spMk id="10" creationId="{42615C99-E796-46DE-9A17-C63EBE79C588}"/>
          </ac:spMkLst>
        </pc:spChg>
      </pc:sldChg>
      <pc:sldChg chg="modSp mod">
        <pc:chgData name="Maximiliano Ortiz" userId="90727fd8e92db46b" providerId="LiveId" clId="{9BC7EBD1-E6C7-40E2-9BE0-E69EBE0B6810}" dt="2026-08-10T19:51:29.173" v="83"/>
        <pc:sldMkLst>
          <pc:docMk/>
          <pc:sldMk cId="1320203634" sldId="294"/>
        </pc:sldMkLst>
        <pc:spChg chg="mod">
          <ac:chgData name="Maximiliano Ortiz" userId="90727fd8e92db46b" providerId="LiveId" clId="{9BC7EBD1-E6C7-40E2-9BE0-E69EBE0B6810}" dt="2026-08-10T19:51:29.173" v="83"/>
          <ac:spMkLst>
            <pc:docMk/>
            <pc:sldMk cId="1320203634" sldId="294"/>
            <ac:spMk id="15" creationId="{7F78003B-A8B6-4D96-8A7F-D674DADB9152}"/>
          </ac:spMkLst>
        </pc:spChg>
      </pc:sldChg>
      <pc:sldChg chg="modSp mod">
        <pc:chgData name="Maximiliano Ortiz" userId="90727fd8e92db46b" providerId="LiveId" clId="{9BC7EBD1-E6C7-40E2-9BE0-E69EBE0B6810}" dt="2026-08-10T19:51:29.260" v="87"/>
        <pc:sldMkLst>
          <pc:docMk/>
          <pc:sldMk cId="318321949" sldId="296"/>
        </pc:sldMkLst>
        <pc:spChg chg="mod">
          <ac:chgData name="Maximiliano Ortiz" userId="90727fd8e92db46b" providerId="LiveId" clId="{9BC7EBD1-E6C7-40E2-9BE0-E69EBE0B6810}" dt="2026-08-10T19:51:29.260" v="87"/>
          <ac:spMkLst>
            <pc:docMk/>
            <pc:sldMk cId="318321949" sldId="296"/>
            <ac:spMk id="19" creationId="{8D933A8F-B24B-4E3A-A929-86465E923A5D}"/>
          </ac:spMkLst>
        </pc:spChg>
      </pc:sldChg>
      <pc:sldChg chg="modSp mod">
        <pc:chgData name="Maximiliano Ortiz" userId="90727fd8e92db46b" providerId="LiveId" clId="{9BC7EBD1-E6C7-40E2-9BE0-E69EBE0B6810}" dt="2026-08-10T19:51:29.357" v="91"/>
        <pc:sldMkLst>
          <pc:docMk/>
          <pc:sldMk cId="1673297158" sldId="297"/>
        </pc:sldMkLst>
        <pc:spChg chg="mod">
          <ac:chgData name="Maximiliano Ortiz" userId="90727fd8e92db46b" providerId="LiveId" clId="{9BC7EBD1-E6C7-40E2-9BE0-E69EBE0B6810}" dt="2026-08-10T19:51:29.357" v="91"/>
          <ac:spMkLst>
            <pc:docMk/>
            <pc:sldMk cId="1673297158" sldId="297"/>
            <ac:spMk id="18" creationId="{EE63E8FD-359E-421C-B5D2-545B825A29CC}"/>
          </ac:spMkLst>
        </pc:spChg>
      </pc:sldChg>
      <pc:sldChg chg="modSp mod">
        <pc:chgData name="Maximiliano Ortiz" userId="90727fd8e92db46b" providerId="LiveId" clId="{9BC7EBD1-E6C7-40E2-9BE0-E69EBE0B6810}" dt="2026-08-10T19:51:29.449" v="95"/>
        <pc:sldMkLst>
          <pc:docMk/>
          <pc:sldMk cId="1995449240" sldId="298"/>
        </pc:sldMkLst>
        <pc:spChg chg="mod">
          <ac:chgData name="Maximiliano Ortiz" userId="90727fd8e92db46b" providerId="LiveId" clId="{9BC7EBD1-E6C7-40E2-9BE0-E69EBE0B6810}" dt="2026-08-10T19:51:29.449" v="95"/>
          <ac:spMkLst>
            <pc:docMk/>
            <pc:sldMk cId="1995449240" sldId="298"/>
            <ac:spMk id="15" creationId="{53EB10F7-582F-4B67-A563-9A8D56428054}"/>
          </ac:spMkLst>
        </pc:spChg>
      </pc:sldChg>
      <pc:sldChg chg="modSp mod">
        <pc:chgData name="Maximiliano Ortiz" userId="90727fd8e92db46b" providerId="LiveId" clId="{9BC7EBD1-E6C7-40E2-9BE0-E69EBE0B6810}" dt="2026-08-10T19:51:29.520" v="99"/>
        <pc:sldMkLst>
          <pc:docMk/>
          <pc:sldMk cId="1926975773" sldId="299"/>
        </pc:sldMkLst>
        <pc:spChg chg="mod">
          <ac:chgData name="Maximiliano Ortiz" userId="90727fd8e92db46b" providerId="LiveId" clId="{9BC7EBD1-E6C7-40E2-9BE0-E69EBE0B6810}" dt="2026-08-10T19:51:29.520" v="99"/>
          <ac:spMkLst>
            <pc:docMk/>
            <pc:sldMk cId="1926975773" sldId="299"/>
            <ac:spMk id="11" creationId="{317AD117-4021-42F9-B51E-F40851533C49}"/>
          </ac:spMkLst>
        </pc:spChg>
      </pc:sldChg>
      <pc:sldChg chg="modSp mod">
        <pc:chgData name="Maximiliano Ortiz" userId="90727fd8e92db46b" providerId="LiveId" clId="{9BC7EBD1-E6C7-40E2-9BE0-E69EBE0B6810}" dt="2026-08-10T19:51:29.560" v="103"/>
        <pc:sldMkLst>
          <pc:docMk/>
          <pc:sldMk cId="318321949" sldId="300"/>
        </pc:sldMkLst>
        <pc:spChg chg="mod">
          <ac:chgData name="Maximiliano Ortiz" userId="90727fd8e92db46b" providerId="LiveId" clId="{9BC7EBD1-E6C7-40E2-9BE0-E69EBE0B6810}" dt="2026-08-10T19:51:29.560" v="103"/>
          <ac:spMkLst>
            <pc:docMk/>
            <pc:sldMk cId="318321949" sldId="300"/>
            <ac:spMk id="6" creationId="{A7FE8C3A-A2C6-4CF0-B270-F3844FA585EA}"/>
          </ac:spMkLst>
        </pc:spChg>
      </pc:sldChg>
      <pc:sldChg chg="modSp mod">
        <pc:chgData name="Maximiliano Ortiz" userId="90727fd8e92db46b" providerId="LiveId" clId="{9BC7EBD1-E6C7-40E2-9BE0-E69EBE0B6810}" dt="2026-08-10T19:51:29.589" v="107"/>
        <pc:sldMkLst>
          <pc:docMk/>
          <pc:sldMk cId="1926975773" sldId="301"/>
        </pc:sldMkLst>
        <pc:spChg chg="mod">
          <ac:chgData name="Maximiliano Ortiz" userId="90727fd8e92db46b" providerId="LiveId" clId="{9BC7EBD1-E6C7-40E2-9BE0-E69EBE0B6810}" dt="2026-08-10T19:51:29.589" v="107"/>
          <ac:spMkLst>
            <pc:docMk/>
            <pc:sldMk cId="1926975773" sldId="301"/>
            <ac:spMk id="5" creationId="{2100541F-9DD2-423B-9773-08705FE2E23D}"/>
          </ac:spMkLst>
        </pc:spChg>
      </pc:sldChg>
      <pc:sldChg chg="modSp mod">
        <pc:chgData name="Maximiliano Ortiz" userId="90727fd8e92db46b" providerId="LiveId" clId="{9BC7EBD1-E6C7-40E2-9BE0-E69EBE0B6810}" dt="2026-08-10T19:51:29.691" v="111"/>
        <pc:sldMkLst>
          <pc:docMk/>
          <pc:sldMk cId="1320203634" sldId="303"/>
        </pc:sldMkLst>
        <pc:spChg chg="mod">
          <ac:chgData name="Maximiliano Ortiz" userId="90727fd8e92db46b" providerId="LiveId" clId="{9BC7EBD1-E6C7-40E2-9BE0-E69EBE0B6810}" dt="2026-08-10T19:51:29.691" v="111"/>
          <ac:spMkLst>
            <pc:docMk/>
            <pc:sldMk cId="1320203634" sldId="303"/>
            <ac:spMk id="19" creationId="{F3B945E6-6507-4106-8AA0-DAABAC4982A4}"/>
          </ac:spMkLst>
        </pc:spChg>
      </pc:sldChg>
      <pc:sldChg chg="modSp mod">
        <pc:chgData name="Maximiliano Ortiz" userId="90727fd8e92db46b" providerId="LiveId" clId="{9BC7EBD1-E6C7-40E2-9BE0-E69EBE0B6810}" dt="2026-08-10T19:51:29.780" v="115"/>
        <pc:sldMkLst>
          <pc:docMk/>
          <pc:sldMk cId="567438305" sldId="305"/>
        </pc:sldMkLst>
        <pc:spChg chg="mod">
          <ac:chgData name="Maximiliano Ortiz" userId="90727fd8e92db46b" providerId="LiveId" clId="{9BC7EBD1-E6C7-40E2-9BE0-E69EBE0B6810}" dt="2026-08-10T19:51:29.780" v="115"/>
          <ac:spMkLst>
            <pc:docMk/>
            <pc:sldMk cId="567438305" sldId="305"/>
            <ac:spMk id="10" creationId="{64A1C94C-EACA-4EDF-A8E5-43324E5B74ED}"/>
          </ac:spMkLst>
        </pc:spChg>
      </pc:sldChg>
      <pc:sldChg chg="modSp mod">
        <pc:chgData name="Maximiliano Ortiz" userId="90727fd8e92db46b" providerId="LiveId" clId="{9BC7EBD1-E6C7-40E2-9BE0-E69EBE0B6810}" dt="2026-08-10T19:51:29.833" v="119"/>
        <pc:sldMkLst>
          <pc:docMk/>
          <pc:sldMk cId="1995449240" sldId="306"/>
        </pc:sldMkLst>
        <pc:spChg chg="mod">
          <ac:chgData name="Maximiliano Ortiz" userId="90727fd8e92db46b" providerId="LiveId" clId="{9BC7EBD1-E6C7-40E2-9BE0-E69EBE0B6810}" dt="2026-08-10T19:51:29.833" v="119"/>
          <ac:spMkLst>
            <pc:docMk/>
            <pc:sldMk cId="1995449240" sldId="306"/>
            <ac:spMk id="11" creationId="{A5FFF1ED-9816-4BDA-A970-75C0C64215F4}"/>
          </ac:spMkLst>
        </pc:spChg>
      </pc:sldChg>
      <pc:sldChg chg="modSp mod">
        <pc:chgData name="Maximiliano Ortiz" userId="90727fd8e92db46b" providerId="LiveId" clId="{9BC7EBD1-E6C7-40E2-9BE0-E69EBE0B6810}" dt="2026-08-10T19:51:29.903" v="123"/>
        <pc:sldMkLst>
          <pc:docMk/>
          <pc:sldMk cId="318321949" sldId="308"/>
        </pc:sldMkLst>
        <pc:spChg chg="mod">
          <ac:chgData name="Maximiliano Ortiz" userId="90727fd8e92db46b" providerId="LiveId" clId="{9BC7EBD1-E6C7-40E2-9BE0-E69EBE0B6810}" dt="2026-08-10T19:51:29.903" v="123"/>
          <ac:spMkLst>
            <pc:docMk/>
            <pc:sldMk cId="318321949" sldId="308"/>
            <ac:spMk id="7" creationId="{5ED664A9-4EE7-40DB-99C0-F485580368A6}"/>
          </ac:spMkLst>
        </pc:spChg>
      </pc:sldChg>
      <pc:sldChg chg="modSp mod">
        <pc:chgData name="Maximiliano Ortiz" userId="90727fd8e92db46b" providerId="LiveId" clId="{9BC7EBD1-E6C7-40E2-9BE0-E69EBE0B6810}" dt="2026-08-10T19:51:30.038" v="127"/>
        <pc:sldMkLst>
          <pc:docMk/>
          <pc:sldMk cId="1673297158" sldId="313"/>
        </pc:sldMkLst>
        <pc:spChg chg="mod">
          <ac:chgData name="Maximiliano Ortiz" userId="90727fd8e92db46b" providerId="LiveId" clId="{9BC7EBD1-E6C7-40E2-9BE0-E69EBE0B6810}" dt="2026-08-10T19:51:30.038" v="127"/>
          <ac:spMkLst>
            <pc:docMk/>
            <pc:sldMk cId="1673297158" sldId="313"/>
            <ac:spMk id="11" creationId="{C08BC30C-F73B-44F2-BBE1-2BF64EFFA39F}"/>
          </ac:spMkLst>
        </pc:spChg>
      </pc:sldChg>
      <pc:sldChg chg="modSp mod">
        <pc:chgData name="Maximiliano Ortiz" userId="90727fd8e92db46b" providerId="LiveId" clId="{9BC7EBD1-E6C7-40E2-9BE0-E69EBE0B6810}" dt="2026-08-10T19:51:30.096" v="131"/>
        <pc:sldMkLst>
          <pc:docMk/>
          <pc:sldMk cId="817057724" sldId="314"/>
        </pc:sldMkLst>
        <pc:spChg chg="mod">
          <ac:chgData name="Maximiliano Ortiz" userId="90727fd8e92db46b" providerId="LiveId" clId="{9BC7EBD1-E6C7-40E2-9BE0-E69EBE0B6810}" dt="2026-08-10T19:51:30.096" v="131"/>
          <ac:spMkLst>
            <pc:docMk/>
            <pc:sldMk cId="817057724" sldId="314"/>
            <ac:spMk id="11" creationId="{A6C7B218-96A3-43F0-B4D6-BC278BE50948}"/>
          </ac:spMkLst>
        </pc:spChg>
      </pc:sldChg>
      <pc:sldChg chg="modSp mod">
        <pc:chgData name="Maximiliano Ortiz" userId="90727fd8e92db46b" providerId="LiveId" clId="{9BC7EBD1-E6C7-40E2-9BE0-E69EBE0B6810}" dt="2026-08-10T19:51:30.142" v="135"/>
        <pc:sldMkLst>
          <pc:docMk/>
          <pc:sldMk cId="1320203634" sldId="315"/>
        </pc:sldMkLst>
        <pc:spChg chg="mod">
          <ac:chgData name="Maximiliano Ortiz" userId="90727fd8e92db46b" providerId="LiveId" clId="{9BC7EBD1-E6C7-40E2-9BE0-E69EBE0B6810}" dt="2026-08-10T19:51:30.142" v="135"/>
          <ac:spMkLst>
            <pc:docMk/>
            <pc:sldMk cId="1320203634" sldId="315"/>
            <ac:spMk id="6" creationId="{2EF19B75-D92F-442E-B258-667848A193B0}"/>
          </ac:spMkLst>
        </pc:spChg>
      </pc:sldChg>
      <pc:sldChg chg="modSp mod">
        <pc:chgData name="Maximiliano Ortiz" userId="90727fd8e92db46b" providerId="LiveId" clId="{9BC7EBD1-E6C7-40E2-9BE0-E69EBE0B6810}" dt="2026-08-10T19:51:30.196" v="139"/>
        <pc:sldMkLst>
          <pc:docMk/>
          <pc:sldMk cId="1046213385" sldId="317"/>
        </pc:sldMkLst>
        <pc:spChg chg="mod">
          <ac:chgData name="Maximiliano Ortiz" userId="90727fd8e92db46b" providerId="LiveId" clId="{9BC7EBD1-E6C7-40E2-9BE0-E69EBE0B6810}" dt="2026-08-10T19:51:30.196" v="139"/>
          <ac:spMkLst>
            <pc:docMk/>
            <pc:sldMk cId="1046213385" sldId="317"/>
            <ac:spMk id="10" creationId="{BED9817B-B8A7-4D41-9672-4289AED50F33}"/>
          </ac:spMkLst>
        </pc:spChg>
      </pc:sldChg>
      <pc:sldChg chg="modSp mod">
        <pc:chgData name="Maximiliano Ortiz" userId="90727fd8e92db46b" providerId="LiveId" clId="{9BC7EBD1-E6C7-40E2-9BE0-E69EBE0B6810}" dt="2026-08-10T19:51:30.252" v="143"/>
        <pc:sldMkLst>
          <pc:docMk/>
          <pc:sldMk cId="567438305" sldId="318"/>
        </pc:sldMkLst>
        <pc:spChg chg="mod">
          <ac:chgData name="Maximiliano Ortiz" userId="90727fd8e92db46b" providerId="LiveId" clId="{9BC7EBD1-E6C7-40E2-9BE0-E69EBE0B6810}" dt="2026-08-10T19:51:30.252" v="143"/>
          <ac:spMkLst>
            <pc:docMk/>
            <pc:sldMk cId="567438305" sldId="318"/>
            <ac:spMk id="11" creationId="{D44AC8E3-2A2A-4757-BB92-D4B4739441A9}"/>
          </ac:spMkLst>
        </pc:spChg>
      </pc:sldChg>
      <pc:sldChg chg="modSp mod">
        <pc:chgData name="Maximiliano Ortiz" userId="90727fd8e92db46b" providerId="LiveId" clId="{9BC7EBD1-E6C7-40E2-9BE0-E69EBE0B6810}" dt="2026-08-10T19:51:30.335" v="147"/>
        <pc:sldMkLst>
          <pc:docMk/>
          <pc:sldMk cId="48649001" sldId="319"/>
        </pc:sldMkLst>
        <pc:picChg chg="mod">
          <ac:chgData name="Maximiliano Ortiz" userId="90727fd8e92db46b" providerId="LiveId" clId="{9BC7EBD1-E6C7-40E2-9BE0-E69EBE0B6810}" dt="2026-08-10T19:51:30.335" v="147"/>
          <ac:picMkLst>
            <pc:docMk/>
            <pc:sldMk cId="48649001" sldId="319"/>
            <ac:picMk id="11" creationId="{00000000-0000-0000-0000-000000000000}"/>
          </ac:picMkLst>
        </pc:picChg>
      </pc:sldChg>
      <pc:sldChg chg="modSp mod">
        <pc:chgData name="Maximiliano Ortiz" userId="90727fd8e92db46b" providerId="LiveId" clId="{9BC7EBD1-E6C7-40E2-9BE0-E69EBE0B6810}" dt="2026-08-10T19:51:30.366" v="151"/>
        <pc:sldMkLst>
          <pc:docMk/>
          <pc:sldMk cId="318321949" sldId="320"/>
        </pc:sldMkLst>
        <pc:spChg chg="mod">
          <ac:chgData name="Maximiliano Ortiz" userId="90727fd8e92db46b" providerId="LiveId" clId="{9BC7EBD1-E6C7-40E2-9BE0-E69EBE0B6810}" dt="2026-08-10T19:51:30.366" v="151"/>
          <ac:spMkLst>
            <pc:docMk/>
            <pc:sldMk cId="318321949" sldId="320"/>
            <ac:spMk id="5" creationId="{F24708BF-D799-403B-A9E8-36CB9B141D06}"/>
          </ac:spMkLst>
        </pc:spChg>
      </pc:sldChg>
      <pc:sldChg chg="modSp mod">
        <pc:chgData name="Maximiliano Ortiz" userId="90727fd8e92db46b" providerId="LiveId" clId="{9BC7EBD1-E6C7-40E2-9BE0-E69EBE0B6810}" dt="2026-08-10T19:51:30.428" v="155"/>
        <pc:sldMkLst>
          <pc:docMk/>
          <pc:sldMk cId="281546375" sldId="321"/>
        </pc:sldMkLst>
        <pc:picChg chg="mod">
          <ac:chgData name="Maximiliano Ortiz" userId="90727fd8e92db46b" providerId="LiveId" clId="{9BC7EBD1-E6C7-40E2-9BE0-E69EBE0B6810}" dt="2026-08-10T19:51:30.428" v="155"/>
          <ac:picMkLst>
            <pc:docMk/>
            <pc:sldMk cId="281546375" sldId="321"/>
            <ac:picMk id="10" creationId="{00000000-0000-0000-0000-000000000000}"/>
          </ac:picMkLst>
        </pc:picChg>
      </pc:sldChg>
      <pc:sldChg chg="modSp mod">
        <pc:chgData name="Maximiliano Ortiz" userId="90727fd8e92db46b" providerId="LiveId" clId="{9BC7EBD1-E6C7-40E2-9BE0-E69EBE0B6810}" dt="2026-08-10T19:51:30.479" v="159"/>
        <pc:sldMkLst>
          <pc:docMk/>
          <pc:sldMk cId="1741329192" sldId="322"/>
        </pc:sldMkLst>
        <pc:picChg chg="mod">
          <ac:chgData name="Maximiliano Ortiz" userId="90727fd8e92db46b" providerId="LiveId" clId="{9BC7EBD1-E6C7-40E2-9BE0-E69EBE0B6810}" dt="2026-08-10T19:51:30.479" v="159"/>
          <ac:picMkLst>
            <pc:docMk/>
            <pc:sldMk cId="1741329192" sldId="322"/>
            <ac:picMk id="10" creationId="{00000000-0000-0000-0000-000000000000}"/>
          </ac:picMkLst>
        </pc:picChg>
      </pc:sldChg>
      <pc:sldChg chg="modSp mod">
        <pc:chgData name="Maximiliano Ortiz" userId="90727fd8e92db46b" providerId="LiveId" clId="{9BC7EBD1-E6C7-40E2-9BE0-E69EBE0B6810}" dt="2026-08-10T19:51:30.542" v="163"/>
        <pc:sldMkLst>
          <pc:docMk/>
          <pc:sldMk cId="48649001" sldId="323"/>
        </pc:sldMkLst>
        <pc:picChg chg="mod">
          <ac:chgData name="Maximiliano Ortiz" userId="90727fd8e92db46b" providerId="LiveId" clId="{9BC7EBD1-E6C7-40E2-9BE0-E69EBE0B6810}" dt="2026-08-10T19:51:30.542" v="163"/>
          <ac:picMkLst>
            <pc:docMk/>
            <pc:sldMk cId="48649001" sldId="323"/>
            <ac:picMk id="13" creationId="{00000000-0000-0000-0000-000000000000}"/>
          </ac:picMkLst>
        </pc:picChg>
      </pc:sldChg>
      <pc:sldChg chg="modSp mod">
        <pc:chgData name="Maximiliano Ortiz" userId="90727fd8e92db46b" providerId="LiveId" clId="{9BC7EBD1-E6C7-40E2-9BE0-E69EBE0B6810}" dt="2026-08-10T19:51:30.594" v="167"/>
        <pc:sldMkLst>
          <pc:docMk/>
          <pc:sldMk cId="48649001" sldId="324"/>
        </pc:sldMkLst>
        <pc:picChg chg="mod">
          <ac:chgData name="Maximiliano Ortiz" userId="90727fd8e92db46b" providerId="LiveId" clId="{9BC7EBD1-E6C7-40E2-9BE0-E69EBE0B6810}" dt="2026-08-10T19:51:30.594" v="167"/>
          <ac:picMkLst>
            <pc:docMk/>
            <pc:sldMk cId="48649001" sldId="324"/>
            <ac:picMk id="13" creationId="{00000000-0000-0000-0000-000000000000}"/>
          </ac:picMkLst>
        </pc:picChg>
      </pc:sldChg>
      <pc:sldChg chg="modSp mod">
        <pc:chgData name="Maximiliano Ortiz" userId="90727fd8e92db46b" providerId="LiveId" clId="{9BC7EBD1-E6C7-40E2-9BE0-E69EBE0B6810}" dt="2026-08-10T19:51:30.645" v="171"/>
        <pc:sldMkLst>
          <pc:docMk/>
          <pc:sldMk cId="48649001" sldId="325"/>
        </pc:sldMkLst>
        <pc:picChg chg="mod">
          <ac:chgData name="Maximiliano Ortiz" userId="90727fd8e92db46b" providerId="LiveId" clId="{9BC7EBD1-E6C7-40E2-9BE0-E69EBE0B6810}" dt="2026-08-10T19:51:30.645" v="171"/>
          <ac:picMkLst>
            <pc:docMk/>
            <pc:sldMk cId="48649001" sldId="325"/>
            <ac:picMk id="11" creationId="{00000000-0000-0000-0000-000000000000}"/>
          </ac:picMkLst>
        </pc:picChg>
      </pc:sldChg>
      <pc:sldChg chg="modSp mod">
        <pc:chgData name="Maximiliano Ortiz" userId="90727fd8e92db46b" providerId="LiveId" clId="{9BC7EBD1-E6C7-40E2-9BE0-E69EBE0B6810}" dt="2026-08-10T19:51:30.708" v="175"/>
        <pc:sldMkLst>
          <pc:docMk/>
          <pc:sldMk cId="1320203634" sldId="326"/>
        </pc:sldMkLst>
        <pc:picChg chg="mod">
          <ac:chgData name="Maximiliano Ortiz" userId="90727fd8e92db46b" providerId="LiveId" clId="{9BC7EBD1-E6C7-40E2-9BE0-E69EBE0B6810}" dt="2026-08-10T19:51:30.708" v="175"/>
          <ac:picMkLst>
            <pc:docMk/>
            <pc:sldMk cId="1320203634" sldId="326"/>
            <ac:picMk id="8" creationId="{00000000-0000-0000-0000-000000000000}"/>
          </ac:picMkLst>
        </pc:picChg>
      </pc:sldChg>
      <pc:sldChg chg="modSp mod">
        <pc:chgData name="Maximiliano Ortiz" userId="90727fd8e92db46b" providerId="LiveId" clId="{9BC7EBD1-E6C7-40E2-9BE0-E69EBE0B6810}" dt="2026-08-10T19:51:30.778" v="179"/>
        <pc:sldMkLst>
          <pc:docMk/>
          <pc:sldMk cId="1046213385" sldId="329"/>
        </pc:sldMkLst>
        <pc:spChg chg="mod">
          <ac:chgData name="Maximiliano Ortiz" userId="90727fd8e92db46b" providerId="LiveId" clId="{9BC7EBD1-E6C7-40E2-9BE0-E69EBE0B6810}" dt="2026-08-10T19:51:30.778" v="179"/>
          <ac:spMkLst>
            <pc:docMk/>
            <pc:sldMk cId="1046213385" sldId="329"/>
            <ac:spMk id="6" creationId="{125CF12D-395D-483F-B533-6048E28751AD}"/>
          </ac:spMkLst>
        </pc:spChg>
      </pc:sldChg>
      <pc:sldChg chg="modSp mod">
        <pc:chgData name="Maximiliano Ortiz" userId="90727fd8e92db46b" providerId="LiveId" clId="{9BC7EBD1-E6C7-40E2-9BE0-E69EBE0B6810}" dt="2026-08-10T19:51:30.817" v="183"/>
        <pc:sldMkLst>
          <pc:docMk/>
          <pc:sldMk cId="1687263069" sldId="330"/>
        </pc:sldMkLst>
        <pc:spChg chg="mod">
          <ac:chgData name="Maximiliano Ortiz" userId="90727fd8e92db46b" providerId="LiveId" clId="{9BC7EBD1-E6C7-40E2-9BE0-E69EBE0B6810}" dt="2026-08-10T19:51:30.817" v="183"/>
          <ac:spMkLst>
            <pc:docMk/>
            <pc:sldMk cId="1687263069" sldId="330"/>
            <ac:spMk id="9" creationId="{99123113-3A5B-490A-B8BF-B608002CC8C8}"/>
          </ac:spMkLst>
        </pc:spChg>
      </pc:sldChg>
      <pc:sldChg chg="modSp mod">
        <pc:chgData name="Maximiliano Ortiz" userId="90727fd8e92db46b" providerId="LiveId" clId="{9BC7EBD1-E6C7-40E2-9BE0-E69EBE0B6810}" dt="2026-08-10T19:51:30.874" v="187"/>
        <pc:sldMkLst>
          <pc:docMk/>
          <pc:sldMk cId="318321949" sldId="331"/>
        </pc:sldMkLst>
        <pc:spChg chg="mod">
          <ac:chgData name="Maximiliano Ortiz" userId="90727fd8e92db46b" providerId="LiveId" clId="{9BC7EBD1-E6C7-40E2-9BE0-E69EBE0B6810}" dt="2026-08-10T19:51:30.874" v="187"/>
          <ac:spMkLst>
            <pc:docMk/>
            <pc:sldMk cId="318321949" sldId="331"/>
            <ac:spMk id="15" creationId="{9F0AACDE-0A41-47CB-85D5-0B8C10868F24}"/>
          </ac:spMkLst>
        </pc:spChg>
      </pc:sldChg>
      <pc:sldChg chg="modSp mod">
        <pc:chgData name="Maximiliano Ortiz" userId="90727fd8e92db46b" providerId="LiveId" clId="{9BC7EBD1-E6C7-40E2-9BE0-E69EBE0B6810}" dt="2026-08-10T19:51:31.183" v="191"/>
        <pc:sldMkLst>
          <pc:docMk/>
          <pc:sldMk cId="1926975773" sldId="332"/>
        </pc:sldMkLst>
        <pc:spChg chg="mod">
          <ac:chgData name="Maximiliano Ortiz" userId="90727fd8e92db46b" providerId="LiveId" clId="{9BC7EBD1-E6C7-40E2-9BE0-E69EBE0B6810}" dt="2026-08-10T19:51:31.183" v="191"/>
          <ac:spMkLst>
            <pc:docMk/>
            <pc:sldMk cId="1926975773" sldId="332"/>
            <ac:spMk id="11" creationId="{CD2998AE-1AFC-484C-9FA3-4BE8F06F45B1}"/>
          </ac:spMkLst>
        </pc:spChg>
      </pc:sldChg>
      <pc:sldChg chg="modSp mod">
        <pc:chgData name="Maximiliano Ortiz" userId="90727fd8e92db46b" providerId="LiveId" clId="{9BC7EBD1-E6C7-40E2-9BE0-E69EBE0B6810}" dt="2026-08-10T19:51:31.265" v="195"/>
        <pc:sldMkLst>
          <pc:docMk/>
          <pc:sldMk cId="1926975773" sldId="333"/>
        </pc:sldMkLst>
        <pc:spChg chg="mod">
          <ac:chgData name="Maximiliano Ortiz" userId="90727fd8e92db46b" providerId="LiveId" clId="{9BC7EBD1-E6C7-40E2-9BE0-E69EBE0B6810}" dt="2026-08-10T19:51:31.265" v="195"/>
          <ac:spMkLst>
            <pc:docMk/>
            <pc:sldMk cId="1926975773" sldId="333"/>
            <ac:spMk id="12" creationId="{4C8A74F6-C3A3-4149-B028-9BE02E2125C0}"/>
          </ac:spMkLst>
        </pc:spChg>
      </pc:sldChg>
      <pc:sldChg chg="modSp mod">
        <pc:chgData name="Maximiliano Ortiz" userId="90727fd8e92db46b" providerId="LiveId" clId="{9BC7EBD1-E6C7-40E2-9BE0-E69EBE0B6810}" dt="2026-08-10T19:51:31.451" v="199"/>
        <pc:sldMkLst>
          <pc:docMk/>
          <pc:sldMk cId="281546375" sldId="334"/>
        </pc:sldMkLst>
        <pc:spChg chg="mod">
          <ac:chgData name="Maximiliano Ortiz" userId="90727fd8e92db46b" providerId="LiveId" clId="{9BC7EBD1-E6C7-40E2-9BE0-E69EBE0B6810}" dt="2026-08-10T19:51:31.451" v="199"/>
          <ac:spMkLst>
            <pc:docMk/>
            <pc:sldMk cId="281546375" sldId="334"/>
            <ac:spMk id="15" creationId="{C8FF3249-CFE1-4A94-A1EA-0D98E3D02A00}"/>
          </ac:spMkLst>
        </pc:spChg>
      </pc:sldChg>
      <pc:sldChg chg="modSp mod">
        <pc:chgData name="Maximiliano Ortiz" userId="90727fd8e92db46b" providerId="LiveId" clId="{9BC7EBD1-E6C7-40E2-9BE0-E69EBE0B6810}" dt="2026-08-10T19:51:31.524" v="203"/>
        <pc:sldMkLst>
          <pc:docMk/>
          <pc:sldMk cId="817057724" sldId="335"/>
        </pc:sldMkLst>
        <pc:spChg chg="mod">
          <ac:chgData name="Maximiliano Ortiz" userId="90727fd8e92db46b" providerId="LiveId" clId="{9BC7EBD1-E6C7-40E2-9BE0-E69EBE0B6810}" dt="2026-08-10T19:51:31.524" v="203"/>
          <ac:spMkLst>
            <pc:docMk/>
            <pc:sldMk cId="817057724" sldId="335"/>
            <ac:spMk id="13" creationId="{CB9B82F4-7859-4233-A29C-3EE512D515A9}"/>
          </ac:spMkLst>
        </pc:spChg>
      </pc:sldChg>
      <pc:sldChg chg="modSp mod">
        <pc:chgData name="Maximiliano Ortiz" userId="90727fd8e92db46b" providerId="LiveId" clId="{9BC7EBD1-E6C7-40E2-9BE0-E69EBE0B6810}" dt="2026-08-10T19:51:31.610" v="207"/>
        <pc:sldMkLst>
          <pc:docMk/>
          <pc:sldMk cId="1320203634" sldId="336"/>
        </pc:sldMkLst>
        <pc:spChg chg="mod">
          <ac:chgData name="Maximiliano Ortiz" userId="90727fd8e92db46b" providerId="LiveId" clId="{9BC7EBD1-E6C7-40E2-9BE0-E69EBE0B6810}" dt="2026-08-10T19:51:31.610" v="207"/>
          <ac:spMkLst>
            <pc:docMk/>
            <pc:sldMk cId="1320203634" sldId="336"/>
            <ac:spMk id="15" creationId="{687BFD64-366A-4376-8E38-333EFCBD3DF6}"/>
          </ac:spMkLst>
        </pc:spChg>
      </pc:sldChg>
      <pc:sldChg chg="modSp mod">
        <pc:chgData name="Maximiliano Ortiz" userId="90727fd8e92db46b" providerId="LiveId" clId="{9BC7EBD1-E6C7-40E2-9BE0-E69EBE0B6810}" dt="2026-08-10T19:51:31.717" v="211"/>
        <pc:sldMkLst>
          <pc:docMk/>
          <pc:sldMk cId="567438305" sldId="338"/>
        </pc:sldMkLst>
        <pc:spChg chg="mod">
          <ac:chgData name="Maximiliano Ortiz" userId="90727fd8e92db46b" providerId="LiveId" clId="{9BC7EBD1-E6C7-40E2-9BE0-E69EBE0B6810}" dt="2026-08-10T19:51:31.717" v="211"/>
          <ac:spMkLst>
            <pc:docMk/>
            <pc:sldMk cId="567438305" sldId="338"/>
            <ac:spMk id="8" creationId="{4E3DCF55-0802-442B-B2BB-21A8808975EA}"/>
          </ac:spMkLst>
        </pc:spChg>
      </pc:sldChg>
      <pc:sldChg chg="modSp mod">
        <pc:chgData name="Maximiliano Ortiz" userId="90727fd8e92db46b" providerId="LiveId" clId="{9BC7EBD1-E6C7-40E2-9BE0-E69EBE0B6810}" dt="2026-08-10T19:51:31.763" v="215"/>
        <pc:sldMkLst>
          <pc:docMk/>
          <pc:sldMk cId="986630461" sldId="339"/>
        </pc:sldMkLst>
        <pc:spChg chg="mod">
          <ac:chgData name="Maximiliano Ortiz" userId="90727fd8e92db46b" providerId="LiveId" clId="{9BC7EBD1-E6C7-40E2-9BE0-E69EBE0B6810}" dt="2026-08-10T19:51:31.763" v="215"/>
          <ac:spMkLst>
            <pc:docMk/>
            <pc:sldMk cId="986630461" sldId="339"/>
            <ac:spMk id="6" creationId="{DAE5EC05-FE30-4039-A5AD-ACC348C74D74}"/>
          </ac:spMkLst>
        </pc:spChg>
      </pc:sldChg>
      <pc:sldChg chg="modSp mod">
        <pc:chgData name="Maximiliano Ortiz" userId="90727fd8e92db46b" providerId="LiveId" clId="{9BC7EBD1-E6C7-40E2-9BE0-E69EBE0B6810}" dt="2026-08-10T19:51:31.821" v="219"/>
        <pc:sldMkLst>
          <pc:docMk/>
          <pc:sldMk cId="318321949" sldId="341"/>
        </pc:sldMkLst>
        <pc:spChg chg="mod">
          <ac:chgData name="Maximiliano Ortiz" userId="90727fd8e92db46b" providerId="LiveId" clId="{9BC7EBD1-E6C7-40E2-9BE0-E69EBE0B6810}" dt="2026-08-10T19:51:31.821" v="219"/>
          <ac:spMkLst>
            <pc:docMk/>
            <pc:sldMk cId="318321949" sldId="341"/>
            <ac:spMk id="6" creationId="{59864F66-7936-4ED5-B36C-D4DE47E12BB9}"/>
          </ac:spMkLst>
        </pc:spChg>
      </pc:sldChg>
      <pc:sldChg chg="modSp mod">
        <pc:chgData name="Maximiliano Ortiz" userId="90727fd8e92db46b" providerId="LiveId" clId="{9BC7EBD1-E6C7-40E2-9BE0-E69EBE0B6810}" dt="2026-08-10T19:51:31.859" v="223"/>
        <pc:sldMkLst>
          <pc:docMk/>
          <pc:sldMk cId="1687263069" sldId="342"/>
        </pc:sldMkLst>
        <pc:spChg chg="mod">
          <ac:chgData name="Maximiliano Ortiz" userId="90727fd8e92db46b" providerId="LiveId" clId="{9BC7EBD1-E6C7-40E2-9BE0-E69EBE0B6810}" dt="2026-08-10T19:51:31.859" v="223"/>
          <ac:spMkLst>
            <pc:docMk/>
            <pc:sldMk cId="1687263069" sldId="342"/>
            <ac:spMk id="11" creationId="{E672F985-CC99-462D-AF75-44CDC1EE55D6}"/>
          </ac:spMkLst>
        </pc:spChg>
      </pc:sldChg>
      <pc:sldChg chg="modSp mod">
        <pc:chgData name="Maximiliano Ortiz" userId="90727fd8e92db46b" providerId="LiveId" clId="{9BC7EBD1-E6C7-40E2-9BE0-E69EBE0B6810}" dt="2026-08-10T19:51:31.899" v="227"/>
        <pc:sldMkLst>
          <pc:docMk/>
          <pc:sldMk cId="567438305" sldId="343"/>
        </pc:sldMkLst>
        <pc:spChg chg="mod">
          <ac:chgData name="Maximiliano Ortiz" userId="90727fd8e92db46b" providerId="LiveId" clId="{9BC7EBD1-E6C7-40E2-9BE0-E69EBE0B6810}" dt="2026-08-10T19:51:31.899" v="227"/>
          <ac:spMkLst>
            <pc:docMk/>
            <pc:sldMk cId="567438305" sldId="343"/>
            <ac:spMk id="6" creationId="{ECB6D4FF-6E42-4216-970F-168FE8CF0BDC}"/>
          </ac:spMkLst>
        </pc:spChg>
      </pc:sldChg>
      <pc:sldChg chg="modSp mod">
        <pc:chgData name="Maximiliano Ortiz" userId="90727fd8e92db46b" providerId="LiveId" clId="{9BC7EBD1-E6C7-40E2-9BE0-E69EBE0B6810}" dt="2026-08-10T19:51:31.936" v="231"/>
        <pc:sldMkLst>
          <pc:docMk/>
          <pc:sldMk cId="1926975773" sldId="344"/>
        </pc:sldMkLst>
        <pc:spChg chg="mod">
          <ac:chgData name="Maximiliano Ortiz" userId="90727fd8e92db46b" providerId="LiveId" clId="{9BC7EBD1-E6C7-40E2-9BE0-E69EBE0B6810}" dt="2026-08-10T19:51:31.936" v="231"/>
          <ac:spMkLst>
            <pc:docMk/>
            <pc:sldMk cId="1926975773" sldId="344"/>
            <ac:spMk id="10" creationId="{908EAB13-5F56-4E62-A7D9-9E6B57B5F8FF}"/>
          </ac:spMkLst>
        </pc:spChg>
      </pc:sldChg>
      <pc:sldChg chg="modSp mod">
        <pc:chgData name="Maximiliano Ortiz" userId="90727fd8e92db46b" providerId="LiveId" clId="{9BC7EBD1-E6C7-40E2-9BE0-E69EBE0B6810}" dt="2026-08-10T19:51:31.988" v="235"/>
        <pc:sldMkLst>
          <pc:docMk/>
          <pc:sldMk cId="567438305" sldId="345"/>
        </pc:sldMkLst>
        <pc:spChg chg="mod">
          <ac:chgData name="Maximiliano Ortiz" userId="90727fd8e92db46b" providerId="LiveId" clId="{9BC7EBD1-E6C7-40E2-9BE0-E69EBE0B6810}" dt="2026-08-10T19:51:31.988" v="235"/>
          <ac:spMkLst>
            <pc:docMk/>
            <pc:sldMk cId="567438305" sldId="345"/>
            <ac:spMk id="13" creationId="{B22CFBE1-4BC4-483E-BCB1-041F857DDF18}"/>
          </ac:spMkLst>
        </pc:spChg>
      </pc:sldChg>
      <pc:sldChg chg="modSp mod">
        <pc:chgData name="Maximiliano Ortiz" userId="90727fd8e92db46b" providerId="LiveId" clId="{9BC7EBD1-E6C7-40E2-9BE0-E69EBE0B6810}" dt="2026-08-10T19:51:32.045" v="239"/>
        <pc:sldMkLst>
          <pc:docMk/>
          <pc:sldMk cId="567438305" sldId="346"/>
        </pc:sldMkLst>
        <pc:spChg chg="mod">
          <ac:chgData name="Maximiliano Ortiz" userId="90727fd8e92db46b" providerId="LiveId" clId="{9BC7EBD1-E6C7-40E2-9BE0-E69EBE0B6810}" dt="2026-08-10T19:51:32.045" v="239"/>
          <ac:spMkLst>
            <pc:docMk/>
            <pc:sldMk cId="567438305" sldId="346"/>
            <ac:spMk id="13" creationId="{D81BE224-DDB6-4C19-9124-7FB013F5E5D7}"/>
          </ac:spMkLst>
        </pc:spChg>
      </pc:sldChg>
      <pc:sldChg chg="modSp mod">
        <pc:chgData name="Maximiliano Ortiz" userId="90727fd8e92db46b" providerId="LiveId" clId="{9BC7EBD1-E6C7-40E2-9BE0-E69EBE0B6810}" dt="2026-08-10T19:51:32.103" v="243"/>
        <pc:sldMkLst>
          <pc:docMk/>
          <pc:sldMk cId="281546375" sldId="347"/>
        </pc:sldMkLst>
        <pc:spChg chg="mod">
          <ac:chgData name="Maximiliano Ortiz" userId="90727fd8e92db46b" providerId="LiveId" clId="{9BC7EBD1-E6C7-40E2-9BE0-E69EBE0B6810}" dt="2026-08-10T19:51:32.103" v="243"/>
          <ac:spMkLst>
            <pc:docMk/>
            <pc:sldMk cId="281546375" sldId="347"/>
            <ac:spMk id="13" creationId="{7F227967-9782-4A81-A1C4-630E85DFAAA9}"/>
          </ac:spMkLst>
        </pc:spChg>
      </pc:sldChg>
      <pc:sldChg chg="modSp mod">
        <pc:chgData name="Maximiliano Ortiz" userId="90727fd8e92db46b" providerId="LiveId" clId="{9BC7EBD1-E6C7-40E2-9BE0-E69EBE0B6810}" dt="2026-08-10T19:51:32.164" v="247"/>
        <pc:sldMkLst>
          <pc:docMk/>
          <pc:sldMk cId="1320203634" sldId="348"/>
        </pc:sldMkLst>
        <pc:spChg chg="mod">
          <ac:chgData name="Maximiliano Ortiz" userId="90727fd8e92db46b" providerId="LiveId" clId="{9BC7EBD1-E6C7-40E2-9BE0-E69EBE0B6810}" dt="2026-08-10T19:51:32.164" v="247"/>
          <ac:spMkLst>
            <pc:docMk/>
            <pc:sldMk cId="1320203634" sldId="348"/>
            <ac:spMk id="8" creationId="{0030E5C3-FC5A-4DE2-953F-617265AADA8D}"/>
          </ac:spMkLst>
        </pc:spChg>
      </pc:sldChg>
      <pc:sldChg chg="modSp mod">
        <pc:chgData name="Maximiliano Ortiz" userId="90727fd8e92db46b" providerId="LiveId" clId="{9BC7EBD1-E6C7-40E2-9BE0-E69EBE0B6810}" dt="2026-08-10T19:51:32.295" v="251"/>
        <pc:sldMkLst>
          <pc:docMk/>
          <pc:sldMk cId="48649001" sldId="350"/>
        </pc:sldMkLst>
        <pc:picChg chg="mod">
          <ac:chgData name="Maximiliano Ortiz" userId="90727fd8e92db46b" providerId="LiveId" clId="{9BC7EBD1-E6C7-40E2-9BE0-E69EBE0B6810}" dt="2026-08-10T19:51:32.295" v="251"/>
          <ac:picMkLst>
            <pc:docMk/>
            <pc:sldMk cId="48649001" sldId="350"/>
            <ac:picMk id="13" creationId="{00000000-0000-0000-0000-000000000000}"/>
          </ac:picMkLst>
        </pc:picChg>
      </pc:sldChg>
      <pc:sldChg chg="modSp mod">
        <pc:chgData name="Maximiliano Ortiz" userId="90727fd8e92db46b" providerId="LiveId" clId="{9BC7EBD1-E6C7-40E2-9BE0-E69EBE0B6810}" dt="2026-08-10T19:51:32.371" v="255"/>
        <pc:sldMkLst>
          <pc:docMk/>
          <pc:sldMk cId="1741329192" sldId="352"/>
        </pc:sldMkLst>
        <pc:spChg chg="mod">
          <ac:chgData name="Maximiliano Ortiz" userId="90727fd8e92db46b" providerId="LiveId" clId="{9BC7EBD1-E6C7-40E2-9BE0-E69EBE0B6810}" dt="2026-08-10T19:51:32.371" v="255"/>
          <ac:spMkLst>
            <pc:docMk/>
            <pc:sldMk cId="1741329192" sldId="352"/>
            <ac:spMk id="11" creationId="{6A1CAD3A-2ED5-4AB5-A74D-04541C403BAB}"/>
          </ac:spMkLst>
        </pc:spChg>
      </pc:sldChg>
      <pc:sldChg chg="modSp mod">
        <pc:chgData name="Maximiliano Ortiz" userId="90727fd8e92db46b" providerId="LiveId" clId="{9BC7EBD1-E6C7-40E2-9BE0-E69EBE0B6810}" dt="2026-08-10T19:51:32.462" v="259"/>
        <pc:sldMkLst>
          <pc:docMk/>
          <pc:sldMk cId="48649001" sldId="353"/>
        </pc:sldMkLst>
        <pc:picChg chg="mod">
          <ac:chgData name="Maximiliano Ortiz" userId="90727fd8e92db46b" providerId="LiveId" clId="{9BC7EBD1-E6C7-40E2-9BE0-E69EBE0B6810}" dt="2026-08-10T19:51:32.462" v="259"/>
          <ac:picMkLst>
            <pc:docMk/>
            <pc:sldMk cId="48649001" sldId="353"/>
            <ac:picMk id="13" creationId="{00000000-0000-0000-0000-000000000000}"/>
          </ac:picMkLst>
        </pc:picChg>
      </pc:sldChg>
      <pc:sldChg chg="modSp mod">
        <pc:chgData name="Maximiliano Ortiz" userId="90727fd8e92db46b" providerId="LiveId" clId="{9BC7EBD1-E6C7-40E2-9BE0-E69EBE0B6810}" dt="2026-08-10T19:51:32.947" v="263"/>
        <pc:sldMkLst>
          <pc:docMk/>
          <pc:sldMk cId="318321949" sldId="354"/>
        </pc:sldMkLst>
        <pc:spChg chg="mod">
          <ac:chgData name="Maximiliano Ortiz" userId="90727fd8e92db46b" providerId="LiveId" clId="{9BC7EBD1-E6C7-40E2-9BE0-E69EBE0B6810}" dt="2026-08-10T19:51:32.947" v="263"/>
          <ac:spMkLst>
            <pc:docMk/>
            <pc:sldMk cId="318321949" sldId="354"/>
            <ac:spMk id="6" creationId="{01E8474C-2320-4CF6-88CC-1271F61AD6F8}"/>
          </ac:spMkLst>
        </pc:spChg>
      </pc:sldChg>
      <pc:sldChg chg="modSp mod">
        <pc:chgData name="Maximiliano Ortiz" userId="90727fd8e92db46b" providerId="LiveId" clId="{9BC7EBD1-E6C7-40E2-9BE0-E69EBE0B6810}" dt="2026-08-10T19:51:33.188" v="267"/>
        <pc:sldMkLst>
          <pc:docMk/>
          <pc:sldMk cId="817057724" sldId="355"/>
        </pc:sldMkLst>
        <pc:spChg chg="mod">
          <ac:chgData name="Maximiliano Ortiz" userId="90727fd8e92db46b" providerId="LiveId" clId="{9BC7EBD1-E6C7-40E2-9BE0-E69EBE0B6810}" dt="2026-08-10T19:51:33.188" v="267"/>
          <ac:spMkLst>
            <pc:docMk/>
            <pc:sldMk cId="817057724" sldId="355"/>
            <ac:spMk id="19" creationId="{86446C4A-3B38-45BF-B682-5B4406C7226B}"/>
          </ac:spMkLst>
        </pc:spChg>
      </pc:sldChg>
      <pc:sldChg chg="modSp mod">
        <pc:chgData name="Maximiliano Ortiz" userId="90727fd8e92db46b" providerId="LiveId" clId="{9BC7EBD1-E6C7-40E2-9BE0-E69EBE0B6810}" dt="2026-08-10T19:51:33.320" v="271"/>
        <pc:sldMkLst>
          <pc:docMk/>
          <pc:sldMk cId="1673297158" sldId="357"/>
        </pc:sldMkLst>
        <pc:spChg chg="mod">
          <ac:chgData name="Maximiliano Ortiz" userId="90727fd8e92db46b" providerId="LiveId" clId="{9BC7EBD1-E6C7-40E2-9BE0-E69EBE0B6810}" dt="2026-08-10T19:51:33.320" v="271"/>
          <ac:spMkLst>
            <pc:docMk/>
            <pc:sldMk cId="1673297158" sldId="357"/>
            <ac:spMk id="10" creationId="{AD3D1563-C1B2-4107-8C0D-9EC9083F5726}"/>
          </ac:spMkLst>
        </pc:spChg>
      </pc:sldChg>
      <pc:sldChg chg="modSp mod">
        <pc:chgData name="Maximiliano Ortiz" userId="90727fd8e92db46b" providerId="LiveId" clId="{9BC7EBD1-E6C7-40E2-9BE0-E69EBE0B6810}" dt="2026-08-10T19:51:33.466" v="275"/>
        <pc:sldMkLst>
          <pc:docMk/>
          <pc:sldMk cId="567438305" sldId="358"/>
        </pc:sldMkLst>
        <pc:spChg chg="mod">
          <ac:chgData name="Maximiliano Ortiz" userId="90727fd8e92db46b" providerId="LiveId" clId="{9BC7EBD1-E6C7-40E2-9BE0-E69EBE0B6810}" dt="2026-08-10T19:51:33.466" v="275"/>
          <ac:spMkLst>
            <pc:docMk/>
            <pc:sldMk cId="567438305" sldId="358"/>
            <ac:spMk id="15" creationId="{04896DBB-EF4B-4660-AAFC-F1E7FC1BC1C6}"/>
          </ac:spMkLst>
        </pc:spChg>
      </pc:sldChg>
      <pc:sldChg chg="modSp mod">
        <pc:chgData name="Maximiliano Ortiz" userId="90727fd8e92db46b" providerId="LiveId" clId="{9BC7EBD1-E6C7-40E2-9BE0-E69EBE0B6810}" dt="2026-08-10T19:51:33.547" v="279"/>
        <pc:sldMkLst>
          <pc:docMk/>
          <pc:sldMk cId="951530275" sldId="359"/>
        </pc:sldMkLst>
        <pc:spChg chg="mod">
          <ac:chgData name="Maximiliano Ortiz" userId="90727fd8e92db46b" providerId="LiveId" clId="{9BC7EBD1-E6C7-40E2-9BE0-E69EBE0B6810}" dt="2026-08-10T19:51:33.547" v="279"/>
          <ac:spMkLst>
            <pc:docMk/>
            <pc:sldMk cId="951530275" sldId="359"/>
            <ac:spMk id="8" creationId="{1BA1C2E7-EF16-46FA-A681-DF26F7AB1ED2}"/>
          </ac:spMkLst>
        </pc:spChg>
      </pc:sldChg>
      <pc:sldChg chg="modSp mod">
        <pc:chgData name="Maximiliano Ortiz" userId="90727fd8e92db46b" providerId="LiveId" clId="{9BC7EBD1-E6C7-40E2-9BE0-E69EBE0B6810}" dt="2026-08-10T19:51:33.674" v="283"/>
        <pc:sldMkLst>
          <pc:docMk/>
          <pc:sldMk cId="1673297158" sldId="364"/>
        </pc:sldMkLst>
        <pc:spChg chg="mod">
          <ac:chgData name="Maximiliano Ortiz" userId="90727fd8e92db46b" providerId="LiveId" clId="{9BC7EBD1-E6C7-40E2-9BE0-E69EBE0B6810}" dt="2026-08-10T19:51:33.674" v="283"/>
          <ac:spMkLst>
            <pc:docMk/>
            <pc:sldMk cId="1673297158" sldId="364"/>
            <ac:spMk id="11" creationId="{B3619619-DC0F-4F8F-BD62-002E959C908E}"/>
          </ac:spMkLst>
        </pc:spChg>
      </pc:sldChg>
      <pc:sldChg chg="modSp mod">
        <pc:chgData name="Maximiliano Ortiz" userId="90727fd8e92db46b" providerId="LiveId" clId="{9BC7EBD1-E6C7-40E2-9BE0-E69EBE0B6810}" dt="2026-08-10T19:51:33.772" v="287"/>
        <pc:sldMkLst>
          <pc:docMk/>
          <pc:sldMk cId="313021856" sldId="368"/>
        </pc:sldMkLst>
        <pc:spChg chg="mod">
          <ac:chgData name="Maximiliano Ortiz" userId="90727fd8e92db46b" providerId="LiveId" clId="{9BC7EBD1-E6C7-40E2-9BE0-E69EBE0B6810}" dt="2026-08-10T19:51:33.772" v="287"/>
          <ac:spMkLst>
            <pc:docMk/>
            <pc:sldMk cId="313021856" sldId="368"/>
            <ac:spMk id="10" creationId="{D3672C3C-0C16-4B24-A48D-37CC7979A2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Presentar “periférico” como límite frente a U7/U8. Desarrollar la idea con esta conclusión: Oír comienza con presión y continúa mediante transformaciones periféricas.</a:t>
            </a:r>
          </a:p>
          <a:p>
            <a:r>
              <a:t>**Transición:** Abrir con la pregunta “¿qué cambia entre aire y nervio?”.</a:t>
            </a:r>
          </a:p>
          <a:p>
            <a:endParaRPr/>
          </a:p>
          <a:p>
            <a:r>
              <a:t>[Alt text]</a:t>
            </a:r>
          </a:p>
          <a:p>
            <a:r>
              <a:t>Motivo técnico del oído periférico que vincula presión en el aire con actividad del nervio auditivo.</a:t>
            </a:r>
          </a:p>
          <a:p>
            <a:endParaRPr/>
          </a:p>
          <a:p>
            <a:r>
              <a:t>[Sources]</a:t>
            </a:r>
          </a:p>
          <a:p>
            <a:r>
              <a:t>- Fuentes de contenido: PO; TEX 6.1; PDF p. 151; OD-U06-01/24.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Recoger hipótesis sin corregir todavía; registrar vocabulario del grupo. Desarrollar la idea con esta conclusión: No se pasa directamente de presión a percepción.</a:t>
            </a:r>
          </a:p>
          <a:p>
            <a:r>
              <a:t>**Guía del diagrama:** Presentar primero el diagrama sin solución; dar tiempo de observación; pedir una justificación; recién después revelar conexiones o rótulos.</a:t>
            </a:r>
          </a:p>
          <a:p>
            <a:r>
              <a:t>**Pregunta al curso:** Del aire al nervio: ¿qué etapas faltan?</a:t>
            </a:r>
          </a:p>
          <a:p>
            <a:r>
              <a:t>**Respuesta esperada:** Presión en el aire → tímpano → huesecillos → cóclea → células ciliadas → actividad del nervio auditivo.</a:t>
            </a:r>
          </a:p>
          <a:p>
            <a:r>
              <a:t>**Transición:** La dificultad del orden justifica recuperar magnitudes.</a:t>
            </a:r>
          </a:p>
          <a:p>
            <a:endParaRPr/>
          </a:p>
          <a:p>
            <a:r>
              <a:t>[Alt text]</a:t>
            </a:r>
          </a:p>
          <a:p>
            <a:r>
              <a:t>Diagrama sobre «Del aire al nervio: ¿qué etapas faltan?»; organiza cadena incompleta para ordenar: presión, tímpano, huesecillos, cóclea, células y nervio.</a:t>
            </a:r>
          </a:p>
          <a:p>
            <a:endParaRPr/>
          </a:p>
          <a:p>
            <a:r>
              <a:t>[Sources]</a:t>
            </a:r>
          </a:p>
          <a:p>
            <a:r>
              <a:t>- Fuentes de contenido: TEX 6.3; PDF p. 152; BR diagnóstico; EP.</a:t>
            </a:r>
          </a:p>
          <a:p>
            <a:r>
              <a:t>- Asset propio aprobado: U06-DG-001.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Señalar qué se recuperará a demanda; no reenseñar unidades previas. Desarrollar la idea con esta conclusión: Fuerza, onda, presión, impedancia y respuesta en frecuencia convergen en U6.</a:t>
            </a:r>
          </a:p>
          <a:p>
            <a:r>
              <a:t>**Guía del diagrama:** Nombrar la idea central fuera del diagrama; recorrer nodos y conectores en el orden propuesto; terminar con la relación funcional, sin repetir todo el texto de las cajas.</a:t>
            </a:r>
          </a:p>
          <a:p>
            <a:r>
              <a:t>**Pregunta al curso:** ¿Qué concepto previo usaríamos para explicar la reflexión en una interfaz?</a:t>
            </a:r>
          </a:p>
          <a:p>
            <a:r>
              <a:t>**Respuesta esperada:** Fuerza, onda, presión, impedancia y respuesta en frecuencia convergen en U6.</a:t>
            </a:r>
          </a:p>
          <a:p>
            <a:r>
              <a:t>**Transición:** Pasar de conceptos previos a una prueba breve de magnitudes.</a:t>
            </a:r>
          </a:p>
          <a:p>
            <a:endParaRPr/>
          </a:p>
          <a:p>
            <a:r>
              <a:t>[Alt text]</a:t>
            </a:r>
          </a:p>
          <a:p>
            <a:r>
              <a:t>Diagrama sobre «Lo que recuperamos de U2 a U5»; organiza cuatro aportes: mecánica, ondas, magnitudes acústicas y señal/sistema.</a:t>
            </a:r>
          </a:p>
          <a:p>
            <a:endParaRPr/>
          </a:p>
          <a:p>
            <a:r>
              <a:t>[Sources]</a:t>
            </a:r>
          </a:p>
          <a:p>
            <a:r>
              <a:t>- Fuentes de contenido: TEX 6.2; PDF p. 152; CM; CDM.</a:t>
            </a:r>
          </a:p>
          <a:p>
            <a:r>
              <a:t>- Asset propio aprobado: U06-DG-002.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Pedir justificación, no solo emparejamiento; corregir después de discutir. Desarrollar la idea con esta conclusión: Cada etapa exige una magnitud y una unidad diferentes.</a:t>
            </a:r>
          </a:p>
          <a:p>
            <a:r>
              <a:t>**Guía del diagrama:** Presentar primero el diagrama sin solución; dar tiempo de observación; pedir una justificación; recién después revelar conexiones o rótulos.</a:t>
            </a:r>
          </a:p>
          <a:p>
            <a:r>
              <a:t>**Pregunta al curso:** ¿Por qué no alcanza con decir que todas son «señales»?</a:t>
            </a:r>
          </a:p>
          <a:p>
            <a:r>
              <a:t>**Respuesta esperada:** Presión: Pa; fuerza: N; desplazamiento: m; potencial eléctrico: V o mV; actividad neural: patrón de descargas, no una única unidad física universal.</a:t>
            </a:r>
          </a:p>
          <a:p>
            <a:r>
              <a:t>**Transición:** La diversidad de magnitudes conduce a los objetivos.</a:t>
            </a:r>
          </a:p>
          <a:p>
            <a:endParaRPr/>
          </a:p>
          <a:p>
            <a:r>
              <a:t>[Alt text]</a:t>
            </a:r>
          </a:p>
          <a:p>
            <a:r>
              <a:t>Diagrama sobre «Presión, fuerza, desplazamiento y potencial: ¿qué unidad corresponde?»; organiza clasificación breve pa/n/m/v o mv/actividad neural..</a:t>
            </a:r>
          </a:p>
          <a:p>
            <a:endParaRPr/>
          </a:p>
          <a:p>
            <a:r>
              <a:t>[Sources]</a:t>
            </a:r>
          </a:p>
          <a:p>
            <a:r>
              <a:t>- Fuentes de contenido: TEX 6.2; BR; NOT; GLO; EP.</a:t>
            </a:r>
          </a:p>
          <a:p>
            <a:r>
              <a:t>- Asset propio aprobado: U06-DG-003.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Aclarar evidencias esperadas: ordenar, relacionar, calcular y comparar. Desarrollar la idea con esta conclusión: La evaluación se centrará en relaciones, no en memorizar una lista anatómica.</a:t>
            </a:r>
          </a:p>
          <a:p>
            <a:r>
              <a:t>**Transición:** Anticipar que la segunda mitad llega a cóclea y transducción.</a:t>
            </a:r>
          </a:p>
          <a:p>
            <a:endParaRPr/>
          </a:p>
          <a:p>
            <a:r>
              <a:t>[Alt text]</a:t>
            </a:r>
          </a:p>
          <a:p>
            <a:r>
              <a:t>Composición visual sobre qué podremos reconstruir y explicar; destaca que la evaluación se centrará en relaciones, no en memorizar una lista anatómica.</a:t>
            </a:r>
          </a:p>
          <a:p>
            <a:endParaRPr/>
          </a:p>
          <a:p>
            <a:r>
              <a:t>[Sources]</a:t>
            </a:r>
          </a:p>
          <a:p>
            <a:r>
              <a:t>- Fuentes de contenido: BR objetivos 1–4; CM.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Explicitar que pitch, sonoridad y diagnóstico quedan delimitados. Desarrollar la idea con esta conclusión: La fisiología periférica prepara percepción y clínica, pero no las reemplaza.</a:t>
            </a:r>
          </a:p>
          <a:p>
            <a:r>
              <a:t>**Transición:** Convertir objetivos en un recorrido visible.</a:t>
            </a:r>
          </a:p>
          <a:p>
            <a:endParaRPr/>
          </a:p>
          <a:p>
            <a:r>
              <a:t>[Alt text]</a:t>
            </a:r>
          </a:p>
          <a:p>
            <a:r>
              <a:t>Composición visual sobre qué podremos explicar dentro de la cóclea; destaca que la fisiología periférica prepara percepción y clínica, pero no las reemplaza.</a:t>
            </a:r>
          </a:p>
          <a:p>
            <a:endParaRPr/>
          </a:p>
          <a:p>
            <a:r>
              <a:t>[Sources]</a:t>
            </a:r>
          </a:p>
          <a:p>
            <a:r>
              <a:t>- Fuentes de contenido: BR objetivos 5–8; CM U6→U7/U8.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Explicar que el mapa reaparecerá con la etapa actual resaltada. Desarrollar la idea con esta conclusión: Cuatro tramos reúnen diez bloques y una misma cadena acumulativa.</a:t>
            </a:r>
          </a:p>
          <a:p>
            <a:r>
              <a:t>**Guía del diagrama:** Nombrar la idea central fuera del diagrama; recorrer nodos y conectores en el orden propuesto; terminar con la relación funcional, sin repetir todo el texto de las cajas.</a:t>
            </a:r>
          </a:p>
          <a:p>
            <a:r>
              <a:t>**Transición:** Resaltar “entrada externa” y abrir B01.</a:t>
            </a:r>
          </a:p>
          <a:p>
            <a:endParaRPr/>
          </a:p>
          <a:p>
            <a:r>
              <a:t>[Alt text]</a:t>
            </a:r>
          </a:p>
          <a:p>
            <a:r>
              <a:t>Diagrama sobre «Mapa de la unidad: entrada, transferencia, cóclea y señal»; organiza entrada externa → oído medio/vía ósea → mecánica coclear → transducción/codificación.</a:t>
            </a:r>
          </a:p>
          <a:p>
            <a:endParaRPr/>
          </a:p>
          <a:p>
            <a:r>
              <a:t>[Sources]</a:t>
            </a:r>
          </a:p>
          <a:p>
            <a:r>
              <a:t>- Fuentes de contenido: BR bloques; TEX 6.3; TPL; EP.</a:t>
            </a:r>
          </a:p>
          <a:p>
            <a:r>
              <a:t>- Asset propio aprobado: U06-DG-004.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Conectar la señal de U5 con un sistema biológico dependiente de frecuencia. Desarrollar la idea con esta conclusión: Geometría, dirección y terminaciones modifican la presión que llega al tímpano.</a:t>
            </a:r>
          </a:p>
          <a:p>
            <a:r>
              <a:t>**Transición:** Comenzar por el pabellón antes del conducto.</a:t>
            </a:r>
          </a:p>
          <a:p>
            <a:endParaRPr/>
          </a:p>
          <a:p>
            <a:r>
              <a:t>[Alt text]</a:t>
            </a:r>
          </a:p>
          <a:p>
            <a:r>
              <a:t>Composición visual sobre el oído externo no es solo una entrada; destaca que geometría, dirección y terminaciones modifican la presión que llega al tímpano.</a:t>
            </a:r>
          </a:p>
          <a:p>
            <a:endParaRPr/>
          </a:p>
          <a:p>
            <a:r>
              <a:t>[Sources]</a:t>
            </a:r>
          </a:p>
          <a:p>
            <a:r>
              <a:t>- Fuentes de contenido: PO; TEX 6.4; PDF p. 153.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Introducir “respuesta direccional” sin desarrollar HRTF ni localización de U7. Desarrollar la idea con esta conclusión: Reforzar o atenuar componentes es un cambio físico, no sonoridad fija.</a:t>
            </a:r>
          </a:p>
          <a:p>
            <a:r>
              <a:t>**Guía del diagrama:** Nombrar la idea central fuera del diagrama; recorrer nodos y conectores en el orden propuesto; terminar con la relación funcional, sin repetir todo el texto de las cajas.</a:t>
            </a:r>
          </a:p>
          <a:p>
            <a:r>
              <a:t>**Transición:** Preguntar qué cambiaría al mover la fuente.</a:t>
            </a:r>
          </a:p>
          <a:p>
            <a:endParaRPr/>
          </a:p>
          <a:p>
            <a:r>
              <a:t>[Alt text]</a:t>
            </a:r>
          </a:p>
          <a:p>
            <a:r>
              <a:t>Diagrama sobre «El pabellón modifica el espectro según la dirección»; organiza pabellón, cabeza, dirección y cambios espectrales individuales.</a:t>
            </a:r>
          </a:p>
          <a:p>
            <a:endParaRPr/>
          </a:p>
          <a:p>
            <a:r>
              <a:t>[Sources]</a:t>
            </a:r>
          </a:p>
          <a:p>
            <a:r>
              <a:t>- Fuentes de contenido: TEX 6.4.1; PDF p. 153; REF carlini2024; GLO.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espectro de U5 y evitar concluir percepción individual. Desarrollar la idea con esta conclusión: Una misma geometría no modifica por igual cada componente.</a:t>
            </a:r>
          </a:p>
          <a:p>
            <a:r>
              <a:t>**Guía del diagrama:** Presentar primero el diagrama sin solución; dar tiempo de observación; pedir una justificación; recién después revelar conexiones o rótulos.</a:t>
            </a:r>
          </a:p>
          <a:p>
            <a:r>
              <a:t>**Pregunta al curso:** ¿La dirección cambia todas las frecuencias por igual?</a:t>
            </a:r>
          </a:p>
          <a:p>
            <a:r>
              <a:t>**Respuesta esperada:** No. La geometría produce modificaciones dependientes de frecuencia y dirección.</a:t>
            </a:r>
          </a:p>
          <a:p>
            <a:r>
              <a:t>**Transición:** Entrar al CAE y cambiar de dirección a posición.</a:t>
            </a:r>
          </a:p>
          <a:p>
            <a:endParaRPr/>
          </a:p>
          <a:p>
            <a:r>
              <a:t>[Alt text]</a:t>
            </a:r>
          </a:p>
          <a:p>
            <a:r>
              <a:t>Diagrama sobre «¿La dirección cambia todas las frecuencias por igual?»; organiza predicción cualitativa con tres componentes y dos direcciones.</a:t>
            </a:r>
          </a:p>
          <a:p>
            <a:endParaRPr/>
          </a:p>
          <a:p>
            <a:r>
              <a:t>[Sources]</a:t>
            </a:r>
          </a:p>
          <a:p>
            <a:r>
              <a:t>- Fuentes de contenido: TEX 6.4.1; REF carlini2024; 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Distinguir movimiento local de partículas, frente que avanza y patrón de presión. Desarrollar la idea con esta conclusión: El CAE real es curvo, variable y termina en una impedancia finita.</a:t>
            </a:r>
          </a:p>
          <a:p>
            <a:r>
              <a:t>**Guía del diagrama:** Nombrar la idea central fuera del diagrama; recorrer nodos y conectores en el orden propuesto; terminar con la relación funcional, sin repetir todo el texto de las cajas.</a:t>
            </a:r>
          </a:p>
          <a:p>
            <a:r>
              <a:t>**Error frecuente:** Confundir desplazamiento local de partículas con avance del patrón de presión.</a:t>
            </a:r>
          </a:p>
          <a:p>
            <a:r>
              <a:t>**Transición:** La posición de medición se vuelve una aplicación inmediata.</a:t>
            </a:r>
          </a:p>
          <a:p>
            <a:endParaRPr/>
          </a:p>
          <a:p>
            <a:r>
              <a:t>[Alt text]</a:t>
            </a:r>
          </a:p>
          <a:p>
            <a:r>
              <a:t>Diagrama sobre «La presión no es idéntica en todos los puntos del CAE»; organiza geometría real, superposición y posición de observación.</a:t>
            </a:r>
          </a:p>
          <a:p>
            <a:endParaRPr/>
          </a:p>
          <a:p>
            <a:r>
              <a:t>[Sources]</a:t>
            </a:r>
          </a:p>
          <a:p>
            <a:r>
              <a:t>- Fuentes de contenido: TEX 6.4.2; PDF p. 153; REF ugarteburu2022; U4 ondas/reflexión.</a:t>
            </a:r>
          </a:p>
          <a:p>
            <a:r>
              <a:t>- Asset propio aprobado: U06-DG-006.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Delimitar medición física frente a inferencia clínica; preparar oído real. Desarrollar la idea con esta conclusión: Geometría, reflexiones, terminaciones y sonda alteran la presión local.</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Geometría, reflexiones, terminaciones y sonda alteran la presión local.</a:t>
            </a:r>
          </a:p>
          <a:p>
            <a:r>
              <a:t>**Transición:** La variación real obliga a discutir el enunciado geométrico del programa.</a:t>
            </a:r>
          </a:p>
          <a:p>
            <a:endParaRPr/>
          </a:p>
          <a:p>
            <a:r>
              <a:t>[Alt text]</a:t>
            </a:r>
          </a:p>
          <a:p>
            <a:r>
              <a:t>Diagrama sobre «Medir en la entrada no equivale a medir cerca del tímpano»; organiza dos posiciones de sonda y cuatro causas físicas posibles..</a:t>
            </a:r>
          </a:p>
          <a:p>
            <a:endParaRPr/>
          </a:p>
          <a:p>
            <a:r>
              <a:t>[Sources]</a:t>
            </a:r>
          </a:p>
          <a:p>
            <a:r>
              <a:t>- Fuentes de contenido: TEX 6.4.2 y aplicación A1; PDF pp. 153, 168/173; REF ugarteburu2022.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Presentar la formulación del programa y explicar por qué no es una ley universal. Desarrollar la idea con esta conclusión: “Esférica a cilíndrica” es una idealización; el CAE real exige transferencia dependiente de frecuencia y posición.</a:t>
            </a:r>
          </a:p>
          <a:p>
            <a:r>
              <a:t>**Guía del diagrama:** Leer ambas columnas con el mismo criterio; comparar una fila por vez; usar el puente central solo después de describir las diferencias.</a:t>
            </a:r>
          </a:p>
          <a:p>
            <a:r>
              <a:t>**Error frecuente:** Presentar «esférica → cilíndrica» como transformación exacta del CAE real.</a:t>
            </a:r>
          </a:p>
          <a:p>
            <a:r>
              <a:t>**Transición:** Usar un modelo más simple con hipótesis declaradas.</a:t>
            </a:r>
          </a:p>
          <a:p>
            <a:endParaRPr/>
          </a:p>
          <a:p>
            <a:r>
              <a:t>[Alt text]</a:t>
            </a:r>
          </a:p>
          <a:p>
            <a:r>
              <a:t>Diagrama sobre «Del frente ideal al conducto real»; organiza comparación: modelos ideales / cae curvo, variable, finito y con pérdidas.</a:t>
            </a:r>
          </a:p>
          <a:p>
            <a:endParaRPr/>
          </a:p>
          <a:p>
            <a:r>
              <a:t>[Sources]</a:t>
            </a:r>
          </a:p>
          <a:p>
            <a:r>
              <a:t>- Fuentes de contenido: PO; TEX 6.4.2–6.4.3; PDF pp. 153–154; SA tensión 2; OD-U06-03.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Separar modelo didáctico de anatomía individual. Desarrollar la idea con esta conclusión: Un tubo abierto–aproximadamente cerrado es útil si se declara qué omite.</a:t>
            </a:r>
          </a:p>
          <a:p>
            <a:r>
              <a:t>**Guía del diagrama:** Nombrar la idea central fuera del diagrama; recorrer nodos y conectores en el orden propuesto; terminar con la relación funcional, sin repetir todo el texto de las cajas.</a:t>
            </a:r>
          </a:p>
          <a:p>
            <a:r>
              <a:t>**Demostración opcional:** usar un tubo o una tira de longitud visible solo como analogía geométrica del cuarto de onda; no presentarlo como reproducción anatómica del CAE.</a:t>
            </a:r>
          </a:p>
          <a:p>
            <a:r>
              <a:t>**Transición:** La relación geométrica se compacta en una ecuación.</a:t>
            </a:r>
          </a:p>
          <a:p>
            <a:endParaRPr/>
          </a:p>
          <a:p>
            <a:r>
              <a:t>[Alt text]</a:t>
            </a:r>
          </a:p>
          <a:p>
            <a:r>
              <a:t>Diagrama sobre «Un modelo de cuarto de onda aproxima la primera resonancia»; organiza extremos, longitud efectiva y condición λ≈4ℓ; lista breve de límites.</a:t>
            </a:r>
          </a:p>
          <a:p>
            <a:endParaRPr/>
          </a:p>
          <a:p>
            <a:r>
              <a:t>[Sources]</a:t>
            </a:r>
          </a:p>
          <a:p>
            <a:r>
              <a:t>- Fuentes de contenido: TEX 6.4.3; PDF p. 154; BR; NOT.</a:t>
            </a:r>
          </a:p>
          <a:p>
            <a:r>
              <a:t>- Asset propio aprobado: U06-DG-008.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Leer la ecuación antes de sustituir; recordar que `≈` expresa modelo. Desarrollar la idea con esta conclusión: Mayor longitud efectiva implica menor primera frecuencia de resonancia.</a:t>
            </a:r>
          </a:p>
          <a:p>
            <a:r>
              <a:t>**Guía del diagrama:** Leer primero la relación central; señalar cada símbolo desde sus callouts; comprobar unidades; cerrar con la interpretación y el límite del modelo.</a:t>
            </a:r>
          </a:p>
          <a:p>
            <a:r>
              <a:t>**Pregunta al curso:** Si aumenta `ℓ`, ¿qué ocurre con `f_res`?</a:t>
            </a:r>
          </a:p>
          <a:p>
            <a:r>
              <a:t>**Respuesta esperada:** `f_res` disminuye porque es inversamente proporcional a `ℓ`.</a:t>
            </a:r>
          </a:p>
          <a:p>
            <a:r>
              <a:t>**Demostración opcional:** usar un tubo o una tira de longitud visible solo como analogía geométrica del cuarto de onda; no presentarlo como reproducción anatómica del CAE.</a:t>
            </a:r>
          </a:p>
          <a:p>
            <a:r>
              <a:t>**Transición:** Aplicar con datos didácticos.</a:t>
            </a:r>
          </a:p>
          <a:p>
            <a:endParaRPr/>
          </a:p>
          <a:p>
            <a:r>
              <a:t>[Alt text]</a:t>
            </a:r>
          </a:p>
          <a:p>
            <a:r>
              <a:t>Diagrama sobre «La resonancia del modelo depende de c y ℓ»; organiza f_res≈c/(4ℓ) con definiciones y control dimensional.</a:t>
            </a:r>
          </a:p>
          <a:p>
            <a:endParaRPr/>
          </a:p>
          <a:p>
            <a:r>
              <a:t>[Sources]</a:t>
            </a:r>
          </a:p>
          <a:p>
            <a:r>
              <a:t>- Fuentes de contenido: TEX ec. 6.1; PDF p. 154; NOT.</a:t>
            </a:r>
          </a:p>
          <a:p>
            <a:r>
              <a:t>- Asset propio aprobado: U06-DG-009.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Hacer análisis dimensional y pedir dos límites del resultado. Desarrollar la idea con esta conclusión: El resultado pertenece al modelo, no a todas las personas.</a:t>
            </a:r>
          </a:p>
          <a:p>
            <a:r>
              <a:t>**Guía del diagrama:** Nombrar la idea central fuera del diagrama; recorrer nodos y conectores en el orden propuesto; terminar con la relación funcional, sin repetir todo el texto de las cajas.</a:t>
            </a:r>
          </a:p>
          <a:p>
            <a:r>
              <a:t>**Pregunta al curso:** ¿Qué dos propiedades del CAE real omite el cálculo?</a:t>
            </a:r>
          </a:p>
          <a:p>
            <a:r>
              <a:t>**Respuesta esperada:** Por ejemplo: curvatura, sección variable, pérdidas e impedancia del tímpano.</a:t>
            </a:r>
          </a:p>
          <a:p>
            <a:r>
              <a:t>**Error frecuente:** Tomar 3,18 kHz como constante anatómica universal.</a:t>
            </a:r>
          </a:p>
          <a:p>
            <a:r>
              <a:t>**Demostración opcional:** usar un tubo o una tira de longitud visible solo como analogía geométrica del cuarto de onda; no presentarlo como reproducción anatómica del CAE.</a:t>
            </a:r>
          </a:p>
          <a:p>
            <a:r>
              <a:t>**Transición:** Cerrar el bloque separando transferencia real y modelo.</a:t>
            </a:r>
          </a:p>
          <a:p>
            <a:endParaRPr/>
          </a:p>
          <a:p>
            <a:r>
              <a:t>[Alt text]</a:t>
            </a:r>
          </a:p>
          <a:p>
            <a:r>
              <a:t>Diagrama sobre «Un CAE ideal de 27 mm resuena cerca de 3,18 kHz»; organiza datos → conversión → sustitución → unidad → limitaciones.</a:t>
            </a:r>
          </a:p>
          <a:p>
            <a:endParaRPr/>
          </a:p>
          <a:p>
            <a:r>
              <a:t>[Sources]</a:t>
            </a:r>
          </a:p>
          <a:p>
            <a:r>
              <a:t>- Fuentes de contenido: TEX 6.4.4; PDF p. 154.</a:t>
            </a:r>
          </a:p>
          <a:p>
            <a:r>
              <a:t>- Asset propio aprobado: U06-DG-009B.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la cadena con nueva etapa resaltada; no repetir definiciones. Desarrollar la idea con esta conclusión: El oído externo modifica y conduce; el modelo explica una parte, no todo el sistema.</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El oído externo modifica y conduce; el modelo explica una parte, no todo el sistema.</a:t>
            </a:r>
          </a:p>
          <a:p>
            <a:r>
              <a:t>**Transición:** La respuesta “diferencia de presión” abre B02.</a:t>
            </a:r>
          </a:p>
          <a:p>
            <a:endParaRPr/>
          </a:p>
          <a:p>
            <a:r>
              <a:t>[Alt text]</a:t>
            </a:r>
          </a:p>
          <a:p>
            <a:r>
              <a:t>Diagrama sobre «Hasta acá: dirección, posición, modelo y límite»; organiza tres afirmaciones + pregunta “¿qué llega finalmente al tímpano?”.</a:t>
            </a:r>
          </a:p>
          <a:p>
            <a:endParaRPr/>
          </a:p>
          <a:p>
            <a:r>
              <a:t>[Sources]</a:t>
            </a:r>
          </a:p>
          <a:p>
            <a:r>
              <a:t>- Fuentes de contenido: TEX 6.3–6.4; BR; EP.</a:t>
            </a:r>
          </a:p>
          <a:p>
            <a:r>
              <a:t>- Asset propio aprobado: U06-DG-001.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presión como fuerza por área. Desarrollar la idea con esta conclusión: El tímpano es una estructura mecánica, no un sensor eléctrico.</a:t>
            </a:r>
          </a:p>
          <a:p>
            <a:r>
              <a:t>**Transición:** Ubicar primero la membrana entre dos espacios.</a:t>
            </a:r>
          </a:p>
          <a:p>
            <a:endParaRPr/>
          </a:p>
          <a:p>
            <a:r>
              <a:t>[Alt text]</a:t>
            </a:r>
          </a:p>
          <a:p>
            <a:r>
              <a:t>Composición visual sobre una diferencia de presión pone en movimiento una membrana; destaca que el tímpano es una estructura mecánica, no un sensor eléctrico.</a:t>
            </a:r>
          </a:p>
          <a:p>
            <a:endParaRPr/>
          </a:p>
          <a:p>
            <a:r>
              <a:t>[Sources]</a:t>
            </a:r>
          </a:p>
          <a:p>
            <a:r>
              <a:t>- Fuentes de contenido: PO; TEX 6.4.5; PDF pp. 154–155.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describirlo como pistón plano; introducir área efectiva. Desarrollar la idea con esta conclusión: La fuerza surge de una diferencia de presión entre las dos caras.</a:t>
            </a:r>
          </a:p>
          <a:p>
            <a:r>
              <a:t>**Guía del diagrama:** Nombrar la idea central fuera del diagrama; recorrer nodos y conectores en el orden propuesto; terminar con la relación funcional, sin repetir todo el texto de las cajas.</a:t>
            </a:r>
          </a:p>
          <a:p>
            <a:r>
              <a:t>**Transición:** Pasar de ubicación a magnitud aplicada.</a:t>
            </a:r>
          </a:p>
          <a:p>
            <a:endParaRPr/>
          </a:p>
          <a:p>
            <a:r>
              <a:t>[Alt text]</a:t>
            </a:r>
          </a:p>
          <a:p>
            <a:r>
              <a:t>Diagrama sobre «El tímpano separa el CAE de la caja timpánica»; organiza vista anatómica simple con cae, tímpano, caja y mango del martillo.</a:t>
            </a:r>
          </a:p>
          <a:p>
            <a:endParaRPr/>
          </a:p>
          <a:p>
            <a:r>
              <a:t>[Sources]</a:t>
            </a:r>
          </a:p>
          <a:p>
            <a:r>
              <a:t>- Fuentes de contenido: TEX 6.4.5; PDF pp. 154–155; REF ugarteburu2022.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Definir signo/eje solo lo necesario; distinguir presión estática y alternante más adelante. Desarrollar la idea con esta conclusión: Importa la diferencia entre caras, no una presión aislada.</a:t>
            </a:r>
          </a:p>
          <a:p>
            <a:r>
              <a:t>**Guía del diagrama:** Nombrar la entrada; seguir una flecha por vez; identificar qué magnitud o dominio cambia; detenerse en la salida y en el límite inferencial.</a:t>
            </a:r>
          </a:p>
          <a:p>
            <a:r>
              <a:t>**Transición:** Compactar la relación en una ecuación.</a:t>
            </a:r>
          </a:p>
          <a:p>
            <a:endParaRPr/>
          </a:p>
          <a:p>
            <a:r>
              <a:t>[Alt text]</a:t>
            </a:r>
          </a:p>
          <a:p>
            <a:r>
              <a:t>Diagrama sobre «Dos presiones producen una fuerza resultante»; organiza presión del cae, presión de caja, resta y fuerza distribuida.</a:t>
            </a:r>
          </a:p>
          <a:p>
            <a:endParaRPr/>
          </a:p>
          <a:p>
            <a:r>
              <a:t>[Sources]</a:t>
            </a:r>
          </a:p>
          <a:p>
            <a:r>
              <a:t>- Fuentes de contenido: TEX 6.4.5; PDF p. 154; U2 presión/fuerza.</a:t>
            </a:r>
          </a:p>
          <a:p>
            <a:r>
              <a:t>- Asset propio aprobado: U06-DG-010.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Usar notación provisional `S`; recordar OD-U06-07 antes de escritura final. Desarrollar la idea con esta conclusión: La ecuación estima fuerza; no predice por sí sola el desplazamiento.</a:t>
            </a:r>
          </a:p>
          <a:p>
            <a:r>
              <a:t>**Guía del diagrama:** Leer primero la relación central; señalar cada símbolo desde sus callouts; comprobar unidades; cerrar con la interpretación y el límite del modelo.</a:t>
            </a:r>
          </a:p>
          <a:p>
            <a:r>
              <a:t>**Pregunta al curso:** ¿Qué magnitud falta para describir el movimiento?</a:t>
            </a:r>
          </a:p>
          <a:p>
            <a:r>
              <a:t>**Respuesta esperada:** Se necesita la respuesta mecánica: masa, rigidez, amortiguamiento, frecuencia y apoyos.</a:t>
            </a:r>
          </a:p>
          <a:p>
            <a:r>
              <a:t>**Error frecuente:** Interpretar fuerza calculada como desplazamiento timpánico.</a:t>
            </a:r>
          </a:p>
          <a:p>
            <a:r>
              <a:t>**Transición:** Ofrecer una aplicación numérica breve.</a:t>
            </a:r>
          </a:p>
          <a:p>
            <a:endParaRPr/>
          </a:p>
          <a:p>
            <a:r>
              <a:t>[Alt text]</a:t>
            </a:r>
          </a:p>
          <a:p>
            <a:r>
              <a:t>Diagrama sobre «Presión por área estima la fuerza resultante»; organiza ecuación, símbolos, pa·m²=n y advertencia de notación del libro a.</a:t>
            </a:r>
          </a:p>
          <a:p>
            <a:endParaRPr/>
          </a:p>
          <a:p>
            <a:r>
              <a:t>[Sources]</a:t>
            </a:r>
          </a:p>
          <a:p>
            <a:r>
              <a:t>- Fuentes de contenido: TEX ec. 6.2; PDF p. 154; NOT área; OD-U06-07.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Insistir en que el resultado no es un nivel ni un desplazamiento. Desarrollar la idea con esta conclusión: Una fuerza pequeña puede ser físicamente significativa en una estructura pequeña.</a:t>
            </a:r>
          </a:p>
          <a:p>
            <a:r>
              <a:t>**Guía del diagrama:** Nombrar la idea central fuera del diagrama; recorrer nodos y conectores en el orden propuesto; terminar con la relación funcional, sin repetir todo el texto de las cajas.</a:t>
            </a:r>
          </a:p>
          <a:p>
            <a:r>
              <a:t>**Transición:** Preguntar qué información falta.</a:t>
            </a:r>
          </a:p>
          <a:p>
            <a:endParaRPr/>
          </a:p>
          <a:p>
            <a:r>
              <a:t>[Alt text]</a:t>
            </a:r>
          </a:p>
          <a:p>
            <a:r>
              <a:t>Diagrama sobre «De 0,20 Pa a una fuerza del orden de 10⁻⁵ N»; organiza datos, conversión, multiplicación y unidad; sin calcular desplazamiento.</a:t>
            </a:r>
          </a:p>
          <a:p>
            <a:endParaRPr/>
          </a:p>
          <a:p>
            <a:r>
              <a:t>[Sources]</a:t>
            </a:r>
          </a:p>
          <a:p>
            <a:r>
              <a:t>- Fuentes de contenido: TEX ejercicio G2 y solución; PDF pp. 168, 172.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Diagnosticar si el cálculo anterior produjo una falsa equivalencia. Desarrollar la idea con esta conclusión: Magnitudes relacionadas no son intercambiables.</a:t>
            </a:r>
          </a:p>
          <a:p>
            <a:r>
              <a:t>**Guía del diagrama:** Presentar primero el diagrama sin solución; dar tiempo de observación; pedir una justificación; recién después revelar conexiones o rótulos.</a:t>
            </a:r>
          </a:p>
          <a:p>
            <a:r>
              <a:t>**Pregunta al curso:** ¿Qué magnitud describe cada frase?</a:t>
            </a:r>
          </a:p>
          <a:p>
            <a:r>
              <a:t>**Respuesta esperada:** Variación junto al tímpano: presión, Pa. Resultado sobre una superficie: fuerza, N. Movimiento de la membrana: desplazamiento, m.</a:t>
            </a:r>
          </a:p>
          <a:p>
            <a:r>
              <a:t>**Transición:** La diferencia abre la dinámica del tímpano.</a:t>
            </a:r>
          </a:p>
          <a:p>
            <a:endParaRPr/>
          </a:p>
          <a:p>
            <a:r>
              <a:t>[Alt text]</a:t>
            </a:r>
          </a:p>
          <a:p>
            <a:r>
              <a:t>Diagrama sobre «¿Qué magnitud describe cada frase?»; organiza tres situaciones; asignar símbolo/unidad y justificar.</a:t>
            </a:r>
          </a:p>
          <a:p>
            <a:endParaRPr/>
          </a:p>
          <a:p>
            <a:r>
              <a:t>[Sources]</a:t>
            </a:r>
          </a:p>
          <a:p>
            <a:r>
              <a:t>- Fuentes de contenido: TEX ejercicio C3; PDF pp. 166, 171.</a:t>
            </a:r>
          </a:p>
          <a:p>
            <a:r>
              <a:t>- Asset propio aprobado: U06-DG-003.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Vincular con U2 y U5 sin modelar el tímpano como un resorte único. Desarrollar la idea con esta conclusión: El tímpano real tiene una respuesta mecánica dependiente de frecuencia.</a:t>
            </a:r>
          </a:p>
          <a:p>
            <a:r>
              <a:t>**Guía del diagrama:** Nombrar la idea central fuera del diagrama; recorrer nodos y conectores en el orden propuesto; terminar con la relación funcional, sin repetir todo el texto de las cajas.</a:t>
            </a:r>
          </a:p>
          <a:p>
            <a:r>
              <a:t>**Pregunta al curso:** ¿Puede una misma fuerza producir movimientos distintos a frecuencias diferentes?</a:t>
            </a:r>
          </a:p>
          <a:p>
            <a:r>
              <a:t>**Respuesta esperada:** El tímpano real tiene una respuesta mecánica dependiente de frecuencia.</a:t>
            </a:r>
          </a:p>
          <a:p>
            <a:r>
              <a:t>**Transición:** Separar ahora presión acústica y estática.</a:t>
            </a:r>
          </a:p>
          <a:p>
            <a:endParaRPr/>
          </a:p>
          <a:p>
            <a:r>
              <a:t>[Alt text]</a:t>
            </a:r>
          </a:p>
          <a:p>
            <a:r>
              <a:t>Diagrama sobre «Conocer la fuerza no alcanza para conocer el movimiento»; organiza fuerza de entrada → sistema mecánico → desplazamiento; variables que condicionan.</a:t>
            </a:r>
          </a:p>
          <a:p>
            <a:endParaRPr/>
          </a:p>
          <a:p>
            <a:r>
              <a:t>[Sources]</a:t>
            </a:r>
          </a:p>
          <a:p>
            <a:r>
              <a:t>- Fuentes de contenido: TEX 6.4.5; solución G2; REF ugarteburu2022; CDM.</a:t>
            </a:r>
          </a:p>
          <a:p>
            <a:r>
              <a:t>- Asset propio aprobado: U06-DG-012.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Dar ejemplos cotidianos sin convertirlos en diagnóstico. Desarrollar la idea con esta conclusión: La acústica alterna y produce vibración; la estática cambia la posición de equilibrio.</a:t>
            </a:r>
          </a:p>
          <a:p>
            <a:r>
              <a:t>**Guía del diagrama:** Leer ambas columnas con el mismo criterio; comparar una fila por vez; usar el puente central solo después de describir las diferencias.</a:t>
            </a:r>
          </a:p>
          <a:p>
            <a:r>
              <a:t>**Error frecuente:** Afirmar que la trompa iguala la presión acústica ciclo a ciclo.</a:t>
            </a:r>
          </a:p>
          <a:p>
            <a:r>
              <a:t>**Transición:** La presión estática conduce a la trompa de Eustaquio.</a:t>
            </a:r>
          </a:p>
          <a:p>
            <a:endParaRPr/>
          </a:p>
          <a:p>
            <a:r>
              <a:t>[Alt text]</a:t>
            </a:r>
          </a:p>
          <a:p>
            <a:r>
              <a:t>Diagrama sobre «Presión acústica y presión estática actúan en tiempos distintos»; organiza criterios comunes: escala temporal, origen, efecto y mecanismo de compensación.</a:t>
            </a:r>
          </a:p>
          <a:p>
            <a:endParaRPr/>
          </a:p>
          <a:p>
            <a:r>
              <a:t>[Sources]</a:t>
            </a:r>
          </a:p>
          <a:p>
            <a:r>
              <a:t>- Fuentes de contenido: TEX 6.5.1 y ejercicio C4; PDF pp. 155, 166/171; GLO.</a:t>
            </a:r>
          </a:p>
          <a:p>
            <a:r>
              <a:t>- Asset propio aprobado: U06-DG-013.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explicar patología; conservar función normal y presión estática. Desarrollar la idea con esta conclusión: La apertura es intermitente y modifica condiciones del oído medio.</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La apertura es intermitente y modifica condiciones del oído medio.</a:t>
            </a:r>
          </a:p>
          <a:p>
            <a:r>
              <a:t>**Transición:** Volver a la señal acústica y seguir hacia huesecillos.</a:t>
            </a:r>
          </a:p>
          <a:p>
            <a:endParaRPr/>
          </a:p>
          <a:p>
            <a:r>
              <a:t>[Alt text]</a:t>
            </a:r>
          </a:p>
          <a:p>
            <a:r>
              <a:t>Diagrama sobre «La trompa contribuye a equilibrar presión, ventilar y drenar»; organiza caja timpánica ↔ nasofaringe; tres funciones y límite no diagnóstico.</a:t>
            </a:r>
          </a:p>
          <a:p>
            <a:endParaRPr/>
          </a:p>
          <a:p>
            <a:r>
              <a:t>[Sources]</a:t>
            </a:r>
          </a:p>
          <a:p>
            <a:r>
              <a:t>- Fuentes de contenido: TEX 6.5.1; PDF p. 155; REF schilder2015; 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la cadena con dominio mecánico añadido; pedir unidades. Desarrollar la idea con esta conclusión: Presión, fuerza y desplazamiento están conectados, pero exigen modelos distintos.</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Presión, fuerza y desplazamiento están conectados, pero exigen modelos distintos.</a:t>
            </a:r>
          </a:p>
          <a:p>
            <a:r>
              <a:t>**Transición:** La pregunta de transferencia abre el oído medio.</a:t>
            </a:r>
          </a:p>
          <a:p>
            <a:endParaRPr/>
          </a:p>
          <a:p>
            <a:r>
              <a:t>[Alt text]</a:t>
            </a:r>
          </a:p>
          <a:p>
            <a:r>
              <a:t>Diagrama sobre «Hasta acá: Δp produce fuerza, el sistema determina movimiento»; organiza tres relaciones + pregunta “¿cómo se transfiere al fluido?”.</a:t>
            </a:r>
          </a:p>
          <a:p>
            <a:endParaRPr/>
          </a:p>
          <a:p>
            <a:r>
              <a:t>[Sources]</a:t>
            </a:r>
          </a:p>
          <a:p>
            <a:r>
              <a:t>- Fuentes de contenido: TEX 6.3–6.5.1; BR; EP.</a:t>
            </a:r>
          </a:p>
          <a:p>
            <a:r>
              <a:t>- Asset propio aprobado: U06-DG-001.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impedancia de U4 con una interpretación cualitativa. Desarrollar la idea con esta conclusión: El oído medio mejora el acoplamiento entre aire y cóclea sin crear energía.</a:t>
            </a:r>
          </a:p>
          <a:p>
            <a:r>
              <a:t>**Transición:** Ubicar la anatomía funcional completa.</a:t>
            </a:r>
          </a:p>
          <a:p>
            <a:endParaRPr/>
          </a:p>
          <a:p>
            <a:r>
              <a:t>[Alt text]</a:t>
            </a:r>
          </a:p>
          <a:p>
            <a:r>
              <a:t>Composición visual sobre transferir hacia un fluido exige transformar; destaca que el oído medio mejora el acoplamiento entre aire y cóclea sin crear energía.</a:t>
            </a:r>
          </a:p>
          <a:p>
            <a:endParaRPr/>
          </a:p>
          <a:p>
            <a:r>
              <a:t>[Sources]</a:t>
            </a:r>
          </a:p>
          <a:p>
            <a:r>
              <a:t>- Fuentes de contenido: PO; TEX 6.5; PDF pp. 155–158.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Nombrar estructuras con orientación y función; no usar el dibujo para escala. Desarrollar la idea con esta conclusión: El martillo recibe; el yunque transmite; el estribo actúa en la ventana oval.</a:t>
            </a:r>
          </a:p>
          <a:p>
            <a:r>
              <a:t>**Guía del diagrama:** Nombrar la idea central fuera del diagrama; recorrer nodos y conectores en el orden propuesto; terminar con la relación funcional, sin repetir todo el texto de las cajas.</a:t>
            </a:r>
          </a:p>
          <a:p>
            <a:r>
              <a:t>**Transición:** Plantear por qué la interfaz aire–fluido es problemática.</a:t>
            </a:r>
          </a:p>
          <a:p>
            <a:endParaRPr/>
          </a:p>
          <a:p>
            <a:r>
              <a:t>[Alt text]</a:t>
            </a:r>
          </a:p>
          <a:p>
            <a:r>
              <a:t>Diagrama sobre «Martillo, yunque y estribo forman una cadena funcional»; organiza caja, huesecillos, ventana oval/redonda y trompa en una ruta funcional.</a:t>
            </a:r>
          </a:p>
          <a:p>
            <a:endParaRPr/>
          </a:p>
          <a:p>
            <a:r>
              <a:t>[Sources]</a:t>
            </a:r>
          </a:p>
          <a:p>
            <a:r>
              <a:t>- Fuentes de contenido: PO; TEX 6.5.1; PDF p. 155, fig. 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impedancia sin derivar; usar “mejora transferencia”, no “elimina pérdidas”. Desarrollar la idea con esta conclusión: Sin transformación, una fracción importante de energía se refleja.</a:t>
            </a:r>
          </a:p>
          <a:p>
            <a:r>
              <a:t>**Guía del diagrama:** Nombrar la idea central fuera del diagrama; recorrer nodos y conectores en el orden propuesto; terminar con la relación funcional, sin repetir todo el texto de las cajas.</a:t>
            </a:r>
          </a:p>
          <a:p>
            <a:r>
              <a:t>**Pregunta al curso:** ¿Qué destinos puede tener la energía en una interfaz desadaptada?</a:t>
            </a:r>
          </a:p>
          <a:p>
            <a:r>
              <a:t>**Respuesta esperada:** Puede transferirse, reflejarse y disiparse una parte.</a:t>
            </a:r>
          </a:p>
          <a:p>
            <a:r>
              <a:t>**Error frecuente:** Decir que adaptar impedancias elimina toda reflexión.</a:t>
            </a:r>
          </a:p>
          <a:p>
            <a:r>
              <a:t>**Transición:** Presentar los dos recursos mecánicos.</a:t>
            </a:r>
          </a:p>
          <a:p>
            <a:endParaRPr/>
          </a:p>
          <a:p>
            <a:r>
              <a:t>[Alt text]</a:t>
            </a:r>
          </a:p>
          <a:p>
            <a:r>
              <a:t>Diagrama sobre «Aire y fluidos presentan cargas mecánicas diferentes»; organiza dos medios, interfaz y destinos: reflexión/transferencia; sin coeficientes numéricos.</a:t>
            </a:r>
          </a:p>
          <a:p>
            <a:endParaRPr/>
          </a:p>
          <a:p>
            <a:r>
              <a:t>[Sources]</a:t>
            </a:r>
          </a:p>
          <a:p>
            <a:r>
              <a:t>- Fuentes de contenido: TEX 6.5.2; PDF p. 155; U4 impedancia/reflexión.</a:t>
            </a:r>
          </a:p>
          <a:p>
            <a:r>
              <a:t>- Asset propio aprobado: U06-DG-016.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Anticipar que el oído real depende de frecuencia y pérdidas. Desarrollar la idea con esta conclusión: Área menor y acción de palanca cambian fuerza, presión y desplazamiento.</a:t>
            </a:r>
          </a:p>
          <a:p>
            <a:r>
              <a:t>**Guía del diagrama:** Nombrar la entrada; seguir una flecha por vez; identificar qué magnitud o dominio cambia; detenerse en la salida y en el límite inferencial.</a:t>
            </a:r>
          </a:p>
          <a:p>
            <a:r>
              <a:t>**Demostración opcional:** comparar dos brazos de palanca y preguntar qué se gana en fuerza y qué se cede en desplazamiento. No usar la demostración para fijar razones anatómicas.</a:t>
            </a:r>
          </a:p>
          <a:p>
            <a:r>
              <a:t>**Transición:** Formalizar primero la razón de áreas.</a:t>
            </a:r>
          </a:p>
          <a:p>
            <a:endParaRPr/>
          </a:p>
          <a:p>
            <a:r>
              <a:t>[Alt text]</a:t>
            </a:r>
          </a:p>
          <a:p>
            <a:r>
              <a:t>Diagrama sobre «Dos recursos colaboran en la transformación»; organiza 1) diferencia de áreas; 2) geometría martillo–yunque; 3) carga coclear.</a:t>
            </a:r>
          </a:p>
          <a:p>
            <a:endParaRPr/>
          </a:p>
          <a:p>
            <a:r>
              <a:t>[Sources]</a:t>
            </a:r>
          </a:p>
          <a:p>
            <a:r>
              <a:t>- Fuentes de contenido: TEX 6.5.2; PDF pp. 155–156.</a:t>
            </a:r>
          </a:p>
          <a:p>
            <a:r>
              <a:t>- Asset propio aprobado: U06-DG-017.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presentar áreas como universales; resolver OD-U06-07 antes de escribir. Desarrollar la idea con esta conclusión: Una misma fuerza sobre menor área produce mayor presión ideal.</a:t>
            </a:r>
          </a:p>
          <a:p>
            <a:r>
              <a:t>**Guía del diagrama:** Leer primero la relación central; señalar cada símbolo desde sus callouts; comprobar unidades; cerrar con la interpretación y el límite del modelo.</a:t>
            </a:r>
          </a:p>
          <a:p>
            <a:r>
              <a:t>**Transición:** Añadir la acción de palanca sin otra ecuación compleja.</a:t>
            </a:r>
          </a:p>
          <a:p>
            <a:endParaRPr/>
          </a:p>
          <a:p>
            <a:r>
              <a:t>[Alt text]</a:t>
            </a:r>
          </a:p>
          <a:p>
            <a:r>
              <a:t>Diagrama sobre «La razón de áreas compara superficies efectivas»; organiza r_s=s_tm/s_e provisional; unidades se cancelan; equivalencia con r_a del libro en fuente/notas.</a:t>
            </a:r>
          </a:p>
          <a:p>
            <a:endParaRPr/>
          </a:p>
          <a:p>
            <a:r>
              <a:t>[Sources]</a:t>
            </a:r>
          </a:p>
          <a:p>
            <a:r>
              <a:t>- Fuentes de contenido: TEX ec. 6.3; PDF p. 156; NOT; OD-U06-07.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valores anatómicos; enfatizar modelo ideal. Desarrollar la idea con esta conclusión: Mayor fuerza ideal de salida se acompaña por menor desplazamiento o velocidad.</a:t>
            </a:r>
          </a:p>
          <a:p>
            <a:r>
              <a:t>**Guía del diagrama:** Nombrar la idea central fuera del diagrama; recorrer nodos y conectores en el orden propuesto; terminar con la relación funcional, sin repetir todo el texto de las cajas.</a:t>
            </a:r>
          </a:p>
          <a:p>
            <a:r>
              <a:t>**Demostración opcional:** comparar dos brazos de palanca y preguntar qué se gana en fuerza y qué se cede en desplazamiento. No usar la demostración para fijar razones anatómicas.</a:t>
            </a:r>
          </a:p>
          <a:p>
            <a:r>
              <a:t>**Transición:** Combinar ambos recursos en una razón.</a:t>
            </a:r>
          </a:p>
          <a:p>
            <a:endParaRPr/>
          </a:p>
          <a:p>
            <a:r>
              <a:t>[Alt text]</a:t>
            </a:r>
          </a:p>
          <a:p>
            <a:r>
              <a:t>Diagrama sobre «La palanca cambia fuerza y desplazamiento en sentidos opuestos»; organiza brazos efectivos, fuerza de entrada/salida y sentido del intercambio.</a:t>
            </a:r>
          </a:p>
          <a:p>
            <a:endParaRPr/>
          </a:p>
          <a:p>
            <a:r>
              <a:t>[Sources]</a:t>
            </a:r>
          </a:p>
          <a:p>
            <a:r>
              <a:t>- Fuentes de contenido: TEX 6.5.2; PDF p. 156, fig. 6.3.</a:t>
            </a:r>
          </a:p>
          <a:p>
            <a:r>
              <a:t>- Asset propio aprobado: U06-DG-019.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Explicar la colisión `R_p` y no fijar copy final. Desarrollar la idea con esta conclusión: La razón de presiones del modelo no debe llamarse como el coeficiente `R_p` de U4.</a:t>
            </a:r>
          </a:p>
          <a:p>
            <a:r>
              <a:t>**Guía del diagrama:** Leer primero la relación central; señalar cada símbolo desde sus callouts; comprobar unidades; cerrar con la interpretación y el límite del modelo.</a:t>
            </a:r>
          </a:p>
          <a:p>
            <a:r>
              <a:t>**Demostración opcional:** comparar dos brazos de palanca y preguntar qué se gana en fuerza y qué se cede en desplazamiento. No usar la demostración para fijar razones anatómicas.</a:t>
            </a:r>
          </a:p>
          <a:p>
            <a:r>
              <a:t>**Transición:** Mostrar qué se conserva en el modelo ideal.</a:t>
            </a:r>
          </a:p>
          <a:p>
            <a:endParaRPr/>
          </a:p>
          <a:p>
            <a:r>
              <a:t>[Alt text]</a:t>
            </a:r>
          </a:p>
          <a:p>
            <a:r>
              <a:t>Diagrama sobre «La transformación ideal combina áreas y palanca»; organiza m_p≈r_s·r_l como propuesta provisional; definición de entrada/salida.</a:t>
            </a:r>
          </a:p>
          <a:p>
            <a:endParaRPr/>
          </a:p>
          <a:p>
            <a:r>
              <a:t>[Sources]</a:t>
            </a:r>
          </a:p>
          <a:p>
            <a:r>
              <a:t>- Fuentes de contenido: TEX ec. 6.4; PDF p. 156; NOT; OD-U06-08/09.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conservación con una nueva aplicación; diferenciar de proceso activo de CCE. Desarrollar la idea con esta conclusión: Fuerza/presión aumentan a cambio de velocidad/desplazamiento; el oído real además pierde energía.</a:t>
            </a:r>
          </a:p>
          <a:p>
            <a:r>
              <a:t>**Guía del diagrama:** Nombrar la idea central fuera del diagrama; recorrer nodos y conectores en el orden propuesto; terminar con la relación funcional, sin repetir todo el texto de las cajas.</a:t>
            </a:r>
          </a:p>
          <a:p>
            <a:r>
              <a:t>**Pregunta al curso:** ¿Qué variable disminuye si aumenta la fuerza de salida en un transformador ideal?</a:t>
            </a:r>
          </a:p>
          <a:p>
            <a:r>
              <a:t>**Respuesta esperada:** Disminuye el desplazamiento o la velocidad de salida, además de existir pérdidas reales.</a:t>
            </a:r>
          </a:p>
          <a:p>
            <a:r>
              <a:t>**Error frecuente:** Confundir aumento de presión con creación de energía.</a:t>
            </a:r>
          </a:p>
          <a:p>
            <a:r>
              <a:t>**Transición:** Aplicar los dos factores con números didácticos.</a:t>
            </a:r>
          </a:p>
          <a:p>
            <a:endParaRPr/>
          </a:p>
          <a:p>
            <a:r>
              <a:t>[Alt text]</a:t>
            </a:r>
          </a:p>
          <a:p>
            <a:r>
              <a:t>Diagrama sobre «Mayor presión no significa mayor energía»; organiza balance cualitativo entrada–transformación–salida–pérdidas.</a:t>
            </a:r>
          </a:p>
          <a:p>
            <a:endParaRPr/>
          </a:p>
          <a:p>
            <a:r>
              <a:t>[Sources]</a:t>
            </a:r>
          </a:p>
          <a:p>
            <a:r>
              <a:t>- Fuentes de contenido: TEX 6.3, 6.5.2 y error 6.11; PDF pp. 152, 156, 165.</a:t>
            </a:r>
          </a:p>
          <a:p>
            <a:r>
              <a:t>- Asset propio aprobado: U06-DG-021.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Usar símbolos provisionales; terminar con tres “no significa”. Desarrollar la idea con esta conclusión: `20×1,2=24`; expresarlo en dB no lo convierte en dB SPL ni energía.</a:t>
            </a:r>
          </a:p>
          <a:p>
            <a:r>
              <a:t>**Guía del diagrama:** Nombrar la idea central fuera del diagrama; recorrer nodos y conectores en el orden propuesto; terminar con la relación funcional, sin repetir todo el texto de las cajas.</a:t>
            </a:r>
          </a:p>
          <a:p>
            <a:r>
              <a:t>**Demostración opcional:** comparar dos brazos de palanca y preguntar qué se gana en fuerza y qué se cede en desplazamiento. No usar la demostración para fijar razones anatómicas.</a:t>
            </a:r>
          </a:p>
          <a:p>
            <a:r>
              <a:t>**Transición:** Convertir el resultado en una pregunta de clasificación.</a:t>
            </a:r>
          </a:p>
          <a:p>
            <a:endParaRPr/>
          </a:p>
          <a:p>
            <a:r>
              <a:t>[Alt text]</a:t>
            </a:r>
          </a:p>
          <a:p>
            <a:r>
              <a:t>Diagrama sobre «Un modelo ideal puede multiplicar la presión por 24»; organiza datos → razón → 20 log10 → interpretación y límites.</a:t>
            </a:r>
          </a:p>
          <a:p>
            <a:endParaRPr/>
          </a:p>
          <a:p>
            <a:r>
              <a:t>[Sources]</a:t>
            </a:r>
          </a:p>
          <a:p>
            <a:r>
              <a:t>- Fuentes de contenido: TEX 6.5.3; PDF pp. 156–157; OD-U06-08/09.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referencia de U4 y evitar mezclar gain/nivel. Desarrollar la idea con esta conclusión: Faltan referencia y definición de magnitud para informar SPL.</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Faltan referencia y definición de magnitud para informar SPL.</a:t>
            </a:r>
          </a:p>
          <a:p>
            <a:r>
              <a:t>**Error frecuente:** Rotular una razón del modelo como dB SPL.</a:t>
            </a:r>
          </a:p>
          <a:p>
            <a:r>
              <a:t>**Transición:** De la transformación pasiva pasar al reflejo muscular.</a:t>
            </a:r>
          </a:p>
          <a:p>
            <a:endParaRPr/>
          </a:p>
          <a:p>
            <a:r>
              <a:t>[Alt text]</a:t>
            </a:r>
          </a:p>
          <a:p>
            <a:r>
              <a:t>Diagrama sobre «Una razón en dB no es automáticamente dB SPL»; organiza comparación 20 log10(p2/p1) frente a 20 log10(p_rms/p_ref).</a:t>
            </a:r>
          </a:p>
          <a:p>
            <a:endParaRPr/>
          </a:p>
          <a:p>
            <a:r>
              <a:t>[Sources]</a:t>
            </a:r>
          </a:p>
          <a:p>
            <a:r>
              <a:t>- Fuentes de contenido: TEX 6.5.3; PDF p. 156; NOT niveles.</a:t>
            </a:r>
          </a:p>
          <a:p>
            <a:r>
              <a:t>- Asset propio aprobado: U06-DG-022.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Señalar dependencias de estímulo, nivel y persona; reservar protocolo para U8. Desarrollar la idea con esta conclusión: La contracción del estapedio atenúa de forma dependiente de frecuencia y no es instantánea.</a:t>
            </a:r>
          </a:p>
          <a:p>
            <a:r>
              <a:t>**Guía del diagrama:** Nombrar la entrada; seguir una flecha por vez; identificar qué magnitud o dominio cambia; detenerse en la salida y en el límite inferencial.</a:t>
            </a:r>
          </a:p>
          <a:p>
            <a:r>
              <a:t>**Pregunta al curso:** ¿Por qué el reflejo no modifica el inicio de un impulso muy breve?</a:t>
            </a:r>
          </a:p>
          <a:p>
            <a:r>
              <a:t>**Respuesta esperada:** La contracción muscular ocurre después de una latencia.</a:t>
            </a:r>
          </a:p>
          <a:p>
            <a:r>
              <a:t>**Error frecuente:** Describir el reflejo como instantáneo o absolutamente protector.</a:t>
            </a:r>
          </a:p>
          <a:p>
            <a:r>
              <a:t>**Transición:** Preguntar por impulso breve y protección.</a:t>
            </a:r>
          </a:p>
          <a:p>
            <a:endParaRPr/>
          </a:p>
          <a:p>
            <a:r>
              <a:t>[Alt text]</a:t>
            </a:r>
          </a:p>
          <a:p>
            <a:r>
              <a:t>Diagrama sobre «El reflejo acústico modifica la rigidez después de una latencia»; organiza estímulo → vía refleja → contracción → cambio de rigidez/transferencia.</a:t>
            </a:r>
          </a:p>
          <a:p>
            <a:endParaRPr/>
          </a:p>
          <a:p>
            <a:r>
              <a:t>[Sources]</a:t>
            </a:r>
          </a:p>
          <a:p>
            <a:r>
              <a:t>- Fuentes de contenido: PO; TEX 6.5.4; PDF p. 158; REF ashaHearingAdults; OD-U06-10/23.</a:t>
            </a:r>
          </a:p>
          <a:p>
            <a:r>
              <a:t>- Asset propio aprobado: U06-DG-023.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la cadena con ventana oval y límite del reflejo; no repetir anatomía. Desarrollar la idea con esta conclusión: El oído medio adapta con pérdidas; el reflejo llega tarde para el inicio de un impulso.</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El oído medio adapta con pérdidas; el reflejo llega tarde para el inicio de un impulso.</a:t>
            </a:r>
          </a:p>
          <a:p>
            <a:r>
              <a:t>**Transición:** Abrir una entrada alternativa: vibración del cráneo.</a:t>
            </a:r>
          </a:p>
          <a:p>
            <a:endParaRPr/>
          </a:p>
          <a:p>
            <a:r>
              <a:t>[Alt text]</a:t>
            </a:r>
          </a:p>
          <a:p>
            <a:r>
              <a:t>Diagrama sobre «Hasta acá: transferir, transformar y limitar»; organiza tres ideas + pregunta de control sobre energía y latencia.</a:t>
            </a:r>
          </a:p>
          <a:p>
            <a:endParaRPr/>
          </a:p>
          <a:p>
            <a:r>
              <a:t>[Sources]</a:t>
            </a:r>
          </a:p>
          <a:p>
            <a:r>
              <a:t>- Fuentes de contenido: TEX 6.5; PDF pp. 155–158; ejercicio A5.</a:t>
            </a:r>
          </a:p>
          <a:p>
            <a:r>
              <a:t>- Asset propio aprobado: U06-DG-001.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que “vía” no significa un único trayecto anatómico. Desarrollar la idea con esta conclusión: Vibrar el cráneo puede estimular la cóclea mediante varias contribuciones simultáneas.</a:t>
            </a:r>
          </a:p>
          <a:p>
            <a:r>
              <a:t>**Transición:** Comparar primero las entradas aérea y ósea.</a:t>
            </a:r>
          </a:p>
          <a:p>
            <a:endParaRPr/>
          </a:p>
          <a:p>
            <a:r>
              <a:t>[Alt text]</a:t>
            </a:r>
          </a:p>
          <a:p>
            <a:r>
              <a:t>Composición visual sobre la vía ósea es una convergencia, no un atajo único; destaca que vibrar el cráneo puede estimular la cóclea mediante varias contribuciones simultáneas.</a:t>
            </a:r>
          </a:p>
          <a:p>
            <a:endParaRPr/>
          </a:p>
          <a:p>
            <a:r>
              <a:t>[Sources]</a:t>
            </a:r>
          </a:p>
          <a:p>
            <a:r>
              <a:t>- Fuentes de contenido: PO; TEX 6.6; PDF pp. 158–159.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“normal/anormal” y no introducir audiometría diagnóstica. Desarrollar la idea con esta conclusión: Ambas pueden generar diferencias de presión y movimiento en la partición coclear.</a:t>
            </a:r>
          </a:p>
          <a:p>
            <a:r>
              <a:t>**Guía del diagrama:** Leer ambas columnas con el mismo criterio; comparar una fila por vez; usar el puente central solo después de describir las diferencias.</a:t>
            </a:r>
          </a:p>
          <a:p>
            <a:r>
              <a:t>**Transición:** Convertir la comparación en una afirmación para evaluar.</a:t>
            </a:r>
          </a:p>
          <a:p>
            <a:endParaRPr/>
          </a:p>
          <a:p>
            <a:r>
              <a:t>[Alt text]</a:t>
            </a:r>
          </a:p>
          <a:p>
            <a:r>
              <a:t>Diagrama sobre «Vía aérea y vía ósea cambian la entrada, no la cóclea final»; organiza entrada, estructuras participantes y punto de convergencia; mismos criterios en dos columnas.</a:t>
            </a:r>
          </a:p>
          <a:p>
            <a:endParaRPr/>
          </a:p>
          <a:p>
            <a:r>
              <a:t>[Sources]</a:t>
            </a:r>
          </a:p>
          <a:p>
            <a:r>
              <a:t>- Fuentes de contenido: TEX 6.6; PDF p. 158; GLO.</a:t>
            </a:r>
          </a:p>
          <a:p>
            <a:r>
              <a:t>- Asset propio aprobado: U06-DG-024.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Pedir evidencia; no aceptar “porque llega directo”. Desarrollar la idea con esta conclusión: La afirmación absoluta es falsa porque algunas contribuciones involucran CAE y huesecillos.</a:t>
            </a:r>
          </a:p>
          <a:p>
            <a:r>
              <a:t>**Guía del diagrama:** Presentar primero el diagrama sin solución; dar tiempo de observación; pedir una justificación; recién después revelar conexiones o rótulos.</a:t>
            </a:r>
          </a:p>
          <a:p>
            <a:r>
              <a:t>**Pregunta al curso:** “La vía ósea evita el oído externo y medio”: ¿verdadero o falso?</a:t>
            </a:r>
          </a:p>
          <a:p>
            <a:r>
              <a:t>**Respuesta esperada:** Falsa. La radiación hacia el CAE y la inercia osicular son dos ejemplos de participación del oído externo o medio.</a:t>
            </a:r>
          </a:p>
          <a:p>
            <a:r>
              <a:t>**Error frecuente:** Describir la vía ósea como un bypass único.</a:t>
            </a:r>
          </a:p>
          <a:p>
            <a:r>
              <a:t>**Transición:** Revelar el mapa multimecanismo.</a:t>
            </a:r>
          </a:p>
          <a:p>
            <a:endParaRPr/>
          </a:p>
          <a:p>
            <a:r>
              <a:t>[Alt text]</a:t>
            </a:r>
          </a:p>
          <a:p>
            <a:r>
              <a:t>Diagrama sobre «“La vía ósea evita el oído externo y medio”: ¿verdadero o falso?»; organiza consigna con espacio para justificar mediante mecanismos.</a:t>
            </a:r>
          </a:p>
          <a:p>
            <a:endParaRPr/>
          </a:p>
          <a:p>
            <a:r>
              <a:t>[Sources]</a:t>
            </a:r>
          </a:p>
          <a:p>
            <a:r>
              <a:t>- Fuentes de contenido: TEX ejercicio A3/D2; PDF pp. 168–170, 173–174.</a:t>
            </a:r>
          </a:p>
          <a:p>
            <a:r>
              <a:t>- Asset propio aprobado: U06-DG-024.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Explicar simultaneidad y dependencia; no asignar porcentajes. Desarrollar la idea con esta conclusión: La importancia relativa cambia con frecuencia, acoplamiento y punto de estimulación.</a:t>
            </a:r>
          </a:p>
          <a:p>
            <a:r>
              <a:t>**Guía del diagrama:** Nombrar la entrada; seguir una flecha por vez; identificar qué magnitud o dominio cambia; detenerse en la salida y en el límite inferencial.</a:t>
            </a:r>
          </a:p>
          <a:p>
            <a:r>
              <a:t>**Pregunta al curso:** ¿Qué condición puede cambiar la importancia relativa de los mecanismos?</a:t>
            </a:r>
          </a:p>
          <a:p>
            <a:r>
              <a:t>**Respuesta esperada:** La importancia relativa cambia con frecuencia, acoplamiento y punto de estimulación.</a:t>
            </a:r>
          </a:p>
          <a:p>
            <a:r>
              <a:t>**Transición:** Agrupar mecanismos por región para bajar carga.</a:t>
            </a:r>
          </a:p>
          <a:p>
            <a:endParaRPr/>
          </a:p>
          <a:p>
            <a:r>
              <a:t>[Alt text]</a:t>
            </a:r>
          </a:p>
          <a:p>
            <a:r>
              <a:t>Diagrama sobre «Cinco contribuciones pueden actuar al mismo tiempo»; organiza radiación cae, inercia osicular, inercia de fluidos, deformación capsular y tejidos/cavidades.</a:t>
            </a:r>
          </a:p>
          <a:p>
            <a:endParaRPr/>
          </a:p>
          <a:p>
            <a:r>
              <a:t>[Sources]</a:t>
            </a:r>
          </a:p>
          <a:p>
            <a:r>
              <a:t>- Fuentes de contenido: TEX 6.6; PDF p. 159, fig. 6.4; REF stenfeltGoode2005.</a:t>
            </a:r>
          </a:p>
          <a:p>
            <a:r>
              <a:t>- Asset propio aprobado: U06-DG-025.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desarrollar efecto de oclusión audiométrico; conservar mecanismo físico. Desarrollar la idea con esta conclusión: La vibración del canal puede reintroducir una contribución aérea local.</a:t>
            </a:r>
          </a:p>
          <a:p>
            <a:r>
              <a:t>**Guía del diagrama:** Nombrar la idea central fuera del diagrama; recorrer nodos y conectores en el orden propuesto; terminar con la relación funcional, sin repetir todo el texto de las cajas.</a:t>
            </a:r>
          </a:p>
          <a:p>
            <a:r>
              <a:t>**Transición:** Pasar de aire local a inercias.</a:t>
            </a:r>
          </a:p>
          <a:p>
            <a:endParaRPr/>
          </a:p>
          <a:p>
            <a:r>
              <a:t>[Alt text]</a:t>
            </a:r>
          </a:p>
          <a:p>
            <a:r>
              <a:t>Diagrama sobre «La pared del CAE también puede generar presión»; organiza pared del cae → presión interna; oclusión como modificador, sin procedimiento clínico.</a:t>
            </a:r>
          </a:p>
          <a:p>
            <a:endParaRPr/>
          </a:p>
          <a:p>
            <a:r>
              <a:t>[Sources]</a:t>
            </a:r>
          </a:p>
          <a:p>
            <a:r>
              <a:t>- Fuentes de contenido: TEX 6.6, punto 1; REF stenfeltGoode2005.</a:t>
            </a:r>
          </a:p>
          <a:p>
            <a:r>
              <a:t>- Asset propio aprobado: U06-DG-026.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inercia de U2 sin ecuaciones; evitar “todo se mueve igual”. Desarrollar la idea con esta conclusión: Lo relevante es movimiento relativo respecto de la cavidad o cápsula.</a:t>
            </a:r>
          </a:p>
          <a:p>
            <a:r>
              <a:t>**Guía del diagrama:** Leer ambas columnas con el mismo criterio; comparar una fila por vez; usar el puente central solo después de describir las diferencias.</a:t>
            </a:r>
          </a:p>
          <a:p>
            <a:r>
              <a:t>**Transición:** Completar con deformación y tejidos.</a:t>
            </a:r>
          </a:p>
          <a:p>
            <a:endParaRPr/>
          </a:p>
          <a:p>
            <a:r>
              <a:t>[Alt text]</a:t>
            </a:r>
          </a:p>
          <a:p>
            <a:r>
              <a:t>Diagrama sobre «Huesecillos y fluidos responden por inercia relativa»; organiza inercia osicular / inercia de fluidos con entrada, estructura y efecto.</a:t>
            </a:r>
          </a:p>
          <a:p>
            <a:endParaRPr/>
          </a:p>
          <a:p>
            <a:r>
              <a:t>[Sources]</a:t>
            </a:r>
          </a:p>
          <a:p>
            <a:r>
              <a:t>- Fuentes de contenido: TEX 6.6, puntos 2–3; REF stenfeltGoode2005.</a:t>
            </a:r>
          </a:p>
          <a:p>
            <a:r>
              <a:t>- Asset propio aprobado: U06-DG-027.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Mantener el lenguaje probabilístico/condicional de la fuente. Desarrollar la idea con esta conclusión: Deformación y transmisión por cavidades pueden contribuir al resultado coclear.</a:t>
            </a:r>
          </a:p>
          <a:p>
            <a:r>
              <a:t>**Guía del diagrama:** Nombrar la idea central fuera del diagrama; recorrer nodos y conectores en el orden propuesto; terminar con la relación funcional, sin repetir todo el texto de las cajas.</a:t>
            </a:r>
          </a:p>
          <a:p>
            <a:r>
              <a:t>**Transición:** Aplicar el mapa a un transductor.</a:t>
            </a:r>
          </a:p>
          <a:p>
            <a:endParaRPr/>
          </a:p>
          <a:p>
            <a:r>
              <a:t>[Alt text]</a:t>
            </a:r>
          </a:p>
          <a:p>
            <a:r>
              <a:t>Diagrama sobre «La cápsula y los tejidos aportan otras diferencias de presión»; organiza dos mecanismos restantes y advertencia de dependencia contextual.</a:t>
            </a:r>
          </a:p>
          <a:p>
            <a:endParaRPr/>
          </a:p>
          <a:p>
            <a:r>
              <a:t>[Sources]</a:t>
            </a:r>
          </a:p>
          <a:p>
            <a:r>
              <a:t>- Fuentes de contenido: TEX 6.6, puntos 4–5; REF stenfeltGoode2005.</a:t>
            </a:r>
          </a:p>
          <a:p>
            <a:r>
              <a:t>- Asset propio aprobado: U06-DG-028.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Diferenciar demostración física, calibración y evaluación clínica. Desarrollar la idea con esta conclusión: Acoplamiento, ubicación y frecuencia cambian las contribuciones.</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Acoplamiento, ubicación y frecuencia cambian las contribuciones.</a:t>
            </a:r>
          </a:p>
          <a:p>
            <a:r>
              <a:t>**Transición:** Volver a la convergencia coclear.</a:t>
            </a:r>
          </a:p>
          <a:p>
            <a:endParaRPr/>
          </a:p>
          <a:p>
            <a:r>
              <a:t>[Alt text]</a:t>
            </a:r>
          </a:p>
          <a:p>
            <a:r>
              <a:t>Diagrama sobre «Un vibrador óseo activa más de un mecanismo»; organiza transductor, punto de apoyo y rutas físicas posibles..</a:t>
            </a:r>
          </a:p>
          <a:p>
            <a:endParaRPr/>
          </a:p>
          <a:p>
            <a:r>
              <a:t>[Sources]</a:t>
            </a:r>
          </a:p>
          <a:p>
            <a:r>
              <a:t>- Fuentes de contenido: TEX 6.6 y aplicación A3; CM U6→U8; OD-U06-17/19.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la comparación con mecanismos ya conocidos, no la lista completa. Desarrollar la idea con esta conclusión: “Vía ósea” nombra el estímulo, no una sola ruta interna.</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“Vía ósea” nombra el estímulo, no una sola ruta interna.</a:t>
            </a:r>
          </a:p>
          <a:p>
            <a:r>
              <a:t>**Transición:** La cóclea común abre B05.</a:t>
            </a:r>
          </a:p>
          <a:p>
            <a:endParaRPr/>
          </a:p>
          <a:p>
            <a:r>
              <a:t>[Alt text]</a:t>
            </a:r>
          </a:p>
          <a:p>
            <a:r>
              <a:t>Diagrama sobre «Hasta acá: varias entradas, una partición coclear»; organiza tres ideas + respuesta corregida a u06-042.</a:t>
            </a:r>
          </a:p>
          <a:p>
            <a:endParaRPr/>
          </a:p>
          <a:p>
            <a:r>
              <a:t>[Sources]</a:t>
            </a:r>
          </a:p>
          <a:p>
            <a:r>
              <a:t>- Fuentes de contenido: TEX 6.6; PDF pp. 158–159; BR.</a:t>
            </a:r>
          </a:p>
          <a:p>
            <a:r>
              <a:t>- Asset propio aprobado: U06-DG-024.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Advertir que ningún dibujo estará a escala. Desarrollar la idea con esta conclusión: Una vista longitudinal explica el recorrido; un corte transversal explica compartimentos y membranas.</a:t>
            </a:r>
          </a:p>
          <a:p>
            <a:r>
              <a:t>**Transición:** Comenzar por las ventanas y el recorrido longitudinal.</a:t>
            </a:r>
          </a:p>
          <a:p>
            <a:endParaRPr/>
          </a:p>
          <a:p>
            <a:r>
              <a:t>[Alt text]</a:t>
            </a:r>
          </a:p>
          <a:p>
            <a:r>
              <a:t>Composición visual sobre la cóclea necesita dos vistas para entenderse; destaca que una vista longitudinal explica el recorrido; un corte transversal explica compartimentos y membranas.</a:t>
            </a:r>
          </a:p>
          <a:p>
            <a:endParaRPr/>
          </a:p>
          <a:p>
            <a:r>
              <a:t>[Sources]</a:t>
            </a:r>
          </a:p>
          <a:p>
            <a:r>
              <a:t>- Fuentes de contenido: PO; TEX 6.7.1; PDF pp. 159–160.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Corregir la imagen de “líquido que circula” de oval a redonda. Desarrollar la idea con esta conclusión: El estribo impulsa en la oval; la redonda permite desplazamiento complementario de fluidos.</a:t>
            </a:r>
          </a:p>
          <a:p>
            <a:r>
              <a:t>**Guía del diagrama:** Nombrar la entrada; seguir una flecha por vez; identificar qué magnitud o dominio cambia; detenerse en la salida y en el límite inferencial.</a:t>
            </a:r>
          </a:p>
          <a:p>
            <a:r>
              <a:t>**Pregunta al curso:** ¿Qué función mecánica cumple la ventana redonda?</a:t>
            </a:r>
          </a:p>
          <a:p>
            <a:r>
              <a:t>**Respuesta esperada:** Aporta una frontera móvil complementaria para permitir desplazamientos oscilatorios del fluido.</a:t>
            </a:r>
          </a:p>
          <a:p>
            <a:r>
              <a:t>**Error frecuente:** Imaginar circulación neta permanente desde la ventana oval a la redonda.</a:t>
            </a:r>
          </a:p>
          <a:p>
            <a:r>
              <a:t>**Transición:** Ubicar el recorrido completo en vista longitudinal.</a:t>
            </a:r>
          </a:p>
          <a:p>
            <a:endParaRPr/>
          </a:p>
          <a:p>
            <a:r>
              <a:t>[Alt text]</a:t>
            </a:r>
          </a:p>
          <a:p>
            <a:r>
              <a:t>Diagrama sobre «Ventana oval y ventana redonda permiten movimiento complementario»; organiza estribo → presión en fluido → partición → ventana redonda.</a:t>
            </a:r>
          </a:p>
          <a:p>
            <a:endParaRPr/>
          </a:p>
          <a:p>
            <a:r>
              <a:t>[Sources]</a:t>
            </a:r>
          </a:p>
          <a:p>
            <a:r>
              <a:t>- Fuentes de contenido: TEX 6.7.1; PDF pp. 159–160; ejercicio C6.</a:t>
            </a:r>
          </a:p>
          <a:p>
            <a:r>
              <a:t>- Asset propio aprobado: U06-DG-030.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Hacer trazar el recorrido con el dedo; aclarar oscilación, no flujo continuo. Desarrollar la idea con esta conclusión: Rampa vestibular y timpánica se comunican apicalmente mediante helicotrema.</a:t>
            </a:r>
          </a:p>
          <a:p>
            <a:r>
              <a:t>**Guía del diagrama:** Nombrar la idea central fuera del diagrama; recorrer nodos y conectores en el orden propuesto; terminar con la relación funcional, sin repetir todo el texto de las cajas.</a:t>
            </a:r>
          </a:p>
          <a:p>
            <a:r>
              <a:t>**Transición:** Cambiar de vista y anunciar qué información nueva aparece.</a:t>
            </a:r>
          </a:p>
          <a:p>
            <a:endParaRPr/>
          </a:p>
          <a:p>
            <a:r>
              <a:t>[Alt text]</a:t>
            </a:r>
          </a:p>
          <a:p>
            <a:r>
              <a:t>Diagrama sobre «La vista longitudinal conecta base, ápex y helicotrema»; organiza ventanas, base, ápex, dos rampas y helicotrema.</a:t>
            </a:r>
          </a:p>
          <a:p>
            <a:endParaRPr/>
          </a:p>
          <a:p>
            <a:r>
              <a:t>[Sources]</a:t>
            </a:r>
          </a:p>
          <a:p>
            <a:r>
              <a:t>- Fuentes de contenido: TEX 6.7.1; PDF p. 160, fig. 6.5a.</a:t>
            </a:r>
          </a:p>
          <a:p>
            <a:r>
              <a:t>- Asset propio aprobado: U06-DG-031.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Presentar doble nomenclatura solo en primera aparición; validar OD-U06-06. Desarrollar la idea con esta conclusión: Rampa vestibular, conducto coclear/rampa media y rampa timpánica ocupan posiciones distintas.</a:t>
            </a:r>
          </a:p>
          <a:p>
            <a:r>
              <a:t>**Guía del diagrama:** Nombrar la idea central fuera del diagrama; recorrer nodos y conectores en el orden propuesto; terminar con la relación funcional, sin repetir todo el texto de las cajas.</a:t>
            </a:r>
          </a:p>
          <a:p>
            <a:r>
              <a:t>**Transición:** Preguntar qué fluido ocupa cada compartimento.</a:t>
            </a:r>
          </a:p>
          <a:p>
            <a:endParaRPr/>
          </a:p>
          <a:p>
            <a:r>
              <a:t>[Alt text]</a:t>
            </a:r>
          </a:p>
          <a:p>
            <a:r>
              <a:t>Diagrama sobre «El corte transversal muestra tres compartimentos»; organiza tres compartimentos con orientación superior/media/inferior.</a:t>
            </a:r>
          </a:p>
          <a:p>
            <a:endParaRPr/>
          </a:p>
          <a:p>
            <a:r>
              <a:t>[Sources]</a:t>
            </a:r>
          </a:p>
          <a:p>
            <a:r>
              <a:t>- Fuentes de contenido: PO; TEX 6.7.1; PDF p. 160; OD-U06-06.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Reservar gradiente eléctrico para B08; no anticipar todo. Desarrollar la idea con esta conclusión: Perilinfa: rampas vestibular/timpánica; endolinfa: rampa media.</a:t>
            </a:r>
          </a:p>
          <a:p>
            <a:r>
              <a:t>**Guía del diagrama:** Leer ambas columnas con el mismo criterio; comparar una fila por vez; usar el puente central solo después de describir las diferencias.</a:t>
            </a:r>
          </a:p>
          <a:p>
            <a:r>
              <a:t>**Pregunta al curso:** ¿Dónde se encuentra la endolinfa?</a:t>
            </a:r>
          </a:p>
          <a:p>
            <a:r>
              <a:t>**Respuesta esperada:** En el conducto coclear o rampa media.</a:t>
            </a:r>
          </a:p>
          <a:p>
            <a:r>
              <a:t>**Transición:** Añadir ahora las membranas que delimitan.</a:t>
            </a:r>
          </a:p>
          <a:p>
            <a:endParaRPr/>
          </a:p>
          <a:p>
            <a:r>
              <a:t>[Alt text]</a:t>
            </a:r>
          </a:p>
          <a:p>
            <a:r>
              <a:t>Diagrama sobre «Perilinfa y endolinfa no ocupan los mismos espacios»; organiza comparación por ubicación y función en esta unidad; sin composición iónica detallada.</a:t>
            </a:r>
          </a:p>
          <a:p>
            <a:endParaRPr/>
          </a:p>
          <a:p>
            <a:r>
              <a:t>[Sources]</a:t>
            </a:r>
          </a:p>
          <a:p>
            <a:r>
              <a:t>- Fuentes de contenido: TEX 6.7.1 y 6.8.3; PDF pp. 159–160, 163; GLO.</a:t>
            </a:r>
          </a:p>
          <a:p>
            <a:r>
              <a:t>- Asset propio aprobado: U06-DG-033.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Validar nombres; no decir que las membranas son paredes rígidas. Desarrollar la idea con esta conclusión: Las membranas separan compartimentos y sostienen la micromecánica.</a:t>
            </a:r>
          </a:p>
          <a:p>
            <a:r>
              <a:t>**Guía del diagrama:** Nombrar la idea central fuera del diagrama; recorrer nodos y conectores en el orden propuesto; terminar con la relación funcional, sin repetir todo el texto de las cajas.</a:t>
            </a:r>
          </a:p>
          <a:p>
            <a:r>
              <a:t>**Transición:** Incorporar membrana tectorial y órgano de Corti.</a:t>
            </a:r>
          </a:p>
          <a:p>
            <a:endParaRPr/>
          </a:p>
          <a:p>
            <a:r>
              <a:t>[Alt text]</a:t>
            </a:r>
          </a:p>
          <a:p>
            <a:r>
              <a:t>Diagrama sobre «Reissner y basilar delimitan la rampa media»; organiza reissner arriba; basilar abajo; órgano de corti apoyado en basilar.</a:t>
            </a:r>
          </a:p>
          <a:p>
            <a:endParaRPr/>
          </a:p>
          <a:p>
            <a:r>
              <a:t>[Sources]</a:t>
            </a:r>
          </a:p>
          <a:p>
            <a:r>
              <a:t>- Fuentes de contenido: PO; TEX 6.7.1; PDF p. 160.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afirmar contacto idéntico para CCI y CCE; mantener esquema funcional. Desarrollar la idea con esta conclusión: El estímulo celular depende de movimiento relativo dentro de la partición.</a:t>
            </a:r>
          </a:p>
          <a:p>
            <a:r>
              <a:t>**Guía del diagrama:** Nombrar la idea central fuera del diagrama; recorrer nodos y conectores en el orden propuesto; terminar con la relación funcional, sin repetir todo el texto de las cajas.</a:t>
            </a:r>
          </a:p>
          <a:p>
            <a:r>
              <a:t>**Transición:** Nombrar el órgano antes de añadir su túnel.</a:t>
            </a:r>
          </a:p>
          <a:p>
            <a:endParaRPr/>
          </a:p>
          <a:p>
            <a:r>
              <a:t>[Alt text]</a:t>
            </a:r>
          </a:p>
          <a:p>
            <a:r>
              <a:t>Diagrama sobre «La membrana tectorial se relaciona con los haces de estereocilios»; organiza basilar, órgano de corti, tectorial y estereocilios; relación espacial básica.</a:t>
            </a:r>
          </a:p>
          <a:p>
            <a:endParaRPr/>
          </a:p>
          <a:p>
            <a:r>
              <a:t>[Sources]</a:t>
            </a:r>
          </a:p>
          <a:p>
            <a:r>
              <a:t>- Fuentes de contenido: TEX 6.7.1 y 6.8.1; PDF pp. 160–161; REF fettiplace2017.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Mantener la definición en nivel de primer año; no introducir todas las células de soporte. Desarrollar la idea con esta conclusión: No es una célula ni una membrana: es una organización sobre la basilar.</a:t>
            </a:r>
          </a:p>
          <a:p>
            <a:r>
              <a:t>**Guía del diagrama:** Nombrar la idea central fuera del diagrama; recorrer nodos y conectores en el orden propuesto; terminar con la relación funcional, sin repetir todo el texto de las cajas.</a:t>
            </a:r>
          </a:p>
          <a:p>
            <a:r>
              <a:t>**Transición:** Señalar el punto obligatorio que falta en el capítulo.</a:t>
            </a:r>
          </a:p>
          <a:p>
            <a:endParaRPr/>
          </a:p>
          <a:p>
            <a:r>
              <a:t>[Alt text]</a:t>
            </a:r>
          </a:p>
          <a:p>
            <a:r>
              <a:t>Diagrama sobre «El órgano de Corti integra soporte y células sensoriales»; organiza definición, ubicación y componentes que se desarrollarán en b07.</a:t>
            </a:r>
          </a:p>
          <a:p>
            <a:endParaRPr/>
          </a:p>
          <a:p>
            <a:r>
              <a:t>[Sources]</a:t>
            </a:r>
          </a:p>
          <a:p>
            <a:r>
              <a:t>- Fuentes de contenido: PO; TEX 6.8.1; PDF p. 161; REF fettiplace2017.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**Pausa por fuente:** Explicar por qué la slide está bloqueada en producción; no completar con memoria. No completar la explicación sustantiva ni proyectar como slide final hasta resolver la fuente indicada. Puede mencionarse al docente como vacío trazado, no al estudiantado como conocimiento cerrado.</a:t>
            </a:r>
          </a:p>
          <a:p>
            <a:r>
              <a:t>**Guía del diagrama:** Nombrar la idea central fuera del diagrama; recorrer nodos y conectores en el orden propuesto; terminar con la relación funcional, sin repetir todo el texto de las cajas.</a:t>
            </a:r>
          </a:p>
          <a:p>
            <a:r>
              <a:t>**Error frecuente:** Completar anatomía desde memoria mientras la fuente está bloqueada.</a:t>
            </a:r>
          </a:p>
          <a:p>
            <a:r>
              <a:t>**Transición:** Volver al sistema completo mediante una actividad de rotulado.</a:t>
            </a:r>
          </a:p>
          <a:p>
            <a:endParaRPr/>
          </a:p>
          <a:p>
            <a:r>
              <a:t>[Alt text]</a:t>
            </a:r>
          </a:p>
          <a:p>
            <a:r>
              <a:t>Placeholder de túnel de corti: ubicación y delimitación anatómica; el recurso definitivo está bloqueado por falta de fuente.</a:t>
            </a:r>
          </a:p>
          <a:p>
            <a:endParaRPr/>
          </a:p>
          <a:p>
            <a:r>
              <a:t>[Sources]</a:t>
            </a:r>
          </a:p>
          <a:p>
            <a:r>
              <a:t>- Fuentes de contenido: PO; SA vacío 6; OD-U06-04; EXT-PEND.</a:t>
            </a:r>
          </a:p>
          <a:p>
            <a:r>
              <a:t>- Slide de respaldo bloqueada: no proyectar hasta incorporar fuente autorizada.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Diagnosticar rotación mental y vocabulario; dar pista base–ápex. Desarrollar la idea con esta conclusión: Cada vista responde una pregunta distinta y ambas son necesarias.</a:t>
            </a:r>
          </a:p>
          <a:p>
            <a:r>
              <a:t>**Guía del diagrama:** Presentar primero el diagrama sin solución; dar tiempo de observación; pedir una justificación; recién después revelar conexiones o rótulos.</a:t>
            </a:r>
          </a:p>
          <a:p>
            <a:r>
              <a:t>**Pregunta al curso:** ¿Qué cambia entre la vista longitudinal y el corte?</a:t>
            </a:r>
          </a:p>
          <a:p>
            <a:r>
              <a:t>**Respuesta esperada:** Base–ápex, helicotrema y ventanas se reconocen principalmente en la vista longitudinal; rampas y membrana de Reissner, en el corte. La orientación general debe coordinarse entre ambas.</a:t>
            </a:r>
          </a:p>
          <a:p>
            <a:r>
              <a:t>**Transición:** Resolver con el mapa de compartimentos.</a:t>
            </a:r>
          </a:p>
          <a:p>
            <a:endParaRPr/>
          </a:p>
          <a:p>
            <a:r>
              <a:t>[Alt text]</a:t>
            </a:r>
          </a:p>
          <a:p>
            <a:r>
              <a:t>Diagrama sobre «¿Qué cambia entre la vista longitudinal y el corte?»; organiza emparejar estructuras visibles en una vista, en ambas o solo en el corte.</a:t>
            </a:r>
          </a:p>
          <a:p>
            <a:endParaRPr/>
          </a:p>
          <a:p>
            <a:r>
              <a:t>[Sources]</a:t>
            </a:r>
          </a:p>
          <a:p>
            <a:r>
              <a:t>- Fuentes de contenido: TEX ejercicio I3; PDF pp. 167, 171.</a:t>
            </a:r>
          </a:p>
          <a:p>
            <a:r>
              <a:t>- Asset propio aprobado: U06-DG-031.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Mantener el caso funcional, no diagnóstico; preparar pruebas cruzadas. Desarrollar la idea con esta conclusión: Una estructura aislada no explica por sí sola la respuesta registrada.</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Una estructura aislada no explica por sí sola la respuesta registrada.</a:t>
            </a:r>
          </a:p>
          <a:p>
            <a:r>
              <a:t>**Transición:** Cerrar con un mapa anatómico funcional.</a:t>
            </a:r>
          </a:p>
          <a:p>
            <a:endParaRPr/>
          </a:p>
          <a:p>
            <a:r>
              <a:t>[Alt text]</a:t>
            </a:r>
          </a:p>
          <a:p>
            <a:r>
              <a:t>Diagrama sobre «Una frontera móvil altera toda la cadena hidromecánica»; organiza caso conceptual: movilidad de ventana/partición y consecuencias posibles.</a:t>
            </a:r>
          </a:p>
          <a:p>
            <a:endParaRPr/>
          </a:p>
          <a:p>
            <a:r>
              <a:t>[Sources]</a:t>
            </a:r>
          </a:p>
          <a:p>
            <a:r>
              <a:t>- Fuentes de contenido: TEX 6.10; PDF pp. 164–165; CM U6→U8.</a:t>
            </a:r>
          </a:p>
          <a:p>
            <a:r>
              <a:t>- Asset propio aprobado: U06-DG-030.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estructuras en una nueva tarea espacial, no como glosario. Desarrollar la idea con esta conclusión: La cóclea combina fronteras móviles y estructuras distribuidas.</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La cóclea combina fronteras móviles y estructuras distribuidas.</a:t>
            </a:r>
          </a:p>
          <a:p>
            <a:r>
              <a:t>**Transición:** La pregunta sobre movimiento abre B06.</a:t>
            </a:r>
          </a:p>
          <a:p>
            <a:endParaRPr/>
          </a:p>
          <a:p>
            <a:r>
              <a:t>[Alt text]</a:t>
            </a:r>
          </a:p>
          <a:p>
            <a:r>
              <a:t>Diagrama sobre «Hasta acá: ventanas, compartimentos, fluidos y membranas»; organiza recorrido longitudinal + corte reducido + pregunta “¿dónde se moverá más cada frecuencia?”.</a:t>
            </a:r>
          </a:p>
          <a:p>
            <a:endParaRPr/>
          </a:p>
          <a:p>
            <a:r>
              <a:t>[Sources]</a:t>
            </a:r>
          </a:p>
          <a:p>
            <a:r>
              <a:t>- Fuentes de contenido: TEX 6.7.1; PDF pp. 159–160; BR.</a:t>
            </a:r>
          </a:p>
          <a:p>
            <a:r>
              <a:t>- Asset propio aprobado: U06-DG-037.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onda viajera de U3 y respuesta en frecuencia de U5. Desarrollar la idea con esta conclusión: Una estimulación tonal genera una onda con máximo dependiente de condiciones.</a:t>
            </a:r>
          </a:p>
          <a:p>
            <a:r>
              <a:t>**Transición:** Aclarar primero qué se mueve y qué no viaja netamente.</a:t>
            </a:r>
          </a:p>
          <a:p>
            <a:endParaRPr/>
          </a:p>
          <a:p>
            <a:r>
              <a:t>[Alt text]</a:t>
            </a:r>
          </a:p>
          <a:p>
            <a:r>
              <a:t>Composición visual sobre la respuesta coclear se distribuye a lo largo de la partición; destaca que una estimulación tonal genera una onda con máximo dependiente de condiciones.</a:t>
            </a:r>
          </a:p>
          <a:p>
            <a:endParaRPr/>
          </a:p>
          <a:p>
            <a:r>
              <a:t>[Sources]</a:t>
            </a:r>
          </a:p>
          <a:p>
            <a:r>
              <a:t>- Fuentes de contenido: PO; TEX 6.7.2–6.7.3; PDF pp. 160–162.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Relacionar con U3; señalar qué observar cuadro a cuadro. Desarrollar la idea con esta conclusión: Las partículas se desplazan alrededor de equilibrio mientras el patrón progresa.</a:t>
            </a:r>
          </a:p>
          <a:p>
            <a:r>
              <a:t>**Guía del diagrama:** Nombrar la idea central fuera del diagrama; recorrer nodos y conectores en el orden propuesto; terminar con la relación funcional, sin repetir todo el texto de las cajas.</a:t>
            </a:r>
          </a:p>
          <a:p>
            <a:r>
              <a:t>**Multimedia/demostración:** Reproducir el recurso solo si está aprobado. Antes de iniciar, indicar qué observar; después, congelar o mostrar la alternativa estática y pedir que describan el cambio.</a:t>
            </a:r>
          </a:p>
          <a:p>
            <a:r>
              <a:t>**Pregunta al curso:** ¿Qué permite afirmar esta slide y qué no permite concluir?</a:t>
            </a:r>
          </a:p>
          <a:p>
            <a:r>
              <a:t>**Respuesta esperada:** Las partículas se desplazan alrededor de equilibrio mientras el patrón progresa.</a:t>
            </a:r>
          </a:p>
          <a:p>
            <a:r>
              <a:t>**Error frecuente:** Confundir oscilación local con transporte neto del fluido.</a:t>
            </a:r>
          </a:p>
          <a:p>
            <a:r>
              <a:t>**Transición:** Seguir el crecimiento de la onda desde la base.</a:t>
            </a:r>
          </a:p>
          <a:p>
            <a:endParaRPr/>
          </a:p>
          <a:p>
            <a:r>
              <a:t>[Alt text]</a:t>
            </a:r>
          </a:p>
          <a:p>
            <a:r>
              <a:t>Diagrama sobre «Los fluidos oscilan; no circulan una vez alrededor de la cóclea»; organiza oscilación local frente a avance de la envolvente.</a:t>
            </a:r>
          </a:p>
          <a:p>
            <a:endParaRPr/>
          </a:p>
          <a:p>
            <a:r>
              <a:t>[Sources]</a:t>
            </a:r>
          </a:p>
          <a:p>
            <a:r>
              <a:t>- Fuentes de contenido: TEX 6.7.1–6.7.2; PDF pp. 160–161; GLO onda.</a:t>
            </a:r>
          </a:p>
          <a:p>
            <a:r>
              <a:t>- Asset propio aprobado: U06-DG-038.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hablar de “celdas de frecuencia”; introducir extensión espacial. Desarrollar la idea con esta conclusión: El máximo no aparece instantáneamente en un punto aislado.</a:t>
            </a:r>
          </a:p>
          <a:p>
            <a:r>
              <a:t>**Guía del diagrama:** Nombrar la entrada; seguir una flecha por vez; identificar qué magnitud o dominio cambia; detenerse en la salida y en el límite inferencial.</a:t>
            </a:r>
          </a:p>
          <a:p>
            <a:r>
              <a:t>**Transición:** Cambiar una variable: la frecuencia.</a:t>
            </a:r>
          </a:p>
          <a:p>
            <a:endParaRPr/>
          </a:p>
          <a:p>
            <a:r>
              <a:t>[Alt text]</a:t>
            </a:r>
          </a:p>
          <a:p>
            <a:r>
              <a:t>Diagrama sobre «La onda crece, alcanza un máximo y decae»; organiza inicio basal → crecimiento → máximo → decaimiento.</a:t>
            </a:r>
          </a:p>
          <a:p>
            <a:endParaRPr/>
          </a:p>
          <a:p>
            <a:r>
              <a:t>[Sources]</a:t>
            </a:r>
          </a:p>
          <a:p>
            <a:r>
              <a:t>- Fuentes de contenido: TEX 6.7.2; PDF pp. 160–161; REF fettiplace2017.</a:t>
            </a:r>
          </a:p>
          <a:p>
            <a:r>
              <a:t>- Asset propio aprobado: U06-DG-039.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Enseñar a leer ejes y aclarar que no son datos anatómicos. Desarrollar la idea con esta conclusión: Altas: base; bajas: ápex; las curvas tienen ancho y solapamiento.</a:t>
            </a:r>
          </a:p>
          <a:p>
            <a:r>
              <a:t>**Guía del gráfico:** leer primero ejes, unidades/normalización y escala; después localizar máximos, comparar condiciones y cerrar con lo que la curva no representa.</a:t>
            </a:r>
          </a:p>
          <a:p>
            <a:r>
              <a:t>**Pregunta al curso:** ¿Qué curva alcanza su máximo más cerca de la base?</a:t>
            </a:r>
          </a:p>
          <a:p>
            <a:r>
              <a:t>**Respuesta esperada:** La frecuencia alta; las bajas alcanzan máximos más apicales.</a:t>
            </a:r>
          </a:p>
          <a:p>
            <a:r>
              <a:t>**Transición:** Nombrar lugar característico y tonotopía.</a:t>
            </a:r>
          </a:p>
          <a:p>
            <a:endParaRPr/>
          </a:p>
          <a:p>
            <a:r>
              <a:t>[Alt text]</a:t>
            </a:r>
          </a:p>
          <a:p>
            <a:r>
              <a:t>Gráfico que muestra altas: base; bajas: ápex; las curvas tienen ancho y solapamiento. Ejes, escala y normalización se describen en el propio recurso.</a:t>
            </a:r>
          </a:p>
          <a:p>
            <a:endParaRPr/>
          </a:p>
          <a:p>
            <a:r>
              <a:t>[Sources]</a:t>
            </a:r>
          </a:p>
          <a:p>
            <a:r>
              <a:t>- Fuentes de contenido: TEX 6.7.2 y fig. 6.6a; PDF pp. 160–162; REF fettiplace2017, capraraPeng2022.</a:t>
            </a:r>
          </a:p>
          <a:p>
            <a:r>
              <a:t>- Asset propio aprobado: U06-CH-001.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Contrastar región, mapa y atributo perceptual. Desarrollar la idea con esta conclusión: Lugar característico es una región; tonotopía es la organización ordenada de muchas frecuencias.</a:t>
            </a:r>
          </a:p>
          <a:p>
            <a:r>
              <a:t>**Guía del diagrama:** Nombrar la idea central fuera del diagrama; recorrer nodos y conectores en el orden propuesto; terminar con la relación funcional, sin repetir todo el texto de las cajas.</a:t>
            </a:r>
          </a:p>
          <a:p>
            <a:r>
              <a:t>**Error frecuente:** Convertir el lugar característico en una celda de ancho fijo.</a:t>
            </a:r>
          </a:p>
          <a:p>
            <a:r>
              <a:t>**Transición:** Comprobar orientación.</a:t>
            </a:r>
          </a:p>
          <a:p>
            <a:endParaRPr/>
          </a:p>
          <a:p>
            <a:r>
              <a:t>[Alt text]</a:t>
            </a:r>
          </a:p>
          <a:p>
            <a:r>
              <a:t>Diagrama sobre «Lugar característico y tonotopía describen relaciones distintas»; organiza dos definiciones y ejemplo base/ápex.</a:t>
            </a:r>
          </a:p>
          <a:p>
            <a:endParaRPr/>
          </a:p>
          <a:p>
            <a:r>
              <a:t>[Sources]</a:t>
            </a:r>
          </a:p>
          <a:p>
            <a:r>
              <a:t>- Fuentes de contenido: TEX 6.7.2; PDF p. 160; GLO.</a:t>
            </a:r>
          </a:p>
          <a:p>
            <a:r>
              <a:t>- Asset propio aprobado: U06-DG-040.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Pedir “más basal/más apical”, no una distancia inventada. Desarrollar la idea con esta conclusión: La respuesta debe justificarse desde el mapa tonotópico.</a:t>
            </a:r>
          </a:p>
          <a:p>
            <a:r>
              <a:t>**Guía del gráfico:** leer primero ejes, unidades/normalización y escala; después localizar máximos, comparar condiciones y cerrar con lo que la curva no representa.</a:t>
            </a:r>
          </a:p>
          <a:p>
            <a:r>
              <a:t>**Pregunta al curso:** ¿Dónde esperás el máximo de un tono más agudo?</a:t>
            </a:r>
          </a:p>
          <a:p>
            <a:r>
              <a:t>**Respuesta esperada:** En una región relativamente más basal; el storyboard no autoriza asignar una distancia exacta.</a:t>
            </a:r>
          </a:p>
          <a:p>
            <a:r>
              <a:t>**Transición:** Hacer visible el error del punto fijo.</a:t>
            </a:r>
          </a:p>
          <a:p>
            <a:endParaRPr/>
          </a:p>
          <a:p>
            <a:r>
              <a:t>[Alt text]</a:t>
            </a:r>
          </a:p>
          <a:p>
            <a:r>
              <a:t>Gráfico que muestra la respuesta debe justificarse desde el mapa tonotópico. Ejes, escala y normalización se describen en el propio recurso.</a:t>
            </a:r>
          </a:p>
          <a:p>
            <a:endParaRPr/>
          </a:p>
          <a:p>
            <a:r>
              <a:t>[Sources]</a:t>
            </a:r>
          </a:p>
          <a:p>
            <a:r>
              <a:t>- Fuentes de contenido: TEX ejercicio I4/D3; PDF pp. 167, 170.</a:t>
            </a:r>
          </a:p>
          <a:p>
            <a:r>
              <a:t>- Asset propio aprobado: U06-CH-001.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Conectar con U5: la cóclea no ejecuta un algoritmo FFT. Desarrollar la idea con esta conclusión: La excitación posee extensión, solapamiento y dependencia del nivel.</a:t>
            </a:r>
          </a:p>
          <a:p>
            <a:r>
              <a:t>**Guía del gráfico:** leer primero ejes, unidades/normalización y escala; después localizar máximos, comparar condiciones y cerrar con lo que la curva no representa.</a:t>
            </a:r>
          </a:p>
          <a:p>
            <a:r>
              <a:t>**Pregunta al curso:** ¿Qué permite afirmar esta slide y qué no permite concluir?</a:t>
            </a:r>
          </a:p>
          <a:p>
            <a:r>
              <a:t>**Respuesta esperada:** La excitación posee extensión, solapamiento y dependencia del nivel.</a:t>
            </a:r>
          </a:p>
          <a:p>
            <a:r>
              <a:t>**Error frecuente:** Afirmar que la cóclea ejecuta literalmente una FFT.</a:t>
            </a:r>
          </a:p>
          <a:p>
            <a:r>
              <a:t>**Transición:** Mantener frecuencia y cambiar nivel.</a:t>
            </a:r>
          </a:p>
          <a:p>
            <a:endParaRPr/>
          </a:p>
          <a:p>
            <a:r>
              <a:t>[Alt text]</a:t>
            </a:r>
          </a:p>
          <a:p>
            <a:r>
              <a:t>Gráfico que muestra la excitación posee extensión, solapamiento y dependencia del nivel. Ejes, escala y normalización se describen en el propio recurso.</a:t>
            </a:r>
          </a:p>
          <a:p>
            <a:endParaRPr/>
          </a:p>
          <a:p>
            <a:r>
              <a:t>[Sources]</a:t>
            </a:r>
          </a:p>
          <a:p>
            <a:r>
              <a:t>- Fuentes de contenido: TEX 6.7.2 y errores 6.11; PDF pp. 160, 165.</a:t>
            </a:r>
          </a:p>
          <a:p>
            <a:r>
              <a:t>- Asset propio aprobado: U06-CH-001.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Declarar gráfico conceptual y no convertir altura de curva en unidad absoluta. Desarrollar la idea con esta conclusión: La contribución de CCE aumenta sensibilidad y agudiza el máximo.</a:t>
            </a:r>
          </a:p>
          <a:p>
            <a:r>
              <a:t>**Guía del gráfico:** leer primero ejes, unidades/normalización y escala; después localizar máximos, comparar condiciones y cerrar con lo que la curva no representa.</a:t>
            </a:r>
          </a:p>
          <a:p>
            <a:r>
              <a:t>**Transición:** Comparar con una señal intensa en slide siguiente.</a:t>
            </a:r>
          </a:p>
          <a:p>
            <a:endParaRPr/>
          </a:p>
          <a:p>
            <a:r>
              <a:t>[Alt text]</a:t>
            </a:r>
          </a:p>
          <a:p>
            <a:r>
              <a:t>Gráfico que muestra la contribución de cce aumenta sensibilidad y agudiza el máximo. Ejes, escala y normalización se describen en el propio recurso.</a:t>
            </a:r>
          </a:p>
          <a:p>
            <a:endParaRPr/>
          </a:p>
          <a:p>
            <a:r>
              <a:t>[Sources]</a:t>
            </a:r>
          </a:p>
          <a:p>
            <a:r>
              <a:t>- Fuentes de contenido: TEX 6.7.3; PDF pp. 161–162; REF fettiplace2017, capraraPeng2022.</a:t>
            </a:r>
          </a:p>
          <a:p>
            <a:r>
              <a:t>- Asset propio aprobado: U06-CH-002A.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Aclarar qué se mantiene: frecuencia y condiciones; qué cambia: nivel. Desarrollar la idea con esta conclusión: La respuesta crece de forma compresiva y se ensancha.</a:t>
            </a:r>
          </a:p>
          <a:p>
            <a:r>
              <a:t>**Guía del gráfico:** leer primero ejes, unidades/normalización y escala; después localizar máximos, comparar condiciones y cerrar con lo que la curva no representa.</a:t>
            </a:r>
          </a:p>
          <a:p>
            <a:r>
              <a:t>**Transición:** Preguntar por qué no hay ganancia constante.</a:t>
            </a:r>
          </a:p>
          <a:p>
            <a:endParaRPr/>
          </a:p>
          <a:p>
            <a:r>
              <a:t>[Alt text]</a:t>
            </a:r>
          </a:p>
          <a:p>
            <a:r>
              <a:t>Gráfico que muestra la respuesta crece de forma compresiva y se ensancha. Ejes, escala y normalización se describen en el propio recurso.</a:t>
            </a:r>
          </a:p>
          <a:p>
            <a:endParaRPr/>
          </a:p>
          <a:p>
            <a:r>
              <a:t>[Sources]</a:t>
            </a:r>
          </a:p>
          <a:p>
            <a:r>
              <a:t>- Fuentes de contenido: TEX 6.7.3; PDF pp. 161–162.</a:t>
            </a:r>
          </a:p>
          <a:p>
            <a:r>
              <a:t>- Asset propio aprobado: U06-CH-002B.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anticipar prestina en detalle; reservarla para B07. Desarrollar la idea con esta conclusión: “Amplificador coclear” nombra un proceso dependiente de frecuencia y nivel.</a:t>
            </a:r>
          </a:p>
          <a:p>
            <a:r>
              <a:t>**Guía del diagrama:** Nombrar la idea central fuera del diagrama; recorrer nodos y conectores en el orden propuesto; terminar con la relación funcional, sin repetir todo el texto de las cajas.</a:t>
            </a:r>
          </a:p>
          <a:p>
            <a:r>
              <a:t>**Pregunta al curso:** ¿Por qué una recta de ganancia constante no describe esta respuesta?</a:t>
            </a:r>
          </a:p>
          <a:p>
            <a:r>
              <a:t>**Respuesta esperada:** “Amplificador coclear” nombra un proceso dependiente de frecuencia y nivel.</a:t>
            </a:r>
          </a:p>
          <a:p>
            <a:r>
              <a:t>**Error frecuente:** Representar el proceso activo como ganancia constante.</a:t>
            </a:r>
          </a:p>
          <a:p>
            <a:r>
              <a:t>**Transición:** Consolidar frecuencia y nivel antes de abrir órgano de Corti.</a:t>
            </a:r>
          </a:p>
          <a:p>
            <a:endParaRPr/>
          </a:p>
          <a:p>
            <a:r>
              <a:t>[Alt text]</a:t>
            </a:r>
          </a:p>
          <a:p>
            <a:r>
              <a:t>Diagrama sobre «El proceso activo coclear es compresivo, no una ganancia fija»; organiza entrada física → respuesta pasiva/activa → compresión; sin modelo electrónico literal.</a:t>
            </a:r>
          </a:p>
          <a:p>
            <a:endParaRPr/>
          </a:p>
          <a:p>
            <a:r>
              <a:t>[Sources]</a:t>
            </a:r>
          </a:p>
          <a:p>
            <a:r>
              <a:t>- Fuentes de contenido: TEX 6.7.3; PDF p. 161; REF fettiplace2017; GLO CCE.</a:t>
            </a:r>
          </a:p>
          <a:p>
            <a:r>
              <a:t>- Asset propio aprobado: U06-CH-003.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pares físico/perceptual con nueva evidencia mecánica. Desarrollar la idea con esta conclusión: Tonotopía y compresión son respuestas periféricas; pitch y sonoridad vendrán después.</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Tonotopía y compresión son respuestas periféricas; pitch y sonoridad vendrán después.</a:t>
            </a:r>
          </a:p>
          <a:p>
            <a:r>
              <a:t>**Transición:** Preguntar qué estructura aporta el proceso activo.</a:t>
            </a:r>
          </a:p>
          <a:p>
            <a:endParaRPr/>
          </a:p>
          <a:p>
            <a:r>
              <a:t>[Alt text]</a:t>
            </a:r>
          </a:p>
          <a:p>
            <a:r>
              <a:t>Diagrama sobre «Hasta acá: frecuencia cambia el lugar; nivel cambia la extensión»; organiza tres ideas + pregunta sobre tono de 2 khz a dos niveles.</a:t>
            </a:r>
          </a:p>
          <a:p>
            <a:endParaRPr/>
          </a:p>
          <a:p>
            <a:r>
              <a:t>[Sources]</a:t>
            </a:r>
          </a:p>
          <a:p>
            <a:r>
              <a:t>- Fuentes de contenido: TEX 6.7.2–6.7.3; PDF pp. 160–162; CM U6→U7.</a:t>
            </a:r>
          </a:p>
          <a:p>
            <a:r>
              <a:t>- Asset propio aprobado: U06-CH-001.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Volver del gráfico longitudinal al corte local. Desarrollar la idea con esta conclusión: La membrana basilar no actúa sola; importa la micromecánica de la partición.</a:t>
            </a:r>
          </a:p>
          <a:p>
            <a:r>
              <a:t>**Transición:** Ubicar el órgano y las células.</a:t>
            </a:r>
          </a:p>
          <a:p>
            <a:endParaRPr/>
          </a:p>
          <a:p>
            <a:r>
              <a:t>[Alt text]</a:t>
            </a:r>
          </a:p>
          <a:p>
            <a:r>
              <a:t>Composición visual sobre el estímulo celular nace del movimiento relativo; destaca que la membrana basilar no actúa sola; importa la micromecánica de la partición.</a:t>
            </a:r>
          </a:p>
          <a:p>
            <a:endParaRPr/>
          </a:p>
          <a:p>
            <a:r>
              <a:t>[Sources]</a:t>
            </a:r>
          </a:p>
          <a:p>
            <a:r>
              <a:t>- Fuentes de contenido: PO; TEX 6.8; PDF pp. 161–164.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Validar anatomía y evitar escala falsa; señalar fuente pendiente del túnel. Desarrollar la idea con esta conclusión: La organización espacial permite convertir movimiento en deflexión de haces.</a:t>
            </a:r>
          </a:p>
          <a:p>
            <a:r>
              <a:t>**Guía del diagrama:** Nombrar la idea central fuera del diagrama; recorrer nodos y conectores en el orden propuesto; terminar con la relación funcional, sin repetir todo el texto de las cajas.</a:t>
            </a:r>
          </a:p>
          <a:p>
            <a:r>
              <a:t>**Transición:** Aislar el movimiento relativo.</a:t>
            </a:r>
          </a:p>
          <a:p>
            <a:endParaRPr/>
          </a:p>
          <a:p>
            <a:r>
              <a:t>[Alt text]</a:t>
            </a:r>
          </a:p>
          <a:p>
            <a:r>
              <a:t>Diagrama sobre «El órgano de Corti se apoya sobre la membrana basilar»; organiza corte anatómico funcional con una fila cci y varias cce; túnel solo si fuente aprobada.</a:t>
            </a:r>
          </a:p>
          <a:p>
            <a:endParaRPr/>
          </a:p>
          <a:p>
            <a:r>
              <a:t>[Sources]</a:t>
            </a:r>
          </a:p>
          <a:p>
            <a:r>
              <a:t>- Fuentes de contenido: TEX 6.8.1; PDF p. 161; REF fettiplace2017; OD-U06-04/14.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Indicar qué mirar; aclarar límites del esquema y contacto diferencial CCI/CCE. Desarrollar la idea con esta conclusión: El cizallamiento/relación de movimiento deflecta estereocilios.</a:t>
            </a:r>
          </a:p>
          <a:p>
            <a:r>
              <a:t>**Guía del diagrama:** Nombrar la entrada; seguir una flecha por vez; identificar qué magnitud o dominio cambia; detenerse en la salida y en el límite inferencial.</a:t>
            </a:r>
          </a:p>
          <a:p>
            <a:r>
              <a:t>**Multimedia/demostración:** Reproducir el recurso solo si está aprobado. Antes de iniciar, indicar qué observar; después, congelar o mostrar la alternativa estática y pedir que describan el cambio.</a:t>
            </a:r>
          </a:p>
          <a:p>
            <a:r>
              <a:t>**Transición:** Acercarse a un haz de estereocilios.</a:t>
            </a:r>
          </a:p>
          <a:p>
            <a:endParaRPr/>
          </a:p>
          <a:p>
            <a:r>
              <a:t>[Alt text]</a:t>
            </a:r>
          </a:p>
          <a:p>
            <a:r>
              <a:t>Diagrama sobre «Basilar, tectorial y partición se mueven de manera relativa»; organiza estado 1/estado 2 y dirección de movimiento; sin afirmar desplazamientos universales.</a:t>
            </a:r>
          </a:p>
          <a:p>
            <a:endParaRPr/>
          </a:p>
          <a:p>
            <a:r>
              <a:t>[Sources]</a:t>
            </a:r>
          </a:p>
          <a:p>
            <a:r>
              <a:t>- Fuentes de contenido: TEX 6.8.1; PDF p. 161; REF fettiplace2017, capraraPeng2022.</a:t>
            </a:r>
          </a:p>
          <a:p>
            <a:r>
              <a:t>- Asset propio aprobado: U06-DG-042.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Preparar B08 sin adelantar corriente iónica completa. Desarrollar la idea con esta conclusión: La respuesta no depende solo de “cuánto”, sino también de hacia dónde se deflecta.</a:t>
            </a:r>
          </a:p>
          <a:p>
            <a:r>
              <a:t>**Guía del diagrama:** Nombrar la idea central fuera del diagrama; recorrer nodos y conectores en el orden propuesto; terminar con la relación funcional, sin repetir todo el texto de las cajas.</a:t>
            </a:r>
          </a:p>
          <a:p>
            <a:r>
              <a:t>**Transición:** Comparar los dos tipos celulares que reciben esta entrada.</a:t>
            </a:r>
          </a:p>
          <a:p>
            <a:endParaRPr/>
          </a:p>
          <a:p>
            <a:r>
              <a:t>[Alt text]</a:t>
            </a:r>
          </a:p>
          <a:p>
            <a:r>
              <a:t>Diagrama sobre «La dirección de deflexión cambia la respuesta del haz»; organiza haz en reposo, deflexión excitatoria y opuesta; sin canales todavía.</a:t>
            </a:r>
          </a:p>
          <a:p>
            <a:endParaRPr/>
          </a:p>
          <a:p>
            <a:r>
              <a:t>[Sources]</a:t>
            </a:r>
          </a:p>
          <a:p>
            <a:r>
              <a:t>- Fuentes de contenido: TEX 6.8.3; PDF p. 163; REF capraraPeng2022.</a:t>
            </a:r>
          </a:p>
          <a:p>
            <a:r>
              <a:t>- Asset propio aprobado: U06-DG-043.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afirmar que una transduce y la otra no; ambas lo hacen. Desarrollar la idea con esta conclusión: CCI: aferencia principal; CCE: realimentación mecánica activa.</a:t>
            </a:r>
          </a:p>
          <a:p>
            <a:r>
              <a:t>**Guía del diagrama:** Leer ambas columnas con el mismo criterio; comparar una fila por vez; usar el puente central solo después de describir las diferencias.</a:t>
            </a:r>
          </a:p>
          <a:p>
            <a:r>
              <a:t>**Pregunta al curso:** ¿Cuál es la vía aferente principal y cuál realimenta la mecánica?</a:t>
            </a:r>
          </a:p>
          <a:p>
            <a:r>
              <a:t>**Respuesta esperada:** CCI: aferencia principal. CCE: realimentación mecánica activa.</a:t>
            </a:r>
          </a:p>
          <a:p>
            <a:r>
              <a:t>**Error frecuente:** Afirmar que solo un tipo celular transduce.</a:t>
            </a:r>
          </a:p>
          <a:p>
            <a:r>
              <a:t>**Transición:** Profundizar cada rama por separado.</a:t>
            </a:r>
          </a:p>
          <a:p>
            <a:endParaRPr/>
          </a:p>
          <a:p>
            <a:r>
              <a:t>[Alt text]</a:t>
            </a:r>
          </a:p>
          <a:p>
            <a:r>
              <a:t>Diagrama sobre «CCI y CCE comparten transducción, pero no función global»; organiza comparación por entrada, salida inmediata, conexión y consecuencia.</a:t>
            </a:r>
          </a:p>
          <a:p>
            <a:endParaRPr/>
          </a:p>
          <a:p>
            <a:r>
              <a:t>[Sources]</a:t>
            </a:r>
          </a:p>
          <a:p>
            <a:r>
              <a:t>- Fuentes de contenido: TEX 6.8.2–6.8.3; PDF pp. 161–164; GLO.</a:t>
            </a:r>
          </a:p>
          <a:p>
            <a:r>
              <a:t>- Asset propio aprobado: U06-DG-044.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confundir potencial receptor con potencial de acción; se formaliza en B08. Desarrollar la idea con esta conclusión: La señal neural principal comienza después de una transmisión sináptica.</a:t>
            </a:r>
          </a:p>
          <a:p>
            <a:r>
              <a:t>**Guía del diagrama:** Nombrar la idea central fuera del diagrama; recorrer nodos y conectores en el orden propuesto; terminar con la relación funcional, sin repetir todo el texto de las cajas.</a:t>
            </a:r>
          </a:p>
          <a:p>
            <a:r>
              <a:t>**Transición:** Contrastar con la salida mecánica de CCE.</a:t>
            </a:r>
          </a:p>
          <a:p>
            <a:endParaRPr/>
          </a:p>
          <a:p>
            <a:r>
              <a:t>[Alt text]</a:t>
            </a:r>
          </a:p>
          <a:p>
            <a:r>
              <a:t>Diagrama sobre «Las CCI constituyen la vía aferente principal»; organiza cci → potencial receptor → glutamato → fibra aferente; detalle reducido.</a:t>
            </a:r>
          </a:p>
          <a:p>
            <a:endParaRPr/>
          </a:p>
          <a:p>
            <a:r>
              <a:t>[Sources]</a:t>
            </a:r>
          </a:p>
          <a:p>
            <a:r>
              <a:t>- Fuentes de contenido: TEX 6.8.2; PDF pp. 161–162; REF fettiplace2017.</a:t>
            </a:r>
          </a:p>
          <a:p>
            <a:r>
              <a:t>- Asset propio aprobado: U06-DG-045.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presentar prestina como “motor” aislado ni ganancia constante. Desarrollar la idea con esta conclusión: Cambios de longitud asociados con prestina modifican la partición, especialmente para señales débiles.</a:t>
            </a:r>
          </a:p>
          <a:p>
            <a:r>
              <a:t>**Guía del diagrama:** Nombrar la idea central fuera del diagrama; recorrer nodos y conectores en el orden propuesto; terminar con la relación funcional, sin repetir todo el texto de las cajas.</a:t>
            </a:r>
          </a:p>
          <a:p>
            <a:r>
              <a:t>**Transición:** Volver a las dos ramas en una actividad.</a:t>
            </a:r>
          </a:p>
          <a:p>
            <a:endParaRPr/>
          </a:p>
          <a:p>
            <a:r>
              <a:t>[Alt text]</a:t>
            </a:r>
          </a:p>
          <a:p>
            <a:r>
              <a:t>Diagrama sobre «Las CCE realimentan la mecánica coclear»; organiza cce → cambio de longitud → realimentación → sensibilidad/selectividad/compresión.</a:t>
            </a:r>
          </a:p>
          <a:p>
            <a:endParaRPr/>
          </a:p>
          <a:p>
            <a:r>
              <a:t>[Sources]</a:t>
            </a:r>
          </a:p>
          <a:p>
            <a:r>
              <a:t>- Fuentes de contenido: TEX 6.8.2; PDF p. 162; REF fettiplace2017, capraraPeng2022.</a:t>
            </a:r>
          </a:p>
          <a:p>
            <a:r>
              <a:t>- Asset propio aprobado: U06-DG-046.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Corregir intercambios CCI↔CCE y pedir evidencia causal. Desarrollar la idea con esta conclusión: Aferencia, OEA, selectividad y neurotransmisión no pertenecen a la misma rama.</a:t>
            </a:r>
          </a:p>
          <a:p>
            <a:r>
              <a:t>**Guía del diagrama:** Presentar primero el diagrama sin solución; dar tiempo de observación; pedir una justificación; recién después revelar conexiones o rótulos.</a:t>
            </a:r>
          </a:p>
          <a:p>
            <a:r>
              <a:t>**Pregunta al curso:** ¿Qué rama explica cada consecuencia?</a:t>
            </a:r>
          </a:p>
          <a:p>
            <a:r>
              <a:t>**Respuesta esperada:** Aferencia y glutamato: rama CCI. Realimentación y OEA: rama CCE, con participación de la cadena de salida para registrar la OEA.</a:t>
            </a:r>
          </a:p>
          <a:p>
            <a:r>
              <a:t>**Transición:** Aplicar a otoemisiones con cautela.</a:t>
            </a:r>
          </a:p>
          <a:p>
            <a:endParaRPr/>
          </a:p>
          <a:p>
            <a:r>
              <a:t>[Alt text]</a:t>
            </a:r>
          </a:p>
          <a:p>
            <a:r>
              <a:t>Diagrama sobre «¿Qué rama explica cada consecuencia?»; organiza cuatro consecuencias para clasificar y justificar.</a:t>
            </a:r>
          </a:p>
          <a:p>
            <a:endParaRPr/>
          </a:p>
          <a:p>
            <a:r>
              <a:t>[Sources]</a:t>
            </a:r>
          </a:p>
          <a:p>
            <a:r>
              <a:t>- Fuentes de contenido: TEX ejercicio I5/D4; PDF pp. 167, 170/174.</a:t>
            </a:r>
          </a:p>
          <a:p>
            <a:r>
              <a:t>- Asset propio aprobado: U06-DG-044.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Mantener el foco físico-funcional; no enseñar protocolo ni diagnóstico. Desarrollar la idea con esta conclusión: La energía debe atravesar cóclea, oído medio y CAE para registrarse.</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La energía debe atravesar cóclea, oído medio y CAE para registrarse.</a:t>
            </a:r>
          </a:p>
          <a:p>
            <a:r>
              <a:t>**Error frecuente:** Tomar una OEA ausente como localización única en CCE.</a:t>
            </a:r>
          </a:p>
          <a:p>
            <a:r>
              <a:t>**Transición:** Recapitular entrada común y dos salidas.</a:t>
            </a:r>
          </a:p>
          <a:p>
            <a:endParaRPr/>
          </a:p>
          <a:p>
            <a:r>
              <a:t>[Alt text]</a:t>
            </a:r>
          </a:p>
          <a:p>
            <a:r>
              <a:t>Diagrama sobre «Una OEA depende de CCE y también de la cadena de salida»; organiza proceso activo → transmisión inversa → micrófono; “qué permite/no permite”.</a:t>
            </a:r>
          </a:p>
          <a:p>
            <a:endParaRPr/>
          </a:p>
          <a:p>
            <a:r>
              <a:t>[Sources]</a:t>
            </a:r>
          </a:p>
          <a:p>
            <a:r>
              <a:t>- Fuentes de contenido: TEX 6.10 y aplicación A2; PDF pp. 164–165, 168/173; CM U6→U8.</a:t>
            </a:r>
          </a:p>
          <a:p>
            <a:r>
              <a:t>- Asset propio aprobado: U06-DG-047.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el diagrama con la rama clínica añadida, no volver a definir CCI/CCE. Desarrollar la idea con esta conclusión: La misma deflexión inicia transducción; las consecuencias globales divergen.</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La misma deflexión inicia transducción; las consecuencias globales divergen.</a:t>
            </a:r>
          </a:p>
          <a:p>
            <a:r>
              <a:t>**Transición:** La pregunta eléctrica abre B08.</a:t>
            </a:r>
          </a:p>
          <a:p>
            <a:endParaRPr/>
          </a:p>
          <a:p>
            <a:r>
              <a:t>[Alt text]</a:t>
            </a:r>
          </a:p>
          <a:p>
            <a:r>
              <a:t>Diagrama sobre «Hasta acá: movimiento común, funciones diferentes»; organiza tramo común + dos ramas + pregunta “¿dónde aparece lo eléctrico?”.</a:t>
            </a:r>
          </a:p>
          <a:p>
            <a:endParaRPr/>
          </a:p>
          <a:p>
            <a:r>
              <a:t>[Sources]</a:t>
            </a:r>
          </a:p>
          <a:p>
            <a:r>
              <a:t>- Fuentes de contenido: TEX 6.8.1–6.8.2; PDF pp. 161–164.</a:t>
            </a:r>
          </a:p>
          <a:p>
            <a:r>
              <a:t>- Asset propio aprobado: U06-DG-044.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que CCI y CCE transducen, aunque sus funciones globales difieren. Desarrollar la idea con esta conclusión: La conversión ocurre por etapas: mecánica, eléctrica, química y neural.</a:t>
            </a:r>
          </a:p>
          <a:p>
            <a:r>
              <a:t>**Transición:** Ordenar primero el vocabulario eléctrico.</a:t>
            </a:r>
          </a:p>
          <a:p>
            <a:endParaRPr/>
          </a:p>
          <a:p>
            <a:r>
              <a:t>[Alt text]</a:t>
            </a:r>
          </a:p>
          <a:p>
            <a:r>
              <a:t>Composición visual sobre ¿cómo se convierte una deflexión en señal celular?; destaca que la conversión ocurre por etapas: mecánica, eléctrica, química y neural.</a:t>
            </a:r>
          </a:p>
          <a:p>
            <a:endParaRPr/>
          </a:p>
          <a:p>
            <a:r>
              <a:t>[Sources]</a:t>
            </a:r>
          </a:p>
          <a:p>
            <a:r>
              <a:t>- Fuentes de contenido: PO; TEX 6.8.3; PDF pp. 162–164.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dar aún valores ni afirmar que el potencial de acción ocurre en la célula ciliada. Desarrollar la idea con esta conclusión: Endococlear, reposo, receptor y acción se distinguen por ubicación, causa y función.</a:t>
            </a:r>
          </a:p>
          <a:p>
            <a:r>
              <a:t>**Guía del diagrama:** Nombrar la idea central fuera del diagrama; recorrer nodos y conectores en el orden propuesto; terminar con la relación funcional, sin repetir todo el texto de las cajas.</a:t>
            </a:r>
          </a:p>
          <a:p>
            <a:r>
              <a:t>**Transición:** Definir primero la fuente del gradiente.</a:t>
            </a:r>
          </a:p>
          <a:p>
            <a:endParaRPr/>
          </a:p>
          <a:p>
            <a:r>
              <a:t>[Alt text]</a:t>
            </a:r>
          </a:p>
          <a:p>
            <a:r>
              <a:t>Diagrama sobre «Cuatro potenciales no significan lo mismo»; organiza mapa de términos con “dónde ocurre / qué lo genera / qué representa”.</a:t>
            </a:r>
          </a:p>
          <a:p>
            <a:endParaRPr/>
          </a:p>
          <a:p>
            <a:r>
              <a:t>[Sources]</a:t>
            </a:r>
          </a:p>
          <a:p>
            <a:r>
              <a:t>- Fuentes de contenido: PO; TEX 6.8.3; PDF p. 163; SA 6.4; NG.</a:t>
            </a:r>
          </a:p>
          <a:p>
            <a:r>
              <a:t>- Asset propio aprobado: U06-DG-048.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presentar un voltaje sin electrodo de referencia; reservar valores para respaldo si se validan. Desarrollar la idea con esta conclusión: La endolinfa posee un potencial positivo respecto de referencias extracocleares; el gradiente importa más que memorizar un número.</a:t>
            </a:r>
          </a:p>
          <a:p>
            <a:r>
              <a:t>**Guía del diagrama:** Nombrar la idea central fuera del diagrama; recorrer nodos y conectores en el orden propuesto; terminar con la relación funcional, sin repetir todo el texto de las cajas.</a:t>
            </a:r>
          </a:p>
          <a:p>
            <a:r>
              <a:t>**Pregunta al curso:** ¿Puede informarse un voltaje sin nombrar la referencia?</a:t>
            </a:r>
          </a:p>
          <a:p>
            <a:r>
              <a:t>**Respuesta esperada:** No; una diferencia de potencial siempre se define entre dos puntos o referencias.</a:t>
            </a:r>
          </a:p>
          <a:p>
            <a:r>
              <a:t>**Transición:** Comparar con el estado eléctrico de la célula.</a:t>
            </a:r>
          </a:p>
          <a:p>
            <a:endParaRPr/>
          </a:p>
          <a:p>
            <a:r>
              <a:t>[Alt text]</a:t>
            </a:r>
          </a:p>
          <a:p>
            <a:r>
              <a:t>Diagrama sobre «El potencial endococlear sostiene un gradiente en la rampa media»; organiza ubicación, polaridad relativa, función y advertencia sobre referencia de medida.</a:t>
            </a:r>
          </a:p>
          <a:p>
            <a:endParaRPr/>
          </a:p>
          <a:p>
            <a:r>
              <a:t>[Sources]</a:t>
            </a:r>
          </a:p>
          <a:p>
            <a:r>
              <a:t>- Fuentes de contenido: PO; TEX 6.8.3; PDF p. 163; REF fettiplace2017; NG.</a:t>
            </a:r>
          </a:p>
          <a:p>
            <a:r>
              <a:t>- Asset propio aprobado: U06-DG-049.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**Pausa por fuente:** No completar desde memoria; exigir fuente y referencia de medida antes de redactar. No completar la explicación sustantiva ni proyectar como slide final hasta resolver la fuente indicada. Puede mencionarse al docente como vacío trazado, no al estudiantado como conocimiento cerrado.</a:t>
            </a:r>
          </a:p>
          <a:p>
            <a:r>
              <a:t>**Guía del diagrama:** Nombrar la idea central fuera del diagrama; recorrer nodos y conectores en el orden propuesto; terminar con la relación funcional, sin repetir todo el texto de las cajas.</a:t>
            </a:r>
          </a:p>
          <a:p>
            <a:r>
              <a:t>**Error frecuente:** Confundir potencial endococlear, de reposo y receptor.</a:t>
            </a:r>
          </a:p>
          <a:p>
            <a:r>
              <a:t>**Transición:** Preguntar qué cambia cuando el haz se deflecta.</a:t>
            </a:r>
          </a:p>
          <a:p>
            <a:endParaRPr/>
          </a:p>
          <a:p>
            <a:r>
              <a:t>[Alt text]</a:t>
            </a:r>
          </a:p>
          <a:p>
            <a:r>
              <a:t>Placeholder de potencial de reposo: estado basal de la célula; el recurso definitivo está bloqueado por falta de fuente.</a:t>
            </a:r>
          </a:p>
          <a:p>
            <a:endParaRPr/>
          </a:p>
          <a:p>
            <a:r>
              <a:t>[Sources]</a:t>
            </a:r>
          </a:p>
          <a:p>
            <a:r>
              <a:t>- Fuentes de contenido: PO; SA 6.4; OD-U06-05; EXT-PEND.</a:t>
            </a:r>
          </a:p>
          <a:p>
            <a:r>
              <a:t>- Slide de respaldo bloqueada: no proyectar hasta incorporar fuente autorizada.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Usar “graduado” frente a “todo o nada” con cautela y sin convertir la slide en curso de neurofisiología. Desarrollar la idea con esta conclusión: La célula ciliada genera una respuesta graduada; los impulsos aparecen en fibras aferentes.</a:t>
            </a:r>
          </a:p>
          <a:p>
            <a:r>
              <a:t>**Guía del diagrama:** Leer ambas columnas con el mismo criterio; comparar una fila por vez; usar el puente central solo después de describir las diferencias.</a:t>
            </a:r>
          </a:p>
          <a:p>
            <a:r>
              <a:t>**Pregunta al curso:** ¿En qué estructura aparecen los potenciales de acción?</a:t>
            </a:r>
          </a:p>
          <a:p>
            <a:r>
              <a:t>**Respuesta esperada:** En las fibras aferentes, después de la transmisión sináptica.</a:t>
            </a:r>
          </a:p>
          <a:p>
            <a:r>
              <a:t>**Error frecuente:** Ubicar el potencial de acción dentro de la célula ciliada.</a:t>
            </a:r>
          </a:p>
          <a:p>
            <a:r>
              <a:t>**Transición:** Volver al enlace mecánico que abre los canales.</a:t>
            </a:r>
          </a:p>
          <a:p>
            <a:endParaRPr/>
          </a:p>
          <a:p>
            <a:r>
              <a:t>[Alt text]</a:t>
            </a:r>
          </a:p>
          <a:p>
            <a:r>
              <a:t>Diagrama sobre «Potencial receptor no es potencial de acción»; organiza comparación por célula/estructura, forma de variación, umbral y función.</a:t>
            </a:r>
          </a:p>
          <a:p>
            <a:endParaRPr/>
          </a:p>
          <a:p>
            <a:r>
              <a:t>[Sources]</a:t>
            </a:r>
          </a:p>
          <a:p>
            <a:r>
              <a:t>- Fuentes de contenido: PO; TEX 6.8.3; PDF pp. 163–164; REF fettiplace2017; GLO.</a:t>
            </a:r>
          </a:p>
          <a:p>
            <a:r>
              <a:t>- Asset propio aprobado: U06-DG-051.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microdetalle molecular innecesario y traducción ambigua; registrar término en cursiva. Desarrollar la idea con esta conclusión: Son enlaces mecánicos del haz; no “cables nerviosos” ni canales por sí mismos.</a:t>
            </a:r>
          </a:p>
          <a:p>
            <a:r>
              <a:t>**Guía del diagrama:** Nombrar la idea central fuera del diagrama; recorrer nodos y conectores en el orden propuesto; terminar con la relación funcional, sin repetir todo el texto de las cajas.</a:t>
            </a:r>
          </a:p>
          <a:p>
            <a:r>
              <a:t>**Error frecuente:** Llamar canal iónico al *tip link*.</a:t>
            </a:r>
          </a:p>
          <a:p>
            <a:r>
              <a:t>**Transición:** Mostrar qué cambia con la deflexión excitatoria.</a:t>
            </a:r>
          </a:p>
          <a:p>
            <a:endParaRPr/>
          </a:p>
          <a:p>
            <a:r>
              <a:t>[Alt text]</a:t>
            </a:r>
          </a:p>
          <a:p>
            <a:r>
              <a:t>Diagrama sobre «Los *tip links* vinculan mecánicamente estereocilios vecinos»; organiza ubicación en el haz y relación con tensión; límite de la simplificación.</a:t>
            </a:r>
          </a:p>
          <a:p>
            <a:endParaRPr/>
          </a:p>
          <a:p>
            <a:r>
              <a:t>[Sources]</a:t>
            </a:r>
          </a:p>
          <a:p>
            <a:r>
              <a:t>- Fuentes de contenido: TEX 6.8.3; PDF p. 163; REF capraraPeng2022; GLO.</a:t>
            </a:r>
          </a:p>
          <a:p>
            <a:r>
              <a:t>- Asset propio aprobado: U06-DG-052.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Decir “probabilidad de apertura”, no interruptor binario; definir corriente convencional sin sobrecarga. Desarrollar la idea con esta conclusión: La tensión del haz modifica la probabilidad de apertura y permite una corriente predominantemente de K⁺ desde la endolinfa.</a:t>
            </a:r>
          </a:p>
          <a:p>
            <a:r>
              <a:t>**Guía del diagrama:** Nombrar la entrada; seguir una flecha por vez; identificar qué magnitud o dominio cambia; detenerse en la salida y en el límite inferencial.</a:t>
            </a:r>
          </a:p>
          <a:p>
            <a:r>
              <a:t>**Pregunta al curso:** ¿Qué cambia primero con la deflexión excitatoria?</a:t>
            </a:r>
          </a:p>
          <a:p>
            <a:r>
              <a:t>**Respuesta esperada:** Aumenta la probabilidad de apertura de canales de transducción.</a:t>
            </a:r>
          </a:p>
          <a:p>
            <a:r>
              <a:t>**Error frecuente:** Representar la apertura de canales como interruptor mecánico todo-o-nada.</a:t>
            </a:r>
          </a:p>
          <a:p>
            <a:r>
              <a:t>**Transición:** Seguir la señal hasta la base celular.</a:t>
            </a:r>
          </a:p>
          <a:p>
            <a:endParaRPr/>
          </a:p>
          <a:p>
            <a:r>
              <a:t>[Alt text]</a:t>
            </a:r>
          </a:p>
          <a:p>
            <a:r>
              <a:t>Diagrama sobre «La deflexión excitatoria aumenta la apertura de canales»; organiza reposo relativo → deflexión → apertura → entrada iónica → despolarización; dirección opuesta como contraste.</a:t>
            </a:r>
          </a:p>
          <a:p>
            <a:endParaRPr/>
          </a:p>
          <a:p>
            <a:r>
              <a:t>[Sources]</a:t>
            </a:r>
          </a:p>
          <a:p>
            <a:r>
              <a:t>- Fuentes de contenido: TEX 6.8.3; PDF p. 163; REF capraraPeng2022, fettiplace2017.</a:t>
            </a:r>
          </a:p>
          <a:p>
            <a:r>
              <a:t>- Asset propio aprobado: U06-DG-053.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convertirlo en una clase de sinapsis; aclarar que el potencial de acción se propaga en la fibra. Desarrollar la idea con esta conclusión: La despolarización favorece entrada de Ca²⁺ y liberación de neurotransmisor hacia fibras aferentes.</a:t>
            </a:r>
          </a:p>
          <a:p>
            <a:r>
              <a:t>**Guía del diagrama:** Nombrar la idea central fuera del diagrama; recorrer nodos y conectores en el orden propuesto; terminar con la relación funcional, sin repetir todo el texto de las cajas.</a:t>
            </a:r>
          </a:p>
          <a:p>
            <a:r>
              <a:t>**Transición:** Integrar el mecanismo completo en dos tramos.</a:t>
            </a:r>
          </a:p>
          <a:p>
            <a:endParaRPr/>
          </a:p>
          <a:p>
            <a:r>
              <a:t>[Alt text]</a:t>
            </a:r>
          </a:p>
          <a:p>
            <a:r>
              <a:t>Diagrama sobre «Ca²⁺ y glutamato conectan la respuesta celular con la aferencia»; organiza tres pasos en la base de una cci; cce se retoma solo como contraste funcional.</a:t>
            </a:r>
          </a:p>
          <a:p>
            <a:endParaRPr/>
          </a:p>
          <a:p>
            <a:r>
              <a:t>[Sources]</a:t>
            </a:r>
          </a:p>
          <a:p>
            <a:r>
              <a:t>- Fuentes de contenido: TEX 6.8.2–6.8.3; PDF pp. 162–164; REF fettiplace2017.</a:t>
            </a:r>
          </a:p>
          <a:p>
            <a:r>
              <a:t>- Asset propio aprobado: U06-DG-054.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Narrar la causalidad y pedir que el estudiantado identifique la transformación en cada flecha. Desarrollar la idea con esta conclusión: Movimiento relativo → deflexión → cambio de canales → corriente → potencial receptor.</a:t>
            </a:r>
          </a:p>
          <a:p>
            <a:r>
              <a:t>**Guía del diagrama:** Nombrar la entrada; seguir una flecha por vez; identificar qué magnitud o dominio cambia; detenerse en la salida y en el límite inferencial.</a:t>
            </a:r>
          </a:p>
          <a:p>
            <a:r>
              <a:t>**Transición:** Desde esa salida celular, abrir el tramo sináptico.</a:t>
            </a:r>
          </a:p>
          <a:p>
            <a:endParaRPr/>
          </a:p>
          <a:p>
            <a:r>
              <a:t>[Alt text]</a:t>
            </a:r>
          </a:p>
          <a:p>
            <a:r>
              <a:t>Diagrama sobre «Tramo 1: del movimiento al potencial receptor»; organiza cinco etapas con entrada, transformación, salida y qué no permite concluir.</a:t>
            </a:r>
          </a:p>
          <a:p>
            <a:endParaRPr/>
          </a:p>
          <a:p>
            <a:r>
              <a:t>[Sources]</a:t>
            </a:r>
          </a:p>
          <a:p>
            <a:r>
              <a:t>- Fuentes de contenido: TEX 6.8.1–6.8.3; PDF pp. 161–164; BR.</a:t>
            </a:r>
          </a:p>
          <a:p>
            <a:r>
              <a:t>- Asset propio aprobado: U06-DG-055.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Marcar dónde cambia la naturaleza de la señal; no afirmar codificación central. Desarrollar la idea con esta conclusión: Potencial receptor → Ca²⁺ → glutamato → respuesta de fibra → potenciales de acción.</a:t>
            </a:r>
          </a:p>
          <a:p>
            <a:r>
              <a:t>**Guía del diagrama:** Nombrar la entrada; seguir una flecha por vez; identificar qué magnitud o dominio cambia; detenerse en la salida y en el límite inferencial.</a:t>
            </a:r>
          </a:p>
          <a:p>
            <a:r>
              <a:t>**Pregunta al curso:** ¿Dónde cambia la señal de celular a neural?</a:t>
            </a:r>
          </a:p>
          <a:p>
            <a:r>
              <a:t>**Respuesta esperada:** Potencial receptor → Ca²⁺ → glutamato → respuesta de fibra → potenciales de acción.</a:t>
            </a:r>
          </a:p>
          <a:p>
            <a:r>
              <a:t>**Transición:** Comprobar el orden sin mostrar etiquetas.</a:t>
            </a:r>
          </a:p>
          <a:p>
            <a:endParaRPr/>
          </a:p>
          <a:p>
            <a:r>
              <a:t>[Alt text]</a:t>
            </a:r>
          </a:p>
          <a:p>
            <a:r>
              <a:t>Diagrama sobre «Tramo 2: del potencial receptor a la señal neural»; organiza cinco etapas; ubicación explícita de célula y fibra aferente.</a:t>
            </a:r>
          </a:p>
          <a:p>
            <a:endParaRPr/>
          </a:p>
          <a:p>
            <a:r>
              <a:t>[Sources]</a:t>
            </a:r>
          </a:p>
          <a:p>
            <a:r>
              <a:t>- Fuentes de contenido: PO; TEX 6.8.2–6.8.3; PDF pp. 162–164; CM U6→U7.</a:t>
            </a:r>
          </a:p>
          <a:p>
            <a:r>
              <a:t>- Asset propio aprobado: U06-DG-056.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Pedir dos justificaciones y detectar el salto directo “estereocilio → impulso”. Desarrollar la idea con esta conclusión: Una secuencia correcta debe explicar por qué cada salida puede ser entrada de la etapa siguiente.</a:t>
            </a:r>
          </a:p>
          <a:p>
            <a:r>
              <a:t>**Guía del diagrama:** Presentar primero el diagrama sin solución; dar tiempo de observación; pedir una justificación; recién después revelar conexiones o rótulos.</a:t>
            </a:r>
          </a:p>
          <a:p>
            <a:r>
              <a:t>**Pregunta al curso:** Ordená la transducción y justificá dos enlaces</a:t>
            </a:r>
          </a:p>
          <a:p>
            <a:r>
              <a:t>**Respuesta esperada:** Deflexión → cambio de apertura/corriente iónica → potencial receptor → liberación de neurotransmisor → respuesta de la fibra.</a:t>
            </a:r>
          </a:p>
          <a:p>
            <a:r>
              <a:t>**Transición:** Resolver y condensar vocabulario.</a:t>
            </a:r>
          </a:p>
          <a:p>
            <a:endParaRPr/>
          </a:p>
          <a:p>
            <a:r>
              <a:t>[Alt text]</a:t>
            </a:r>
          </a:p>
          <a:p>
            <a:r>
              <a:t>Diagrama sobre «Ordená la transducción y justificá dos enlaces»; organiza tarjetas desordenadas: deflexión, corriente, receptor, neurotransmisor, fibra.</a:t>
            </a:r>
          </a:p>
          <a:p>
            <a:endParaRPr/>
          </a:p>
          <a:p>
            <a:r>
              <a:t>[Sources]</a:t>
            </a:r>
          </a:p>
          <a:p>
            <a:r>
              <a:t>- Fuentes de contenido: TEX ejercicio I6/D5; PDF pp. 167, 170/174.</a:t>
            </a:r>
          </a:p>
          <a:p>
            <a:r>
              <a:t>- Asset propio aprobado: U06-DG-055.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Repetir el vocabulario dentro de una nueva tarea de ubicación; no reiterar definiciones completas. Desarrollar la idea con esta conclusión: Mecánica, respuesta celular, sinapsis e impulsos son etapas conectadas, no sinónimos.</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Mecánica, respuesta celular, sinapsis e impulsos son etapas conectadas, no sinónimos.</a:t>
            </a:r>
          </a:p>
          <a:p>
            <a:r>
              <a:t>**Transición:** La pregunta por la información abre B09.</a:t>
            </a:r>
          </a:p>
          <a:p>
            <a:endParaRPr/>
          </a:p>
          <a:p>
            <a:r>
              <a:t>[Alt text]</a:t>
            </a:r>
          </a:p>
          <a:p>
            <a:r>
              <a:t>Diagrama sobre «Hasta acá: cuatro formas de señal, una sola cadena causal»; organiza tabla mínima de potenciales + cadena completa + pregunta “¿dónde se conserva información?”.</a:t>
            </a:r>
          </a:p>
          <a:p>
            <a:endParaRPr/>
          </a:p>
          <a:p>
            <a:r>
              <a:t>[Sources]</a:t>
            </a:r>
          </a:p>
          <a:p>
            <a:r>
              <a:t>- Fuentes de contenido: PO; TEX 6.8.3; PDF pp. 163–164; BR.</a:t>
            </a:r>
          </a:p>
          <a:p>
            <a:r>
              <a:t>- Asset propio aprobado: U06-DG-057.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Distinguir señal física, respuesta periférica y experiencia perceptual. Desarrollar la idea con esta conclusión: La periferia representa frecuencia y nivel mediante patrones espaciales y temporales/neuronales.</a:t>
            </a:r>
          </a:p>
          <a:p>
            <a:r>
              <a:t>**Transición:** Comenzar por el código espacial ya observable.</a:t>
            </a:r>
          </a:p>
          <a:p>
            <a:endParaRPr/>
          </a:p>
          <a:p>
            <a:r>
              <a:t>[Alt text]</a:t>
            </a:r>
          </a:p>
          <a:p>
            <a:r>
              <a:t>Composición visual sobre ¿qué rasgos del estímulo conserva la salida periférica?; destaca que la periferia representa frecuencia y nivel mediante patrones espaciales y temporales/neuronales.</a:t>
            </a:r>
          </a:p>
          <a:p>
            <a:endParaRPr/>
          </a:p>
          <a:p>
            <a:r>
              <a:t>[Sources]</a:t>
            </a:r>
          </a:p>
          <a:p>
            <a:r>
              <a:t>- Fuentes de contenido: PO; TEX 6.9; PDF p. 164; CM U6→U7.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U06-064 y añadir ahora la salida; no volver a enseñar tonotopía desde cero. Desarrollar la idea con esta conclusión: El lugar de máxima respuesta contribuye a codificar frecuencia, con extensión y solapamiento.</a:t>
            </a:r>
          </a:p>
          <a:p>
            <a:r>
              <a:t>**Guía del diagrama:** Nombrar la idea central fuera del diagrama; recorrer nodos y conectores en el orden propuesto; terminar con la relación funcional, sin repetir todo el texto de las cajas.</a:t>
            </a:r>
          </a:p>
          <a:p>
            <a:r>
              <a:t>**Pregunta al curso:** ¿Un máximo espacial representa una sola fibra?</a:t>
            </a:r>
          </a:p>
          <a:p>
            <a:r>
              <a:t>**Respuesta esperada:** No; representa una población distribuida con extensión y solapamiento.</a:t>
            </a:r>
          </a:p>
          <a:p>
            <a:r>
              <a:t>**Transición:** Añadir el patrón temporal como complemento.</a:t>
            </a:r>
          </a:p>
          <a:p>
            <a:endParaRPr/>
          </a:p>
          <a:p>
            <a:r>
              <a:t>[Alt text]</a:t>
            </a:r>
          </a:p>
          <a:p>
            <a:r>
              <a:t>Diagrama sobre «La frecuencia deja una firma espacial»; organiza dos tonos, dos máximos y poblaciones aferentes asociadas; no correspondencia uno-a-uno.</a:t>
            </a:r>
          </a:p>
          <a:p>
            <a:endParaRPr/>
          </a:p>
          <a:p>
            <a:r>
              <a:t>[Sources]</a:t>
            </a:r>
          </a:p>
          <a:p>
            <a:r>
              <a:t>- Fuentes de contenido: TEX 6.7.2 y 6.9.1; PDF pp. 160, 164; REF fettiplace2017.</a:t>
            </a:r>
          </a:p>
          <a:p>
            <a:r>
              <a:t>- Asset propio aprobado: U06-CH-004.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**Pausa por fuente:** Diferenciar sincronización probabilística de un impulso por ciclo; bloquear cifras hasta fuente. No completar la explicación sustantiva ni proyectar como slide final hasta resolver la fuente indicada. Puede mencionarse al docente como vacío trazado, no al estudiantado como conocimiento cerrado.</a:t>
            </a:r>
          </a:p>
          <a:p>
            <a:r>
              <a:t>**Guía del gráfico:** leer primero ejes, unidades/normalización y escala; después localizar máximos, comparar condiciones y cerrar con lo que la curva no representa.</a:t>
            </a:r>
          </a:p>
          <a:p>
            <a:r>
              <a:t>**Error frecuente:** Suponer un impulso por ciclo o fijar un límite frecuencial universal.</a:t>
            </a:r>
          </a:p>
          <a:p>
            <a:r>
              <a:t>**Transición:** Comparar código y percepto.</a:t>
            </a:r>
          </a:p>
          <a:p>
            <a:endParaRPr/>
          </a:p>
          <a:p>
            <a:r>
              <a:t>[Alt text]</a:t>
            </a:r>
          </a:p>
          <a:p>
            <a:r>
              <a:t>Placeholder de la sincronización temporal aporta otra pista de frecuencia; el recurso definitivo está bloqueado por falta de fuente.</a:t>
            </a:r>
          </a:p>
          <a:p>
            <a:endParaRPr/>
          </a:p>
          <a:p>
            <a:r>
              <a:t>[Sources]</a:t>
            </a:r>
          </a:p>
          <a:p>
            <a:r>
              <a:t>- Fuentes de contenido: TEX 6.9.1; PDF p. 164; OD-U06-13; EXT-PEND.</a:t>
            </a:r>
          </a:p>
          <a:p>
            <a:r>
              <a:t>- Slide de respaldo bloqueada: no proyectar hasta incorporar fuente autorizada.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desarrollar escalas perceptuales; anunciar que se trabajarán en U7. Desarrollar la idea con esta conclusión: La frecuencia es una magnitud física; el *pitch* es una experiencia que depende del procesamiento.</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La frecuencia es una magnitud física; el *pitch* es una experiencia que depende del procesamiento.</a:t>
            </a:r>
          </a:p>
          <a:p>
            <a:r>
              <a:t>**Error frecuente:** Usar frecuencia y altura tonal como sinónimos.</a:t>
            </a:r>
          </a:p>
          <a:p>
            <a:r>
              <a:t>**Transición:** Repetir el criterio para nivel.</a:t>
            </a:r>
          </a:p>
          <a:p>
            <a:endParaRPr/>
          </a:p>
          <a:p>
            <a:r>
              <a:t>[Alt text]</a:t>
            </a:r>
          </a:p>
          <a:p>
            <a:r>
              <a:t>Diagrama sobre «Frecuencia no es altura tonal»; organiza par físico/perceptual con ejemplos que muestran relación, no identidad.</a:t>
            </a:r>
          </a:p>
          <a:p>
            <a:endParaRPr/>
          </a:p>
          <a:p>
            <a:r>
              <a:t>[Sources]</a:t>
            </a:r>
          </a:p>
          <a:p>
            <a:r>
              <a:t>- Fuentes de contenido: TEX 6.9.1 y errores 6.11; PDF pp. 164–165; CM U6→U7; GLO.</a:t>
            </a:r>
          </a:p>
          <a:p>
            <a:r>
              <a:t>- Asset propio aprobado: U06-DG-058B.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Evitar saturación como regla única y tasas numéricas sin datos; destacar compresión. Desarrollar la idea con esta conclusión: Mayor nivel puede reclutar una región más amplia y modificar tasas, sin traducirse linealmente en sonoridad.</a:t>
            </a:r>
          </a:p>
          <a:p>
            <a:r>
              <a:t>**Guía del diagrama:** Nombrar la idea central fuera del diagrama; recorrer nodos y conectores en el orden propuesto; terminar con la relación funcional, sin repetir todo el texto de las cajas.</a:t>
            </a:r>
          </a:p>
          <a:p>
            <a:r>
              <a:t>**Pregunta al curso:** ¿Qué se mantiene y qué cambia entre ambos niveles?</a:t>
            </a:r>
          </a:p>
          <a:p>
            <a:r>
              <a:t>**Respuesta esperada:** Se mantiene la frecuencia; cambian amplitud, extensión y patrón poblacional.</a:t>
            </a:r>
          </a:p>
          <a:p>
            <a:r>
              <a:t>**Transición:** Separar magnitud y percepto.</a:t>
            </a:r>
          </a:p>
          <a:p>
            <a:endParaRPr/>
          </a:p>
          <a:p>
            <a:r>
              <a:t>[Alt text]</a:t>
            </a:r>
          </a:p>
          <a:p>
            <a:r>
              <a:t>Diagrama sobre «El nivel modifica extensión y patrón de descarga»; organiza dos niveles a igual frecuencia: envolvente coclear y respuesta neural conceptual.</a:t>
            </a:r>
          </a:p>
          <a:p>
            <a:endParaRPr/>
          </a:p>
          <a:p>
            <a:r>
              <a:t>[Sources]</a:t>
            </a:r>
          </a:p>
          <a:p>
            <a:r>
              <a:t>- Fuentes de contenido: TEX 6.7.3 y 6.9.2; PDF pp. 161–164; REF fettiplace2017.</a:t>
            </a:r>
          </a:p>
          <a:p>
            <a:r>
              <a:t>- Asset propio aprobado: U06-CH-006.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Recuperar U4 sin introducir fonios o sonios todavía. Desarrollar la idea con esta conclusión: dB SPL describe una medición física; sonoridad describe experiencia perceptual.</a:t>
            </a:r>
          </a:p>
          <a:p>
            <a:r>
              <a:t>**Guía del diagrama:** Leer ambas columnas con el mismo criterio; comparar una fila por vez; usar el puente central solo después de describir las diferencias.</a:t>
            </a:r>
          </a:p>
          <a:p>
            <a:r>
              <a:t>**Error frecuente:** Usar dB SPL y sonoridad como sinónimos.</a:t>
            </a:r>
          </a:p>
          <a:p>
            <a:r>
              <a:t>**Transición:** Llevar la distinción a mediciones clínicas.</a:t>
            </a:r>
          </a:p>
          <a:p>
            <a:endParaRPr/>
          </a:p>
          <a:p>
            <a:r>
              <a:t>[Alt text]</a:t>
            </a:r>
          </a:p>
          <a:p>
            <a:r>
              <a:t>Diagrama sobre «Nivel de presión sonora no es sonoridad»; organiza dos definiciones breves, relación no lineal y puente a u7.</a:t>
            </a:r>
          </a:p>
          <a:p>
            <a:endParaRPr/>
          </a:p>
          <a:p>
            <a:r>
              <a:t>[Sources]</a:t>
            </a:r>
          </a:p>
          <a:p>
            <a:r>
              <a:t>- Fuentes de contenido: TEX 6.9.2 y errores 6.11; PDF pp. 164–165; CM U4→U6→U7; GLO.</a:t>
            </a:r>
          </a:p>
          <a:p>
            <a:r>
              <a:t>- Asset propio aprobado: U06-DG-059B.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Usar lenguaje funcional y reservar interpretación diagnóstica para U8. Desarrollar la idea con esta conclusión: Un resultado depende de la entrada, la estructura sensible, la vía de salida y la medición.</a:t>
            </a:r>
          </a:p>
          <a:p>
            <a:r>
              <a:t>**Guía del diagrama:** Nombrar la idea central fuera del diagrama; recorrer nodos y conectores en el orden propuesto; terminar con la relación funcional, sin repetir todo el texto de las cajas.</a:t>
            </a:r>
          </a:p>
          <a:p>
            <a:r>
              <a:t>**Pregunta al curso:** ¿Qué factores previos condicionan una OEA registrada en el CAE?</a:t>
            </a:r>
          </a:p>
          <a:p>
            <a:r>
              <a:t>**Respuesta esperada:** Un resultado depende de la entrada, la estructura sensible, la vía de salida y la medición.</a:t>
            </a:r>
          </a:p>
          <a:p>
            <a:r>
              <a:t>**Error frecuente:** Convertir una medición aislada en diagnóstico o localización única.</a:t>
            </a:r>
          </a:p>
          <a:p>
            <a:r>
              <a:t>**Transición:** Profundizar una medición eléctrica como ejemplo.</a:t>
            </a:r>
          </a:p>
          <a:p>
            <a:endParaRPr/>
          </a:p>
          <a:p>
            <a:r>
              <a:t>[Alt text]</a:t>
            </a:r>
          </a:p>
          <a:p>
            <a:r>
              <a:t>Diagrama sobre «Toda prueba observa una parte de la cadena»; organiza matriz: prueba conceptual → tramo predominante → factores previos → qué no concluye sola.</a:t>
            </a:r>
          </a:p>
          <a:p>
            <a:endParaRPr/>
          </a:p>
          <a:p>
            <a:r>
              <a:t>[Sources]</a:t>
            </a:r>
          </a:p>
          <a:p>
            <a:r>
              <a:t>- Fuentes de contenido: TEX 6.10; PDF pp. 164–165; CM U6→U8; BR.</a:t>
            </a:r>
          </a:p>
          <a:p>
            <a:r>
              <a:t>- Asset propio aprobado: U06-DG-060.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asignar ondas clínicas ni latencias específicas sin fuente; reforzar referencia eléctrica. Desarrollar la idea con esta conclusión: La señal registrada no es “el potencial del oído”: combina generadores, conducción y sistema de medida.</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La señal registrada no es “el potencial del oído”: combina generadores, conducción y sistema de medida.</a:t>
            </a:r>
          </a:p>
          <a:p>
            <a:r>
              <a:t>**Transición:** Proponer un caso que obligue a recorrer toda la cadena.</a:t>
            </a:r>
          </a:p>
          <a:p>
            <a:endParaRPr/>
          </a:p>
          <a:p>
            <a:r>
              <a:t>[Alt text]</a:t>
            </a:r>
          </a:p>
          <a:p>
            <a:r>
              <a:t>Diagrama sobre «Un potencial evocado también depende de referencia y montaje»; organiza esquema de estímulo, electrodos, referencia, señal y límites inferenciales.</a:t>
            </a:r>
          </a:p>
          <a:p>
            <a:endParaRPr/>
          </a:p>
          <a:p>
            <a:r>
              <a:t>[Sources]</a:t>
            </a:r>
          </a:p>
          <a:p>
            <a:r>
              <a:t>- Fuentes de contenido: PO; TEX 6.8.3/6.10; PDF pp. 163–165; CM U6→U8; EXT-PEND.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Aclarar que los valores son condiciones, no predicción cuantitativa de respuesta. Desarrollar la idea con esta conclusión: La frecuencia mantiene aproximadamente el lugar característico; el nivel cambia amplitud, extensión y patrón de salida.</a:t>
            </a:r>
          </a:p>
          <a:p>
            <a:r>
              <a:t>**Guía del diagrama:** Presentar primero el diagrama sin solución; dar tiempo de observación; pedir una justificación; recién después revelar conexiones o rótulos.</a:t>
            </a:r>
          </a:p>
          <a:p>
            <a:r>
              <a:t>**Pregunta al curso:** Mismo tono, dos niveles: ¿qué cambia y qué no?</a:t>
            </a:r>
          </a:p>
          <a:p>
            <a:r>
              <a:t>**Respuesta esperada:** Cambian amplitud y extensión; la región característica general se mantiene porque la frecuencia no cambia. No cambia la frecuencia física ni puede inferirse una razón universal de sonoridad.</a:t>
            </a:r>
          </a:p>
          <a:p>
            <a:r>
              <a:t>**Transición:** Resolver recorriendo bloques, no por intuición perceptual.</a:t>
            </a:r>
          </a:p>
          <a:p>
            <a:endParaRPr/>
          </a:p>
          <a:p>
            <a:r>
              <a:t>[Alt text]</a:t>
            </a:r>
          </a:p>
          <a:p>
            <a:r>
              <a:t>Diagrama sobre «Mismo tono, dos niveles: ¿qué cambia y qué no?»; organiza caso 2 khz a 40/70 db spl; cinco afirmaciones para seleccionar y justificar.</a:t>
            </a:r>
          </a:p>
          <a:p>
            <a:endParaRPr/>
          </a:p>
          <a:p>
            <a:r>
              <a:t>[Sources]</a:t>
            </a:r>
          </a:p>
          <a:p>
            <a:r>
              <a:t>- Fuentes de contenido: TEX 6.7.2–6.9.2; PDF pp. 160–164; BR.</a:t>
            </a:r>
          </a:p>
          <a:p>
            <a:r>
              <a:t>- Asset propio aprobado: U06-DG-062.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Hacer visibles supuestos y evitar diagnosticar una persona a partir del modelo. Desarrollar la idea con esta conclusión: Una buena respuesta declara entrada, transformación por etapa, salida y lo que no puede inferirse.</a:t>
            </a:r>
          </a:p>
          <a:p>
            <a:r>
              <a:t>**Guía del diagrama:** Nombrar la entrada; seguir una flecha por vez; identificar qué magnitud o dominio cambia; detenerse en la salida y en el límite inferencial.</a:t>
            </a:r>
          </a:p>
          <a:p>
            <a:r>
              <a:t>**Pregunta al curso:** ¿Qué afirmación del caso pertenece a percepción y no puede cerrarse aquí?</a:t>
            </a:r>
          </a:p>
          <a:p>
            <a:r>
              <a:t>**Respuesta esperada:** No puede cerrarse una razón universal de sonoridad ni un diagnóstico.</a:t>
            </a:r>
          </a:p>
          <a:p>
            <a:r>
              <a:t>**Transición:** Reducir la resolución a un mapa de cierre.</a:t>
            </a:r>
          </a:p>
          <a:p>
            <a:endParaRPr/>
          </a:p>
          <a:p>
            <a:r>
              <a:t>[Alt text]</a:t>
            </a:r>
          </a:p>
          <a:p>
            <a:r>
              <a:t>Diagrama sobre «Del estímulo a la salida: resolución del caso»; organiza recorrido cae → medio → cóclea → cci/cce → fibra; diferencias entre 40/70 db spl.</a:t>
            </a:r>
          </a:p>
          <a:p>
            <a:endParaRPr/>
          </a:p>
          <a:p>
            <a:r>
              <a:t>[Sources]</a:t>
            </a:r>
          </a:p>
          <a:p>
            <a:r>
              <a:t>- Fuentes de contenido: PO; TEX 6.2–6.10; PDF pp. 151–165; BR.</a:t>
            </a:r>
          </a:p>
          <a:p>
            <a:r>
              <a:t>- Asset propio aprobado: U06-DG-063.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Pedir al curso que complete conexiones; señalar cuatro ideas que volverán en U7/U8. Desarrollar la idea con esta conclusión: La cadena conserva y transforma información mediante etapas físicas, mecánicas, celulares y neurales.</a:t>
            </a:r>
          </a:p>
          <a:p>
            <a:r>
              <a:t>**Guía del diagrama:** Nombrar la idea central fuera del diagrama; recorrer nodos y conectores en el orden propuesto; terminar con la relación funcional, sin repetir todo el texto de las cajas.</a:t>
            </a:r>
          </a:p>
          <a:p>
            <a:r>
              <a:t>**Pregunta al curso:** ¿Qué permite afirmar esta slide y qué no permite concluir?</a:t>
            </a:r>
          </a:p>
          <a:p>
            <a:r>
              <a:t>**Respuesta esperada:** La cadena conserva y transforma información mediante etapas físicas, mecánicas, celulares y neurales.</a:t>
            </a:r>
          </a:p>
          <a:p>
            <a:r>
              <a:t>**Transición:** Terminar con una salida hacia la próxima unidad.</a:t>
            </a:r>
          </a:p>
          <a:p>
            <a:endParaRPr/>
          </a:p>
          <a:p>
            <a:r>
              <a:t>[Alt text]</a:t>
            </a:r>
          </a:p>
          <a:p>
            <a:r>
              <a:t>Diagrama sobre «Diez ideas que sostienen el mecanismo periférico»; organiza diez enunciados agrupados por oído externo, medio, interno y salida; dos errores frecuentes.</a:t>
            </a:r>
          </a:p>
          <a:p>
            <a:endParaRPr/>
          </a:p>
          <a:p>
            <a:r>
              <a:t>[Sources]</a:t>
            </a:r>
          </a:p>
          <a:p>
            <a:r>
              <a:t>- Fuentes de contenido: PO; TEX 6.2–6.10; PDF pp. 151–165; BR; CM.</a:t>
            </a:r>
          </a:p>
          <a:p>
            <a:r>
              <a:t>- Asset propio aprobado: U06-DG-064.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Cerrar la pregunta inicial y anticipar próximos usos sin tono publicitario. Desarrollar la idea con esta conclusión: U6 explica mecanismos periféricos; U7 estudiará atributos subjetivos y U8 sus mediciones/aplicaciones.</a:t>
            </a:r>
          </a:p>
          <a:p>
            <a:r>
              <a:t>**Transición:** Fin de recorrido central; ofrecer respaldo solo si hace falta.</a:t>
            </a:r>
          </a:p>
          <a:p>
            <a:endParaRPr/>
          </a:p>
          <a:p>
            <a:r>
              <a:t>[Alt text]</a:t>
            </a:r>
          </a:p>
          <a:p>
            <a:r>
              <a:t>Composición visual sobre la periferia condiciona la percepción, pero no la agota; destaca que u6 explica mecanismos periféricos; u7 estudiará atributos subjetivos y u8 sus mediciones/aplicaciones.</a:t>
            </a:r>
          </a:p>
          <a:p>
            <a:endParaRPr/>
          </a:p>
          <a:p>
            <a:r>
              <a:t>[Sources]</a:t>
            </a:r>
          </a:p>
          <a:p>
            <a:r>
              <a:t>- Fuentes de contenido: PO; CM U6→U7/U8; CDM; BR.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Elegir una slide de respaldo por necesidad real, no proyectar todo al final. Desarrollar la idea con esta conclusión: El respaldo amplía vocabulario, cálculos, mecanismos y fuentes; no constituye un bloque obligatorio.</a:t>
            </a:r>
          </a:p>
          <a:p>
            <a:r>
              <a:t>**Transición:** Abrir solo el detalle requerido.</a:t>
            </a:r>
          </a:p>
          <a:p>
            <a:endParaRPr/>
          </a:p>
          <a:p>
            <a:r>
              <a:t>[Alt text]</a:t>
            </a:r>
          </a:p>
          <a:p>
            <a:r>
              <a:t>Composición visual sobre cómo usar las slides de respaldo; destaca que el respaldo amplía vocabulario, cálculos, mecanismos y fuentes; no constituye un bloque obligatorio.</a:t>
            </a:r>
          </a:p>
          <a:p>
            <a:endParaRPr/>
          </a:p>
          <a:p>
            <a:r>
              <a:t>[Sources]</a:t>
            </a:r>
          </a:p>
          <a:p>
            <a:r>
              <a:t>- Fuentes de contenido: BR; 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Registrar decisión final en glosario antes de producción. Desarrollar la idea con esta conclusión: Términos equivalentes deben definirse una vez y usarse con consistencia.</a:t>
            </a:r>
          </a:p>
          <a:p>
            <a:r>
              <a:t>**Guía del diagrama:** Nombrar la idea central fuera del diagrama; recorrer nodos y conectores en el orden propuesto; terminar con la relación funcional, sin repetir todo el texto de las cajas.</a:t>
            </a:r>
          </a:p>
          <a:p>
            <a:r>
              <a:t>**Transición:** Si la duda es simbólica, pasar al cruce de notación.</a:t>
            </a:r>
          </a:p>
          <a:p>
            <a:endParaRPr/>
          </a:p>
          <a:p>
            <a:r>
              <a:t>[Alt text]</a:t>
            </a:r>
          </a:p>
          <a:p>
            <a:r>
              <a:t>Diagrama sobre «Terminología anatómica: equivalencias controladas»; organiza tabla de conducto/meato; rampa/escala; ventana oval/vestibular; cae y oea.</a:t>
            </a:r>
          </a:p>
          <a:p>
            <a:endParaRPr/>
          </a:p>
          <a:p>
            <a:r>
              <a:t>[Sources]</a:t>
            </a:r>
          </a:p>
          <a:p>
            <a:r>
              <a:t>- Fuentes de contenido: GLO; NG; OD-U06-06; TEX; 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usar como decisión final: esperar OD-U06-07/08 y actualizar NG. Desarrollar la idea con esta conclusión: `S` debe reservarse para área y el cociente del oído medio necesita un símbolo no confundible con reflexión.</a:t>
            </a:r>
          </a:p>
          <a:p>
            <a:r>
              <a:t>**Guía del diagrama:** Nombrar la idea central fuera del diagrama; recorrer nodos y conectores en el orden propuesto; terminar con la relación funcional, sin repetir todo el texto de las cajas.</a:t>
            </a:r>
          </a:p>
          <a:p>
            <a:r>
              <a:t>**Transición:** Aplicar símbolos una vez aprobados a los ejercicios.</a:t>
            </a:r>
          </a:p>
          <a:p>
            <a:endParaRPr/>
          </a:p>
          <a:p>
            <a:r>
              <a:t>[Alt text]</a:t>
            </a:r>
          </a:p>
          <a:p>
            <a:r>
              <a:t>Diagrama sobre «Cruce provisional de símbolos de área y presión»; organiza tabla fuente → propuesta de curso → significado → unidad → estado.</a:t>
            </a:r>
          </a:p>
          <a:p>
            <a:endParaRPr/>
          </a:p>
          <a:p>
            <a:r>
              <a:t>[Sources]</a:t>
            </a:r>
          </a:p>
          <a:p>
            <a:r>
              <a:t>- Fuentes de contenido: TEX 6.5; PDF p. 156; NG; OD-U06-07/08.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Resolver con `L=27 mm` como ejemplo didáctico, no valor universal. Desarrollar la idea con esta conclusión: El modelo de cuarto de onda exige declarar longitud efectiva, velocidad y condición de contorno.</a:t>
            </a:r>
          </a:p>
          <a:p>
            <a:r>
              <a:t>**Guía del diagrama:** Nombrar la idea central fuera del diagrama; recorrer nodos y conectores en el orden propuesto; terminar con la relación funcional, sin repetir todo el texto de las cajas.</a:t>
            </a:r>
          </a:p>
          <a:p>
            <a:r>
              <a:t>**Demostración opcional:** usar un tubo o una tira de longitud visible solo como analogía geométrica del cuarto de onda; no presentarlo como reproducción anatómica del CAE.</a:t>
            </a:r>
          </a:p>
          <a:p>
            <a:r>
              <a:t>**Transición:** Variar una condición para comprobar el modelo.</a:t>
            </a:r>
          </a:p>
          <a:p>
            <a:endParaRPr/>
          </a:p>
          <a:p>
            <a:r>
              <a:t>[Alt text]</a:t>
            </a:r>
          </a:p>
          <a:p>
            <a:r>
              <a:t>Diagrama sobre «G1: resonancia aproximada del CAE»; organiza datos, ecuación, sustitución, unidades, resultado e interpretación limitada.</a:t>
            </a:r>
          </a:p>
          <a:p>
            <a:endParaRPr/>
          </a:p>
          <a:p>
            <a:r>
              <a:t>[Sources]</a:t>
            </a:r>
          </a:p>
          <a:p>
            <a:r>
              <a:t>- Fuentes de contenido: TEX 6.4.3–6.4.4 y ejercicio G1; PDF pp. 153–154, 166, 169/172; NG.</a:t>
            </a:r>
          </a:p>
          <a:p>
            <a:r>
              <a:t>- Asset propio aprobado: U06-DG-009B.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Usar un área efectiva declarada y distinguir Pa de N. Desarrollar la idea con esta conclusión: `F≈Δp·S` es una aproximación que conecta presión y fuerza sin describir el movimiento.</a:t>
            </a:r>
          </a:p>
          <a:p>
            <a:r>
              <a:t>**Guía del diagrama:** Nombrar la idea central fuera del diagrama; recorrer nodos y conectores en el orden propuesto; terminar con la relación funcional, sin repetir todo el texto de las cajas.</a:t>
            </a:r>
          </a:p>
          <a:p>
            <a:r>
              <a:t>**Transición:** Pasar del tímpano al modelo de adaptación.</a:t>
            </a:r>
          </a:p>
          <a:p>
            <a:endParaRPr/>
          </a:p>
          <a:p>
            <a:r>
              <a:t>[Alt text]</a:t>
            </a:r>
          </a:p>
          <a:p>
            <a:r>
              <a:t>Diagrama sobre «G2: presión a fuerza sobre el tímpano»; organiza conversión de unidades, sustitución, resultado, chequeo y pregunta “¿qué falta?”.</a:t>
            </a:r>
          </a:p>
          <a:p>
            <a:endParaRPr/>
          </a:p>
          <a:p>
            <a:r>
              <a:t>[Sources]</a:t>
            </a:r>
          </a:p>
          <a:p>
            <a:r>
              <a:t>- Fuentes de contenido: TEX 6.4.5 y ejercicio G2; PDF pp. 154–155, 166, 169/172; 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Mantener separados cociente de presiones, reflexión y nivel en dB. Desarrollar la idea con esta conclusión: El resultado depende de definiciones, pérdidas y símbolo aprobado.</a:t>
            </a:r>
          </a:p>
          <a:p>
            <a:r>
              <a:t>**Guía del diagrama:** Nombrar la idea central fuera del diagrama; recorrer nodos y conectores en el orden propuesto; terminar con la relación funcional, sin repetir todo el texto de las cajas.</a:t>
            </a:r>
          </a:p>
          <a:p>
            <a:r>
              <a:t>**Demostración opcional:** comparar dos brazos de palanca y preguntar qué se gana en fuerza y qué se cede en desplazamiento. No usar la demostración para fijar razones anatómicas.</a:t>
            </a:r>
          </a:p>
          <a:p>
            <a:r>
              <a:t>**Transición:** Comparar con variantes sin recalcular en vivo.</a:t>
            </a:r>
          </a:p>
          <a:p>
            <a:endParaRPr/>
          </a:p>
          <a:p>
            <a:r>
              <a:t>[Alt text]</a:t>
            </a:r>
          </a:p>
          <a:p>
            <a:r>
              <a:t>Diagrama sobre «G3: modelo combinado del oído medio»; organiza cálculo paramétrico con razón de áreas y brazos; interpretación energética.</a:t>
            </a:r>
          </a:p>
          <a:p>
            <a:endParaRPr/>
          </a:p>
          <a:p>
            <a:r>
              <a:t>[Sources]</a:t>
            </a:r>
          </a:p>
          <a:p>
            <a:r>
              <a:t>- Fuentes de contenido: TEX 6.5.2–6.5.3 y ejercicio G3; PDF pp. 155–158, 166, 169/172; NG; OD-U06-07/08.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Mantener soluciones separadas del enunciado durante la actividad. Desarrollar la idea con esta conclusión: Cambiar datos no basta: cada variante debe pedir interpretación y límites.</a:t>
            </a:r>
          </a:p>
          <a:p>
            <a:r>
              <a:t>**Transición:** Volver a mecanismos si aparece una duda conceptual.</a:t>
            </a:r>
          </a:p>
          <a:p>
            <a:endParaRPr/>
          </a:p>
          <a:p>
            <a:r>
              <a:t>[Alt text]</a:t>
            </a:r>
          </a:p>
          <a:p>
            <a:r>
              <a:t>Composición visual sobre variantes numéricas y preguntas de transferencia; destaca que cambiar datos no basta: cada variante debe pedir interpretación y límites.</a:t>
            </a:r>
          </a:p>
          <a:p>
            <a:endParaRPr/>
          </a:p>
          <a:p>
            <a:r>
              <a:t>[Sources]</a:t>
            </a:r>
          </a:p>
          <a:p>
            <a:r>
              <a:t>- Fuentes de contenido: TEX 6.12; PDF pp. 165–174; BR.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No inferir predominio clínico general desde el esquema. Desarrollar la idea con esta conclusión: La contribución relativa depende de frecuencia, transductor y condiciones; no hay una única ruta.</a:t>
            </a:r>
          </a:p>
          <a:p>
            <a:r>
              <a:t>**Guía del diagrama:** Nombrar la idea central fuera del diagrama; recorrer nodos y conectores en el orden propuesto; terminar con la relación funcional, sin repetir todo el texto de las cajas.</a:t>
            </a:r>
          </a:p>
          <a:p>
            <a:r>
              <a:t>**Transición:** Usar solo para responder dudas de mecanismo.</a:t>
            </a:r>
          </a:p>
          <a:p>
            <a:endParaRPr/>
          </a:p>
          <a:p>
            <a:r>
              <a:t>[Alt text]</a:t>
            </a:r>
          </a:p>
          <a:p>
            <a:r>
              <a:t>Diagrama sobre «Cinco mecanismos propuestos para conducción ósea»; organiza definición ampliada, condiciones y cautelas por mecanismo.</a:t>
            </a:r>
          </a:p>
          <a:p>
            <a:endParaRPr/>
          </a:p>
          <a:p>
            <a:r>
              <a:t>[Sources]</a:t>
            </a:r>
          </a:p>
          <a:p>
            <a:r>
              <a:t>- Fuentes de contenido: TEX 6.6.1–6.6.5; PDF pp. 158–159; REF Stenfelt2011; BR.</a:t>
            </a:r>
          </a:p>
          <a:p>
            <a:r>
              <a:t>- Asset propio aprobado: U06-DG-026B.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Validar toda cifra y canal específico; no mostrar si no aporta a la clase. Desarrollar la idea con esta conclusión: La dirección de corrientes depende de gradientes electroquímicos y compartimentos, no solo de “carga positiva”.</a:t>
            </a:r>
          </a:p>
          <a:p>
            <a:r>
              <a:t>**Guía del diagrama:** Nombrar la idea central fuera del diagrama; recorrer nodos y conectores en el orden propuesto; terminar con la relación funcional, sin repetir todo el texto de las cajas.</a:t>
            </a:r>
          </a:p>
          <a:p>
            <a:r>
              <a:t>**Transición:** Volver a la cadena funcional tras aclarar el detalle.</a:t>
            </a:r>
          </a:p>
          <a:p>
            <a:endParaRPr/>
          </a:p>
          <a:p>
            <a:r>
              <a:t>[Alt text]</a:t>
            </a:r>
          </a:p>
          <a:p>
            <a:r>
              <a:t>Diagrama sobre «Detalle electroquímico de la transducción»; organiza k⁺ apical, ca²⁺ basal, repolarización y neurotransmisión con referencias.</a:t>
            </a:r>
          </a:p>
          <a:p>
            <a:endParaRPr/>
          </a:p>
          <a:p>
            <a:r>
              <a:t>[Sources]</a:t>
            </a:r>
          </a:p>
          <a:p>
            <a:r>
              <a:t>- Fuentes de contenido: TEX 6.8.3; PDF p. 163; REF fettiplace2017, capraraPeng2022.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**Pausa por fuente:** No completar valores desde el capítulo porque no los aporta. No completar la explicación sustantiva ni proyectar como slide final hasta resolver la fuente indicada. Puede mencionarse al docente como vacío trazado, no al estudiantado como conocimiento cerrado.</a:t>
            </a:r>
          </a:p>
          <a:p>
            <a:r>
              <a:t>**Guía del gráfico:** leer primero ejes, unidades/normalización y escala; después localizar máximos, comparar condiciones y cerrar con lo que la curva no representa.</a:t>
            </a:r>
          </a:p>
          <a:p>
            <a:r>
              <a:t>**Transición:** Cerrar la duda y regresar a la función protectora limitada.</a:t>
            </a:r>
          </a:p>
          <a:p>
            <a:endParaRPr/>
          </a:p>
          <a:p>
            <a:r>
              <a:t>[Alt text]</a:t>
            </a:r>
          </a:p>
          <a:p>
            <a:r>
              <a:t>Placeholder de reflejo acústico: latencia, umbral y límites; el recurso definitivo está bloqueado por falta de fuente.</a:t>
            </a:r>
          </a:p>
          <a:p>
            <a:endParaRPr/>
          </a:p>
          <a:p>
            <a:r>
              <a:t>[Sources]</a:t>
            </a:r>
          </a:p>
          <a:p>
            <a:r>
              <a:t>- Fuentes de contenido: PO; TEX 6.5.4; PDF pp. 157–158; OD-U06-10; EXT-PEND.</a:t>
            </a:r>
          </a:p>
          <a:p>
            <a:r>
              <a:t>- Slide de respaldo bloqueada: no proyectar hasta incorporar fuente autorizada.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**Pausa por fuente:** No aprobar U06-057 hasta que esta fuente quede registrada. No completar la explicación sustantiva ni proyectar como slide final hasta resolver la fuente indicada. Puede mencionarse al docente como vacío trazado, no al estudiantado como conocimiento cerrado.</a:t>
            </a:r>
          </a:p>
          <a:p>
            <a:r>
              <a:t>**Guía del diagrama:** Nombrar la idea central fuera del diagrama; recorrer nodos y conectores en el orden propuesto; terminar con la relación funcional, sin repetir todo el texto de las cajas.</a:t>
            </a:r>
          </a:p>
          <a:p>
            <a:r>
              <a:t>**Transición:** Volver al mapa del órgano de Corti.</a:t>
            </a:r>
          </a:p>
          <a:p>
            <a:endParaRPr/>
          </a:p>
          <a:p>
            <a:r>
              <a:t>[Alt text]</a:t>
            </a:r>
          </a:p>
          <a:p>
            <a:r>
              <a:t>Placeholder de túnel de corti: fuente y rotulado de alta fidelidad; el recurso definitivo está bloqueado por falta de fuente.</a:t>
            </a:r>
          </a:p>
          <a:p>
            <a:endParaRPr/>
          </a:p>
          <a:p>
            <a:r>
              <a:t>[Sources]</a:t>
            </a:r>
          </a:p>
          <a:p>
            <a:r>
              <a:t>- Fuentes de contenido: PO; OD-U06-04/14; EXT-PEND.</a:t>
            </a:r>
          </a:p>
          <a:p>
            <a:r>
              <a:t>- Slide de respaldo bloqueada: no proyectar hasta incorporar fuente autorizada.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**Explicación:** Mantener créditos legibles y actualizar estados antes de slide-writing. Desarrollar la idea con esta conclusión: Cada ampliación, visual y decisión debe poder rastrearse.</a:t>
            </a:r>
          </a:p>
          <a:p>
            <a:r>
              <a:t>**Transición:** Fin del respaldo.</a:t>
            </a:r>
          </a:p>
          <a:p>
            <a:endParaRPr/>
          </a:p>
          <a:p>
            <a:r>
              <a:t>[Alt text]</a:t>
            </a:r>
          </a:p>
          <a:p>
            <a:r>
              <a:t>Composición visual sobre fuentes, glosario y decisiones de alcance; destaca que cada ampliación, visual y decisión debe poder rastrearse.</a:t>
            </a:r>
          </a:p>
          <a:p>
            <a:endParaRPr/>
          </a:p>
          <a:p>
            <a:r>
              <a:t>[Sources]</a:t>
            </a:r>
          </a:p>
          <a:p>
            <a:r>
              <a:t>- Fuentes de contenido: PO; TEX; PDF; CM; CDM; GLO; NG; OD; SA; inventarios iniciales.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FA_02_OBJETIVOS">
    <p:spTree>
      <p:nvGrpSpPr>
        <p:cNvPr id="1" name=""/>
        <p:cNvGrpSpPr/>
        <p:nvPr/>
      </p:nvGrpSpPr>
      <p:grpSpPr>
        <a:xfrm>
          <a:off x="0" y="0"/>
          <a:ext cx="0" cy="0"/>
          <a:chOff x="0" y="0"/>
          <a:chExt cx="0" cy="0"/>
        </a:xfrm>
      </p:grpSpPr>
      <p:sp>
        <p:nvSpPr>
          <p:cNvPr id="2" name="ph_title_0">
            <a:extLst>
              <a:ext uri="{FF2B5EF4-FFF2-40B4-BE49-F238E27FC236}">
                <a16:creationId xmlns:a16="http://schemas.microsoft.com/office/drawing/2014/main" id="{4E7B686E-D1DB-4795-5290-247ED77443BC}"/>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Objetivos de aprendizaje</a:t>
            </a:r>
          </a:p>
        </p:txBody>
      </p:sp>
      <p:sp>
        <p:nvSpPr>
          <p:cNvPr id="3" name="ph_body_0">
            <a:extLst>
              <a:ext uri="{FF2B5EF4-FFF2-40B4-BE49-F238E27FC236}">
                <a16:creationId xmlns:a16="http://schemas.microsoft.com/office/drawing/2014/main" id="{F07F7DEC-A90F-3966-89A5-75E897AE30F9}"/>
              </a:ext>
            </a:extLst>
          </p:cNvPr>
          <p:cNvSpPr>
            <a:spLocks noGrp="1"/>
          </p:cNvSpPr>
          <p:nvPr>
            <p:ph type="body" idx="11" hasCustomPrompt="1"/>
          </p:nvPr>
        </p:nvSpPr>
        <p:spPr>
          <a:xfrm>
            <a:off x="800100" y="1733550"/>
            <a:ext cx="8001000" cy="40005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Objetivos observables</a:t>
            </a:r>
          </a:p>
        </p:txBody>
      </p:sp>
      <p:sp>
        <p:nvSpPr>
          <p:cNvPr id="4" name="ph_content_0">
            <a:extLst>
              <a:ext uri="{FF2B5EF4-FFF2-40B4-BE49-F238E27FC236}">
                <a16:creationId xmlns:a16="http://schemas.microsoft.com/office/drawing/2014/main" id="{D4921F09-2F28-54BE-F644-07838B22BCE2}"/>
              </a:ext>
            </a:extLst>
          </p:cNvPr>
          <p:cNvSpPr>
            <a:spLocks noGrp="1"/>
          </p:cNvSpPr>
          <p:nvPr>
            <p:ph idx="12" hasCustomPrompt="1"/>
          </p:nvPr>
        </p:nvSpPr>
        <p:spPr>
          <a:xfrm>
            <a:off x="9144000" y="1752600"/>
            <a:ext cx="2286000" cy="342900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Síntesis visual</a:t>
            </a:r>
          </a:p>
        </p:txBody>
      </p:sp>
      <p:sp>
        <p:nvSpPr>
          <p:cNvPr id="5" name="fa_slide_number">
            <a:extLst>
              <a:ext uri="{FF2B5EF4-FFF2-40B4-BE49-F238E27FC236}">
                <a16:creationId xmlns:a16="http://schemas.microsoft.com/office/drawing/2014/main" id="{1912B5C8-473B-C77D-A05F-B105E16C686E}"/>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493598C6-FC0D-4EB0-AFF4-EF34A4827315}" type="slidenum">
              <a:t>‹Nº›</a:t>
            </a:fld>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FA_23_APENDICE">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4F817AC1-63E9-74A3-6EEF-E53D71A0508E}"/>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Apéndice</a:t>
            </a:r>
          </a:p>
        </p:txBody>
      </p:sp>
      <p:sp>
        <p:nvSpPr>
          <p:cNvPr id="7" name="ph_body_0">
            <a:extLst>
              <a:ext uri="{FF2B5EF4-FFF2-40B4-BE49-F238E27FC236}">
                <a16:creationId xmlns:a16="http://schemas.microsoft.com/office/drawing/2014/main" id="{3A72ED7B-043F-EB18-1C28-92B596F251B2}"/>
              </a:ext>
            </a:extLst>
          </p:cNvPr>
          <p:cNvSpPr>
            <a:spLocks noGrp="1"/>
          </p:cNvSpPr>
          <p:nvPr>
            <p:ph type="body" idx="11" hasCustomPrompt="1"/>
          </p:nvPr>
        </p:nvSpPr>
        <p:spPr>
          <a:xfrm>
            <a:off x="762000" y="1676400"/>
            <a:ext cx="10668000" cy="4095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Material de consulta</a:t>
            </a:r>
          </a:p>
        </p:txBody>
      </p:sp>
      <p:sp>
        <p:nvSpPr>
          <p:cNvPr id="8" name="fa_slide_number">
            <a:extLst>
              <a:ext uri="{FF2B5EF4-FFF2-40B4-BE49-F238E27FC236}">
                <a16:creationId xmlns:a16="http://schemas.microsoft.com/office/drawing/2014/main" id="{54E6216A-7B06-7D20-00D4-14737599E1E4}"/>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89BA0A7D-AABB-4192-B838-2BA5BB3178BC}" type="slidenum">
              <a:t>‹Nº›</a:t>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A_22_VISUAL_COMPLETO">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B0072429-6B7A-69F4-3F2D-C2B17968DFE0}"/>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Título informativo</a:t>
            </a:r>
          </a:p>
        </p:txBody>
      </p:sp>
      <p:sp>
        <p:nvSpPr>
          <p:cNvPr id="7" name="ph_picture_0">
            <a:extLst>
              <a:ext uri="{FF2B5EF4-FFF2-40B4-BE49-F238E27FC236}">
                <a16:creationId xmlns:a16="http://schemas.microsoft.com/office/drawing/2014/main" id="{F9D8C064-C5F2-F9D4-1C9F-C48CF1E689A0}"/>
              </a:ext>
            </a:extLst>
          </p:cNvPr>
          <p:cNvSpPr>
            <a:spLocks noGrp="1"/>
          </p:cNvSpPr>
          <p:nvPr>
            <p:ph type="pic" idx="11" hasCustomPrompt="1"/>
          </p:nvPr>
        </p:nvSpPr>
        <p:spPr>
          <a:xfrm>
            <a:off x="762000" y="1562100"/>
            <a:ext cx="10668000" cy="42100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r>
              <a:t>Visual principal</a:t>
            </a:r>
          </a:p>
        </p:txBody>
      </p:sp>
      <p:sp>
        <p:nvSpPr>
          <p:cNvPr id="8" name="fa_slide_number">
            <a:extLst>
              <a:ext uri="{FF2B5EF4-FFF2-40B4-BE49-F238E27FC236}">
                <a16:creationId xmlns:a16="http://schemas.microsoft.com/office/drawing/2014/main" id="{BEAB57CB-6BFE-7577-9B58-D0EA985A281A}"/>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DBBF5632-20E4-4D54-B3A4-92C990DA26EE}" type="slidenum">
              <a:t>‹Nº›</a:t>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FA_20_BIBLIO_RECURSOS">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9FB78823-06A2-4172-6192-1B829F9AB87F}"/>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Bibliografía y recursos</a:t>
            </a:r>
          </a:p>
        </p:txBody>
      </p:sp>
      <p:sp>
        <p:nvSpPr>
          <p:cNvPr id="7" name="ph_body_0">
            <a:extLst>
              <a:ext uri="{FF2B5EF4-FFF2-40B4-BE49-F238E27FC236}">
                <a16:creationId xmlns:a16="http://schemas.microsoft.com/office/drawing/2014/main" id="{009E4BB4-6F84-BBB7-BD01-0716EEE41AB5}"/>
              </a:ext>
            </a:extLst>
          </p:cNvPr>
          <p:cNvSpPr>
            <a:spLocks noGrp="1"/>
          </p:cNvSpPr>
          <p:nvPr>
            <p:ph type="body" idx="11" hasCustomPrompt="1"/>
          </p:nvPr>
        </p:nvSpPr>
        <p:spPr>
          <a:xfrm>
            <a:off x="762000" y="1676400"/>
            <a:ext cx="10668000" cy="4095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Referencias y enlaces</a:t>
            </a:r>
          </a:p>
        </p:txBody>
      </p:sp>
      <p:sp>
        <p:nvSpPr>
          <p:cNvPr id="8" name="fa_slide_number">
            <a:extLst>
              <a:ext uri="{FF2B5EF4-FFF2-40B4-BE49-F238E27FC236}">
                <a16:creationId xmlns:a16="http://schemas.microsoft.com/office/drawing/2014/main" id="{FCDD5430-4EE5-8B4D-B583-289E6408232B}"/>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E8732B64-9C97-4971-8B5F-42781D287601}" type="slidenum">
              <a:t>‹Nº›</a:t>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FA_19_MEDIA_AUDIO_VIDEO">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B0CDC979-FF33-3EDD-88CD-DF60D4B1D61C}"/>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Video, GIF o audio</a:t>
            </a:r>
          </a:p>
        </p:txBody>
      </p:sp>
      <p:sp>
        <p:nvSpPr>
          <p:cNvPr id="7" name="ph_media_0">
            <a:extLst>
              <a:ext uri="{FF2B5EF4-FFF2-40B4-BE49-F238E27FC236}">
                <a16:creationId xmlns:a16="http://schemas.microsoft.com/office/drawing/2014/main" id="{079FCF96-20BE-7B92-B825-972A93B10A07}"/>
              </a:ext>
            </a:extLst>
          </p:cNvPr>
          <p:cNvSpPr>
            <a:spLocks noGrp="1"/>
          </p:cNvSpPr>
          <p:nvPr>
            <p:ph type="media" idx="11" hasCustomPrompt="1"/>
          </p:nvPr>
        </p:nvSpPr>
        <p:spPr>
          <a:xfrm>
            <a:off x="762000" y="1657350"/>
            <a:ext cx="7239000" cy="37147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r>
              <a:t>Video, GIF o audio</a:t>
            </a:r>
          </a:p>
        </p:txBody>
      </p:sp>
      <p:sp>
        <p:nvSpPr>
          <p:cNvPr id="8" name="ph_body_0">
            <a:extLst>
              <a:ext uri="{FF2B5EF4-FFF2-40B4-BE49-F238E27FC236}">
                <a16:creationId xmlns:a16="http://schemas.microsoft.com/office/drawing/2014/main" id="{F555F5DB-607B-02A3-9FCF-CDD66D2EF793}"/>
              </a:ext>
            </a:extLst>
          </p:cNvPr>
          <p:cNvSpPr>
            <a:spLocks noGrp="1"/>
          </p:cNvSpPr>
          <p:nvPr>
            <p:ph type="body" idx="12" hasCustomPrompt="1"/>
          </p:nvPr>
        </p:nvSpPr>
        <p:spPr>
          <a:xfrm>
            <a:off x="8382000" y="1657350"/>
            <a:ext cx="3048000" cy="3714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Consigna de observación</a:t>
            </a:r>
          </a:p>
        </p:txBody>
      </p:sp>
      <p:sp>
        <p:nvSpPr>
          <p:cNvPr id="9" name="fa_slide_number">
            <a:extLst>
              <a:ext uri="{FF2B5EF4-FFF2-40B4-BE49-F238E27FC236}">
                <a16:creationId xmlns:a16="http://schemas.microsoft.com/office/drawing/2014/main" id="{FB834D89-9F78-BAC7-245C-165FD788A321}"/>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076EB7A8-105E-44D9-AF9B-E4B002172AD7}" type="slidenum">
              <a:t>‹Nº›</a:t>
            </a:fld>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FA_18_TABLA_DATOS">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409A66DE-F76D-5BAF-6FEA-DF1908C43A15}"/>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Tabla o datos</a:t>
            </a:r>
          </a:p>
        </p:txBody>
      </p:sp>
      <p:sp>
        <p:nvSpPr>
          <p:cNvPr id="7" name="ph_table_0">
            <a:extLst>
              <a:ext uri="{FF2B5EF4-FFF2-40B4-BE49-F238E27FC236}">
                <a16:creationId xmlns:a16="http://schemas.microsoft.com/office/drawing/2014/main" id="{4C0D0D26-F100-8659-00EA-2409004E2AEE}"/>
              </a:ext>
            </a:extLst>
          </p:cNvPr>
          <p:cNvSpPr>
            <a:spLocks noGrp="1"/>
          </p:cNvSpPr>
          <p:nvPr>
            <p:ph type="tbl" idx="11" hasCustomPrompt="1"/>
          </p:nvPr>
        </p:nvSpPr>
        <p:spPr>
          <a:xfrm>
            <a:off x="762000" y="1676400"/>
            <a:ext cx="10668000" cy="37147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r>
              <a:t>Tabla editable</a:t>
            </a:r>
          </a:p>
        </p:txBody>
      </p:sp>
      <p:sp>
        <p:nvSpPr>
          <p:cNvPr id="8" name="ph_body_0">
            <a:extLst>
              <a:ext uri="{FF2B5EF4-FFF2-40B4-BE49-F238E27FC236}">
                <a16:creationId xmlns:a16="http://schemas.microsoft.com/office/drawing/2014/main" id="{B5DAB8AD-C9A2-9783-CB90-DB0CFE8EF09E}"/>
              </a:ext>
            </a:extLst>
          </p:cNvPr>
          <p:cNvSpPr>
            <a:spLocks noGrp="1"/>
          </p:cNvSpPr>
          <p:nvPr>
            <p:ph type="body" idx="12" hasCustomPrompt="1"/>
          </p:nvPr>
        </p:nvSpPr>
        <p:spPr>
          <a:xfrm>
            <a:off x="762000" y="5581650"/>
            <a:ext cx="10668000" cy="4191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Lectura principal</a:t>
            </a:r>
          </a:p>
        </p:txBody>
      </p:sp>
      <p:sp>
        <p:nvSpPr>
          <p:cNvPr id="9" name="fa_slide_number">
            <a:extLst>
              <a:ext uri="{FF2B5EF4-FFF2-40B4-BE49-F238E27FC236}">
                <a16:creationId xmlns:a16="http://schemas.microsoft.com/office/drawing/2014/main" id="{7408CF10-5CC7-0648-9A06-15F7433C7031}"/>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4FEE56A1-BB6C-438D-8886-FF44760C7C6B}" type="slidenum">
              <a:t>‹Nº›</a:t>
            </a:fld>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FA_17_RECAP_FINAL">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58A1AFD7-74FA-41E6-94B3-B5C8DDCED2B7}"/>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Recapitulación final</a:t>
            </a:r>
          </a:p>
        </p:txBody>
      </p:sp>
      <p:sp>
        <p:nvSpPr>
          <p:cNvPr id="7" name="ph_content_0">
            <a:extLst>
              <a:ext uri="{FF2B5EF4-FFF2-40B4-BE49-F238E27FC236}">
                <a16:creationId xmlns:a16="http://schemas.microsoft.com/office/drawing/2014/main" id="{DE1EB0DD-8791-1A8B-9D62-CD8B1EF3E7B3}"/>
              </a:ext>
            </a:extLst>
          </p:cNvPr>
          <p:cNvSpPr>
            <a:spLocks noGrp="1"/>
          </p:cNvSpPr>
          <p:nvPr>
            <p:ph idx="11" hasCustomPrompt="1"/>
          </p:nvPr>
        </p:nvSpPr>
        <p:spPr>
          <a:xfrm>
            <a:off x="762000" y="1695450"/>
            <a:ext cx="10668000" cy="37147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Mapa de conceptos</a:t>
            </a:r>
          </a:p>
        </p:txBody>
      </p:sp>
      <p:sp>
        <p:nvSpPr>
          <p:cNvPr id="8" name="fa_slide_number">
            <a:extLst>
              <a:ext uri="{FF2B5EF4-FFF2-40B4-BE49-F238E27FC236}">
                <a16:creationId xmlns:a16="http://schemas.microsoft.com/office/drawing/2014/main" id="{85F550E7-9C54-188B-FFC4-467A63CBBB37}"/>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456A0307-F779-4344-B886-D9280EB668B3}" type="slidenum">
              <a:t>‹Nº›</a:t>
            </a:fld>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FA_16_RECAP_PARCIAL">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39229E1F-564D-1252-8752-640CDDC94936}"/>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Resumen parcial</a:t>
            </a:r>
          </a:p>
        </p:txBody>
      </p:sp>
      <p:sp>
        <p:nvSpPr>
          <p:cNvPr id="7" name="ph_body_0">
            <a:extLst>
              <a:ext uri="{FF2B5EF4-FFF2-40B4-BE49-F238E27FC236}">
                <a16:creationId xmlns:a16="http://schemas.microsoft.com/office/drawing/2014/main" id="{26942BEC-4BB7-68A8-5D3D-0F2E7C8C878D}"/>
              </a:ext>
            </a:extLst>
          </p:cNvPr>
          <p:cNvSpPr>
            <a:spLocks noGrp="1"/>
          </p:cNvSpPr>
          <p:nvPr>
            <p:ph type="body" idx="11" hasCustomPrompt="1"/>
          </p:nvPr>
        </p:nvSpPr>
        <p:spPr>
          <a:xfrm>
            <a:off x="762000" y="1676400"/>
            <a:ext cx="6858000" cy="40005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Ideas consolidadas</a:t>
            </a:r>
          </a:p>
        </p:txBody>
      </p:sp>
      <p:sp>
        <p:nvSpPr>
          <p:cNvPr id="8" name="ph_content_0">
            <a:extLst>
              <a:ext uri="{FF2B5EF4-FFF2-40B4-BE49-F238E27FC236}">
                <a16:creationId xmlns:a16="http://schemas.microsoft.com/office/drawing/2014/main" id="{58A41835-9B86-B2F7-FDEB-E572198A44F3}"/>
              </a:ext>
            </a:extLst>
          </p:cNvPr>
          <p:cNvSpPr>
            <a:spLocks noGrp="1"/>
          </p:cNvSpPr>
          <p:nvPr>
            <p:ph idx="12" hasCustomPrompt="1"/>
          </p:nvPr>
        </p:nvSpPr>
        <p:spPr>
          <a:xfrm>
            <a:off x="8001000" y="1676400"/>
            <a:ext cx="3429000" cy="31432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Llamada de recapitulación</a:t>
            </a:r>
          </a:p>
        </p:txBody>
      </p:sp>
      <p:sp>
        <p:nvSpPr>
          <p:cNvPr id="9" name="fa_slide_number">
            <a:extLst>
              <a:ext uri="{FF2B5EF4-FFF2-40B4-BE49-F238E27FC236}">
                <a16:creationId xmlns:a16="http://schemas.microsoft.com/office/drawing/2014/main" id="{9448B502-DD56-36BC-C80F-26C3FDF379C3}"/>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A33687D1-4041-4057-AFDA-E8313599D529}" type="slidenum">
              <a:t>‹Nº›</a:t>
            </a:fld>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FA_15_ERROR_FRECUENTE">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EDF6D93D-81D3-09A3-9451-58354AAA940D}"/>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Error frecuente</a:t>
            </a:r>
          </a:p>
        </p:txBody>
      </p:sp>
      <p:sp>
        <p:nvSpPr>
          <p:cNvPr id="7" name="ph_content_0">
            <a:extLst>
              <a:ext uri="{FF2B5EF4-FFF2-40B4-BE49-F238E27FC236}">
                <a16:creationId xmlns:a16="http://schemas.microsoft.com/office/drawing/2014/main" id="{BEE8D141-1A7B-E1E2-4278-DACF5AEFFBB9}"/>
              </a:ext>
            </a:extLst>
          </p:cNvPr>
          <p:cNvSpPr>
            <a:spLocks noGrp="1"/>
          </p:cNvSpPr>
          <p:nvPr>
            <p:ph idx="11" hasCustomPrompt="1"/>
          </p:nvPr>
        </p:nvSpPr>
        <p:spPr>
          <a:xfrm>
            <a:off x="952500" y="1809750"/>
            <a:ext cx="10287000" cy="171450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Idea incorrecta</a:t>
            </a:r>
          </a:p>
        </p:txBody>
      </p:sp>
      <p:sp>
        <p:nvSpPr>
          <p:cNvPr id="8" name="ph_body_0">
            <a:extLst>
              <a:ext uri="{FF2B5EF4-FFF2-40B4-BE49-F238E27FC236}">
                <a16:creationId xmlns:a16="http://schemas.microsoft.com/office/drawing/2014/main" id="{51AAF03A-25D3-5D01-FCF9-2955539C92E3}"/>
              </a:ext>
            </a:extLst>
          </p:cNvPr>
          <p:cNvSpPr>
            <a:spLocks noGrp="1"/>
          </p:cNvSpPr>
          <p:nvPr>
            <p:ph type="body" idx="12" hasCustomPrompt="1"/>
          </p:nvPr>
        </p:nvSpPr>
        <p:spPr>
          <a:xfrm>
            <a:off x="1143000" y="3905250"/>
            <a:ext cx="9906000" cy="17145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Corrección razonada</a:t>
            </a:r>
          </a:p>
        </p:txBody>
      </p:sp>
      <p:sp>
        <p:nvSpPr>
          <p:cNvPr id="9" name="fa_slide_number">
            <a:extLst>
              <a:ext uri="{FF2B5EF4-FFF2-40B4-BE49-F238E27FC236}">
                <a16:creationId xmlns:a16="http://schemas.microsoft.com/office/drawing/2014/main" id="{2EC62D10-711F-D9B1-7D3A-18749CF1A784}"/>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BDAFD395-8463-4588-B260-79B86AAD3E51}" type="slidenum">
              <a:t>‹Nº›</a:t>
            </a:fld>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FA_14B_MINI_EJERCICIO">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EC11DF7D-DCF3-07BF-2350-3CEDB78BCA73}"/>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Mini ejercicio</a:t>
            </a:r>
          </a:p>
        </p:txBody>
      </p:sp>
      <p:sp>
        <p:nvSpPr>
          <p:cNvPr id="7" name="ph_body_0">
            <a:extLst>
              <a:ext uri="{FF2B5EF4-FFF2-40B4-BE49-F238E27FC236}">
                <a16:creationId xmlns:a16="http://schemas.microsoft.com/office/drawing/2014/main" id="{BFFBA6A1-CB2F-C08F-96BB-D862AE72699F}"/>
              </a:ext>
            </a:extLst>
          </p:cNvPr>
          <p:cNvSpPr>
            <a:spLocks noGrp="1"/>
          </p:cNvSpPr>
          <p:nvPr>
            <p:ph type="body" idx="11" hasCustomPrompt="1"/>
          </p:nvPr>
        </p:nvSpPr>
        <p:spPr>
          <a:xfrm>
            <a:off x="762000" y="1695450"/>
            <a:ext cx="6477000" cy="34290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Consigna y datos</a:t>
            </a:r>
          </a:p>
        </p:txBody>
      </p:sp>
      <p:sp>
        <p:nvSpPr>
          <p:cNvPr id="8" name="ph_content_0">
            <a:extLst>
              <a:ext uri="{FF2B5EF4-FFF2-40B4-BE49-F238E27FC236}">
                <a16:creationId xmlns:a16="http://schemas.microsoft.com/office/drawing/2014/main" id="{91DCAFC2-EA6E-2D23-3B41-A0752099656D}"/>
              </a:ext>
            </a:extLst>
          </p:cNvPr>
          <p:cNvSpPr>
            <a:spLocks noGrp="1"/>
          </p:cNvSpPr>
          <p:nvPr>
            <p:ph idx="12" hasCustomPrompt="1"/>
          </p:nvPr>
        </p:nvSpPr>
        <p:spPr>
          <a:xfrm>
            <a:off x="7620000" y="1695450"/>
            <a:ext cx="3810000" cy="342900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Espacio de resolución</a:t>
            </a:r>
          </a:p>
        </p:txBody>
      </p:sp>
      <p:sp>
        <p:nvSpPr>
          <p:cNvPr id="9" name="fa_slide_number">
            <a:extLst>
              <a:ext uri="{FF2B5EF4-FFF2-40B4-BE49-F238E27FC236}">
                <a16:creationId xmlns:a16="http://schemas.microsoft.com/office/drawing/2014/main" id="{A0621BFB-671E-D2BB-46AB-1C4FC0833871}"/>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81336448-9F7A-438A-9B1D-8F6491D87475}" type="slidenum">
              <a:t>‹Nº›</a:t>
            </a:fld>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FA_14_PREGUNTA_EJERCICIO">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622FF81E-C3C8-AD07-DE0B-DA2CA2611D15}"/>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Pregunta al curso</a:t>
            </a:r>
          </a:p>
        </p:txBody>
      </p:sp>
      <p:sp>
        <p:nvSpPr>
          <p:cNvPr id="7" name="ph_content_0">
            <a:extLst>
              <a:ext uri="{FF2B5EF4-FFF2-40B4-BE49-F238E27FC236}">
                <a16:creationId xmlns:a16="http://schemas.microsoft.com/office/drawing/2014/main" id="{FB5F4DDD-6CFB-7D47-14E7-EA043E89CA23}"/>
              </a:ext>
            </a:extLst>
          </p:cNvPr>
          <p:cNvSpPr>
            <a:spLocks noGrp="1"/>
          </p:cNvSpPr>
          <p:nvPr>
            <p:ph idx="11" hasCustomPrompt="1"/>
          </p:nvPr>
        </p:nvSpPr>
        <p:spPr>
          <a:xfrm>
            <a:off x="1333500" y="2000250"/>
            <a:ext cx="9525000" cy="209550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Pregunta</a:t>
            </a:r>
          </a:p>
        </p:txBody>
      </p:sp>
      <p:sp>
        <p:nvSpPr>
          <p:cNvPr id="8" name="ph_body_0">
            <a:extLst>
              <a:ext uri="{FF2B5EF4-FFF2-40B4-BE49-F238E27FC236}">
                <a16:creationId xmlns:a16="http://schemas.microsoft.com/office/drawing/2014/main" id="{543AE4C9-62D3-B123-DF7D-6CA4CFF8C65B}"/>
              </a:ext>
            </a:extLst>
          </p:cNvPr>
          <p:cNvSpPr>
            <a:spLocks noGrp="1"/>
          </p:cNvSpPr>
          <p:nvPr>
            <p:ph type="body" idx="12" hasCustomPrompt="1"/>
          </p:nvPr>
        </p:nvSpPr>
        <p:spPr>
          <a:xfrm>
            <a:off x="1524000" y="4457700"/>
            <a:ext cx="9144000" cy="1047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Pistas para discutir</a:t>
            </a:r>
          </a:p>
        </p:txBody>
      </p:sp>
      <p:sp>
        <p:nvSpPr>
          <p:cNvPr id="9" name="fa_slide_number">
            <a:extLst>
              <a:ext uri="{FF2B5EF4-FFF2-40B4-BE49-F238E27FC236}">
                <a16:creationId xmlns:a16="http://schemas.microsoft.com/office/drawing/2014/main" id="{81D1303B-53FE-8249-310B-E605F0EE1564}"/>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1CFE78DF-3976-48C8-961D-AA1C8CA99F09}" type="slidenum">
              <a:t>‹Nº›</a:t>
            </a:fld>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A_13_APLICACION_CLINICA">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DDD03774-96DE-DA2F-A511-71B36099D23A}"/>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Aplicación a Fonoaudiología</a:t>
            </a:r>
          </a:p>
        </p:txBody>
      </p:sp>
      <p:sp>
        <p:nvSpPr>
          <p:cNvPr id="7" name="ph_body_0">
            <a:extLst>
              <a:ext uri="{FF2B5EF4-FFF2-40B4-BE49-F238E27FC236}">
                <a16:creationId xmlns:a16="http://schemas.microsoft.com/office/drawing/2014/main" id="{BF907AE9-FAD6-BFC9-BD52-A97C988A7F59}"/>
              </a:ext>
            </a:extLst>
          </p:cNvPr>
          <p:cNvSpPr>
            <a:spLocks noGrp="1"/>
          </p:cNvSpPr>
          <p:nvPr>
            <p:ph type="body" idx="11" hasCustomPrompt="1"/>
          </p:nvPr>
        </p:nvSpPr>
        <p:spPr>
          <a:xfrm>
            <a:off x="762000" y="1714500"/>
            <a:ext cx="5715000" cy="39052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Concepto físico</a:t>
            </a:r>
          </a:p>
        </p:txBody>
      </p:sp>
      <p:sp>
        <p:nvSpPr>
          <p:cNvPr id="8" name="ph_content_0">
            <a:extLst>
              <a:ext uri="{FF2B5EF4-FFF2-40B4-BE49-F238E27FC236}">
                <a16:creationId xmlns:a16="http://schemas.microsoft.com/office/drawing/2014/main" id="{714E50E2-E1DA-3206-B850-EA65C2FD7D1A}"/>
              </a:ext>
            </a:extLst>
          </p:cNvPr>
          <p:cNvSpPr>
            <a:spLocks noGrp="1"/>
          </p:cNvSpPr>
          <p:nvPr>
            <p:ph idx="12" hasCustomPrompt="1"/>
          </p:nvPr>
        </p:nvSpPr>
        <p:spPr>
          <a:xfrm>
            <a:off x="6858000" y="1714500"/>
            <a:ext cx="4572000" cy="342900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Aplicación clínica</a:t>
            </a:r>
          </a:p>
        </p:txBody>
      </p:sp>
      <p:sp>
        <p:nvSpPr>
          <p:cNvPr id="9" name="fa_slide_number">
            <a:extLst>
              <a:ext uri="{FF2B5EF4-FFF2-40B4-BE49-F238E27FC236}">
                <a16:creationId xmlns:a16="http://schemas.microsoft.com/office/drawing/2014/main" id="{51F74211-E68E-8F63-B477-ED892A0B76ED}"/>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A330D82D-5740-4471-AF56-8696EEE2E4B5}" type="slidenum">
              <a:t>‹Nº›</a:t>
            </a:fld>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A_12_PROCESO">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6A7C0E02-1009-E9C6-5ACC-80E7D6880A69}"/>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Proceso secuencial</a:t>
            </a:r>
          </a:p>
        </p:txBody>
      </p:sp>
      <p:sp>
        <p:nvSpPr>
          <p:cNvPr id="7" name="ph_content_0">
            <a:extLst>
              <a:ext uri="{FF2B5EF4-FFF2-40B4-BE49-F238E27FC236}">
                <a16:creationId xmlns:a16="http://schemas.microsoft.com/office/drawing/2014/main" id="{58205925-FD47-66F2-A802-416BCA053AEF}"/>
              </a:ext>
            </a:extLst>
          </p:cNvPr>
          <p:cNvSpPr>
            <a:spLocks noGrp="1"/>
          </p:cNvSpPr>
          <p:nvPr>
            <p:ph idx="11" hasCustomPrompt="1"/>
          </p:nvPr>
        </p:nvSpPr>
        <p:spPr>
          <a:xfrm>
            <a:off x="762000" y="1924050"/>
            <a:ext cx="10668000" cy="29527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Secuencia editable</a:t>
            </a:r>
          </a:p>
        </p:txBody>
      </p:sp>
      <p:sp>
        <p:nvSpPr>
          <p:cNvPr id="8" name="ph_body_0">
            <a:extLst>
              <a:ext uri="{FF2B5EF4-FFF2-40B4-BE49-F238E27FC236}">
                <a16:creationId xmlns:a16="http://schemas.microsoft.com/office/drawing/2014/main" id="{8685E304-E9CA-43F8-8930-8E0ED8BE7286}"/>
              </a:ext>
            </a:extLst>
          </p:cNvPr>
          <p:cNvSpPr>
            <a:spLocks noGrp="1"/>
          </p:cNvSpPr>
          <p:nvPr>
            <p:ph type="body" idx="12" hasCustomPrompt="1"/>
          </p:nvPr>
        </p:nvSpPr>
        <p:spPr>
          <a:xfrm>
            <a:off x="914400" y="5219700"/>
            <a:ext cx="10363200" cy="6096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Idea de cierre</a:t>
            </a:r>
          </a:p>
        </p:txBody>
      </p:sp>
      <p:sp>
        <p:nvSpPr>
          <p:cNvPr id="9" name="fa_slide_number">
            <a:extLst>
              <a:ext uri="{FF2B5EF4-FFF2-40B4-BE49-F238E27FC236}">
                <a16:creationId xmlns:a16="http://schemas.microsoft.com/office/drawing/2014/main" id="{0506C10D-1069-18D8-D511-E7658980284E}"/>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9CA5DB51-531C-4AFB-9FB5-87CA9A3111B8}" type="slidenum">
              <a:t>‹Nº›</a:t>
            </a:fld>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FA_11_COMPARACION">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C3754BA9-BA43-89AA-C70D-83CA68AF3401}"/>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Comparación</a:t>
            </a:r>
          </a:p>
        </p:txBody>
      </p:sp>
      <p:sp>
        <p:nvSpPr>
          <p:cNvPr id="7" name="ph_body_0">
            <a:extLst>
              <a:ext uri="{FF2B5EF4-FFF2-40B4-BE49-F238E27FC236}">
                <a16:creationId xmlns:a16="http://schemas.microsoft.com/office/drawing/2014/main" id="{4E58697A-6AA1-094E-FB77-5ED2F72D0C96}"/>
              </a:ext>
            </a:extLst>
          </p:cNvPr>
          <p:cNvSpPr>
            <a:spLocks noGrp="1"/>
          </p:cNvSpPr>
          <p:nvPr>
            <p:ph type="body" idx="11" hasCustomPrompt="1"/>
          </p:nvPr>
        </p:nvSpPr>
        <p:spPr>
          <a:xfrm>
            <a:off x="762000" y="1695450"/>
            <a:ext cx="4953000" cy="39052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Caso A</a:t>
            </a:r>
          </a:p>
        </p:txBody>
      </p:sp>
      <p:sp>
        <p:nvSpPr>
          <p:cNvPr id="8" name="ph_body_1">
            <a:extLst>
              <a:ext uri="{FF2B5EF4-FFF2-40B4-BE49-F238E27FC236}">
                <a16:creationId xmlns:a16="http://schemas.microsoft.com/office/drawing/2014/main" id="{76A280CC-0448-5099-BD8C-5F5DA7427A41}"/>
              </a:ext>
            </a:extLst>
          </p:cNvPr>
          <p:cNvSpPr>
            <a:spLocks noGrp="1"/>
          </p:cNvSpPr>
          <p:nvPr>
            <p:ph type="body" idx="12" hasCustomPrompt="1"/>
          </p:nvPr>
        </p:nvSpPr>
        <p:spPr>
          <a:xfrm>
            <a:off x="6477000" y="1695450"/>
            <a:ext cx="4953000" cy="39052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Caso B</a:t>
            </a:r>
          </a:p>
        </p:txBody>
      </p:sp>
      <p:sp>
        <p:nvSpPr>
          <p:cNvPr id="9" name="fa_slide_number">
            <a:extLst>
              <a:ext uri="{FF2B5EF4-FFF2-40B4-BE49-F238E27FC236}">
                <a16:creationId xmlns:a16="http://schemas.microsoft.com/office/drawing/2014/main" id="{B22C4027-B511-C66A-3210-C4F977C71BF0}"/>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5DBCCD25-7213-4B32-B316-993301A50991}" type="slidenum">
              <a:t>‹Nº›</a:t>
            </a:fld>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FA_10_EJEMPLO_RESUELTO">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1EBA8C66-75F7-8786-62D4-8E39087D032A}"/>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Ejemplo resuelto</a:t>
            </a:r>
          </a:p>
        </p:txBody>
      </p:sp>
      <p:sp>
        <p:nvSpPr>
          <p:cNvPr id="7" name="ph_body_0">
            <a:extLst>
              <a:ext uri="{FF2B5EF4-FFF2-40B4-BE49-F238E27FC236}">
                <a16:creationId xmlns:a16="http://schemas.microsoft.com/office/drawing/2014/main" id="{B3761D8C-5D3D-B5FC-3088-D429C5A6F945}"/>
              </a:ext>
            </a:extLst>
          </p:cNvPr>
          <p:cNvSpPr>
            <a:spLocks noGrp="1"/>
          </p:cNvSpPr>
          <p:nvPr>
            <p:ph type="body" idx="11" hasCustomPrompt="1"/>
          </p:nvPr>
        </p:nvSpPr>
        <p:spPr>
          <a:xfrm>
            <a:off x="762000" y="1657350"/>
            <a:ext cx="4000500" cy="40005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Datos y pregunta</a:t>
            </a:r>
          </a:p>
        </p:txBody>
      </p:sp>
      <p:sp>
        <p:nvSpPr>
          <p:cNvPr id="8" name="ph_body_1">
            <a:extLst>
              <a:ext uri="{FF2B5EF4-FFF2-40B4-BE49-F238E27FC236}">
                <a16:creationId xmlns:a16="http://schemas.microsoft.com/office/drawing/2014/main" id="{72C3AA6E-744B-B585-1A7D-4DBA7725171B}"/>
              </a:ext>
            </a:extLst>
          </p:cNvPr>
          <p:cNvSpPr>
            <a:spLocks noGrp="1"/>
          </p:cNvSpPr>
          <p:nvPr>
            <p:ph type="body" idx="12" hasCustomPrompt="1"/>
          </p:nvPr>
        </p:nvSpPr>
        <p:spPr>
          <a:xfrm>
            <a:off x="5143500" y="1657350"/>
            <a:ext cx="6286500" cy="40005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Resolución paso a paso</a:t>
            </a:r>
          </a:p>
        </p:txBody>
      </p:sp>
      <p:sp>
        <p:nvSpPr>
          <p:cNvPr id="9" name="fa_slide_number">
            <a:extLst>
              <a:ext uri="{FF2B5EF4-FFF2-40B4-BE49-F238E27FC236}">
                <a16:creationId xmlns:a16="http://schemas.microsoft.com/office/drawing/2014/main" id="{F87FCAB0-F142-2C7C-6C7A-2118A60FE41C}"/>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1685110A-6086-4FE8-8F00-9DEAECCAACBB}" type="slidenum">
              <a:t>‹Nº›</a:t>
            </a:fld>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FA_09_ECUACION_INTERPRETACION">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E55D978A-66A3-12DD-6D64-38108280AE38}"/>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Título informativo</a:t>
            </a:r>
          </a:p>
        </p:txBody>
      </p:sp>
      <p:sp>
        <p:nvSpPr>
          <p:cNvPr id="7" name="ph_content_0">
            <a:extLst>
              <a:ext uri="{FF2B5EF4-FFF2-40B4-BE49-F238E27FC236}">
                <a16:creationId xmlns:a16="http://schemas.microsoft.com/office/drawing/2014/main" id="{63049859-11E6-28FF-2063-7C84F2BCE7EA}"/>
              </a:ext>
            </a:extLst>
          </p:cNvPr>
          <p:cNvSpPr>
            <a:spLocks noGrp="1"/>
          </p:cNvSpPr>
          <p:nvPr>
            <p:ph idx="11" hasCustomPrompt="1"/>
          </p:nvPr>
        </p:nvSpPr>
        <p:spPr>
          <a:xfrm>
            <a:off x="762000" y="1752600"/>
            <a:ext cx="10668000" cy="152400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Ecuación editable</a:t>
            </a:r>
          </a:p>
        </p:txBody>
      </p:sp>
      <p:sp>
        <p:nvSpPr>
          <p:cNvPr id="8" name="ph_body_0">
            <a:extLst>
              <a:ext uri="{FF2B5EF4-FFF2-40B4-BE49-F238E27FC236}">
                <a16:creationId xmlns:a16="http://schemas.microsoft.com/office/drawing/2014/main" id="{27826603-AFCB-A7FC-DC5A-2E4905DA0F02}"/>
              </a:ext>
            </a:extLst>
          </p:cNvPr>
          <p:cNvSpPr>
            <a:spLocks noGrp="1"/>
          </p:cNvSpPr>
          <p:nvPr>
            <p:ph type="body" idx="12" hasCustomPrompt="1"/>
          </p:nvPr>
        </p:nvSpPr>
        <p:spPr>
          <a:xfrm>
            <a:off x="762000" y="3638550"/>
            <a:ext cx="10668000" cy="20002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Interpretación y unidades</a:t>
            </a:r>
          </a:p>
        </p:txBody>
      </p:sp>
      <p:sp>
        <p:nvSpPr>
          <p:cNvPr id="9" name="fa_slide_number">
            <a:extLst>
              <a:ext uri="{FF2B5EF4-FFF2-40B4-BE49-F238E27FC236}">
                <a16:creationId xmlns:a16="http://schemas.microsoft.com/office/drawing/2014/main" id="{554DD594-5FD7-1BA8-C390-3B2081E1BD93}"/>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D4E3DF21-1703-4AF3-A758-2190B581AEE3}" type="slidenum">
              <a:t>‹Nº›</a:t>
            </a:fld>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FA_08_DEFINICION">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A64F010A-6A76-C440-2396-A624262AB04D}"/>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Concepto</a:t>
            </a:r>
          </a:p>
        </p:txBody>
      </p:sp>
      <p:sp>
        <p:nvSpPr>
          <p:cNvPr id="7" name="ph_content_0">
            <a:extLst>
              <a:ext uri="{FF2B5EF4-FFF2-40B4-BE49-F238E27FC236}">
                <a16:creationId xmlns:a16="http://schemas.microsoft.com/office/drawing/2014/main" id="{314101D8-2C06-19A3-8BA4-89816CC23386}"/>
              </a:ext>
            </a:extLst>
          </p:cNvPr>
          <p:cNvSpPr>
            <a:spLocks noGrp="1"/>
          </p:cNvSpPr>
          <p:nvPr>
            <p:ph idx="11" hasCustomPrompt="1"/>
          </p:nvPr>
        </p:nvSpPr>
        <p:spPr>
          <a:xfrm>
            <a:off x="1143000" y="1981200"/>
            <a:ext cx="9906000" cy="23812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Definición completa</a:t>
            </a:r>
          </a:p>
        </p:txBody>
      </p:sp>
      <p:sp>
        <p:nvSpPr>
          <p:cNvPr id="8" name="ph_body_0">
            <a:extLst>
              <a:ext uri="{FF2B5EF4-FFF2-40B4-BE49-F238E27FC236}">
                <a16:creationId xmlns:a16="http://schemas.microsoft.com/office/drawing/2014/main" id="{4D685FE1-58B7-9044-F0E6-24526BBA1CC2}"/>
              </a:ext>
            </a:extLst>
          </p:cNvPr>
          <p:cNvSpPr>
            <a:spLocks noGrp="1"/>
          </p:cNvSpPr>
          <p:nvPr>
            <p:ph type="body" idx="12" hasCustomPrompt="1"/>
          </p:nvPr>
        </p:nvSpPr>
        <p:spPr>
          <a:xfrm>
            <a:off x="1333500" y="4686300"/>
            <a:ext cx="9525000" cy="9525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Implicación o ejemplo breve</a:t>
            </a:r>
          </a:p>
        </p:txBody>
      </p:sp>
      <p:sp>
        <p:nvSpPr>
          <p:cNvPr id="9" name="fa_slide_number">
            <a:extLst>
              <a:ext uri="{FF2B5EF4-FFF2-40B4-BE49-F238E27FC236}">
                <a16:creationId xmlns:a16="http://schemas.microsoft.com/office/drawing/2014/main" id="{08CAD3E8-7C2E-D428-8533-9F43F7FD3565}"/>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EF7231C5-674D-43AF-A7BF-A95F7B1AC02E}" type="slidenum">
              <a:t>‹Nº›</a:t>
            </a:fld>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FA_07_GRAFICO_EXPLICACION">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8E031ACD-0AD5-8809-0717-649540F4F383}"/>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Título informativo</a:t>
            </a:r>
          </a:p>
        </p:txBody>
      </p:sp>
      <p:sp>
        <p:nvSpPr>
          <p:cNvPr id="7" name="ph_chart_0">
            <a:extLst>
              <a:ext uri="{FF2B5EF4-FFF2-40B4-BE49-F238E27FC236}">
                <a16:creationId xmlns:a16="http://schemas.microsoft.com/office/drawing/2014/main" id="{5380A50B-6A0F-2DF2-CF30-B0F7001B31E2}"/>
              </a:ext>
            </a:extLst>
          </p:cNvPr>
          <p:cNvSpPr>
            <a:spLocks noGrp="1"/>
          </p:cNvSpPr>
          <p:nvPr>
            <p:ph type="chart" idx="11" hasCustomPrompt="1"/>
          </p:nvPr>
        </p:nvSpPr>
        <p:spPr>
          <a:xfrm>
            <a:off x="762000" y="1676400"/>
            <a:ext cx="6858000" cy="37147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r>
              <a:t>Gráfico editable</a:t>
            </a:r>
          </a:p>
        </p:txBody>
      </p:sp>
      <p:sp>
        <p:nvSpPr>
          <p:cNvPr id="8" name="ph_body_0">
            <a:extLst>
              <a:ext uri="{FF2B5EF4-FFF2-40B4-BE49-F238E27FC236}">
                <a16:creationId xmlns:a16="http://schemas.microsoft.com/office/drawing/2014/main" id="{1A6588E5-AEF0-6915-CE1D-570FEF5B4711}"/>
              </a:ext>
            </a:extLst>
          </p:cNvPr>
          <p:cNvSpPr>
            <a:spLocks noGrp="1"/>
          </p:cNvSpPr>
          <p:nvPr>
            <p:ph type="body" idx="12" hasCustomPrompt="1"/>
          </p:nvPr>
        </p:nvSpPr>
        <p:spPr>
          <a:xfrm>
            <a:off x="8039100" y="1676400"/>
            <a:ext cx="3390900" cy="39052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Lectura guiada</a:t>
            </a:r>
          </a:p>
        </p:txBody>
      </p:sp>
      <p:sp>
        <p:nvSpPr>
          <p:cNvPr id="9" name="fa_slide_number">
            <a:extLst>
              <a:ext uri="{FF2B5EF4-FFF2-40B4-BE49-F238E27FC236}">
                <a16:creationId xmlns:a16="http://schemas.microsoft.com/office/drawing/2014/main" id="{61303251-BC98-15C7-91D2-8A07695826A0}"/>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F56D38C4-B1D5-4C8E-BE72-930FD8BDBC8E}" type="slidenum">
              <a:t>‹Nº›</a:t>
            </a:fld>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FA_06B_DOS_COLUMNAS">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08ED06A4-5573-5517-B8B5-C2075DA96245}"/>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Título informativo</a:t>
            </a:r>
          </a:p>
        </p:txBody>
      </p:sp>
      <p:sp>
        <p:nvSpPr>
          <p:cNvPr id="7" name="ph_body_0">
            <a:extLst>
              <a:ext uri="{FF2B5EF4-FFF2-40B4-BE49-F238E27FC236}">
                <a16:creationId xmlns:a16="http://schemas.microsoft.com/office/drawing/2014/main" id="{CFF38B9F-A684-35A1-0FA9-F59A1B5AB4C6}"/>
              </a:ext>
            </a:extLst>
          </p:cNvPr>
          <p:cNvSpPr>
            <a:spLocks noGrp="1"/>
          </p:cNvSpPr>
          <p:nvPr>
            <p:ph type="body" idx="11" hasCustomPrompt="1"/>
          </p:nvPr>
        </p:nvSpPr>
        <p:spPr>
          <a:xfrm>
            <a:off x="762000" y="1676400"/>
            <a:ext cx="4953000" cy="4095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Columna izquierda</a:t>
            </a:r>
          </a:p>
        </p:txBody>
      </p:sp>
      <p:sp>
        <p:nvSpPr>
          <p:cNvPr id="8" name="ph_body_1">
            <a:extLst>
              <a:ext uri="{FF2B5EF4-FFF2-40B4-BE49-F238E27FC236}">
                <a16:creationId xmlns:a16="http://schemas.microsoft.com/office/drawing/2014/main" id="{8F895085-9CE5-6EE1-5F9D-097B6BDA3C7F}"/>
              </a:ext>
            </a:extLst>
          </p:cNvPr>
          <p:cNvSpPr>
            <a:spLocks noGrp="1"/>
          </p:cNvSpPr>
          <p:nvPr>
            <p:ph type="body" idx="12" hasCustomPrompt="1"/>
          </p:nvPr>
        </p:nvSpPr>
        <p:spPr>
          <a:xfrm>
            <a:off x="6477000" y="1676400"/>
            <a:ext cx="4953000" cy="4095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Columna derecha</a:t>
            </a:r>
          </a:p>
        </p:txBody>
      </p:sp>
      <p:sp>
        <p:nvSpPr>
          <p:cNvPr id="9" name="fa_slide_number">
            <a:extLst>
              <a:ext uri="{FF2B5EF4-FFF2-40B4-BE49-F238E27FC236}">
                <a16:creationId xmlns:a16="http://schemas.microsoft.com/office/drawing/2014/main" id="{BA13ABB1-00AB-594A-F558-8175EBCF3114}"/>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602F4707-DF6D-4294-BB93-51F5AE613322}" type="slidenum">
              <a:t>‹Nº›</a:t>
            </a:fld>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FA_06_VISUAL_TEXTO_40_60">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D5AED30D-A7BD-30DD-BE10-40C7E08936FE}"/>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Título informativo</a:t>
            </a:r>
          </a:p>
        </p:txBody>
      </p:sp>
      <p:sp>
        <p:nvSpPr>
          <p:cNvPr id="7" name="ph_picture_0">
            <a:extLst>
              <a:ext uri="{FF2B5EF4-FFF2-40B4-BE49-F238E27FC236}">
                <a16:creationId xmlns:a16="http://schemas.microsoft.com/office/drawing/2014/main" id="{6FA99C08-D6E3-4E98-F4FE-DDBFAED84D03}"/>
              </a:ext>
            </a:extLst>
          </p:cNvPr>
          <p:cNvSpPr>
            <a:spLocks noGrp="1"/>
          </p:cNvSpPr>
          <p:nvPr>
            <p:ph type="pic" idx="11" hasCustomPrompt="1"/>
          </p:nvPr>
        </p:nvSpPr>
        <p:spPr>
          <a:xfrm>
            <a:off x="762000" y="1676400"/>
            <a:ext cx="4095750" cy="33718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r>
              <a:t>Imagen o diagrama</a:t>
            </a:r>
          </a:p>
        </p:txBody>
      </p:sp>
      <p:sp>
        <p:nvSpPr>
          <p:cNvPr id="8" name="ph_body_0">
            <a:extLst>
              <a:ext uri="{FF2B5EF4-FFF2-40B4-BE49-F238E27FC236}">
                <a16:creationId xmlns:a16="http://schemas.microsoft.com/office/drawing/2014/main" id="{E5F7348D-D236-9EEA-2133-597F8B480978}"/>
              </a:ext>
            </a:extLst>
          </p:cNvPr>
          <p:cNvSpPr>
            <a:spLocks noGrp="1"/>
          </p:cNvSpPr>
          <p:nvPr>
            <p:ph type="body" idx="12" hasCustomPrompt="1"/>
          </p:nvPr>
        </p:nvSpPr>
        <p:spPr>
          <a:xfrm>
            <a:off x="5238750" y="1676400"/>
            <a:ext cx="6191250" cy="39052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Explicación</a:t>
            </a:r>
          </a:p>
        </p:txBody>
      </p:sp>
      <p:sp>
        <p:nvSpPr>
          <p:cNvPr id="9" name="fa_slide_number">
            <a:extLst>
              <a:ext uri="{FF2B5EF4-FFF2-40B4-BE49-F238E27FC236}">
                <a16:creationId xmlns:a16="http://schemas.microsoft.com/office/drawing/2014/main" id="{9B437985-0763-FCCF-F44F-242B6F5117A3}"/>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BA6B0A21-BCB8-4A3F-B261-5C6ED3AE2361}" type="slidenum">
              <a:t>‹Nº›</a:t>
            </a:fld>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FA_05_TEXTO_VISUAL_60_40">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3EF649E4-ADFE-13DB-6148-5183BBE49514}"/>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Título informativo</a:t>
            </a:r>
          </a:p>
        </p:txBody>
      </p:sp>
      <p:sp>
        <p:nvSpPr>
          <p:cNvPr id="7" name="ph_body_0">
            <a:extLst>
              <a:ext uri="{FF2B5EF4-FFF2-40B4-BE49-F238E27FC236}">
                <a16:creationId xmlns:a16="http://schemas.microsoft.com/office/drawing/2014/main" id="{8F472493-280E-0CA3-7AC8-E68E8FBDBFCC}"/>
              </a:ext>
            </a:extLst>
          </p:cNvPr>
          <p:cNvSpPr>
            <a:spLocks noGrp="1"/>
          </p:cNvSpPr>
          <p:nvPr>
            <p:ph type="body" idx="11" hasCustomPrompt="1"/>
          </p:nvPr>
        </p:nvSpPr>
        <p:spPr>
          <a:xfrm>
            <a:off x="762000" y="1676400"/>
            <a:ext cx="6191250" cy="39052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Explicación</a:t>
            </a:r>
          </a:p>
        </p:txBody>
      </p:sp>
      <p:sp>
        <p:nvSpPr>
          <p:cNvPr id="8" name="ph_picture_0">
            <a:extLst>
              <a:ext uri="{FF2B5EF4-FFF2-40B4-BE49-F238E27FC236}">
                <a16:creationId xmlns:a16="http://schemas.microsoft.com/office/drawing/2014/main" id="{79FC630C-AD55-24EA-E53D-308D86D07925}"/>
              </a:ext>
            </a:extLst>
          </p:cNvPr>
          <p:cNvSpPr>
            <a:spLocks noGrp="1"/>
          </p:cNvSpPr>
          <p:nvPr>
            <p:ph type="pic" idx="12" hasCustomPrompt="1"/>
          </p:nvPr>
        </p:nvSpPr>
        <p:spPr>
          <a:xfrm>
            <a:off x="7334250" y="1676400"/>
            <a:ext cx="4095750" cy="337185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r>
              <a:t>Imagen o diagrama</a:t>
            </a:r>
          </a:p>
        </p:txBody>
      </p:sp>
      <p:sp>
        <p:nvSpPr>
          <p:cNvPr id="9" name="fa_slide_number">
            <a:extLst>
              <a:ext uri="{FF2B5EF4-FFF2-40B4-BE49-F238E27FC236}">
                <a16:creationId xmlns:a16="http://schemas.microsoft.com/office/drawing/2014/main" id="{3545EB75-FA22-76BE-9CE1-5BBC0905B29C}"/>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1060B985-A0D6-43B6-9BE3-5D6CD61324BB}" type="slidenum">
              <a:t>‹Nº›</a:t>
            </a:fld>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FA_04_TITULO_CONTENIDO">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EA73D0B5-44ED-C607-E4A8-F4FDBA1B460F}"/>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Título informativo</a:t>
            </a:r>
          </a:p>
        </p:txBody>
      </p:sp>
      <p:sp>
        <p:nvSpPr>
          <p:cNvPr id="7" name="ph_body_0">
            <a:extLst>
              <a:ext uri="{FF2B5EF4-FFF2-40B4-BE49-F238E27FC236}">
                <a16:creationId xmlns:a16="http://schemas.microsoft.com/office/drawing/2014/main" id="{4067827F-3DFD-43A8-ED1D-4A061C6AADC3}"/>
              </a:ext>
            </a:extLst>
          </p:cNvPr>
          <p:cNvSpPr>
            <a:spLocks noGrp="1"/>
          </p:cNvSpPr>
          <p:nvPr>
            <p:ph type="body" idx="11" hasCustomPrompt="1"/>
          </p:nvPr>
        </p:nvSpPr>
        <p:spPr>
          <a:xfrm>
            <a:off x="762000" y="1695450"/>
            <a:ext cx="10668000" cy="411480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Idea principal y desarrollo</a:t>
            </a:r>
          </a:p>
        </p:txBody>
      </p:sp>
      <p:sp>
        <p:nvSpPr>
          <p:cNvPr id="8" name="fa_slide_number">
            <a:extLst>
              <a:ext uri="{FF2B5EF4-FFF2-40B4-BE49-F238E27FC236}">
                <a16:creationId xmlns:a16="http://schemas.microsoft.com/office/drawing/2014/main" id="{AB672653-EF56-0789-95CE-0ACA39724214}"/>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1113A982-D864-4714-BC0D-F64786B8C006}" type="slidenum">
              <a:t>‹Nº›</a:t>
            </a:fld>
            <a:endParaRP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A_03_MAPA_CLASE">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774C0439-FC2E-F5D5-0F77-C83354962018}"/>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Mapa de la clase</a:t>
            </a:r>
          </a:p>
        </p:txBody>
      </p:sp>
      <p:sp>
        <p:nvSpPr>
          <p:cNvPr id="7" name="ph_content_0">
            <a:extLst>
              <a:ext uri="{FF2B5EF4-FFF2-40B4-BE49-F238E27FC236}">
                <a16:creationId xmlns:a16="http://schemas.microsoft.com/office/drawing/2014/main" id="{5D91A08B-7367-A177-D3A1-D4D0D4FD2923}"/>
              </a:ext>
            </a:extLst>
          </p:cNvPr>
          <p:cNvSpPr>
            <a:spLocks noGrp="1"/>
          </p:cNvSpPr>
          <p:nvPr>
            <p:ph idx="11" hasCustomPrompt="1"/>
          </p:nvPr>
        </p:nvSpPr>
        <p:spPr>
          <a:xfrm>
            <a:off x="762000" y="1790700"/>
            <a:ext cx="10668000" cy="3733800"/>
          </a:xfrm>
          <a:prstGeom prst="rect">
            <a:avLst/>
          </a:prstGeom>
        </p:spPr>
        <p:txBody>
          <a:bodyPr wrap="square" lIns="0" tIns="0" rIns="0" bIns="0" anchor="ctr">
            <a:noAutofit/>
          </a:bodyPr>
          <a:lstStyle>
            <a:lvl1pPr algn="ctr">
              <a:buNone/>
              <a:defRPr sz="1650" b="0">
                <a:solidFill>
                  <a:srgbClr val="667079"/>
                </a:solidFill>
                <a:latin typeface="Calibri"/>
                <a:ea typeface="Calibri"/>
                <a:cs typeface="Calibri"/>
              </a:defRPr>
            </a:lvl1pPr>
          </a:lstStyle>
          <a:p>
            <a:pPr lvl="0">
              <a:buNone/>
            </a:pPr>
            <a:r>
              <a:t>Secuencia de bloques</a:t>
            </a:r>
          </a:p>
        </p:txBody>
      </p:sp>
      <p:sp>
        <p:nvSpPr>
          <p:cNvPr id="8" name="fa_slide_number">
            <a:extLst>
              <a:ext uri="{FF2B5EF4-FFF2-40B4-BE49-F238E27FC236}">
                <a16:creationId xmlns:a16="http://schemas.microsoft.com/office/drawing/2014/main" id="{CB1AB991-FF40-041B-F321-8D5FD603622B}"/>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A4F5DA17-0689-46E4-8362-81AB21D91399}" type="slidenum">
              <a:t>‹Nº›</a:t>
            </a:fld>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FA_02B_CONOCIMIENTOS_PREVIOS">
    <p:spTree>
      <p:nvGrpSpPr>
        <p:cNvPr id="1" name=""/>
        <p:cNvGrpSpPr/>
        <p:nvPr/>
      </p:nvGrpSpPr>
      <p:grpSpPr>
        <a:xfrm>
          <a:off x="0" y="0"/>
          <a:ext cx="0" cy="0"/>
          <a:chOff x="0" y="0"/>
          <a:chExt cx="0" cy="0"/>
        </a:xfrm>
      </p:grpSpPr>
      <p:sp>
        <p:nvSpPr>
          <p:cNvPr id="6" name="ph_title_0">
            <a:extLst>
              <a:ext uri="{FF2B5EF4-FFF2-40B4-BE49-F238E27FC236}">
                <a16:creationId xmlns:a16="http://schemas.microsoft.com/office/drawing/2014/main" id="{E86E20EB-ACF6-E98B-A7F7-FAA63FE7A1AB}"/>
              </a:ext>
            </a:extLst>
          </p:cNvPr>
          <p:cNvSpPr>
            <a:spLocks noGrp="1"/>
          </p:cNvSpPr>
          <p:nvPr>
            <p:ph type="title" idx="10" hasCustomPrompt="1"/>
          </p:nvPr>
        </p:nvSpPr>
        <p:spPr>
          <a:xfrm>
            <a:off x="609600" y="695325"/>
            <a:ext cx="10972800" cy="590550"/>
          </a:xfrm>
          <a:prstGeom prst="rect">
            <a:avLst/>
          </a:prstGeom>
        </p:spPr>
        <p:txBody>
          <a:bodyPr wrap="square" lIns="0" tIns="0" rIns="0" bIns="0" anchor="ctr">
            <a:noAutofit/>
          </a:bodyPr>
          <a:lstStyle>
            <a:lvl1pPr algn="l">
              <a:buNone/>
              <a:defRPr sz="3600" b="0">
                <a:solidFill>
                  <a:srgbClr val="4D1434"/>
                </a:solidFill>
                <a:latin typeface="Calibri Light"/>
                <a:ea typeface="Calibri Light"/>
                <a:cs typeface="Calibri Light"/>
              </a:defRPr>
            </a:lvl1pPr>
          </a:lstStyle>
          <a:p>
            <a:r>
              <a:t>Conocimientos previos</a:t>
            </a:r>
          </a:p>
        </p:txBody>
      </p:sp>
      <p:sp>
        <p:nvSpPr>
          <p:cNvPr id="7" name="ph_body_0">
            <a:extLst>
              <a:ext uri="{FF2B5EF4-FFF2-40B4-BE49-F238E27FC236}">
                <a16:creationId xmlns:a16="http://schemas.microsoft.com/office/drawing/2014/main" id="{DA74F11D-A621-76AD-1939-D17C951722BA}"/>
              </a:ext>
            </a:extLst>
          </p:cNvPr>
          <p:cNvSpPr>
            <a:spLocks noGrp="1"/>
          </p:cNvSpPr>
          <p:nvPr>
            <p:ph type="body" idx="11" hasCustomPrompt="1"/>
          </p:nvPr>
        </p:nvSpPr>
        <p:spPr>
          <a:xfrm>
            <a:off x="762000" y="1714500"/>
            <a:ext cx="4953000" cy="4095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Ya conocemos</a:t>
            </a:r>
          </a:p>
        </p:txBody>
      </p:sp>
      <p:sp>
        <p:nvSpPr>
          <p:cNvPr id="8" name="ph_body_1">
            <a:extLst>
              <a:ext uri="{FF2B5EF4-FFF2-40B4-BE49-F238E27FC236}">
                <a16:creationId xmlns:a16="http://schemas.microsoft.com/office/drawing/2014/main" id="{3F301BAB-D31B-43BA-8C3E-29D441A86035}"/>
              </a:ext>
            </a:extLst>
          </p:cNvPr>
          <p:cNvSpPr>
            <a:spLocks noGrp="1"/>
          </p:cNvSpPr>
          <p:nvPr>
            <p:ph type="body" idx="12" hasCustomPrompt="1"/>
          </p:nvPr>
        </p:nvSpPr>
        <p:spPr>
          <a:xfrm>
            <a:off x="6477000" y="1714500"/>
            <a:ext cx="4953000" cy="4095750"/>
          </a:xfrm>
          <a:prstGeom prst="rect">
            <a:avLst/>
          </a:prstGeom>
        </p:spPr>
        <p:txBody>
          <a:bodyPr wrap="square" lIns="0" tIns="0" rIns="0" bIns="0" anchor="t">
            <a:noAutofit/>
          </a:bodyPr>
          <a:lstStyle>
            <a:lvl1pPr algn="l">
              <a:buNone/>
              <a:defRPr sz="2250" b="0">
                <a:solidFill>
                  <a:srgbClr val="3D3D3D"/>
                </a:solidFill>
                <a:latin typeface="Calibri"/>
                <a:ea typeface="Calibri"/>
                <a:cs typeface="Calibri"/>
              </a:defRPr>
            </a:lvl1pPr>
          </a:lstStyle>
          <a:p>
            <a:pPr lvl="0">
              <a:buNone/>
            </a:pPr>
            <a:r>
              <a:t>Necesitamos recuperar</a:t>
            </a:r>
          </a:p>
        </p:txBody>
      </p:sp>
      <p:sp>
        <p:nvSpPr>
          <p:cNvPr id="9" name="fa_slide_number">
            <a:extLst>
              <a:ext uri="{FF2B5EF4-FFF2-40B4-BE49-F238E27FC236}">
                <a16:creationId xmlns:a16="http://schemas.microsoft.com/office/drawing/2014/main" id="{485A1487-76D9-6CD2-5B5D-641F847EEABE}"/>
              </a:ext>
            </a:extLst>
          </p:cNvPr>
          <p:cNvSpPr>
            <a:spLocks noGrp="1"/>
          </p:cNvSpPr>
          <p:nvPr>
            <p:ph type="sldNum" idx="13"/>
          </p:nvPr>
        </p:nvSpPr>
        <p:spPr>
          <a:xfrm>
            <a:off x="11220450" y="6448425"/>
            <a:ext cx="361950" cy="209550"/>
          </a:xfrm>
          <a:prstGeom prst="rect">
            <a:avLst/>
          </a:prstGeom>
        </p:spPr>
        <p:txBody>
          <a:bodyPr wrap="square" lIns="0" tIns="0" rIns="0" bIns="0" anchor="ctr">
            <a:noAutofit/>
          </a:bodyPr>
          <a:lstStyle>
            <a:lvl1pPr algn="r">
              <a:buNone/>
              <a:defRPr sz="1050" b="1">
                <a:solidFill>
                  <a:srgbClr val="667079"/>
                </a:solidFill>
                <a:latin typeface="Calibri"/>
                <a:ea typeface="Calibri"/>
                <a:cs typeface="Calibri"/>
              </a:defRPr>
            </a:lvl1pPr>
          </a:lstStyle>
          <a:p>
            <a:pPr algn="r">
              <a:buNone/>
            </a:pPr>
            <a:fld id="{C017E5F8-CA14-4AD9-9C34-2654E5F0D860}" type="slidenum">
              <a:t>‹Nº›</a:t>
            </a:fld>
            <a:endParaRPr/>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A_00_PORTADA">
    <p:spTree>
      <p:nvGrpSpPr>
        <p:cNvPr id="1" name=""/>
        <p:cNvGrpSpPr/>
        <p:nvPr/>
      </p:nvGrpSpPr>
      <p:grpSpPr>
        <a:xfrm>
          <a:off x="0" y="0"/>
          <a:ext cx="0" cy="0"/>
          <a:chOff x="0" y="0"/>
          <a:chExt cx="0" cy="0"/>
        </a:xfrm>
      </p:grpSpPr>
      <p:sp>
        <p:nvSpPr>
          <p:cNvPr id="7" name="ph_title_0">
            <a:extLst>
              <a:ext uri="{FF2B5EF4-FFF2-40B4-BE49-F238E27FC236}">
                <a16:creationId xmlns:a16="http://schemas.microsoft.com/office/drawing/2014/main" id="{BBF699B4-1B17-0944-8A64-D6854D8D6D1E}"/>
              </a:ext>
            </a:extLst>
          </p:cNvPr>
          <p:cNvSpPr>
            <a:spLocks noGrp="1"/>
          </p:cNvSpPr>
          <p:nvPr>
            <p:ph type="title" idx="10" hasCustomPrompt="1"/>
          </p:nvPr>
        </p:nvSpPr>
        <p:spPr>
          <a:xfrm>
            <a:off x="800100" y="1543049"/>
            <a:ext cx="8572500" cy="1428750"/>
          </a:xfrm>
          <a:prstGeom prst="rect">
            <a:avLst/>
          </a:prstGeom>
        </p:spPr>
        <p:txBody>
          <a:bodyPr wrap="square" lIns="0" tIns="0" rIns="0" bIns="0" anchor="ctr">
            <a:noAutofit/>
          </a:bodyPr>
          <a:lstStyle>
            <a:lvl1pPr algn="l">
              <a:buNone/>
              <a:defRPr sz="3600" b="0">
                <a:solidFill>
                  <a:srgbClr val="FFFFFF"/>
                </a:solidFill>
                <a:latin typeface="Calibri Light"/>
                <a:ea typeface="Calibri Light"/>
                <a:cs typeface="Calibri Light"/>
              </a:defRPr>
            </a:lvl1pPr>
          </a:lstStyle>
          <a:p>
            <a:r>
              <a:t>Título de la unidad</a:t>
            </a:r>
          </a:p>
        </p:txBody>
      </p:sp>
      <p:sp>
        <p:nvSpPr>
          <p:cNvPr id="8" name="ph_subtitle_0">
            <a:extLst>
              <a:ext uri="{FF2B5EF4-FFF2-40B4-BE49-F238E27FC236}">
                <a16:creationId xmlns:a16="http://schemas.microsoft.com/office/drawing/2014/main" id="{5EEB7C2E-BFEB-6726-9C51-28E1E3242D9B}"/>
              </a:ext>
            </a:extLst>
          </p:cNvPr>
          <p:cNvSpPr>
            <a:spLocks noGrp="1"/>
          </p:cNvSpPr>
          <p:nvPr>
            <p:ph type="subTitle" idx="11" hasCustomPrompt="1"/>
          </p:nvPr>
        </p:nvSpPr>
        <p:spPr>
          <a:xfrm>
            <a:off x="838200" y="3143250"/>
            <a:ext cx="7239000" cy="723900"/>
          </a:xfrm>
          <a:prstGeom prst="rect">
            <a:avLst/>
          </a:prstGeom>
        </p:spPr>
        <p:txBody>
          <a:bodyPr wrap="square" lIns="0" tIns="0" rIns="0" bIns="0" anchor="t">
            <a:noAutofit/>
          </a:bodyPr>
          <a:lstStyle>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t>Subtítulo o alcance</a:t>
            </a:r>
          </a:p>
        </p:txBody>
      </p:sp>
      <p:sp>
        <p:nvSpPr>
          <p:cNvPr id="9" name="fa_slide_number">
            <a:extLst>
              <a:ext uri="{FF2B5EF4-FFF2-40B4-BE49-F238E27FC236}">
                <a16:creationId xmlns:a16="http://schemas.microsoft.com/office/drawing/2014/main" id="{F9094F21-F8D4-117E-6486-B4FB78DA574E}"/>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FFFFFF"/>
                </a:solidFill>
                <a:latin typeface="Calibri"/>
                <a:ea typeface="Calibri"/>
                <a:cs typeface="Calibri"/>
              </a:defRPr>
            </a:lvl1pPr>
          </a:lstStyle>
          <a:p>
            <a:pPr algn="r">
              <a:buNone/>
            </a:pPr>
            <a:fld id="{BFBD13B0-F1EE-46B2-9204-54BDCC94E2F7}" type="slidenum">
              <a:t>‹Nº›</a:t>
            </a:fld>
            <a:endParaRPr/>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A_21_CIERRE_PUENTE">
    <p:spTree>
      <p:nvGrpSpPr>
        <p:cNvPr id="1" name=""/>
        <p:cNvGrpSpPr/>
        <p:nvPr/>
      </p:nvGrpSpPr>
      <p:grpSpPr>
        <a:xfrm>
          <a:off x="0" y="0"/>
          <a:ext cx="0" cy="0"/>
          <a:chOff x="0" y="0"/>
          <a:chExt cx="0" cy="0"/>
        </a:xfrm>
      </p:grpSpPr>
      <p:sp>
        <p:nvSpPr>
          <p:cNvPr id="2" name="ph_title_0">
            <a:extLst>
              <a:ext uri="{FF2B5EF4-FFF2-40B4-BE49-F238E27FC236}">
                <a16:creationId xmlns:a16="http://schemas.microsoft.com/office/drawing/2014/main" id="{08E6C8A6-F9D3-7926-25DF-ED045F3A4CCD}"/>
              </a:ext>
            </a:extLst>
          </p:cNvPr>
          <p:cNvSpPr>
            <a:spLocks noGrp="1"/>
          </p:cNvSpPr>
          <p:nvPr>
            <p:ph type="title" idx="10" hasCustomPrompt="1"/>
          </p:nvPr>
        </p:nvSpPr>
        <p:spPr>
          <a:xfrm>
            <a:off x="800100" y="2019300"/>
            <a:ext cx="8953500" cy="1123950"/>
          </a:xfrm>
          <a:prstGeom prst="rect">
            <a:avLst/>
          </a:prstGeom>
        </p:spPr>
        <p:txBody>
          <a:bodyPr wrap="square" lIns="0" tIns="0" rIns="0" bIns="0" anchor="ctr">
            <a:noAutofit/>
          </a:bodyPr>
          <a:lstStyle>
            <a:lvl1pPr algn="l">
              <a:buNone/>
              <a:defRPr sz="3600" b="0">
                <a:solidFill>
                  <a:srgbClr val="FFFFFF"/>
                </a:solidFill>
                <a:latin typeface="Calibri Light"/>
                <a:ea typeface="Calibri Light"/>
                <a:cs typeface="Calibri Light"/>
              </a:defRPr>
            </a:lvl1pPr>
          </a:lstStyle>
          <a:p>
            <a:r>
              <a:t>Cierre</a:t>
            </a:r>
          </a:p>
        </p:txBody>
      </p:sp>
      <p:sp>
        <p:nvSpPr>
          <p:cNvPr id="3" name="ph_subtitle_0">
            <a:extLst>
              <a:ext uri="{FF2B5EF4-FFF2-40B4-BE49-F238E27FC236}">
                <a16:creationId xmlns:a16="http://schemas.microsoft.com/office/drawing/2014/main" id="{7DB56B4A-8D9F-CA11-B9D5-A6125863F28F}"/>
              </a:ext>
            </a:extLst>
          </p:cNvPr>
          <p:cNvSpPr>
            <a:spLocks noGrp="1"/>
          </p:cNvSpPr>
          <p:nvPr>
            <p:ph type="subTitle" idx="11" hasCustomPrompt="1"/>
          </p:nvPr>
        </p:nvSpPr>
        <p:spPr>
          <a:xfrm>
            <a:off x="838200" y="3314700"/>
            <a:ext cx="8191500" cy="819150"/>
          </a:xfrm>
          <a:prstGeom prst="rect">
            <a:avLst/>
          </a:prstGeom>
        </p:spPr>
        <p:txBody>
          <a:bodyPr wrap="square" lIns="0" tIns="0" rIns="0" bIns="0" anchor="t">
            <a:noAutofit/>
          </a:bodyPr>
          <a:lstStyle>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t>Puente hacia la próxima clase</a:t>
            </a:r>
          </a:p>
        </p:txBody>
      </p:sp>
      <p:sp>
        <p:nvSpPr>
          <p:cNvPr id="4" name="fa_slide_number">
            <a:extLst>
              <a:ext uri="{FF2B5EF4-FFF2-40B4-BE49-F238E27FC236}">
                <a16:creationId xmlns:a16="http://schemas.microsoft.com/office/drawing/2014/main" id="{62762AF0-3B86-E082-1D9F-E94F6C836E6F}"/>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FFFFFF"/>
                </a:solidFill>
                <a:latin typeface="Calibri"/>
                <a:ea typeface="Calibri"/>
                <a:cs typeface="Calibri"/>
              </a:defRPr>
            </a:lvl1pPr>
          </a:lstStyle>
          <a:p>
            <a:pPr algn="r">
              <a:buNone/>
            </a:pPr>
            <a:fld id="{1551B1DD-AE22-4797-A41E-B58F85D9714A}" type="slidenum">
              <a:t>‹Nº›</a:t>
            </a:fld>
            <a:endParaRPr/>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A_01_DIVISOR">
    <p:spTree>
      <p:nvGrpSpPr>
        <p:cNvPr id="1" name=""/>
        <p:cNvGrpSpPr/>
        <p:nvPr/>
      </p:nvGrpSpPr>
      <p:grpSpPr>
        <a:xfrm>
          <a:off x="0" y="0"/>
          <a:ext cx="0" cy="0"/>
          <a:chOff x="0" y="0"/>
          <a:chExt cx="0" cy="0"/>
        </a:xfrm>
      </p:grpSpPr>
      <p:sp>
        <p:nvSpPr>
          <p:cNvPr id="2" name="ph_title_0">
            <a:extLst>
              <a:ext uri="{FF2B5EF4-FFF2-40B4-BE49-F238E27FC236}">
                <a16:creationId xmlns:a16="http://schemas.microsoft.com/office/drawing/2014/main" id="{D1F88028-AD7E-5C80-FCA4-7044C14652DA}"/>
              </a:ext>
            </a:extLst>
          </p:cNvPr>
          <p:cNvSpPr>
            <a:spLocks noGrp="1"/>
          </p:cNvSpPr>
          <p:nvPr>
            <p:ph type="title" idx="10" hasCustomPrompt="1"/>
          </p:nvPr>
        </p:nvSpPr>
        <p:spPr>
          <a:xfrm>
            <a:off x="800100" y="2095500"/>
            <a:ext cx="9334500" cy="1047750"/>
          </a:xfrm>
          <a:prstGeom prst="rect">
            <a:avLst/>
          </a:prstGeom>
        </p:spPr>
        <p:txBody>
          <a:bodyPr wrap="square" lIns="0" tIns="0" rIns="0" bIns="0" anchor="ctr">
            <a:noAutofit/>
          </a:bodyPr>
          <a:lstStyle>
            <a:lvl1pPr algn="l">
              <a:buNone/>
              <a:defRPr sz="3600" b="0">
                <a:solidFill>
                  <a:srgbClr val="FFFFFF"/>
                </a:solidFill>
                <a:latin typeface="Calibri Light"/>
                <a:ea typeface="Calibri Light"/>
                <a:cs typeface="Calibri Light"/>
              </a:defRPr>
            </a:lvl1pPr>
          </a:lstStyle>
          <a:p>
            <a:r>
              <a:t>Título del bloque</a:t>
            </a:r>
          </a:p>
        </p:txBody>
      </p:sp>
      <p:sp>
        <p:nvSpPr>
          <p:cNvPr id="3" name="ph_subtitle_0">
            <a:extLst>
              <a:ext uri="{FF2B5EF4-FFF2-40B4-BE49-F238E27FC236}">
                <a16:creationId xmlns:a16="http://schemas.microsoft.com/office/drawing/2014/main" id="{8858B713-BB8F-93CF-76E5-B16753D5870D}"/>
              </a:ext>
            </a:extLst>
          </p:cNvPr>
          <p:cNvSpPr>
            <a:spLocks noGrp="1"/>
          </p:cNvSpPr>
          <p:nvPr>
            <p:ph type="subTitle" idx="11" hasCustomPrompt="1"/>
          </p:nvPr>
        </p:nvSpPr>
        <p:spPr>
          <a:xfrm>
            <a:off x="838200" y="3295650"/>
            <a:ext cx="7810500" cy="590550"/>
          </a:xfrm>
          <a:prstGeom prst="rect">
            <a:avLst/>
          </a:prstGeom>
        </p:spPr>
        <p:txBody>
          <a:bodyPr wrap="square" lIns="0" tIns="0" rIns="0" bIns="0" anchor="t">
            <a:noAutofit/>
          </a:bodyPr>
          <a:lstStyle>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t>Pregunta guía o propósito</a:t>
            </a:r>
          </a:p>
        </p:txBody>
      </p:sp>
      <p:sp>
        <p:nvSpPr>
          <p:cNvPr id="4" name="fa_slide_number">
            <a:extLst>
              <a:ext uri="{FF2B5EF4-FFF2-40B4-BE49-F238E27FC236}">
                <a16:creationId xmlns:a16="http://schemas.microsoft.com/office/drawing/2014/main" id="{20025C06-92EB-B9DF-64E7-DAAC9343FA02}"/>
              </a:ext>
            </a:extLst>
          </p:cNvPr>
          <p:cNvSpPr>
            <a:spLocks noGrp="1"/>
          </p:cNvSpPr>
          <p:nvPr>
            <p:ph type="sldNum" idx="12"/>
          </p:nvPr>
        </p:nvSpPr>
        <p:spPr>
          <a:xfrm>
            <a:off x="11220450" y="6448425"/>
            <a:ext cx="361950" cy="209550"/>
          </a:xfrm>
          <a:prstGeom prst="rect">
            <a:avLst/>
          </a:prstGeom>
        </p:spPr>
        <p:txBody>
          <a:bodyPr wrap="square" lIns="0" tIns="0" rIns="0" bIns="0" anchor="ctr">
            <a:noAutofit/>
          </a:bodyPr>
          <a:lstStyle>
            <a:lvl1pPr algn="r">
              <a:buNone/>
              <a:defRPr sz="1050" b="1">
                <a:solidFill>
                  <a:srgbClr val="FFFFFF"/>
                </a:solidFill>
                <a:latin typeface="Calibri"/>
                <a:ea typeface="Calibri"/>
                <a:cs typeface="Calibri"/>
              </a:defRPr>
            </a:lvl1pPr>
          </a:lstStyle>
          <a:p>
            <a:pPr algn="r">
              <a:buNone/>
            </a:pPr>
            <a:fld id="{60E8974C-1134-48A5-94B6-2428CCBD93A5}" type="slidenum">
              <a:t>‹Nº›</a:t>
            </a:fld>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rule_maroon">
            <a:extLst>
              <a:ext uri="{FF2B5EF4-FFF2-40B4-BE49-F238E27FC236}">
                <a16:creationId xmlns:a16="http://schemas.microsoft.com/office/drawing/2014/main" id="{7ED400B0-4650-BD81-8872-00CCE5394A4B}"/>
              </a:ext>
            </a:extLst>
          </p:cNvPr>
          <p:cNvSpPr>
            <a:spLocks noGrp="1"/>
          </p:cNvSpPr>
          <p:nvPr/>
        </p:nvSpPr>
        <p:spPr>
          <a:xfrm>
            <a:off x="609600" y="247650"/>
            <a:ext cx="3657600" cy="57150"/>
          </a:xfrm>
          <a:prstGeom prst="rect">
            <a:avLst/>
          </a:prstGeom>
          <a:solidFill>
            <a:srgbClr val="4D1434"/>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rule_berry">
            <a:extLst>
              <a:ext uri="{FF2B5EF4-FFF2-40B4-BE49-F238E27FC236}">
                <a16:creationId xmlns:a16="http://schemas.microsoft.com/office/drawing/2014/main" id="{19067D9B-1D69-BEBD-53A6-E2EBCE31B809}"/>
              </a:ext>
            </a:extLst>
          </p:cNvPr>
          <p:cNvSpPr>
            <a:spLocks noGrp="1"/>
          </p:cNvSpPr>
          <p:nvPr/>
        </p:nvSpPr>
        <p:spPr>
          <a:xfrm>
            <a:off x="4362450" y="247650"/>
            <a:ext cx="3657600" cy="57150"/>
          </a:xfrm>
          <a:prstGeom prst="rect">
            <a:avLst/>
          </a:prstGeom>
          <a:solidFill>
            <a:srgbClr val="903163"/>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ule_gray">
            <a:extLst>
              <a:ext uri="{FF2B5EF4-FFF2-40B4-BE49-F238E27FC236}">
                <a16:creationId xmlns:a16="http://schemas.microsoft.com/office/drawing/2014/main" id="{D5EE4B42-9A6B-A99D-63F0-0D1F0CDA593B}"/>
              </a:ext>
            </a:extLst>
          </p:cNvPr>
          <p:cNvSpPr>
            <a:spLocks noGrp="1"/>
          </p:cNvSpPr>
          <p:nvPr/>
        </p:nvSpPr>
        <p:spPr>
          <a:xfrm>
            <a:off x="8115300" y="247650"/>
            <a:ext cx="3467100" cy="57150"/>
          </a:xfrm>
          <a:prstGeom prst="rect">
            <a:avLst/>
          </a:prstGeom>
          <a:solidFill>
            <a:srgbClr val="969FA7"/>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footer_rule">
            <a:extLst>
              <a:ext uri="{FF2B5EF4-FFF2-40B4-BE49-F238E27FC236}">
                <a16:creationId xmlns:a16="http://schemas.microsoft.com/office/drawing/2014/main" id="{967B707C-1A6F-0D89-F330-66B1FD9D5071}"/>
              </a:ext>
            </a:extLst>
          </p:cNvPr>
          <p:cNvSpPr>
            <a:spLocks noGrp="1"/>
          </p:cNvSpPr>
          <p:nvPr/>
        </p:nvSpPr>
        <p:spPr>
          <a:xfrm>
            <a:off x="609600" y="6353175"/>
            <a:ext cx="10972800" cy="14288"/>
          </a:xfrm>
          <a:prstGeom prst="rect">
            <a:avLst/>
          </a:prstGeom>
          <a:solidFill>
            <a:srgbClr val="D9DCE0"/>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4" name="ucasal_logo_master_light"/>
          <p:cNvPicPr>
            <a:picLocks noChangeAspect="1"/>
          </p:cNvPicPr>
          <p:nvPr/>
        </p:nvPicPr>
        <p:blipFill>
          <a:blip r:embed="rId26"/>
          <a:stretch>
            <a:fillRect/>
          </a:stretch>
        </p:blipFill>
        <p:spPr>
          <a:xfrm>
            <a:off x="609600" y="6429375"/>
            <a:ext cx="1028700" cy="304800"/>
          </a:xfrm>
          <a:prstGeom prst="rect">
            <a:avLst/>
          </a:prstGeom>
        </p:spPr>
      </p:pic>
      <p:sp>
        <p:nvSpPr>
          <p:cNvPr id="8" name="footer_course_light">
            <a:extLst>
              <a:ext uri="{FF2B5EF4-FFF2-40B4-BE49-F238E27FC236}">
                <a16:creationId xmlns:a16="http://schemas.microsoft.com/office/drawing/2014/main" id="{63C3527D-F71A-255A-556A-E956A5B245FC}"/>
              </a:ext>
            </a:extLst>
          </p:cNvPr>
          <p:cNvSpPr>
            <a:spLocks noGrp="1"/>
          </p:cNvSpPr>
          <p:nvPr/>
        </p:nvSpPr>
        <p:spPr>
          <a:xfrm>
            <a:off x="1809750" y="6467475"/>
            <a:ext cx="4953000" cy="253916"/>
          </a:xfrm>
          <a:prstGeom prst="rect">
            <a:avLst/>
          </a:prstGeom>
          <a:noFill/>
        </p:spPr>
        <p:txBody>
          <a:bodyPr vert="horz" wrap="square" lIns="0" tIns="0" rIns="0" bIns="0" anchor="ctr">
            <a:noAutofit/>
          </a:bodyPr>
          <a:lstStyle/>
          <a:p>
            <a:pPr algn="l">
              <a:buNone/>
            </a:pPr>
            <a:r>
              <a:rPr sz="1050" b="0">
                <a:solidFill>
                  <a:srgbClr val="667079"/>
                </a:solidFill>
                <a:latin typeface="Calibri"/>
                <a:ea typeface="Calibri"/>
                <a:cs typeface="Calibri"/>
              </a:rPr>
              <a:t>Física Acústica · Licenciatura en Fonoaudiología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hdr="0" ft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7" name="rule_berry">
            <a:extLst>
              <a:ext uri="{FF2B5EF4-FFF2-40B4-BE49-F238E27FC236}">
                <a16:creationId xmlns:a16="http://schemas.microsoft.com/office/drawing/2014/main" id="{54233747-3B41-236E-F508-E312E7DCB9DF}"/>
              </a:ext>
            </a:extLst>
          </p:cNvPr>
          <p:cNvSpPr>
            <a:spLocks noGrp="1"/>
          </p:cNvSpPr>
          <p:nvPr/>
        </p:nvSpPr>
        <p:spPr>
          <a:xfrm>
            <a:off x="609600" y="247650"/>
            <a:ext cx="3657600" cy="57150"/>
          </a:xfrm>
          <a:prstGeom prst="rect">
            <a:avLst/>
          </a:prstGeom>
          <a:solidFill>
            <a:srgbClr val="903163"/>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ule_white">
            <a:extLst>
              <a:ext uri="{FF2B5EF4-FFF2-40B4-BE49-F238E27FC236}">
                <a16:creationId xmlns:a16="http://schemas.microsoft.com/office/drawing/2014/main" id="{AB7800AF-4B8D-3775-268D-A94322560FCE}"/>
              </a:ext>
            </a:extLst>
          </p:cNvPr>
          <p:cNvSpPr>
            <a:spLocks noGrp="1"/>
          </p:cNvSpPr>
          <p:nvPr/>
        </p:nvSpPr>
        <p:spPr>
          <a:xfrm>
            <a:off x="4362450" y="247650"/>
            <a:ext cx="3657600" cy="57150"/>
          </a:xfrm>
          <a:prstGeom prst="rect">
            <a:avLst/>
          </a:prstGeom>
          <a:solidFill>
            <a:srgbClr val="FFFFFF"/>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ule_gray">
            <a:extLst>
              <a:ext uri="{FF2B5EF4-FFF2-40B4-BE49-F238E27FC236}">
                <a16:creationId xmlns:a16="http://schemas.microsoft.com/office/drawing/2014/main" id="{092696FC-D673-2DD3-4FCF-4D8518D87390}"/>
              </a:ext>
            </a:extLst>
          </p:cNvPr>
          <p:cNvSpPr>
            <a:spLocks noGrp="1"/>
          </p:cNvSpPr>
          <p:nvPr/>
        </p:nvSpPr>
        <p:spPr>
          <a:xfrm>
            <a:off x="8115300" y="247650"/>
            <a:ext cx="3467100" cy="57150"/>
          </a:xfrm>
          <a:prstGeom prst="rect">
            <a:avLst/>
          </a:prstGeom>
          <a:solidFill>
            <a:srgbClr val="969FA7"/>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footer_rule">
            <a:extLst>
              <a:ext uri="{FF2B5EF4-FFF2-40B4-BE49-F238E27FC236}">
                <a16:creationId xmlns:a16="http://schemas.microsoft.com/office/drawing/2014/main" id="{99D069AE-519E-8032-14CB-9643E0ECC0A3}"/>
              </a:ext>
            </a:extLst>
          </p:cNvPr>
          <p:cNvSpPr>
            <a:spLocks noGrp="1"/>
          </p:cNvSpPr>
          <p:nvPr/>
        </p:nvSpPr>
        <p:spPr>
          <a:xfrm>
            <a:off x="609600" y="6353175"/>
            <a:ext cx="10972800" cy="14288"/>
          </a:xfrm>
          <a:prstGeom prst="rect">
            <a:avLst/>
          </a:prstGeom>
          <a:solidFill>
            <a:srgbClr val="903163"/>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logo_backing">
            <a:extLst>
              <a:ext uri="{FF2B5EF4-FFF2-40B4-BE49-F238E27FC236}">
                <a16:creationId xmlns:a16="http://schemas.microsoft.com/office/drawing/2014/main" id="{DED1A456-4096-91AC-8233-B33FFC94C295}"/>
              </a:ext>
            </a:extLst>
          </p:cNvPr>
          <p:cNvSpPr>
            <a:spLocks noGrp="1"/>
          </p:cNvSpPr>
          <p:nvPr/>
        </p:nvSpPr>
        <p:spPr>
          <a:xfrm>
            <a:off x="609600" y="6419850"/>
            <a:ext cx="1104900" cy="323850"/>
          </a:xfrm>
          <a:prstGeom prst="rect">
            <a:avLst/>
          </a:prstGeom>
          <a:solidFill>
            <a:srgbClr val="FFFFFF"/>
          </a:solidFill>
          <a:ln w="1905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 name="ucasal_logo_master_dark"/>
          <p:cNvPicPr>
            <a:picLocks noChangeAspect="1"/>
          </p:cNvPicPr>
          <p:nvPr/>
        </p:nvPicPr>
        <p:blipFill>
          <a:blip r:embed="rId5"/>
          <a:stretch>
            <a:fillRect/>
          </a:stretch>
        </p:blipFill>
        <p:spPr>
          <a:xfrm>
            <a:off x="666750" y="6467475"/>
            <a:ext cx="990600" cy="228600"/>
          </a:xfrm>
          <a:prstGeom prst="rect">
            <a:avLst/>
          </a:prstGeom>
        </p:spPr>
      </p:pic>
      <p:sp>
        <p:nvSpPr>
          <p:cNvPr id="14" name="footer_course_dark">
            <a:extLst>
              <a:ext uri="{FF2B5EF4-FFF2-40B4-BE49-F238E27FC236}">
                <a16:creationId xmlns:a16="http://schemas.microsoft.com/office/drawing/2014/main" id="{D186B626-134A-FBCD-AEA0-4A2A93AA00A6}"/>
              </a:ext>
            </a:extLst>
          </p:cNvPr>
          <p:cNvSpPr>
            <a:spLocks noGrp="1"/>
          </p:cNvSpPr>
          <p:nvPr/>
        </p:nvSpPr>
        <p:spPr>
          <a:xfrm>
            <a:off x="1885950" y="6467475"/>
            <a:ext cx="4953000" cy="253916"/>
          </a:xfrm>
          <a:prstGeom prst="rect">
            <a:avLst/>
          </a:prstGeom>
          <a:noFill/>
        </p:spPr>
        <p:txBody>
          <a:bodyPr vert="horz" wrap="square" lIns="0" tIns="0" rIns="0" bIns="0" anchor="ctr">
            <a:noAutofit/>
          </a:bodyPr>
          <a:lstStyle/>
          <a:p>
            <a:pPr algn="l">
              <a:buNone/>
            </a:pPr>
            <a:r>
              <a:rPr sz="1050" b="0">
                <a:solidFill>
                  <a:srgbClr val="FFFFFF"/>
                </a:solidFill>
                <a:latin typeface="Calibri"/>
                <a:ea typeface="Calibri"/>
                <a:cs typeface="Calibri"/>
              </a:rPr>
              <a:t>Física Acústica · Licenciatura en Fonoaudiología</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9.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0.xml"/><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7.xml"/></Relationships>
</file>

<file path=ppt/slides/_rels/slide9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5.xml"/><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8.xml"/><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15" name="cover-eyebrow">
            <a:extLst>
              <a:ext uri="{FF2B5EF4-FFF2-40B4-BE49-F238E27FC236}">
                <a16:creationId xmlns:a16="http://schemas.microsoft.com/office/drawing/2014/main" id="{A5C43D42-61C8-469B-BDB3-93D5D0F661FC}"/>
              </a:ext>
            </a:extLst>
          </p:cNvPr>
          <p:cNvSpPr>
            <a:spLocks noGrp="1"/>
          </p:cNvSpPr>
          <p:nvPr/>
        </p:nvSpPr>
        <p:spPr>
          <a:xfrm>
            <a:off x="609600" y="400050"/>
            <a:ext cx="5334000" cy="266700"/>
          </a:xfrm>
          <a:prstGeom prst="rect">
            <a:avLst/>
          </a:prstGeom>
          <a:noFill/>
          <a:ln w="0">
            <a:noFill/>
            <a:prstDash val="solid"/>
          </a:ln>
        </p:spPr>
        <p:txBody>
          <a:bodyPr wrap="square" lIns="57150" tIns="38100" rIns="57150" bIns="38100" anchor="t">
            <a:noAutofit/>
          </a:bodyPr>
          <a:lstStyle/>
          <a:p>
            <a:pPr algn="l">
              <a:lnSpc>
                <a:spcPct val="102000"/>
              </a:lnSpc>
              <a:buNone/>
              <a:defRPr sz="1350" b="1" i="0">
                <a:solidFill>
                  <a:srgbClr val="FFFFFF"/>
                </a:solidFill>
                <a:latin typeface="Calibri"/>
                <a:ea typeface="Calibri"/>
                <a:cs typeface="Calibri"/>
              </a:defRPr>
            </a:pPr>
            <a:r>
              <a:rPr sz="1350" b="1" i="0">
                <a:solidFill>
                  <a:srgbClr val="FFFFFF"/>
                </a:solidFill>
                <a:latin typeface="Calibri"/>
                <a:ea typeface="Calibri"/>
                <a:cs typeface="Calibri"/>
              </a:rPr>
              <a:t>UNIDAD 6 · FÍSICA ACÚSTICA</a:t>
            </a:r>
          </a:p>
        </p:txBody>
      </p:sp>
      <p:sp>
        <p:nvSpPr>
          <p:cNvPr id="2" name="cover-title">
            <a:extLst>
              <a:ext uri="{FF2B5EF4-FFF2-40B4-BE49-F238E27FC236}">
                <a16:creationId xmlns:a16="http://schemas.microsoft.com/office/drawing/2014/main" id="{8BBB37EF-4AB2-40E9-A2F5-C5AE9863B393}"/>
              </a:ext>
            </a:extLst>
          </p:cNvPr>
          <p:cNvSpPr>
            <a:spLocks noGrp="1"/>
          </p:cNvSpPr>
          <p:nvPr/>
        </p:nvSpPr>
        <p:spPr>
          <a:xfrm>
            <a:off x="742950" y="1476375"/>
            <a:ext cx="7810500" cy="1666875"/>
          </a:xfrm>
          <a:prstGeom prst="rect">
            <a:avLst/>
          </a:prstGeom>
          <a:noFill/>
          <a:ln w="0">
            <a:noFill/>
            <a:prstDash val="solid"/>
          </a:ln>
        </p:spPr>
        <p:txBody>
          <a:bodyPr wrap="square" lIns="0" tIns="0" rIns="0" bIns="0" anchor="t">
            <a:noAutofit/>
          </a:bodyPr>
          <a:lstStyle/>
          <a:p>
            <a:pPr algn="l">
              <a:lnSpc>
                <a:spcPct val="102000"/>
              </a:lnSpc>
              <a:buNone/>
              <a:defRPr sz="4200" b="0" i="0">
                <a:solidFill>
                  <a:srgbClr val="FFFFFF"/>
                </a:solidFill>
                <a:latin typeface="Calibri Light"/>
                <a:ea typeface="Calibri Light"/>
                <a:cs typeface="Calibri Light"/>
              </a:defRPr>
            </a:pPr>
            <a:r>
              <a:rPr sz="4200" b="0" i="0">
                <a:solidFill>
                  <a:srgbClr val="FFFFFF"/>
                </a:solidFill>
                <a:latin typeface="Calibri Light"/>
                <a:ea typeface="Calibri Light"/>
                <a:cs typeface="Calibri Light"/>
              </a:rPr>
              <a:t>Unidad 6 · El mecanismo periférico de la percepción auditiva</a:t>
            </a:r>
          </a:p>
        </p:txBody>
      </p:sp>
      <p:sp>
        <p:nvSpPr>
          <p:cNvPr id="3" name="cover-subtitle">
            <a:extLst>
              <a:ext uri="{FF2B5EF4-FFF2-40B4-BE49-F238E27FC236}">
                <a16:creationId xmlns:a16="http://schemas.microsoft.com/office/drawing/2014/main" id="{1AC94A4C-0419-429D-8BBF-CEEDD859EDF4}"/>
              </a:ext>
            </a:extLst>
          </p:cNvPr>
          <p:cNvSpPr>
            <a:spLocks noGrp="1"/>
          </p:cNvSpPr>
          <p:nvPr/>
        </p:nvSpPr>
        <p:spPr>
          <a:xfrm>
            <a:off x="781050" y="3429000"/>
            <a:ext cx="6858000" cy="714375"/>
          </a:xfrm>
          <a:prstGeom prst="rect">
            <a:avLst/>
          </a:prstGeom>
          <a:noFill/>
          <a:ln w="0">
            <a:noFill/>
            <a:prstDash val="solid"/>
          </a:ln>
        </p:spPr>
        <p:txBody>
          <a:bodyPr wrap="square" lIns="57150" tIns="38100" rIns="57150" bIns="38100" anchor="t">
            <a:noAutofit/>
          </a:bodyPr>
          <a:lstStyle/>
          <a:p>
            <a:pPr algn="l">
              <a:lnSpc>
                <a:spcPct val="102000"/>
              </a:lnSpc>
              <a:buNone/>
              <a:defRPr sz="2250" b="0" i="0">
                <a:solidFill>
                  <a:srgbClr val="EADDE4"/>
                </a:solidFill>
                <a:latin typeface="Calibri"/>
                <a:ea typeface="Calibri"/>
                <a:cs typeface="Calibri"/>
              </a:defRPr>
            </a:pPr>
            <a:r>
              <a:rPr sz="2250" b="0" i="0">
                <a:solidFill>
                  <a:srgbClr val="EADDE4"/>
                </a:solidFill>
                <a:latin typeface="Calibri"/>
                <a:ea typeface="Calibri"/>
                <a:cs typeface="Calibri"/>
              </a:rPr>
              <a:t>Del aire a la actividad del nervio auditivo</a:t>
            </a:r>
          </a:p>
        </p:txBody>
      </p:sp>
      <p:sp>
        <p:nvSpPr>
          <p:cNvPr id="4" name="cover-step-1">
            <a:extLst>
              <a:ext uri="{FF2B5EF4-FFF2-40B4-BE49-F238E27FC236}">
                <a16:creationId xmlns:a16="http://schemas.microsoft.com/office/drawing/2014/main" id="{982D7421-0050-49BC-996D-67CE41781278}"/>
              </a:ext>
            </a:extLst>
          </p:cNvPr>
          <p:cNvSpPr>
            <a:spLocks noGrp="1"/>
          </p:cNvSpPr>
          <p:nvPr/>
        </p:nvSpPr>
        <p:spPr>
          <a:xfrm>
            <a:off x="7429500" y="1762125"/>
            <a:ext cx="1619250" cy="1047750"/>
          </a:xfrm>
          <a:prstGeom prst="roundRect">
            <a:avLst>
              <a:gd name="adj" fmla="val 9091"/>
            </a:avLst>
          </a:prstGeom>
          <a:solidFill>
            <a:srgbClr val="6A2447"/>
          </a:solidFill>
          <a:ln w="14288">
            <a:solidFill>
              <a:srgbClr val="CFA7BA"/>
            </a:solidFill>
            <a:prstDash val="solid"/>
          </a:ln>
        </p:spPr>
      </p:sp>
      <p:sp>
        <p:nvSpPr>
          <p:cNvPr id="5" name="cover-step-1-text">
            <a:extLst>
              <a:ext uri="{FF2B5EF4-FFF2-40B4-BE49-F238E27FC236}">
                <a16:creationId xmlns:a16="http://schemas.microsoft.com/office/drawing/2014/main" id="{887CC514-5485-435A-AC97-A3568E5E281D}"/>
              </a:ext>
            </a:extLst>
          </p:cNvPr>
          <p:cNvSpPr>
            <a:spLocks noGrp="1"/>
          </p:cNvSpPr>
          <p:nvPr/>
        </p:nvSpPr>
        <p:spPr>
          <a:xfrm>
            <a:off x="7572375" y="2047875"/>
            <a:ext cx="1333500" cy="476250"/>
          </a:xfrm>
          <a:prstGeom prst="rect">
            <a:avLst/>
          </a:prstGeom>
          <a:noFill/>
          <a:ln w="0">
            <a:noFill/>
            <a:prstDash val="solid"/>
          </a:ln>
        </p:spPr>
        <p:txBody>
          <a:bodyPr wrap="square" lIns="57150" tIns="38100" rIns="57150" bIns="38100" anchor="ctr">
            <a:noAutofit/>
          </a:bodyPr>
          <a:lstStyle/>
          <a:p>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aire</a:t>
            </a:r>
          </a:p>
        </p:txBody>
      </p:sp>
      <p:sp>
        <p:nvSpPr>
          <p:cNvPr id="6" name="cover-step-2">
            <a:extLst>
              <a:ext uri="{FF2B5EF4-FFF2-40B4-BE49-F238E27FC236}">
                <a16:creationId xmlns:a16="http://schemas.microsoft.com/office/drawing/2014/main" id="{0AB2715B-DBFC-477F-9ED1-DAE9D8820CEE}"/>
              </a:ext>
            </a:extLst>
          </p:cNvPr>
          <p:cNvSpPr>
            <a:spLocks noGrp="1"/>
          </p:cNvSpPr>
          <p:nvPr/>
        </p:nvSpPr>
        <p:spPr>
          <a:xfrm>
            <a:off x="9382125" y="1762125"/>
            <a:ext cx="1619250" cy="1047750"/>
          </a:xfrm>
          <a:prstGeom prst="roundRect">
            <a:avLst>
              <a:gd name="adj" fmla="val 9091"/>
            </a:avLst>
          </a:prstGeom>
          <a:solidFill>
            <a:srgbClr val="6A2447"/>
          </a:solidFill>
          <a:ln w="14288">
            <a:solidFill>
              <a:srgbClr val="CFA7BA"/>
            </a:solidFill>
            <a:prstDash val="solid"/>
          </a:ln>
        </p:spPr>
      </p:sp>
      <p:sp>
        <p:nvSpPr>
          <p:cNvPr id="7" name="cover-step-2-text">
            <a:extLst>
              <a:ext uri="{FF2B5EF4-FFF2-40B4-BE49-F238E27FC236}">
                <a16:creationId xmlns:a16="http://schemas.microsoft.com/office/drawing/2014/main" id="{9C0E4F2A-A0C4-4026-A767-32F89C9526ED}"/>
              </a:ext>
            </a:extLst>
          </p:cNvPr>
          <p:cNvSpPr>
            <a:spLocks noGrp="1"/>
          </p:cNvSpPr>
          <p:nvPr/>
        </p:nvSpPr>
        <p:spPr>
          <a:xfrm>
            <a:off x="9525000" y="2047875"/>
            <a:ext cx="1333500" cy="476250"/>
          </a:xfrm>
          <a:prstGeom prst="rect">
            <a:avLst/>
          </a:prstGeom>
          <a:noFill/>
          <a:ln w="0">
            <a:noFill/>
            <a:prstDash val="solid"/>
          </a:ln>
        </p:spPr>
        <p:txBody>
          <a:bodyPr wrap="square" lIns="57150" tIns="38100" rIns="57150" bIns="38100" anchor="ctr">
            <a:noAutofit/>
          </a:bodyPr>
          <a:lstStyle/>
          <a:p>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tímpano</a:t>
            </a:r>
          </a:p>
        </p:txBody>
      </p:sp>
      <p:sp>
        <p:nvSpPr>
          <p:cNvPr id="8" name="cover-step-3">
            <a:extLst>
              <a:ext uri="{FF2B5EF4-FFF2-40B4-BE49-F238E27FC236}">
                <a16:creationId xmlns:a16="http://schemas.microsoft.com/office/drawing/2014/main" id="{EDF15E56-D381-41F9-8C51-F359EB4074CB}"/>
              </a:ext>
            </a:extLst>
          </p:cNvPr>
          <p:cNvSpPr>
            <a:spLocks noGrp="1"/>
          </p:cNvSpPr>
          <p:nvPr/>
        </p:nvSpPr>
        <p:spPr>
          <a:xfrm>
            <a:off x="7429500" y="3381375"/>
            <a:ext cx="1619250" cy="1047750"/>
          </a:xfrm>
          <a:prstGeom prst="roundRect">
            <a:avLst>
              <a:gd name="adj" fmla="val 9091"/>
            </a:avLst>
          </a:prstGeom>
          <a:solidFill>
            <a:srgbClr val="77384F"/>
          </a:solidFill>
          <a:ln w="14288">
            <a:solidFill>
              <a:srgbClr val="CFA7BA"/>
            </a:solidFill>
            <a:prstDash val="solid"/>
          </a:ln>
        </p:spPr>
      </p:sp>
      <p:sp>
        <p:nvSpPr>
          <p:cNvPr id="9" name="cover-step-3-text">
            <a:extLst>
              <a:ext uri="{FF2B5EF4-FFF2-40B4-BE49-F238E27FC236}">
                <a16:creationId xmlns:a16="http://schemas.microsoft.com/office/drawing/2014/main" id="{F07797F3-47F6-4E11-B427-1AE98BEBE4E6}"/>
              </a:ext>
            </a:extLst>
          </p:cNvPr>
          <p:cNvSpPr>
            <a:spLocks noGrp="1"/>
          </p:cNvSpPr>
          <p:nvPr/>
        </p:nvSpPr>
        <p:spPr>
          <a:xfrm>
            <a:off x="7572375" y="3667125"/>
            <a:ext cx="1333500" cy="476250"/>
          </a:xfrm>
          <a:prstGeom prst="rect">
            <a:avLst/>
          </a:prstGeom>
          <a:noFill/>
          <a:ln w="0">
            <a:noFill/>
            <a:prstDash val="solid"/>
          </a:ln>
        </p:spPr>
        <p:txBody>
          <a:bodyPr wrap="square" lIns="57150" tIns="38100" rIns="57150" bIns="38100" anchor="ctr">
            <a:noAutofit/>
          </a:bodyPr>
          <a:lstStyle/>
          <a:p>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cóclea</a:t>
            </a:r>
          </a:p>
        </p:txBody>
      </p:sp>
      <p:sp>
        <p:nvSpPr>
          <p:cNvPr id="10" name="cover-step-4">
            <a:extLst>
              <a:ext uri="{FF2B5EF4-FFF2-40B4-BE49-F238E27FC236}">
                <a16:creationId xmlns:a16="http://schemas.microsoft.com/office/drawing/2014/main" id="{B6C9B193-7591-4856-91E7-2EA79321F18A}"/>
              </a:ext>
            </a:extLst>
          </p:cNvPr>
          <p:cNvSpPr>
            <a:spLocks noGrp="1"/>
          </p:cNvSpPr>
          <p:nvPr/>
        </p:nvSpPr>
        <p:spPr>
          <a:xfrm>
            <a:off x="9382125" y="3381375"/>
            <a:ext cx="1619250" cy="1047750"/>
          </a:xfrm>
          <a:prstGeom prst="roundRect">
            <a:avLst>
              <a:gd name="adj" fmla="val 9091"/>
            </a:avLst>
          </a:prstGeom>
          <a:solidFill>
            <a:srgbClr val="77384F"/>
          </a:solidFill>
          <a:ln w="14288">
            <a:solidFill>
              <a:srgbClr val="CFA7BA"/>
            </a:solidFill>
            <a:prstDash val="solid"/>
          </a:ln>
        </p:spPr>
      </p:sp>
      <p:sp>
        <p:nvSpPr>
          <p:cNvPr id="11" name="cover-step-4-text">
            <a:extLst>
              <a:ext uri="{FF2B5EF4-FFF2-40B4-BE49-F238E27FC236}">
                <a16:creationId xmlns:a16="http://schemas.microsoft.com/office/drawing/2014/main" id="{CE42F22C-0FAE-4679-A479-DE789E79E335}"/>
              </a:ext>
            </a:extLst>
          </p:cNvPr>
          <p:cNvSpPr>
            <a:spLocks noGrp="1"/>
          </p:cNvSpPr>
          <p:nvPr/>
        </p:nvSpPr>
        <p:spPr>
          <a:xfrm>
            <a:off x="9525000" y="3667125"/>
            <a:ext cx="1333500" cy="476250"/>
          </a:xfrm>
          <a:prstGeom prst="rect">
            <a:avLst/>
          </a:prstGeom>
          <a:noFill/>
          <a:ln w="0">
            <a:noFill/>
            <a:prstDash val="solid"/>
          </a:ln>
        </p:spPr>
        <p:txBody>
          <a:bodyPr wrap="square" lIns="57150" tIns="38100" rIns="57150" bIns="38100" anchor="ctr">
            <a:noAutofit/>
          </a:bodyPr>
          <a:lstStyle/>
          <a:p>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nervio</a:t>
            </a:r>
          </a:p>
        </p:txBody>
      </p:sp>
      <p:cxnSp>
        <p:nvCxnSpPr>
          <p:cNvPr id="26" name="Conector recto de flecha 25"/>
          <p:cNvCxnSpPr>
            <a:stCxn id="4" idx="3"/>
            <a:endCxn id="6" idx="1"/>
          </p:cNvCxnSpPr>
          <p:nvPr/>
        </p:nvCxnSpPr>
        <p:spPr>
          <a:xfrm>
            <a:off x="9048750" y="2286000"/>
            <a:ext cx="333375" cy="0"/>
          </a:xfrm>
          <a:prstGeom prst="straightConnector1">
            <a:avLst/>
          </a:prstGeom>
          <a:ln w="19050">
            <a:solidFill>
              <a:srgbClr val="E0B9CB"/>
            </a:solidFill>
            <a:prstDash val="solid"/>
            <a:tailEnd type="arrow" w="med" len="med"/>
          </a:ln>
        </p:spPr>
      </p:cxnSp>
      <p:cxnSp>
        <p:nvCxnSpPr>
          <p:cNvPr id="27" name="Conector recto de flecha 26"/>
          <p:cNvCxnSpPr>
            <a:stCxn id="6" idx="2"/>
            <a:endCxn id="10" idx="0"/>
          </p:cNvCxnSpPr>
          <p:nvPr/>
        </p:nvCxnSpPr>
        <p:spPr>
          <a:xfrm>
            <a:off x="10191750" y="2809875"/>
            <a:ext cx="0" cy="571500"/>
          </a:xfrm>
          <a:prstGeom prst="straightConnector1">
            <a:avLst/>
          </a:prstGeom>
          <a:ln w="19050">
            <a:solidFill>
              <a:srgbClr val="E0B9CB"/>
            </a:solidFill>
            <a:prstDash val="solid"/>
            <a:tailEnd type="arrow" w="med" len="med"/>
          </a:ln>
        </p:spPr>
      </p:cxnSp>
      <p:cxnSp>
        <p:nvCxnSpPr>
          <p:cNvPr id="28" name="Conector recto de flecha 27"/>
          <p:cNvCxnSpPr>
            <a:stCxn id="10" idx="1"/>
            <a:endCxn id="8" idx="3"/>
          </p:cNvCxnSpPr>
          <p:nvPr/>
        </p:nvCxnSpPr>
        <p:spPr>
          <a:xfrm flipH="1">
            <a:off x="9048750" y="3905250"/>
            <a:ext cx="333375" cy="0"/>
          </a:xfrm>
          <a:prstGeom prst="straightConnector1">
            <a:avLst/>
          </a:prstGeom>
          <a:ln w="19050">
            <a:solidFill>
              <a:srgbClr val="E0B9CB"/>
            </a:solidFill>
            <a:prstDash val="solid"/>
            <a:tailEnd type="arrow" w="med" len="med"/>
          </a:ln>
        </p:spPr>
      </p:cxnSp>
    </p:spTree>
    <p:extLst>
      <p:ext uri="{BB962C8B-B14F-4D97-AF65-F5344CB8AC3E}">
        <p14:creationId xmlns:p14="http://schemas.microsoft.com/office/powerpoint/2010/main" val="1194663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2F9C9910-84B5-4554-862E-007ED240D82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Del aire al nervio: ¿qué etapas faltan?</a:t>
            </a:r>
          </a:p>
        </p:txBody>
      </p:sp>
      <p:sp>
        <p:nvSpPr>
          <p:cNvPr id="2" name="slide-subtitle">
            <a:extLst>
              <a:ext uri="{FF2B5EF4-FFF2-40B4-BE49-F238E27FC236}">
                <a16:creationId xmlns:a16="http://schemas.microsoft.com/office/drawing/2014/main" id="{89B5A357-B314-4ABF-97EE-AD0D44A35F78}"/>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No se pasa directamente de presión a percepción.</a:t>
            </a:r>
          </a:p>
        </p:txBody>
      </p:sp>
      <p:sp>
        <p:nvSpPr>
          <p:cNvPr id="3" name="eyebrow">
            <a:extLst>
              <a:ext uri="{FF2B5EF4-FFF2-40B4-BE49-F238E27FC236}">
                <a16:creationId xmlns:a16="http://schemas.microsoft.com/office/drawing/2014/main" id="{CAB17FC0-DF2F-4BE5-B2F4-ABA2B6A115F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002</a:t>
            </a:r>
          </a:p>
        </p:txBody>
      </p:sp>
      <p:sp>
        <p:nvSpPr>
          <p:cNvPr id="4" name="U06-DG-001-stage_1-anchor">
            <a:extLst>
              <a:ext uri="{FF2B5EF4-FFF2-40B4-BE49-F238E27FC236}">
                <a16:creationId xmlns:a16="http://schemas.microsoft.com/office/drawing/2014/main" id="{8193C236-A886-41D8-A0E9-C9115B63F618}"/>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01-stage_2-anchor">
            <a:extLst>
              <a:ext uri="{FF2B5EF4-FFF2-40B4-BE49-F238E27FC236}">
                <a16:creationId xmlns:a16="http://schemas.microsoft.com/office/drawing/2014/main" id="{42F9FB75-4EEF-4C02-AD8E-24818D56581F}"/>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01-stage_3-anchor">
            <a:extLst>
              <a:ext uri="{FF2B5EF4-FFF2-40B4-BE49-F238E27FC236}">
                <a16:creationId xmlns:a16="http://schemas.microsoft.com/office/drawing/2014/main" id="{0E4C47C3-3FBA-4AA2-AAA0-126037F7B252}"/>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01-stage_4-anchor">
            <a:extLst>
              <a:ext uri="{FF2B5EF4-FFF2-40B4-BE49-F238E27FC236}">
                <a16:creationId xmlns:a16="http://schemas.microsoft.com/office/drawing/2014/main" id="{2F3D3E9B-FE3C-489D-84D6-53BD4F133573}"/>
              </a:ext>
            </a:extLst>
          </p:cNvPr>
          <p:cNvSpPr>
            <a:spLocks noGrp="1"/>
          </p:cNvSpPr>
          <p:nvPr/>
        </p:nvSpPr>
        <p:spPr>
          <a:xfrm>
            <a:off x="8045450" y="3952875"/>
            <a:ext cx="3365500" cy="1381125"/>
          </a:xfrm>
          <a:prstGeom prst="roundRect">
            <a:avLst>
              <a:gd name="adj" fmla="val 6897"/>
            </a:avLst>
          </a:prstGeom>
          <a:noFill/>
          <a:ln w="0">
            <a:noFill/>
            <a:prstDash val="solid"/>
          </a:ln>
        </p:spPr>
      </p:sp>
      <p:sp>
        <p:nvSpPr>
          <p:cNvPr id="8" name="U06-DG-001-stage_5-anchor">
            <a:extLst>
              <a:ext uri="{FF2B5EF4-FFF2-40B4-BE49-F238E27FC236}">
                <a16:creationId xmlns:a16="http://schemas.microsoft.com/office/drawing/2014/main" id="{67EF4049-28DD-48A1-948E-A228CD2A5245}"/>
              </a:ext>
            </a:extLst>
          </p:cNvPr>
          <p:cNvSpPr>
            <a:spLocks noGrp="1"/>
          </p:cNvSpPr>
          <p:nvPr/>
        </p:nvSpPr>
        <p:spPr>
          <a:xfrm>
            <a:off x="4413250" y="3952875"/>
            <a:ext cx="3365500" cy="1381125"/>
          </a:xfrm>
          <a:prstGeom prst="roundRect">
            <a:avLst>
              <a:gd name="adj" fmla="val 6897"/>
            </a:avLst>
          </a:prstGeom>
          <a:noFill/>
          <a:ln w="0">
            <a:noFill/>
            <a:prstDash val="solid"/>
          </a:ln>
        </p:spPr>
      </p:sp>
      <p:sp>
        <p:nvSpPr>
          <p:cNvPr id="9" name="U06-DG-001-stage_6-anchor">
            <a:extLst>
              <a:ext uri="{FF2B5EF4-FFF2-40B4-BE49-F238E27FC236}">
                <a16:creationId xmlns:a16="http://schemas.microsoft.com/office/drawing/2014/main" id="{EFBB39D5-DE7A-451A-8A63-165492FF6732}"/>
              </a:ext>
            </a:extLst>
          </p:cNvPr>
          <p:cNvSpPr>
            <a:spLocks noGrp="1"/>
          </p:cNvSpPr>
          <p:nvPr/>
        </p:nvSpPr>
        <p:spPr>
          <a:xfrm>
            <a:off x="781050" y="3952875"/>
            <a:ext cx="3365500" cy="1381125"/>
          </a:xfrm>
          <a:prstGeom prst="roundRect">
            <a:avLst>
              <a:gd name="adj" fmla="val 6897"/>
            </a:avLst>
          </a:prstGeom>
          <a:noFill/>
          <a:ln w="0">
            <a:noFill/>
            <a:prstDash val="solid"/>
          </a:ln>
        </p:spPr>
      </p:sp>
      <p:cxnSp>
        <p:nvCxnSpPr>
          <p:cNvPr id="44" name="U06-DG-001-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45" name="U06-DG-001-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6" name="U06-DG-001-flow_3"/>
          <p:cNvCxnSpPr>
            <a:stCxn id="6" idx="2"/>
            <a:endCxn id="7" idx="0"/>
          </p:cNvCxnSpPr>
          <p:nvPr/>
        </p:nvCxnSpPr>
        <p:spPr>
          <a:xfrm>
            <a:off x="9728200" y="3048000"/>
            <a:ext cx="0" cy="904875"/>
          </a:xfrm>
          <a:prstGeom prst="straightConnector1">
            <a:avLst/>
          </a:prstGeom>
          <a:ln w="28575">
            <a:solidFill>
              <a:srgbClr val="3D3D3D"/>
            </a:solidFill>
            <a:prstDash val="solid"/>
            <a:tailEnd type="arrow" w="med" len="med"/>
          </a:ln>
        </p:spPr>
      </p:cxnSp>
      <p:cxnSp>
        <p:nvCxnSpPr>
          <p:cNvPr id="47" name="U06-DG-001-flow_4"/>
          <p:cNvCxnSpPr>
            <a:stCxn id="7" idx="1"/>
            <a:endCxn id="8" idx="3"/>
          </p:cNvCxnSpPr>
          <p:nvPr/>
        </p:nvCxnSpPr>
        <p:spPr>
          <a:xfrm flipH="1">
            <a:off x="7778750" y="4643438"/>
            <a:ext cx="266700" cy="0"/>
          </a:xfrm>
          <a:prstGeom prst="straightConnector1">
            <a:avLst/>
          </a:prstGeom>
          <a:ln w="28575">
            <a:solidFill>
              <a:srgbClr val="3D3D3D"/>
            </a:solidFill>
            <a:prstDash val="solid"/>
            <a:tailEnd type="arrow" w="med" len="med"/>
          </a:ln>
        </p:spPr>
      </p:cxnSp>
      <p:cxnSp>
        <p:nvCxnSpPr>
          <p:cNvPr id="48" name="U06-DG-001-flow_5"/>
          <p:cNvCxnSpPr>
            <a:stCxn id="8" idx="1"/>
            <a:endCxn id="9" idx="3"/>
          </p:cNvCxnSpPr>
          <p:nvPr/>
        </p:nvCxnSpPr>
        <p:spPr>
          <a:xfrm flipH="1">
            <a:off x="4146550" y="4643438"/>
            <a:ext cx="266700" cy="0"/>
          </a:xfrm>
          <a:prstGeom prst="straightConnector1">
            <a:avLst/>
          </a:prstGeom>
          <a:ln w="28575">
            <a:solidFill>
              <a:srgbClr val="3D3D3D"/>
            </a:solidFill>
            <a:prstDash val="solid"/>
            <a:tailEnd type="arrow" w="med" len="med"/>
          </a:ln>
        </p:spPr>
      </p:cxnSp>
      <p:sp>
        <p:nvSpPr>
          <p:cNvPr id="15" name="U06-DG-001-stage_1-box" descr="Diagrama sobre «Del aire al nervio: ¿qué etapas faltan?»; organiza cadena incompleta para ordenar: presión, tímpano, huesecillos, cóclea, células y nervio." title="Texto alternativo U06-002">
            <a:extLst>
              <a:ext uri="{FF2B5EF4-FFF2-40B4-BE49-F238E27FC236}">
                <a16:creationId xmlns:a16="http://schemas.microsoft.com/office/drawing/2014/main" id="{6B139E63-0766-4B34-BC27-E193038AC317}"/>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6" name="U06-DG-001-stage_1-title">
            <a:extLst>
              <a:ext uri="{FF2B5EF4-FFF2-40B4-BE49-F238E27FC236}">
                <a16:creationId xmlns:a16="http://schemas.microsoft.com/office/drawing/2014/main" id="{AD7FF334-93A0-431D-8C1C-09641854FA53}"/>
              </a:ext>
            </a:extLst>
          </p:cNvPr>
          <p:cNvSpPr>
            <a:spLocks noGrp="1"/>
          </p:cNvSpPr>
          <p:nvPr/>
        </p:nvSpPr>
        <p:spPr>
          <a:xfrm>
            <a:off x="9715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Pabellón</a:t>
            </a:r>
          </a:p>
        </p:txBody>
      </p:sp>
      <p:sp>
        <p:nvSpPr>
          <p:cNvPr id="17" name="U06-DG-001-stage_1-body">
            <a:extLst>
              <a:ext uri="{FF2B5EF4-FFF2-40B4-BE49-F238E27FC236}">
                <a16:creationId xmlns:a16="http://schemas.microsoft.com/office/drawing/2014/main" id="{34DB0EC4-BAE2-4A1B-847B-49303A8CF2AB}"/>
              </a:ext>
            </a:extLst>
          </p:cNvPr>
          <p:cNvSpPr>
            <a:spLocks noGrp="1"/>
          </p:cNvSpPr>
          <p:nvPr/>
        </p:nvSpPr>
        <p:spPr>
          <a:xfrm>
            <a:off x="9715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capta y filtra</a:t>
            </a:r>
          </a:p>
        </p:txBody>
      </p:sp>
      <p:sp>
        <p:nvSpPr>
          <p:cNvPr id="18" name="U06-DG-001-stage_2-box">
            <a:extLst>
              <a:ext uri="{FF2B5EF4-FFF2-40B4-BE49-F238E27FC236}">
                <a16:creationId xmlns:a16="http://schemas.microsoft.com/office/drawing/2014/main" id="{70A2C81A-F925-47A5-92A3-DB99E593C99D}"/>
              </a:ext>
            </a:extLst>
          </p:cNvPr>
          <p:cNvSpPr>
            <a:spLocks noGrp="1"/>
          </p:cNvSpPr>
          <p:nvPr/>
        </p:nvSpPr>
        <p:spPr>
          <a:xfrm>
            <a:off x="4413250" y="1666875"/>
            <a:ext cx="3365500" cy="1381125"/>
          </a:xfrm>
          <a:prstGeom prst="roundRect">
            <a:avLst>
              <a:gd name="adj" fmla="val 6897"/>
            </a:avLst>
          </a:prstGeom>
          <a:solidFill>
            <a:srgbClr val="E7F1F1"/>
          </a:solidFill>
          <a:ln w="19050">
            <a:solidFill>
              <a:srgbClr val="2F7E83"/>
            </a:solidFill>
            <a:prstDash val="solid"/>
          </a:ln>
        </p:spPr>
      </p:sp>
      <p:sp>
        <p:nvSpPr>
          <p:cNvPr id="19" name="U06-DG-001-stage_2-title">
            <a:extLst>
              <a:ext uri="{FF2B5EF4-FFF2-40B4-BE49-F238E27FC236}">
                <a16:creationId xmlns:a16="http://schemas.microsoft.com/office/drawing/2014/main" id="{F199A84D-02BC-4211-9453-9F6A7951454E}"/>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0" name="U06-DG-001-stage_2-body">
            <a:extLst>
              <a:ext uri="{FF2B5EF4-FFF2-40B4-BE49-F238E27FC236}">
                <a16:creationId xmlns:a16="http://schemas.microsoft.com/office/drawing/2014/main" id="{E443F754-32C9-42A7-94CE-011CBF260C0F}"/>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conduce presión</a:t>
            </a:r>
          </a:p>
        </p:txBody>
      </p:sp>
      <p:sp>
        <p:nvSpPr>
          <p:cNvPr id="21" name="U06-DG-001-stage_3-box">
            <a:extLst>
              <a:ext uri="{FF2B5EF4-FFF2-40B4-BE49-F238E27FC236}">
                <a16:creationId xmlns:a16="http://schemas.microsoft.com/office/drawing/2014/main" id="{5E9A6B62-6324-4082-9F95-D554B34E38CD}"/>
              </a:ext>
            </a:extLst>
          </p:cNvPr>
          <p:cNvSpPr>
            <a:spLocks noGrp="1"/>
          </p:cNvSpPr>
          <p:nvPr/>
        </p:nvSpPr>
        <p:spPr>
          <a:xfrm>
            <a:off x="8045450" y="1666875"/>
            <a:ext cx="3365500" cy="1381125"/>
          </a:xfrm>
          <a:prstGeom prst="roundRect">
            <a:avLst>
              <a:gd name="adj" fmla="val 6897"/>
            </a:avLst>
          </a:prstGeom>
          <a:solidFill>
            <a:srgbClr val="F4E9EF"/>
          </a:solidFill>
          <a:ln w="19050">
            <a:solidFill>
              <a:srgbClr val="4D1434"/>
            </a:solidFill>
            <a:prstDash val="solid"/>
          </a:ln>
        </p:spPr>
      </p:sp>
      <p:sp>
        <p:nvSpPr>
          <p:cNvPr id="22" name="U06-DG-001-stage_3-title">
            <a:extLst>
              <a:ext uri="{FF2B5EF4-FFF2-40B4-BE49-F238E27FC236}">
                <a16:creationId xmlns:a16="http://schemas.microsoft.com/office/drawing/2014/main" id="{34F35865-3C4B-4A9D-8FC2-AF8B60761C5A}"/>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Tímpano</a:t>
            </a:r>
          </a:p>
        </p:txBody>
      </p:sp>
      <p:sp>
        <p:nvSpPr>
          <p:cNvPr id="23" name="U06-DG-001-stage_3-body">
            <a:extLst>
              <a:ext uri="{FF2B5EF4-FFF2-40B4-BE49-F238E27FC236}">
                <a16:creationId xmlns:a16="http://schemas.microsoft.com/office/drawing/2014/main" id="{EBD53B03-7D5E-48F7-99C6-9741228F7B05}"/>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 → fuerza</a:t>
            </a:r>
          </a:p>
        </p:txBody>
      </p:sp>
      <p:sp>
        <p:nvSpPr>
          <p:cNvPr id="24" name="U06-DG-001-stage_4-box">
            <a:extLst>
              <a:ext uri="{FF2B5EF4-FFF2-40B4-BE49-F238E27FC236}">
                <a16:creationId xmlns:a16="http://schemas.microsoft.com/office/drawing/2014/main" id="{171F9794-14A9-4906-8597-68D70CA405B1}"/>
              </a:ext>
            </a:extLst>
          </p:cNvPr>
          <p:cNvSpPr>
            <a:spLocks noGrp="1"/>
          </p:cNvSpPr>
          <p:nvPr/>
        </p:nvSpPr>
        <p:spPr>
          <a:xfrm>
            <a:off x="8045450" y="3952875"/>
            <a:ext cx="3365500" cy="1381125"/>
          </a:xfrm>
          <a:prstGeom prst="roundRect">
            <a:avLst>
              <a:gd name="adj" fmla="val 6897"/>
            </a:avLst>
          </a:prstGeom>
          <a:solidFill>
            <a:srgbClr val="F4E9EF"/>
          </a:solidFill>
          <a:ln w="19050">
            <a:solidFill>
              <a:srgbClr val="4D1434"/>
            </a:solidFill>
            <a:prstDash val="solid"/>
          </a:ln>
        </p:spPr>
      </p:sp>
      <p:sp>
        <p:nvSpPr>
          <p:cNvPr id="25" name="U06-DG-001-stage_4-title">
            <a:extLst>
              <a:ext uri="{FF2B5EF4-FFF2-40B4-BE49-F238E27FC236}">
                <a16:creationId xmlns:a16="http://schemas.microsoft.com/office/drawing/2014/main" id="{38BD3C0E-35E2-4AC2-A327-72EBF942F08E}"/>
              </a:ext>
            </a:extLst>
          </p:cNvPr>
          <p:cNvSpPr>
            <a:spLocks noGrp="1"/>
          </p:cNvSpPr>
          <p:nvPr/>
        </p:nvSpPr>
        <p:spPr>
          <a:xfrm>
            <a:off x="82359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Osículos</a:t>
            </a:r>
          </a:p>
        </p:txBody>
      </p:sp>
      <p:sp>
        <p:nvSpPr>
          <p:cNvPr id="26" name="U06-DG-001-stage_4-body">
            <a:extLst>
              <a:ext uri="{FF2B5EF4-FFF2-40B4-BE49-F238E27FC236}">
                <a16:creationId xmlns:a16="http://schemas.microsoft.com/office/drawing/2014/main" id="{0A24B103-EC6E-4635-849E-BFAD06F74575}"/>
              </a:ext>
            </a:extLst>
          </p:cNvPr>
          <p:cNvSpPr>
            <a:spLocks noGrp="1"/>
          </p:cNvSpPr>
          <p:nvPr/>
        </p:nvSpPr>
        <p:spPr>
          <a:xfrm>
            <a:off x="82359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transfieren</a:t>
            </a:r>
          </a:p>
        </p:txBody>
      </p:sp>
      <p:sp>
        <p:nvSpPr>
          <p:cNvPr id="27" name="U06-DG-001-stage_5-box">
            <a:extLst>
              <a:ext uri="{FF2B5EF4-FFF2-40B4-BE49-F238E27FC236}">
                <a16:creationId xmlns:a16="http://schemas.microsoft.com/office/drawing/2014/main" id="{42F4AB14-E4CE-4E6A-B44C-8E9B9DB17A50}"/>
              </a:ext>
            </a:extLst>
          </p:cNvPr>
          <p:cNvSpPr>
            <a:spLocks noGrp="1"/>
          </p:cNvSpPr>
          <p:nvPr/>
        </p:nvSpPr>
        <p:spPr>
          <a:xfrm>
            <a:off x="4413250" y="3952875"/>
            <a:ext cx="3365500" cy="1381125"/>
          </a:xfrm>
          <a:prstGeom prst="roundRect">
            <a:avLst>
              <a:gd name="adj" fmla="val 6897"/>
            </a:avLst>
          </a:prstGeom>
          <a:solidFill>
            <a:srgbClr val="F8EDE2"/>
          </a:solidFill>
          <a:ln w="19050">
            <a:solidFill>
              <a:srgbClr val="9F541A"/>
            </a:solidFill>
            <a:prstDash val="solid"/>
          </a:ln>
        </p:spPr>
      </p:sp>
      <p:sp>
        <p:nvSpPr>
          <p:cNvPr id="28" name="U06-DG-001-stage_5-title">
            <a:extLst>
              <a:ext uri="{FF2B5EF4-FFF2-40B4-BE49-F238E27FC236}">
                <a16:creationId xmlns:a16="http://schemas.microsoft.com/office/drawing/2014/main" id="{9344E298-6B02-48DB-B834-22815E054737}"/>
              </a:ext>
            </a:extLst>
          </p:cNvPr>
          <p:cNvSpPr>
            <a:spLocks noGrp="1"/>
          </p:cNvSpPr>
          <p:nvPr/>
        </p:nvSpPr>
        <p:spPr>
          <a:xfrm>
            <a:off x="46037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Cóclea</a:t>
            </a:r>
          </a:p>
        </p:txBody>
      </p:sp>
      <p:sp>
        <p:nvSpPr>
          <p:cNvPr id="29" name="U06-DG-001-stage_5-body">
            <a:extLst>
              <a:ext uri="{FF2B5EF4-FFF2-40B4-BE49-F238E27FC236}">
                <a16:creationId xmlns:a16="http://schemas.microsoft.com/office/drawing/2014/main" id="{55B10D9A-45C9-44D2-B8B5-5B9DE4C23F1C}"/>
              </a:ext>
            </a:extLst>
          </p:cNvPr>
          <p:cNvSpPr>
            <a:spLocks noGrp="1"/>
          </p:cNvSpPr>
          <p:nvPr/>
        </p:nvSpPr>
        <p:spPr>
          <a:xfrm>
            <a:off x="46037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mecánica espacial</a:t>
            </a:r>
          </a:p>
        </p:txBody>
      </p:sp>
      <p:sp>
        <p:nvSpPr>
          <p:cNvPr id="30" name="U06-DG-001-stage_6-box">
            <a:extLst>
              <a:ext uri="{FF2B5EF4-FFF2-40B4-BE49-F238E27FC236}">
                <a16:creationId xmlns:a16="http://schemas.microsoft.com/office/drawing/2014/main" id="{D9B997DA-52C7-42E8-BB6F-69DE47F34980}"/>
              </a:ext>
            </a:extLst>
          </p:cNvPr>
          <p:cNvSpPr>
            <a:spLocks noGrp="1"/>
          </p:cNvSpPr>
          <p:nvPr/>
        </p:nvSpPr>
        <p:spPr>
          <a:xfrm>
            <a:off x="781050" y="3952875"/>
            <a:ext cx="3365500" cy="1381125"/>
          </a:xfrm>
          <a:prstGeom prst="roundRect">
            <a:avLst>
              <a:gd name="adj" fmla="val 6897"/>
            </a:avLst>
          </a:prstGeom>
          <a:solidFill>
            <a:srgbClr val="F8EDE2"/>
          </a:solidFill>
          <a:ln w="19050">
            <a:solidFill>
              <a:srgbClr val="9F541A"/>
            </a:solidFill>
            <a:prstDash val="solid"/>
          </a:ln>
        </p:spPr>
      </p:sp>
      <p:sp>
        <p:nvSpPr>
          <p:cNvPr id="31" name="U06-DG-001-stage_6-title">
            <a:extLst>
              <a:ext uri="{FF2B5EF4-FFF2-40B4-BE49-F238E27FC236}">
                <a16:creationId xmlns:a16="http://schemas.microsoft.com/office/drawing/2014/main" id="{3C93603B-FD82-403F-ACEA-6A81EF980595}"/>
              </a:ext>
            </a:extLst>
          </p:cNvPr>
          <p:cNvSpPr>
            <a:spLocks noGrp="1"/>
          </p:cNvSpPr>
          <p:nvPr/>
        </p:nvSpPr>
        <p:spPr>
          <a:xfrm>
            <a:off x="9715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Nervio</a:t>
            </a:r>
          </a:p>
        </p:txBody>
      </p:sp>
      <p:sp>
        <p:nvSpPr>
          <p:cNvPr id="32" name="U06-DG-001-stage_6-body">
            <a:extLst>
              <a:ext uri="{FF2B5EF4-FFF2-40B4-BE49-F238E27FC236}">
                <a16:creationId xmlns:a16="http://schemas.microsoft.com/office/drawing/2014/main" id="{E4AA740B-BDE1-466D-8D19-EFFCDC67BECE}"/>
              </a:ext>
            </a:extLst>
          </p:cNvPr>
          <p:cNvSpPr>
            <a:spLocks noGrp="1"/>
          </p:cNvSpPr>
          <p:nvPr/>
        </p:nvSpPr>
        <p:spPr>
          <a:xfrm>
            <a:off x="9715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señal aferente</a:t>
            </a:r>
          </a:p>
        </p:txBody>
      </p:sp>
      <p:sp>
        <p:nvSpPr>
          <p:cNvPr id="33" name="caption">
            <a:extLst>
              <a:ext uri="{FF2B5EF4-FFF2-40B4-BE49-F238E27FC236}">
                <a16:creationId xmlns:a16="http://schemas.microsoft.com/office/drawing/2014/main" id="{144EFE17-E6B4-49B7-A430-4C90F268527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No se pasa directamente de presión a percepción.</a:t>
            </a:r>
          </a:p>
        </p:txBody>
      </p:sp>
      <p:sp>
        <p:nvSpPr>
          <p:cNvPr id="34" name="credit">
            <a:extLst>
              <a:ext uri="{FF2B5EF4-FFF2-40B4-BE49-F238E27FC236}">
                <a16:creationId xmlns:a16="http://schemas.microsoft.com/office/drawing/2014/main" id="{3F61A3AF-90F7-4D36-B127-498D6CD95FE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281546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85D98842-DB6C-459C-BD2F-C25A03628F7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Lo que recuperamos de U2 a U5</a:t>
            </a:r>
          </a:p>
        </p:txBody>
      </p:sp>
      <p:sp>
        <p:nvSpPr>
          <p:cNvPr id="2" name="slide-subtitle">
            <a:extLst>
              <a:ext uri="{FF2B5EF4-FFF2-40B4-BE49-F238E27FC236}">
                <a16:creationId xmlns:a16="http://schemas.microsoft.com/office/drawing/2014/main" id="{352EEE4A-1C7A-4234-BD51-3E6D60C672C0}"/>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Fuerza, onda, presión, impedancia y respuesta en frecuencia convergen en U6.</a:t>
            </a:r>
          </a:p>
        </p:txBody>
      </p:sp>
      <p:sp>
        <p:nvSpPr>
          <p:cNvPr id="3" name="eyebrow">
            <a:extLst>
              <a:ext uri="{FF2B5EF4-FFF2-40B4-BE49-F238E27FC236}">
                <a16:creationId xmlns:a16="http://schemas.microsoft.com/office/drawing/2014/main" id="{3DE16558-A9FB-4F04-AA2C-A6446BF8EAA5}"/>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003</a:t>
            </a:r>
          </a:p>
        </p:txBody>
      </p:sp>
      <p:sp>
        <p:nvSpPr>
          <p:cNvPr id="4" name="U06-DG-002-central-anchor">
            <a:extLst>
              <a:ext uri="{FF2B5EF4-FFF2-40B4-BE49-F238E27FC236}">
                <a16:creationId xmlns:a16="http://schemas.microsoft.com/office/drawing/2014/main" id="{9D489661-2E4E-44E3-9683-E995319FF2EF}"/>
              </a:ext>
            </a:extLst>
          </p:cNvPr>
          <p:cNvSpPr>
            <a:spLocks noGrp="1"/>
          </p:cNvSpPr>
          <p:nvPr/>
        </p:nvSpPr>
        <p:spPr>
          <a:xfrm>
            <a:off x="3714750" y="1381125"/>
            <a:ext cx="4762500" cy="1285875"/>
          </a:xfrm>
          <a:prstGeom prst="roundRect">
            <a:avLst>
              <a:gd name="adj" fmla="val 7407"/>
            </a:avLst>
          </a:prstGeom>
          <a:noFill/>
          <a:ln w="0">
            <a:noFill/>
            <a:prstDash val="solid"/>
          </a:ln>
        </p:spPr>
      </p:sp>
      <p:sp>
        <p:nvSpPr>
          <p:cNvPr id="5" name="U06-DG-002-branch_1-anchor">
            <a:extLst>
              <a:ext uri="{FF2B5EF4-FFF2-40B4-BE49-F238E27FC236}">
                <a16:creationId xmlns:a16="http://schemas.microsoft.com/office/drawing/2014/main" id="{6C39770E-69BE-4F18-ACE7-938ED5BA60E4}"/>
              </a:ext>
            </a:extLst>
          </p:cNvPr>
          <p:cNvSpPr>
            <a:spLocks noGrp="1"/>
          </p:cNvSpPr>
          <p:nvPr/>
        </p:nvSpPr>
        <p:spPr>
          <a:xfrm>
            <a:off x="781050" y="3619500"/>
            <a:ext cx="2500313" cy="1809750"/>
          </a:xfrm>
          <a:prstGeom prst="roundRect">
            <a:avLst>
              <a:gd name="adj" fmla="val 5263"/>
            </a:avLst>
          </a:prstGeom>
          <a:noFill/>
          <a:ln w="0">
            <a:noFill/>
            <a:prstDash val="solid"/>
          </a:ln>
        </p:spPr>
      </p:sp>
      <p:sp>
        <p:nvSpPr>
          <p:cNvPr id="6" name="U06-DG-002-branch_2-anchor">
            <a:extLst>
              <a:ext uri="{FF2B5EF4-FFF2-40B4-BE49-F238E27FC236}">
                <a16:creationId xmlns:a16="http://schemas.microsoft.com/office/drawing/2014/main" id="{E39E1EE9-5F1B-4E2D-A03F-51E8B5FA9174}"/>
              </a:ext>
            </a:extLst>
          </p:cNvPr>
          <p:cNvSpPr>
            <a:spLocks noGrp="1"/>
          </p:cNvSpPr>
          <p:nvPr/>
        </p:nvSpPr>
        <p:spPr>
          <a:xfrm>
            <a:off x="3490913" y="3619500"/>
            <a:ext cx="2500313" cy="1809750"/>
          </a:xfrm>
          <a:prstGeom prst="roundRect">
            <a:avLst>
              <a:gd name="adj" fmla="val 5263"/>
            </a:avLst>
          </a:prstGeom>
          <a:noFill/>
          <a:ln w="0">
            <a:noFill/>
            <a:prstDash val="solid"/>
          </a:ln>
        </p:spPr>
      </p:sp>
      <p:sp>
        <p:nvSpPr>
          <p:cNvPr id="7" name="U06-DG-002-branch_3-anchor">
            <a:extLst>
              <a:ext uri="{FF2B5EF4-FFF2-40B4-BE49-F238E27FC236}">
                <a16:creationId xmlns:a16="http://schemas.microsoft.com/office/drawing/2014/main" id="{DF1282A0-C0B1-4BF7-9047-11C4AA5FC6A2}"/>
              </a:ext>
            </a:extLst>
          </p:cNvPr>
          <p:cNvSpPr>
            <a:spLocks noGrp="1"/>
          </p:cNvSpPr>
          <p:nvPr/>
        </p:nvSpPr>
        <p:spPr>
          <a:xfrm>
            <a:off x="6200775" y="3619500"/>
            <a:ext cx="2500313" cy="1809750"/>
          </a:xfrm>
          <a:prstGeom prst="roundRect">
            <a:avLst>
              <a:gd name="adj" fmla="val 5263"/>
            </a:avLst>
          </a:prstGeom>
          <a:noFill/>
          <a:ln w="0">
            <a:noFill/>
            <a:prstDash val="solid"/>
          </a:ln>
        </p:spPr>
      </p:sp>
      <p:sp>
        <p:nvSpPr>
          <p:cNvPr id="8" name="U06-DG-002-branch_4-anchor">
            <a:extLst>
              <a:ext uri="{FF2B5EF4-FFF2-40B4-BE49-F238E27FC236}">
                <a16:creationId xmlns:a16="http://schemas.microsoft.com/office/drawing/2014/main" id="{AE3A945D-E4F3-49EB-8465-BA5D71C3426F}"/>
              </a:ext>
            </a:extLst>
          </p:cNvPr>
          <p:cNvSpPr>
            <a:spLocks noGrp="1"/>
          </p:cNvSpPr>
          <p:nvPr/>
        </p:nvSpPr>
        <p:spPr>
          <a:xfrm>
            <a:off x="8910638" y="3619500"/>
            <a:ext cx="2500313" cy="1809750"/>
          </a:xfrm>
          <a:prstGeom prst="roundRect">
            <a:avLst>
              <a:gd name="adj" fmla="val 5263"/>
            </a:avLst>
          </a:prstGeom>
          <a:noFill/>
          <a:ln w="0">
            <a:noFill/>
            <a:prstDash val="solid"/>
          </a:ln>
        </p:spPr>
      </p:sp>
      <p:cxnSp>
        <p:nvCxnSpPr>
          <p:cNvPr id="38" name="U06-DG-002-branch_edge_1"/>
          <p:cNvCxnSpPr>
            <a:stCxn id="4" idx="1"/>
            <a:endCxn id="5" idx="3"/>
          </p:cNvCxnSpPr>
          <p:nvPr/>
        </p:nvCxnSpPr>
        <p:spPr>
          <a:xfrm flipH="1">
            <a:off x="3281363" y="2024063"/>
            <a:ext cx="433387" cy="2500313"/>
          </a:xfrm>
          <a:prstGeom prst="bentConnector3">
            <a:avLst>
              <a:gd name="adj1" fmla="val 50000"/>
            </a:avLst>
          </a:prstGeom>
          <a:ln w="28575">
            <a:solidFill>
              <a:srgbClr val="3D3D3D"/>
            </a:solidFill>
            <a:prstDash val="solid"/>
            <a:tailEnd type="arrow" w="med" len="med"/>
          </a:ln>
        </p:spPr>
      </p:cxnSp>
      <p:cxnSp>
        <p:nvCxnSpPr>
          <p:cNvPr id="39" name="U06-DG-002-branch_edge_2"/>
          <p:cNvCxnSpPr>
            <a:stCxn id="4" idx="2"/>
            <a:endCxn id="6" idx="0"/>
          </p:cNvCxnSpPr>
          <p:nvPr/>
        </p:nvCxnSpPr>
        <p:spPr>
          <a:xfrm flipH="1">
            <a:off x="4741070" y="2667000"/>
            <a:ext cx="1354930" cy="952500"/>
          </a:xfrm>
          <a:prstGeom prst="bentConnector4">
            <a:avLst>
              <a:gd name="adj1" fmla="val 0"/>
              <a:gd name="adj2" fmla="val 50000"/>
            </a:avLst>
          </a:prstGeom>
          <a:ln w="28575">
            <a:solidFill>
              <a:srgbClr val="3D3D3D"/>
            </a:solidFill>
            <a:prstDash val="solid"/>
            <a:tailEnd type="arrow" w="med" len="med"/>
          </a:ln>
        </p:spPr>
      </p:cxnSp>
      <p:cxnSp>
        <p:nvCxnSpPr>
          <p:cNvPr id="40" name="U06-DG-002-branch_edge_3"/>
          <p:cNvCxnSpPr>
            <a:stCxn id="4" idx="2"/>
            <a:endCxn id="7" idx="0"/>
          </p:cNvCxnSpPr>
          <p:nvPr/>
        </p:nvCxnSpPr>
        <p:spPr>
          <a:xfrm>
            <a:off x="6096000" y="2667000"/>
            <a:ext cx="1354931" cy="952500"/>
          </a:xfrm>
          <a:prstGeom prst="bentConnector4">
            <a:avLst>
              <a:gd name="adj1" fmla="val 0"/>
              <a:gd name="adj2" fmla="val 50000"/>
            </a:avLst>
          </a:prstGeom>
          <a:ln w="28575">
            <a:solidFill>
              <a:srgbClr val="3D3D3D"/>
            </a:solidFill>
            <a:prstDash val="solid"/>
            <a:tailEnd type="arrow" w="med" len="med"/>
          </a:ln>
        </p:spPr>
      </p:cxnSp>
      <p:cxnSp>
        <p:nvCxnSpPr>
          <p:cNvPr id="41" name="U06-DG-002-branch_edge_4"/>
          <p:cNvCxnSpPr>
            <a:stCxn id="4" idx="3"/>
            <a:endCxn id="8" idx="1"/>
          </p:cNvCxnSpPr>
          <p:nvPr/>
        </p:nvCxnSpPr>
        <p:spPr>
          <a:xfrm>
            <a:off x="8477250" y="2024063"/>
            <a:ext cx="433388" cy="2500313"/>
          </a:xfrm>
          <a:prstGeom prst="bentConnector3">
            <a:avLst>
              <a:gd name="adj1" fmla="val 50000"/>
            </a:avLst>
          </a:prstGeom>
          <a:ln w="28575">
            <a:solidFill>
              <a:srgbClr val="3D3D3D"/>
            </a:solidFill>
            <a:prstDash val="solid"/>
            <a:tailEnd type="arrow" w="med" len="med"/>
          </a:ln>
        </p:spPr>
      </p:cxnSp>
      <p:sp>
        <p:nvSpPr>
          <p:cNvPr id="13" name="U06-DG-002-central-box" descr="Diagrama sobre «Lo que recuperamos de U2 a U5»; organiza cuatro aportes: mecánica, ondas, magnitudes acústicas y señal/sistema." title="Texto alternativo U06-003">
            <a:extLst>
              <a:ext uri="{FF2B5EF4-FFF2-40B4-BE49-F238E27FC236}">
                <a16:creationId xmlns:a16="http://schemas.microsoft.com/office/drawing/2014/main" id="{C975CE9F-6A3C-4D7B-B601-1CC12D90C2FD}"/>
              </a:ext>
            </a:extLst>
          </p:cNvPr>
          <p:cNvSpPr>
            <a:spLocks noGrp="1"/>
          </p:cNvSpPr>
          <p:nvPr/>
        </p:nvSpPr>
        <p:spPr>
          <a:xfrm>
            <a:off x="3714750" y="1381125"/>
            <a:ext cx="4762500" cy="1285875"/>
          </a:xfrm>
          <a:prstGeom prst="roundRect">
            <a:avLst>
              <a:gd name="adj" fmla="val 7407"/>
            </a:avLst>
          </a:prstGeom>
          <a:solidFill>
            <a:srgbClr val="F4E9EF"/>
          </a:solidFill>
          <a:ln w="19050">
            <a:solidFill>
              <a:srgbClr val="4D1434"/>
            </a:solidFill>
            <a:prstDash val="solid"/>
          </a:ln>
        </p:spPr>
      </p:sp>
      <p:sp>
        <p:nvSpPr>
          <p:cNvPr id="14" name="U06-DG-002-central-title">
            <a:extLst>
              <a:ext uri="{FF2B5EF4-FFF2-40B4-BE49-F238E27FC236}">
                <a16:creationId xmlns:a16="http://schemas.microsoft.com/office/drawing/2014/main" id="{8673C1C9-1220-45EC-B33B-B1749B96FD93}"/>
              </a:ext>
            </a:extLst>
          </p:cNvPr>
          <p:cNvSpPr>
            <a:spLocks noGrp="1"/>
          </p:cNvSpPr>
          <p:nvPr/>
        </p:nvSpPr>
        <p:spPr>
          <a:xfrm>
            <a:off x="3905250" y="1524000"/>
            <a:ext cx="4381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Mecanismo auditivo</a:t>
            </a:r>
          </a:p>
        </p:txBody>
      </p:sp>
      <p:sp>
        <p:nvSpPr>
          <p:cNvPr id="15" name="U06-DG-002-central-body">
            <a:extLst>
              <a:ext uri="{FF2B5EF4-FFF2-40B4-BE49-F238E27FC236}">
                <a16:creationId xmlns:a16="http://schemas.microsoft.com/office/drawing/2014/main" id="{03EDE202-5976-4023-820C-280045301AD9}"/>
              </a:ext>
            </a:extLst>
          </p:cNvPr>
          <p:cNvSpPr>
            <a:spLocks noGrp="1"/>
          </p:cNvSpPr>
          <p:nvPr/>
        </p:nvSpPr>
        <p:spPr>
          <a:xfrm>
            <a:off x="3905250" y="1971675"/>
            <a:ext cx="4381500" cy="600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integra U2–U5</a:t>
            </a:r>
          </a:p>
        </p:txBody>
      </p:sp>
      <p:sp>
        <p:nvSpPr>
          <p:cNvPr id="16" name="U06-DG-002-branch_1-box">
            <a:extLst>
              <a:ext uri="{FF2B5EF4-FFF2-40B4-BE49-F238E27FC236}">
                <a16:creationId xmlns:a16="http://schemas.microsoft.com/office/drawing/2014/main" id="{C085EC61-61D6-4BA1-9547-9679462ABAFF}"/>
              </a:ext>
            </a:extLst>
          </p:cNvPr>
          <p:cNvSpPr>
            <a:spLocks noGrp="1"/>
          </p:cNvSpPr>
          <p:nvPr/>
        </p:nvSpPr>
        <p:spPr>
          <a:xfrm>
            <a:off x="781050" y="3619500"/>
            <a:ext cx="2500313" cy="1809750"/>
          </a:xfrm>
          <a:prstGeom prst="roundRect">
            <a:avLst>
              <a:gd name="adj" fmla="val 5263"/>
            </a:avLst>
          </a:prstGeom>
          <a:solidFill>
            <a:srgbClr val="E7F1F1"/>
          </a:solidFill>
          <a:ln w="19050">
            <a:solidFill>
              <a:srgbClr val="2F7E83"/>
            </a:solidFill>
            <a:prstDash val="solid"/>
          </a:ln>
        </p:spPr>
      </p:sp>
      <p:sp>
        <p:nvSpPr>
          <p:cNvPr id="17" name="U06-DG-002-branch_1-title">
            <a:extLst>
              <a:ext uri="{FF2B5EF4-FFF2-40B4-BE49-F238E27FC236}">
                <a16:creationId xmlns:a16="http://schemas.microsoft.com/office/drawing/2014/main" id="{4AF73DCF-7535-424F-9F9B-5BA69E15DC5E}"/>
              </a:ext>
            </a:extLst>
          </p:cNvPr>
          <p:cNvSpPr>
            <a:spLocks noGrp="1"/>
          </p:cNvSpPr>
          <p:nvPr/>
        </p:nvSpPr>
        <p:spPr>
          <a:xfrm>
            <a:off x="971550" y="3762375"/>
            <a:ext cx="211931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Presión p</a:t>
            </a:r>
          </a:p>
        </p:txBody>
      </p:sp>
      <p:sp>
        <p:nvSpPr>
          <p:cNvPr id="18" name="U06-DG-002-branch_1-body">
            <a:extLst>
              <a:ext uri="{FF2B5EF4-FFF2-40B4-BE49-F238E27FC236}">
                <a16:creationId xmlns:a16="http://schemas.microsoft.com/office/drawing/2014/main" id="{77B1EACE-E1E4-437A-853E-DF7D31420B27}"/>
              </a:ext>
            </a:extLst>
          </p:cNvPr>
          <p:cNvSpPr>
            <a:spLocks noGrp="1"/>
          </p:cNvSpPr>
          <p:nvPr/>
        </p:nvSpPr>
        <p:spPr>
          <a:xfrm>
            <a:off x="971550" y="4210050"/>
            <a:ext cx="211931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¿qué cambia?</a:t>
            </a:r>
          </a:p>
        </p:txBody>
      </p:sp>
      <p:sp>
        <p:nvSpPr>
          <p:cNvPr id="19" name="U06-DG-002-branch_2-box">
            <a:extLst>
              <a:ext uri="{FF2B5EF4-FFF2-40B4-BE49-F238E27FC236}">
                <a16:creationId xmlns:a16="http://schemas.microsoft.com/office/drawing/2014/main" id="{D775E322-F51A-4CDC-BA80-2311F34D34A7}"/>
              </a:ext>
            </a:extLst>
          </p:cNvPr>
          <p:cNvSpPr>
            <a:spLocks noGrp="1"/>
          </p:cNvSpPr>
          <p:nvPr/>
        </p:nvSpPr>
        <p:spPr>
          <a:xfrm>
            <a:off x="3490913" y="3619500"/>
            <a:ext cx="2500313" cy="1809750"/>
          </a:xfrm>
          <a:prstGeom prst="roundRect">
            <a:avLst>
              <a:gd name="adj" fmla="val 5263"/>
            </a:avLst>
          </a:prstGeom>
          <a:solidFill>
            <a:srgbClr val="E7F1F1"/>
          </a:solidFill>
          <a:ln w="19050">
            <a:solidFill>
              <a:srgbClr val="2F7E83"/>
            </a:solidFill>
            <a:prstDash val="solid"/>
          </a:ln>
        </p:spPr>
      </p:sp>
      <p:sp>
        <p:nvSpPr>
          <p:cNvPr id="20" name="U06-DG-002-branch_2-title">
            <a:extLst>
              <a:ext uri="{FF2B5EF4-FFF2-40B4-BE49-F238E27FC236}">
                <a16:creationId xmlns:a16="http://schemas.microsoft.com/office/drawing/2014/main" id="{8B1E4493-F490-461D-9431-2BE4BFCCB2C0}"/>
              </a:ext>
            </a:extLst>
          </p:cNvPr>
          <p:cNvSpPr>
            <a:spLocks noGrp="1"/>
          </p:cNvSpPr>
          <p:nvPr/>
        </p:nvSpPr>
        <p:spPr>
          <a:xfrm>
            <a:off x="3681413" y="3762375"/>
            <a:ext cx="211931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Fuerza F</a:t>
            </a:r>
          </a:p>
        </p:txBody>
      </p:sp>
      <p:sp>
        <p:nvSpPr>
          <p:cNvPr id="21" name="U06-DG-002-branch_2-body">
            <a:extLst>
              <a:ext uri="{FF2B5EF4-FFF2-40B4-BE49-F238E27FC236}">
                <a16:creationId xmlns:a16="http://schemas.microsoft.com/office/drawing/2014/main" id="{C9447AEA-912F-44B3-8CCF-ECCA4AE6967C}"/>
              </a:ext>
            </a:extLst>
          </p:cNvPr>
          <p:cNvSpPr>
            <a:spLocks noGrp="1"/>
          </p:cNvSpPr>
          <p:nvPr/>
        </p:nvSpPr>
        <p:spPr>
          <a:xfrm>
            <a:off x="3681413" y="4210050"/>
            <a:ext cx="211931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¿qué mueve?</a:t>
            </a:r>
          </a:p>
        </p:txBody>
      </p:sp>
      <p:sp>
        <p:nvSpPr>
          <p:cNvPr id="22" name="U06-DG-002-branch_3-box">
            <a:extLst>
              <a:ext uri="{FF2B5EF4-FFF2-40B4-BE49-F238E27FC236}">
                <a16:creationId xmlns:a16="http://schemas.microsoft.com/office/drawing/2014/main" id="{CF8507A7-AD73-4B6E-BA7F-36C40EAED5B3}"/>
              </a:ext>
            </a:extLst>
          </p:cNvPr>
          <p:cNvSpPr>
            <a:spLocks noGrp="1"/>
          </p:cNvSpPr>
          <p:nvPr/>
        </p:nvSpPr>
        <p:spPr>
          <a:xfrm>
            <a:off x="6200775" y="3619500"/>
            <a:ext cx="2500313" cy="1809750"/>
          </a:xfrm>
          <a:prstGeom prst="roundRect">
            <a:avLst>
              <a:gd name="adj" fmla="val 5263"/>
            </a:avLst>
          </a:prstGeom>
          <a:solidFill>
            <a:srgbClr val="F7F6F2"/>
          </a:solidFill>
          <a:ln w="19050">
            <a:solidFill>
              <a:srgbClr val="969FA7"/>
            </a:solidFill>
            <a:prstDash val="solid"/>
          </a:ln>
        </p:spPr>
      </p:sp>
      <p:sp>
        <p:nvSpPr>
          <p:cNvPr id="23" name="U06-DG-002-branch_3-title">
            <a:extLst>
              <a:ext uri="{FF2B5EF4-FFF2-40B4-BE49-F238E27FC236}">
                <a16:creationId xmlns:a16="http://schemas.microsoft.com/office/drawing/2014/main" id="{1A3E57C5-51B0-403E-8E9F-70B8F70E4A61}"/>
              </a:ext>
            </a:extLst>
          </p:cNvPr>
          <p:cNvSpPr>
            <a:spLocks noGrp="1"/>
          </p:cNvSpPr>
          <p:nvPr/>
        </p:nvSpPr>
        <p:spPr>
          <a:xfrm>
            <a:off x="6391275" y="3762375"/>
            <a:ext cx="211931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Frecuencia f</a:t>
            </a:r>
          </a:p>
        </p:txBody>
      </p:sp>
      <p:sp>
        <p:nvSpPr>
          <p:cNvPr id="24" name="U06-DG-002-branch_3-body">
            <a:extLst>
              <a:ext uri="{FF2B5EF4-FFF2-40B4-BE49-F238E27FC236}">
                <a16:creationId xmlns:a16="http://schemas.microsoft.com/office/drawing/2014/main" id="{3A4E7245-A37C-433B-BA87-0F15E97CD1D0}"/>
              </a:ext>
            </a:extLst>
          </p:cNvPr>
          <p:cNvSpPr>
            <a:spLocks noGrp="1"/>
          </p:cNvSpPr>
          <p:nvPr/>
        </p:nvSpPr>
        <p:spPr>
          <a:xfrm>
            <a:off x="6391275" y="4210050"/>
            <a:ext cx="211931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¿qué se conserva?</a:t>
            </a:r>
          </a:p>
        </p:txBody>
      </p:sp>
      <p:sp>
        <p:nvSpPr>
          <p:cNvPr id="25" name="U06-DG-002-branch_4-box">
            <a:extLst>
              <a:ext uri="{FF2B5EF4-FFF2-40B4-BE49-F238E27FC236}">
                <a16:creationId xmlns:a16="http://schemas.microsoft.com/office/drawing/2014/main" id="{62757996-4C38-4BC4-B5CB-3DF5D8C05FAA}"/>
              </a:ext>
            </a:extLst>
          </p:cNvPr>
          <p:cNvSpPr>
            <a:spLocks noGrp="1"/>
          </p:cNvSpPr>
          <p:nvPr/>
        </p:nvSpPr>
        <p:spPr>
          <a:xfrm>
            <a:off x="8910638" y="3619500"/>
            <a:ext cx="2500313" cy="1809750"/>
          </a:xfrm>
          <a:prstGeom prst="roundRect">
            <a:avLst>
              <a:gd name="adj" fmla="val 5263"/>
            </a:avLst>
          </a:prstGeom>
          <a:solidFill>
            <a:srgbClr val="F8EDE2"/>
          </a:solidFill>
          <a:ln w="19050">
            <a:solidFill>
              <a:srgbClr val="9F541A"/>
            </a:solidFill>
            <a:prstDash val="solid"/>
          </a:ln>
        </p:spPr>
      </p:sp>
      <p:sp>
        <p:nvSpPr>
          <p:cNvPr id="26" name="U06-DG-002-branch_4-title">
            <a:extLst>
              <a:ext uri="{FF2B5EF4-FFF2-40B4-BE49-F238E27FC236}">
                <a16:creationId xmlns:a16="http://schemas.microsoft.com/office/drawing/2014/main" id="{4B7CEF6C-B415-4D11-A4A1-1C0B6B3E459A}"/>
              </a:ext>
            </a:extLst>
          </p:cNvPr>
          <p:cNvSpPr>
            <a:spLocks noGrp="1"/>
          </p:cNvSpPr>
          <p:nvPr/>
        </p:nvSpPr>
        <p:spPr>
          <a:xfrm>
            <a:off x="9101138" y="3762375"/>
            <a:ext cx="211931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Nivel en dB</a:t>
            </a:r>
          </a:p>
        </p:txBody>
      </p:sp>
      <p:sp>
        <p:nvSpPr>
          <p:cNvPr id="27" name="U06-DG-002-branch_4-body">
            <a:extLst>
              <a:ext uri="{FF2B5EF4-FFF2-40B4-BE49-F238E27FC236}">
                <a16:creationId xmlns:a16="http://schemas.microsoft.com/office/drawing/2014/main" id="{FE7086D7-31F8-4DCC-A174-E170CBC17AB4}"/>
              </a:ext>
            </a:extLst>
          </p:cNvPr>
          <p:cNvSpPr>
            <a:spLocks noGrp="1"/>
          </p:cNvSpPr>
          <p:nvPr/>
        </p:nvSpPr>
        <p:spPr>
          <a:xfrm>
            <a:off x="9101138" y="4210050"/>
            <a:ext cx="211931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¿cómo se expresa?</a:t>
            </a:r>
          </a:p>
        </p:txBody>
      </p:sp>
      <p:sp>
        <p:nvSpPr>
          <p:cNvPr id="28" name="caption">
            <a:extLst>
              <a:ext uri="{FF2B5EF4-FFF2-40B4-BE49-F238E27FC236}">
                <a16:creationId xmlns:a16="http://schemas.microsoft.com/office/drawing/2014/main" id="{084D7AA9-482F-4A2E-A891-FCF853DF383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Fuerza, onda, presión, impedancia y respuesta en frecuencia convergen en U6.</a:t>
            </a:r>
          </a:p>
        </p:txBody>
      </p:sp>
      <p:sp>
        <p:nvSpPr>
          <p:cNvPr id="29" name="credit">
            <a:extLst>
              <a:ext uri="{FF2B5EF4-FFF2-40B4-BE49-F238E27FC236}">
                <a16:creationId xmlns:a16="http://schemas.microsoft.com/office/drawing/2014/main" id="{A41C4F8F-4BFA-4F8E-9498-FB02EF436D5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833595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B49C1EF6-2A8A-41D7-A419-C4ADCFED1061}"/>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Presión, fuerza, desplazamiento y potencial: ¿qué unidad corresponde?</a:t>
            </a:r>
          </a:p>
        </p:txBody>
      </p:sp>
      <p:sp>
        <p:nvSpPr>
          <p:cNvPr id="2" name="eyebrow">
            <a:extLst>
              <a:ext uri="{FF2B5EF4-FFF2-40B4-BE49-F238E27FC236}">
                <a16:creationId xmlns:a16="http://schemas.microsoft.com/office/drawing/2014/main" id="{331D31AB-52CD-4CA2-8664-172858746748}"/>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004</a:t>
            </a:r>
          </a:p>
        </p:txBody>
      </p:sp>
      <p:sp>
        <p:nvSpPr>
          <p:cNvPr id="3" name="U06-DG-003-cell_1-anchor">
            <a:extLst>
              <a:ext uri="{FF2B5EF4-FFF2-40B4-BE49-F238E27FC236}">
                <a16:creationId xmlns:a16="http://schemas.microsoft.com/office/drawing/2014/main" id="{0E17452F-B230-4E32-B2FA-2E278C7336C7}"/>
              </a:ext>
            </a:extLst>
          </p:cNvPr>
          <p:cNvSpPr>
            <a:spLocks noGrp="1"/>
          </p:cNvSpPr>
          <p:nvPr/>
        </p:nvSpPr>
        <p:spPr>
          <a:xfrm>
            <a:off x="781050" y="1571625"/>
            <a:ext cx="5148263" cy="1809750"/>
          </a:xfrm>
          <a:prstGeom prst="roundRect">
            <a:avLst>
              <a:gd name="adj" fmla="val 5263"/>
            </a:avLst>
          </a:prstGeom>
          <a:noFill/>
          <a:ln w="0">
            <a:noFill/>
            <a:prstDash val="solid"/>
          </a:ln>
        </p:spPr>
      </p:sp>
      <p:sp>
        <p:nvSpPr>
          <p:cNvPr id="4" name="U06-DG-003-cell_2-anchor">
            <a:extLst>
              <a:ext uri="{FF2B5EF4-FFF2-40B4-BE49-F238E27FC236}">
                <a16:creationId xmlns:a16="http://schemas.microsoft.com/office/drawing/2014/main" id="{3EAFCF36-A179-4399-B9FE-4E707343CDFF}"/>
              </a:ext>
            </a:extLst>
          </p:cNvPr>
          <p:cNvSpPr>
            <a:spLocks noGrp="1"/>
          </p:cNvSpPr>
          <p:nvPr/>
        </p:nvSpPr>
        <p:spPr>
          <a:xfrm>
            <a:off x="6262688" y="1571625"/>
            <a:ext cx="5148263" cy="1809750"/>
          </a:xfrm>
          <a:prstGeom prst="roundRect">
            <a:avLst>
              <a:gd name="adj" fmla="val 5263"/>
            </a:avLst>
          </a:prstGeom>
          <a:noFill/>
          <a:ln w="0">
            <a:noFill/>
            <a:prstDash val="solid"/>
          </a:ln>
        </p:spPr>
      </p:sp>
      <p:sp>
        <p:nvSpPr>
          <p:cNvPr id="5" name="U06-DG-003-cell_3-anchor">
            <a:extLst>
              <a:ext uri="{FF2B5EF4-FFF2-40B4-BE49-F238E27FC236}">
                <a16:creationId xmlns:a16="http://schemas.microsoft.com/office/drawing/2014/main" id="{F7C90D69-8868-4E2D-93FC-D866EC4E483A}"/>
              </a:ext>
            </a:extLst>
          </p:cNvPr>
          <p:cNvSpPr>
            <a:spLocks noGrp="1"/>
          </p:cNvSpPr>
          <p:nvPr/>
        </p:nvSpPr>
        <p:spPr>
          <a:xfrm>
            <a:off x="781050" y="3667125"/>
            <a:ext cx="5148263" cy="1809750"/>
          </a:xfrm>
          <a:prstGeom prst="roundRect">
            <a:avLst>
              <a:gd name="adj" fmla="val 5263"/>
            </a:avLst>
          </a:prstGeom>
          <a:noFill/>
          <a:ln w="0">
            <a:noFill/>
            <a:prstDash val="solid"/>
          </a:ln>
        </p:spPr>
      </p:sp>
      <p:sp>
        <p:nvSpPr>
          <p:cNvPr id="6" name="U06-DG-003-cell_4-anchor">
            <a:extLst>
              <a:ext uri="{FF2B5EF4-FFF2-40B4-BE49-F238E27FC236}">
                <a16:creationId xmlns:a16="http://schemas.microsoft.com/office/drawing/2014/main" id="{20D237EB-51EA-4F94-84F1-59F4B3EDDBFC}"/>
              </a:ext>
            </a:extLst>
          </p:cNvPr>
          <p:cNvSpPr>
            <a:spLocks noGrp="1"/>
          </p:cNvSpPr>
          <p:nvPr/>
        </p:nvSpPr>
        <p:spPr>
          <a:xfrm>
            <a:off x="6262688" y="3667125"/>
            <a:ext cx="5148263" cy="1809750"/>
          </a:xfrm>
          <a:prstGeom prst="roundRect">
            <a:avLst>
              <a:gd name="adj" fmla="val 5263"/>
            </a:avLst>
          </a:prstGeom>
          <a:noFill/>
          <a:ln w="0">
            <a:noFill/>
            <a:prstDash val="solid"/>
          </a:ln>
        </p:spPr>
      </p:sp>
      <p:sp>
        <p:nvSpPr>
          <p:cNvPr id="7" name="U06-DG-003-cell_1-box" descr="Diagrama sobre «Presión, fuerza, desplazamiento y potencial: ¿qué unidad corresponde?»; organiza clasificación breve pa/n/m/v o mv/actividad neural.." title="Texto alternativo U06-004">
            <a:extLst>
              <a:ext uri="{FF2B5EF4-FFF2-40B4-BE49-F238E27FC236}">
                <a16:creationId xmlns:a16="http://schemas.microsoft.com/office/drawing/2014/main" id="{01639A92-4EEF-4083-A1AB-14CF62B15954}"/>
              </a:ext>
            </a:extLst>
          </p:cNvPr>
          <p:cNvSpPr>
            <a:spLocks noGrp="1"/>
          </p:cNvSpPr>
          <p:nvPr/>
        </p:nvSpPr>
        <p:spPr>
          <a:xfrm>
            <a:off x="781050" y="1571625"/>
            <a:ext cx="5148263" cy="1809750"/>
          </a:xfrm>
          <a:prstGeom prst="roundRect">
            <a:avLst>
              <a:gd name="adj" fmla="val 5263"/>
            </a:avLst>
          </a:prstGeom>
          <a:solidFill>
            <a:srgbClr val="E7F1F1"/>
          </a:solidFill>
          <a:ln w="19050">
            <a:solidFill>
              <a:srgbClr val="2F7E83"/>
            </a:solidFill>
            <a:prstDash val="solid"/>
          </a:ln>
        </p:spPr>
      </p:sp>
      <p:sp>
        <p:nvSpPr>
          <p:cNvPr id="8" name="U06-DG-003-cell_1-title">
            <a:extLst>
              <a:ext uri="{FF2B5EF4-FFF2-40B4-BE49-F238E27FC236}">
                <a16:creationId xmlns:a16="http://schemas.microsoft.com/office/drawing/2014/main" id="{E38CEF45-30AF-46E1-BA94-4543073125AF}"/>
              </a:ext>
            </a:extLst>
          </p:cNvPr>
          <p:cNvSpPr>
            <a:spLocks noGrp="1"/>
          </p:cNvSpPr>
          <p:nvPr/>
        </p:nvSpPr>
        <p:spPr>
          <a:xfrm>
            <a:off x="971550"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Presión</a:t>
            </a:r>
          </a:p>
        </p:txBody>
      </p:sp>
      <p:sp>
        <p:nvSpPr>
          <p:cNvPr id="9" name="U06-DG-003-cell_1-body">
            <a:extLst>
              <a:ext uri="{FF2B5EF4-FFF2-40B4-BE49-F238E27FC236}">
                <a16:creationId xmlns:a16="http://schemas.microsoft.com/office/drawing/2014/main" id="{42555766-E4F7-4116-A8A9-A61E57438823}"/>
              </a:ext>
            </a:extLst>
          </p:cNvPr>
          <p:cNvSpPr>
            <a:spLocks noGrp="1"/>
          </p:cNvSpPr>
          <p:nvPr/>
        </p:nvSpPr>
        <p:spPr>
          <a:xfrm>
            <a:off x="971550"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Pa</a:t>
            </a:r>
          </a:p>
        </p:txBody>
      </p:sp>
      <p:sp>
        <p:nvSpPr>
          <p:cNvPr id="10" name="U06-DG-003-cell_2-box">
            <a:extLst>
              <a:ext uri="{FF2B5EF4-FFF2-40B4-BE49-F238E27FC236}">
                <a16:creationId xmlns:a16="http://schemas.microsoft.com/office/drawing/2014/main" id="{0B5F28E7-06E3-40A3-8999-2908ADC0B9DF}"/>
              </a:ext>
            </a:extLst>
          </p:cNvPr>
          <p:cNvSpPr>
            <a:spLocks noGrp="1"/>
          </p:cNvSpPr>
          <p:nvPr/>
        </p:nvSpPr>
        <p:spPr>
          <a:xfrm>
            <a:off x="6262688" y="1571625"/>
            <a:ext cx="5148263" cy="1809750"/>
          </a:xfrm>
          <a:prstGeom prst="roundRect">
            <a:avLst>
              <a:gd name="adj" fmla="val 5263"/>
            </a:avLst>
          </a:prstGeom>
          <a:solidFill>
            <a:srgbClr val="F4E9EF"/>
          </a:solidFill>
          <a:ln w="19050">
            <a:solidFill>
              <a:srgbClr val="4D1434"/>
            </a:solidFill>
            <a:prstDash val="solid"/>
          </a:ln>
        </p:spPr>
      </p:sp>
      <p:sp>
        <p:nvSpPr>
          <p:cNvPr id="11" name="U06-DG-003-cell_2-title">
            <a:extLst>
              <a:ext uri="{FF2B5EF4-FFF2-40B4-BE49-F238E27FC236}">
                <a16:creationId xmlns:a16="http://schemas.microsoft.com/office/drawing/2014/main" id="{0FAEF6EC-813E-4969-AD0A-3ECB368A9F75}"/>
              </a:ext>
            </a:extLst>
          </p:cNvPr>
          <p:cNvSpPr>
            <a:spLocks noGrp="1"/>
          </p:cNvSpPr>
          <p:nvPr/>
        </p:nvSpPr>
        <p:spPr>
          <a:xfrm>
            <a:off x="6453188"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Fuerza</a:t>
            </a:r>
          </a:p>
        </p:txBody>
      </p:sp>
      <p:sp>
        <p:nvSpPr>
          <p:cNvPr id="12" name="U06-DG-003-cell_2-body">
            <a:extLst>
              <a:ext uri="{FF2B5EF4-FFF2-40B4-BE49-F238E27FC236}">
                <a16:creationId xmlns:a16="http://schemas.microsoft.com/office/drawing/2014/main" id="{55E602FE-04F9-48EC-8939-4A2B4D11EC8B}"/>
              </a:ext>
            </a:extLst>
          </p:cNvPr>
          <p:cNvSpPr>
            <a:spLocks noGrp="1"/>
          </p:cNvSpPr>
          <p:nvPr/>
        </p:nvSpPr>
        <p:spPr>
          <a:xfrm>
            <a:off x="6453188"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N</a:t>
            </a:r>
          </a:p>
        </p:txBody>
      </p:sp>
      <p:sp>
        <p:nvSpPr>
          <p:cNvPr id="13" name="U06-DG-003-cell_3-box">
            <a:extLst>
              <a:ext uri="{FF2B5EF4-FFF2-40B4-BE49-F238E27FC236}">
                <a16:creationId xmlns:a16="http://schemas.microsoft.com/office/drawing/2014/main" id="{89F8D912-1335-4D13-9F63-4D90A3E68AE4}"/>
              </a:ext>
            </a:extLst>
          </p:cNvPr>
          <p:cNvSpPr>
            <a:spLocks noGrp="1"/>
          </p:cNvSpPr>
          <p:nvPr/>
        </p:nvSpPr>
        <p:spPr>
          <a:xfrm>
            <a:off x="781050" y="3667125"/>
            <a:ext cx="5148263" cy="1809750"/>
          </a:xfrm>
          <a:prstGeom prst="roundRect">
            <a:avLst>
              <a:gd name="adj" fmla="val 5263"/>
            </a:avLst>
          </a:prstGeom>
          <a:solidFill>
            <a:srgbClr val="F7F6F2"/>
          </a:solidFill>
          <a:ln w="19050">
            <a:solidFill>
              <a:srgbClr val="969FA7"/>
            </a:solidFill>
            <a:prstDash val="solid"/>
          </a:ln>
        </p:spPr>
      </p:sp>
      <p:sp>
        <p:nvSpPr>
          <p:cNvPr id="14" name="U06-DG-003-cell_3-title">
            <a:extLst>
              <a:ext uri="{FF2B5EF4-FFF2-40B4-BE49-F238E27FC236}">
                <a16:creationId xmlns:a16="http://schemas.microsoft.com/office/drawing/2014/main" id="{4859E2CE-4044-4A5B-978B-2FEBEF14D52D}"/>
              </a:ext>
            </a:extLst>
          </p:cNvPr>
          <p:cNvSpPr>
            <a:spLocks noGrp="1"/>
          </p:cNvSpPr>
          <p:nvPr/>
        </p:nvSpPr>
        <p:spPr>
          <a:xfrm>
            <a:off x="971550"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Desplazamiento</a:t>
            </a:r>
          </a:p>
        </p:txBody>
      </p:sp>
      <p:sp>
        <p:nvSpPr>
          <p:cNvPr id="15" name="U06-DG-003-cell_3-body">
            <a:extLst>
              <a:ext uri="{FF2B5EF4-FFF2-40B4-BE49-F238E27FC236}">
                <a16:creationId xmlns:a16="http://schemas.microsoft.com/office/drawing/2014/main" id="{D095D1CA-4B4E-4047-B900-82DCB0F7D61D}"/>
              </a:ext>
            </a:extLst>
          </p:cNvPr>
          <p:cNvSpPr>
            <a:spLocks noGrp="1"/>
          </p:cNvSpPr>
          <p:nvPr/>
        </p:nvSpPr>
        <p:spPr>
          <a:xfrm>
            <a:off x="971550"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a:t>
            </a:r>
          </a:p>
        </p:txBody>
      </p:sp>
      <p:sp>
        <p:nvSpPr>
          <p:cNvPr id="16" name="U06-DG-003-cell_4-box">
            <a:extLst>
              <a:ext uri="{FF2B5EF4-FFF2-40B4-BE49-F238E27FC236}">
                <a16:creationId xmlns:a16="http://schemas.microsoft.com/office/drawing/2014/main" id="{21E56105-C604-4620-98B7-BCA2047752A2}"/>
              </a:ext>
            </a:extLst>
          </p:cNvPr>
          <p:cNvSpPr>
            <a:spLocks noGrp="1"/>
          </p:cNvSpPr>
          <p:nvPr/>
        </p:nvSpPr>
        <p:spPr>
          <a:xfrm>
            <a:off x="6262688" y="3667125"/>
            <a:ext cx="5148263" cy="1809750"/>
          </a:xfrm>
          <a:prstGeom prst="roundRect">
            <a:avLst>
              <a:gd name="adj" fmla="val 5263"/>
            </a:avLst>
          </a:prstGeom>
          <a:solidFill>
            <a:srgbClr val="F8EDE2"/>
          </a:solidFill>
          <a:ln w="19050">
            <a:solidFill>
              <a:srgbClr val="9F541A"/>
            </a:solidFill>
            <a:prstDash val="solid"/>
          </a:ln>
        </p:spPr>
      </p:sp>
      <p:sp>
        <p:nvSpPr>
          <p:cNvPr id="17" name="U06-DG-003-cell_4-title">
            <a:extLst>
              <a:ext uri="{FF2B5EF4-FFF2-40B4-BE49-F238E27FC236}">
                <a16:creationId xmlns:a16="http://schemas.microsoft.com/office/drawing/2014/main" id="{3647C40A-A325-4574-A036-157D2F2734BD}"/>
              </a:ext>
            </a:extLst>
          </p:cNvPr>
          <p:cNvSpPr>
            <a:spLocks noGrp="1"/>
          </p:cNvSpPr>
          <p:nvPr/>
        </p:nvSpPr>
        <p:spPr>
          <a:xfrm>
            <a:off x="6453188"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Potencial</a:t>
            </a:r>
          </a:p>
        </p:txBody>
      </p:sp>
      <p:sp>
        <p:nvSpPr>
          <p:cNvPr id="18" name="U06-DG-003-cell_4-body">
            <a:extLst>
              <a:ext uri="{FF2B5EF4-FFF2-40B4-BE49-F238E27FC236}">
                <a16:creationId xmlns:a16="http://schemas.microsoft.com/office/drawing/2014/main" id="{882E5AAF-2D9F-4434-A688-F7AC1CCFB9D8}"/>
              </a:ext>
            </a:extLst>
          </p:cNvPr>
          <p:cNvSpPr>
            <a:spLocks noGrp="1"/>
          </p:cNvSpPr>
          <p:nvPr/>
        </p:nvSpPr>
        <p:spPr>
          <a:xfrm>
            <a:off x="6453188"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 o mV</a:t>
            </a:r>
          </a:p>
        </p:txBody>
      </p:sp>
      <p:sp>
        <p:nvSpPr>
          <p:cNvPr id="19" name="caption">
            <a:extLst>
              <a:ext uri="{FF2B5EF4-FFF2-40B4-BE49-F238E27FC236}">
                <a16:creationId xmlns:a16="http://schemas.microsoft.com/office/drawing/2014/main" id="{E3C1EBE3-6E3E-4C2C-B30A-59B2DD8DB992}"/>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Cada etapa exige una magnitud y una unidad diferentes.</a:t>
            </a:r>
          </a:p>
        </p:txBody>
      </p:sp>
      <p:sp>
        <p:nvSpPr>
          <p:cNvPr id="20" name="credit">
            <a:extLst>
              <a:ext uri="{FF2B5EF4-FFF2-40B4-BE49-F238E27FC236}">
                <a16:creationId xmlns:a16="http://schemas.microsoft.com/office/drawing/2014/main" id="{E17B2BBC-0EFF-48DD-9B7A-0FAB003D541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281546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DA0EEA5F-EA20-449F-84FD-DF97810C2A0A}"/>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Qué podremos reconstruir y explicar</a:t>
            </a:r>
          </a:p>
        </p:txBody>
      </p:sp>
      <p:sp>
        <p:nvSpPr>
          <p:cNvPr id="2" name="slide-subtitle">
            <a:extLst>
              <a:ext uri="{FF2B5EF4-FFF2-40B4-BE49-F238E27FC236}">
                <a16:creationId xmlns:a16="http://schemas.microsoft.com/office/drawing/2014/main" id="{1A450231-9DDD-4B19-B20E-FD231D1AA7BC}"/>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evaluación se centrará en relaciones, no en memorizar una lista anatómica.</a:t>
            </a:r>
          </a:p>
        </p:txBody>
      </p:sp>
      <p:sp>
        <p:nvSpPr>
          <p:cNvPr id="3" name="eyebrow">
            <a:extLst>
              <a:ext uri="{FF2B5EF4-FFF2-40B4-BE49-F238E27FC236}">
                <a16:creationId xmlns:a16="http://schemas.microsoft.com/office/drawing/2014/main" id="{7A5D251A-5529-411A-8054-10A58E1F4E33}"/>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005</a:t>
            </a:r>
          </a:p>
        </p:txBody>
      </p:sp>
      <p:sp>
        <p:nvSpPr>
          <p:cNvPr id="4" name="main-ideas">
            <a:extLst>
              <a:ext uri="{FF2B5EF4-FFF2-40B4-BE49-F238E27FC236}">
                <a16:creationId xmlns:a16="http://schemas.microsoft.com/office/drawing/2014/main" id="{C79B538A-2EDE-4740-9529-587E544F2ED2}"/>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Ordenar la cadena.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Relacionar oído externo y transferencia.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Calcular presión–fuerza.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Comparar vía aérea y conducción ósea.</a:t>
            </a:r>
          </a:p>
        </p:txBody>
      </p:sp>
      <p:sp>
        <p:nvSpPr>
          <p:cNvPr id="5" name="side-panel-box">
            <a:extLst>
              <a:ext uri="{FF2B5EF4-FFF2-40B4-BE49-F238E27FC236}">
                <a16:creationId xmlns:a16="http://schemas.microsoft.com/office/drawing/2014/main" id="{90EAF5B1-115F-451D-95FA-4A5D55D2E176}"/>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14DDE8C8-4570-4B48-88A2-E41F099B6BE3}"/>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54E1457A-A8EF-4D5E-9DED-487779AB9178}"/>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evaluación se centrará en relaciones, no en memorizar una lista anatómica.</a:t>
            </a:r>
          </a:p>
        </p:txBody>
      </p:sp>
      <p:sp>
        <p:nvSpPr>
          <p:cNvPr id="8" name="caption">
            <a:extLst>
              <a:ext uri="{FF2B5EF4-FFF2-40B4-BE49-F238E27FC236}">
                <a16:creationId xmlns:a16="http://schemas.microsoft.com/office/drawing/2014/main" id="{BF718C45-6FAD-4738-87A2-3EDB892102D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evaluación se centrará en relaciones, no en memorizar una lista anatómica.</a:t>
            </a:r>
          </a:p>
        </p:txBody>
      </p:sp>
      <p:sp>
        <p:nvSpPr>
          <p:cNvPr id="9" name="credit">
            <a:extLst>
              <a:ext uri="{FF2B5EF4-FFF2-40B4-BE49-F238E27FC236}">
                <a16:creationId xmlns:a16="http://schemas.microsoft.com/office/drawing/2014/main" id="{81D8FF66-FA5C-4A85-84D4-CB1E4A6185DA}"/>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BR objetivos 1–4; CM.</a:t>
            </a:r>
          </a:p>
        </p:txBody>
      </p:sp>
    </p:spTree>
    <p:extLst>
      <p:ext uri="{BB962C8B-B14F-4D97-AF65-F5344CB8AC3E}">
        <p14:creationId xmlns:p14="http://schemas.microsoft.com/office/powerpoint/2010/main" val="1561918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FF9C26C7-2105-4E7A-ACA7-93F992F905C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Qué podremos explicar dentro de la cóclea</a:t>
            </a:r>
          </a:p>
        </p:txBody>
      </p:sp>
      <p:sp>
        <p:nvSpPr>
          <p:cNvPr id="2" name="slide-subtitle">
            <a:extLst>
              <a:ext uri="{FF2B5EF4-FFF2-40B4-BE49-F238E27FC236}">
                <a16:creationId xmlns:a16="http://schemas.microsoft.com/office/drawing/2014/main" id="{ECE94FE1-AB68-46B4-8B30-44DDCB8943F5}"/>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fisiología periférica prepara percepción y clínica, pero no las reemplaza.</a:t>
            </a:r>
          </a:p>
        </p:txBody>
      </p:sp>
      <p:sp>
        <p:nvSpPr>
          <p:cNvPr id="3" name="eyebrow">
            <a:extLst>
              <a:ext uri="{FF2B5EF4-FFF2-40B4-BE49-F238E27FC236}">
                <a16:creationId xmlns:a16="http://schemas.microsoft.com/office/drawing/2014/main" id="{FA570B77-0063-4AD3-B674-6B72DDCB12F5}"/>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006</a:t>
            </a:r>
          </a:p>
        </p:txBody>
      </p:sp>
      <p:sp>
        <p:nvSpPr>
          <p:cNvPr id="4" name="main-ideas">
            <a:extLst>
              <a:ext uri="{FF2B5EF4-FFF2-40B4-BE49-F238E27FC236}">
                <a16:creationId xmlns:a16="http://schemas.microsoft.com/office/drawing/2014/main" id="{BBACD3E1-3A76-45BA-B9BE-4F20AC7EEAEE}"/>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Identificar la arquitectura coclear.</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Explicar frecuencia y nivel.</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Diferenciar CCI/CCE y transducción.</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Delimitar percepción y diagnóstico.</a:t>
            </a:r>
          </a:p>
        </p:txBody>
      </p:sp>
      <p:sp>
        <p:nvSpPr>
          <p:cNvPr id="5" name="side-panel-box">
            <a:extLst>
              <a:ext uri="{FF2B5EF4-FFF2-40B4-BE49-F238E27FC236}">
                <a16:creationId xmlns:a16="http://schemas.microsoft.com/office/drawing/2014/main" id="{8CA7A4F1-7F1A-4312-A940-733CCFE37B4A}"/>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5265FB83-ADE1-43F8-90D7-3DB6E5B45E74}"/>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10364B32-4D11-4497-8D3D-6C0A7065C763}"/>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fisiología periférica prepara percepción y clínica, pero no las reemplaza.</a:t>
            </a:r>
          </a:p>
        </p:txBody>
      </p:sp>
      <p:sp>
        <p:nvSpPr>
          <p:cNvPr id="8" name="caption">
            <a:extLst>
              <a:ext uri="{FF2B5EF4-FFF2-40B4-BE49-F238E27FC236}">
                <a16:creationId xmlns:a16="http://schemas.microsoft.com/office/drawing/2014/main" id="{4796FC56-4688-467B-97B4-B3BE29A7687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fisiología periférica prepara percepción y clínica, pero no las reemplaza.</a:t>
            </a:r>
          </a:p>
        </p:txBody>
      </p:sp>
      <p:sp>
        <p:nvSpPr>
          <p:cNvPr id="9" name="credit">
            <a:extLst>
              <a:ext uri="{FF2B5EF4-FFF2-40B4-BE49-F238E27FC236}">
                <a16:creationId xmlns:a16="http://schemas.microsoft.com/office/drawing/2014/main" id="{BDA08365-C7A3-496E-82A8-EB9B0F7193DF}"/>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BR objetivos 5–8; CM U6→U7/U8.</a:t>
            </a:r>
          </a:p>
        </p:txBody>
      </p:sp>
    </p:spTree>
    <p:extLst>
      <p:ext uri="{BB962C8B-B14F-4D97-AF65-F5344CB8AC3E}">
        <p14:creationId xmlns:p14="http://schemas.microsoft.com/office/powerpoint/2010/main" val="1561918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2EED5900-3B1F-404B-A44C-34211EC5B654}"/>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Mapa de la unidad: entrada, transferencia, cóclea y señal</a:t>
            </a:r>
          </a:p>
        </p:txBody>
      </p:sp>
      <p:sp>
        <p:nvSpPr>
          <p:cNvPr id="2" name="slide-subtitle">
            <a:extLst>
              <a:ext uri="{FF2B5EF4-FFF2-40B4-BE49-F238E27FC236}">
                <a16:creationId xmlns:a16="http://schemas.microsoft.com/office/drawing/2014/main" id="{CC4EB619-6632-4ADA-9669-709CBC2DB330}"/>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Cuatro tramos reúnen diez bloques y una misma cadena acumulativa.</a:t>
            </a:r>
          </a:p>
        </p:txBody>
      </p:sp>
      <p:sp>
        <p:nvSpPr>
          <p:cNvPr id="3" name="eyebrow">
            <a:extLst>
              <a:ext uri="{FF2B5EF4-FFF2-40B4-BE49-F238E27FC236}">
                <a16:creationId xmlns:a16="http://schemas.microsoft.com/office/drawing/2014/main" id="{ACDEDC62-33BE-4EDC-BB7B-BDC014F9B12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007</a:t>
            </a:r>
          </a:p>
        </p:txBody>
      </p:sp>
      <p:sp>
        <p:nvSpPr>
          <p:cNvPr id="4" name="U06-DG-004-stage_1-anchor">
            <a:extLst>
              <a:ext uri="{FF2B5EF4-FFF2-40B4-BE49-F238E27FC236}">
                <a16:creationId xmlns:a16="http://schemas.microsoft.com/office/drawing/2014/main" id="{55F4E2F0-304B-4651-AC5D-216DEB663364}"/>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04-stage_2-anchor">
            <a:extLst>
              <a:ext uri="{FF2B5EF4-FFF2-40B4-BE49-F238E27FC236}">
                <a16:creationId xmlns:a16="http://schemas.microsoft.com/office/drawing/2014/main" id="{F40363B6-6D3E-4C74-909C-8FC0194BB1BE}"/>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04-stage_3-anchor">
            <a:extLst>
              <a:ext uri="{FF2B5EF4-FFF2-40B4-BE49-F238E27FC236}">
                <a16:creationId xmlns:a16="http://schemas.microsoft.com/office/drawing/2014/main" id="{B6E6C43E-A99A-4031-B391-A52F9AC0DDC1}"/>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04-stage_4-anchor">
            <a:extLst>
              <a:ext uri="{FF2B5EF4-FFF2-40B4-BE49-F238E27FC236}">
                <a16:creationId xmlns:a16="http://schemas.microsoft.com/office/drawing/2014/main" id="{C3D39CD5-8CFF-4E60-A870-2E328290C074}"/>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04-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04-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04-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04-stage_1-box" descr="Diagrama sobre «Mapa de la unidad: entrada, transferencia, cóclea y señal»; organiza entrada externa → oído medio/vía ósea → mecánica coclear → transducción/codificación." title="Texto alternativo U06-007">
            <a:extLst>
              <a:ext uri="{FF2B5EF4-FFF2-40B4-BE49-F238E27FC236}">
                <a16:creationId xmlns:a16="http://schemas.microsoft.com/office/drawing/2014/main" id="{9A90223F-9233-44F2-90C3-48C6F727127A}"/>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04-stage_1-title">
            <a:extLst>
              <a:ext uri="{FF2B5EF4-FFF2-40B4-BE49-F238E27FC236}">
                <a16:creationId xmlns:a16="http://schemas.microsoft.com/office/drawing/2014/main" id="{106B3445-599E-44CB-B681-2DCA9F3BD587}"/>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Oído externo</a:t>
            </a:r>
          </a:p>
        </p:txBody>
      </p:sp>
      <p:sp>
        <p:nvSpPr>
          <p:cNvPr id="13" name="U06-DG-004-stage_1-body">
            <a:extLst>
              <a:ext uri="{FF2B5EF4-FFF2-40B4-BE49-F238E27FC236}">
                <a16:creationId xmlns:a16="http://schemas.microsoft.com/office/drawing/2014/main" id="{C12894D3-6E41-40B0-BD7F-2ACB44B48EE5}"/>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dirección · CAE</a:t>
            </a:r>
          </a:p>
        </p:txBody>
      </p:sp>
      <p:sp>
        <p:nvSpPr>
          <p:cNvPr id="14" name="U06-DG-004-stage_2-box">
            <a:extLst>
              <a:ext uri="{FF2B5EF4-FFF2-40B4-BE49-F238E27FC236}">
                <a16:creationId xmlns:a16="http://schemas.microsoft.com/office/drawing/2014/main" id="{E1B5D9A3-85FA-4B2F-BEB5-23BF1D58C2AD}"/>
              </a:ext>
            </a:extLst>
          </p:cNvPr>
          <p:cNvSpPr>
            <a:spLocks noGrp="1"/>
          </p:cNvSpPr>
          <p:nvPr/>
        </p:nvSpPr>
        <p:spPr>
          <a:xfrm>
            <a:off x="3514725" y="2428875"/>
            <a:ext cx="2428875" cy="1666875"/>
          </a:xfrm>
          <a:prstGeom prst="roundRect">
            <a:avLst>
              <a:gd name="adj" fmla="val 5714"/>
            </a:avLst>
          </a:prstGeom>
          <a:solidFill>
            <a:srgbClr val="F4E9EF"/>
          </a:solidFill>
          <a:ln w="19050">
            <a:solidFill>
              <a:srgbClr val="4D1434"/>
            </a:solidFill>
            <a:prstDash val="solid"/>
          </a:ln>
        </p:spPr>
      </p:sp>
      <p:sp>
        <p:nvSpPr>
          <p:cNvPr id="15" name="U06-DG-004-stage_2-title">
            <a:extLst>
              <a:ext uri="{FF2B5EF4-FFF2-40B4-BE49-F238E27FC236}">
                <a16:creationId xmlns:a16="http://schemas.microsoft.com/office/drawing/2014/main" id="{366E1C90-F130-4DB1-81F9-BA99920AB7B9}"/>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Oído medio</a:t>
            </a:r>
          </a:p>
        </p:txBody>
      </p:sp>
      <p:sp>
        <p:nvSpPr>
          <p:cNvPr id="16" name="U06-DG-004-stage_2-body">
            <a:extLst>
              <a:ext uri="{FF2B5EF4-FFF2-40B4-BE49-F238E27FC236}">
                <a16:creationId xmlns:a16="http://schemas.microsoft.com/office/drawing/2014/main" id="{D71C6E12-910F-4E08-809E-63334C55A8F2}"/>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fuerza · transferencia</a:t>
            </a:r>
          </a:p>
        </p:txBody>
      </p:sp>
      <p:sp>
        <p:nvSpPr>
          <p:cNvPr id="17" name="U06-DG-004-stage_3-box">
            <a:extLst>
              <a:ext uri="{FF2B5EF4-FFF2-40B4-BE49-F238E27FC236}">
                <a16:creationId xmlns:a16="http://schemas.microsoft.com/office/drawing/2014/main" id="{3ECA672B-704B-4294-A470-C6856CF5ABD5}"/>
              </a:ext>
            </a:extLst>
          </p:cNvPr>
          <p:cNvSpPr>
            <a:spLocks noGrp="1"/>
          </p:cNvSpPr>
          <p:nvPr/>
        </p:nvSpPr>
        <p:spPr>
          <a:xfrm>
            <a:off x="6248400" y="2428875"/>
            <a:ext cx="2428875" cy="1666875"/>
          </a:xfrm>
          <a:prstGeom prst="roundRect">
            <a:avLst>
              <a:gd name="adj" fmla="val 5714"/>
            </a:avLst>
          </a:prstGeom>
          <a:solidFill>
            <a:srgbClr val="E7F1F1"/>
          </a:solidFill>
          <a:ln w="19050">
            <a:solidFill>
              <a:srgbClr val="2F7E83"/>
            </a:solidFill>
            <a:prstDash val="solid"/>
          </a:ln>
        </p:spPr>
      </p:sp>
      <p:sp>
        <p:nvSpPr>
          <p:cNvPr id="18" name="U06-DG-004-stage_3-title">
            <a:extLst>
              <a:ext uri="{FF2B5EF4-FFF2-40B4-BE49-F238E27FC236}">
                <a16:creationId xmlns:a16="http://schemas.microsoft.com/office/drawing/2014/main" id="{071BFBB7-489A-474E-B38D-261F0C320DE4}"/>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Cóclea</a:t>
            </a:r>
          </a:p>
        </p:txBody>
      </p:sp>
      <p:sp>
        <p:nvSpPr>
          <p:cNvPr id="19" name="U06-DG-004-stage_3-body">
            <a:extLst>
              <a:ext uri="{FF2B5EF4-FFF2-40B4-BE49-F238E27FC236}">
                <a16:creationId xmlns:a16="http://schemas.microsoft.com/office/drawing/2014/main" id="{1468B586-00FE-4F64-B71B-6D787362F8DE}"/>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fluidos · tonotopía</a:t>
            </a:r>
          </a:p>
        </p:txBody>
      </p:sp>
      <p:sp>
        <p:nvSpPr>
          <p:cNvPr id="20" name="U06-DG-004-stage_4-box">
            <a:extLst>
              <a:ext uri="{FF2B5EF4-FFF2-40B4-BE49-F238E27FC236}">
                <a16:creationId xmlns:a16="http://schemas.microsoft.com/office/drawing/2014/main" id="{4C7C2726-BDFB-4E89-8ABB-FA45E6E036A4}"/>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04-stage_4-title">
            <a:extLst>
              <a:ext uri="{FF2B5EF4-FFF2-40B4-BE49-F238E27FC236}">
                <a16:creationId xmlns:a16="http://schemas.microsoft.com/office/drawing/2014/main" id="{C4279B59-E87F-4402-A3DD-F7C6807A21C9}"/>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Transducción</a:t>
            </a:r>
          </a:p>
        </p:txBody>
      </p:sp>
      <p:sp>
        <p:nvSpPr>
          <p:cNvPr id="22" name="U06-DG-004-stage_4-body">
            <a:extLst>
              <a:ext uri="{FF2B5EF4-FFF2-40B4-BE49-F238E27FC236}">
                <a16:creationId xmlns:a16="http://schemas.microsoft.com/office/drawing/2014/main" id="{D0D32C51-5281-48FA-B3B0-3F419998F73E}"/>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células · nervio</a:t>
            </a:r>
          </a:p>
        </p:txBody>
      </p:sp>
      <p:sp>
        <p:nvSpPr>
          <p:cNvPr id="23" name="caption">
            <a:extLst>
              <a:ext uri="{FF2B5EF4-FFF2-40B4-BE49-F238E27FC236}">
                <a16:creationId xmlns:a16="http://schemas.microsoft.com/office/drawing/2014/main" id="{EEBBE4DF-5FF5-45E1-A7C1-A2B5B9C36875}"/>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Cuatro tramos reúnen diez bloques y una misma cadena acumulativa.</a:t>
            </a:r>
          </a:p>
        </p:txBody>
      </p:sp>
      <p:sp>
        <p:nvSpPr>
          <p:cNvPr id="24" name="credit">
            <a:extLst>
              <a:ext uri="{FF2B5EF4-FFF2-40B4-BE49-F238E27FC236}">
                <a16:creationId xmlns:a16="http://schemas.microsoft.com/office/drawing/2014/main" id="{C84ABA93-02FA-4BA9-93CD-AEDDE77B4E70}"/>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271479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5017B1FA-9BF7-4D9E-813A-73DA8C12FF16}"/>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008</a:t>
            </a:r>
          </a:p>
        </p:txBody>
      </p:sp>
      <p:sp>
        <p:nvSpPr>
          <p:cNvPr id="2" name="divider-title">
            <a:extLst>
              <a:ext uri="{FF2B5EF4-FFF2-40B4-BE49-F238E27FC236}">
                <a16:creationId xmlns:a16="http://schemas.microsoft.com/office/drawing/2014/main" id="{D9B222B8-5A89-4503-B11C-D7C4C05806F8}"/>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El oído externo no es solo una entrada</a:t>
            </a:r>
          </a:p>
        </p:txBody>
      </p:sp>
      <p:sp>
        <p:nvSpPr>
          <p:cNvPr id="3" name="divider-subtitle">
            <a:extLst>
              <a:ext uri="{FF2B5EF4-FFF2-40B4-BE49-F238E27FC236}">
                <a16:creationId xmlns:a16="http://schemas.microsoft.com/office/drawing/2014/main" id="{AA1F4743-FE44-4D6B-9B1E-7A15305B1C54}"/>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¿Cómo modifica y conduce el oído externo la presión hasta el tímpano?</a:t>
            </a:r>
          </a:p>
        </p:txBody>
      </p:sp>
      <p:sp>
        <p:nvSpPr>
          <p:cNvPr id="4" name="divider-content">
            <a:extLst>
              <a:ext uri="{FF2B5EF4-FFF2-40B4-BE49-F238E27FC236}">
                <a16:creationId xmlns:a16="http://schemas.microsoft.com/office/drawing/2014/main" id="{A6E3F7E8-A017-4C60-8988-9B68412A59B4}"/>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¿Cómo modifica y conduce el oído externo la presión hasta el tímpano?</a:t>
            </a:r>
          </a:p>
        </p:txBody>
      </p:sp>
    </p:spTree>
    <p:extLst>
      <p:ext uri="{BB962C8B-B14F-4D97-AF65-F5344CB8AC3E}">
        <p14:creationId xmlns:p14="http://schemas.microsoft.com/office/powerpoint/2010/main" val="1164902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00945BF3-8DBA-42DC-8E06-4A6349EE7869}"/>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El pabellón modifica el espectro según la dirección</a:t>
            </a:r>
          </a:p>
        </p:txBody>
      </p:sp>
      <p:sp>
        <p:nvSpPr>
          <p:cNvPr id="2" name="slide-subtitle">
            <a:extLst>
              <a:ext uri="{FF2B5EF4-FFF2-40B4-BE49-F238E27FC236}">
                <a16:creationId xmlns:a16="http://schemas.microsoft.com/office/drawing/2014/main" id="{60151D70-9B24-460A-92C5-5D01363D945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Reforzar o atenuar componentes es un cambio físico, no sonoridad fija.</a:t>
            </a:r>
          </a:p>
        </p:txBody>
      </p:sp>
      <p:sp>
        <p:nvSpPr>
          <p:cNvPr id="3" name="eyebrow">
            <a:extLst>
              <a:ext uri="{FF2B5EF4-FFF2-40B4-BE49-F238E27FC236}">
                <a16:creationId xmlns:a16="http://schemas.microsoft.com/office/drawing/2014/main" id="{1E307A28-B455-45BE-A677-A846E9121814}"/>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009</a:t>
            </a:r>
          </a:p>
        </p:txBody>
      </p:sp>
      <p:sp>
        <p:nvSpPr>
          <p:cNvPr id="4" name="main-ideas">
            <a:extLst>
              <a:ext uri="{FF2B5EF4-FFF2-40B4-BE49-F238E27FC236}">
                <a16:creationId xmlns:a16="http://schemas.microsoft.com/office/drawing/2014/main" id="{9EE9D34D-318F-4E62-BC3C-E4327FB4F342}"/>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Reforzar o atenuar componentes es un cambio físico, no sonoridad fija.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Pabellón, cabeza, dirección y cambios espectrales individuales.</a:t>
            </a:r>
          </a:p>
        </p:txBody>
      </p:sp>
      <p:sp>
        <p:nvSpPr>
          <p:cNvPr id="5" name="side-panel-box">
            <a:extLst>
              <a:ext uri="{FF2B5EF4-FFF2-40B4-BE49-F238E27FC236}">
                <a16:creationId xmlns:a16="http://schemas.microsoft.com/office/drawing/2014/main" id="{9232CCC2-83BB-470C-A968-57CB3D92A478}"/>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08878A97-AF32-4F53-B723-DF063978C38E}"/>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7" name="side-panel-body">
            <a:extLst>
              <a:ext uri="{FF2B5EF4-FFF2-40B4-BE49-F238E27FC236}">
                <a16:creationId xmlns:a16="http://schemas.microsoft.com/office/drawing/2014/main" id="{D01E6DC9-9A08-48A0-9F5A-4AC23A441B79}"/>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Respuesta direccional: cambio dependiente de frecuencia producido por la dirección de llegada y la geometría del pabellón/cabeza.</a:t>
            </a:r>
          </a:p>
        </p:txBody>
      </p:sp>
      <p:sp>
        <p:nvSpPr>
          <p:cNvPr id="8" name="caption">
            <a:extLst>
              <a:ext uri="{FF2B5EF4-FFF2-40B4-BE49-F238E27FC236}">
                <a16:creationId xmlns:a16="http://schemas.microsoft.com/office/drawing/2014/main" id="{9B437A0B-EAFF-4971-A3ED-DDC32426555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Reforzar o atenuar componentes es un cambio físico, no sonoridad fija.</a:t>
            </a:r>
          </a:p>
        </p:txBody>
      </p:sp>
      <p:sp>
        <p:nvSpPr>
          <p:cNvPr id="9" name="credit">
            <a:extLst>
              <a:ext uri="{FF2B5EF4-FFF2-40B4-BE49-F238E27FC236}">
                <a16:creationId xmlns:a16="http://schemas.microsoft.com/office/drawing/2014/main" id="{C9562140-E461-4285-AC5A-0C8605871028}"/>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6.4.1; PDF p. 153; REF carlini2024; GLO.</a:t>
            </a:r>
          </a:p>
        </p:txBody>
      </p:sp>
    </p:spTree>
    <p:extLst>
      <p:ext uri="{BB962C8B-B14F-4D97-AF65-F5344CB8AC3E}">
        <p14:creationId xmlns:p14="http://schemas.microsoft.com/office/powerpoint/2010/main" val="1687263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36BF568E-5C0F-45BD-976B-E15A474B965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dirección cambia todas las frecuencias por igual?</a:t>
            </a:r>
          </a:p>
        </p:txBody>
      </p:sp>
      <p:sp>
        <p:nvSpPr>
          <p:cNvPr id="2" name="slide-subtitle">
            <a:extLst>
              <a:ext uri="{FF2B5EF4-FFF2-40B4-BE49-F238E27FC236}">
                <a16:creationId xmlns:a16="http://schemas.microsoft.com/office/drawing/2014/main" id="{46000053-7B0F-4CCB-BB86-C6F7FB32E30C}"/>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Una misma geometría no modifica por igual cada componente.</a:t>
            </a:r>
          </a:p>
        </p:txBody>
      </p:sp>
      <p:sp>
        <p:nvSpPr>
          <p:cNvPr id="3" name="eyebrow">
            <a:extLst>
              <a:ext uri="{FF2B5EF4-FFF2-40B4-BE49-F238E27FC236}">
                <a16:creationId xmlns:a16="http://schemas.microsoft.com/office/drawing/2014/main" id="{AE72F5D7-8509-4FBD-B60E-D83CEC39FCD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010</a:t>
            </a:r>
          </a:p>
        </p:txBody>
      </p:sp>
      <p:sp>
        <p:nvSpPr>
          <p:cNvPr id="4" name="question-box">
            <a:extLst>
              <a:ext uri="{FF2B5EF4-FFF2-40B4-BE49-F238E27FC236}">
                <a16:creationId xmlns:a16="http://schemas.microsoft.com/office/drawing/2014/main" id="{C2AA9D0C-F51C-4762-9490-68FD482CA9DD}"/>
              </a:ext>
            </a:extLst>
          </p:cNvPr>
          <p:cNvSpPr>
            <a:spLocks noGrp="1"/>
          </p:cNvSpPr>
          <p:nvPr/>
        </p:nvSpPr>
        <p:spPr>
          <a:xfrm>
            <a:off x="685800" y="1571625"/>
            <a:ext cx="7191375" cy="3476625"/>
          </a:xfrm>
          <a:prstGeom prst="roundRect">
            <a:avLst>
              <a:gd name="adj" fmla="val 3288"/>
            </a:avLst>
          </a:prstGeom>
          <a:solidFill>
            <a:srgbClr val="F4E9EF"/>
          </a:solidFill>
          <a:ln w="19050">
            <a:solidFill>
              <a:srgbClr val="4D1434"/>
            </a:solidFill>
            <a:prstDash val="solid"/>
          </a:ln>
        </p:spPr>
      </p:sp>
      <p:sp>
        <p:nvSpPr>
          <p:cNvPr id="5" name="question-title">
            <a:extLst>
              <a:ext uri="{FF2B5EF4-FFF2-40B4-BE49-F238E27FC236}">
                <a16:creationId xmlns:a16="http://schemas.microsoft.com/office/drawing/2014/main" id="{23B9E92F-8B02-4424-AB71-882408D76594}"/>
              </a:ext>
            </a:extLst>
          </p:cNvPr>
          <p:cNvSpPr>
            <a:spLocks noGrp="1"/>
          </p:cNvSpPr>
          <p:nvPr/>
        </p:nvSpPr>
        <p:spPr>
          <a:xfrm>
            <a:off x="857250" y="1704975"/>
            <a:ext cx="6848475" cy="361950"/>
          </a:xfrm>
          <a:prstGeom prst="rect">
            <a:avLst/>
          </a:prstGeom>
          <a:noFill/>
          <a:ln w="0">
            <a:noFill/>
            <a:prstDash val="solid"/>
          </a:ln>
        </p:spPr>
        <p:txBody>
          <a:bodyPr wrap="square" lIns="0" tIns="0" rIns="0" bIns="0" anchor="t">
            <a:noAutofit/>
          </a:bodyPr>
          <a:lstStyle/>
          <a:p>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6" name="question-body">
            <a:extLst>
              <a:ext uri="{FF2B5EF4-FFF2-40B4-BE49-F238E27FC236}">
                <a16:creationId xmlns:a16="http://schemas.microsoft.com/office/drawing/2014/main" id="{9CA77893-2E56-486E-8BEF-3A5B56F7361D}"/>
              </a:ext>
            </a:extLst>
          </p:cNvPr>
          <p:cNvSpPr>
            <a:spLocks noGrp="1"/>
          </p:cNvSpPr>
          <p:nvPr/>
        </p:nvSpPr>
        <p:spPr>
          <a:xfrm>
            <a:off x="857250" y="2105025"/>
            <a:ext cx="6848475" cy="2790825"/>
          </a:xfrm>
          <a:prstGeom prst="rect">
            <a:avLst/>
          </a:prstGeom>
          <a:noFill/>
          <a:ln w="0">
            <a:noFill/>
            <a:prstDash val="solid"/>
          </a:ln>
        </p:spPr>
        <p:txBody>
          <a:bodyPr wrap="square" lIns="0" tIns="0" rIns="0" bIns="0" anchor="t">
            <a:noAutofit/>
          </a:bodyPr>
          <a:lstStyle/>
          <a:p>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Predicción cualitativa con tres componentes y dos direcciones. Justificá la respuesta con una relación física o funcional.</a:t>
            </a:r>
          </a:p>
        </p:txBody>
      </p:sp>
      <p:sp>
        <p:nvSpPr>
          <p:cNvPr id="7" name="answer-guide-box">
            <a:extLst>
              <a:ext uri="{FF2B5EF4-FFF2-40B4-BE49-F238E27FC236}">
                <a16:creationId xmlns:a16="http://schemas.microsoft.com/office/drawing/2014/main" id="{55F6438B-D7C1-4006-B73F-B4F633A29247}"/>
              </a:ext>
            </a:extLst>
          </p:cNvPr>
          <p:cNvSpPr>
            <a:spLocks noGrp="1"/>
          </p:cNvSpPr>
          <p:nvPr/>
        </p:nvSpPr>
        <p:spPr>
          <a:xfrm>
            <a:off x="8239125" y="1571625"/>
            <a:ext cx="3286125" cy="3476625"/>
          </a:xfrm>
          <a:prstGeom prst="roundRect">
            <a:avLst>
              <a:gd name="adj" fmla="val 3478"/>
            </a:avLst>
          </a:prstGeom>
          <a:solidFill>
            <a:srgbClr val="E7F1F1"/>
          </a:solidFill>
          <a:ln w="19050">
            <a:solidFill>
              <a:srgbClr val="2F7E83"/>
            </a:solidFill>
            <a:prstDash val="solid"/>
          </a:ln>
        </p:spPr>
      </p:sp>
      <p:sp>
        <p:nvSpPr>
          <p:cNvPr id="8" name="answer-guide-title">
            <a:extLst>
              <a:ext uri="{FF2B5EF4-FFF2-40B4-BE49-F238E27FC236}">
                <a16:creationId xmlns:a16="http://schemas.microsoft.com/office/drawing/2014/main" id="{9265E7AB-F1B2-4867-97E1-6441A76F48ED}"/>
              </a:ext>
            </a:extLst>
          </p:cNvPr>
          <p:cNvSpPr>
            <a:spLocks noGrp="1"/>
          </p:cNvSpPr>
          <p:nvPr/>
        </p:nvSpPr>
        <p:spPr>
          <a:xfrm>
            <a:off x="8410575" y="1704975"/>
            <a:ext cx="2943225" cy="361950"/>
          </a:xfrm>
          <a:prstGeom prst="rect">
            <a:avLst/>
          </a:prstGeom>
          <a:noFill/>
          <a:ln w="0">
            <a:noFill/>
            <a:prstDash val="solid"/>
          </a:ln>
        </p:spPr>
        <p:txBody>
          <a:bodyPr wrap="square" lIns="0" tIns="0" rIns="0" bIns="0" anchor="t">
            <a:noAutofit/>
          </a:bodyPr>
          <a:lstStyle/>
          <a:p>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9" name="answer-guide-body">
            <a:extLst>
              <a:ext uri="{FF2B5EF4-FFF2-40B4-BE49-F238E27FC236}">
                <a16:creationId xmlns:a16="http://schemas.microsoft.com/office/drawing/2014/main" id="{A76517B8-E7AC-4BA3-86B7-25997102BD06}"/>
              </a:ext>
            </a:extLst>
          </p:cNvPr>
          <p:cNvSpPr>
            <a:spLocks noGrp="1"/>
          </p:cNvSpPr>
          <p:nvPr/>
        </p:nvSpPr>
        <p:spPr>
          <a:xfrm>
            <a:off x="8410575" y="2105025"/>
            <a:ext cx="2943225" cy="2790825"/>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10" name="caption">
            <a:extLst>
              <a:ext uri="{FF2B5EF4-FFF2-40B4-BE49-F238E27FC236}">
                <a16:creationId xmlns:a16="http://schemas.microsoft.com/office/drawing/2014/main" id="{321F1C11-BB23-4333-9AA0-3FEC1D0F4F19}"/>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Una misma geometría no modifica por igual cada componente.</a:t>
            </a:r>
          </a:p>
        </p:txBody>
      </p:sp>
      <p:sp>
        <p:nvSpPr>
          <p:cNvPr id="11" name="credit">
            <a:extLst>
              <a:ext uri="{FF2B5EF4-FFF2-40B4-BE49-F238E27FC236}">
                <a16:creationId xmlns:a16="http://schemas.microsoft.com/office/drawing/2014/main" id="{4D80A1F6-C47B-4C84-91AA-7EFA7730BCF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6.4.1; REF carlini2024; EP.</a:t>
            </a:r>
          </a:p>
        </p:txBody>
      </p:sp>
    </p:spTree>
    <p:extLst>
      <p:ext uri="{BB962C8B-B14F-4D97-AF65-F5344CB8AC3E}">
        <p14:creationId xmlns:p14="http://schemas.microsoft.com/office/powerpoint/2010/main" val="1673297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DF2ADF85-1F07-40C2-A4E5-C9E45A415E46}"/>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presión no es idéntica en todos los puntos del CAE</a:t>
            </a:r>
          </a:p>
        </p:txBody>
      </p:sp>
      <p:sp>
        <p:nvSpPr>
          <p:cNvPr id="2" name="slide-subtitle">
            <a:extLst>
              <a:ext uri="{FF2B5EF4-FFF2-40B4-BE49-F238E27FC236}">
                <a16:creationId xmlns:a16="http://schemas.microsoft.com/office/drawing/2014/main" id="{9A4D9F8E-9EE9-4A3B-9D7C-1E5D7717EA2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CAE real es curvo, variable y termina en una impedancia finita.</a:t>
            </a:r>
          </a:p>
        </p:txBody>
      </p:sp>
      <p:sp>
        <p:nvSpPr>
          <p:cNvPr id="3" name="eyebrow">
            <a:extLst>
              <a:ext uri="{FF2B5EF4-FFF2-40B4-BE49-F238E27FC236}">
                <a16:creationId xmlns:a16="http://schemas.microsoft.com/office/drawing/2014/main" id="{5657C331-5D6E-4FDE-8A00-B1F92EBDF2A2}"/>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011</a:t>
            </a:r>
          </a:p>
        </p:txBody>
      </p:sp>
      <p:sp>
        <p:nvSpPr>
          <p:cNvPr id="4" name="U06-DG-006-stage_1-anchor">
            <a:extLst>
              <a:ext uri="{FF2B5EF4-FFF2-40B4-BE49-F238E27FC236}">
                <a16:creationId xmlns:a16="http://schemas.microsoft.com/office/drawing/2014/main" id="{48135D3E-937B-448A-82FC-63D590FF6C78}"/>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06-stage_2-anchor">
            <a:extLst>
              <a:ext uri="{FF2B5EF4-FFF2-40B4-BE49-F238E27FC236}">
                <a16:creationId xmlns:a16="http://schemas.microsoft.com/office/drawing/2014/main" id="{A1832049-2761-4495-96AA-632518B5C113}"/>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06-stage_3-anchor">
            <a:extLst>
              <a:ext uri="{FF2B5EF4-FFF2-40B4-BE49-F238E27FC236}">
                <a16:creationId xmlns:a16="http://schemas.microsoft.com/office/drawing/2014/main" id="{D090B63E-BF4B-4834-81C9-D97ACF9726ED}"/>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06-stage_4-anchor">
            <a:extLst>
              <a:ext uri="{FF2B5EF4-FFF2-40B4-BE49-F238E27FC236}">
                <a16:creationId xmlns:a16="http://schemas.microsoft.com/office/drawing/2014/main" id="{507E825C-4B23-4579-8467-AFAD9F72FE7E}"/>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06-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06-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06-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06-stage_1-box" descr="Diagrama sobre «La presión no es idéntica en todos los puntos del CAE»; organiza geometría real, superposición y posición de observación." title="Texto alternativo U06-011">
            <a:extLst>
              <a:ext uri="{FF2B5EF4-FFF2-40B4-BE49-F238E27FC236}">
                <a16:creationId xmlns:a16="http://schemas.microsoft.com/office/drawing/2014/main" id="{45BEA4CF-80D5-4EF2-B340-24EE8B150DBA}"/>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06-stage_1-title">
            <a:extLst>
              <a:ext uri="{FF2B5EF4-FFF2-40B4-BE49-F238E27FC236}">
                <a16:creationId xmlns:a16="http://schemas.microsoft.com/office/drawing/2014/main" id="{AE80DA41-781C-44A2-82FE-02A69FE95830}"/>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Entrada</a:t>
            </a:r>
          </a:p>
        </p:txBody>
      </p:sp>
      <p:sp>
        <p:nvSpPr>
          <p:cNvPr id="13" name="U06-DG-006-stage_1-body">
            <a:extLst>
              <a:ext uri="{FF2B5EF4-FFF2-40B4-BE49-F238E27FC236}">
                <a16:creationId xmlns:a16="http://schemas.microsoft.com/office/drawing/2014/main" id="{1B39583C-87DF-4E71-8A71-C607EBC36120}"/>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onda incidente</a:t>
            </a:r>
          </a:p>
        </p:txBody>
      </p:sp>
      <p:sp>
        <p:nvSpPr>
          <p:cNvPr id="14" name="U06-DG-006-stage_2-box">
            <a:extLst>
              <a:ext uri="{FF2B5EF4-FFF2-40B4-BE49-F238E27FC236}">
                <a16:creationId xmlns:a16="http://schemas.microsoft.com/office/drawing/2014/main" id="{3F06B671-B559-4055-B394-D811D23253A9}"/>
              </a:ext>
            </a:extLst>
          </p:cNvPr>
          <p:cNvSpPr>
            <a:spLocks noGrp="1"/>
          </p:cNvSpPr>
          <p:nvPr/>
        </p:nvSpPr>
        <p:spPr>
          <a:xfrm>
            <a:off x="3514725" y="2428875"/>
            <a:ext cx="2428875" cy="1666875"/>
          </a:xfrm>
          <a:prstGeom prst="roundRect">
            <a:avLst>
              <a:gd name="adj" fmla="val 5714"/>
            </a:avLst>
          </a:prstGeom>
          <a:solidFill>
            <a:srgbClr val="F7F6F2"/>
          </a:solidFill>
          <a:ln w="19050">
            <a:solidFill>
              <a:srgbClr val="969FA7"/>
            </a:solidFill>
            <a:prstDash val="solid"/>
          </a:ln>
        </p:spPr>
      </p:sp>
      <p:sp>
        <p:nvSpPr>
          <p:cNvPr id="15" name="U06-DG-006-stage_2-title">
            <a:extLst>
              <a:ext uri="{FF2B5EF4-FFF2-40B4-BE49-F238E27FC236}">
                <a16:creationId xmlns:a16="http://schemas.microsoft.com/office/drawing/2014/main" id="{2E65CC73-DCAA-422F-85E1-ACC16C67D0FC}"/>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Conducto</a:t>
            </a:r>
          </a:p>
        </p:txBody>
      </p:sp>
      <p:sp>
        <p:nvSpPr>
          <p:cNvPr id="16" name="U06-DG-006-stage_2-body">
            <a:extLst>
              <a:ext uri="{FF2B5EF4-FFF2-40B4-BE49-F238E27FC236}">
                <a16:creationId xmlns:a16="http://schemas.microsoft.com/office/drawing/2014/main" id="{A7DDF88F-2DE7-428F-9104-3D544825AECC}"/>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superposición</a:t>
            </a:r>
          </a:p>
        </p:txBody>
      </p:sp>
      <p:sp>
        <p:nvSpPr>
          <p:cNvPr id="17" name="U06-DG-006-stage_3-box">
            <a:extLst>
              <a:ext uri="{FF2B5EF4-FFF2-40B4-BE49-F238E27FC236}">
                <a16:creationId xmlns:a16="http://schemas.microsoft.com/office/drawing/2014/main" id="{3F4517BD-0DEE-4458-859E-0F3EB5BCC648}"/>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8" name="U06-DG-006-stage_3-title">
            <a:extLst>
              <a:ext uri="{FF2B5EF4-FFF2-40B4-BE49-F238E27FC236}">
                <a16:creationId xmlns:a16="http://schemas.microsoft.com/office/drawing/2014/main" id="{D5F2FD6F-00FD-4A69-B7C3-D5B3C0ACF6FB}"/>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Puntos A–B–C</a:t>
            </a:r>
          </a:p>
        </p:txBody>
      </p:sp>
      <p:sp>
        <p:nvSpPr>
          <p:cNvPr id="19" name="U06-DG-006-stage_3-body">
            <a:extLst>
              <a:ext uri="{FF2B5EF4-FFF2-40B4-BE49-F238E27FC236}">
                <a16:creationId xmlns:a16="http://schemas.microsoft.com/office/drawing/2014/main" id="{357C4992-CE08-4F9A-B745-13FD6B83B6B3}"/>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presiones distintas</a:t>
            </a:r>
          </a:p>
        </p:txBody>
      </p:sp>
      <p:sp>
        <p:nvSpPr>
          <p:cNvPr id="20" name="U06-DG-006-stage_4-box">
            <a:extLst>
              <a:ext uri="{FF2B5EF4-FFF2-40B4-BE49-F238E27FC236}">
                <a16:creationId xmlns:a16="http://schemas.microsoft.com/office/drawing/2014/main" id="{C05002FB-A080-41E2-831D-0EA133F75893}"/>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06-stage_4-title">
            <a:extLst>
              <a:ext uri="{FF2B5EF4-FFF2-40B4-BE49-F238E27FC236}">
                <a16:creationId xmlns:a16="http://schemas.microsoft.com/office/drawing/2014/main" id="{269D5D76-CD55-4D35-9C44-DBF13385AF7A}"/>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Tímpano</a:t>
            </a:r>
          </a:p>
        </p:txBody>
      </p:sp>
      <p:sp>
        <p:nvSpPr>
          <p:cNvPr id="22" name="U06-DG-006-stage_4-body">
            <a:extLst>
              <a:ext uri="{FF2B5EF4-FFF2-40B4-BE49-F238E27FC236}">
                <a16:creationId xmlns:a16="http://schemas.microsoft.com/office/drawing/2014/main" id="{2EAC571A-1BAC-4C25-A354-01052E600AB2}"/>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extremo del modelo</a:t>
            </a:r>
          </a:p>
        </p:txBody>
      </p:sp>
      <p:sp>
        <p:nvSpPr>
          <p:cNvPr id="23" name="caption">
            <a:extLst>
              <a:ext uri="{FF2B5EF4-FFF2-40B4-BE49-F238E27FC236}">
                <a16:creationId xmlns:a16="http://schemas.microsoft.com/office/drawing/2014/main" id="{BB0B7BF1-017E-4215-B36B-C19BE2CF434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CAE real es curvo, variable y termina en una impedancia finita.</a:t>
            </a:r>
          </a:p>
        </p:txBody>
      </p:sp>
      <p:sp>
        <p:nvSpPr>
          <p:cNvPr id="24" name="credit">
            <a:extLst>
              <a:ext uri="{FF2B5EF4-FFF2-40B4-BE49-F238E27FC236}">
                <a16:creationId xmlns:a16="http://schemas.microsoft.com/office/drawing/2014/main" id="{EA18B198-554B-4541-83CE-5D09FAD04E18}"/>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95449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55995CF4-1EB9-4545-9AF9-4FDFCEBC7329}"/>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Medir en la entrada no equivale a medir cerca del tímpano</a:t>
            </a:r>
          </a:p>
        </p:txBody>
      </p:sp>
      <p:sp>
        <p:nvSpPr>
          <p:cNvPr id="2" name="slide-subtitle">
            <a:extLst>
              <a:ext uri="{FF2B5EF4-FFF2-40B4-BE49-F238E27FC236}">
                <a16:creationId xmlns:a16="http://schemas.microsoft.com/office/drawing/2014/main" id="{B9E69520-DFBE-42EC-8161-FB64C6ED97E8}"/>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Geometría, reflexiones, terminaciones y sonda alteran la presión local.</a:t>
            </a:r>
          </a:p>
        </p:txBody>
      </p:sp>
      <p:sp>
        <p:nvSpPr>
          <p:cNvPr id="3" name="eyebrow">
            <a:extLst>
              <a:ext uri="{FF2B5EF4-FFF2-40B4-BE49-F238E27FC236}">
                <a16:creationId xmlns:a16="http://schemas.microsoft.com/office/drawing/2014/main" id="{C00B12C4-B546-41F6-AA27-CBD83747F54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012</a:t>
            </a:r>
          </a:p>
        </p:txBody>
      </p:sp>
      <p:sp>
        <p:nvSpPr>
          <p:cNvPr id="4" name="main-ideas">
            <a:extLst>
              <a:ext uri="{FF2B5EF4-FFF2-40B4-BE49-F238E27FC236}">
                <a16:creationId xmlns:a16="http://schemas.microsoft.com/office/drawing/2014/main" id="{BB0E903A-BB11-4928-8832-F244991452A2}"/>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Geometría, reflexiones, terminaciones y sonda alteran la presión local.</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Dos posiciones de sonda y cuatro causas físicas posibles..</a:t>
            </a:r>
          </a:p>
        </p:txBody>
      </p:sp>
      <p:sp>
        <p:nvSpPr>
          <p:cNvPr id="5" name="side-panel-box">
            <a:extLst>
              <a:ext uri="{FF2B5EF4-FFF2-40B4-BE49-F238E27FC236}">
                <a16:creationId xmlns:a16="http://schemas.microsoft.com/office/drawing/2014/main" id="{505D5C74-37C8-4079-9C9B-71BE04C8F726}"/>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DB937570-9B62-4930-8ED5-E97F6B2C7F90}"/>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7" name="side-panel-body">
            <a:extLst>
              <a:ext uri="{FF2B5EF4-FFF2-40B4-BE49-F238E27FC236}">
                <a16:creationId xmlns:a16="http://schemas.microsoft.com/office/drawing/2014/main" id="{D89C1645-9DEC-4155-8E36-0E9BD025FFB5}"/>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Dos posiciones de sonda pueden registrar presiones diferentes aunque el estímulo externo sea el mismo.</a:t>
            </a:r>
          </a:p>
        </p:txBody>
      </p:sp>
      <p:sp>
        <p:nvSpPr>
          <p:cNvPr id="8" name="caption">
            <a:extLst>
              <a:ext uri="{FF2B5EF4-FFF2-40B4-BE49-F238E27FC236}">
                <a16:creationId xmlns:a16="http://schemas.microsoft.com/office/drawing/2014/main" id="{C6D121ED-9874-4D92-99A0-6A6B99A29A04}"/>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Geometría, reflexiones, terminaciones y sonda alteran la presión local.</a:t>
            </a:r>
          </a:p>
        </p:txBody>
      </p:sp>
      <p:sp>
        <p:nvSpPr>
          <p:cNvPr id="9" name="credit">
            <a:extLst>
              <a:ext uri="{FF2B5EF4-FFF2-40B4-BE49-F238E27FC236}">
                <a16:creationId xmlns:a16="http://schemas.microsoft.com/office/drawing/2014/main" id="{13BAB269-717C-418E-9D29-6D09410ECF0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6.4.2 y aplicación A1; PDF pp. 153, 168/173; REF ugarteburu2022.</a:t>
            </a:r>
          </a:p>
        </p:txBody>
      </p:sp>
    </p:spTree>
    <p:extLst>
      <p:ext uri="{BB962C8B-B14F-4D97-AF65-F5344CB8AC3E}">
        <p14:creationId xmlns:p14="http://schemas.microsoft.com/office/powerpoint/2010/main" val="817057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76DBB656-4407-4E25-8245-E4B94C593143}"/>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Del frente ideal al conducto real</a:t>
            </a:r>
          </a:p>
        </p:txBody>
      </p:sp>
      <p:sp>
        <p:nvSpPr>
          <p:cNvPr id="2" name="slide-subtitle">
            <a:extLst>
              <a:ext uri="{FF2B5EF4-FFF2-40B4-BE49-F238E27FC236}">
                <a16:creationId xmlns:a16="http://schemas.microsoft.com/office/drawing/2014/main" id="{FA7921D8-F810-445F-98A8-A34700CAD44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“Esférica a cilíndrica” es una idealización; el CAE real exige transferencia dependiente de frecuencia y posición.</a:t>
            </a:r>
          </a:p>
        </p:txBody>
      </p:sp>
      <p:sp>
        <p:nvSpPr>
          <p:cNvPr id="3" name="eyebrow">
            <a:extLst>
              <a:ext uri="{FF2B5EF4-FFF2-40B4-BE49-F238E27FC236}">
                <a16:creationId xmlns:a16="http://schemas.microsoft.com/office/drawing/2014/main" id="{5EFF11B4-DD8C-458E-8BBD-6E251A145CF3}"/>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013</a:t>
            </a:r>
          </a:p>
        </p:txBody>
      </p:sp>
      <p:sp>
        <p:nvSpPr>
          <p:cNvPr id="4" name="compare-a-box">
            <a:extLst>
              <a:ext uri="{FF2B5EF4-FFF2-40B4-BE49-F238E27FC236}">
                <a16:creationId xmlns:a16="http://schemas.microsoft.com/office/drawing/2014/main" id="{23CC36B7-16C8-444C-9760-8D57081DB581}"/>
              </a:ext>
            </a:extLst>
          </p:cNvPr>
          <p:cNvSpPr>
            <a:spLocks noGrp="1"/>
          </p:cNvSpPr>
          <p:nvPr/>
        </p:nvSpPr>
        <p:spPr>
          <a:xfrm>
            <a:off x="619125" y="1524000"/>
            <a:ext cx="5191125" cy="3762375"/>
          </a:xfrm>
          <a:prstGeom prst="roundRect">
            <a:avLst>
              <a:gd name="adj" fmla="val 3038"/>
            </a:avLst>
          </a:prstGeom>
          <a:solidFill>
            <a:srgbClr val="E7F1F1"/>
          </a:solidFill>
          <a:ln w="19050">
            <a:solidFill>
              <a:srgbClr val="2F7E83"/>
            </a:solidFill>
            <a:prstDash val="solid"/>
          </a:ln>
        </p:spPr>
      </p:sp>
      <p:sp>
        <p:nvSpPr>
          <p:cNvPr id="5" name="compare-a-title">
            <a:extLst>
              <a:ext uri="{FF2B5EF4-FFF2-40B4-BE49-F238E27FC236}">
                <a16:creationId xmlns:a16="http://schemas.microsoft.com/office/drawing/2014/main" id="{0D0C564C-EC50-4158-AAAF-AE0AC5772624}"/>
              </a:ext>
            </a:extLst>
          </p:cNvPr>
          <p:cNvSpPr>
            <a:spLocks noGrp="1"/>
          </p:cNvSpPr>
          <p:nvPr/>
        </p:nvSpPr>
        <p:spPr>
          <a:xfrm>
            <a:off x="790575" y="1657350"/>
            <a:ext cx="484822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Primera lectura</a:t>
            </a:r>
          </a:p>
        </p:txBody>
      </p:sp>
      <p:sp>
        <p:nvSpPr>
          <p:cNvPr id="6" name="compare-a-body">
            <a:extLst>
              <a:ext uri="{FF2B5EF4-FFF2-40B4-BE49-F238E27FC236}">
                <a16:creationId xmlns:a16="http://schemas.microsoft.com/office/drawing/2014/main" id="{F20B159F-EDAB-4B41-A4EF-29F26B4F81BD}"/>
              </a:ext>
            </a:extLst>
          </p:cNvPr>
          <p:cNvSpPr>
            <a:spLocks noGrp="1"/>
          </p:cNvSpPr>
          <p:nvPr/>
        </p:nvSpPr>
        <p:spPr>
          <a:xfrm>
            <a:off x="790575" y="2057400"/>
            <a:ext cx="4848225" cy="3076575"/>
          </a:xfrm>
          <a:prstGeom prst="rect">
            <a:avLst/>
          </a:prstGeom>
          <a:noFill/>
          <a:ln w="0">
            <a:noFill/>
            <a:prstDash val="solid"/>
          </a:ln>
        </p:spPr>
        <p:txBody>
          <a:bodyPr wrap="square" lIns="0" tIns="0" rIns="0" bIns="0" anchor="t">
            <a:noAutofit/>
          </a:bodyPr>
          <a:lstStyle/>
          <a:p>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Modelos ideales: frentes simples y condiciones declaradas. CAE real: curvatura, sección variable, terminaciones, pérdidas y dependencia de frecuencia/posición.</a:t>
            </a:r>
          </a:p>
        </p:txBody>
      </p:sp>
      <p:sp>
        <p:nvSpPr>
          <p:cNvPr id="7" name="compare-b-box">
            <a:extLst>
              <a:ext uri="{FF2B5EF4-FFF2-40B4-BE49-F238E27FC236}">
                <a16:creationId xmlns:a16="http://schemas.microsoft.com/office/drawing/2014/main" id="{CD3E749F-1090-4E69-B850-E72B64B8B86F}"/>
              </a:ext>
            </a:extLst>
          </p:cNvPr>
          <p:cNvSpPr>
            <a:spLocks noGrp="1"/>
          </p:cNvSpPr>
          <p:nvPr/>
        </p:nvSpPr>
        <p:spPr>
          <a:xfrm>
            <a:off x="6381750" y="1524000"/>
            <a:ext cx="5191125" cy="3762375"/>
          </a:xfrm>
          <a:prstGeom prst="roundRect">
            <a:avLst>
              <a:gd name="adj" fmla="val 3038"/>
            </a:avLst>
          </a:prstGeom>
          <a:solidFill>
            <a:srgbClr val="F8EDE2"/>
          </a:solidFill>
          <a:ln w="19050">
            <a:solidFill>
              <a:srgbClr val="9F541A"/>
            </a:solidFill>
            <a:prstDash val="solid"/>
          </a:ln>
        </p:spPr>
      </p:sp>
      <p:sp>
        <p:nvSpPr>
          <p:cNvPr id="8" name="compare-b-title">
            <a:extLst>
              <a:ext uri="{FF2B5EF4-FFF2-40B4-BE49-F238E27FC236}">
                <a16:creationId xmlns:a16="http://schemas.microsoft.com/office/drawing/2014/main" id="{7C7437FA-EE57-4143-AD87-AE89BC396AC2}"/>
              </a:ext>
            </a:extLst>
          </p:cNvPr>
          <p:cNvSpPr>
            <a:spLocks noGrp="1"/>
          </p:cNvSpPr>
          <p:nvPr/>
        </p:nvSpPr>
        <p:spPr>
          <a:xfrm>
            <a:off x="6553200" y="1657350"/>
            <a:ext cx="484822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Segunda lectura</a:t>
            </a:r>
          </a:p>
        </p:txBody>
      </p:sp>
      <p:sp>
        <p:nvSpPr>
          <p:cNvPr id="9" name="compare-b-body">
            <a:extLst>
              <a:ext uri="{FF2B5EF4-FFF2-40B4-BE49-F238E27FC236}">
                <a16:creationId xmlns:a16="http://schemas.microsoft.com/office/drawing/2014/main" id="{657FC9F8-A418-47E4-93FE-D7CF63375F48}"/>
              </a:ext>
            </a:extLst>
          </p:cNvPr>
          <p:cNvSpPr>
            <a:spLocks noGrp="1"/>
          </p:cNvSpPr>
          <p:nvPr/>
        </p:nvSpPr>
        <p:spPr>
          <a:xfrm>
            <a:off x="6553200" y="2057400"/>
            <a:ext cx="4848225" cy="3076575"/>
          </a:xfrm>
          <a:prstGeom prst="rect">
            <a:avLst/>
          </a:prstGeom>
          <a:noFill/>
          <a:ln w="0">
            <a:noFill/>
            <a:prstDash val="solid"/>
          </a:ln>
        </p:spPr>
        <p:txBody>
          <a:bodyPr wrap="square" lIns="0" tIns="0" rIns="0" bIns="0" anchor="t">
            <a:noAutofit/>
          </a:bodyPr>
          <a:lstStyle/>
          <a:p>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No existe una conversión geométrica universal.</a:t>
            </a:r>
          </a:p>
        </p:txBody>
      </p:sp>
      <p:sp>
        <p:nvSpPr>
          <p:cNvPr id="10" name="caption">
            <a:extLst>
              <a:ext uri="{FF2B5EF4-FFF2-40B4-BE49-F238E27FC236}">
                <a16:creationId xmlns:a16="http://schemas.microsoft.com/office/drawing/2014/main" id="{E591564A-C55E-4B4E-9367-35E44967D46B}"/>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“Esférica a cilíndrica” es una idealización; el CAE real exige transferencia dep…</a:t>
            </a:r>
          </a:p>
        </p:txBody>
      </p:sp>
      <p:sp>
        <p:nvSpPr>
          <p:cNvPr id="11" name="credit">
            <a:extLst>
              <a:ext uri="{FF2B5EF4-FFF2-40B4-BE49-F238E27FC236}">
                <a16:creationId xmlns:a16="http://schemas.microsoft.com/office/drawing/2014/main" id="{93DBA87F-D210-4F06-B6B5-A386681FD082}"/>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6.4.2–6.4.3; PDF pp. 153–154; SA tensión 2; OD-U06-03.</a:t>
            </a:r>
          </a:p>
        </p:txBody>
      </p:sp>
    </p:spTree>
    <p:extLst>
      <p:ext uri="{BB962C8B-B14F-4D97-AF65-F5344CB8AC3E}">
        <p14:creationId xmlns:p14="http://schemas.microsoft.com/office/powerpoint/2010/main" val="318321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2055516D-4BE7-446C-A4C2-DB36CB7EE42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 modelo de cuarto de onda aproxima la primera resonancia</a:t>
            </a:r>
          </a:p>
        </p:txBody>
      </p:sp>
      <p:sp>
        <p:nvSpPr>
          <p:cNvPr id="2" name="slide-subtitle">
            <a:extLst>
              <a:ext uri="{FF2B5EF4-FFF2-40B4-BE49-F238E27FC236}">
                <a16:creationId xmlns:a16="http://schemas.microsoft.com/office/drawing/2014/main" id="{637B4CE8-A67F-467E-A217-4B419CDFF352}"/>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 tubo abierto–aproximadamente cerrado es útil si se declara qué omite.</a:t>
            </a:r>
          </a:p>
        </p:txBody>
      </p:sp>
      <p:sp>
        <p:nvSpPr>
          <p:cNvPr id="3" name="eyebrow">
            <a:extLst>
              <a:ext uri="{FF2B5EF4-FFF2-40B4-BE49-F238E27FC236}">
                <a16:creationId xmlns:a16="http://schemas.microsoft.com/office/drawing/2014/main" id="{250ABBC8-372B-4855-9EB3-F2DD4AAF721B}"/>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014</a:t>
            </a:r>
          </a:p>
        </p:txBody>
      </p:sp>
      <p:sp>
        <p:nvSpPr>
          <p:cNvPr id="4" name="U06-DG-008-equation-anchor">
            <a:extLst>
              <a:ext uri="{FF2B5EF4-FFF2-40B4-BE49-F238E27FC236}">
                <a16:creationId xmlns:a16="http://schemas.microsoft.com/office/drawing/2014/main" id="{8F8ABC75-359C-4792-BD40-4B961581B42B}"/>
              </a:ext>
            </a:extLst>
          </p:cNvPr>
          <p:cNvSpPr>
            <a:spLocks noGrp="1"/>
          </p:cNvSpPr>
          <p:nvPr/>
        </p:nvSpPr>
        <p:spPr>
          <a:xfrm>
            <a:off x="3143250" y="2714625"/>
            <a:ext cx="5905500" cy="1190625"/>
          </a:xfrm>
          <a:prstGeom prst="roundRect">
            <a:avLst>
              <a:gd name="adj" fmla="val 8000"/>
            </a:avLst>
          </a:prstGeom>
          <a:noFill/>
          <a:ln w="0">
            <a:noFill/>
            <a:prstDash val="solid"/>
          </a:ln>
        </p:spPr>
      </p:sp>
      <p:sp>
        <p:nvSpPr>
          <p:cNvPr id="5" name="U06-DG-008-callout_1-anchor">
            <a:extLst>
              <a:ext uri="{FF2B5EF4-FFF2-40B4-BE49-F238E27FC236}">
                <a16:creationId xmlns:a16="http://schemas.microsoft.com/office/drawing/2014/main" id="{5AE539FB-DB15-4511-A5C8-3650AB1AD9BF}"/>
              </a:ext>
            </a:extLst>
          </p:cNvPr>
          <p:cNvSpPr>
            <a:spLocks noGrp="1"/>
          </p:cNvSpPr>
          <p:nvPr/>
        </p:nvSpPr>
        <p:spPr>
          <a:xfrm>
            <a:off x="781050" y="1190625"/>
            <a:ext cx="2476500" cy="1381125"/>
          </a:xfrm>
          <a:prstGeom prst="roundRect">
            <a:avLst>
              <a:gd name="adj" fmla="val 6897"/>
            </a:avLst>
          </a:prstGeom>
          <a:noFill/>
          <a:ln w="0">
            <a:noFill/>
            <a:prstDash val="solid"/>
          </a:ln>
        </p:spPr>
      </p:sp>
      <p:sp>
        <p:nvSpPr>
          <p:cNvPr id="6" name="U06-DG-008-callout_2-anchor">
            <a:extLst>
              <a:ext uri="{FF2B5EF4-FFF2-40B4-BE49-F238E27FC236}">
                <a16:creationId xmlns:a16="http://schemas.microsoft.com/office/drawing/2014/main" id="{DF363984-E021-4284-A028-27CA9A1DCD03}"/>
              </a:ext>
            </a:extLst>
          </p:cNvPr>
          <p:cNvSpPr>
            <a:spLocks noGrp="1"/>
          </p:cNvSpPr>
          <p:nvPr/>
        </p:nvSpPr>
        <p:spPr>
          <a:xfrm>
            <a:off x="8934450" y="1190625"/>
            <a:ext cx="2571750" cy="1381125"/>
          </a:xfrm>
          <a:prstGeom prst="roundRect">
            <a:avLst>
              <a:gd name="adj" fmla="val 6897"/>
            </a:avLst>
          </a:prstGeom>
          <a:noFill/>
          <a:ln w="0">
            <a:noFill/>
            <a:prstDash val="solid"/>
          </a:ln>
        </p:spPr>
      </p:sp>
      <p:sp>
        <p:nvSpPr>
          <p:cNvPr id="7" name="U06-DG-008-callout_3-anchor">
            <a:extLst>
              <a:ext uri="{FF2B5EF4-FFF2-40B4-BE49-F238E27FC236}">
                <a16:creationId xmlns:a16="http://schemas.microsoft.com/office/drawing/2014/main" id="{E2CAD17D-96FC-4100-BD4A-C9ADC82552C2}"/>
              </a:ext>
            </a:extLst>
          </p:cNvPr>
          <p:cNvSpPr>
            <a:spLocks noGrp="1"/>
          </p:cNvSpPr>
          <p:nvPr/>
        </p:nvSpPr>
        <p:spPr>
          <a:xfrm>
            <a:off x="781050" y="4238625"/>
            <a:ext cx="2762250" cy="1381125"/>
          </a:xfrm>
          <a:prstGeom prst="roundRect">
            <a:avLst>
              <a:gd name="adj" fmla="val 6897"/>
            </a:avLst>
          </a:prstGeom>
          <a:noFill/>
          <a:ln w="0">
            <a:noFill/>
            <a:prstDash val="solid"/>
          </a:ln>
        </p:spPr>
      </p:sp>
      <p:cxnSp>
        <p:nvCxnSpPr>
          <p:cNvPr id="32" name="U06-DG-008-leader_1"/>
          <p:cNvCxnSpPr>
            <a:stCxn id="5" idx="3"/>
            <a:endCxn id="4" idx="1"/>
          </p:cNvCxnSpPr>
          <p:nvPr/>
        </p:nvCxnSpPr>
        <p:spPr>
          <a:xfrm flipH="1">
            <a:off x="3143250" y="1881188"/>
            <a:ext cx="114300" cy="1428750"/>
          </a:xfrm>
          <a:prstGeom prst="straightConnector1">
            <a:avLst/>
          </a:prstGeom>
          <a:ln w="28575">
            <a:solidFill>
              <a:srgbClr val="3D3D3D"/>
            </a:solidFill>
            <a:prstDash val="solid"/>
            <a:tailEnd type="arrow" w="med" len="med"/>
          </a:ln>
        </p:spPr>
      </p:cxnSp>
      <p:cxnSp>
        <p:nvCxnSpPr>
          <p:cNvPr id="33" name="U06-DG-008-leader_2"/>
          <p:cNvCxnSpPr>
            <a:stCxn id="6" idx="1"/>
            <a:endCxn id="4" idx="3"/>
          </p:cNvCxnSpPr>
          <p:nvPr/>
        </p:nvCxnSpPr>
        <p:spPr>
          <a:xfrm>
            <a:off x="8934450" y="1881188"/>
            <a:ext cx="114300" cy="1428750"/>
          </a:xfrm>
          <a:prstGeom prst="straightConnector1">
            <a:avLst/>
          </a:prstGeom>
          <a:ln w="28575">
            <a:solidFill>
              <a:srgbClr val="3D3D3D"/>
            </a:solidFill>
            <a:prstDash val="solid"/>
            <a:tailEnd type="arrow" w="med" len="med"/>
          </a:ln>
        </p:spPr>
      </p:cxnSp>
      <p:cxnSp>
        <p:nvCxnSpPr>
          <p:cNvPr id="34" name="U06-DG-008-leader_3"/>
          <p:cNvCxnSpPr>
            <a:stCxn id="7" idx="3"/>
            <a:endCxn id="4" idx="1"/>
          </p:cNvCxnSpPr>
          <p:nvPr/>
        </p:nvCxnSpPr>
        <p:spPr>
          <a:xfrm flipH="1" flipV="1">
            <a:off x="3143250" y="3309938"/>
            <a:ext cx="400050" cy="1619250"/>
          </a:xfrm>
          <a:prstGeom prst="straightConnector1">
            <a:avLst/>
          </a:prstGeom>
          <a:ln w="28575">
            <a:solidFill>
              <a:srgbClr val="3D3D3D"/>
            </a:solidFill>
            <a:prstDash val="solid"/>
            <a:tailEnd type="arrow" w="med" len="med"/>
          </a:ln>
        </p:spPr>
      </p:cxnSp>
      <p:sp>
        <p:nvSpPr>
          <p:cNvPr id="11" name="U06-DG-008-equation-box" descr="Diagrama sobre «Un modelo de cuarto de onda aproxima la primera resonancia»; organiza extremos, longitud efectiva y condición `λ≈4ℓ`; lista breve de límites." title="Texto alternativo U06-014">
            <a:extLst>
              <a:ext uri="{FF2B5EF4-FFF2-40B4-BE49-F238E27FC236}">
                <a16:creationId xmlns:a16="http://schemas.microsoft.com/office/drawing/2014/main" id="{66EF23E3-12CA-403E-AE13-3B12E6A9F025}"/>
              </a:ext>
            </a:extLst>
          </p:cNvPr>
          <p:cNvSpPr>
            <a:spLocks noGrp="1"/>
          </p:cNvSpPr>
          <p:nvPr/>
        </p:nvSpPr>
        <p:spPr>
          <a:xfrm>
            <a:off x="3143250" y="2714625"/>
            <a:ext cx="5905500" cy="1190625"/>
          </a:xfrm>
          <a:prstGeom prst="roundRect">
            <a:avLst>
              <a:gd name="adj" fmla="val 8000"/>
            </a:avLst>
          </a:prstGeom>
          <a:solidFill>
            <a:srgbClr val="F7F6F2"/>
          </a:solidFill>
          <a:ln w="19050">
            <a:solidFill>
              <a:srgbClr val="903163"/>
            </a:solidFill>
            <a:prstDash val="solid"/>
          </a:ln>
        </p:spPr>
      </p:sp>
      <p:sp>
        <p:nvSpPr>
          <p:cNvPr id="12" name="U06-DG-008-equation-title">
            <a:extLst>
              <a:ext uri="{FF2B5EF4-FFF2-40B4-BE49-F238E27FC236}">
                <a16:creationId xmlns:a16="http://schemas.microsoft.com/office/drawing/2014/main" id="{668AF4DA-9602-4FCA-A921-97A22C1DEC93}"/>
              </a:ext>
            </a:extLst>
          </p:cNvPr>
          <p:cNvSpPr>
            <a:spLocks noGrp="1"/>
          </p:cNvSpPr>
          <p:nvPr/>
        </p:nvSpPr>
        <p:spPr>
          <a:xfrm>
            <a:off x="3333750" y="2857500"/>
            <a:ext cx="5524500" cy="400050"/>
          </a:xfrm>
          <a:prstGeom prst="rect">
            <a:avLst/>
          </a:prstGeom>
          <a:noFill/>
          <a:ln w="0">
            <a:noFill/>
            <a:prstDash val="solid"/>
          </a:ln>
        </p:spPr>
        <p:txBody>
          <a:bodyPr wrap="square" lIns="0" tIns="0" rIns="0" bIns="0" anchor="t">
            <a:noAutofit/>
          </a:bodyPr>
          <a:lstStyle/>
          <a:p>
            <a:pPr algn="ctr">
              <a:lnSpc>
                <a:spcPct val="102000"/>
              </a:lnSpc>
              <a:buNone/>
              <a:defRPr sz="3450" b="1" i="0">
                <a:solidFill>
                  <a:srgbClr val="4D1434"/>
                </a:solidFill>
                <a:latin typeface="Cambria Math"/>
                <a:ea typeface="Cambria Math"/>
                <a:cs typeface="Cambria Math"/>
              </a:defRPr>
            </a:pPr>
            <a:r>
              <a:rPr sz="3450" b="1" i="0">
                <a:solidFill>
                  <a:srgbClr val="4D1434"/>
                </a:solidFill>
                <a:latin typeface="Cambria Math"/>
                <a:ea typeface="Cambria Math"/>
                <a:cs typeface="Cambria Math"/>
              </a:rPr>
              <a:t>λ ≈ 4ℓ</a:t>
            </a:r>
          </a:p>
        </p:txBody>
      </p:sp>
      <p:sp>
        <p:nvSpPr>
          <p:cNvPr id="13" name="U06-DG-008-equation-body">
            <a:extLst>
              <a:ext uri="{FF2B5EF4-FFF2-40B4-BE49-F238E27FC236}">
                <a16:creationId xmlns:a16="http://schemas.microsoft.com/office/drawing/2014/main" id="{C03235A0-2F25-448E-89B9-67D704375BF5}"/>
              </a:ext>
            </a:extLst>
          </p:cNvPr>
          <p:cNvSpPr>
            <a:spLocks noGrp="1"/>
          </p:cNvSpPr>
          <p:nvPr/>
        </p:nvSpPr>
        <p:spPr>
          <a:xfrm>
            <a:off x="3333750" y="3305175"/>
            <a:ext cx="5524500" cy="5048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mbria Math"/>
                <a:ea typeface="Cambria Math"/>
                <a:cs typeface="Cambria Math"/>
              </a:defRPr>
            </a:pPr>
            <a:r>
              <a:rPr sz="2250" b="0" i="0">
                <a:solidFill>
                  <a:srgbClr val="3D3D3D"/>
                </a:solidFill>
                <a:latin typeface="Cambria Math"/>
                <a:ea typeface="Cambria Math"/>
                <a:cs typeface="Cambria Math"/>
              </a:rPr>
              <a:t>modelo de cuarto de onda</a:t>
            </a:r>
          </a:p>
        </p:txBody>
      </p:sp>
      <p:sp>
        <p:nvSpPr>
          <p:cNvPr id="14" name="U06-DG-008-callout_1-box">
            <a:extLst>
              <a:ext uri="{FF2B5EF4-FFF2-40B4-BE49-F238E27FC236}">
                <a16:creationId xmlns:a16="http://schemas.microsoft.com/office/drawing/2014/main" id="{367C1B88-FB4D-4D33-9159-4A144D342F3B}"/>
              </a:ext>
            </a:extLst>
          </p:cNvPr>
          <p:cNvSpPr>
            <a:spLocks noGrp="1"/>
          </p:cNvSpPr>
          <p:nvPr/>
        </p:nvSpPr>
        <p:spPr>
          <a:xfrm>
            <a:off x="781050" y="1190625"/>
            <a:ext cx="2476500" cy="1381125"/>
          </a:xfrm>
          <a:prstGeom prst="roundRect">
            <a:avLst>
              <a:gd name="adj" fmla="val 6897"/>
            </a:avLst>
          </a:prstGeom>
          <a:solidFill>
            <a:srgbClr val="E7F1F1"/>
          </a:solidFill>
          <a:ln w="19050">
            <a:solidFill>
              <a:srgbClr val="2F7E83"/>
            </a:solidFill>
            <a:prstDash val="solid"/>
          </a:ln>
        </p:spPr>
      </p:sp>
      <p:sp>
        <p:nvSpPr>
          <p:cNvPr id="15" name="U06-DG-008-callout_1-title">
            <a:extLst>
              <a:ext uri="{FF2B5EF4-FFF2-40B4-BE49-F238E27FC236}">
                <a16:creationId xmlns:a16="http://schemas.microsoft.com/office/drawing/2014/main" id="{913B3E8D-47C9-4637-A7E5-18667E936256}"/>
              </a:ext>
            </a:extLst>
          </p:cNvPr>
          <p:cNvSpPr>
            <a:spLocks noGrp="1"/>
          </p:cNvSpPr>
          <p:nvPr/>
        </p:nvSpPr>
        <p:spPr>
          <a:xfrm>
            <a:off x="971550" y="1333500"/>
            <a:ext cx="2095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Entrada</a:t>
            </a:r>
          </a:p>
        </p:txBody>
      </p:sp>
      <p:sp>
        <p:nvSpPr>
          <p:cNvPr id="16" name="U06-DG-008-callout_1-body">
            <a:extLst>
              <a:ext uri="{FF2B5EF4-FFF2-40B4-BE49-F238E27FC236}">
                <a16:creationId xmlns:a16="http://schemas.microsoft.com/office/drawing/2014/main" id="{9CD93612-175A-46E8-9748-DDE2C3A6E010}"/>
              </a:ext>
            </a:extLst>
          </p:cNvPr>
          <p:cNvSpPr>
            <a:spLocks noGrp="1"/>
          </p:cNvSpPr>
          <p:nvPr/>
        </p:nvSpPr>
        <p:spPr>
          <a:xfrm>
            <a:off x="971550" y="1781175"/>
            <a:ext cx="2095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antinodo de presión</a:t>
            </a:r>
          </a:p>
        </p:txBody>
      </p:sp>
      <p:sp>
        <p:nvSpPr>
          <p:cNvPr id="17" name="U06-DG-008-callout_2-box">
            <a:extLst>
              <a:ext uri="{FF2B5EF4-FFF2-40B4-BE49-F238E27FC236}">
                <a16:creationId xmlns:a16="http://schemas.microsoft.com/office/drawing/2014/main" id="{CB0B14AE-523C-4CF1-846E-B26E0DA6BF13}"/>
              </a:ext>
            </a:extLst>
          </p:cNvPr>
          <p:cNvSpPr>
            <a:spLocks noGrp="1"/>
          </p:cNvSpPr>
          <p:nvPr/>
        </p:nvSpPr>
        <p:spPr>
          <a:xfrm>
            <a:off x="8934450" y="1190625"/>
            <a:ext cx="2571750" cy="1381125"/>
          </a:xfrm>
          <a:prstGeom prst="roundRect">
            <a:avLst>
              <a:gd name="adj" fmla="val 6897"/>
            </a:avLst>
          </a:prstGeom>
          <a:solidFill>
            <a:srgbClr val="F8EDE2"/>
          </a:solidFill>
          <a:ln w="19050">
            <a:solidFill>
              <a:srgbClr val="9F541A"/>
            </a:solidFill>
            <a:prstDash val="solid"/>
          </a:ln>
        </p:spPr>
      </p:sp>
      <p:sp>
        <p:nvSpPr>
          <p:cNvPr id="18" name="U06-DG-008-callout_2-title">
            <a:extLst>
              <a:ext uri="{FF2B5EF4-FFF2-40B4-BE49-F238E27FC236}">
                <a16:creationId xmlns:a16="http://schemas.microsoft.com/office/drawing/2014/main" id="{DB0F6946-4E83-447F-9A35-9C4B82D09EAA}"/>
              </a:ext>
            </a:extLst>
          </p:cNvPr>
          <p:cNvSpPr>
            <a:spLocks noGrp="1"/>
          </p:cNvSpPr>
          <p:nvPr/>
        </p:nvSpPr>
        <p:spPr>
          <a:xfrm>
            <a:off x="9124950" y="133350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Fondo ideal</a:t>
            </a:r>
          </a:p>
        </p:txBody>
      </p:sp>
      <p:sp>
        <p:nvSpPr>
          <p:cNvPr id="19" name="U06-DG-008-callout_2-body">
            <a:extLst>
              <a:ext uri="{FF2B5EF4-FFF2-40B4-BE49-F238E27FC236}">
                <a16:creationId xmlns:a16="http://schemas.microsoft.com/office/drawing/2014/main" id="{40C26585-2FF5-4B01-8D41-ADCBBC30D8F6}"/>
              </a:ext>
            </a:extLst>
          </p:cNvPr>
          <p:cNvSpPr>
            <a:spLocks noGrp="1"/>
          </p:cNvSpPr>
          <p:nvPr/>
        </p:nvSpPr>
        <p:spPr>
          <a:xfrm>
            <a:off x="9124950" y="1781175"/>
            <a:ext cx="219075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nodo de velocidad</a:t>
            </a:r>
          </a:p>
        </p:txBody>
      </p:sp>
      <p:sp>
        <p:nvSpPr>
          <p:cNvPr id="20" name="U06-DG-008-callout_3-box">
            <a:extLst>
              <a:ext uri="{FF2B5EF4-FFF2-40B4-BE49-F238E27FC236}">
                <a16:creationId xmlns:a16="http://schemas.microsoft.com/office/drawing/2014/main" id="{B5D92B37-AC10-4615-9436-14C9544259EC}"/>
              </a:ext>
            </a:extLst>
          </p:cNvPr>
          <p:cNvSpPr>
            <a:spLocks noGrp="1"/>
          </p:cNvSpPr>
          <p:nvPr/>
        </p:nvSpPr>
        <p:spPr>
          <a:xfrm>
            <a:off x="781050" y="4238625"/>
            <a:ext cx="2762250" cy="1381125"/>
          </a:xfrm>
          <a:prstGeom prst="roundRect">
            <a:avLst>
              <a:gd name="adj" fmla="val 6897"/>
            </a:avLst>
          </a:prstGeom>
          <a:solidFill>
            <a:srgbClr val="F7F6F2"/>
          </a:solidFill>
          <a:ln w="19050">
            <a:solidFill>
              <a:srgbClr val="969FA7"/>
            </a:solidFill>
            <a:prstDash val="solid"/>
          </a:ln>
        </p:spPr>
      </p:sp>
      <p:sp>
        <p:nvSpPr>
          <p:cNvPr id="21" name="U06-DG-008-callout_3-title">
            <a:extLst>
              <a:ext uri="{FF2B5EF4-FFF2-40B4-BE49-F238E27FC236}">
                <a16:creationId xmlns:a16="http://schemas.microsoft.com/office/drawing/2014/main" id="{20472C1E-79F8-4C98-BFDE-615995D3C340}"/>
              </a:ext>
            </a:extLst>
          </p:cNvPr>
          <p:cNvSpPr>
            <a:spLocks noGrp="1"/>
          </p:cNvSpPr>
          <p:nvPr/>
        </p:nvSpPr>
        <p:spPr>
          <a:xfrm>
            <a:off x="971550" y="4381500"/>
            <a:ext cx="23812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ℓ</a:t>
            </a:r>
          </a:p>
        </p:txBody>
      </p:sp>
      <p:sp>
        <p:nvSpPr>
          <p:cNvPr id="22" name="U06-DG-008-callout_3-body">
            <a:extLst>
              <a:ext uri="{FF2B5EF4-FFF2-40B4-BE49-F238E27FC236}">
                <a16:creationId xmlns:a16="http://schemas.microsoft.com/office/drawing/2014/main" id="{3D13C177-6C22-4431-B0AD-5968AB08D941}"/>
              </a:ext>
            </a:extLst>
          </p:cNvPr>
          <p:cNvSpPr>
            <a:spLocks noGrp="1"/>
          </p:cNvSpPr>
          <p:nvPr/>
        </p:nvSpPr>
        <p:spPr>
          <a:xfrm>
            <a:off x="971550" y="4829175"/>
            <a:ext cx="238125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longitud del conducto</a:t>
            </a:r>
          </a:p>
        </p:txBody>
      </p:sp>
      <p:sp>
        <p:nvSpPr>
          <p:cNvPr id="23" name="caption">
            <a:extLst>
              <a:ext uri="{FF2B5EF4-FFF2-40B4-BE49-F238E27FC236}">
                <a16:creationId xmlns:a16="http://schemas.microsoft.com/office/drawing/2014/main" id="{3082A980-B57C-46F7-9E2E-A5B17B6CA3A9}"/>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 tubo abierto–aproximadamente cerrado es útil si se declara qué omite.</a:t>
            </a:r>
          </a:p>
        </p:txBody>
      </p:sp>
      <p:sp>
        <p:nvSpPr>
          <p:cNvPr id="24" name="credit">
            <a:extLst>
              <a:ext uri="{FF2B5EF4-FFF2-40B4-BE49-F238E27FC236}">
                <a16:creationId xmlns:a16="http://schemas.microsoft.com/office/drawing/2014/main" id="{9F1261C4-EEDD-4AB8-AB0C-CC138CF4CADC}"/>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986630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6CF52D6E-CCAC-411F-AA24-E219C03D626E}"/>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resonancia del modelo depende de c y ℓ</a:t>
            </a:r>
          </a:p>
        </p:txBody>
      </p:sp>
      <p:sp>
        <p:nvSpPr>
          <p:cNvPr id="2" name="slide-subtitle">
            <a:extLst>
              <a:ext uri="{FF2B5EF4-FFF2-40B4-BE49-F238E27FC236}">
                <a16:creationId xmlns:a16="http://schemas.microsoft.com/office/drawing/2014/main" id="{07986151-FF7F-4BF6-AAD2-85EEF2D94415}"/>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Mayor longitud efectiva implica menor primera frecuencia de resonancia.</a:t>
            </a:r>
          </a:p>
        </p:txBody>
      </p:sp>
      <p:sp>
        <p:nvSpPr>
          <p:cNvPr id="3" name="eyebrow">
            <a:extLst>
              <a:ext uri="{FF2B5EF4-FFF2-40B4-BE49-F238E27FC236}">
                <a16:creationId xmlns:a16="http://schemas.microsoft.com/office/drawing/2014/main" id="{713E75A9-0C3B-41EB-8C3C-0F2151F01E4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015</a:t>
            </a:r>
          </a:p>
        </p:txBody>
      </p:sp>
      <p:sp>
        <p:nvSpPr>
          <p:cNvPr id="4" name="U06-DG-009-equation-anchor">
            <a:extLst>
              <a:ext uri="{FF2B5EF4-FFF2-40B4-BE49-F238E27FC236}">
                <a16:creationId xmlns:a16="http://schemas.microsoft.com/office/drawing/2014/main" id="{2F67CC47-62CA-428E-8D1A-55EB49E0AC73}"/>
              </a:ext>
            </a:extLst>
          </p:cNvPr>
          <p:cNvSpPr>
            <a:spLocks noGrp="1"/>
          </p:cNvSpPr>
          <p:nvPr/>
        </p:nvSpPr>
        <p:spPr>
          <a:xfrm>
            <a:off x="3143250" y="2714625"/>
            <a:ext cx="5905500" cy="1190625"/>
          </a:xfrm>
          <a:prstGeom prst="roundRect">
            <a:avLst>
              <a:gd name="adj" fmla="val 8000"/>
            </a:avLst>
          </a:prstGeom>
          <a:noFill/>
          <a:ln w="0">
            <a:noFill/>
            <a:prstDash val="solid"/>
          </a:ln>
        </p:spPr>
      </p:sp>
      <p:sp>
        <p:nvSpPr>
          <p:cNvPr id="5" name="U06-DG-009-callout_1-anchor">
            <a:extLst>
              <a:ext uri="{FF2B5EF4-FFF2-40B4-BE49-F238E27FC236}">
                <a16:creationId xmlns:a16="http://schemas.microsoft.com/office/drawing/2014/main" id="{8BC40927-2E7C-4EB4-9EDA-0732EED363AB}"/>
              </a:ext>
            </a:extLst>
          </p:cNvPr>
          <p:cNvSpPr>
            <a:spLocks noGrp="1"/>
          </p:cNvSpPr>
          <p:nvPr/>
        </p:nvSpPr>
        <p:spPr>
          <a:xfrm>
            <a:off x="781050" y="1190625"/>
            <a:ext cx="2476500" cy="1381125"/>
          </a:xfrm>
          <a:prstGeom prst="roundRect">
            <a:avLst>
              <a:gd name="adj" fmla="val 6897"/>
            </a:avLst>
          </a:prstGeom>
          <a:noFill/>
          <a:ln w="0">
            <a:noFill/>
            <a:prstDash val="solid"/>
          </a:ln>
        </p:spPr>
      </p:sp>
      <p:sp>
        <p:nvSpPr>
          <p:cNvPr id="6" name="U06-DG-009-callout_2-anchor">
            <a:extLst>
              <a:ext uri="{FF2B5EF4-FFF2-40B4-BE49-F238E27FC236}">
                <a16:creationId xmlns:a16="http://schemas.microsoft.com/office/drawing/2014/main" id="{04899B5A-0EFD-405E-9566-BAD91E00C2B4}"/>
              </a:ext>
            </a:extLst>
          </p:cNvPr>
          <p:cNvSpPr>
            <a:spLocks noGrp="1"/>
          </p:cNvSpPr>
          <p:nvPr/>
        </p:nvSpPr>
        <p:spPr>
          <a:xfrm>
            <a:off x="8934450" y="1190625"/>
            <a:ext cx="2571750" cy="1381125"/>
          </a:xfrm>
          <a:prstGeom prst="roundRect">
            <a:avLst>
              <a:gd name="adj" fmla="val 6897"/>
            </a:avLst>
          </a:prstGeom>
          <a:noFill/>
          <a:ln w="0">
            <a:noFill/>
            <a:prstDash val="solid"/>
          </a:ln>
        </p:spPr>
      </p:sp>
      <p:sp>
        <p:nvSpPr>
          <p:cNvPr id="7" name="U06-DG-009-callout_3-anchor">
            <a:extLst>
              <a:ext uri="{FF2B5EF4-FFF2-40B4-BE49-F238E27FC236}">
                <a16:creationId xmlns:a16="http://schemas.microsoft.com/office/drawing/2014/main" id="{00D60D30-7A54-4883-9BAF-3AB7667B244C}"/>
              </a:ext>
            </a:extLst>
          </p:cNvPr>
          <p:cNvSpPr>
            <a:spLocks noGrp="1"/>
          </p:cNvSpPr>
          <p:nvPr/>
        </p:nvSpPr>
        <p:spPr>
          <a:xfrm>
            <a:off x="781050" y="4238625"/>
            <a:ext cx="2762250" cy="1381125"/>
          </a:xfrm>
          <a:prstGeom prst="roundRect">
            <a:avLst>
              <a:gd name="adj" fmla="val 6897"/>
            </a:avLst>
          </a:prstGeom>
          <a:noFill/>
          <a:ln w="0">
            <a:noFill/>
            <a:prstDash val="solid"/>
          </a:ln>
        </p:spPr>
      </p:sp>
      <p:sp>
        <p:nvSpPr>
          <p:cNvPr id="8" name="U06-DG-009-callout_4-anchor">
            <a:extLst>
              <a:ext uri="{FF2B5EF4-FFF2-40B4-BE49-F238E27FC236}">
                <a16:creationId xmlns:a16="http://schemas.microsoft.com/office/drawing/2014/main" id="{80251E17-6ABA-4A30-A679-A634559F4F4F}"/>
              </a:ext>
            </a:extLst>
          </p:cNvPr>
          <p:cNvSpPr>
            <a:spLocks noGrp="1"/>
          </p:cNvSpPr>
          <p:nvPr/>
        </p:nvSpPr>
        <p:spPr>
          <a:xfrm>
            <a:off x="8648700" y="4238625"/>
            <a:ext cx="2857500" cy="1381125"/>
          </a:xfrm>
          <a:prstGeom prst="roundRect">
            <a:avLst>
              <a:gd name="adj" fmla="val 6897"/>
            </a:avLst>
          </a:prstGeom>
          <a:noFill/>
          <a:ln w="0">
            <a:noFill/>
            <a:prstDash val="solid"/>
          </a:ln>
        </p:spPr>
      </p:sp>
      <p:cxnSp>
        <p:nvCxnSpPr>
          <p:cNvPr id="38" name="U06-DG-009-leader_1"/>
          <p:cNvCxnSpPr>
            <a:stCxn id="5" idx="3"/>
            <a:endCxn id="4" idx="1"/>
          </p:cNvCxnSpPr>
          <p:nvPr/>
        </p:nvCxnSpPr>
        <p:spPr>
          <a:xfrm flipH="1">
            <a:off x="3143250" y="1881188"/>
            <a:ext cx="114300" cy="1428750"/>
          </a:xfrm>
          <a:prstGeom prst="straightConnector1">
            <a:avLst/>
          </a:prstGeom>
          <a:ln w="28575">
            <a:solidFill>
              <a:srgbClr val="3D3D3D"/>
            </a:solidFill>
            <a:prstDash val="solid"/>
            <a:tailEnd type="arrow" w="med" len="med"/>
          </a:ln>
        </p:spPr>
      </p:cxnSp>
      <p:cxnSp>
        <p:nvCxnSpPr>
          <p:cNvPr id="39" name="U06-DG-009-leader_2"/>
          <p:cNvCxnSpPr>
            <a:stCxn id="6" idx="1"/>
            <a:endCxn id="4" idx="3"/>
          </p:cNvCxnSpPr>
          <p:nvPr/>
        </p:nvCxnSpPr>
        <p:spPr>
          <a:xfrm>
            <a:off x="8934450" y="1881188"/>
            <a:ext cx="114300" cy="1428750"/>
          </a:xfrm>
          <a:prstGeom prst="straightConnector1">
            <a:avLst/>
          </a:prstGeom>
          <a:ln w="28575">
            <a:solidFill>
              <a:srgbClr val="3D3D3D"/>
            </a:solidFill>
            <a:prstDash val="solid"/>
            <a:tailEnd type="arrow" w="med" len="med"/>
          </a:ln>
        </p:spPr>
      </p:cxnSp>
      <p:cxnSp>
        <p:nvCxnSpPr>
          <p:cNvPr id="40" name="U06-DG-009-leader_3"/>
          <p:cNvCxnSpPr>
            <a:stCxn id="7" idx="3"/>
            <a:endCxn id="4" idx="1"/>
          </p:cNvCxnSpPr>
          <p:nvPr/>
        </p:nvCxnSpPr>
        <p:spPr>
          <a:xfrm flipH="1" flipV="1">
            <a:off x="3143250" y="3309938"/>
            <a:ext cx="400050" cy="1619250"/>
          </a:xfrm>
          <a:prstGeom prst="straightConnector1">
            <a:avLst/>
          </a:prstGeom>
          <a:ln w="28575">
            <a:solidFill>
              <a:srgbClr val="3D3D3D"/>
            </a:solidFill>
            <a:prstDash val="solid"/>
            <a:tailEnd type="arrow" w="med" len="med"/>
          </a:ln>
        </p:spPr>
      </p:cxnSp>
      <p:cxnSp>
        <p:nvCxnSpPr>
          <p:cNvPr id="41" name="U06-DG-009-leader_4"/>
          <p:cNvCxnSpPr>
            <a:stCxn id="8" idx="1"/>
            <a:endCxn id="4" idx="3"/>
          </p:cNvCxnSpPr>
          <p:nvPr/>
        </p:nvCxnSpPr>
        <p:spPr>
          <a:xfrm flipV="1">
            <a:off x="8648700" y="3309938"/>
            <a:ext cx="400050" cy="1619250"/>
          </a:xfrm>
          <a:prstGeom prst="straightConnector1">
            <a:avLst/>
          </a:prstGeom>
          <a:ln w="28575">
            <a:solidFill>
              <a:srgbClr val="3D3D3D"/>
            </a:solidFill>
            <a:prstDash val="solid"/>
            <a:tailEnd type="arrow" w="med" len="med"/>
          </a:ln>
        </p:spPr>
      </p:cxnSp>
      <p:sp>
        <p:nvSpPr>
          <p:cNvPr id="13" name="U06-DG-009-equation-box" descr="Diagrama sobre «La resonancia del modelo depende de `c` y `ℓ`»; organiza `f_res≈c/(4ℓ)` con definiciones y control dimensional." title="Texto alternativo U06-015">
            <a:extLst>
              <a:ext uri="{FF2B5EF4-FFF2-40B4-BE49-F238E27FC236}">
                <a16:creationId xmlns:a16="http://schemas.microsoft.com/office/drawing/2014/main" id="{CF51D68C-FA31-47A5-ACD8-46F2CEB8D5B9}"/>
              </a:ext>
            </a:extLst>
          </p:cNvPr>
          <p:cNvSpPr>
            <a:spLocks noGrp="1"/>
          </p:cNvSpPr>
          <p:nvPr/>
        </p:nvSpPr>
        <p:spPr>
          <a:xfrm>
            <a:off x="3143250" y="2714625"/>
            <a:ext cx="5905500" cy="1190625"/>
          </a:xfrm>
          <a:prstGeom prst="roundRect">
            <a:avLst>
              <a:gd name="adj" fmla="val 8000"/>
            </a:avLst>
          </a:prstGeom>
          <a:solidFill>
            <a:srgbClr val="F7F6F2"/>
          </a:solidFill>
          <a:ln w="19050">
            <a:solidFill>
              <a:srgbClr val="903163"/>
            </a:solidFill>
            <a:prstDash val="solid"/>
          </a:ln>
        </p:spPr>
      </p:sp>
      <p:sp>
        <p:nvSpPr>
          <p:cNvPr id="14" name="U06-DG-009-equation-title">
            <a:extLst>
              <a:ext uri="{FF2B5EF4-FFF2-40B4-BE49-F238E27FC236}">
                <a16:creationId xmlns:a16="http://schemas.microsoft.com/office/drawing/2014/main" id="{4B6CA17F-8FC3-418F-BA68-ACCE64697732}"/>
              </a:ext>
            </a:extLst>
          </p:cNvPr>
          <p:cNvSpPr>
            <a:spLocks noGrp="1"/>
          </p:cNvSpPr>
          <p:nvPr/>
        </p:nvSpPr>
        <p:spPr>
          <a:xfrm>
            <a:off x="3333750" y="2857500"/>
            <a:ext cx="5524500" cy="400050"/>
          </a:xfrm>
          <a:prstGeom prst="rect">
            <a:avLst/>
          </a:prstGeom>
          <a:noFill/>
          <a:ln w="0">
            <a:noFill/>
            <a:prstDash val="solid"/>
          </a:ln>
        </p:spPr>
        <p:txBody>
          <a:bodyPr wrap="square" lIns="0" tIns="0" rIns="0" bIns="0" anchor="t">
            <a:noAutofit/>
          </a:bodyPr>
          <a:lstStyle/>
          <a:p>
            <a:pPr algn="ctr">
              <a:lnSpc>
                <a:spcPct val="102000"/>
              </a:lnSpc>
              <a:buNone/>
              <a:defRPr sz="3450" b="1" i="0">
                <a:solidFill>
                  <a:srgbClr val="4D1434"/>
                </a:solidFill>
                <a:latin typeface="Cambria Math"/>
                <a:ea typeface="Cambria Math"/>
                <a:cs typeface="Cambria Math"/>
              </a:defRPr>
            </a:pPr>
            <a:r>
              <a:rPr sz="3450" b="1" i="0">
                <a:solidFill>
                  <a:srgbClr val="4D1434"/>
                </a:solidFill>
                <a:latin typeface="Cambria Math"/>
                <a:ea typeface="Cambria Math"/>
                <a:cs typeface="Cambria Math"/>
              </a:rPr>
              <a:t>f_res ≈ c / 4ℓ</a:t>
            </a:r>
          </a:p>
        </p:txBody>
      </p:sp>
      <p:sp>
        <p:nvSpPr>
          <p:cNvPr id="15" name="U06-DG-009-equation-body">
            <a:extLst>
              <a:ext uri="{FF2B5EF4-FFF2-40B4-BE49-F238E27FC236}">
                <a16:creationId xmlns:a16="http://schemas.microsoft.com/office/drawing/2014/main" id="{13EEC13C-4B0A-4402-8052-186C55F9C359}"/>
              </a:ext>
            </a:extLst>
          </p:cNvPr>
          <p:cNvSpPr>
            <a:spLocks noGrp="1"/>
          </p:cNvSpPr>
          <p:nvPr/>
        </p:nvSpPr>
        <p:spPr>
          <a:xfrm>
            <a:off x="3333750" y="3305175"/>
            <a:ext cx="5524500" cy="5048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mbria Math"/>
                <a:ea typeface="Cambria Math"/>
                <a:cs typeface="Cambria Math"/>
              </a:defRPr>
            </a:pPr>
            <a:r>
              <a:rPr sz="2250" b="0" i="0">
                <a:solidFill>
                  <a:srgbClr val="3D3D3D"/>
                </a:solidFill>
                <a:latin typeface="Cambria Math"/>
                <a:ea typeface="Cambria Math"/>
                <a:cs typeface="Cambria Math"/>
              </a:rPr>
              <a:t>modelo ideal</a:t>
            </a:r>
          </a:p>
        </p:txBody>
      </p:sp>
      <p:sp>
        <p:nvSpPr>
          <p:cNvPr id="16" name="U06-DG-009-callout_1-box">
            <a:extLst>
              <a:ext uri="{FF2B5EF4-FFF2-40B4-BE49-F238E27FC236}">
                <a16:creationId xmlns:a16="http://schemas.microsoft.com/office/drawing/2014/main" id="{4028D5E4-BA0B-44AD-96FA-62FEC5A20F14}"/>
              </a:ext>
            </a:extLst>
          </p:cNvPr>
          <p:cNvSpPr>
            <a:spLocks noGrp="1"/>
          </p:cNvSpPr>
          <p:nvPr/>
        </p:nvSpPr>
        <p:spPr>
          <a:xfrm>
            <a:off x="781050" y="1190625"/>
            <a:ext cx="2476500" cy="1381125"/>
          </a:xfrm>
          <a:prstGeom prst="roundRect">
            <a:avLst>
              <a:gd name="adj" fmla="val 6897"/>
            </a:avLst>
          </a:prstGeom>
          <a:solidFill>
            <a:srgbClr val="F4E9EF"/>
          </a:solidFill>
          <a:ln w="19050">
            <a:solidFill>
              <a:srgbClr val="4D1434"/>
            </a:solidFill>
            <a:prstDash val="solid"/>
          </a:ln>
        </p:spPr>
      </p:sp>
      <p:sp>
        <p:nvSpPr>
          <p:cNvPr id="17" name="U06-DG-009-callout_1-title">
            <a:extLst>
              <a:ext uri="{FF2B5EF4-FFF2-40B4-BE49-F238E27FC236}">
                <a16:creationId xmlns:a16="http://schemas.microsoft.com/office/drawing/2014/main" id="{83E44C89-9BE9-4F71-9C18-0D61C63A6564}"/>
              </a:ext>
            </a:extLst>
          </p:cNvPr>
          <p:cNvSpPr>
            <a:spLocks noGrp="1"/>
          </p:cNvSpPr>
          <p:nvPr/>
        </p:nvSpPr>
        <p:spPr>
          <a:xfrm>
            <a:off x="971550" y="1333500"/>
            <a:ext cx="2095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f_res</a:t>
            </a:r>
          </a:p>
        </p:txBody>
      </p:sp>
      <p:sp>
        <p:nvSpPr>
          <p:cNvPr id="18" name="U06-DG-009-callout_1-body">
            <a:extLst>
              <a:ext uri="{FF2B5EF4-FFF2-40B4-BE49-F238E27FC236}">
                <a16:creationId xmlns:a16="http://schemas.microsoft.com/office/drawing/2014/main" id="{63851410-ECA3-459E-A858-D70313C261DA}"/>
              </a:ext>
            </a:extLst>
          </p:cNvPr>
          <p:cNvSpPr>
            <a:spLocks noGrp="1"/>
          </p:cNvSpPr>
          <p:nvPr/>
        </p:nvSpPr>
        <p:spPr>
          <a:xfrm>
            <a:off x="971550" y="1781175"/>
            <a:ext cx="2095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frecuencia · Hz</a:t>
            </a:r>
          </a:p>
        </p:txBody>
      </p:sp>
      <p:sp>
        <p:nvSpPr>
          <p:cNvPr id="19" name="U06-DG-009-callout_2-box">
            <a:extLst>
              <a:ext uri="{FF2B5EF4-FFF2-40B4-BE49-F238E27FC236}">
                <a16:creationId xmlns:a16="http://schemas.microsoft.com/office/drawing/2014/main" id="{C24FAC05-8895-4EC8-8ED2-B53F00E3A599}"/>
              </a:ext>
            </a:extLst>
          </p:cNvPr>
          <p:cNvSpPr>
            <a:spLocks noGrp="1"/>
          </p:cNvSpPr>
          <p:nvPr/>
        </p:nvSpPr>
        <p:spPr>
          <a:xfrm>
            <a:off x="8934450" y="1190625"/>
            <a:ext cx="2571750" cy="1381125"/>
          </a:xfrm>
          <a:prstGeom prst="roundRect">
            <a:avLst>
              <a:gd name="adj" fmla="val 6897"/>
            </a:avLst>
          </a:prstGeom>
          <a:solidFill>
            <a:srgbClr val="E7F1F1"/>
          </a:solidFill>
          <a:ln w="19050">
            <a:solidFill>
              <a:srgbClr val="2F7E83"/>
            </a:solidFill>
            <a:prstDash val="solid"/>
          </a:ln>
        </p:spPr>
      </p:sp>
      <p:sp>
        <p:nvSpPr>
          <p:cNvPr id="20" name="U06-DG-009-callout_2-title">
            <a:extLst>
              <a:ext uri="{FF2B5EF4-FFF2-40B4-BE49-F238E27FC236}">
                <a16:creationId xmlns:a16="http://schemas.microsoft.com/office/drawing/2014/main" id="{1D61034A-54D2-4A5B-BD14-55DC34F7AC32}"/>
              </a:ext>
            </a:extLst>
          </p:cNvPr>
          <p:cNvSpPr>
            <a:spLocks noGrp="1"/>
          </p:cNvSpPr>
          <p:nvPr/>
        </p:nvSpPr>
        <p:spPr>
          <a:xfrm>
            <a:off x="9124950" y="133350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t>
            </a:r>
          </a:p>
        </p:txBody>
      </p:sp>
      <p:sp>
        <p:nvSpPr>
          <p:cNvPr id="21" name="U06-DG-009-callout_2-body">
            <a:extLst>
              <a:ext uri="{FF2B5EF4-FFF2-40B4-BE49-F238E27FC236}">
                <a16:creationId xmlns:a16="http://schemas.microsoft.com/office/drawing/2014/main" id="{9F84ECC6-4992-45EE-97F7-789C04CE3BBB}"/>
              </a:ext>
            </a:extLst>
          </p:cNvPr>
          <p:cNvSpPr>
            <a:spLocks noGrp="1"/>
          </p:cNvSpPr>
          <p:nvPr/>
        </p:nvSpPr>
        <p:spPr>
          <a:xfrm>
            <a:off x="9124950" y="1781175"/>
            <a:ext cx="219075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rapidez · m/s</a:t>
            </a:r>
          </a:p>
        </p:txBody>
      </p:sp>
      <p:sp>
        <p:nvSpPr>
          <p:cNvPr id="22" name="U06-DG-009-callout_3-box">
            <a:extLst>
              <a:ext uri="{FF2B5EF4-FFF2-40B4-BE49-F238E27FC236}">
                <a16:creationId xmlns:a16="http://schemas.microsoft.com/office/drawing/2014/main" id="{3F5E1DFC-BBD9-40DF-8735-E45032CC6705}"/>
              </a:ext>
            </a:extLst>
          </p:cNvPr>
          <p:cNvSpPr>
            <a:spLocks noGrp="1"/>
          </p:cNvSpPr>
          <p:nvPr/>
        </p:nvSpPr>
        <p:spPr>
          <a:xfrm>
            <a:off x="781050" y="4238625"/>
            <a:ext cx="2762250" cy="1381125"/>
          </a:xfrm>
          <a:prstGeom prst="roundRect">
            <a:avLst>
              <a:gd name="adj" fmla="val 6897"/>
            </a:avLst>
          </a:prstGeom>
          <a:solidFill>
            <a:srgbClr val="F7F6F2"/>
          </a:solidFill>
          <a:ln w="19050">
            <a:solidFill>
              <a:srgbClr val="969FA7"/>
            </a:solidFill>
            <a:prstDash val="solid"/>
          </a:ln>
        </p:spPr>
      </p:sp>
      <p:sp>
        <p:nvSpPr>
          <p:cNvPr id="23" name="U06-DG-009-callout_3-title">
            <a:extLst>
              <a:ext uri="{FF2B5EF4-FFF2-40B4-BE49-F238E27FC236}">
                <a16:creationId xmlns:a16="http://schemas.microsoft.com/office/drawing/2014/main" id="{816920CF-0611-4057-8F6E-108E7344AFF3}"/>
              </a:ext>
            </a:extLst>
          </p:cNvPr>
          <p:cNvSpPr>
            <a:spLocks noGrp="1"/>
          </p:cNvSpPr>
          <p:nvPr/>
        </p:nvSpPr>
        <p:spPr>
          <a:xfrm>
            <a:off x="971550" y="4381500"/>
            <a:ext cx="23812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ℓ</a:t>
            </a:r>
          </a:p>
        </p:txBody>
      </p:sp>
      <p:sp>
        <p:nvSpPr>
          <p:cNvPr id="24" name="U06-DG-009-callout_3-body">
            <a:extLst>
              <a:ext uri="{FF2B5EF4-FFF2-40B4-BE49-F238E27FC236}">
                <a16:creationId xmlns:a16="http://schemas.microsoft.com/office/drawing/2014/main" id="{6D173657-77B5-45F2-9D72-90B6A146F592}"/>
              </a:ext>
            </a:extLst>
          </p:cNvPr>
          <p:cNvSpPr>
            <a:spLocks noGrp="1"/>
          </p:cNvSpPr>
          <p:nvPr/>
        </p:nvSpPr>
        <p:spPr>
          <a:xfrm>
            <a:off x="971550" y="4829175"/>
            <a:ext cx="238125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longitud · m</a:t>
            </a:r>
          </a:p>
        </p:txBody>
      </p:sp>
      <p:sp>
        <p:nvSpPr>
          <p:cNvPr id="25" name="U06-DG-009-callout_4-box">
            <a:extLst>
              <a:ext uri="{FF2B5EF4-FFF2-40B4-BE49-F238E27FC236}">
                <a16:creationId xmlns:a16="http://schemas.microsoft.com/office/drawing/2014/main" id="{4A252092-78C6-4C57-8475-FE75A6ECE9EC}"/>
              </a:ext>
            </a:extLst>
          </p:cNvPr>
          <p:cNvSpPr>
            <a:spLocks noGrp="1"/>
          </p:cNvSpPr>
          <p:nvPr/>
        </p:nvSpPr>
        <p:spPr>
          <a:xfrm>
            <a:off x="8648700" y="4238625"/>
            <a:ext cx="2857500" cy="1381125"/>
          </a:xfrm>
          <a:prstGeom prst="roundRect">
            <a:avLst>
              <a:gd name="adj" fmla="val 6897"/>
            </a:avLst>
          </a:prstGeom>
          <a:solidFill>
            <a:srgbClr val="F8EDE2"/>
          </a:solidFill>
          <a:ln w="19050">
            <a:solidFill>
              <a:srgbClr val="9F541A"/>
            </a:solidFill>
            <a:prstDash val="solid"/>
          </a:ln>
        </p:spPr>
      </p:sp>
      <p:sp>
        <p:nvSpPr>
          <p:cNvPr id="26" name="U06-DG-009-callout_4-title">
            <a:extLst>
              <a:ext uri="{FF2B5EF4-FFF2-40B4-BE49-F238E27FC236}">
                <a16:creationId xmlns:a16="http://schemas.microsoft.com/office/drawing/2014/main" id="{13E57B07-8C39-4875-836C-29A58AB33471}"/>
              </a:ext>
            </a:extLst>
          </p:cNvPr>
          <p:cNvSpPr>
            <a:spLocks noGrp="1"/>
          </p:cNvSpPr>
          <p:nvPr/>
        </p:nvSpPr>
        <p:spPr>
          <a:xfrm>
            <a:off x="8839200" y="4381500"/>
            <a:ext cx="2476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a:t>
            </a:r>
          </a:p>
        </p:txBody>
      </p:sp>
      <p:sp>
        <p:nvSpPr>
          <p:cNvPr id="27" name="U06-DG-009-callout_4-body">
            <a:extLst>
              <a:ext uri="{FF2B5EF4-FFF2-40B4-BE49-F238E27FC236}">
                <a16:creationId xmlns:a16="http://schemas.microsoft.com/office/drawing/2014/main" id="{DA731898-A1A3-496D-878D-C2FF6CFA50A8}"/>
              </a:ext>
            </a:extLst>
          </p:cNvPr>
          <p:cNvSpPr>
            <a:spLocks noGrp="1"/>
          </p:cNvSpPr>
          <p:nvPr/>
        </p:nvSpPr>
        <p:spPr>
          <a:xfrm>
            <a:off x="8839200" y="4829175"/>
            <a:ext cx="2476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aproximación</a:t>
            </a:r>
          </a:p>
        </p:txBody>
      </p:sp>
      <p:sp>
        <p:nvSpPr>
          <p:cNvPr id="28" name="caption">
            <a:extLst>
              <a:ext uri="{FF2B5EF4-FFF2-40B4-BE49-F238E27FC236}">
                <a16:creationId xmlns:a16="http://schemas.microsoft.com/office/drawing/2014/main" id="{37B860EA-E1E9-4F52-9173-228C1A6BA61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Mayor longitud efectiva implica menor primera frecuencia de resonancia.</a:t>
            </a:r>
          </a:p>
        </p:txBody>
      </p:sp>
      <p:sp>
        <p:nvSpPr>
          <p:cNvPr id="29" name="credit">
            <a:extLst>
              <a:ext uri="{FF2B5EF4-FFF2-40B4-BE49-F238E27FC236}">
                <a16:creationId xmlns:a16="http://schemas.microsoft.com/office/drawing/2014/main" id="{3B49424C-F322-4F30-AC2F-EBE3BFF1BB26}"/>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02286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A75805D9-F3E4-4349-BC0D-5F7F935E11D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 CAE ideal de 27 mm resuena cerca de 3,18 kHz</a:t>
            </a:r>
          </a:p>
        </p:txBody>
      </p:sp>
      <p:sp>
        <p:nvSpPr>
          <p:cNvPr id="2" name="slide-subtitle">
            <a:extLst>
              <a:ext uri="{FF2B5EF4-FFF2-40B4-BE49-F238E27FC236}">
                <a16:creationId xmlns:a16="http://schemas.microsoft.com/office/drawing/2014/main" id="{19182CE8-09DF-4D88-8CC0-A2BEB391D747}"/>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resultado pertenece al modelo, no a todas las personas.</a:t>
            </a:r>
          </a:p>
        </p:txBody>
      </p:sp>
      <p:sp>
        <p:nvSpPr>
          <p:cNvPr id="3" name="eyebrow">
            <a:extLst>
              <a:ext uri="{FF2B5EF4-FFF2-40B4-BE49-F238E27FC236}">
                <a16:creationId xmlns:a16="http://schemas.microsoft.com/office/drawing/2014/main" id="{CBD5AAA6-57A2-4F7B-8C27-62A2353DF78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016</a:t>
            </a:r>
          </a:p>
        </p:txBody>
      </p:sp>
      <p:sp>
        <p:nvSpPr>
          <p:cNvPr id="4" name="U06-DG-009B-stage_1-anchor">
            <a:extLst>
              <a:ext uri="{FF2B5EF4-FFF2-40B4-BE49-F238E27FC236}">
                <a16:creationId xmlns:a16="http://schemas.microsoft.com/office/drawing/2014/main" id="{BA623818-5F02-4A21-99D3-79C5EF024AE6}"/>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09B-stage_2-anchor">
            <a:extLst>
              <a:ext uri="{FF2B5EF4-FFF2-40B4-BE49-F238E27FC236}">
                <a16:creationId xmlns:a16="http://schemas.microsoft.com/office/drawing/2014/main" id="{396BEBB7-CA30-4014-9006-013982204262}"/>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09B-stage_3-anchor">
            <a:extLst>
              <a:ext uri="{FF2B5EF4-FFF2-40B4-BE49-F238E27FC236}">
                <a16:creationId xmlns:a16="http://schemas.microsoft.com/office/drawing/2014/main" id="{462E441B-0590-4699-A7C3-67734ADEDD15}"/>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09B-stage_4-anchor">
            <a:extLst>
              <a:ext uri="{FF2B5EF4-FFF2-40B4-BE49-F238E27FC236}">
                <a16:creationId xmlns:a16="http://schemas.microsoft.com/office/drawing/2014/main" id="{FF05FB33-B4E4-4430-93F7-941F376A034A}"/>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09B-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09B-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09B-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09B-stage_1-box" descr="Diagrama sobre «Un CAE ideal de `27 mm` resuena cerca de `3,18 kHz`»; organiza datos → conversión → sustitución → unidad → limitaciones." title="Texto alternativo U06-016">
            <a:extLst>
              <a:ext uri="{FF2B5EF4-FFF2-40B4-BE49-F238E27FC236}">
                <a16:creationId xmlns:a16="http://schemas.microsoft.com/office/drawing/2014/main" id="{C212FB95-CCFC-4214-9048-8F37D58B6CDB}"/>
              </a:ext>
            </a:extLst>
          </p:cNvPr>
          <p:cNvSpPr>
            <a:spLocks noGrp="1"/>
          </p:cNvSpPr>
          <p:nvPr/>
        </p:nvSpPr>
        <p:spPr>
          <a:xfrm>
            <a:off x="781050" y="2428875"/>
            <a:ext cx="2428875" cy="1666875"/>
          </a:xfrm>
          <a:prstGeom prst="roundRect">
            <a:avLst>
              <a:gd name="adj" fmla="val 5714"/>
            </a:avLst>
          </a:prstGeom>
          <a:solidFill>
            <a:srgbClr val="F7F6F2"/>
          </a:solidFill>
          <a:ln w="19050">
            <a:solidFill>
              <a:srgbClr val="969FA7"/>
            </a:solidFill>
            <a:prstDash val="solid"/>
          </a:ln>
        </p:spPr>
      </p:sp>
      <p:sp>
        <p:nvSpPr>
          <p:cNvPr id="12" name="U06-DG-009B-stage_1-title">
            <a:extLst>
              <a:ext uri="{FF2B5EF4-FFF2-40B4-BE49-F238E27FC236}">
                <a16:creationId xmlns:a16="http://schemas.microsoft.com/office/drawing/2014/main" id="{8B00EF1A-0B8F-483C-B960-8E8210D54446}"/>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1 · Longitud</a:t>
            </a:r>
          </a:p>
        </p:txBody>
      </p:sp>
      <p:sp>
        <p:nvSpPr>
          <p:cNvPr id="13" name="U06-DG-009B-stage_1-body">
            <a:extLst>
              <a:ext uri="{FF2B5EF4-FFF2-40B4-BE49-F238E27FC236}">
                <a16:creationId xmlns:a16="http://schemas.microsoft.com/office/drawing/2014/main" id="{4CFE2DC2-7E8C-4C4A-A935-004A9C7F65BD}"/>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ℓ = 27 mm</a:t>
            </a:r>
          </a:p>
        </p:txBody>
      </p:sp>
      <p:sp>
        <p:nvSpPr>
          <p:cNvPr id="14" name="U06-DG-009B-stage_2-box">
            <a:extLst>
              <a:ext uri="{FF2B5EF4-FFF2-40B4-BE49-F238E27FC236}">
                <a16:creationId xmlns:a16="http://schemas.microsoft.com/office/drawing/2014/main" id="{4BC7EA80-0D5F-4148-8BC6-31D61D64A8F1}"/>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5" name="U06-DG-009B-stage_2-title">
            <a:extLst>
              <a:ext uri="{FF2B5EF4-FFF2-40B4-BE49-F238E27FC236}">
                <a16:creationId xmlns:a16="http://schemas.microsoft.com/office/drawing/2014/main" id="{801E499F-648B-4A4B-877F-488E4F8AB81F}"/>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2 · Convertir</a:t>
            </a:r>
          </a:p>
        </p:txBody>
      </p:sp>
      <p:sp>
        <p:nvSpPr>
          <p:cNvPr id="16" name="U06-DG-009B-stage_2-body">
            <a:extLst>
              <a:ext uri="{FF2B5EF4-FFF2-40B4-BE49-F238E27FC236}">
                <a16:creationId xmlns:a16="http://schemas.microsoft.com/office/drawing/2014/main" id="{58620A85-2161-4C68-967D-C4AC2C20792C}"/>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0,027 m</a:t>
            </a:r>
          </a:p>
        </p:txBody>
      </p:sp>
      <p:sp>
        <p:nvSpPr>
          <p:cNvPr id="17" name="U06-DG-009B-stage_3-box">
            <a:extLst>
              <a:ext uri="{FF2B5EF4-FFF2-40B4-BE49-F238E27FC236}">
                <a16:creationId xmlns:a16="http://schemas.microsoft.com/office/drawing/2014/main" id="{902540BA-CB7A-447B-9F52-9184854089B9}"/>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8" name="U06-DG-009B-stage_3-title">
            <a:extLst>
              <a:ext uri="{FF2B5EF4-FFF2-40B4-BE49-F238E27FC236}">
                <a16:creationId xmlns:a16="http://schemas.microsoft.com/office/drawing/2014/main" id="{DAA31271-948E-4272-B034-99D057FDD638}"/>
              </a:ext>
            </a:extLst>
          </p:cNvPr>
          <p:cNvSpPr>
            <a:spLocks noGrp="1"/>
          </p:cNvSpPr>
          <p:nvPr/>
        </p:nvSpPr>
        <p:spPr>
          <a:xfrm>
            <a:off x="643890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3 · Sustituir</a:t>
            </a:r>
          </a:p>
        </p:txBody>
      </p:sp>
      <p:sp>
        <p:nvSpPr>
          <p:cNvPr id="19" name="U06-DG-009B-stage_3-body">
            <a:extLst>
              <a:ext uri="{FF2B5EF4-FFF2-40B4-BE49-F238E27FC236}">
                <a16:creationId xmlns:a16="http://schemas.microsoft.com/office/drawing/2014/main" id="{A843CC99-328B-4EE5-AE87-B33C9CCA92BE}"/>
              </a:ext>
            </a:extLst>
          </p:cNvPr>
          <p:cNvSpPr>
            <a:spLocks noGrp="1"/>
          </p:cNvSpPr>
          <p:nvPr/>
        </p:nvSpPr>
        <p:spPr>
          <a:xfrm>
            <a:off x="643890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343/(4·0,027)</a:t>
            </a:r>
          </a:p>
        </p:txBody>
      </p:sp>
      <p:sp>
        <p:nvSpPr>
          <p:cNvPr id="20" name="U06-DG-009B-stage_4-box">
            <a:extLst>
              <a:ext uri="{FF2B5EF4-FFF2-40B4-BE49-F238E27FC236}">
                <a16:creationId xmlns:a16="http://schemas.microsoft.com/office/drawing/2014/main" id="{B5A38B91-57C6-47A3-8D27-F483156DD891}"/>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09B-stage_4-title">
            <a:extLst>
              <a:ext uri="{FF2B5EF4-FFF2-40B4-BE49-F238E27FC236}">
                <a16:creationId xmlns:a16="http://schemas.microsoft.com/office/drawing/2014/main" id="{F273D942-A6FB-4A47-A8CF-34ADE1A6B58E}"/>
              </a:ext>
            </a:extLst>
          </p:cNvPr>
          <p:cNvSpPr>
            <a:spLocks noGrp="1"/>
          </p:cNvSpPr>
          <p:nvPr/>
        </p:nvSpPr>
        <p:spPr>
          <a:xfrm>
            <a:off x="917257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4 · Resultado</a:t>
            </a:r>
          </a:p>
        </p:txBody>
      </p:sp>
      <p:sp>
        <p:nvSpPr>
          <p:cNvPr id="22" name="U06-DG-009B-stage_4-body">
            <a:extLst>
              <a:ext uri="{FF2B5EF4-FFF2-40B4-BE49-F238E27FC236}">
                <a16:creationId xmlns:a16="http://schemas.microsoft.com/office/drawing/2014/main" id="{9BF05245-2224-4657-8148-F0848DC3D088}"/>
              </a:ext>
            </a:extLst>
          </p:cNvPr>
          <p:cNvSpPr>
            <a:spLocks noGrp="1"/>
          </p:cNvSpPr>
          <p:nvPr/>
        </p:nvSpPr>
        <p:spPr>
          <a:xfrm>
            <a:off x="917257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 3,18 kHz</a:t>
            </a:r>
          </a:p>
        </p:txBody>
      </p:sp>
      <p:sp>
        <p:nvSpPr>
          <p:cNvPr id="23" name="caption">
            <a:extLst>
              <a:ext uri="{FF2B5EF4-FFF2-40B4-BE49-F238E27FC236}">
                <a16:creationId xmlns:a16="http://schemas.microsoft.com/office/drawing/2014/main" id="{6B4293FA-740C-4C2F-836F-C09C2017E1BF}"/>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resultado pertenece al modelo, no a todas las personas.</a:t>
            </a:r>
          </a:p>
        </p:txBody>
      </p:sp>
      <p:sp>
        <p:nvSpPr>
          <p:cNvPr id="24" name="credit">
            <a:extLst>
              <a:ext uri="{FF2B5EF4-FFF2-40B4-BE49-F238E27FC236}">
                <a16:creationId xmlns:a16="http://schemas.microsoft.com/office/drawing/2014/main" id="{F2621A12-A5C0-4FDF-AF3D-E70ABB5A519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133635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434766D4-B25C-49F9-A1A7-6ACF67E9BC41}"/>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Hasta acá: dirección, posición, modelo y límite</a:t>
            </a:r>
          </a:p>
        </p:txBody>
      </p:sp>
      <p:sp>
        <p:nvSpPr>
          <p:cNvPr id="2" name="slide-subtitle">
            <a:extLst>
              <a:ext uri="{FF2B5EF4-FFF2-40B4-BE49-F238E27FC236}">
                <a16:creationId xmlns:a16="http://schemas.microsoft.com/office/drawing/2014/main" id="{60CD7BD8-AB58-4A5F-9543-85DDB72F5207}"/>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oído externo modifica y conduce; el modelo explica una parte, no todo el sistema.</a:t>
            </a:r>
          </a:p>
        </p:txBody>
      </p:sp>
      <p:sp>
        <p:nvSpPr>
          <p:cNvPr id="3" name="eyebrow">
            <a:extLst>
              <a:ext uri="{FF2B5EF4-FFF2-40B4-BE49-F238E27FC236}">
                <a16:creationId xmlns:a16="http://schemas.microsoft.com/office/drawing/2014/main" id="{8DFAB492-4583-433E-90B8-1FAF3136674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017</a:t>
            </a:r>
          </a:p>
        </p:txBody>
      </p:sp>
      <p:sp>
        <p:nvSpPr>
          <p:cNvPr id="4" name="U06-DG-001-stage_1-anchor">
            <a:extLst>
              <a:ext uri="{FF2B5EF4-FFF2-40B4-BE49-F238E27FC236}">
                <a16:creationId xmlns:a16="http://schemas.microsoft.com/office/drawing/2014/main" id="{D435BCB1-99A8-423B-BAD6-ED1793B72F74}"/>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01-stage_2-anchor">
            <a:extLst>
              <a:ext uri="{FF2B5EF4-FFF2-40B4-BE49-F238E27FC236}">
                <a16:creationId xmlns:a16="http://schemas.microsoft.com/office/drawing/2014/main" id="{BA05CA3C-91F0-4DD4-B36F-5A4A45BF8BB9}"/>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01-stage_3-anchor">
            <a:extLst>
              <a:ext uri="{FF2B5EF4-FFF2-40B4-BE49-F238E27FC236}">
                <a16:creationId xmlns:a16="http://schemas.microsoft.com/office/drawing/2014/main" id="{07D1C3A0-61A9-4660-A1CF-BAF56370C7DC}"/>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01-stage_4-anchor">
            <a:extLst>
              <a:ext uri="{FF2B5EF4-FFF2-40B4-BE49-F238E27FC236}">
                <a16:creationId xmlns:a16="http://schemas.microsoft.com/office/drawing/2014/main" id="{4E7D1B80-069F-4D88-B083-03FCA9E576DB}"/>
              </a:ext>
            </a:extLst>
          </p:cNvPr>
          <p:cNvSpPr>
            <a:spLocks noGrp="1"/>
          </p:cNvSpPr>
          <p:nvPr/>
        </p:nvSpPr>
        <p:spPr>
          <a:xfrm>
            <a:off x="8045450" y="3952875"/>
            <a:ext cx="3365500" cy="1381125"/>
          </a:xfrm>
          <a:prstGeom prst="roundRect">
            <a:avLst>
              <a:gd name="adj" fmla="val 6897"/>
            </a:avLst>
          </a:prstGeom>
          <a:noFill/>
          <a:ln w="0">
            <a:noFill/>
            <a:prstDash val="solid"/>
          </a:ln>
        </p:spPr>
      </p:sp>
      <p:sp>
        <p:nvSpPr>
          <p:cNvPr id="8" name="U06-DG-001-stage_5-anchor">
            <a:extLst>
              <a:ext uri="{FF2B5EF4-FFF2-40B4-BE49-F238E27FC236}">
                <a16:creationId xmlns:a16="http://schemas.microsoft.com/office/drawing/2014/main" id="{B0CEB08E-8C31-498D-892B-75A5EE699684}"/>
              </a:ext>
            </a:extLst>
          </p:cNvPr>
          <p:cNvSpPr>
            <a:spLocks noGrp="1"/>
          </p:cNvSpPr>
          <p:nvPr/>
        </p:nvSpPr>
        <p:spPr>
          <a:xfrm>
            <a:off x="4413250" y="3952875"/>
            <a:ext cx="3365500" cy="1381125"/>
          </a:xfrm>
          <a:prstGeom prst="roundRect">
            <a:avLst>
              <a:gd name="adj" fmla="val 6897"/>
            </a:avLst>
          </a:prstGeom>
          <a:noFill/>
          <a:ln w="0">
            <a:noFill/>
            <a:prstDash val="solid"/>
          </a:ln>
        </p:spPr>
      </p:sp>
      <p:sp>
        <p:nvSpPr>
          <p:cNvPr id="9" name="U06-DG-001-stage_6-anchor">
            <a:extLst>
              <a:ext uri="{FF2B5EF4-FFF2-40B4-BE49-F238E27FC236}">
                <a16:creationId xmlns:a16="http://schemas.microsoft.com/office/drawing/2014/main" id="{CD5BBD71-101D-44A4-A799-D08D8DE7DDB8}"/>
              </a:ext>
            </a:extLst>
          </p:cNvPr>
          <p:cNvSpPr>
            <a:spLocks noGrp="1"/>
          </p:cNvSpPr>
          <p:nvPr/>
        </p:nvSpPr>
        <p:spPr>
          <a:xfrm>
            <a:off x="781050" y="3952875"/>
            <a:ext cx="3365500" cy="1381125"/>
          </a:xfrm>
          <a:prstGeom prst="roundRect">
            <a:avLst>
              <a:gd name="adj" fmla="val 6897"/>
            </a:avLst>
          </a:prstGeom>
          <a:noFill/>
          <a:ln w="0">
            <a:noFill/>
            <a:prstDash val="solid"/>
          </a:ln>
        </p:spPr>
      </p:sp>
      <p:cxnSp>
        <p:nvCxnSpPr>
          <p:cNvPr id="44" name="U06-DG-001-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45" name="U06-DG-001-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6" name="U06-DG-001-flow_3"/>
          <p:cNvCxnSpPr>
            <a:stCxn id="6" idx="2"/>
            <a:endCxn id="7" idx="0"/>
          </p:cNvCxnSpPr>
          <p:nvPr/>
        </p:nvCxnSpPr>
        <p:spPr>
          <a:xfrm>
            <a:off x="9728200" y="3048000"/>
            <a:ext cx="0" cy="904875"/>
          </a:xfrm>
          <a:prstGeom prst="straightConnector1">
            <a:avLst/>
          </a:prstGeom>
          <a:ln w="28575">
            <a:solidFill>
              <a:srgbClr val="3D3D3D"/>
            </a:solidFill>
            <a:prstDash val="solid"/>
            <a:tailEnd type="arrow" w="med" len="med"/>
          </a:ln>
        </p:spPr>
      </p:cxnSp>
      <p:cxnSp>
        <p:nvCxnSpPr>
          <p:cNvPr id="47" name="U06-DG-001-flow_4"/>
          <p:cNvCxnSpPr>
            <a:stCxn id="7" idx="1"/>
            <a:endCxn id="8" idx="3"/>
          </p:cNvCxnSpPr>
          <p:nvPr/>
        </p:nvCxnSpPr>
        <p:spPr>
          <a:xfrm flipH="1">
            <a:off x="7778750" y="4643438"/>
            <a:ext cx="266700" cy="0"/>
          </a:xfrm>
          <a:prstGeom prst="straightConnector1">
            <a:avLst/>
          </a:prstGeom>
          <a:ln w="28575">
            <a:solidFill>
              <a:srgbClr val="3D3D3D"/>
            </a:solidFill>
            <a:prstDash val="solid"/>
            <a:tailEnd type="arrow" w="med" len="med"/>
          </a:ln>
        </p:spPr>
      </p:cxnSp>
      <p:cxnSp>
        <p:nvCxnSpPr>
          <p:cNvPr id="48" name="U06-DG-001-flow_5"/>
          <p:cNvCxnSpPr>
            <a:stCxn id="8" idx="1"/>
            <a:endCxn id="9" idx="3"/>
          </p:cNvCxnSpPr>
          <p:nvPr/>
        </p:nvCxnSpPr>
        <p:spPr>
          <a:xfrm flipH="1">
            <a:off x="4146550" y="4643438"/>
            <a:ext cx="266700" cy="0"/>
          </a:xfrm>
          <a:prstGeom prst="straightConnector1">
            <a:avLst/>
          </a:prstGeom>
          <a:ln w="28575">
            <a:solidFill>
              <a:srgbClr val="3D3D3D"/>
            </a:solidFill>
            <a:prstDash val="solid"/>
            <a:tailEnd type="arrow" w="med" len="med"/>
          </a:ln>
        </p:spPr>
      </p:cxnSp>
      <p:sp>
        <p:nvSpPr>
          <p:cNvPr id="15" name="U06-DG-001-stage_1-box" descr="Diagrama sobre «Hasta acá: dirección, posición, modelo y límite»; organiza tres afirmaciones + pregunta “¿qué llega finalmente al tímpano?”." title="Texto alternativo U06-017">
            <a:extLst>
              <a:ext uri="{FF2B5EF4-FFF2-40B4-BE49-F238E27FC236}">
                <a16:creationId xmlns:a16="http://schemas.microsoft.com/office/drawing/2014/main" id="{59019755-2F4C-438A-9FBE-3DAC454BF393}"/>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6" name="U06-DG-001-stage_1-title">
            <a:extLst>
              <a:ext uri="{FF2B5EF4-FFF2-40B4-BE49-F238E27FC236}">
                <a16:creationId xmlns:a16="http://schemas.microsoft.com/office/drawing/2014/main" id="{97C709AD-3AE0-40E4-B02C-ACD8CA0772DB}"/>
              </a:ext>
            </a:extLst>
          </p:cNvPr>
          <p:cNvSpPr>
            <a:spLocks noGrp="1"/>
          </p:cNvSpPr>
          <p:nvPr/>
        </p:nvSpPr>
        <p:spPr>
          <a:xfrm>
            <a:off x="9715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Pabellón</a:t>
            </a:r>
          </a:p>
        </p:txBody>
      </p:sp>
      <p:sp>
        <p:nvSpPr>
          <p:cNvPr id="17" name="U06-DG-001-stage_1-body">
            <a:extLst>
              <a:ext uri="{FF2B5EF4-FFF2-40B4-BE49-F238E27FC236}">
                <a16:creationId xmlns:a16="http://schemas.microsoft.com/office/drawing/2014/main" id="{4BDE3C01-9F39-4074-919D-2042BF20FB2E}"/>
              </a:ext>
            </a:extLst>
          </p:cNvPr>
          <p:cNvSpPr>
            <a:spLocks noGrp="1"/>
          </p:cNvSpPr>
          <p:nvPr/>
        </p:nvSpPr>
        <p:spPr>
          <a:xfrm>
            <a:off x="9715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capta y filtra</a:t>
            </a:r>
          </a:p>
        </p:txBody>
      </p:sp>
      <p:sp>
        <p:nvSpPr>
          <p:cNvPr id="18" name="U06-DG-001-stage_2-box">
            <a:extLst>
              <a:ext uri="{FF2B5EF4-FFF2-40B4-BE49-F238E27FC236}">
                <a16:creationId xmlns:a16="http://schemas.microsoft.com/office/drawing/2014/main" id="{36E1AF66-4ABC-4E5A-B4AD-D163EA56D36A}"/>
              </a:ext>
            </a:extLst>
          </p:cNvPr>
          <p:cNvSpPr>
            <a:spLocks noGrp="1"/>
          </p:cNvSpPr>
          <p:nvPr/>
        </p:nvSpPr>
        <p:spPr>
          <a:xfrm>
            <a:off x="4413250" y="1666875"/>
            <a:ext cx="3365500" cy="1381125"/>
          </a:xfrm>
          <a:prstGeom prst="roundRect">
            <a:avLst>
              <a:gd name="adj" fmla="val 6897"/>
            </a:avLst>
          </a:prstGeom>
          <a:solidFill>
            <a:srgbClr val="E7F1F1"/>
          </a:solidFill>
          <a:ln w="19050">
            <a:solidFill>
              <a:srgbClr val="2F7E83"/>
            </a:solidFill>
            <a:prstDash val="solid"/>
          </a:ln>
        </p:spPr>
      </p:sp>
      <p:sp>
        <p:nvSpPr>
          <p:cNvPr id="19" name="U06-DG-001-stage_2-title">
            <a:extLst>
              <a:ext uri="{FF2B5EF4-FFF2-40B4-BE49-F238E27FC236}">
                <a16:creationId xmlns:a16="http://schemas.microsoft.com/office/drawing/2014/main" id="{7FE13F2B-DBC9-47FC-9724-E75A1C690ABA}"/>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0" name="U06-DG-001-stage_2-body">
            <a:extLst>
              <a:ext uri="{FF2B5EF4-FFF2-40B4-BE49-F238E27FC236}">
                <a16:creationId xmlns:a16="http://schemas.microsoft.com/office/drawing/2014/main" id="{38578CD2-E882-4BD3-94B0-5E49CF54BB08}"/>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conduce presión</a:t>
            </a:r>
          </a:p>
        </p:txBody>
      </p:sp>
      <p:sp>
        <p:nvSpPr>
          <p:cNvPr id="21" name="U06-DG-001-stage_3-box">
            <a:extLst>
              <a:ext uri="{FF2B5EF4-FFF2-40B4-BE49-F238E27FC236}">
                <a16:creationId xmlns:a16="http://schemas.microsoft.com/office/drawing/2014/main" id="{242CE095-E0C6-44D3-8492-284EC80FCAF4}"/>
              </a:ext>
            </a:extLst>
          </p:cNvPr>
          <p:cNvSpPr>
            <a:spLocks noGrp="1"/>
          </p:cNvSpPr>
          <p:nvPr/>
        </p:nvSpPr>
        <p:spPr>
          <a:xfrm>
            <a:off x="8045450" y="1666875"/>
            <a:ext cx="3365500" cy="1381125"/>
          </a:xfrm>
          <a:prstGeom prst="roundRect">
            <a:avLst>
              <a:gd name="adj" fmla="val 6897"/>
            </a:avLst>
          </a:prstGeom>
          <a:solidFill>
            <a:srgbClr val="F4E9EF"/>
          </a:solidFill>
          <a:ln w="19050">
            <a:solidFill>
              <a:srgbClr val="4D1434"/>
            </a:solidFill>
            <a:prstDash val="solid"/>
          </a:ln>
        </p:spPr>
      </p:sp>
      <p:sp>
        <p:nvSpPr>
          <p:cNvPr id="22" name="U06-DG-001-stage_3-title">
            <a:extLst>
              <a:ext uri="{FF2B5EF4-FFF2-40B4-BE49-F238E27FC236}">
                <a16:creationId xmlns:a16="http://schemas.microsoft.com/office/drawing/2014/main" id="{9311B876-B555-460D-B26F-8644C27752DA}"/>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Tímpano</a:t>
            </a:r>
          </a:p>
        </p:txBody>
      </p:sp>
      <p:sp>
        <p:nvSpPr>
          <p:cNvPr id="23" name="U06-DG-001-stage_3-body">
            <a:extLst>
              <a:ext uri="{FF2B5EF4-FFF2-40B4-BE49-F238E27FC236}">
                <a16:creationId xmlns:a16="http://schemas.microsoft.com/office/drawing/2014/main" id="{D52355A9-6069-4DDC-B710-0B87D0AC5344}"/>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 → fuerza</a:t>
            </a:r>
          </a:p>
        </p:txBody>
      </p:sp>
      <p:sp>
        <p:nvSpPr>
          <p:cNvPr id="24" name="U06-DG-001-stage_4-box">
            <a:extLst>
              <a:ext uri="{FF2B5EF4-FFF2-40B4-BE49-F238E27FC236}">
                <a16:creationId xmlns:a16="http://schemas.microsoft.com/office/drawing/2014/main" id="{AE20BF60-66A4-489E-B062-AFE1D4857AE1}"/>
              </a:ext>
            </a:extLst>
          </p:cNvPr>
          <p:cNvSpPr>
            <a:spLocks noGrp="1"/>
          </p:cNvSpPr>
          <p:nvPr/>
        </p:nvSpPr>
        <p:spPr>
          <a:xfrm>
            <a:off x="8045450" y="3952875"/>
            <a:ext cx="3365500" cy="1381125"/>
          </a:xfrm>
          <a:prstGeom prst="roundRect">
            <a:avLst>
              <a:gd name="adj" fmla="val 6897"/>
            </a:avLst>
          </a:prstGeom>
          <a:solidFill>
            <a:srgbClr val="F4E9EF"/>
          </a:solidFill>
          <a:ln w="19050">
            <a:solidFill>
              <a:srgbClr val="4D1434"/>
            </a:solidFill>
            <a:prstDash val="solid"/>
          </a:ln>
        </p:spPr>
      </p:sp>
      <p:sp>
        <p:nvSpPr>
          <p:cNvPr id="25" name="U06-DG-001-stage_4-title">
            <a:extLst>
              <a:ext uri="{FF2B5EF4-FFF2-40B4-BE49-F238E27FC236}">
                <a16:creationId xmlns:a16="http://schemas.microsoft.com/office/drawing/2014/main" id="{877F6604-B1B1-441D-AD7D-672FAFB3C66B}"/>
              </a:ext>
            </a:extLst>
          </p:cNvPr>
          <p:cNvSpPr>
            <a:spLocks noGrp="1"/>
          </p:cNvSpPr>
          <p:nvPr/>
        </p:nvSpPr>
        <p:spPr>
          <a:xfrm>
            <a:off x="82359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Osículos</a:t>
            </a:r>
          </a:p>
        </p:txBody>
      </p:sp>
      <p:sp>
        <p:nvSpPr>
          <p:cNvPr id="26" name="U06-DG-001-stage_4-body">
            <a:extLst>
              <a:ext uri="{FF2B5EF4-FFF2-40B4-BE49-F238E27FC236}">
                <a16:creationId xmlns:a16="http://schemas.microsoft.com/office/drawing/2014/main" id="{5C8DE7EF-BD18-437C-BE92-63A1B78C1E59}"/>
              </a:ext>
            </a:extLst>
          </p:cNvPr>
          <p:cNvSpPr>
            <a:spLocks noGrp="1"/>
          </p:cNvSpPr>
          <p:nvPr/>
        </p:nvSpPr>
        <p:spPr>
          <a:xfrm>
            <a:off x="82359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transfieren</a:t>
            </a:r>
          </a:p>
        </p:txBody>
      </p:sp>
      <p:sp>
        <p:nvSpPr>
          <p:cNvPr id="27" name="U06-DG-001-stage_5-box">
            <a:extLst>
              <a:ext uri="{FF2B5EF4-FFF2-40B4-BE49-F238E27FC236}">
                <a16:creationId xmlns:a16="http://schemas.microsoft.com/office/drawing/2014/main" id="{37E91E27-2EF7-471A-9FEE-9AA91E2DC2CF}"/>
              </a:ext>
            </a:extLst>
          </p:cNvPr>
          <p:cNvSpPr>
            <a:spLocks noGrp="1"/>
          </p:cNvSpPr>
          <p:nvPr/>
        </p:nvSpPr>
        <p:spPr>
          <a:xfrm>
            <a:off x="4413250" y="3952875"/>
            <a:ext cx="3365500" cy="1381125"/>
          </a:xfrm>
          <a:prstGeom prst="roundRect">
            <a:avLst>
              <a:gd name="adj" fmla="val 6897"/>
            </a:avLst>
          </a:prstGeom>
          <a:solidFill>
            <a:srgbClr val="F8EDE2"/>
          </a:solidFill>
          <a:ln w="19050">
            <a:solidFill>
              <a:srgbClr val="9F541A"/>
            </a:solidFill>
            <a:prstDash val="solid"/>
          </a:ln>
        </p:spPr>
      </p:sp>
      <p:sp>
        <p:nvSpPr>
          <p:cNvPr id="28" name="U06-DG-001-stage_5-title">
            <a:extLst>
              <a:ext uri="{FF2B5EF4-FFF2-40B4-BE49-F238E27FC236}">
                <a16:creationId xmlns:a16="http://schemas.microsoft.com/office/drawing/2014/main" id="{1068F09C-31D3-4C08-8162-B3112D84DB62}"/>
              </a:ext>
            </a:extLst>
          </p:cNvPr>
          <p:cNvSpPr>
            <a:spLocks noGrp="1"/>
          </p:cNvSpPr>
          <p:nvPr/>
        </p:nvSpPr>
        <p:spPr>
          <a:xfrm>
            <a:off x="46037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Cóclea</a:t>
            </a:r>
          </a:p>
        </p:txBody>
      </p:sp>
      <p:sp>
        <p:nvSpPr>
          <p:cNvPr id="29" name="U06-DG-001-stage_5-body">
            <a:extLst>
              <a:ext uri="{FF2B5EF4-FFF2-40B4-BE49-F238E27FC236}">
                <a16:creationId xmlns:a16="http://schemas.microsoft.com/office/drawing/2014/main" id="{D5E7EA07-92ED-459E-B26D-076ACDCBA0DC}"/>
              </a:ext>
            </a:extLst>
          </p:cNvPr>
          <p:cNvSpPr>
            <a:spLocks noGrp="1"/>
          </p:cNvSpPr>
          <p:nvPr/>
        </p:nvSpPr>
        <p:spPr>
          <a:xfrm>
            <a:off x="46037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mecánica espacial</a:t>
            </a:r>
          </a:p>
        </p:txBody>
      </p:sp>
      <p:sp>
        <p:nvSpPr>
          <p:cNvPr id="30" name="U06-DG-001-stage_6-box">
            <a:extLst>
              <a:ext uri="{FF2B5EF4-FFF2-40B4-BE49-F238E27FC236}">
                <a16:creationId xmlns:a16="http://schemas.microsoft.com/office/drawing/2014/main" id="{117AEC91-57AB-4EBF-B218-9D9B377F4F3B}"/>
              </a:ext>
            </a:extLst>
          </p:cNvPr>
          <p:cNvSpPr>
            <a:spLocks noGrp="1"/>
          </p:cNvSpPr>
          <p:nvPr/>
        </p:nvSpPr>
        <p:spPr>
          <a:xfrm>
            <a:off x="781050" y="3952875"/>
            <a:ext cx="3365500" cy="1381125"/>
          </a:xfrm>
          <a:prstGeom prst="roundRect">
            <a:avLst>
              <a:gd name="adj" fmla="val 6897"/>
            </a:avLst>
          </a:prstGeom>
          <a:solidFill>
            <a:srgbClr val="F8EDE2"/>
          </a:solidFill>
          <a:ln w="19050">
            <a:solidFill>
              <a:srgbClr val="9F541A"/>
            </a:solidFill>
            <a:prstDash val="solid"/>
          </a:ln>
        </p:spPr>
      </p:sp>
      <p:sp>
        <p:nvSpPr>
          <p:cNvPr id="31" name="U06-DG-001-stage_6-title">
            <a:extLst>
              <a:ext uri="{FF2B5EF4-FFF2-40B4-BE49-F238E27FC236}">
                <a16:creationId xmlns:a16="http://schemas.microsoft.com/office/drawing/2014/main" id="{82923005-E037-48FE-9011-DACF18839E54}"/>
              </a:ext>
            </a:extLst>
          </p:cNvPr>
          <p:cNvSpPr>
            <a:spLocks noGrp="1"/>
          </p:cNvSpPr>
          <p:nvPr/>
        </p:nvSpPr>
        <p:spPr>
          <a:xfrm>
            <a:off x="9715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Nervio</a:t>
            </a:r>
          </a:p>
        </p:txBody>
      </p:sp>
      <p:sp>
        <p:nvSpPr>
          <p:cNvPr id="32" name="U06-DG-001-stage_6-body">
            <a:extLst>
              <a:ext uri="{FF2B5EF4-FFF2-40B4-BE49-F238E27FC236}">
                <a16:creationId xmlns:a16="http://schemas.microsoft.com/office/drawing/2014/main" id="{3187B6E5-EA6F-4BDF-897B-7287C0115E64}"/>
              </a:ext>
            </a:extLst>
          </p:cNvPr>
          <p:cNvSpPr>
            <a:spLocks noGrp="1"/>
          </p:cNvSpPr>
          <p:nvPr/>
        </p:nvSpPr>
        <p:spPr>
          <a:xfrm>
            <a:off x="9715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señal aferente</a:t>
            </a:r>
          </a:p>
        </p:txBody>
      </p:sp>
      <p:sp>
        <p:nvSpPr>
          <p:cNvPr id="33" name="caption">
            <a:extLst>
              <a:ext uri="{FF2B5EF4-FFF2-40B4-BE49-F238E27FC236}">
                <a16:creationId xmlns:a16="http://schemas.microsoft.com/office/drawing/2014/main" id="{48EA6A4B-867F-4303-8880-06D3BC387320}"/>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oído externo modifica y conduce; el modelo explica una parte, no todo el sist…</a:t>
            </a:r>
          </a:p>
        </p:txBody>
      </p:sp>
      <p:sp>
        <p:nvSpPr>
          <p:cNvPr id="34" name="credit">
            <a:extLst>
              <a:ext uri="{FF2B5EF4-FFF2-40B4-BE49-F238E27FC236}">
                <a16:creationId xmlns:a16="http://schemas.microsoft.com/office/drawing/2014/main" id="{DFCE8AE8-0BD3-4FE7-8C9F-333F482C6602}"/>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472DD02C-6238-48C6-B930-9E11CF27EA66}"/>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018</a:t>
            </a:r>
          </a:p>
        </p:txBody>
      </p:sp>
      <p:sp>
        <p:nvSpPr>
          <p:cNvPr id="2" name="divider-title">
            <a:extLst>
              <a:ext uri="{FF2B5EF4-FFF2-40B4-BE49-F238E27FC236}">
                <a16:creationId xmlns:a16="http://schemas.microsoft.com/office/drawing/2014/main" id="{A0065F1E-BBC2-4D5A-8B05-B8B9A226FE51}"/>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Una diferencia de presión pone en movimiento una membrana</a:t>
            </a:r>
          </a:p>
        </p:txBody>
      </p:sp>
      <p:sp>
        <p:nvSpPr>
          <p:cNvPr id="3" name="divider-subtitle">
            <a:extLst>
              <a:ext uri="{FF2B5EF4-FFF2-40B4-BE49-F238E27FC236}">
                <a16:creationId xmlns:a16="http://schemas.microsoft.com/office/drawing/2014/main" id="{1FAD6C1A-19E9-470E-BA51-F53C1ACE5CEC}"/>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¿Cómo se convierte una diferencia de presión en fuerza y qué falta para predecir movimiento?</a:t>
            </a:r>
          </a:p>
        </p:txBody>
      </p:sp>
      <p:sp>
        <p:nvSpPr>
          <p:cNvPr id="4" name="divider-content">
            <a:extLst>
              <a:ext uri="{FF2B5EF4-FFF2-40B4-BE49-F238E27FC236}">
                <a16:creationId xmlns:a16="http://schemas.microsoft.com/office/drawing/2014/main" id="{FECB80BB-4786-43F9-BD22-0E8E5322B935}"/>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¿Cómo se convierte una diferencia de presión en fuerza y qué falta para predecir movimiento?</a:t>
            </a:r>
          </a:p>
        </p:txBody>
      </p:sp>
    </p:spTree>
    <p:extLst>
      <p:ext uri="{BB962C8B-B14F-4D97-AF65-F5344CB8AC3E}">
        <p14:creationId xmlns:p14="http://schemas.microsoft.com/office/powerpoint/2010/main" val="1164902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533FD3EA-477A-46C7-BCFD-9A01598BD0B7}"/>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El tímpano separa el CAE de la caja timpánica</a:t>
            </a:r>
          </a:p>
        </p:txBody>
      </p:sp>
      <p:sp>
        <p:nvSpPr>
          <p:cNvPr id="2" name="slide-subtitle">
            <a:extLst>
              <a:ext uri="{FF2B5EF4-FFF2-40B4-BE49-F238E27FC236}">
                <a16:creationId xmlns:a16="http://schemas.microsoft.com/office/drawing/2014/main" id="{BEC7053A-96C4-431F-805C-7EB0C7554B3B}"/>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fuerza surge de una diferencia de presión entre las dos caras.</a:t>
            </a:r>
          </a:p>
        </p:txBody>
      </p:sp>
      <p:sp>
        <p:nvSpPr>
          <p:cNvPr id="3" name="eyebrow">
            <a:extLst>
              <a:ext uri="{FF2B5EF4-FFF2-40B4-BE49-F238E27FC236}">
                <a16:creationId xmlns:a16="http://schemas.microsoft.com/office/drawing/2014/main" id="{5454C077-3ED0-4DEF-87AB-46B7330A6893}"/>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019</a:t>
            </a:r>
          </a:p>
        </p:txBody>
      </p:sp>
      <p:sp>
        <p:nvSpPr>
          <p:cNvPr id="4" name="main-ideas">
            <a:extLst>
              <a:ext uri="{FF2B5EF4-FFF2-40B4-BE49-F238E27FC236}">
                <a16:creationId xmlns:a16="http://schemas.microsoft.com/office/drawing/2014/main" id="{540C8E9D-9897-4E2D-8B68-6EC31255E7A5}"/>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La fuerza surge de una diferencia de presión entre las dos caras.</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Vista anatómica simple con CAE, tímpano, caja y mango del martillo.</a:t>
            </a:r>
          </a:p>
        </p:txBody>
      </p:sp>
      <p:sp>
        <p:nvSpPr>
          <p:cNvPr id="5" name="side-panel-box">
            <a:extLst>
              <a:ext uri="{FF2B5EF4-FFF2-40B4-BE49-F238E27FC236}">
                <a16:creationId xmlns:a16="http://schemas.microsoft.com/office/drawing/2014/main" id="{1A88C608-A642-4486-861B-2E6E74BB25D1}"/>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F2B5001A-FF32-4E5B-9C81-341D98E2F8D1}"/>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A8039868-3AC8-4E00-89A8-B7AB309A56CD}"/>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fuerza surge de una diferencia de presión entre las dos caras.</a:t>
            </a:r>
          </a:p>
        </p:txBody>
      </p:sp>
      <p:sp>
        <p:nvSpPr>
          <p:cNvPr id="8" name="caption">
            <a:extLst>
              <a:ext uri="{FF2B5EF4-FFF2-40B4-BE49-F238E27FC236}">
                <a16:creationId xmlns:a16="http://schemas.microsoft.com/office/drawing/2014/main" id="{D8F0891D-A028-4FB5-B9C4-46A8E5A4C51D}"/>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fuerza surge de una diferencia de presión entre las dos caras.</a:t>
            </a:r>
          </a:p>
        </p:txBody>
      </p:sp>
      <p:sp>
        <p:nvSpPr>
          <p:cNvPr id="9" name="credit">
            <a:extLst>
              <a:ext uri="{FF2B5EF4-FFF2-40B4-BE49-F238E27FC236}">
                <a16:creationId xmlns:a16="http://schemas.microsoft.com/office/drawing/2014/main" id="{4DBF3A19-EA85-483F-9559-4DDD4D6568BB}"/>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6.4.5; PDF pp. 154–155; REF ugarteburu2022.</a:t>
            </a:r>
          </a:p>
        </p:txBody>
      </p:sp>
    </p:spTree>
    <p:extLst>
      <p:ext uri="{BB962C8B-B14F-4D97-AF65-F5344CB8AC3E}">
        <p14:creationId xmlns:p14="http://schemas.microsoft.com/office/powerpoint/2010/main" val="1687263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288D6A87-A97B-4252-A9F5-C87C0A007AF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Dos presiones producen una fuerza resultante</a:t>
            </a:r>
          </a:p>
        </p:txBody>
      </p:sp>
      <p:sp>
        <p:nvSpPr>
          <p:cNvPr id="2" name="slide-subtitle">
            <a:extLst>
              <a:ext uri="{FF2B5EF4-FFF2-40B4-BE49-F238E27FC236}">
                <a16:creationId xmlns:a16="http://schemas.microsoft.com/office/drawing/2014/main" id="{949F2749-D334-470D-9301-EC8EDE52AEF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Importa la diferencia entre caras, no una presión aislada.</a:t>
            </a:r>
          </a:p>
        </p:txBody>
      </p:sp>
      <p:sp>
        <p:nvSpPr>
          <p:cNvPr id="3" name="eyebrow">
            <a:extLst>
              <a:ext uri="{FF2B5EF4-FFF2-40B4-BE49-F238E27FC236}">
                <a16:creationId xmlns:a16="http://schemas.microsoft.com/office/drawing/2014/main" id="{24B51E34-E335-4440-ABAE-AF9BDC3F7AD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020</a:t>
            </a:r>
          </a:p>
        </p:txBody>
      </p:sp>
      <p:sp>
        <p:nvSpPr>
          <p:cNvPr id="4" name="U06-DG-010-stage_1-anchor">
            <a:extLst>
              <a:ext uri="{FF2B5EF4-FFF2-40B4-BE49-F238E27FC236}">
                <a16:creationId xmlns:a16="http://schemas.microsoft.com/office/drawing/2014/main" id="{5691CDAF-5DD0-4EA0-BCC6-C8F5B0AE1F86}"/>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10-stage_2-anchor">
            <a:extLst>
              <a:ext uri="{FF2B5EF4-FFF2-40B4-BE49-F238E27FC236}">
                <a16:creationId xmlns:a16="http://schemas.microsoft.com/office/drawing/2014/main" id="{A681235A-0A82-45AC-95FF-B04A8A7D1A67}"/>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10-stage_3-anchor">
            <a:extLst>
              <a:ext uri="{FF2B5EF4-FFF2-40B4-BE49-F238E27FC236}">
                <a16:creationId xmlns:a16="http://schemas.microsoft.com/office/drawing/2014/main" id="{9ACDFF54-263D-4CBA-AF16-9FA649B35006}"/>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10-stage_4-anchor">
            <a:extLst>
              <a:ext uri="{FF2B5EF4-FFF2-40B4-BE49-F238E27FC236}">
                <a16:creationId xmlns:a16="http://schemas.microsoft.com/office/drawing/2014/main" id="{3C62AA3F-1A50-4FF3-A7C2-74C9B9005437}"/>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10-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10-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10-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10-stage_1-box" descr="Diagrama sobre «Dos presiones producen una fuerza resultante»; organiza presión del cae, presión de caja, resta y fuerza distribuida." title="Texto alternativo U06-020">
            <a:extLst>
              <a:ext uri="{FF2B5EF4-FFF2-40B4-BE49-F238E27FC236}">
                <a16:creationId xmlns:a16="http://schemas.microsoft.com/office/drawing/2014/main" id="{F24C27FD-85D2-48F2-8A72-9B63508ADA50}"/>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10-stage_1-title">
            <a:extLst>
              <a:ext uri="{FF2B5EF4-FFF2-40B4-BE49-F238E27FC236}">
                <a16:creationId xmlns:a16="http://schemas.microsoft.com/office/drawing/2014/main" id="{92F97A58-1384-4BD4-87F0-AD3E145C43CE}"/>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p_CAE</a:t>
            </a:r>
          </a:p>
        </p:txBody>
      </p:sp>
      <p:sp>
        <p:nvSpPr>
          <p:cNvPr id="13" name="U06-DG-010-stage_1-body">
            <a:extLst>
              <a:ext uri="{FF2B5EF4-FFF2-40B4-BE49-F238E27FC236}">
                <a16:creationId xmlns:a16="http://schemas.microsoft.com/office/drawing/2014/main" id="{EC40680D-3623-4C51-ACCB-19AE56290FED}"/>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cara externa</a:t>
            </a:r>
          </a:p>
        </p:txBody>
      </p:sp>
      <p:sp>
        <p:nvSpPr>
          <p:cNvPr id="14" name="U06-DG-010-stage_2-box">
            <a:extLst>
              <a:ext uri="{FF2B5EF4-FFF2-40B4-BE49-F238E27FC236}">
                <a16:creationId xmlns:a16="http://schemas.microsoft.com/office/drawing/2014/main" id="{2BEB33B8-7B38-41CE-B8C5-3CAD7A6A35A5}"/>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5" name="U06-DG-010-stage_2-title">
            <a:extLst>
              <a:ext uri="{FF2B5EF4-FFF2-40B4-BE49-F238E27FC236}">
                <a16:creationId xmlns:a16="http://schemas.microsoft.com/office/drawing/2014/main" id="{F5A44F94-2B1E-4C1E-A208-2DDCAA254AA9}"/>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p_OM</a:t>
            </a:r>
          </a:p>
        </p:txBody>
      </p:sp>
      <p:sp>
        <p:nvSpPr>
          <p:cNvPr id="16" name="U06-DG-010-stage_2-body">
            <a:extLst>
              <a:ext uri="{FF2B5EF4-FFF2-40B4-BE49-F238E27FC236}">
                <a16:creationId xmlns:a16="http://schemas.microsoft.com/office/drawing/2014/main" id="{B0B2EBE2-E72F-4FBF-9BCA-BE8B86E6F1AB}"/>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cara interna</a:t>
            </a:r>
          </a:p>
        </p:txBody>
      </p:sp>
      <p:sp>
        <p:nvSpPr>
          <p:cNvPr id="17" name="U06-DG-010-stage_3-box">
            <a:extLst>
              <a:ext uri="{FF2B5EF4-FFF2-40B4-BE49-F238E27FC236}">
                <a16:creationId xmlns:a16="http://schemas.microsoft.com/office/drawing/2014/main" id="{1D541B0C-11B1-48F8-9DB3-4A1EABE3F364}"/>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8" name="U06-DG-010-stage_3-title">
            <a:extLst>
              <a:ext uri="{FF2B5EF4-FFF2-40B4-BE49-F238E27FC236}">
                <a16:creationId xmlns:a16="http://schemas.microsoft.com/office/drawing/2014/main" id="{4A6A6D7B-A187-4A28-8511-0618155F6929}"/>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Δp</a:t>
            </a:r>
          </a:p>
        </p:txBody>
      </p:sp>
      <p:sp>
        <p:nvSpPr>
          <p:cNvPr id="19" name="U06-DG-010-stage_3-body">
            <a:extLst>
              <a:ext uri="{FF2B5EF4-FFF2-40B4-BE49-F238E27FC236}">
                <a16:creationId xmlns:a16="http://schemas.microsoft.com/office/drawing/2014/main" id="{7530DD1F-1934-4B1B-99BA-53683A9F4721}"/>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p_CAE − p_OM</a:t>
            </a:r>
          </a:p>
        </p:txBody>
      </p:sp>
      <p:sp>
        <p:nvSpPr>
          <p:cNvPr id="20" name="U06-DG-010-stage_4-box">
            <a:extLst>
              <a:ext uri="{FF2B5EF4-FFF2-40B4-BE49-F238E27FC236}">
                <a16:creationId xmlns:a16="http://schemas.microsoft.com/office/drawing/2014/main" id="{282F7703-2E18-46CB-BB75-1F874C57B59C}"/>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10-stage_4-title">
            <a:extLst>
              <a:ext uri="{FF2B5EF4-FFF2-40B4-BE49-F238E27FC236}">
                <a16:creationId xmlns:a16="http://schemas.microsoft.com/office/drawing/2014/main" id="{ECF822A9-E607-4F51-AB61-74CDA7419273}"/>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Membrana</a:t>
            </a:r>
          </a:p>
        </p:txBody>
      </p:sp>
      <p:sp>
        <p:nvSpPr>
          <p:cNvPr id="22" name="U06-DG-010-stage_4-body">
            <a:extLst>
              <a:ext uri="{FF2B5EF4-FFF2-40B4-BE49-F238E27FC236}">
                <a16:creationId xmlns:a16="http://schemas.microsoft.com/office/drawing/2014/main" id="{F4BE1851-76EC-45C3-A02E-B1A047EA8B75}"/>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recibe fuerza neta</a:t>
            </a:r>
          </a:p>
        </p:txBody>
      </p:sp>
      <p:sp>
        <p:nvSpPr>
          <p:cNvPr id="23" name="caption">
            <a:extLst>
              <a:ext uri="{FF2B5EF4-FFF2-40B4-BE49-F238E27FC236}">
                <a16:creationId xmlns:a16="http://schemas.microsoft.com/office/drawing/2014/main" id="{C36024BD-455A-47D6-90E9-0F2D905BB87B}"/>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Importa la diferencia entre caras, no una presión aislada.</a:t>
            </a:r>
          </a:p>
        </p:txBody>
      </p:sp>
      <p:sp>
        <p:nvSpPr>
          <p:cNvPr id="24" name="credit">
            <a:extLst>
              <a:ext uri="{FF2B5EF4-FFF2-40B4-BE49-F238E27FC236}">
                <a16:creationId xmlns:a16="http://schemas.microsoft.com/office/drawing/2014/main" id="{B4CA143D-9D28-4075-967C-6759A14664B8}"/>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398CEB06-D6CB-4D6B-BE26-162D5C3DAE70}"/>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Presión por área estima la fuerza resultante</a:t>
            </a:r>
          </a:p>
        </p:txBody>
      </p:sp>
      <p:sp>
        <p:nvSpPr>
          <p:cNvPr id="2" name="slide-subtitle">
            <a:extLst>
              <a:ext uri="{FF2B5EF4-FFF2-40B4-BE49-F238E27FC236}">
                <a16:creationId xmlns:a16="http://schemas.microsoft.com/office/drawing/2014/main" id="{C51B016B-D508-4673-A44B-C4943A0A5F6D}"/>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ecuación estima fuerza; no predice por sí sola el desplazamiento.</a:t>
            </a:r>
          </a:p>
        </p:txBody>
      </p:sp>
      <p:sp>
        <p:nvSpPr>
          <p:cNvPr id="3" name="eyebrow">
            <a:extLst>
              <a:ext uri="{FF2B5EF4-FFF2-40B4-BE49-F238E27FC236}">
                <a16:creationId xmlns:a16="http://schemas.microsoft.com/office/drawing/2014/main" id="{B6C53001-862A-49BD-A189-43CB231F544F}"/>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021</a:t>
            </a:r>
          </a:p>
        </p:txBody>
      </p:sp>
      <p:sp>
        <p:nvSpPr>
          <p:cNvPr id="4" name="equation-box">
            <a:extLst>
              <a:ext uri="{FF2B5EF4-FFF2-40B4-BE49-F238E27FC236}">
                <a16:creationId xmlns:a16="http://schemas.microsoft.com/office/drawing/2014/main" id="{DF1532C1-D4A3-4D25-9367-00C0384FC98D}"/>
              </a:ext>
            </a:extLst>
          </p:cNvPr>
          <p:cNvSpPr>
            <a:spLocks noGrp="1"/>
          </p:cNvSpPr>
          <p:nvPr/>
        </p:nvSpPr>
        <p:spPr>
          <a:xfrm>
            <a:off x="1285875" y="1733550"/>
            <a:ext cx="9620250" cy="1000125"/>
          </a:xfrm>
          <a:prstGeom prst="roundRect">
            <a:avLst>
              <a:gd name="adj" fmla="val 11429"/>
            </a:avLst>
          </a:prstGeom>
          <a:solidFill>
            <a:srgbClr val="F7F6F2"/>
          </a:solidFill>
          <a:ln w="19050">
            <a:solidFill>
              <a:srgbClr val="903163"/>
            </a:solidFill>
            <a:prstDash val="solid"/>
          </a:ln>
        </p:spPr>
      </p:sp>
      <p:sp>
        <p:nvSpPr>
          <p:cNvPr id="5" name="equation">
            <a:extLst>
              <a:ext uri="{FF2B5EF4-FFF2-40B4-BE49-F238E27FC236}">
                <a16:creationId xmlns:a16="http://schemas.microsoft.com/office/drawing/2014/main" id="{940BB8C8-317A-452F-8B77-ADC0DC7F4231}"/>
              </a:ext>
            </a:extLst>
          </p:cNvPr>
          <p:cNvSpPr>
            <a:spLocks noGrp="1"/>
          </p:cNvSpPr>
          <p:nvPr/>
        </p:nvSpPr>
        <p:spPr>
          <a:xfrm>
            <a:off x="1514475" y="1847850"/>
            <a:ext cx="9163050" cy="771525"/>
          </a:xfrm>
          <a:prstGeom prst="rect">
            <a:avLst/>
          </a:prstGeom>
          <a:noFill/>
          <a:ln w="0">
            <a:noFill/>
            <a:prstDash val="solid"/>
          </a:ln>
        </p:spPr>
        <p:txBody>
          <a:bodyPr wrap="square" lIns="0" tIns="0" rIns="0" bIns="0" anchor="ctr">
            <a:noAutofit/>
          </a:bodyPr>
          <a:lstStyle/>
          <a:p>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Provisional: F ≈ Δp·S; control dimensional: Pa·m² = N.</a:t>
            </a:r>
          </a:p>
        </p:txBody>
      </p:sp>
      <p:sp>
        <p:nvSpPr>
          <p:cNvPr id="6" name="equation-meaning-box">
            <a:extLst>
              <a:ext uri="{FF2B5EF4-FFF2-40B4-BE49-F238E27FC236}">
                <a16:creationId xmlns:a16="http://schemas.microsoft.com/office/drawing/2014/main" id="{3A331B6F-DCCB-4F19-8CD8-6DBACA380E04}"/>
              </a:ext>
            </a:extLst>
          </p:cNvPr>
          <p:cNvSpPr>
            <a:spLocks noGrp="1"/>
          </p:cNvSpPr>
          <p:nvPr/>
        </p:nvSpPr>
        <p:spPr>
          <a:xfrm>
            <a:off x="838200" y="3095625"/>
            <a:ext cx="4953000" cy="2381250"/>
          </a:xfrm>
          <a:prstGeom prst="roundRect">
            <a:avLst>
              <a:gd name="adj" fmla="val 4800"/>
            </a:avLst>
          </a:prstGeom>
          <a:solidFill>
            <a:srgbClr val="E7F1F1"/>
          </a:solidFill>
          <a:ln w="19050">
            <a:solidFill>
              <a:srgbClr val="2F7E83"/>
            </a:solidFill>
            <a:prstDash val="solid"/>
          </a:ln>
        </p:spPr>
      </p:sp>
      <p:sp>
        <p:nvSpPr>
          <p:cNvPr id="7" name="equation-meaning-title">
            <a:extLst>
              <a:ext uri="{FF2B5EF4-FFF2-40B4-BE49-F238E27FC236}">
                <a16:creationId xmlns:a16="http://schemas.microsoft.com/office/drawing/2014/main" id="{B127EEFB-BD6E-4666-95E7-A1A34A0EAC90}"/>
              </a:ext>
            </a:extLst>
          </p:cNvPr>
          <p:cNvSpPr>
            <a:spLocks noGrp="1"/>
          </p:cNvSpPr>
          <p:nvPr/>
        </p:nvSpPr>
        <p:spPr>
          <a:xfrm>
            <a:off x="100965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8" name="equation-meaning-body">
            <a:extLst>
              <a:ext uri="{FF2B5EF4-FFF2-40B4-BE49-F238E27FC236}">
                <a16:creationId xmlns:a16="http://schemas.microsoft.com/office/drawing/2014/main" id="{3658A28C-ED2B-4868-BEB4-50FC74A32025}"/>
              </a:ext>
            </a:extLst>
          </p:cNvPr>
          <p:cNvSpPr>
            <a:spLocks noGrp="1"/>
          </p:cNvSpPr>
          <p:nvPr/>
        </p:nvSpPr>
        <p:spPr>
          <a:xfrm>
            <a:off x="100965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F: fuerza resultante (N); Δp: diferencia de presión (Pa); S: área efectiva (m²), símbolo provisional.</a:t>
            </a:r>
          </a:p>
        </p:txBody>
      </p:sp>
      <p:sp>
        <p:nvSpPr>
          <p:cNvPr id="9" name="equation-use-box">
            <a:extLst>
              <a:ext uri="{FF2B5EF4-FFF2-40B4-BE49-F238E27FC236}">
                <a16:creationId xmlns:a16="http://schemas.microsoft.com/office/drawing/2014/main" id="{70F96571-4374-4859-9827-7BD85F1BE8B3}"/>
              </a:ext>
            </a:extLst>
          </p:cNvPr>
          <p:cNvSpPr>
            <a:spLocks noGrp="1"/>
          </p:cNvSpPr>
          <p:nvPr/>
        </p:nvSpPr>
        <p:spPr>
          <a:xfrm>
            <a:off x="6381750" y="3095625"/>
            <a:ext cx="4953000" cy="2381250"/>
          </a:xfrm>
          <a:prstGeom prst="roundRect">
            <a:avLst>
              <a:gd name="adj" fmla="val 4800"/>
            </a:avLst>
          </a:prstGeom>
          <a:solidFill>
            <a:srgbClr val="F8EDE2"/>
          </a:solidFill>
          <a:ln w="19050">
            <a:solidFill>
              <a:srgbClr val="9F541A"/>
            </a:solidFill>
            <a:prstDash val="solid"/>
          </a:ln>
        </p:spPr>
      </p:sp>
      <p:sp>
        <p:nvSpPr>
          <p:cNvPr id="10" name="equation-use-title">
            <a:extLst>
              <a:ext uri="{FF2B5EF4-FFF2-40B4-BE49-F238E27FC236}">
                <a16:creationId xmlns:a16="http://schemas.microsoft.com/office/drawing/2014/main" id="{C1D29392-F919-4070-9D3A-FBDF21F0F7A0}"/>
              </a:ext>
            </a:extLst>
          </p:cNvPr>
          <p:cNvSpPr>
            <a:spLocks noGrp="1"/>
          </p:cNvSpPr>
          <p:nvPr/>
        </p:nvSpPr>
        <p:spPr>
          <a:xfrm>
            <a:off x="655320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11" name="equation-use-body">
            <a:extLst>
              <a:ext uri="{FF2B5EF4-FFF2-40B4-BE49-F238E27FC236}">
                <a16:creationId xmlns:a16="http://schemas.microsoft.com/office/drawing/2014/main" id="{FA8559FC-3D69-4361-9134-2018459452EB}"/>
              </a:ext>
            </a:extLst>
          </p:cNvPr>
          <p:cNvSpPr>
            <a:spLocks noGrp="1"/>
          </p:cNvSpPr>
          <p:nvPr/>
        </p:nvSpPr>
        <p:spPr>
          <a:xfrm>
            <a:off x="655320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diferencia de presión actúa sobre un área efectiva y permite estimar una fuerza. El resultado queda en newtons; todavía no describe el desplazamiento del tímpano.</a:t>
            </a:r>
          </a:p>
        </p:txBody>
      </p:sp>
      <p:sp>
        <p:nvSpPr>
          <p:cNvPr id="12" name="caption">
            <a:extLst>
              <a:ext uri="{FF2B5EF4-FFF2-40B4-BE49-F238E27FC236}">
                <a16:creationId xmlns:a16="http://schemas.microsoft.com/office/drawing/2014/main" id="{C3E85C91-7E4E-4E55-95A6-F8E391D6CE2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ecuación estima fuerza; no predice por sí sola el desplazamiento.</a:t>
            </a:r>
          </a:p>
        </p:txBody>
      </p:sp>
      <p:sp>
        <p:nvSpPr>
          <p:cNvPr id="13" name="credit">
            <a:extLst>
              <a:ext uri="{FF2B5EF4-FFF2-40B4-BE49-F238E27FC236}">
                <a16:creationId xmlns:a16="http://schemas.microsoft.com/office/drawing/2014/main" id="{40737E43-3A91-4FFC-98C6-754538558113}"/>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ec. 6.2; PDF p. 154; NOT área; OD-U06-07.</a:t>
            </a:r>
          </a:p>
        </p:txBody>
      </p:sp>
    </p:spTree>
    <p:extLst>
      <p:ext uri="{BB962C8B-B14F-4D97-AF65-F5344CB8AC3E}">
        <p14:creationId xmlns:p14="http://schemas.microsoft.com/office/powerpoint/2010/main" val="1602286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6A3064FF-E810-415A-9752-C06EA6A7539A}"/>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De 0,20 Pa a una fuerza del orden de 10⁻⁵ N</a:t>
            </a:r>
          </a:p>
        </p:txBody>
      </p:sp>
      <p:sp>
        <p:nvSpPr>
          <p:cNvPr id="2" name="slide-subtitle">
            <a:extLst>
              <a:ext uri="{FF2B5EF4-FFF2-40B4-BE49-F238E27FC236}">
                <a16:creationId xmlns:a16="http://schemas.microsoft.com/office/drawing/2014/main" id="{BB6B5E3D-C886-481E-8EE7-39A6C0D0E9B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Una fuerza pequeña puede ser físicamente significativa en una estructura pequeña.</a:t>
            </a:r>
          </a:p>
        </p:txBody>
      </p:sp>
      <p:sp>
        <p:nvSpPr>
          <p:cNvPr id="3" name="eyebrow">
            <a:extLst>
              <a:ext uri="{FF2B5EF4-FFF2-40B4-BE49-F238E27FC236}">
                <a16:creationId xmlns:a16="http://schemas.microsoft.com/office/drawing/2014/main" id="{47477DDD-DB21-4A78-A185-649B62F9C2A0}"/>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022</a:t>
            </a:r>
          </a:p>
        </p:txBody>
      </p:sp>
      <p:sp>
        <p:nvSpPr>
          <p:cNvPr id="4" name="equation-box">
            <a:extLst>
              <a:ext uri="{FF2B5EF4-FFF2-40B4-BE49-F238E27FC236}">
                <a16:creationId xmlns:a16="http://schemas.microsoft.com/office/drawing/2014/main" id="{17AB8D24-4943-4E98-87F2-39A0B5AFC191}"/>
              </a:ext>
            </a:extLst>
          </p:cNvPr>
          <p:cNvSpPr>
            <a:spLocks noGrp="1"/>
          </p:cNvSpPr>
          <p:nvPr/>
        </p:nvSpPr>
        <p:spPr>
          <a:xfrm>
            <a:off x="1285875" y="1733550"/>
            <a:ext cx="9620250" cy="1000125"/>
          </a:xfrm>
          <a:prstGeom prst="roundRect">
            <a:avLst>
              <a:gd name="adj" fmla="val 11429"/>
            </a:avLst>
          </a:prstGeom>
          <a:solidFill>
            <a:srgbClr val="F7F6F2"/>
          </a:solidFill>
          <a:ln w="19050">
            <a:solidFill>
              <a:srgbClr val="903163"/>
            </a:solidFill>
            <a:prstDash val="solid"/>
          </a:ln>
        </p:spPr>
      </p:sp>
      <p:sp>
        <p:nvSpPr>
          <p:cNvPr id="5" name="equation">
            <a:extLst>
              <a:ext uri="{FF2B5EF4-FFF2-40B4-BE49-F238E27FC236}">
                <a16:creationId xmlns:a16="http://schemas.microsoft.com/office/drawing/2014/main" id="{65A92F3D-1791-482F-94E2-085425CA1FC5}"/>
              </a:ext>
            </a:extLst>
          </p:cNvPr>
          <p:cNvSpPr>
            <a:spLocks noGrp="1"/>
          </p:cNvSpPr>
          <p:nvPr/>
        </p:nvSpPr>
        <p:spPr>
          <a:xfrm>
            <a:off x="1514475" y="1847850"/>
            <a:ext cx="9163050" cy="771525"/>
          </a:xfrm>
          <a:prstGeom prst="rect">
            <a:avLst/>
          </a:prstGeom>
          <a:noFill/>
          <a:ln w="0">
            <a:noFill/>
            <a:prstDash val="solid"/>
          </a:ln>
        </p:spPr>
        <p:txBody>
          <a:bodyPr wrap="square" lIns="0" tIns="0" rIns="0" bIns="0" anchor="ctr">
            <a:noAutofit/>
          </a:bodyPr>
          <a:lstStyle/>
          <a:p>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S = 50 mm² = 5,0×10⁻⁵ m²; F ≈ (0,20 Pa)(5,0×10⁻⁵ m²) = 1,0×10⁻⁵ N.</a:t>
            </a:r>
          </a:p>
        </p:txBody>
      </p:sp>
      <p:sp>
        <p:nvSpPr>
          <p:cNvPr id="6" name="equation-meaning-box">
            <a:extLst>
              <a:ext uri="{FF2B5EF4-FFF2-40B4-BE49-F238E27FC236}">
                <a16:creationId xmlns:a16="http://schemas.microsoft.com/office/drawing/2014/main" id="{703BAC5C-13F4-419C-B62F-B06907497809}"/>
              </a:ext>
            </a:extLst>
          </p:cNvPr>
          <p:cNvSpPr>
            <a:spLocks noGrp="1"/>
          </p:cNvSpPr>
          <p:nvPr/>
        </p:nvSpPr>
        <p:spPr>
          <a:xfrm>
            <a:off x="838200" y="3095625"/>
            <a:ext cx="4953000" cy="2381250"/>
          </a:xfrm>
          <a:prstGeom prst="roundRect">
            <a:avLst>
              <a:gd name="adj" fmla="val 4800"/>
            </a:avLst>
          </a:prstGeom>
          <a:solidFill>
            <a:srgbClr val="E7F1F1"/>
          </a:solidFill>
          <a:ln w="19050">
            <a:solidFill>
              <a:srgbClr val="2F7E83"/>
            </a:solidFill>
            <a:prstDash val="solid"/>
          </a:ln>
        </p:spPr>
      </p:sp>
      <p:sp>
        <p:nvSpPr>
          <p:cNvPr id="7" name="equation-meaning-title">
            <a:extLst>
              <a:ext uri="{FF2B5EF4-FFF2-40B4-BE49-F238E27FC236}">
                <a16:creationId xmlns:a16="http://schemas.microsoft.com/office/drawing/2014/main" id="{FF3D3A54-1D89-4972-9FAD-79765BECBE11}"/>
              </a:ext>
            </a:extLst>
          </p:cNvPr>
          <p:cNvSpPr>
            <a:spLocks noGrp="1"/>
          </p:cNvSpPr>
          <p:nvPr/>
        </p:nvSpPr>
        <p:spPr>
          <a:xfrm>
            <a:off x="100965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8" name="equation-meaning-body">
            <a:extLst>
              <a:ext uri="{FF2B5EF4-FFF2-40B4-BE49-F238E27FC236}">
                <a16:creationId xmlns:a16="http://schemas.microsoft.com/office/drawing/2014/main" id="{7772BBD2-491D-455A-B18A-E081E7C97C8D}"/>
              </a:ext>
            </a:extLst>
          </p:cNvPr>
          <p:cNvSpPr>
            <a:spLocks noGrp="1"/>
          </p:cNvSpPr>
          <p:nvPr/>
        </p:nvSpPr>
        <p:spPr>
          <a:xfrm>
            <a:off x="100965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1. Convertir 50 mm² a 5,0×10⁻⁵ m². 2. Multiplicar por 0,20 Pa. 3. Obtener 1,0×10⁻⁵ N. 4. Preguntar qué falta para predecir movimiento.</a:t>
            </a:r>
          </a:p>
        </p:txBody>
      </p:sp>
      <p:sp>
        <p:nvSpPr>
          <p:cNvPr id="9" name="equation-use-box">
            <a:extLst>
              <a:ext uri="{FF2B5EF4-FFF2-40B4-BE49-F238E27FC236}">
                <a16:creationId xmlns:a16="http://schemas.microsoft.com/office/drawing/2014/main" id="{DC7B607C-D393-4EE8-B8CF-C8235DA4B577}"/>
              </a:ext>
            </a:extLst>
          </p:cNvPr>
          <p:cNvSpPr>
            <a:spLocks noGrp="1"/>
          </p:cNvSpPr>
          <p:nvPr/>
        </p:nvSpPr>
        <p:spPr>
          <a:xfrm>
            <a:off x="6381750" y="3095625"/>
            <a:ext cx="4953000" cy="2381250"/>
          </a:xfrm>
          <a:prstGeom prst="roundRect">
            <a:avLst>
              <a:gd name="adj" fmla="val 4800"/>
            </a:avLst>
          </a:prstGeom>
          <a:solidFill>
            <a:srgbClr val="F8EDE2"/>
          </a:solidFill>
          <a:ln w="19050">
            <a:solidFill>
              <a:srgbClr val="9F541A"/>
            </a:solidFill>
            <a:prstDash val="solid"/>
          </a:ln>
        </p:spPr>
      </p:sp>
      <p:sp>
        <p:nvSpPr>
          <p:cNvPr id="10" name="equation-use-title">
            <a:extLst>
              <a:ext uri="{FF2B5EF4-FFF2-40B4-BE49-F238E27FC236}">
                <a16:creationId xmlns:a16="http://schemas.microsoft.com/office/drawing/2014/main" id="{FCBDB94F-96D9-4D13-B36F-584D3A1DA694}"/>
              </a:ext>
            </a:extLst>
          </p:cNvPr>
          <p:cNvSpPr>
            <a:spLocks noGrp="1"/>
          </p:cNvSpPr>
          <p:nvPr/>
        </p:nvSpPr>
        <p:spPr>
          <a:xfrm>
            <a:off x="655320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11" name="equation-use-body">
            <a:extLst>
              <a:ext uri="{FF2B5EF4-FFF2-40B4-BE49-F238E27FC236}">
                <a16:creationId xmlns:a16="http://schemas.microsoft.com/office/drawing/2014/main" id="{48C6D107-A306-4EF7-A614-7EBD2BDF0C4B}"/>
              </a:ext>
            </a:extLst>
          </p:cNvPr>
          <p:cNvSpPr>
            <a:spLocks noGrp="1"/>
          </p:cNvSpPr>
          <p:nvPr/>
        </p:nvSpPr>
        <p:spPr>
          <a:xfrm>
            <a:off x="655320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Modelo elemental con Δp = 0,20 Pa y S = 50 mm².</a:t>
            </a:r>
          </a:p>
        </p:txBody>
      </p:sp>
      <p:sp>
        <p:nvSpPr>
          <p:cNvPr id="12" name="caption">
            <a:extLst>
              <a:ext uri="{FF2B5EF4-FFF2-40B4-BE49-F238E27FC236}">
                <a16:creationId xmlns:a16="http://schemas.microsoft.com/office/drawing/2014/main" id="{62422E7C-2C2A-4026-9FFE-9DABC6BB1C4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Una fuerza pequeña puede ser físicamente significativa en una estructura pequeña.</a:t>
            </a:r>
          </a:p>
        </p:txBody>
      </p:sp>
      <p:sp>
        <p:nvSpPr>
          <p:cNvPr id="13" name="credit">
            <a:extLst>
              <a:ext uri="{FF2B5EF4-FFF2-40B4-BE49-F238E27FC236}">
                <a16:creationId xmlns:a16="http://schemas.microsoft.com/office/drawing/2014/main" id="{724CB8FA-2BFE-448D-B94A-311A614469F7}"/>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ejercicio G2 y solución; PDF pp. 168, 172.</a:t>
            </a:r>
          </a:p>
        </p:txBody>
      </p:sp>
    </p:spTree>
    <p:extLst>
      <p:ext uri="{BB962C8B-B14F-4D97-AF65-F5344CB8AC3E}">
        <p14:creationId xmlns:p14="http://schemas.microsoft.com/office/powerpoint/2010/main" val="1133635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title">
            <a:extLst>
              <a:ext uri="{FF2B5EF4-FFF2-40B4-BE49-F238E27FC236}">
                <a16:creationId xmlns:a16="http://schemas.microsoft.com/office/drawing/2014/main" id="{57DBC176-F101-4BA0-AF8F-0F6714335392}"/>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¿Qué magnitud describe cada frase?</a:t>
            </a:r>
          </a:p>
        </p:txBody>
      </p:sp>
      <p:sp>
        <p:nvSpPr>
          <p:cNvPr id="2" name="slide-subtitle">
            <a:extLst>
              <a:ext uri="{FF2B5EF4-FFF2-40B4-BE49-F238E27FC236}">
                <a16:creationId xmlns:a16="http://schemas.microsoft.com/office/drawing/2014/main" id="{09570C78-7F8D-4092-8F98-6B1EB1AD07AB}"/>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Magnitudes relacionadas no son intercambiables.</a:t>
            </a:r>
          </a:p>
        </p:txBody>
      </p:sp>
      <p:sp>
        <p:nvSpPr>
          <p:cNvPr id="3" name="eyebrow">
            <a:extLst>
              <a:ext uri="{FF2B5EF4-FFF2-40B4-BE49-F238E27FC236}">
                <a16:creationId xmlns:a16="http://schemas.microsoft.com/office/drawing/2014/main" id="{E2E91F6F-E0D5-4297-B433-0ADDE67A9804}"/>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023</a:t>
            </a:r>
          </a:p>
        </p:txBody>
      </p:sp>
      <p:sp>
        <p:nvSpPr>
          <p:cNvPr id="4" name="U06-DG-003-cell_1-anchor">
            <a:extLst>
              <a:ext uri="{FF2B5EF4-FFF2-40B4-BE49-F238E27FC236}">
                <a16:creationId xmlns:a16="http://schemas.microsoft.com/office/drawing/2014/main" id="{D513E6CA-D8B4-4A04-8074-C2E9370D7B4B}"/>
              </a:ext>
            </a:extLst>
          </p:cNvPr>
          <p:cNvSpPr>
            <a:spLocks noGrp="1"/>
          </p:cNvSpPr>
          <p:nvPr/>
        </p:nvSpPr>
        <p:spPr>
          <a:xfrm>
            <a:off x="781050" y="1571625"/>
            <a:ext cx="5148263" cy="1809750"/>
          </a:xfrm>
          <a:prstGeom prst="roundRect">
            <a:avLst>
              <a:gd name="adj" fmla="val 5263"/>
            </a:avLst>
          </a:prstGeom>
          <a:noFill/>
          <a:ln w="0">
            <a:noFill/>
            <a:prstDash val="solid"/>
          </a:ln>
        </p:spPr>
      </p:sp>
      <p:sp>
        <p:nvSpPr>
          <p:cNvPr id="5" name="U06-DG-003-cell_2-anchor">
            <a:extLst>
              <a:ext uri="{FF2B5EF4-FFF2-40B4-BE49-F238E27FC236}">
                <a16:creationId xmlns:a16="http://schemas.microsoft.com/office/drawing/2014/main" id="{F215A120-E6DD-49E2-8925-2670E48FA1A7}"/>
              </a:ext>
            </a:extLst>
          </p:cNvPr>
          <p:cNvSpPr>
            <a:spLocks noGrp="1"/>
          </p:cNvSpPr>
          <p:nvPr/>
        </p:nvSpPr>
        <p:spPr>
          <a:xfrm>
            <a:off x="6262688" y="1571625"/>
            <a:ext cx="5148263" cy="1809750"/>
          </a:xfrm>
          <a:prstGeom prst="roundRect">
            <a:avLst>
              <a:gd name="adj" fmla="val 5263"/>
            </a:avLst>
          </a:prstGeom>
          <a:noFill/>
          <a:ln w="0">
            <a:noFill/>
            <a:prstDash val="solid"/>
          </a:ln>
        </p:spPr>
      </p:sp>
      <p:sp>
        <p:nvSpPr>
          <p:cNvPr id="6" name="U06-DG-003-cell_3-anchor">
            <a:extLst>
              <a:ext uri="{FF2B5EF4-FFF2-40B4-BE49-F238E27FC236}">
                <a16:creationId xmlns:a16="http://schemas.microsoft.com/office/drawing/2014/main" id="{2A88D70C-7198-43AE-9EE8-8254AB304F8C}"/>
              </a:ext>
            </a:extLst>
          </p:cNvPr>
          <p:cNvSpPr>
            <a:spLocks noGrp="1"/>
          </p:cNvSpPr>
          <p:nvPr/>
        </p:nvSpPr>
        <p:spPr>
          <a:xfrm>
            <a:off x="781050" y="3667125"/>
            <a:ext cx="5148263" cy="1809750"/>
          </a:xfrm>
          <a:prstGeom prst="roundRect">
            <a:avLst>
              <a:gd name="adj" fmla="val 5263"/>
            </a:avLst>
          </a:prstGeom>
          <a:noFill/>
          <a:ln w="0">
            <a:noFill/>
            <a:prstDash val="solid"/>
          </a:ln>
        </p:spPr>
      </p:sp>
      <p:sp>
        <p:nvSpPr>
          <p:cNvPr id="7" name="U06-DG-003-cell_4-anchor">
            <a:extLst>
              <a:ext uri="{FF2B5EF4-FFF2-40B4-BE49-F238E27FC236}">
                <a16:creationId xmlns:a16="http://schemas.microsoft.com/office/drawing/2014/main" id="{DC117387-2AFE-451F-8DDA-A1E3955A2A3C}"/>
              </a:ext>
            </a:extLst>
          </p:cNvPr>
          <p:cNvSpPr>
            <a:spLocks noGrp="1"/>
          </p:cNvSpPr>
          <p:nvPr/>
        </p:nvSpPr>
        <p:spPr>
          <a:xfrm>
            <a:off x="6262688" y="3667125"/>
            <a:ext cx="5148263" cy="1809750"/>
          </a:xfrm>
          <a:prstGeom prst="roundRect">
            <a:avLst>
              <a:gd name="adj" fmla="val 5263"/>
            </a:avLst>
          </a:prstGeom>
          <a:noFill/>
          <a:ln w="0">
            <a:noFill/>
            <a:prstDash val="solid"/>
          </a:ln>
        </p:spPr>
      </p:sp>
      <p:sp>
        <p:nvSpPr>
          <p:cNvPr id="8" name="U06-DG-003-cell_1-box" descr="Diagrama sobre «¿Qué magnitud describe cada frase?»; organiza tres situaciones; asignar símbolo/unidad y justificar." title="Texto alternativo U06-023">
            <a:extLst>
              <a:ext uri="{FF2B5EF4-FFF2-40B4-BE49-F238E27FC236}">
                <a16:creationId xmlns:a16="http://schemas.microsoft.com/office/drawing/2014/main" id="{2060942C-C069-47E5-8F7E-B8DDE26D8084}"/>
              </a:ext>
            </a:extLst>
          </p:cNvPr>
          <p:cNvSpPr>
            <a:spLocks noGrp="1"/>
          </p:cNvSpPr>
          <p:nvPr/>
        </p:nvSpPr>
        <p:spPr>
          <a:xfrm>
            <a:off x="781050" y="1571625"/>
            <a:ext cx="5148263" cy="1809750"/>
          </a:xfrm>
          <a:prstGeom prst="roundRect">
            <a:avLst>
              <a:gd name="adj" fmla="val 5263"/>
            </a:avLst>
          </a:prstGeom>
          <a:solidFill>
            <a:srgbClr val="E7F1F1"/>
          </a:solidFill>
          <a:ln w="19050">
            <a:solidFill>
              <a:srgbClr val="2F7E83"/>
            </a:solidFill>
            <a:prstDash val="solid"/>
          </a:ln>
        </p:spPr>
      </p:sp>
      <p:sp>
        <p:nvSpPr>
          <p:cNvPr id="9" name="U06-DG-003-cell_1-title">
            <a:extLst>
              <a:ext uri="{FF2B5EF4-FFF2-40B4-BE49-F238E27FC236}">
                <a16:creationId xmlns:a16="http://schemas.microsoft.com/office/drawing/2014/main" id="{8DFE2BBF-BF25-4D74-B7AC-B719B8E6406A}"/>
              </a:ext>
            </a:extLst>
          </p:cNvPr>
          <p:cNvSpPr>
            <a:spLocks noGrp="1"/>
          </p:cNvSpPr>
          <p:nvPr/>
        </p:nvSpPr>
        <p:spPr>
          <a:xfrm>
            <a:off x="971550"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Presión</a:t>
            </a:r>
          </a:p>
        </p:txBody>
      </p:sp>
      <p:sp>
        <p:nvSpPr>
          <p:cNvPr id="10" name="U06-DG-003-cell_1-body">
            <a:extLst>
              <a:ext uri="{FF2B5EF4-FFF2-40B4-BE49-F238E27FC236}">
                <a16:creationId xmlns:a16="http://schemas.microsoft.com/office/drawing/2014/main" id="{D82B4CB6-9805-42FD-B7F8-A8629BFCEE2B}"/>
              </a:ext>
            </a:extLst>
          </p:cNvPr>
          <p:cNvSpPr>
            <a:spLocks noGrp="1"/>
          </p:cNvSpPr>
          <p:nvPr/>
        </p:nvSpPr>
        <p:spPr>
          <a:xfrm>
            <a:off x="971550"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Pa</a:t>
            </a:r>
          </a:p>
        </p:txBody>
      </p:sp>
      <p:sp>
        <p:nvSpPr>
          <p:cNvPr id="11" name="U06-DG-003-cell_2-box">
            <a:extLst>
              <a:ext uri="{FF2B5EF4-FFF2-40B4-BE49-F238E27FC236}">
                <a16:creationId xmlns:a16="http://schemas.microsoft.com/office/drawing/2014/main" id="{38FC7AFE-A851-4252-B269-57DC6DF943E1}"/>
              </a:ext>
            </a:extLst>
          </p:cNvPr>
          <p:cNvSpPr>
            <a:spLocks noGrp="1"/>
          </p:cNvSpPr>
          <p:nvPr/>
        </p:nvSpPr>
        <p:spPr>
          <a:xfrm>
            <a:off x="6262688" y="1571625"/>
            <a:ext cx="5148263" cy="1809750"/>
          </a:xfrm>
          <a:prstGeom prst="roundRect">
            <a:avLst>
              <a:gd name="adj" fmla="val 5263"/>
            </a:avLst>
          </a:prstGeom>
          <a:solidFill>
            <a:srgbClr val="F4E9EF"/>
          </a:solidFill>
          <a:ln w="19050">
            <a:solidFill>
              <a:srgbClr val="4D1434"/>
            </a:solidFill>
            <a:prstDash val="solid"/>
          </a:ln>
        </p:spPr>
      </p:sp>
      <p:sp>
        <p:nvSpPr>
          <p:cNvPr id="12" name="U06-DG-003-cell_2-title">
            <a:extLst>
              <a:ext uri="{FF2B5EF4-FFF2-40B4-BE49-F238E27FC236}">
                <a16:creationId xmlns:a16="http://schemas.microsoft.com/office/drawing/2014/main" id="{44EFCF3E-E93E-4292-8E79-5DB5D21C62BC}"/>
              </a:ext>
            </a:extLst>
          </p:cNvPr>
          <p:cNvSpPr>
            <a:spLocks noGrp="1"/>
          </p:cNvSpPr>
          <p:nvPr/>
        </p:nvSpPr>
        <p:spPr>
          <a:xfrm>
            <a:off x="6453188"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Fuerza</a:t>
            </a:r>
          </a:p>
        </p:txBody>
      </p:sp>
      <p:sp>
        <p:nvSpPr>
          <p:cNvPr id="13" name="U06-DG-003-cell_2-body">
            <a:extLst>
              <a:ext uri="{FF2B5EF4-FFF2-40B4-BE49-F238E27FC236}">
                <a16:creationId xmlns:a16="http://schemas.microsoft.com/office/drawing/2014/main" id="{D50E6245-3846-4D02-A9B6-73D072AB4F23}"/>
              </a:ext>
            </a:extLst>
          </p:cNvPr>
          <p:cNvSpPr>
            <a:spLocks noGrp="1"/>
          </p:cNvSpPr>
          <p:nvPr/>
        </p:nvSpPr>
        <p:spPr>
          <a:xfrm>
            <a:off x="6453188"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N</a:t>
            </a:r>
          </a:p>
        </p:txBody>
      </p:sp>
      <p:sp>
        <p:nvSpPr>
          <p:cNvPr id="14" name="U06-DG-003-cell_3-box">
            <a:extLst>
              <a:ext uri="{FF2B5EF4-FFF2-40B4-BE49-F238E27FC236}">
                <a16:creationId xmlns:a16="http://schemas.microsoft.com/office/drawing/2014/main" id="{1BA51ACA-4D98-417C-99C2-2AECB9DFD1EC}"/>
              </a:ext>
            </a:extLst>
          </p:cNvPr>
          <p:cNvSpPr>
            <a:spLocks noGrp="1"/>
          </p:cNvSpPr>
          <p:nvPr/>
        </p:nvSpPr>
        <p:spPr>
          <a:xfrm>
            <a:off x="781050" y="3667125"/>
            <a:ext cx="5148263" cy="1809750"/>
          </a:xfrm>
          <a:prstGeom prst="roundRect">
            <a:avLst>
              <a:gd name="adj" fmla="val 5263"/>
            </a:avLst>
          </a:prstGeom>
          <a:solidFill>
            <a:srgbClr val="F7F6F2"/>
          </a:solidFill>
          <a:ln w="19050">
            <a:solidFill>
              <a:srgbClr val="969FA7"/>
            </a:solidFill>
            <a:prstDash val="solid"/>
          </a:ln>
        </p:spPr>
      </p:sp>
      <p:sp>
        <p:nvSpPr>
          <p:cNvPr id="15" name="U06-DG-003-cell_3-title">
            <a:extLst>
              <a:ext uri="{FF2B5EF4-FFF2-40B4-BE49-F238E27FC236}">
                <a16:creationId xmlns:a16="http://schemas.microsoft.com/office/drawing/2014/main" id="{5487C23C-5BE6-4836-B4D8-DF86AAC95560}"/>
              </a:ext>
            </a:extLst>
          </p:cNvPr>
          <p:cNvSpPr>
            <a:spLocks noGrp="1"/>
          </p:cNvSpPr>
          <p:nvPr/>
        </p:nvSpPr>
        <p:spPr>
          <a:xfrm>
            <a:off x="971550"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Desplazamiento</a:t>
            </a:r>
          </a:p>
        </p:txBody>
      </p:sp>
      <p:sp>
        <p:nvSpPr>
          <p:cNvPr id="16" name="U06-DG-003-cell_3-body">
            <a:extLst>
              <a:ext uri="{FF2B5EF4-FFF2-40B4-BE49-F238E27FC236}">
                <a16:creationId xmlns:a16="http://schemas.microsoft.com/office/drawing/2014/main" id="{8A136AA9-6E5F-4B9A-BFDE-C674B3D0BB24}"/>
              </a:ext>
            </a:extLst>
          </p:cNvPr>
          <p:cNvSpPr>
            <a:spLocks noGrp="1"/>
          </p:cNvSpPr>
          <p:nvPr/>
        </p:nvSpPr>
        <p:spPr>
          <a:xfrm>
            <a:off x="971550"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a:t>
            </a:r>
          </a:p>
        </p:txBody>
      </p:sp>
      <p:sp>
        <p:nvSpPr>
          <p:cNvPr id="17" name="U06-DG-003-cell_4-box">
            <a:extLst>
              <a:ext uri="{FF2B5EF4-FFF2-40B4-BE49-F238E27FC236}">
                <a16:creationId xmlns:a16="http://schemas.microsoft.com/office/drawing/2014/main" id="{1B66EB35-E30D-4038-8B66-AF90576B09CD}"/>
              </a:ext>
            </a:extLst>
          </p:cNvPr>
          <p:cNvSpPr>
            <a:spLocks noGrp="1"/>
          </p:cNvSpPr>
          <p:nvPr/>
        </p:nvSpPr>
        <p:spPr>
          <a:xfrm>
            <a:off x="6262688" y="3667125"/>
            <a:ext cx="5148263" cy="1809750"/>
          </a:xfrm>
          <a:prstGeom prst="roundRect">
            <a:avLst>
              <a:gd name="adj" fmla="val 5263"/>
            </a:avLst>
          </a:prstGeom>
          <a:solidFill>
            <a:srgbClr val="F8EDE2"/>
          </a:solidFill>
          <a:ln w="19050">
            <a:solidFill>
              <a:srgbClr val="9F541A"/>
            </a:solidFill>
            <a:prstDash val="solid"/>
          </a:ln>
        </p:spPr>
      </p:sp>
      <p:sp>
        <p:nvSpPr>
          <p:cNvPr id="18" name="U06-DG-003-cell_4-title">
            <a:extLst>
              <a:ext uri="{FF2B5EF4-FFF2-40B4-BE49-F238E27FC236}">
                <a16:creationId xmlns:a16="http://schemas.microsoft.com/office/drawing/2014/main" id="{F94805C0-D423-4BFC-AC1A-395247A6BA00}"/>
              </a:ext>
            </a:extLst>
          </p:cNvPr>
          <p:cNvSpPr>
            <a:spLocks noGrp="1"/>
          </p:cNvSpPr>
          <p:nvPr/>
        </p:nvSpPr>
        <p:spPr>
          <a:xfrm>
            <a:off x="6453188"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Potencial</a:t>
            </a:r>
          </a:p>
        </p:txBody>
      </p:sp>
      <p:sp>
        <p:nvSpPr>
          <p:cNvPr id="19" name="U06-DG-003-cell_4-body">
            <a:extLst>
              <a:ext uri="{FF2B5EF4-FFF2-40B4-BE49-F238E27FC236}">
                <a16:creationId xmlns:a16="http://schemas.microsoft.com/office/drawing/2014/main" id="{E232A3A5-4CF6-4FD9-8F09-EE681A9EB2CA}"/>
              </a:ext>
            </a:extLst>
          </p:cNvPr>
          <p:cNvSpPr>
            <a:spLocks noGrp="1"/>
          </p:cNvSpPr>
          <p:nvPr/>
        </p:nvSpPr>
        <p:spPr>
          <a:xfrm>
            <a:off x="6453188"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 o mV</a:t>
            </a:r>
          </a:p>
        </p:txBody>
      </p:sp>
      <p:sp>
        <p:nvSpPr>
          <p:cNvPr id="20" name="caption">
            <a:extLst>
              <a:ext uri="{FF2B5EF4-FFF2-40B4-BE49-F238E27FC236}">
                <a16:creationId xmlns:a16="http://schemas.microsoft.com/office/drawing/2014/main" id="{C7F20DC5-E404-4DED-86BF-89EABE9DDCF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Magnitudes relacionadas no son intercambiables.</a:t>
            </a:r>
          </a:p>
        </p:txBody>
      </p:sp>
      <p:sp>
        <p:nvSpPr>
          <p:cNvPr id="21" name="credit">
            <a:extLst>
              <a:ext uri="{FF2B5EF4-FFF2-40B4-BE49-F238E27FC236}">
                <a16:creationId xmlns:a16="http://schemas.microsoft.com/office/drawing/2014/main" id="{A7C7E6BD-8CD5-4430-B534-07B298F6718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281546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53F8542C-93C7-4A1B-9E25-FDB5C98CC73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Conocer la fuerza no alcanza para conocer el movimiento</a:t>
            </a:r>
          </a:p>
        </p:txBody>
      </p:sp>
      <p:sp>
        <p:nvSpPr>
          <p:cNvPr id="2" name="slide-subtitle">
            <a:extLst>
              <a:ext uri="{FF2B5EF4-FFF2-40B4-BE49-F238E27FC236}">
                <a16:creationId xmlns:a16="http://schemas.microsoft.com/office/drawing/2014/main" id="{582D9025-2722-4DC1-B9D2-3C53284328C8}"/>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tímpano real tiene una respuesta mecánica dependiente de frecuencia.</a:t>
            </a:r>
          </a:p>
        </p:txBody>
      </p:sp>
      <p:sp>
        <p:nvSpPr>
          <p:cNvPr id="3" name="eyebrow">
            <a:extLst>
              <a:ext uri="{FF2B5EF4-FFF2-40B4-BE49-F238E27FC236}">
                <a16:creationId xmlns:a16="http://schemas.microsoft.com/office/drawing/2014/main" id="{7DDA02B6-1D01-4EFB-AE96-606FFE7E1A50}"/>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024</a:t>
            </a:r>
          </a:p>
        </p:txBody>
      </p:sp>
      <p:sp>
        <p:nvSpPr>
          <p:cNvPr id="4" name="U06-DG-012-central-anchor">
            <a:extLst>
              <a:ext uri="{FF2B5EF4-FFF2-40B4-BE49-F238E27FC236}">
                <a16:creationId xmlns:a16="http://schemas.microsoft.com/office/drawing/2014/main" id="{7A5871E9-7ED3-44BE-9730-55EBD01A722D}"/>
              </a:ext>
            </a:extLst>
          </p:cNvPr>
          <p:cNvSpPr>
            <a:spLocks noGrp="1"/>
          </p:cNvSpPr>
          <p:nvPr/>
        </p:nvSpPr>
        <p:spPr>
          <a:xfrm>
            <a:off x="3714750" y="1381125"/>
            <a:ext cx="4762500" cy="1285875"/>
          </a:xfrm>
          <a:prstGeom prst="roundRect">
            <a:avLst>
              <a:gd name="adj" fmla="val 7407"/>
            </a:avLst>
          </a:prstGeom>
          <a:noFill/>
          <a:ln w="0">
            <a:noFill/>
            <a:prstDash val="solid"/>
          </a:ln>
        </p:spPr>
      </p:sp>
      <p:sp>
        <p:nvSpPr>
          <p:cNvPr id="5" name="U06-DG-012-branch_1-anchor">
            <a:extLst>
              <a:ext uri="{FF2B5EF4-FFF2-40B4-BE49-F238E27FC236}">
                <a16:creationId xmlns:a16="http://schemas.microsoft.com/office/drawing/2014/main" id="{B6FB1385-361D-418E-AF79-914D7B4D04AB}"/>
              </a:ext>
            </a:extLst>
          </p:cNvPr>
          <p:cNvSpPr>
            <a:spLocks noGrp="1"/>
          </p:cNvSpPr>
          <p:nvPr/>
        </p:nvSpPr>
        <p:spPr>
          <a:xfrm>
            <a:off x="781050" y="3619500"/>
            <a:ext cx="1958340" cy="1809750"/>
          </a:xfrm>
          <a:prstGeom prst="roundRect">
            <a:avLst>
              <a:gd name="adj" fmla="val 5263"/>
            </a:avLst>
          </a:prstGeom>
          <a:noFill/>
          <a:ln w="0">
            <a:noFill/>
            <a:prstDash val="solid"/>
          </a:ln>
        </p:spPr>
      </p:sp>
      <p:sp>
        <p:nvSpPr>
          <p:cNvPr id="6" name="U06-DG-012-branch_2-anchor">
            <a:extLst>
              <a:ext uri="{FF2B5EF4-FFF2-40B4-BE49-F238E27FC236}">
                <a16:creationId xmlns:a16="http://schemas.microsoft.com/office/drawing/2014/main" id="{EDC7DF54-BCB8-4EEC-BB0B-30617CA441D3}"/>
              </a:ext>
            </a:extLst>
          </p:cNvPr>
          <p:cNvSpPr>
            <a:spLocks noGrp="1"/>
          </p:cNvSpPr>
          <p:nvPr/>
        </p:nvSpPr>
        <p:spPr>
          <a:xfrm>
            <a:off x="2948940" y="3619500"/>
            <a:ext cx="1958340" cy="1809750"/>
          </a:xfrm>
          <a:prstGeom prst="roundRect">
            <a:avLst>
              <a:gd name="adj" fmla="val 5263"/>
            </a:avLst>
          </a:prstGeom>
          <a:noFill/>
          <a:ln w="0">
            <a:noFill/>
            <a:prstDash val="solid"/>
          </a:ln>
        </p:spPr>
      </p:sp>
      <p:sp>
        <p:nvSpPr>
          <p:cNvPr id="7" name="U06-DG-012-branch_3-anchor">
            <a:extLst>
              <a:ext uri="{FF2B5EF4-FFF2-40B4-BE49-F238E27FC236}">
                <a16:creationId xmlns:a16="http://schemas.microsoft.com/office/drawing/2014/main" id="{FF518184-03F4-4079-B0A3-1DEDBB0063D9}"/>
              </a:ext>
            </a:extLst>
          </p:cNvPr>
          <p:cNvSpPr>
            <a:spLocks noGrp="1"/>
          </p:cNvSpPr>
          <p:nvPr/>
        </p:nvSpPr>
        <p:spPr>
          <a:xfrm>
            <a:off x="5116830" y="3619500"/>
            <a:ext cx="1958340" cy="1809750"/>
          </a:xfrm>
          <a:prstGeom prst="roundRect">
            <a:avLst>
              <a:gd name="adj" fmla="val 5263"/>
            </a:avLst>
          </a:prstGeom>
          <a:noFill/>
          <a:ln w="0">
            <a:noFill/>
            <a:prstDash val="solid"/>
          </a:ln>
        </p:spPr>
      </p:sp>
      <p:sp>
        <p:nvSpPr>
          <p:cNvPr id="8" name="U06-DG-012-branch_4-anchor">
            <a:extLst>
              <a:ext uri="{FF2B5EF4-FFF2-40B4-BE49-F238E27FC236}">
                <a16:creationId xmlns:a16="http://schemas.microsoft.com/office/drawing/2014/main" id="{35499E8C-D25F-4A3B-A581-A02B9FE29898}"/>
              </a:ext>
            </a:extLst>
          </p:cNvPr>
          <p:cNvSpPr>
            <a:spLocks noGrp="1"/>
          </p:cNvSpPr>
          <p:nvPr/>
        </p:nvSpPr>
        <p:spPr>
          <a:xfrm>
            <a:off x="7284720" y="3619500"/>
            <a:ext cx="1958340" cy="1809750"/>
          </a:xfrm>
          <a:prstGeom prst="roundRect">
            <a:avLst>
              <a:gd name="adj" fmla="val 5263"/>
            </a:avLst>
          </a:prstGeom>
          <a:noFill/>
          <a:ln w="0">
            <a:noFill/>
            <a:prstDash val="solid"/>
          </a:ln>
        </p:spPr>
      </p:sp>
      <p:sp>
        <p:nvSpPr>
          <p:cNvPr id="9" name="U06-DG-012-branch_5-anchor">
            <a:extLst>
              <a:ext uri="{FF2B5EF4-FFF2-40B4-BE49-F238E27FC236}">
                <a16:creationId xmlns:a16="http://schemas.microsoft.com/office/drawing/2014/main" id="{DD7EF83F-9906-4164-AB9F-639AECF6DF0F}"/>
              </a:ext>
            </a:extLst>
          </p:cNvPr>
          <p:cNvSpPr>
            <a:spLocks noGrp="1"/>
          </p:cNvSpPr>
          <p:nvPr/>
        </p:nvSpPr>
        <p:spPr>
          <a:xfrm>
            <a:off x="9452610" y="3619500"/>
            <a:ext cx="1958340" cy="1809750"/>
          </a:xfrm>
          <a:prstGeom prst="roundRect">
            <a:avLst>
              <a:gd name="adj" fmla="val 5263"/>
            </a:avLst>
          </a:prstGeom>
          <a:noFill/>
          <a:ln w="0">
            <a:noFill/>
            <a:prstDash val="solid"/>
          </a:ln>
        </p:spPr>
      </p:sp>
      <p:cxnSp>
        <p:nvCxnSpPr>
          <p:cNvPr id="44" name="U06-DG-012-branch_edge_1"/>
          <p:cNvCxnSpPr>
            <a:stCxn id="4" idx="1"/>
            <a:endCxn id="5" idx="3"/>
          </p:cNvCxnSpPr>
          <p:nvPr/>
        </p:nvCxnSpPr>
        <p:spPr>
          <a:xfrm flipH="1">
            <a:off x="2739390" y="2024063"/>
            <a:ext cx="975360" cy="2500313"/>
          </a:xfrm>
          <a:prstGeom prst="bentConnector3">
            <a:avLst>
              <a:gd name="adj1" fmla="val 50000"/>
            </a:avLst>
          </a:prstGeom>
          <a:ln w="28575">
            <a:solidFill>
              <a:srgbClr val="3D3D3D"/>
            </a:solidFill>
            <a:prstDash val="solid"/>
            <a:tailEnd type="arrow" w="med" len="med"/>
          </a:ln>
        </p:spPr>
      </p:cxnSp>
      <p:cxnSp>
        <p:nvCxnSpPr>
          <p:cNvPr id="45" name="U06-DG-012-branch_edge_2"/>
          <p:cNvCxnSpPr>
            <a:stCxn id="4" idx="2"/>
            <a:endCxn id="6" idx="0"/>
          </p:cNvCxnSpPr>
          <p:nvPr/>
        </p:nvCxnSpPr>
        <p:spPr>
          <a:xfrm flipH="1">
            <a:off x="392811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6" name="U06-DG-012-branch_edge_3"/>
          <p:cNvCxnSpPr>
            <a:stCxn id="4" idx="2"/>
            <a:endCxn id="7" idx="0"/>
          </p:cNvCxnSpPr>
          <p:nvPr/>
        </p:nvCxnSpPr>
        <p:spPr>
          <a:xfrm>
            <a:off x="6096000" y="2667000"/>
            <a:ext cx="0" cy="952500"/>
          </a:xfrm>
          <a:prstGeom prst="straightConnector1">
            <a:avLst/>
          </a:prstGeom>
          <a:ln w="28575">
            <a:solidFill>
              <a:srgbClr val="3D3D3D"/>
            </a:solidFill>
            <a:prstDash val="solid"/>
            <a:tailEnd type="arrow" w="med" len="med"/>
          </a:ln>
        </p:spPr>
      </p:cxnSp>
      <p:cxnSp>
        <p:nvCxnSpPr>
          <p:cNvPr id="47" name="U06-DG-012-branch_edge_4"/>
          <p:cNvCxnSpPr>
            <a:stCxn id="4" idx="2"/>
            <a:endCxn id="8" idx="0"/>
          </p:cNvCxnSpPr>
          <p:nvPr/>
        </p:nvCxnSpPr>
        <p:spPr>
          <a:xfrm>
            <a:off x="609600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8" name="U06-DG-012-branch_edge_5"/>
          <p:cNvCxnSpPr>
            <a:stCxn id="4" idx="3"/>
            <a:endCxn id="9" idx="1"/>
          </p:cNvCxnSpPr>
          <p:nvPr/>
        </p:nvCxnSpPr>
        <p:spPr>
          <a:xfrm>
            <a:off x="8477250" y="2024063"/>
            <a:ext cx="975360" cy="2500313"/>
          </a:xfrm>
          <a:prstGeom prst="bentConnector3">
            <a:avLst>
              <a:gd name="adj1" fmla="val 50000"/>
            </a:avLst>
          </a:prstGeom>
          <a:ln w="28575">
            <a:solidFill>
              <a:srgbClr val="3D3D3D"/>
            </a:solidFill>
            <a:prstDash val="solid"/>
            <a:tailEnd type="arrow" w="med" len="med"/>
          </a:ln>
        </p:spPr>
      </p:cxnSp>
      <p:sp>
        <p:nvSpPr>
          <p:cNvPr id="15" name="U06-DG-012-central-box" descr="Diagrama sobre «Conocer la fuerza no alcanza para conocer el movimiento»; organiza fuerza de entrada → sistema mecánico → desplazamiento; variables que condicionan." title="Texto alternativo U06-024">
            <a:extLst>
              <a:ext uri="{FF2B5EF4-FFF2-40B4-BE49-F238E27FC236}">
                <a16:creationId xmlns:a16="http://schemas.microsoft.com/office/drawing/2014/main" id="{F01D95BF-1E9C-4FB7-8282-AAC23D442184}"/>
              </a:ext>
            </a:extLst>
          </p:cNvPr>
          <p:cNvSpPr>
            <a:spLocks noGrp="1"/>
          </p:cNvSpPr>
          <p:nvPr/>
        </p:nvSpPr>
        <p:spPr>
          <a:xfrm>
            <a:off x="3714750" y="1381125"/>
            <a:ext cx="4762500" cy="1285875"/>
          </a:xfrm>
          <a:prstGeom prst="roundRect">
            <a:avLst>
              <a:gd name="adj" fmla="val 7407"/>
            </a:avLst>
          </a:prstGeom>
          <a:solidFill>
            <a:srgbClr val="F4E9EF"/>
          </a:solidFill>
          <a:ln w="19050">
            <a:solidFill>
              <a:srgbClr val="4D1434"/>
            </a:solidFill>
            <a:prstDash val="solid"/>
          </a:ln>
        </p:spPr>
      </p:sp>
      <p:sp>
        <p:nvSpPr>
          <p:cNvPr id="16" name="U06-DG-012-central-title">
            <a:extLst>
              <a:ext uri="{FF2B5EF4-FFF2-40B4-BE49-F238E27FC236}">
                <a16:creationId xmlns:a16="http://schemas.microsoft.com/office/drawing/2014/main" id="{15E139E5-4384-4C66-8D02-FB020A569AB3}"/>
              </a:ext>
            </a:extLst>
          </p:cNvPr>
          <p:cNvSpPr>
            <a:spLocks noGrp="1"/>
          </p:cNvSpPr>
          <p:nvPr/>
        </p:nvSpPr>
        <p:spPr>
          <a:xfrm>
            <a:off x="3905250" y="1524000"/>
            <a:ext cx="4381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Sistema mecánico</a:t>
            </a:r>
          </a:p>
        </p:txBody>
      </p:sp>
      <p:sp>
        <p:nvSpPr>
          <p:cNvPr id="17" name="U06-DG-012-central-body">
            <a:extLst>
              <a:ext uri="{FF2B5EF4-FFF2-40B4-BE49-F238E27FC236}">
                <a16:creationId xmlns:a16="http://schemas.microsoft.com/office/drawing/2014/main" id="{999B64D1-3DF6-48AC-8BEF-791AC2D7C689}"/>
              </a:ext>
            </a:extLst>
          </p:cNvPr>
          <p:cNvSpPr>
            <a:spLocks noGrp="1"/>
          </p:cNvSpPr>
          <p:nvPr/>
        </p:nvSpPr>
        <p:spPr>
          <a:xfrm>
            <a:off x="3905250" y="1971675"/>
            <a:ext cx="4381500" cy="600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determina la salida</a:t>
            </a:r>
          </a:p>
        </p:txBody>
      </p:sp>
      <p:sp>
        <p:nvSpPr>
          <p:cNvPr id="18" name="U06-DG-012-branch_1-box">
            <a:extLst>
              <a:ext uri="{FF2B5EF4-FFF2-40B4-BE49-F238E27FC236}">
                <a16:creationId xmlns:a16="http://schemas.microsoft.com/office/drawing/2014/main" id="{C8DC9CF7-84FA-425A-BE6E-7F4E1BC22F1B}"/>
              </a:ext>
            </a:extLst>
          </p:cNvPr>
          <p:cNvSpPr>
            <a:spLocks noGrp="1"/>
          </p:cNvSpPr>
          <p:nvPr/>
        </p:nvSpPr>
        <p:spPr>
          <a:xfrm>
            <a:off x="781050" y="3619500"/>
            <a:ext cx="1958340" cy="1809750"/>
          </a:xfrm>
          <a:prstGeom prst="roundRect">
            <a:avLst>
              <a:gd name="adj" fmla="val 5263"/>
            </a:avLst>
          </a:prstGeom>
          <a:solidFill>
            <a:srgbClr val="E7F1F1"/>
          </a:solidFill>
          <a:ln w="19050">
            <a:solidFill>
              <a:srgbClr val="2F7E83"/>
            </a:solidFill>
            <a:prstDash val="solid"/>
          </a:ln>
        </p:spPr>
      </p:sp>
      <p:sp>
        <p:nvSpPr>
          <p:cNvPr id="19" name="U06-DG-012-branch_1-title">
            <a:extLst>
              <a:ext uri="{FF2B5EF4-FFF2-40B4-BE49-F238E27FC236}">
                <a16:creationId xmlns:a16="http://schemas.microsoft.com/office/drawing/2014/main" id="{D2FF0130-CACF-492B-89E2-D57973B6A3E2}"/>
              </a:ext>
            </a:extLst>
          </p:cNvPr>
          <p:cNvSpPr>
            <a:spLocks noGrp="1"/>
          </p:cNvSpPr>
          <p:nvPr/>
        </p:nvSpPr>
        <p:spPr>
          <a:xfrm>
            <a:off x="97155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Fuerza</a:t>
            </a:r>
          </a:p>
        </p:txBody>
      </p:sp>
      <p:sp>
        <p:nvSpPr>
          <p:cNvPr id="20" name="U06-DG-012-branch_1-body">
            <a:extLst>
              <a:ext uri="{FF2B5EF4-FFF2-40B4-BE49-F238E27FC236}">
                <a16:creationId xmlns:a16="http://schemas.microsoft.com/office/drawing/2014/main" id="{57E2E2A4-E969-4954-9CD9-03107ACC7578}"/>
              </a:ext>
            </a:extLst>
          </p:cNvPr>
          <p:cNvSpPr>
            <a:spLocks noGrp="1"/>
          </p:cNvSpPr>
          <p:nvPr/>
        </p:nvSpPr>
        <p:spPr>
          <a:xfrm>
            <a:off x="97155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21" name="U06-DG-012-branch_2-box">
            <a:extLst>
              <a:ext uri="{FF2B5EF4-FFF2-40B4-BE49-F238E27FC236}">
                <a16:creationId xmlns:a16="http://schemas.microsoft.com/office/drawing/2014/main" id="{03F8103B-CD5C-4087-A726-2508B655A867}"/>
              </a:ext>
            </a:extLst>
          </p:cNvPr>
          <p:cNvSpPr>
            <a:spLocks noGrp="1"/>
          </p:cNvSpPr>
          <p:nvPr/>
        </p:nvSpPr>
        <p:spPr>
          <a:xfrm>
            <a:off x="2948940" y="3619500"/>
            <a:ext cx="1958340" cy="1809750"/>
          </a:xfrm>
          <a:prstGeom prst="roundRect">
            <a:avLst>
              <a:gd name="adj" fmla="val 5263"/>
            </a:avLst>
          </a:prstGeom>
          <a:solidFill>
            <a:srgbClr val="F7F6F2"/>
          </a:solidFill>
          <a:ln w="19050">
            <a:solidFill>
              <a:srgbClr val="969FA7"/>
            </a:solidFill>
            <a:prstDash val="solid"/>
          </a:ln>
        </p:spPr>
      </p:sp>
      <p:sp>
        <p:nvSpPr>
          <p:cNvPr id="22" name="U06-DG-012-branch_2-title">
            <a:extLst>
              <a:ext uri="{FF2B5EF4-FFF2-40B4-BE49-F238E27FC236}">
                <a16:creationId xmlns:a16="http://schemas.microsoft.com/office/drawing/2014/main" id="{E314AEEA-E57B-4F24-896D-6F405C749099}"/>
              </a:ext>
            </a:extLst>
          </p:cNvPr>
          <p:cNvSpPr>
            <a:spLocks noGrp="1"/>
          </p:cNvSpPr>
          <p:nvPr/>
        </p:nvSpPr>
        <p:spPr>
          <a:xfrm>
            <a:off x="313944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Masa</a:t>
            </a:r>
          </a:p>
        </p:txBody>
      </p:sp>
      <p:sp>
        <p:nvSpPr>
          <p:cNvPr id="23" name="U06-DG-012-branch_2-body">
            <a:extLst>
              <a:ext uri="{FF2B5EF4-FFF2-40B4-BE49-F238E27FC236}">
                <a16:creationId xmlns:a16="http://schemas.microsoft.com/office/drawing/2014/main" id="{96910BD5-3FF7-426E-A8BA-BCB1C38FFC70}"/>
              </a:ext>
            </a:extLst>
          </p:cNvPr>
          <p:cNvSpPr>
            <a:spLocks noGrp="1"/>
          </p:cNvSpPr>
          <p:nvPr/>
        </p:nvSpPr>
        <p:spPr>
          <a:xfrm>
            <a:off x="313944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inercia</a:t>
            </a:r>
          </a:p>
        </p:txBody>
      </p:sp>
      <p:sp>
        <p:nvSpPr>
          <p:cNvPr id="24" name="U06-DG-012-branch_3-box">
            <a:extLst>
              <a:ext uri="{FF2B5EF4-FFF2-40B4-BE49-F238E27FC236}">
                <a16:creationId xmlns:a16="http://schemas.microsoft.com/office/drawing/2014/main" id="{7BF9B514-F3EC-41CA-ACB8-3C874AE63173}"/>
              </a:ext>
            </a:extLst>
          </p:cNvPr>
          <p:cNvSpPr>
            <a:spLocks noGrp="1"/>
          </p:cNvSpPr>
          <p:nvPr/>
        </p:nvSpPr>
        <p:spPr>
          <a:xfrm>
            <a:off x="5116830" y="3619500"/>
            <a:ext cx="1958340" cy="1809750"/>
          </a:xfrm>
          <a:prstGeom prst="roundRect">
            <a:avLst>
              <a:gd name="adj" fmla="val 5263"/>
            </a:avLst>
          </a:prstGeom>
          <a:solidFill>
            <a:srgbClr val="F7F6F2"/>
          </a:solidFill>
          <a:ln w="19050">
            <a:solidFill>
              <a:srgbClr val="969FA7"/>
            </a:solidFill>
            <a:prstDash val="solid"/>
          </a:ln>
        </p:spPr>
      </p:sp>
      <p:sp>
        <p:nvSpPr>
          <p:cNvPr id="25" name="U06-DG-012-branch_3-title">
            <a:extLst>
              <a:ext uri="{FF2B5EF4-FFF2-40B4-BE49-F238E27FC236}">
                <a16:creationId xmlns:a16="http://schemas.microsoft.com/office/drawing/2014/main" id="{8DFCC649-A6C2-4F0C-948C-54ED9B806B8E}"/>
              </a:ext>
            </a:extLst>
          </p:cNvPr>
          <p:cNvSpPr>
            <a:spLocks noGrp="1"/>
          </p:cNvSpPr>
          <p:nvPr/>
        </p:nvSpPr>
        <p:spPr>
          <a:xfrm>
            <a:off x="530733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Rigidez</a:t>
            </a:r>
          </a:p>
        </p:txBody>
      </p:sp>
      <p:sp>
        <p:nvSpPr>
          <p:cNvPr id="26" name="U06-DG-012-branch_3-body">
            <a:extLst>
              <a:ext uri="{FF2B5EF4-FFF2-40B4-BE49-F238E27FC236}">
                <a16:creationId xmlns:a16="http://schemas.microsoft.com/office/drawing/2014/main" id="{A15701D1-4FEE-4AB4-99F9-9ADDE930E164}"/>
              </a:ext>
            </a:extLst>
          </p:cNvPr>
          <p:cNvSpPr>
            <a:spLocks noGrp="1"/>
          </p:cNvSpPr>
          <p:nvPr/>
        </p:nvSpPr>
        <p:spPr>
          <a:xfrm>
            <a:off x="530733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opone</a:t>
            </a:r>
          </a:p>
        </p:txBody>
      </p:sp>
      <p:sp>
        <p:nvSpPr>
          <p:cNvPr id="27" name="U06-DG-012-branch_4-box">
            <a:extLst>
              <a:ext uri="{FF2B5EF4-FFF2-40B4-BE49-F238E27FC236}">
                <a16:creationId xmlns:a16="http://schemas.microsoft.com/office/drawing/2014/main" id="{DD6B69CF-FFCC-4285-B353-CAC7202B7A53}"/>
              </a:ext>
            </a:extLst>
          </p:cNvPr>
          <p:cNvSpPr>
            <a:spLocks noGrp="1"/>
          </p:cNvSpPr>
          <p:nvPr/>
        </p:nvSpPr>
        <p:spPr>
          <a:xfrm>
            <a:off x="7284720" y="3619500"/>
            <a:ext cx="1958340" cy="1809750"/>
          </a:xfrm>
          <a:prstGeom prst="roundRect">
            <a:avLst>
              <a:gd name="adj" fmla="val 5263"/>
            </a:avLst>
          </a:prstGeom>
          <a:solidFill>
            <a:srgbClr val="F7F6F2"/>
          </a:solidFill>
          <a:ln w="19050">
            <a:solidFill>
              <a:srgbClr val="969FA7"/>
            </a:solidFill>
            <a:prstDash val="solid"/>
          </a:ln>
        </p:spPr>
      </p:sp>
      <p:sp>
        <p:nvSpPr>
          <p:cNvPr id="28" name="U06-DG-012-branch_4-title">
            <a:extLst>
              <a:ext uri="{FF2B5EF4-FFF2-40B4-BE49-F238E27FC236}">
                <a16:creationId xmlns:a16="http://schemas.microsoft.com/office/drawing/2014/main" id="{AB42078A-79F8-40F0-A189-15364ECCD0C7}"/>
              </a:ext>
            </a:extLst>
          </p:cNvPr>
          <p:cNvSpPr>
            <a:spLocks noGrp="1"/>
          </p:cNvSpPr>
          <p:nvPr/>
        </p:nvSpPr>
        <p:spPr>
          <a:xfrm>
            <a:off x="747522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Pérdidas</a:t>
            </a:r>
          </a:p>
        </p:txBody>
      </p:sp>
      <p:sp>
        <p:nvSpPr>
          <p:cNvPr id="29" name="U06-DG-012-branch_4-body">
            <a:extLst>
              <a:ext uri="{FF2B5EF4-FFF2-40B4-BE49-F238E27FC236}">
                <a16:creationId xmlns:a16="http://schemas.microsoft.com/office/drawing/2014/main" id="{E3DB5DA6-2387-4964-9773-ACED8093CA8C}"/>
              </a:ext>
            </a:extLst>
          </p:cNvPr>
          <p:cNvSpPr>
            <a:spLocks noGrp="1"/>
          </p:cNvSpPr>
          <p:nvPr/>
        </p:nvSpPr>
        <p:spPr>
          <a:xfrm>
            <a:off x="747522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amortigua</a:t>
            </a:r>
          </a:p>
        </p:txBody>
      </p:sp>
      <p:sp>
        <p:nvSpPr>
          <p:cNvPr id="30" name="U06-DG-012-branch_5-box">
            <a:extLst>
              <a:ext uri="{FF2B5EF4-FFF2-40B4-BE49-F238E27FC236}">
                <a16:creationId xmlns:a16="http://schemas.microsoft.com/office/drawing/2014/main" id="{CF8D205D-F509-477C-AA2A-6FF9A1EA4AEC}"/>
              </a:ext>
            </a:extLst>
          </p:cNvPr>
          <p:cNvSpPr>
            <a:spLocks noGrp="1"/>
          </p:cNvSpPr>
          <p:nvPr/>
        </p:nvSpPr>
        <p:spPr>
          <a:xfrm>
            <a:off x="9452610" y="3619500"/>
            <a:ext cx="1958340" cy="1809750"/>
          </a:xfrm>
          <a:prstGeom prst="roundRect">
            <a:avLst>
              <a:gd name="adj" fmla="val 5263"/>
            </a:avLst>
          </a:prstGeom>
          <a:solidFill>
            <a:srgbClr val="F8EDE2"/>
          </a:solidFill>
          <a:ln w="19050">
            <a:solidFill>
              <a:srgbClr val="9F541A"/>
            </a:solidFill>
            <a:prstDash val="solid"/>
          </a:ln>
        </p:spPr>
      </p:sp>
      <p:sp>
        <p:nvSpPr>
          <p:cNvPr id="31" name="U06-DG-012-branch_5-title">
            <a:extLst>
              <a:ext uri="{FF2B5EF4-FFF2-40B4-BE49-F238E27FC236}">
                <a16:creationId xmlns:a16="http://schemas.microsoft.com/office/drawing/2014/main" id="{5D9C96BB-2B33-498C-B479-9859912C3D23}"/>
              </a:ext>
            </a:extLst>
          </p:cNvPr>
          <p:cNvSpPr>
            <a:spLocks noGrp="1"/>
          </p:cNvSpPr>
          <p:nvPr/>
        </p:nvSpPr>
        <p:spPr>
          <a:xfrm>
            <a:off x="964311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Frec.</a:t>
            </a:r>
          </a:p>
        </p:txBody>
      </p:sp>
      <p:sp>
        <p:nvSpPr>
          <p:cNvPr id="32" name="U06-DG-012-branch_5-body">
            <a:extLst>
              <a:ext uri="{FF2B5EF4-FFF2-40B4-BE49-F238E27FC236}">
                <a16:creationId xmlns:a16="http://schemas.microsoft.com/office/drawing/2014/main" id="{0C486E67-BA62-4290-819B-D0731CF78260}"/>
              </a:ext>
            </a:extLst>
          </p:cNvPr>
          <p:cNvSpPr>
            <a:spLocks noGrp="1"/>
          </p:cNvSpPr>
          <p:nvPr/>
        </p:nvSpPr>
        <p:spPr>
          <a:xfrm>
            <a:off x="964311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condiciona</a:t>
            </a:r>
          </a:p>
        </p:txBody>
      </p:sp>
      <p:sp>
        <p:nvSpPr>
          <p:cNvPr id="33" name="caption">
            <a:extLst>
              <a:ext uri="{FF2B5EF4-FFF2-40B4-BE49-F238E27FC236}">
                <a16:creationId xmlns:a16="http://schemas.microsoft.com/office/drawing/2014/main" id="{EF42A997-6E85-437D-93D2-54762498596C}"/>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tímpano real tiene una respuesta mecánica dependiente de frecuencia.</a:t>
            </a:r>
          </a:p>
        </p:txBody>
      </p:sp>
      <p:sp>
        <p:nvSpPr>
          <p:cNvPr id="34" name="credit">
            <a:extLst>
              <a:ext uri="{FF2B5EF4-FFF2-40B4-BE49-F238E27FC236}">
                <a16:creationId xmlns:a16="http://schemas.microsoft.com/office/drawing/2014/main" id="{A380B5E3-2DEA-44A5-A33C-4A494745534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26975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24535E2C-91E5-4DBE-8E0A-E57F2C3E3377}"/>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Presión acústica y presión estática actúan en tiempos distintos</a:t>
            </a:r>
          </a:p>
        </p:txBody>
      </p:sp>
      <p:sp>
        <p:nvSpPr>
          <p:cNvPr id="2" name="eyebrow">
            <a:extLst>
              <a:ext uri="{FF2B5EF4-FFF2-40B4-BE49-F238E27FC236}">
                <a16:creationId xmlns:a16="http://schemas.microsoft.com/office/drawing/2014/main" id="{8A87CC84-4029-42BC-9C1B-3E01FCD92AD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025</a:t>
            </a:r>
          </a:p>
        </p:txBody>
      </p:sp>
      <p:sp>
        <p:nvSpPr>
          <p:cNvPr id="3" name="U06-DG-013-panel_left-anchor">
            <a:extLst>
              <a:ext uri="{FF2B5EF4-FFF2-40B4-BE49-F238E27FC236}">
                <a16:creationId xmlns:a16="http://schemas.microsoft.com/office/drawing/2014/main" id="{10D24D6B-6CEA-4717-B08C-61E507EA14BC}"/>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4" name="U06-DG-013-panel_right-anchor">
            <a:extLst>
              <a:ext uri="{FF2B5EF4-FFF2-40B4-BE49-F238E27FC236}">
                <a16:creationId xmlns:a16="http://schemas.microsoft.com/office/drawing/2014/main" id="{844AF986-6996-4A7E-B179-5206D06730AB}"/>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5" name="U06-DG-013-panel_left-box" descr="Diagrama sobre «Presión acústica y presión estática actúan en tiempos distintos»; organiza criterios comunes: escala temporal, origen, efecto y mecanismo de compensación." title="Texto alternativo U06-025">
            <a:extLst>
              <a:ext uri="{FF2B5EF4-FFF2-40B4-BE49-F238E27FC236}">
                <a16:creationId xmlns:a16="http://schemas.microsoft.com/office/drawing/2014/main" id="{8801B679-D4D7-4383-9CF8-6E81DB64855F}"/>
              </a:ext>
            </a:extLst>
          </p:cNvPr>
          <p:cNvSpPr>
            <a:spLocks noGrp="1"/>
          </p:cNvSpPr>
          <p:nvPr/>
        </p:nvSpPr>
        <p:spPr>
          <a:xfrm>
            <a:off x="876300" y="1714500"/>
            <a:ext cx="4953000" cy="3333750"/>
          </a:xfrm>
          <a:prstGeom prst="roundRect">
            <a:avLst>
              <a:gd name="adj" fmla="val 2857"/>
            </a:avLst>
          </a:prstGeom>
          <a:solidFill>
            <a:srgbClr val="E7F1F1"/>
          </a:solidFill>
          <a:ln w="19050">
            <a:solidFill>
              <a:srgbClr val="2F7E83"/>
            </a:solidFill>
            <a:prstDash val="solid"/>
          </a:ln>
        </p:spPr>
      </p:sp>
      <p:sp>
        <p:nvSpPr>
          <p:cNvPr id="6" name="U06-DG-013-panel_left-title">
            <a:extLst>
              <a:ext uri="{FF2B5EF4-FFF2-40B4-BE49-F238E27FC236}">
                <a16:creationId xmlns:a16="http://schemas.microsoft.com/office/drawing/2014/main" id="{5E5DE62F-E427-4CC7-BABE-E8859EC6E375}"/>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Presión acústica</a:t>
            </a:r>
          </a:p>
        </p:txBody>
      </p:sp>
      <p:sp>
        <p:nvSpPr>
          <p:cNvPr id="7" name="U06-DG-013-panel_left-body">
            <a:extLst>
              <a:ext uri="{FF2B5EF4-FFF2-40B4-BE49-F238E27FC236}">
                <a16:creationId xmlns:a16="http://schemas.microsoft.com/office/drawing/2014/main" id="{44B69594-4378-4344-B3A1-B6B20AC0DC97}"/>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oscila alrededor del equilibrio variación rápida</a:t>
            </a:r>
          </a:p>
        </p:txBody>
      </p:sp>
      <p:sp>
        <p:nvSpPr>
          <p:cNvPr id="8" name="U06-DG-013-panel_right-box">
            <a:extLst>
              <a:ext uri="{FF2B5EF4-FFF2-40B4-BE49-F238E27FC236}">
                <a16:creationId xmlns:a16="http://schemas.microsoft.com/office/drawing/2014/main" id="{730B620A-23D3-4CD4-A86F-24B2620EE614}"/>
              </a:ext>
            </a:extLst>
          </p:cNvPr>
          <p:cNvSpPr>
            <a:spLocks noGrp="1"/>
          </p:cNvSpPr>
          <p:nvPr/>
        </p:nvSpPr>
        <p:spPr>
          <a:xfrm>
            <a:off x="6362700" y="1714500"/>
            <a:ext cx="4953000" cy="3333750"/>
          </a:xfrm>
          <a:prstGeom prst="roundRect">
            <a:avLst>
              <a:gd name="adj" fmla="val 2857"/>
            </a:avLst>
          </a:prstGeom>
          <a:solidFill>
            <a:srgbClr val="F8EDE2"/>
          </a:solidFill>
          <a:ln w="19050">
            <a:solidFill>
              <a:srgbClr val="9F541A"/>
            </a:solidFill>
            <a:prstDash val="solid"/>
          </a:ln>
        </p:spPr>
      </p:sp>
      <p:sp>
        <p:nvSpPr>
          <p:cNvPr id="9" name="U06-DG-013-panel_right-title">
            <a:extLst>
              <a:ext uri="{FF2B5EF4-FFF2-40B4-BE49-F238E27FC236}">
                <a16:creationId xmlns:a16="http://schemas.microsoft.com/office/drawing/2014/main" id="{D223CDC0-84FB-474B-A8C0-D09FAADE1960}"/>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Presión estática</a:t>
            </a:r>
          </a:p>
        </p:txBody>
      </p:sp>
      <p:sp>
        <p:nvSpPr>
          <p:cNvPr id="10" name="U06-DG-013-panel_right-body">
            <a:extLst>
              <a:ext uri="{FF2B5EF4-FFF2-40B4-BE49-F238E27FC236}">
                <a16:creationId xmlns:a16="http://schemas.microsoft.com/office/drawing/2014/main" id="{B57EBCEF-1E10-4429-92B1-066B92397CFC}"/>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desplaza el equilibrio variación lenta</a:t>
            </a:r>
          </a:p>
        </p:txBody>
      </p:sp>
      <p:sp>
        <p:nvSpPr>
          <p:cNvPr id="11" name="caption">
            <a:extLst>
              <a:ext uri="{FF2B5EF4-FFF2-40B4-BE49-F238E27FC236}">
                <a16:creationId xmlns:a16="http://schemas.microsoft.com/office/drawing/2014/main" id="{FED4CBCF-49D0-479B-A8AF-C80049BA862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acústica alterna y produce vibración; la estática cambia la posición de equil…</a:t>
            </a:r>
          </a:p>
        </p:txBody>
      </p:sp>
      <p:sp>
        <p:nvSpPr>
          <p:cNvPr id="12" name="credit">
            <a:extLst>
              <a:ext uri="{FF2B5EF4-FFF2-40B4-BE49-F238E27FC236}">
                <a16:creationId xmlns:a16="http://schemas.microsoft.com/office/drawing/2014/main" id="{0C1AD051-4708-409C-AA3D-E2A09135E7C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5A7B497D-D874-451C-A19D-4A81BE9C8174}"/>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trompa contribuye a equilibrar presión, ventilar y drenar</a:t>
            </a:r>
          </a:p>
        </p:txBody>
      </p:sp>
      <p:sp>
        <p:nvSpPr>
          <p:cNvPr id="2" name="slide-subtitle">
            <a:extLst>
              <a:ext uri="{FF2B5EF4-FFF2-40B4-BE49-F238E27FC236}">
                <a16:creationId xmlns:a16="http://schemas.microsoft.com/office/drawing/2014/main" id="{511A521A-5008-4142-A210-A95978C31AEB}"/>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apertura es intermitente y modifica condiciones del oído medio.</a:t>
            </a:r>
          </a:p>
        </p:txBody>
      </p:sp>
      <p:sp>
        <p:nvSpPr>
          <p:cNvPr id="3" name="eyebrow">
            <a:extLst>
              <a:ext uri="{FF2B5EF4-FFF2-40B4-BE49-F238E27FC236}">
                <a16:creationId xmlns:a16="http://schemas.microsoft.com/office/drawing/2014/main" id="{E5F56529-1118-4BE8-A53F-6EACEE5AD7D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026</a:t>
            </a:r>
          </a:p>
        </p:txBody>
      </p:sp>
      <p:sp>
        <p:nvSpPr>
          <p:cNvPr id="4" name="main-ideas">
            <a:extLst>
              <a:ext uri="{FF2B5EF4-FFF2-40B4-BE49-F238E27FC236}">
                <a16:creationId xmlns:a16="http://schemas.microsoft.com/office/drawing/2014/main" id="{86ECA257-BD60-49EA-B3BE-12A281218E71}"/>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La apertura es intermitente y modifica condiciones del oído medio.</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Caja timpánica ↔ nasofaringe</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tres funciones y límite no diagnóstico.</a:t>
            </a:r>
          </a:p>
        </p:txBody>
      </p:sp>
      <p:sp>
        <p:nvSpPr>
          <p:cNvPr id="5" name="side-panel-box">
            <a:extLst>
              <a:ext uri="{FF2B5EF4-FFF2-40B4-BE49-F238E27FC236}">
                <a16:creationId xmlns:a16="http://schemas.microsoft.com/office/drawing/2014/main" id="{9C4ABAA8-78E5-49BC-ABEF-B4A6C82FD1C3}"/>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DDC37043-BC4D-4286-8F0F-88901871D8F6}"/>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34E0E395-2F2C-48BE-8DFD-016C99FE236F}"/>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apertura es intermitente y modifica condiciones del oído medio.</a:t>
            </a:r>
          </a:p>
        </p:txBody>
      </p:sp>
      <p:sp>
        <p:nvSpPr>
          <p:cNvPr id="8" name="caption">
            <a:extLst>
              <a:ext uri="{FF2B5EF4-FFF2-40B4-BE49-F238E27FC236}">
                <a16:creationId xmlns:a16="http://schemas.microsoft.com/office/drawing/2014/main" id="{CEF15073-C5C1-4CBC-80EB-B15FACC62C9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apertura es intermitente y modifica condiciones del oído medio.</a:t>
            </a:r>
          </a:p>
        </p:txBody>
      </p:sp>
      <p:sp>
        <p:nvSpPr>
          <p:cNvPr id="9" name="credit">
            <a:extLst>
              <a:ext uri="{FF2B5EF4-FFF2-40B4-BE49-F238E27FC236}">
                <a16:creationId xmlns:a16="http://schemas.microsoft.com/office/drawing/2014/main" id="{39FBCA38-1526-48AF-A7CD-58DD579E2463}"/>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6.5.1; PDF p. 155; REF schilder2015; PO.</a:t>
            </a:r>
          </a:p>
        </p:txBody>
      </p:sp>
    </p:spTree>
    <p:extLst>
      <p:ext uri="{BB962C8B-B14F-4D97-AF65-F5344CB8AC3E}">
        <p14:creationId xmlns:p14="http://schemas.microsoft.com/office/powerpoint/2010/main" val="817057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lide-title">
            <a:extLst>
              <a:ext uri="{FF2B5EF4-FFF2-40B4-BE49-F238E27FC236}">
                <a16:creationId xmlns:a16="http://schemas.microsoft.com/office/drawing/2014/main" id="{41E6E397-36C8-4E26-AE2F-12022817A012}"/>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Hasta acá: Δp produce fuerza, el sistema determina movimiento</a:t>
            </a:r>
          </a:p>
        </p:txBody>
      </p:sp>
      <p:sp>
        <p:nvSpPr>
          <p:cNvPr id="2" name="eyebrow">
            <a:extLst>
              <a:ext uri="{FF2B5EF4-FFF2-40B4-BE49-F238E27FC236}">
                <a16:creationId xmlns:a16="http://schemas.microsoft.com/office/drawing/2014/main" id="{BAA25520-CE96-4F0A-8664-FDC99C12A4E1}"/>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027</a:t>
            </a:r>
          </a:p>
        </p:txBody>
      </p:sp>
      <p:sp>
        <p:nvSpPr>
          <p:cNvPr id="3" name="U06-DG-001-stage_1-anchor">
            <a:extLst>
              <a:ext uri="{FF2B5EF4-FFF2-40B4-BE49-F238E27FC236}">
                <a16:creationId xmlns:a16="http://schemas.microsoft.com/office/drawing/2014/main" id="{ECAE4C25-57BF-47DB-866E-78149586EA0D}"/>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4" name="U06-DG-001-stage_2-anchor">
            <a:extLst>
              <a:ext uri="{FF2B5EF4-FFF2-40B4-BE49-F238E27FC236}">
                <a16:creationId xmlns:a16="http://schemas.microsoft.com/office/drawing/2014/main" id="{13E77F6C-77DD-4B12-8DDD-B3BCE3A3A9BD}"/>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5" name="U06-DG-001-stage_3-anchor">
            <a:extLst>
              <a:ext uri="{FF2B5EF4-FFF2-40B4-BE49-F238E27FC236}">
                <a16:creationId xmlns:a16="http://schemas.microsoft.com/office/drawing/2014/main" id="{FCA0BAAA-E03C-4AC3-98A7-DFDFDD69CEEF}"/>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6" name="U06-DG-001-stage_4-anchor">
            <a:extLst>
              <a:ext uri="{FF2B5EF4-FFF2-40B4-BE49-F238E27FC236}">
                <a16:creationId xmlns:a16="http://schemas.microsoft.com/office/drawing/2014/main" id="{C3B28289-02F7-41AC-89ED-7C7539F0889D}"/>
              </a:ext>
            </a:extLst>
          </p:cNvPr>
          <p:cNvSpPr>
            <a:spLocks noGrp="1"/>
          </p:cNvSpPr>
          <p:nvPr/>
        </p:nvSpPr>
        <p:spPr>
          <a:xfrm>
            <a:off x="8045450" y="3952875"/>
            <a:ext cx="3365500" cy="1381125"/>
          </a:xfrm>
          <a:prstGeom prst="roundRect">
            <a:avLst>
              <a:gd name="adj" fmla="val 6897"/>
            </a:avLst>
          </a:prstGeom>
          <a:noFill/>
          <a:ln w="0">
            <a:noFill/>
            <a:prstDash val="solid"/>
          </a:ln>
        </p:spPr>
      </p:sp>
      <p:sp>
        <p:nvSpPr>
          <p:cNvPr id="7" name="U06-DG-001-stage_5-anchor">
            <a:extLst>
              <a:ext uri="{FF2B5EF4-FFF2-40B4-BE49-F238E27FC236}">
                <a16:creationId xmlns:a16="http://schemas.microsoft.com/office/drawing/2014/main" id="{F7CE8153-104B-4845-8223-7997C76A8FC5}"/>
              </a:ext>
            </a:extLst>
          </p:cNvPr>
          <p:cNvSpPr>
            <a:spLocks noGrp="1"/>
          </p:cNvSpPr>
          <p:nvPr/>
        </p:nvSpPr>
        <p:spPr>
          <a:xfrm>
            <a:off x="4413250" y="3952875"/>
            <a:ext cx="3365500" cy="1381125"/>
          </a:xfrm>
          <a:prstGeom prst="roundRect">
            <a:avLst>
              <a:gd name="adj" fmla="val 6897"/>
            </a:avLst>
          </a:prstGeom>
          <a:noFill/>
          <a:ln w="0">
            <a:noFill/>
            <a:prstDash val="solid"/>
          </a:ln>
        </p:spPr>
      </p:sp>
      <p:sp>
        <p:nvSpPr>
          <p:cNvPr id="8" name="U06-DG-001-stage_6-anchor">
            <a:extLst>
              <a:ext uri="{FF2B5EF4-FFF2-40B4-BE49-F238E27FC236}">
                <a16:creationId xmlns:a16="http://schemas.microsoft.com/office/drawing/2014/main" id="{AC147D49-8CCF-4063-B03D-033DC64182B6}"/>
              </a:ext>
            </a:extLst>
          </p:cNvPr>
          <p:cNvSpPr>
            <a:spLocks noGrp="1"/>
          </p:cNvSpPr>
          <p:nvPr/>
        </p:nvSpPr>
        <p:spPr>
          <a:xfrm>
            <a:off x="781050" y="3952875"/>
            <a:ext cx="3365500" cy="1381125"/>
          </a:xfrm>
          <a:prstGeom prst="roundRect">
            <a:avLst>
              <a:gd name="adj" fmla="val 6897"/>
            </a:avLst>
          </a:prstGeom>
          <a:noFill/>
          <a:ln w="0">
            <a:noFill/>
            <a:prstDash val="solid"/>
          </a:ln>
        </p:spPr>
      </p:sp>
      <p:cxnSp>
        <p:nvCxnSpPr>
          <p:cNvPr id="42" name="U06-DG-001-flow_1"/>
          <p:cNvCxnSpPr>
            <a:stCxn id="3" idx="3"/>
            <a:endCxn id="4"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43" name="U06-DG-001-flow_2"/>
          <p:cNvCxnSpPr>
            <a:stCxn id="4" idx="3"/>
            <a:endCxn id="5"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4" name="U06-DG-001-flow_3"/>
          <p:cNvCxnSpPr>
            <a:stCxn id="5" idx="2"/>
            <a:endCxn id="6" idx="0"/>
          </p:cNvCxnSpPr>
          <p:nvPr/>
        </p:nvCxnSpPr>
        <p:spPr>
          <a:xfrm>
            <a:off x="9728200" y="3048000"/>
            <a:ext cx="0" cy="904875"/>
          </a:xfrm>
          <a:prstGeom prst="straightConnector1">
            <a:avLst/>
          </a:prstGeom>
          <a:ln w="28575">
            <a:solidFill>
              <a:srgbClr val="3D3D3D"/>
            </a:solidFill>
            <a:prstDash val="solid"/>
            <a:tailEnd type="arrow" w="med" len="med"/>
          </a:ln>
        </p:spPr>
      </p:cxnSp>
      <p:cxnSp>
        <p:nvCxnSpPr>
          <p:cNvPr id="45" name="U06-DG-001-flow_4"/>
          <p:cNvCxnSpPr>
            <a:stCxn id="6" idx="1"/>
            <a:endCxn id="7" idx="3"/>
          </p:cNvCxnSpPr>
          <p:nvPr/>
        </p:nvCxnSpPr>
        <p:spPr>
          <a:xfrm flipH="1">
            <a:off x="7778750" y="4643438"/>
            <a:ext cx="266700" cy="0"/>
          </a:xfrm>
          <a:prstGeom prst="straightConnector1">
            <a:avLst/>
          </a:prstGeom>
          <a:ln w="28575">
            <a:solidFill>
              <a:srgbClr val="3D3D3D"/>
            </a:solidFill>
            <a:prstDash val="solid"/>
            <a:tailEnd type="arrow" w="med" len="med"/>
          </a:ln>
        </p:spPr>
      </p:cxnSp>
      <p:cxnSp>
        <p:nvCxnSpPr>
          <p:cNvPr id="46" name="U06-DG-001-flow_5"/>
          <p:cNvCxnSpPr>
            <a:stCxn id="7" idx="1"/>
            <a:endCxn id="8" idx="3"/>
          </p:cNvCxnSpPr>
          <p:nvPr/>
        </p:nvCxnSpPr>
        <p:spPr>
          <a:xfrm flipH="1">
            <a:off x="4146550" y="4643438"/>
            <a:ext cx="266700" cy="0"/>
          </a:xfrm>
          <a:prstGeom prst="straightConnector1">
            <a:avLst/>
          </a:prstGeom>
          <a:ln w="28575">
            <a:solidFill>
              <a:srgbClr val="3D3D3D"/>
            </a:solidFill>
            <a:prstDash val="solid"/>
            <a:tailEnd type="arrow" w="med" len="med"/>
          </a:ln>
        </p:spPr>
      </p:cxnSp>
      <p:sp>
        <p:nvSpPr>
          <p:cNvPr id="14" name="U06-DG-001-stage_1-box" descr="Diagrama sobre «Hasta acá: `Δp` produce fuerza, el sistema determina movimiento»; organiza tres relaciones + pregunta “¿cómo se transfiere al fluido?”." title="Texto alternativo U06-027">
            <a:extLst>
              <a:ext uri="{FF2B5EF4-FFF2-40B4-BE49-F238E27FC236}">
                <a16:creationId xmlns:a16="http://schemas.microsoft.com/office/drawing/2014/main" id="{FFEA9AC4-F683-4BAD-9CD6-3EC8D8F12CA7}"/>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5" name="U06-DG-001-stage_1-title">
            <a:extLst>
              <a:ext uri="{FF2B5EF4-FFF2-40B4-BE49-F238E27FC236}">
                <a16:creationId xmlns:a16="http://schemas.microsoft.com/office/drawing/2014/main" id="{575E6836-4BDF-4563-A5AD-47E583F45D48}"/>
              </a:ext>
            </a:extLst>
          </p:cNvPr>
          <p:cNvSpPr>
            <a:spLocks noGrp="1"/>
          </p:cNvSpPr>
          <p:nvPr/>
        </p:nvSpPr>
        <p:spPr>
          <a:xfrm>
            <a:off x="9715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Pabellón</a:t>
            </a:r>
          </a:p>
        </p:txBody>
      </p:sp>
      <p:sp>
        <p:nvSpPr>
          <p:cNvPr id="16" name="U06-DG-001-stage_1-body">
            <a:extLst>
              <a:ext uri="{FF2B5EF4-FFF2-40B4-BE49-F238E27FC236}">
                <a16:creationId xmlns:a16="http://schemas.microsoft.com/office/drawing/2014/main" id="{94A9FB50-45B1-4283-8C6E-42D15DC93148}"/>
              </a:ext>
            </a:extLst>
          </p:cNvPr>
          <p:cNvSpPr>
            <a:spLocks noGrp="1"/>
          </p:cNvSpPr>
          <p:nvPr/>
        </p:nvSpPr>
        <p:spPr>
          <a:xfrm>
            <a:off x="9715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capta y filtra</a:t>
            </a:r>
          </a:p>
        </p:txBody>
      </p:sp>
      <p:sp>
        <p:nvSpPr>
          <p:cNvPr id="17" name="U06-DG-001-stage_2-box">
            <a:extLst>
              <a:ext uri="{FF2B5EF4-FFF2-40B4-BE49-F238E27FC236}">
                <a16:creationId xmlns:a16="http://schemas.microsoft.com/office/drawing/2014/main" id="{492DA407-6FF9-4EAC-AD49-F64A3F8DC79A}"/>
              </a:ext>
            </a:extLst>
          </p:cNvPr>
          <p:cNvSpPr>
            <a:spLocks noGrp="1"/>
          </p:cNvSpPr>
          <p:nvPr/>
        </p:nvSpPr>
        <p:spPr>
          <a:xfrm>
            <a:off x="4413250" y="1666875"/>
            <a:ext cx="3365500" cy="1381125"/>
          </a:xfrm>
          <a:prstGeom prst="roundRect">
            <a:avLst>
              <a:gd name="adj" fmla="val 6897"/>
            </a:avLst>
          </a:prstGeom>
          <a:solidFill>
            <a:srgbClr val="E7F1F1"/>
          </a:solidFill>
          <a:ln w="19050">
            <a:solidFill>
              <a:srgbClr val="2F7E83"/>
            </a:solidFill>
            <a:prstDash val="solid"/>
          </a:ln>
        </p:spPr>
      </p:sp>
      <p:sp>
        <p:nvSpPr>
          <p:cNvPr id="18" name="U06-DG-001-stage_2-title">
            <a:extLst>
              <a:ext uri="{FF2B5EF4-FFF2-40B4-BE49-F238E27FC236}">
                <a16:creationId xmlns:a16="http://schemas.microsoft.com/office/drawing/2014/main" id="{8334C8E9-CCC3-4116-BDD6-ED1B79EAF8DF}"/>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19" name="U06-DG-001-stage_2-body">
            <a:extLst>
              <a:ext uri="{FF2B5EF4-FFF2-40B4-BE49-F238E27FC236}">
                <a16:creationId xmlns:a16="http://schemas.microsoft.com/office/drawing/2014/main" id="{B74E3423-ACDD-40EC-BE49-DBB085417D81}"/>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conduce presión</a:t>
            </a:r>
          </a:p>
        </p:txBody>
      </p:sp>
      <p:sp>
        <p:nvSpPr>
          <p:cNvPr id="20" name="U06-DG-001-stage_3-box">
            <a:extLst>
              <a:ext uri="{FF2B5EF4-FFF2-40B4-BE49-F238E27FC236}">
                <a16:creationId xmlns:a16="http://schemas.microsoft.com/office/drawing/2014/main" id="{F140612E-AFFF-4331-AF5E-95FB0CB1AA23}"/>
              </a:ext>
            </a:extLst>
          </p:cNvPr>
          <p:cNvSpPr>
            <a:spLocks noGrp="1"/>
          </p:cNvSpPr>
          <p:nvPr/>
        </p:nvSpPr>
        <p:spPr>
          <a:xfrm>
            <a:off x="8045450" y="1666875"/>
            <a:ext cx="3365500" cy="1381125"/>
          </a:xfrm>
          <a:prstGeom prst="roundRect">
            <a:avLst>
              <a:gd name="adj" fmla="val 6897"/>
            </a:avLst>
          </a:prstGeom>
          <a:solidFill>
            <a:srgbClr val="F4E9EF"/>
          </a:solidFill>
          <a:ln w="19050">
            <a:solidFill>
              <a:srgbClr val="4D1434"/>
            </a:solidFill>
            <a:prstDash val="solid"/>
          </a:ln>
        </p:spPr>
      </p:sp>
      <p:sp>
        <p:nvSpPr>
          <p:cNvPr id="21" name="U06-DG-001-stage_3-title">
            <a:extLst>
              <a:ext uri="{FF2B5EF4-FFF2-40B4-BE49-F238E27FC236}">
                <a16:creationId xmlns:a16="http://schemas.microsoft.com/office/drawing/2014/main" id="{F70B250A-8265-4A05-8815-121424D81069}"/>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Tímpano</a:t>
            </a:r>
          </a:p>
        </p:txBody>
      </p:sp>
      <p:sp>
        <p:nvSpPr>
          <p:cNvPr id="22" name="U06-DG-001-stage_3-body">
            <a:extLst>
              <a:ext uri="{FF2B5EF4-FFF2-40B4-BE49-F238E27FC236}">
                <a16:creationId xmlns:a16="http://schemas.microsoft.com/office/drawing/2014/main" id="{1AE0AF3C-F292-4EFE-8E93-1D04571F5F33}"/>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 → fuerza</a:t>
            </a:r>
          </a:p>
        </p:txBody>
      </p:sp>
      <p:sp>
        <p:nvSpPr>
          <p:cNvPr id="23" name="U06-DG-001-stage_4-box">
            <a:extLst>
              <a:ext uri="{FF2B5EF4-FFF2-40B4-BE49-F238E27FC236}">
                <a16:creationId xmlns:a16="http://schemas.microsoft.com/office/drawing/2014/main" id="{8F59377D-824B-4CF8-B526-AC93150F5E00}"/>
              </a:ext>
            </a:extLst>
          </p:cNvPr>
          <p:cNvSpPr>
            <a:spLocks noGrp="1"/>
          </p:cNvSpPr>
          <p:nvPr/>
        </p:nvSpPr>
        <p:spPr>
          <a:xfrm>
            <a:off x="8045450" y="3952875"/>
            <a:ext cx="3365500" cy="1381125"/>
          </a:xfrm>
          <a:prstGeom prst="roundRect">
            <a:avLst>
              <a:gd name="adj" fmla="val 6897"/>
            </a:avLst>
          </a:prstGeom>
          <a:solidFill>
            <a:srgbClr val="F4E9EF"/>
          </a:solidFill>
          <a:ln w="19050">
            <a:solidFill>
              <a:srgbClr val="4D1434"/>
            </a:solidFill>
            <a:prstDash val="solid"/>
          </a:ln>
        </p:spPr>
      </p:sp>
      <p:sp>
        <p:nvSpPr>
          <p:cNvPr id="24" name="U06-DG-001-stage_4-title">
            <a:extLst>
              <a:ext uri="{FF2B5EF4-FFF2-40B4-BE49-F238E27FC236}">
                <a16:creationId xmlns:a16="http://schemas.microsoft.com/office/drawing/2014/main" id="{1A788DDE-47BF-40A9-9BE3-ED356E52E32C}"/>
              </a:ext>
            </a:extLst>
          </p:cNvPr>
          <p:cNvSpPr>
            <a:spLocks noGrp="1"/>
          </p:cNvSpPr>
          <p:nvPr/>
        </p:nvSpPr>
        <p:spPr>
          <a:xfrm>
            <a:off x="82359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Osículos</a:t>
            </a:r>
          </a:p>
        </p:txBody>
      </p:sp>
      <p:sp>
        <p:nvSpPr>
          <p:cNvPr id="25" name="U06-DG-001-stage_4-body">
            <a:extLst>
              <a:ext uri="{FF2B5EF4-FFF2-40B4-BE49-F238E27FC236}">
                <a16:creationId xmlns:a16="http://schemas.microsoft.com/office/drawing/2014/main" id="{7CAB8567-7BE0-4119-84BE-A0BDA511751F}"/>
              </a:ext>
            </a:extLst>
          </p:cNvPr>
          <p:cNvSpPr>
            <a:spLocks noGrp="1"/>
          </p:cNvSpPr>
          <p:nvPr/>
        </p:nvSpPr>
        <p:spPr>
          <a:xfrm>
            <a:off x="82359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transfieren</a:t>
            </a:r>
          </a:p>
        </p:txBody>
      </p:sp>
      <p:sp>
        <p:nvSpPr>
          <p:cNvPr id="26" name="U06-DG-001-stage_5-box">
            <a:extLst>
              <a:ext uri="{FF2B5EF4-FFF2-40B4-BE49-F238E27FC236}">
                <a16:creationId xmlns:a16="http://schemas.microsoft.com/office/drawing/2014/main" id="{C4379D91-1E40-4F72-9E5C-ED32507F35F8}"/>
              </a:ext>
            </a:extLst>
          </p:cNvPr>
          <p:cNvSpPr>
            <a:spLocks noGrp="1"/>
          </p:cNvSpPr>
          <p:nvPr/>
        </p:nvSpPr>
        <p:spPr>
          <a:xfrm>
            <a:off x="4413250" y="3952875"/>
            <a:ext cx="3365500" cy="1381125"/>
          </a:xfrm>
          <a:prstGeom prst="roundRect">
            <a:avLst>
              <a:gd name="adj" fmla="val 6897"/>
            </a:avLst>
          </a:prstGeom>
          <a:solidFill>
            <a:srgbClr val="F8EDE2"/>
          </a:solidFill>
          <a:ln w="19050">
            <a:solidFill>
              <a:srgbClr val="9F541A"/>
            </a:solidFill>
            <a:prstDash val="solid"/>
          </a:ln>
        </p:spPr>
      </p:sp>
      <p:sp>
        <p:nvSpPr>
          <p:cNvPr id="27" name="U06-DG-001-stage_5-title">
            <a:extLst>
              <a:ext uri="{FF2B5EF4-FFF2-40B4-BE49-F238E27FC236}">
                <a16:creationId xmlns:a16="http://schemas.microsoft.com/office/drawing/2014/main" id="{3BB54B33-E068-4E14-9B4D-3A51C19327E3}"/>
              </a:ext>
            </a:extLst>
          </p:cNvPr>
          <p:cNvSpPr>
            <a:spLocks noGrp="1"/>
          </p:cNvSpPr>
          <p:nvPr/>
        </p:nvSpPr>
        <p:spPr>
          <a:xfrm>
            <a:off x="46037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Cóclea</a:t>
            </a:r>
          </a:p>
        </p:txBody>
      </p:sp>
      <p:sp>
        <p:nvSpPr>
          <p:cNvPr id="28" name="U06-DG-001-stage_5-body">
            <a:extLst>
              <a:ext uri="{FF2B5EF4-FFF2-40B4-BE49-F238E27FC236}">
                <a16:creationId xmlns:a16="http://schemas.microsoft.com/office/drawing/2014/main" id="{416F35F8-DDFA-4D28-9F26-2509696FF1E9}"/>
              </a:ext>
            </a:extLst>
          </p:cNvPr>
          <p:cNvSpPr>
            <a:spLocks noGrp="1"/>
          </p:cNvSpPr>
          <p:nvPr/>
        </p:nvSpPr>
        <p:spPr>
          <a:xfrm>
            <a:off x="46037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mecánica espacial</a:t>
            </a:r>
          </a:p>
        </p:txBody>
      </p:sp>
      <p:sp>
        <p:nvSpPr>
          <p:cNvPr id="29" name="U06-DG-001-stage_6-box">
            <a:extLst>
              <a:ext uri="{FF2B5EF4-FFF2-40B4-BE49-F238E27FC236}">
                <a16:creationId xmlns:a16="http://schemas.microsoft.com/office/drawing/2014/main" id="{D06EABB6-DC47-4F4C-8A14-CBF360430985}"/>
              </a:ext>
            </a:extLst>
          </p:cNvPr>
          <p:cNvSpPr>
            <a:spLocks noGrp="1"/>
          </p:cNvSpPr>
          <p:nvPr/>
        </p:nvSpPr>
        <p:spPr>
          <a:xfrm>
            <a:off x="781050" y="3952875"/>
            <a:ext cx="3365500" cy="1381125"/>
          </a:xfrm>
          <a:prstGeom prst="roundRect">
            <a:avLst>
              <a:gd name="adj" fmla="val 6897"/>
            </a:avLst>
          </a:prstGeom>
          <a:solidFill>
            <a:srgbClr val="F8EDE2"/>
          </a:solidFill>
          <a:ln w="19050">
            <a:solidFill>
              <a:srgbClr val="9F541A"/>
            </a:solidFill>
            <a:prstDash val="solid"/>
          </a:ln>
        </p:spPr>
      </p:sp>
      <p:sp>
        <p:nvSpPr>
          <p:cNvPr id="30" name="U06-DG-001-stage_6-title">
            <a:extLst>
              <a:ext uri="{FF2B5EF4-FFF2-40B4-BE49-F238E27FC236}">
                <a16:creationId xmlns:a16="http://schemas.microsoft.com/office/drawing/2014/main" id="{C76DB5CB-4D4F-4FCD-907B-D4B481F8B21B}"/>
              </a:ext>
            </a:extLst>
          </p:cNvPr>
          <p:cNvSpPr>
            <a:spLocks noGrp="1"/>
          </p:cNvSpPr>
          <p:nvPr/>
        </p:nvSpPr>
        <p:spPr>
          <a:xfrm>
            <a:off x="9715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Nervio</a:t>
            </a:r>
          </a:p>
        </p:txBody>
      </p:sp>
      <p:sp>
        <p:nvSpPr>
          <p:cNvPr id="31" name="U06-DG-001-stage_6-body">
            <a:extLst>
              <a:ext uri="{FF2B5EF4-FFF2-40B4-BE49-F238E27FC236}">
                <a16:creationId xmlns:a16="http://schemas.microsoft.com/office/drawing/2014/main" id="{28F8781C-1624-4558-9092-44D0C03D58F3}"/>
              </a:ext>
            </a:extLst>
          </p:cNvPr>
          <p:cNvSpPr>
            <a:spLocks noGrp="1"/>
          </p:cNvSpPr>
          <p:nvPr/>
        </p:nvSpPr>
        <p:spPr>
          <a:xfrm>
            <a:off x="9715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señal aferente</a:t>
            </a:r>
          </a:p>
        </p:txBody>
      </p:sp>
      <p:sp>
        <p:nvSpPr>
          <p:cNvPr id="32" name="caption">
            <a:extLst>
              <a:ext uri="{FF2B5EF4-FFF2-40B4-BE49-F238E27FC236}">
                <a16:creationId xmlns:a16="http://schemas.microsoft.com/office/drawing/2014/main" id="{641654FD-8D3E-4F7C-AF33-8F8C8C442474}"/>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Presión, fuerza y desplazamiento están conectados, pero exigen modelos distintos.</a:t>
            </a:r>
          </a:p>
        </p:txBody>
      </p:sp>
      <p:sp>
        <p:nvSpPr>
          <p:cNvPr id="33" name="credit">
            <a:extLst>
              <a:ext uri="{FF2B5EF4-FFF2-40B4-BE49-F238E27FC236}">
                <a16:creationId xmlns:a16="http://schemas.microsoft.com/office/drawing/2014/main" id="{90E5B9B8-FE9C-4A1D-82D2-C2277DFDA70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D9D3C0B0-9891-4469-83A4-A03C2041927E}"/>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028</a:t>
            </a:r>
          </a:p>
        </p:txBody>
      </p:sp>
      <p:sp>
        <p:nvSpPr>
          <p:cNvPr id="2" name="divider-title">
            <a:extLst>
              <a:ext uri="{FF2B5EF4-FFF2-40B4-BE49-F238E27FC236}">
                <a16:creationId xmlns:a16="http://schemas.microsoft.com/office/drawing/2014/main" id="{2D32E4FC-DCEF-4E2E-96E3-00D124A2B331}"/>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Transferir hacia un fluido exige transformar</a:t>
            </a:r>
          </a:p>
        </p:txBody>
      </p:sp>
      <p:sp>
        <p:nvSpPr>
          <p:cNvPr id="3" name="divider-subtitle">
            <a:extLst>
              <a:ext uri="{FF2B5EF4-FFF2-40B4-BE49-F238E27FC236}">
                <a16:creationId xmlns:a16="http://schemas.microsoft.com/office/drawing/2014/main" id="{83DEFEB1-6D24-4B6E-A8BE-D36540104388}"/>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¿Cómo mejora el oído medio la transferencia hacia la cóclea sin crear energía?</a:t>
            </a:r>
          </a:p>
        </p:txBody>
      </p:sp>
      <p:sp>
        <p:nvSpPr>
          <p:cNvPr id="4" name="divider-content">
            <a:extLst>
              <a:ext uri="{FF2B5EF4-FFF2-40B4-BE49-F238E27FC236}">
                <a16:creationId xmlns:a16="http://schemas.microsoft.com/office/drawing/2014/main" id="{7EF412D8-FBCF-49B6-8053-330147EF95CC}"/>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¿Cómo mejora el oído medio la transferencia hacia la cóclea sin crear energía?</a:t>
            </a:r>
          </a:p>
        </p:txBody>
      </p:sp>
    </p:spTree>
    <p:extLst>
      <p:ext uri="{BB962C8B-B14F-4D97-AF65-F5344CB8AC3E}">
        <p14:creationId xmlns:p14="http://schemas.microsoft.com/office/powerpoint/2010/main" val="1164902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8D6F8B0B-3AB8-4BD9-8A29-9F63962D9583}"/>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Martillo, yunque y estribo forman una cadena funcional</a:t>
            </a:r>
          </a:p>
        </p:txBody>
      </p:sp>
      <p:sp>
        <p:nvSpPr>
          <p:cNvPr id="2" name="slide-subtitle">
            <a:extLst>
              <a:ext uri="{FF2B5EF4-FFF2-40B4-BE49-F238E27FC236}">
                <a16:creationId xmlns:a16="http://schemas.microsoft.com/office/drawing/2014/main" id="{7601C374-A6C9-406B-9989-0BC8BD9B178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martillo recibe; el yunque transmite; el estribo actúa en la ventana oval.</a:t>
            </a:r>
          </a:p>
        </p:txBody>
      </p:sp>
      <p:sp>
        <p:nvSpPr>
          <p:cNvPr id="3" name="eyebrow">
            <a:extLst>
              <a:ext uri="{FF2B5EF4-FFF2-40B4-BE49-F238E27FC236}">
                <a16:creationId xmlns:a16="http://schemas.microsoft.com/office/drawing/2014/main" id="{8E2109E1-9885-423D-B233-640B684FC805}"/>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029</a:t>
            </a:r>
          </a:p>
        </p:txBody>
      </p:sp>
      <p:sp>
        <p:nvSpPr>
          <p:cNvPr id="4" name="main-ideas">
            <a:extLst>
              <a:ext uri="{FF2B5EF4-FFF2-40B4-BE49-F238E27FC236}">
                <a16:creationId xmlns:a16="http://schemas.microsoft.com/office/drawing/2014/main" id="{F44682BF-EE25-457C-8CEA-E114AB3FC878}"/>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El martillo recibe</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yunque transmite</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estribo actúa en la ventana oval.</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Caja, huesecillos, ventana oval/redonda y trompa en una ruta funcional.</a:t>
            </a:r>
          </a:p>
        </p:txBody>
      </p:sp>
      <p:sp>
        <p:nvSpPr>
          <p:cNvPr id="5" name="side-panel-box">
            <a:extLst>
              <a:ext uri="{FF2B5EF4-FFF2-40B4-BE49-F238E27FC236}">
                <a16:creationId xmlns:a16="http://schemas.microsoft.com/office/drawing/2014/main" id="{87E1BB60-61B4-42F7-A297-D4562D41E0BD}"/>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EA5C2183-8BFF-4EE3-9AA3-B37694262CFE}"/>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B40D8142-E3FC-4623-B94E-FF40E97CF186}"/>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martillo recibe; el yunque transmite; el estribo actúa en la ventana oval.</a:t>
            </a:r>
          </a:p>
        </p:txBody>
      </p:sp>
      <p:sp>
        <p:nvSpPr>
          <p:cNvPr id="8" name="caption">
            <a:extLst>
              <a:ext uri="{FF2B5EF4-FFF2-40B4-BE49-F238E27FC236}">
                <a16:creationId xmlns:a16="http://schemas.microsoft.com/office/drawing/2014/main" id="{28E5B84C-17D7-4763-8043-CAF56E94FB51}"/>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martillo recibe; el yunque transmite; el estribo actúa en la ventana oval.</a:t>
            </a:r>
          </a:p>
        </p:txBody>
      </p:sp>
      <p:sp>
        <p:nvSpPr>
          <p:cNvPr id="9" name="credit">
            <a:extLst>
              <a:ext uri="{FF2B5EF4-FFF2-40B4-BE49-F238E27FC236}">
                <a16:creationId xmlns:a16="http://schemas.microsoft.com/office/drawing/2014/main" id="{3EAADF6A-70EC-4F2D-AF3F-846B215A7A1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6.5.1; PDF p. 155, fig. 6.2.</a:t>
            </a:r>
          </a:p>
        </p:txBody>
      </p:sp>
    </p:spTree>
    <p:extLst>
      <p:ext uri="{BB962C8B-B14F-4D97-AF65-F5344CB8AC3E}">
        <p14:creationId xmlns:p14="http://schemas.microsoft.com/office/powerpoint/2010/main" val="1995449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3DD5DA34-AAEB-45BF-AB11-BCB067E15BD1}"/>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Aire y fluidos presentan cargas mecánicas diferentes</a:t>
            </a:r>
          </a:p>
        </p:txBody>
      </p:sp>
      <p:sp>
        <p:nvSpPr>
          <p:cNvPr id="2" name="slide-subtitle">
            <a:extLst>
              <a:ext uri="{FF2B5EF4-FFF2-40B4-BE49-F238E27FC236}">
                <a16:creationId xmlns:a16="http://schemas.microsoft.com/office/drawing/2014/main" id="{6E394075-25B4-4CE9-8AA7-5979573A25E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Sin transformación, una fracción importante de energía se refleja.</a:t>
            </a:r>
          </a:p>
        </p:txBody>
      </p:sp>
      <p:sp>
        <p:nvSpPr>
          <p:cNvPr id="3" name="eyebrow">
            <a:extLst>
              <a:ext uri="{FF2B5EF4-FFF2-40B4-BE49-F238E27FC236}">
                <a16:creationId xmlns:a16="http://schemas.microsoft.com/office/drawing/2014/main" id="{F0B954F7-823A-4C51-88DF-0A5265563AB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030</a:t>
            </a:r>
          </a:p>
        </p:txBody>
      </p:sp>
      <p:sp>
        <p:nvSpPr>
          <p:cNvPr id="4" name="U06-DG-016-central-anchor">
            <a:extLst>
              <a:ext uri="{FF2B5EF4-FFF2-40B4-BE49-F238E27FC236}">
                <a16:creationId xmlns:a16="http://schemas.microsoft.com/office/drawing/2014/main" id="{A15CB40B-83D9-445C-9376-75268E197046}"/>
              </a:ext>
            </a:extLst>
          </p:cNvPr>
          <p:cNvSpPr>
            <a:spLocks noGrp="1"/>
          </p:cNvSpPr>
          <p:nvPr/>
        </p:nvSpPr>
        <p:spPr>
          <a:xfrm>
            <a:off x="3714750" y="1381125"/>
            <a:ext cx="4762500" cy="1285875"/>
          </a:xfrm>
          <a:prstGeom prst="roundRect">
            <a:avLst>
              <a:gd name="adj" fmla="val 7407"/>
            </a:avLst>
          </a:prstGeom>
          <a:noFill/>
          <a:ln w="0">
            <a:noFill/>
            <a:prstDash val="solid"/>
          </a:ln>
        </p:spPr>
      </p:sp>
      <p:sp>
        <p:nvSpPr>
          <p:cNvPr id="5" name="U06-DG-016-branch_1-anchor">
            <a:extLst>
              <a:ext uri="{FF2B5EF4-FFF2-40B4-BE49-F238E27FC236}">
                <a16:creationId xmlns:a16="http://schemas.microsoft.com/office/drawing/2014/main" id="{4BCBC1EF-E212-4ED1-9308-500BEF819335}"/>
              </a:ext>
            </a:extLst>
          </p:cNvPr>
          <p:cNvSpPr>
            <a:spLocks noGrp="1"/>
          </p:cNvSpPr>
          <p:nvPr/>
        </p:nvSpPr>
        <p:spPr>
          <a:xfrm>
            <a:off x="781050" y="3619500"/>
            <a:ext cx="3403600" cy="1809750"/>
          </a:xfrm>
          <a:prstGeom prst="roundRect">
            <a:avLst>
              <a:gd name="adj" fmla="val 5263"/>
            </a:avLst>
          </a:prstGeom>
          <a:noFill/>
          <a:ln w="0">
            <a:noFill/>
            <a:prstDash val="solid"/>
          </a:ln>
        </p:spPr>
      </p:sp>
      <p:sp>
        <p:nvSpPr>
          <p:cNvPr id="6" name="U06-DG-016-branch_2-anchor">
            <a:extLst>
              <a:ext uri="{FF2B5EF4-FFF2-40B4-BE49-F238E27FC236}">
                <a16:creationId xmlns:a16="http://schemas.microsoft.com/office/drawing/2014/main" id="{2202E96F-18CC-44E4-80B6-EEC45415ECBA}"/>
              </a:ext>
            </a:extLst>
          </p:cNvPr>
          <p:cNvSpPr>
            <a:spLocks noGrp="1"/>
          </p:cNvSpPr>
          <p:nvPr/>
        </p:nvSpPr>
        <p:spPr>
          <a:xfrm>
            <a:off x="4394200" y="3619500"/>
            <a:ext cx="3403600" cy="1809750"/>
          </a:xfrm>
          <a:prstGeom prst="roundRect">
            <a:avLst>
              <a:gd name="adj" fmla="val 5263"/>
            </a:avLst>
          </a:prstGeom>
          <a:noFill/>
          <a:ln w="0">
            <a:noFill/>
            <a:prstDash val="solid"/>
          </a:ln>
        </p:spPr>
      </p:sp>
      <p:sp>
        <p:nvSpPr>
          <p:cNvPr id="7" name="U06-DG-016-branch_3-anchor">
            <a:extLst>
              <a:ext uri="{FF2B5EF4-FFF2-40B4-BE49-F238E27FC236}">
                <a16:creationId xmlns:a16="http://schemas.microsoft.com/office/drawing/2014/main" id="{CBFB5B3C-952B-4D25-89D5-F08A523D0F35}"/>
              </a:ext>
            </a:extLst>
          </p:cNvPr>
          <p:cNvSpPr>
            <a:spLocks noGrp="1"/>
          </p:cNvSpPr>
          <p:nvPr/>
        </p:nvSpPr>
        <p:spPr>
          <a:xfrm>
            <a:off x="8007350" y="3619500"/>
            <a:ext cx="3403600" cy="1809750"/>
          </a:xfrm>
          <a:prstGeom prst="roundRect">
            <a:avLst>
              <a:gd name="adj" fmla="val 5263"/>
            </a:avLst>
          </a:prstGeom>
          <a:noFill/>
          <a:ln w="0">
            <a:noFill/>
            <a:prstDash val="solid"/>
          </a:ln>
        </p:spPr>
      </p:sp>
      <p:cxnSp>
        <p:nvCxnSpPr>
          <p:cNvPr id="32" name="U06-DG-016-branch_edge_1"/>
          <p:cNvCxnSpPr>
            <a:stCxn id="4" idx="1"/>
            <a:endCxn id="5" idx="3"/>
          </p:cNvCxnSpPr>
          <p:nvPr/>
        </p:nvCxnSpPr>
        <p:spPr>
          <a:xfrm>
            <a:off x="3714750" y="2024063"/>
            <a:ext cx="469900" cy="2500313"/>
          </a:xfrm>
          <a:prstGeom prst="bentConnector3">
            <a:avLst>
              <a:gd name="adj1" fmla="val 50000"/>
            </a:avLst>
          </a:prstGeom>
          <a:ln w="28575">
            <a:solidFill>
              <a:srgbClr val="3D3D3D"/>
            </a:solidFill>
            <a:prstDash val="solid"/>
            <a:tailEnd type="arrow" w="med" len="med"/>
          </a:ln>
        </p:spPr>
      </p:cxnSp>
      <p:cxnSp>
        <p:nvCxnSpPr>
          <p:cNvPr id="33" name="U06-DG-016-branch_edge_2"/>
          <p:cNvCxnSpPr>
            <a:stCxn id="4" idx="2"/>
            <a:endCxn id="6" idx="0"/>
          </p:cNvCxnSpPr>
          <p:nvPr/>
        </p:nvCxnSpPr>
        <p:spPr>
          <a:xfrm>
            <a:off x="6096000" y="2667000"/>
            <a:ext cx="0" cy="952500"/>
          </a:xfrm>
          <a:prstGeom prst="straightConnector1">
            <a:avLst/>
          </a:prstGeom>
          <a:ln w="28575">
            <a:solidFill>
              <a:srgbClr val="3D3D3D"/>
            </a:solidFill>
            <a:prstDash val="solid"/>
            <a:tailEnd type="arrow" w="med" len="med"/>
          </a:ln>
        </p:spPr>
      </p:cxnSp>
      <p:cxnSp>
        <p:nvCxnSpPr>
          <p:cNvPr id="34" name="U06-DG-016-branch_edge_3"/>
          <p:cNvCxnSpPr>
            <a:stCxn id="4" idx="3"/>
            <a:endCxn id="7" idx="1"/>
          </p:cNvCxnSpPr>
          <p:nvPr/>
        </p:nvCxnSpPr>
        <p:spPr>
          <a:xfrm flipH="1">
            <a:off x="8007350" y="2024063"/>
            <a:ext cx="469900" cy="2500313"/>
          </a:xfrm>
          <a:prstGeom prst="bentConnector3">
            <a:avLst>
              <a:gd name="adj1" fmla="val 50000"/>
            </a:avLst>
          </a:prstGeom>
          <a:ln w="28575">
            <a:solidFill>
              <a:srgbClr val="3D3D3D"/>
            </a:solidFill>
            <a:prstDash val="solid"/>
            <a:tailEnd type="arrow" w="med" len="med"/>
          </a:ln>
        </p:spPr>
      </p:cxnSp>
      <p:sp>
        <p:nvSpPr>
          <p:cNvPr id="11" name="U06-DG-016-central-box" descr="Diagrama sobre «Aire y fluidos presentan cargas mecánicas diferentes»; organiza dos medios, interfaz y destinos: reflexión/transferencia; sin coeficientes numéricos." title="Texto alternativo U06-030">
            <a:extLst>
              <a:ext uri="{FF2B5EF4-FFF2-40B4-BE49-F238E27FC236}">
                <a16:creationId xmlns:a16="http://schemas.microsoft.com/office/drawing/2014/main" id="{B2E794A9-6618-4EEF-B320-0CF7F8DC1CB7}"/>
              </a:ext>
            </a:extLst>
          </p:cNvPr>
          <p:cNvSpPr>
            <a:spLocks noGrp="1"/>
          </p:cNvSpPr>
          <p:nvPr/>
        </p:nvSpPr>
        <p:spPr>
          <a:xfrm>
            <a:off x="3714750" y="1381125"/>
            <a:ext cx="4762500" cy="1285875"/>
          </a:xfrm>
          <a:prstGeom prst="roundRect">
            <a:avLst>
              <a:gd name="adj" fmla="val 7407"/>
            </a:avLst>
          </a:prstGeom>
          <a:solidFill>
            <a:srgbClr val="F4E9EF"/>
          </a:solidFill>
          <a:ln w="19050">
            <a:solidFill>
              <a:srgbClr val="4D1434"/>
            </a:solidFill>
            <a:prstDash val="solid"/>
          </a:ln>
        </p:spPr>
      </p:sp>
      <p:sp>
        <p:nvSpPr>
          <p:cNvPr id="12" name="U06-DG-016-central-title">
            <a:extLst>
              <a:ext uri="{FF2B5EF4-FFF2-40B4-BE49-F238E27FC236}">
                <a16:creationId xmlns:a16="http://schemas.microsoft.com/office/drawing/2014/main" id="{7FFC4CE2-4F6F-437C-BE13-1A1BE1194539}"/>
              </a:ext>
            </a:extLst>
          </p:cNvPr>
          <p:cNvSpPr>
            <a:spLocks noGrp="1"/>
          </p:cNvSpPr>
          <p:nvPr/>
        </p:nvSpPr>
        <p:spPr>
          <a:xfrm>
            <a:off x="3905250" y="1524000"/>
            <a:ext cx="4381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Interfaz aire–fluido</a:t>
            </a:r>
          </a:p>
        </p:txBody>
      </p:sp>
      <p:sp>
        <p:nvSpPr>
          <p:cNvPr id="13" name="U06-DG-016-central-body">
            <a:extLst>
              <a:ext uri="{FF2B5EF4-FFF2-40B4-BE49-F238E27FC236}">
                <a16:creationId xmlns:a16="http://schemas.microsoft.com/office/drawing/2014/main" id="{CDCE133D-E628-4582-9667-1E4AA477F5F8}"/>
              </a:ext>
            </a:extLst>
          </p:cNvPr>
          <p:cNvSpPr>
            <a:spLocks noGrp="1"/>
          </p:cNvSpPr>
          <p:nvPr/>
        </p:nvSpPr>
        <p:spPr>
          <a:xfrm>
            <a:off x="3905250" y="1971675"/>
            <a:ext cx="4381500" cy="600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desadaptación</a:t>
            </a:r>
          </a:p>
        </p:txBody>
      </p:sp>
      <p:sp>
        <p:nvSpPr>
          <p:cNvPr id="14" name="U06-DG-016-branch_1-box">
            <a:extLst>
              <a:ext uri="{FF2B5EF4-FFF2-40B4-BE49-F238E27FC236}">
                <a16:creationId xmlns:a16="http://schemas.microsoft.com/office/drawing/2014/main" id="{D1B85AAA-84BA-423E-807D-467167191F02}"/>
              </a:ext>
            </a:extLst>
          </p:cNvPr>
          <p:cNvSpPr>
            <a:spLocks noGrp="1"/>
          </p:cNvSpPr>
          <p:nvPr/>
        </p:nvSpPr>
        <p:spPr>
          <a:xfrm>
            <a:off x="781050" y="3619500"/>
            <a:ext cx="3403600" cy="1809750"/>
          </a:xfrm>
          <a:prstGeom prst="roundRect">
            <a:avLst>
              <a:gd name="adj" fmla="val 5263"/>
            </a:avLst>
          </a:prstGeom>
          <a:solidFill>
            <a:srgbClr val="E7F1F1"/>
          </a:solidFill>
          <a:ln w="19050">
            <a:solidFill>
              <a:srgbClr val="2F7E83"/>
            </a:solidFill>
            <a:prstDash val="solid"/>
          </a:ln>
        </p:spPr>
      </p:sp>
      <p:sp>
        <p:nvSpPr>
          <p:cNvPr id="15" name="U06-DG-016-branch_1-title">
            <a:extLst>
              <a:ext uri="{FF2B5EF4-FFF2-40B4-BE49-F238E27FC236}">
                <a16:creationId xmlns:a16="http://schemas.microsoft.com/office/drawing/2014/main" id="{50C29BA5-37AC-47D8-A8C7-7636EF53B415}"/>
              </a:ext>
            </a:extLst>
          </p:cNvPr>
          <p:cNvSpPr>
            <a:spLocks noGrp="1"/>
          </p:cNvSpPr>
          <p:nvPr/>
        </p:nvSpPr>
        <p:spPr>
          <a:xfrm>
            <a:off x="971550" y="3762375"/>
            <a:ext cx="3022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Entrada en aire</a:t>
            </a:r>
          </a:p>
        </p:txBody>
      </p:sp>
      <p:sp>
        <p:nvSpPr>
          <p:cNvPr id="16" name="U06-DG-016-branch_1-body">
            <a:extLst>
              <a:ext uri="{FF2B5EF4-FFF2-40B4-BE49-F238E27FC236}">
                <a16:creationId xmlns:a16="http://schemas.microsoft.com/office/drawing/2014/main" id="{781F0232-C0F8-43BE-BFF4-DD1FF711C50E}"/>
              </a:ext>
            </a:extLst>
          </p:cNvPr>
          <p:cNvSpPr>
            <a:spLocks noGrp="1"/>
          </p:cNvSpPr>
          <p:nvPr/>
        </p:nvSpPr>
        <p:spPr>
          <a:xfrm>
            <a:off x="971550" y="4210050"/>
            <a:ext cx="302260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energía incidente</a:t>
            </a:r>
          </a:p>
        </p:txBody>
      </p:sp>
      <p:sp>
        <p:nvSpPr>
          <p:cNvPr id="17" name="U06-DG-016-branch_2-box">
            <a:extLst>
              <a:ext uri="{FF2B5EF4-FFF2-40B4-BE49-F238E27FC236}">
                <a16:creationId xmlns:a16="http://schemas.microsoft.com/office/drawing/2014/main" id="{5BCAEA0C-91E6-4662-AA26-F31C524EF726}"/>
              </a:ext>
            </a:extLst>
          </p:cNvPr>
          <p:cNvSpPr>
            <a:spLocks noGrp="1"/>
          </p:cNvSpPr>
          <p:nvPr/>
        </p:nvSpPr>
        <p:spPr>
          <a:xfrm>
            <a:off x="4394200" y="3619500"/>
            <a:ext cx="3403600" cy="1809750"/>
          </a:xfrm>
          <a:prstGeom prst="roundRect">
            <a:avLst>
              <a:gd name="adj" fmla="val 5263"/>
            </a:avLst>
          </a:prstGeom>
          <a:solidFill>
            <a:srgbClr val="F8EDE2"/>
          </a:solidFill>
          <a:ln w="19050">
            <a:solidFill>
              <a:srgbClr val="9F541A"/>
            </a:solidFill>
            <a:prstDash val="solid"/>
          </a:ln>
        </p:spPr>
      </p:sp>
      <p:sp>
        <p:nvSpPr>
          <p:cNvPr id="18" name="U06-DG-016-branch_2-title">
            <a:extLst>
              <a:ext uri="{FF2B5EF4-FFF2-40B4-BE49-F238E27FC236}">
                <a16:creationId xmlns:a16="http://schemas.microsoft.com/office/drawing/2014/main" id="{620ED3E8-E52F-464E-A463-AB78C10C3118}"/>
              </a:ext>
            </a:extLst>
          </p:cNvPr>
          <p:cNvSpPr>
            <a:spLocks noGrp="1"/>
          </p:cNvSpPr>
          <p:nvPr/>
        </p:nvSpPr>
        <p:spPr>
          <a:xfrm>
            <a:off x="4584700" y="3762375"/>
            <a:ext cx="3022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Transferencia</a:t>
            </a:r>
          </a:p>
        </p:txBody>
      </p:sp>
      <p:sp>
        <p:nvSpPr>
          <p:cNvPr id="19" name="U06-DG-016-branch_2-body">
            <a:extLst>
              <a:ext uri="{FF2B5EF4-FFF2-40B4-BE49-F238E27FC236}">
                <a16:creationId xmlns:a16="http://schemas.microsoft.com/office/drawing/2014/main" id="{DA907229-0384-4BF4-A6E8-B84B41982799}"/>
              </a:ext>
            </a:extLst>
          </p:cNvPr>
          <p:cNvSpPr>
            <a:spLocks noGrp="1"/>
          </p:cNvSpPr>
          <p:nvPr/>
        </p:nvSpPr>
        <p:spPr>
          <a:xfrm>
            <a:off x="4584700" y="4210050"/>
            <a:ext cx="302260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hacia el fluido</a:t>
            </a:r>
          </a:p>
        </p:txBody>
      </p:sp>
      <p:sp>
        <p:nvSpPr>
          <p:cNvPr id="20" name="U06-DG-016-branch_3-box">
            <a:extLst>
              <a:ext uri="{FF2B5EF4-FFF2-40B4-BE49-F238E27FC236}">
                <a16:creationId xmlns:a16="http://schemas.microsoft.com/office/drawing/2014/main" id="{A2342E7F-6CA7-4010-B752-5733D852BE7F}"/>
              </a:ext>
            </a:extLst>
          </p:cNvPr>
          <p:cNvSpPr>
            <a:spLocks noGrp="1"/>
          </p:cNvSpPr>
          <p:nvPr/>
        </p:nvSpPr>
        <p:spPr>
          <a:xfrm>
            <a:off x="8007350" y="3619500"/>
            <a:ext cx="3403600" cy="1809750"/>
          </a:xfrm>
          <a:prstGeom prst="roundRect">
            <a:avLst>
              <a:gd name="adj" fmla="val 5263"/>
            </a:avLst>
          </a:prstGeom>
          <a:solidFill>
            <a:srgbClr val="F7F6F2"/>
          </a:solidFill>
          <a:ln w="19050">
            <a:solidFill>
              <a:srgbClr val="969FA7"/>
            </a:solidFill>
            <a:prstDash val="solid"/>
          </a:ln>
        </p:spPr>
      </p:sp>
      <p:sp>
        <p:nvSpPr>
          <p:cNvPr id="21" name="U06-DG-016-branch_3-title">
            <a:extLst>
              <a:ext uri="{FF2B5EF4-FFF2-40B4-BE49-F238E27FC236}">
                <a16:creationId xmlns:a16="http://schemas.microsoft.com/office/drawing/2014/main" id="{014B234F-5E88-4948-84E9-4BACFDFA9064}"/>
              </a:ext>
            </a:extLst>
          </p:cNvPr>
          <p:cNvSpPr>
            <a:spLocks noGrp="1"/>
          </p:cNvSpPr>
          <p:nvPr/>
        </p:nvSpPr>
        <p:spPr>
          <a:xfrm>
            <a:off x="8197850" y="3762375"/>
            <a:ext cx="3022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Reflexión</a:t>
            </a:r>
          </a:p>
        </p:txBody>
      </p:sp>
      <p:sp>
        <p:nvSpPr>
          <p:cNvPr id="22" name="U06-DG-016-branch_3-body">
            <a:extLst>
              <a:ext uri="{FF2B5EF4-FFF2-40B4-BE49-F238E27FC236}">
                <a16:creationId xmlns:a16="http://schemas.microsoft.com/office/drawing/2014/main" id="{0BDB0635-B48D-411C-AA59-DF6EE1FE2133}"/>
              </a:ext>
            </a:extLst>
          </p:cNvPr>
          <p:cNvSpPr>
            <a:spLocks noGrp="1"/>
          </p:cNvSpPr>
          <p:nvPr/>
        </p:nvSpPr>
        <p:spPr>
          <a:xfrm>
            <a:off x="8197850" y="4210050"/>
            <a:ext cx="302260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hacia el aire</a:t>
            </a:r>
          </a:p>
        </p:txBody>
      </p:sp>
      <p:sp>
        <p:nvSpPr>
          <p:cNvPr id="23" name="caption">
            <a:extLst>
              <a:ext uri="{FF2B5EF4-FFF2-40B4-BE49-F238E27FC236}">
                <a16:creationId xmlns:a16="http://schemas.microsoft.com/office/drawing/2014/main" id="{CBF5E4A7-343E-4E67-8A5F-65091B9A1C6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Sin transformación, una fracción importante de energía se refleja.</a:t>
            </a:r>
          </a:p>
        </p:txBody>
      </p:sp>
      <p:sp>
        <p:nvSpPr>
          <p:cNvPr id="24" name="credit">
            <a:extLst>
              <a:ext uri="{FF2B5EF4-FFF2-40B4-BE49-F238E27FC236}">
                <a16:creationId xmlns:a16="http://schemas.microsoft.com/office/drawing/2014/main" id="{3E7A0F85-2656-4A74-B71C-03C5A8BDC6B8}"/>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26975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38F2141C-68BD-4603-9D23-D43973C450B9}"/>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Dos recursos colaboran en la transformación</a:t>
            </a:r>
          </a:p>
        </p:txBody>
      </p:sp>
      <p:sp>
        <p:nvSpPr>
          <p:cNvPr id="2" name="slide-subtitle">
            <a:extLst>
              <a:ext uri="{FF2B5EF4-FFF2-40B4-BE49-F238E27FC236}">
                <a16:creationId xmlns:a16="http://schemas.microsoft.com/office/drawing/2014/main" id="{E3649DBE-FF1F-4631-98A5-96202987DCF8}"/>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Área menor y acción de palanca cambian fuerza, presión y desplazamiento.</a:t>
            </a:r>
          </a:p>
        </p:txBody>
      </p:sp>
      <p:sp>
        <p:nvSpPr>
          <p:cNvPr id="3" name="eyebrow">
            <a:extLst>
              <a:ext uri="{FF2B5EF4-FFF2-40B4-BE49-F238E27FC236}">
                <a16:creationId xmlns:a16="http://schemas.microsoft.com/office/drawing/2014/main" id="{7F46E3F5-6B5C-4BB8-903C-14817C4D2E7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031</a:t>
            </a:r>
          </a:p>
        </p:txBody>
      </p:sp>
      <p:sp>
        <p:nvSpPr>
          <p:cNvPr id="4" name="U06-DG-017-stage_1-anchor">
            <a:extLst>
              <a:ext uri="{FF2B5EF4-FFF2-40B4-BE49-F238E27FC236}">
                <a16:creationId xmlns:a16="http://schemas.microsoft.com/office/drawing/2014/main" id="{B5191003-B467-4567-A337-05CC8193B98D}"/>
              </a:ext>
            </a:extLst>
          </p:cNvPr>
          <p:cNvSpPr>
            <a:spLocks noGrp="1"/>
          </p:cNvSpPr>
          <p:nvPr/>
        </p:nvSpPr>
        <p:spPr>
          <a:xfrm>
            <a:off x="781050" y="2428875"/>
            <a:ext cx="3340100" cy="1666875"/>
          </a:xfrm>
          <a:prstGeom prst="roundRect">
            <a:avLst>
              <a:gd name="adj" fmla="val 5714"/>
            </a:avLst>
          </a:prstGeom>
          <a:noFill/>
          <a:ln w="0">
            <a:noFill/>
            <a:prstDash val="solid"/>
          </a:ln>
        </p:spPr>
      </p:sp>
      <p:sp>
        <p:nvSpPr>
          <p:cNvPr id="5" name="U06-DG-017-stage_2-anchor">
            <a:extLst>
              <a:ext uri="{FF2B5EF4-FFF2-40B4-BE49-F238E27FC236}">
                <a16:creationId xmlns:a16="http://schemas.microsoft.com/office/drawing/2014/main" id="{B181921C-7D56-437D-9D94-FC4B5F11715E}"/>
              </a:ext>
            </a:extLst>
          </p:cNvPr>
          <p:cNvSpPr>
            <a:spLocks noGrp="1"/>
          </p:cNvSpPr>
          <p:nvPr/>
        </p:nvSpPr>
        <p:spPr>
          <a:xfrm>
            <a:off x="4425950" y="2428875"/>
            <a:ext cx="3340100" cy="1666875"/>
          </a:xfrm>
          <a:prstGeom prst="roundRect">
            <a:avLst>
              <a:gd name="adj" fmla="val 5714"/>
            </a:avLst>
          </a:prstGeom>
          <a:noFill/>
          <a:ln w="0">
            <a:noFill/>
            <a:prstDash val="solid"/>
          </a:ln>
        </p:spPr>
      </p:sp>
      <p:sp>
        <p:nvSpPr>
          <p:cNvPr id="6" name="U06-DG-017-stage_3-anchor">
            <a:extLst>
              <a:ext uri="{FF2B5EF4-FFF2-40B4-BE49-F238E27FC236}">
                <a16:creationId xmlns:a16="http://schemas.microsoft.com/office/drawing/2014/main" id="{F30555AE-F82E-4905-81CE-C41CCC251CE7}"/>
              </a:ext>
            </a:extLst>
          </p:cNvPr>
          <p:cNvSpPr>
            <a:spLocks noGrp="1"/>
          </p:cNvSpPr>
          <p:nvPr/>
        </p:nvSpPr>
        <p:spPr>
          <a:xfrm>
            <a:off x="8070850" y="2428875"/>
            <a:ext cx="3340100" cy="1666875"/>
          </a:xfrm>
          <a:prstGeom prst="roundRect">
            <a:avLst>
              <a:gd name="adj" fmla="val 5714"/>
            </a:avLst>
          </a:prstGeom>
          <a:noFill/>
          <a:ln w="0">
            <a:noFill/>
            <a:prstDash val="solid"/>
          </a:ln>
        </p:spPr>
      </p:sp>
      <p:cxnSp>
        <p:nvCxnSpPr>
          <p:cNvPr id="26" name="U06-DG-017-flow_1"/>
          <p:cNvCxnSpPr>
            <a:stCxn id="4" idx="3"/>
            <a:endCxn id="5" idx="1"/>
          </p:cNvCxnSpPr>
          <p:nvPr/>
        </p:nvCxnSpPr>
        <p:spPr>
          <a:xfrm>
            <a:off x="4121150" y="3262313"/>
            <a:ext cx="304800" cy="0"/>
          </a:xfrm>
          <a:prstGeom prst="straightConnector1">
            <a:avLst/>
          </a:prstGeom>
          <a:ln w="28575">
            <a:solidFill>
              <a:srgbClr val="3D3D3D"/>
            </a:solidFill>
            <a:prstDash val="solid"/>
            <a:tailEnd type="arrow" w="med" len="med"/>
          </a:ln>
        </p:spPr>
      </p:cxnSp>
      <p:cxnSp>
        <p:nvCxnSpPr>
          <p:cNvPr id="27" name="U06-DG-017-flow_2"/>
          <p:cNvCxnSpPr>
            <a:stCxn id="5" idx="3"/>
            <a:endCxn id="6" idx="1"/>
          </p:cNvCxnSpPr>
          <p:nvPr/>
        </p:nvCxnSpPr>
        <p:spPr>
          <a:xfrm>
            <a:off x="7766050" y="3262313"/>
            <a:ext cx="304800" cy="0"/>
          </a:xfrm>
          <a:prstGeom prst="straightConnector1">
            <a:avLst/>
          </a:prstGeom>
          <a:ln w="28575">
            <a:solidFill>
              <a:srgbClr val="3D3D3D"/>
            </a:solidFill>
            <a:prstDash val="solid"/>
            <a:tailEnd type="arrow" w="med" len="med"/>
          </a:ln>
        </p:spPr>
      </p:cxnSp>
      <p:sp>
        <p:nvSpPr>
          <p:cNvPr id="9" name="U06-DG-017-stage_1-box" descr="Diagrama sobre «Dos recursos colaboran en la transformación»; organiza 1) diferencia de áreas; 2) geometría martillo–yunque; 3) carga coclear." title="Texto alternativo U06-031">
            <a:extLst>
              <a:ext uri="{FF2B5EF4-FFF2-40B4-BE49-F238E27FC236}">
                <a16:creationId xmlns:a16="http://schemas.microsoft.com/office/drawing/2014/main" id="{3064B0C6-98A0-4F85-91B5-92AD50FC184A}"/>
              </a:ext>
            </a:extLst>
          </p:cNvPr>
          <p:cNvSpPr>
            <a:spLocks noGrp="1"/>
          </p:cNvSpPr>
          <p:nvPr/>
        </p:nvSpPr>
        <p:spPr>
          <a:xfrm>
            <a:off x="781050" y="2428875"/>
            <a:ext cx="3340100" cy="1666875"/>
          </a:xfrm>
          <a:prstGeom prst="roundRect">
            <a:avLst>
              <a:gd name="adj" fmla="val 5714"/>
            </a:avLst>
          </a:prstGeom>
          <a:solidFill>
            <a:srgbClr val="F4E9EF"/>
          </a:solidFill>
          <a:ln w="19050">
            <a:solidFill>
              <a:srgbClr val="4D1434"/>
            </a:solidFill>
            <a:prstDash val="solid"/>
          </a:ln>
        </p:spPr>
      </p:sp>
      <p:sp>
        <p:nvSpPr>
          <p:cNvPr id="10" name="U06-DG-017-stage_1-title">
            <a:extLst>
              <a:ext uri="{FF2B5EF4-FFF2-40B4-BE49-F238E27FC236}">
                <a16:creationId xmlns:a16="http://schemas.microsoft.com/office/drawing/2014/main" id="{B0AA7EEE-DF6B-422D-B365-5397FD333CEF}"/>
              </a:ext>
            </a:extLst>
          </p:cNvPr>
          <p:cNvSpPr>
            <a:spLocks noGrp="1"/>
          </p:cNvSpPr>
          <p:nvPr/>
        </p:nvSpPr>
        <p:spPr>
          <a:xfrm>
            <a:off x="971550" y="2571750"/>
            <a:ext cx="29591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Relación de áreas</a:t>
            </a:r>
          </a:p>
        </p:txBody>
      </p:sp>
      <p:sp>
        <p:nvSpPr>
          <p:cNvPr id="11" name="U06-DG-017-stage_1-body">
            <a:extLst>
              <a:ext uri="{FF2B5EF4-FFF2-40B4-BE49-F238E27FC236}">
                <a16:creationId xmlns:a16="http://schemas.microsoft.com/office/drawing/2014/main" id="{F838355B-86FD-43A7-A0EE-87C7C8718900}"/>
              </a:ext>
            </a:extLst>
          </p:cNvPr>
          <p:cNvSpPr>
            <a:spLocks noGrp="1"/>
          </p:cNvSpPr>
          <p:nvPr/>
        </p:nvSpPr>
        <p:spPr>
          <a:xfrm>
            <a:off x="971550" y="3019425"/>
            <a:ext cx="2959100"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concentra presión</a:t>
            </a:r>
          </a:p>
        </p:txBody>
      </p:sp>
      <p:sp>
        <p:nvSpPr>
          <p:cNvPr id="12" name="U06-DG-017-stage_2-box">
            <a:extLst>
              <a:ext uri="{FF2B5EF4-FFF2-40B4-BE49-F238E27FC236}">
                <a16:creationId xmlns:a16="http://schemas.microsoft.com/office/drawing/2014/main" id="{179499FF-9E4F-4E57-B8A5-FB8009116D01}"/>
              </a:ext>
            </a:extLst>
          </p:cNvPr>
          <p:cNvSpPr>
            <a:spLocks noGrp="1"/>
          </p:cNvSpPr>
          <p:nvPr/>
        </p:nvSpPr>
        <p:spPr>
          <a:xfrm>
            <a:off x="4425950" y="2428875"/>
            <a:ext cx="3340100" cy="1666875"/>
          </a:xfrm>
          <a:prstGeom prst="roundRect">
            <a:avLst>
              <a:gd name="adj" fmla="val 5714"/>
            </a:avLst>
          </a:prstGeom>
          <a:solidFill>
            <a:srgbClr val="F7F6F2"/>
          </a:solidFill>
          <a:ln w="19050">
            <a:solidFill>
              <a:srgbClr val="969FA7"/>
            </a:solidFill>
            <a:prstDash val="solid"/>
          </a:ln>
        </p:spPr>
      </p:sp>
      <p:sp>
        <p:nvSpPr>
          <p:cNvPr id="13" name="U06-DG-017-stage_2-title">
            <a:extLst>
              <a:ext uri="{FF2B5EF4-FFF2-40B4-BE49-F238E27FC236}">
                <a16:creationId xmlns:a16="http://schemas.microsoft.com/office/drawing/2014/main" id="{32C66FE7-1EE3-4A57-97E4-D03D327290B8}"/>
              </a:ext>
            </a:extLst>
          </p:cNvPr>
          <p:cNvSpPr>
            <a:spLocks noGrp="1"/>
          </p:cNvSpPr>
          <p:nvPr/>
        </p:nvSpPr>
        <p:spPr>
          <a:xfrm>
            <a:off x="4616450" y="2571750"/>
            <a:ext cx="29591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Palanca osicular</a:t>
            </a:r>
          </a:p>
        </p:txBody>
      </p:sp>
      <p:sp>
        <p:nvSpPr>
          <p:cNvPr id="14" name="U06-DG-017-stage_2-body">
            <a:extLst>
              <a:ext uri="{FF2B5EF4-FFF2-40B4-BE49-F238E27FC236}">
                <a16:creationId xmlns:a16="http://schemas.microsoft.com/office/drawing/2014/main" id="{B683C9DB-4D67-4CDA-A015-4BE2DDF7C36B}"/>
              </a:ext>
            </a:extLst>
          </p:cNvPr>
          <p:cNvSpPr>
            <a:spLocks noGrp="1"/>
          </p:cNvSpPr>
          <p:nvPr/>
        </p:nvSpPr>
        <p:spPr>
          <a:xfrm>
            <a:off x="4616450" y="3019425"/>
            <a:ext cx="2959100"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intercambia fuerza y movimiento</a:t>
            </a:r>
          </a:p>
        </p:txBody>
      </p:sp>
      <p:sp>
        <p:nvSpPr>
          <p:cNvPr id="15" name="U06-DG-017-stage_3-box">
            <a:extLst>
              <a:ext uri="{FF2B5EF4-FFF2-40B4-BE49-F238E27FC236}">
                <a16:creationId xmlns:a16="http://schemas.microsoft.com/office/drawing/2014/main" id="{9D96E0AC-C365-499A-AABA-BBDDB0BA3838}"/>
              </a:ext>
            </a:extLst>
          </p:cNvPr>
          <p:cNvSpPr>
            <a:spLocks noGrp="1"/>
          </p:cNvSpPr>
          <p:nvPr/>
        </p:nvSpPr>
        <p:spPr>
          <a:xfrm>
            <a:off x="8070850" y="2428875"/>
            <a:ext cx="3340100" cy="1666875"/>
          </a:xfrm>
          <a:prstGeom prst="roundRect">
            <a:avLst>
              <a:gd name="adj" fmla="val 5714"/>
            </a:avLst>
          </a:prstGeom>
          <a:solidFill>
            <a:srgbClr val="F8EDE2"/>
          </a:solidFill>
          <a:ln w="19050">
            <a:solidFill>
              <a:srgbClr val="9F541A"/>
            </a:solidFill>
            <a:prstDash val="solid"/>
          </a:ln>
        </p:spPr>
      </p:sp>
      <p:sp>
        <p:nvSpPr>
          <p:cNvPr id="16" name="U06-DG-017-stage_3-title">
            <a:extLst>
              <a:ext uri="{FF2B5EF4-FFF2-40B4-BE49-F238E27FC236}">
                <a16:creationId xmlns:a16="http://schemas.microsoft.com/office/drawing/2014/main" id="{15978EA9-35D4-4346-AB71-B81C69C9B4CC}"/>
              </a:ext>
            </a:extLst>
          </p:cNvPr>
          <p:cNvSpPr>
            <a:spLocks noGrp="1"/>
          </p:cNvSpPr>
          <p:nvPr/>
        </p:nvSpPr>
        <p:spPr>
          <a:xfrm>
            <a:off x="8261350" y="2571750"/>
            <a:ext cx="29591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Ventana oval</a:t>
            </a:r>
          </a:p>
        </p:txBody>
      </p:sp>
      <p:sp>
        <p:nvSpPr>
          <p:cNvPr id="17" name="U06-DG-017-stage_3-body">
            <a:extLst>
              <a:ext uri="{FF2B5EF4-FFF2-40B4-BE49-F238E27FC236}">
                <a16:creationId xmlns:a16="http://schemas.microsoft.com/office/drawing/2014/main" id="{C8B6AE93-4395-41FF-8480-90E7B75BE83E}"/>
              </a:ext>
            </a:extLst>
          </p:cNvPr>
          <p:cNvSpPr>
            <a:spLocks noGrp="1"/>
          </p:cNvSpPr>
          <p:nvPr/>
        </p:nvSpPr>
        <p:spPr>
          <a:xfrm>
            <a:off x="8261350" y="3019425"/>
            <a:ext cx="2959100"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 al fluido</a:t>
            </a:r>
          </a:p>
        </p:txBody>
      </p:sp>
      <p:sp>
        <p:nvSpPr>
          <p:cNvPr id="18" name="caption">
            <a:extLst>
              <a:ext uri="{FF2B5EF4-FFF2-40B4-BE49-F238E27FC236}">
                <a16:creationId xmlns:a16="http://schemas.microsoft.com/office/drawing/2014/main" id="{CBFF6034-4B0C-45E7-B462-6962A3278484}"/>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Área menor y acción de palanca cambian fuerza, presión y desplazamiento.</a:t>
            </a:r>
          </a:p>
        </p:txBody>
      </p:sp>
      <p:sp>
        <p:nvSpPr>
          <p:cNvPr id="19" name="credit">
            <a:extLst>
              <a:ext uri="{FF2B5EF4-FFF2-40B4-BE49-F238E27FC236}">
                <a16:creationId xmlns:a16="http://schemas.microsoft.com/office/drawing/2014/main" id="{D1927A15-443D-4D5A-9505-2AF110C83193}"/>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6307D255-D7AE-4109-8AFA-86E156D21F0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razón de áreas compara superficies efectivas</a:t>
            </a:r>
          </a:p>
        </p:txBody>
      </p:sp>
      <p:sp>
        <p:nvSpPr>
          <p:cNvPr id="2" name="slide-subtitle">
            <a:extLst>
              <a:ext uri="{FF2B5EF4-FFF2-40B4-BE49-F238E27FC236}">
                <a16:creationId xmlns:a16="http://schemas.microsoft.com/office/drawing/2014/main" id="{0DF3102C-E0E5-4667-BAB3-8DAE8A0CEED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Una misma fuerza sobre menor área produce mayor presión ideal.</a:t>
            </a:r>
          </a:p>
        </p:txBody>
      </p:sp>
      <p:sp>
        <p:nvSpPr>
          <p:cNvPr id="3" name="eyebrow">
            <a:extLst>
              <a:ext uri="{FF2B5EF4-FFF2-40B4-BE49-F238E27FC236}">
                <a16:creationId xmlns:a16="http://schemas.microsoft.com/office/drawing/2014/main" id="{09AE6EAF-129C-4E3F-917A-44CA9828DD6F}"/>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032</a:t>
            </a:r>
          </a:p>
        </p:txBody>
      </p:sp>
      <p:sp>
        <p:nvSpPr>
          <p:cNvPr id="4" name="equation-box">
            <a:extLst>
              <a:ext uri="{FF2B5EF4-FFF2-40B4-BE49-F238E27FC236}">
                <a16:creationId xmlns:a16="http://schemas.microsoft.com/office/drawing/2014/main" id="{3F2D1ED3-C079-409D-8E09-31C2F1131CB2}"/>
              </a:ext>
            </a:extLst>
          </p:cNvPr>
          <p:cNvSpPr>
            <a:spLocks noGrp="1"/>
          </p:cNvSpPr>
          <p:nvPr/>
        </p:nvSpPr>
        <p:spPr>
          <a:xfrm>
            <a:off x="1285875" y="1733550"/>
            <a:ext cx="9620250" cy="1000125"/>
          </a:xfrm>
          <a:prstGeom prst="roundRect">
            <a:avLst>
              <a:gd name="adj" fmla="val 11429"/>
            </a:avLst>
          </a:prstGeom>
          <a:solidFill>
            <a:srgbClr val="F7F6F2"/>
          </a:solidFill>
          <a:ln w="19050">
            <a:solidFill>
              <a:srgbClr val="903163"/>
            </a:solidFill>
            <a:prstDash val="solid"/>
          </a:ln>
        </p:spPr>
      </p:sp>
      <p:sp>
        <p:nvSpPr>
          <p:cNvPr id="5" name="equation">
            <a:extLst>
              <a:ext uri="{FF2B5EF4-FFF2-40B4-BE49-F238E27FC236}">
                <a16:creationId xmlns:a16="http://schemas.microsoft.com/office/drawing/2014/main" id="{699B36FE-DE9B-4371-B08B-C1E931AF39CC}"/>
              </a:ext>
            </a:extLst>
          </p:cNvPr>
          <p:cNvSpPr>
            <a:spLocks noGrp="1"/>
          </p:cNvSpPr>
          <p:nvPr/>
        </p:nvSpPr>
        <p:spPr>
          <a:xfrm>
            <a:off x="1514475" y="1847850"/>
            <a:ext cx="9163050" cy="771525"/>
          </a:xfrm>
          <a:prstGeom prst="rect">
            <a:avLst/>
          </a:prstGeom>
          <a:noFill/>
          <a:ln w="0">
            <a:noFill/>
            <a:prstDash val="solid"/>
          </a:ln>
        </p:spPr>
        <p:txBody>
          <a:bodyPr wrap="square" lIns="0" tIns="0" rIns="0" bIns="0" anchor="ctr">
            <a:noAutofit/>
          </a:bodyPr>
          <a:lstStyle/>
          <a:p>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Provisional: R_S = S_TM/S_E; razón adimensional.</a:t>
            </a:r>
          </a:p>
        </p:txBody>
      </p:sp>
      <p:sp>
        <p:nvSpPr>
          <p:cNvPr id="6" name="equation-meaning-box">
            <a:extLst>
              <a:ext uri="{FF2B5EF4-FFF2-40B4-BE49-F238E27FC236}">
                <a16:creationId xmlns:a16="http://schemas.microsoft.com/office/drawing/2014/main" id="{4D11F542-2EBE-4B24-92FB-9F8E728C0D23}"/>
              </a:ext>
            </a:extLst>
          </p:cNvPr>
          <p:cNvSpPr>
            <a:spLocks noGrp="1"/>
          </p:cNvSpPr>
          <p:nvPr/>
        </p:nvSpPr>
        <p:spPr>
          <a:xfrm>
            <a:off x="838200" y="3095625"/>
            <a:ext cx="4953000" cy="2381250"/>
          </a:xfrm>
          <a:prstGeom prst="roundRect">
            <a:avLst>
              <a:gd name="adj" fmla="val 4800"/>
            </a:avLst>
          </a:prstGeom>
          <a:solidFill>
            <a:srgbClr val="E7F1F1"/>
          </a:solidFill>
          <a:ln w="19050">
            <a:solidFill>
              <a:srgbClr val="2F7E83"/>
            </a:solidFill>
            <a:prstDash val="solid"/>
          </a:ln>
        </p:spPr>
      </p:sp>
      <p:sp>
        <p:nvSpPr>
          <p:cNvPr id="7" name="equation-meaning-title">
            <a:extLst>
              <a:ext uri="{FF2B5EF4-FFF2-40B4-BE49-F238E27FC236}">
                <a16:creationId xmlns:a16="http://schemas.microsoft.com/office/drawing/2014/main" id="{86610B8E-2F71-4D29-89D4-F4A53781E9DE}"/>
              </a:ext>
            </a:extLst>
          </p:cNvPr>
          <p:cNvSpPr>
            <a:spLocks noGrp="1"/>
          </p:cNvSpPr>
          <p:nvPr/>
        </p:nvSpPr>
        <p:spPr>
          <a:xfrm>
            <a:off x="100965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8" name="equation-meaning-body">
            <a:extLst>
              <a:ext uri="{FF2B5EF4-FFF2-40B4-BE49-F238E27FC236}">
                <a16:creationId xmlns:a16="http://schemas.microsoft.com/office/drawing/2014/main" id="{F004C8DE-861F-4A4D-9903-D4E9108FFC91}"/>
              </a:ext>
            </a:extLst>
          </p:cNvPr>
          <p:cNvSpPr>
            <a:spLocks noGrp="1"/>
          </p:cNvSpPr>
          <p:nvPr/>
        </p:nvSpPr>
        <p:spPr>
          <a:xfrm>
            <a:off x="100965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Razón de áreas: cociente entre superficies efectivas; no tiene unidad.</a:t>
            </a:r>
          </a:p>
        </p:txBody>
      </p:sp>
      <p:sp>
        <p:nvSpPr>
          <p:cNvPr id="9" name="equation-use-box">
            <a:extLst>
              <a:ext uri="{FF2B5EF4-FFF2-40B4-BE49-F238E27FC236}">
                <a16:creationId xmlns:a16="http://schemas.microsoft.com/office/drawing/2014/main" id="{E755CE36-B367-4759-BCCD-27CAED6E470E}"/>
              </a:ext>
            </a:extLst>
          </p:cNvPr>
          <p:cNvSpPr>
            <a:spLocks noGrp="1"/>
          </p:cNvSpPr>
          <p:nvPr/>
        </p:nvSpPr>
        <p:spPr>
          <a:xfrm>
            <a:off x="6381750" y="3095625"/>
            <a:ext cx="4953000" cy="2381250"/>
          </a:xfrm>
          <a:prstGeom prst="roundRect">
            <a:avLst>
              <a:gd name="adj" fmla="val 4800"/>
            </a:avLst>
          </a:prstGeom>
          <a:solidFill>
            <a:srgbClr val="F8EDE2"/>
          </a:solidFill>
          <a:ln w="19050">
            <a:solidFill>
              <a:srgbClr val="9F541A"/>
            </a:solidFill>
            <a:prstDash val="solid"/>
          </a:ln>
        </p:spPr>
      </p:sp>
      <p:sp>
        <p:nvSpPr>
          <p:cNvPr id="10" name="equation-use-title">
            <a:extLst>
              <a:ext uri="{FF2B5EF4-FFF2-40B4-BE49-F238E27FC236}">
                <a16:creationId xmlns:a16="http://schemas.microsoft.com/office/drawing/2014/main" id="{41E3A189-1B1A-4B3F-8FF6-68110C6599EC}"/>
              </a:ext>
            </a:extLst>
          </p:cNvPr>
          <p:cNvSpPr>
            <a:spLocks noGrp="1"/>
          </p:cNvSpPr>
          <p:nvPr/>
        </p:nvSpPr>
        <p:spPr>
          <a:xfrm>
            <a:off x="655320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11" name="equation-use-body">
            <a:extLst>
              <a:ext uri="{FF2B5EF4-FFF2-40B4-BE49-F238E27FC236}">
                <a16:creationId xmlns:a16="http://schemas.microsoft.com/office/drawing/2014/main" id="{31FA7A01-7EE0-4D0A-BB6C-353263A49002}"/>
              </a:ext>
            </a:extLst>
          </p:cNvPr>
          <p:cNvSpPr>
            <a:spLocks noGrp="1"/>
          </p:cNvSpPr>
          <p:nvPr/>
        </p:nvSpPr>
        <p:spPr>
          <a:xfrm>
            <a:off x="655320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[PROVISIONAL] R_S = S_TM/S_E. Las dos áreas se expresan en la misma unidad, por lo que el cociente es adimensional. No representa dimensiones anatómicas universales.</a:t>
            </a:r>
          </a:p>
        </p:txBody>
      </p:sp>
      <p:sp>
        <p:nvSpPr>
          <p:cNvPr id="12" name="caption">
            <a:extLst>
              <a:ext uri="{FF2B5EF4-FFF2-40B4-BE49-F238E27FC236}">
                <a16:creationId xmlns:a16="http://schemas.microsoft.com/office/drawing/2014/main" id="{AC9B54AA-6ECE-496F-B5BF-55AFEAADB852}"/>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Una misma fuerza sobre menor área produce mayor presión ideal.</a:t>
            </a:r>
          </a:p>
        </p:txBody>
      </p:sp>
      <p:sp>
        <p:nvSpPr>
          <p:cNvPr id="13" name="credit">
            <a:extLst>
              <a:ext uri="{FF2B5EF4-FFF2-40B4-BE49-F238E27FC236}">
                <a16:creationId xmlns:a16="http://schemas.microsoft.com/office/drawing/2014/main" id="{C094D7E1-BEFA-4C3D-AFDE-0B59E60257C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ec. 6.3; PDF p. 156; NOT; OD-U06-07.</a:t>
            </a:r>
          </a:p>
        </p:txBody>
      </p:sp>
    </p:spTree>
    <p:extLst>
      <p:ext uri="{BB962C8B-B14F-4D97-AF65-F5344CB8AC3E}">
        <p14:creationId xmlns:p14="http://schemas.microsoft.com/office/powerpoint/2010/main" val="1602286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BF48B2C-A058-432C-BC3B-3FF36F340678}"/>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La palanca cambia fuerza y desplazamiento en sentidos opuestos</a:t>
            </a:r>
          </a:p>
        </p:txBody>
      </p:sp>
      <p:sp>
        <p:nvSpPr>
          <p:cNvPr id="2" name="eyebrow">
            <a:extLst>
              <a:ext uri="{FF2B5EF4-FFF2-40B4-BE49-F238E27FC236}">
                <a16:creationId xmlns:a16="http://schemas.microsoft.com/office/drawing/2014/main" id="{2E7E002B-55E6-4073-A293-DE7DCDD1C9B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033</a:t>
            </a:r>
          </a:p>
        </p:txBody>
      </p:sp>
      <p:sp>
        <p:nvSpPr>
          <p:cNvPr id="3" name="U06-DG-019-panel_left-anchor">
            <a:extLst>
              <a:ext uri="{FF2B5EF4-FFF2-40B4-BE49-F238E27FC236}">
                <a16:creationId xmlns:a16="http://schemas.microsoft.com/office/drawing/2014/main" id="{A3FD84AC-CA06-4850-A993-83E64DF1BE42}"/>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4" name="U06-DG-019-panel_right-anchor">
            <a:extLst>
              <a:ext uri="{FF2B5EF4-FFF2-40B4-BE49-F238E27FC236}">
                <a16:creationId xmlns:a16="http://schemas.microsoft.com/office/drawing/2014/main" id="{E647FFC9-5FB3-49DE-A5B6-9E93A00BD5D0}"/>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5" name="U06-DG-019-panel_left-box" descr="Diagrama sobre «La palanca cambia fuerza y desplazamiento en sentidos opuestos»; organiza brazos efectivos, fuerza de entrada/salida y sentido del intercambio." title="Texto alternativo U06-033">
            <a:extLst>
              <a:ext uri="{FF2B5EF4-FFF2-40B4-BE49-F238E27FC236}">
                <a16:creationId xmlns:a16="http://schemas.microsoft.com/office/drawing/2014/main" id="{3E6F8ED2-4BEA-4F09-8C7B-DB8442D7C644}"/>
              </a:ext>
            </a:extLst>
          </p:cNvPr>
          <p:cNvSpPr>
            <a:spLocks noGrp="1"/>
          </p:cNvSpPr>
          <p:nvPr/>
        </p:nvSpPr>
        <p:spPr>
          <a:xfrm>
            <a:off x="876300" y="1714500"/>
            <a:ext cx="4953000" cy="3333750"/>
          </a:xfrm>
          <a:prstGeom prst="roundRect">
            <a:avLst>
              <a:gd name="adj" fmla="val 2857"/>
            </a:avLst>
          </a:prstGeom>
          <a:solidFill>
            <a:srgbClr val="E7F1F1"/>
          </a:solidFill>
          <a:ln w="19050">
            <a:solidFill>
              <a:srgbClr val="2F7E83"/>
            </a:solidFill>
            <a:prstDash val="solid"/>
          </a:ln>
        </p:spPr>
      </p:sp>
      <p:sp>
        <p:nvSpPr>
          <p:cNvPr id="6" name="U06-DG-019-panel_left-title">
            <a:extLst>
              <a:ext uri="{FF2B5EF4-FFF2-40B4-BE49-F238E27FC236}">
                <a16:creationId xmlns:a16="http://schemas.microsoft.com/office/drawing/2014/main" id="{BE24CD6B-0F5F-4DFD-A8A7-0419EADA863E}"/>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Brazo de entrada</a:t>
            </a:r>
          </a:p>
        </p:txBody>
      </p:sp>
      <p:sp>
        <p:nvSpPr>
          <p:cNvPr id="7" name="U06-DG-019-panel_left-body">
            <a:extLst>
              <a:ext uri="{FF2B5EF4-FFF2-40B4-BE49-F238E27FC236}">
                <a16:creationId xmlns:a16="http://schemas.microsoft.com/office/drawing/2014/main" id="{C2FF4BCE-2F29-49B2-9FFB-E84E055AEE09}"/>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mayor desplazamiento menor fuerza</a:t>
            </a:r>
          </a:p>
        </p:txBody>
      </p:sp>
      <p:sp>
        <p:nvSpPr>
          <p:cNvPr id="8" name="U06-DG-019-panel_right-box">
            <a:extLst>
              <a:ext uri="{FF2B5EF4-FFF2-40B4-BE49-F238E27FC236}">
                <a16:creationId xmlns:a16="http://schemas.microsoft.com/office/drawing/2014/main" id="{6ABE22D7-0CCC-4F6F-AC0A-8FF6C398AD93}"/>
              </a:ext>
            </a:extLst>
          </p:cNvPr>
          <p:cNvSpPr>
            <a:spLocks noGrp="1"/>
          </p:cNvSpPr>
          <p:nvPr/>
        </p:nvSpPr>
        <p:spPr>
          <a:xfrm>
            <a:off x="6362700" y="1714500"/>
            <a:ext cx="4953000" cy="3333750"/>
          </a:xfrm>
          <a:prstGeom prst="roundRect">
            <a:avLst>
              <a:gd name="adj" fmla="val 2857"/>
            </a:avLst>
          </a:prstGeom>
          <a:solidFill>
            <a:srgbClr val="F8EDE2"/>
          </a:solidFill>
          <a:ln w="19050">
            <a:solidFill>
              <a:srgbClr val="9F541A"/>
            </a:solidFill>
            <a:prstDash val="solid"/>
          </a:ln>
        </p:spPr>
      </p:sp>
      <p:sp>
        <p:nvSpPr>
          <p:cNvPr id="9" name="U06-DG-019-panel_right-title">
            <a:extLst>
              <a:ext uri="{FF2B5EF4-FFF2-40B4-BE49-F238E27FC236}">
                <a16:creationId xmlns:a16="http://schemas.microsoft.com/office/drawing/2014/main" id="{2B7E22B5-51BC-4406-BBC5-38815E5C5FE4}"/>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Brazo de salida</a:t>
            </a:r>
          </a:p>
        </p:txBody>
      </p:sp>
      <p:sp>
        <p:nvSpPr>
          <p:cNvPr id="10" name="U06-DG-019-panel_right-body">
            <a:extLst>
              <a:ext uri="{FF2B5EF4-FFF2-40B4-BE49-F238E27FC236}">
                <a16:creationId xmlns:a16="http://schemas.microsoft.com/office/drawing/2014/main" id="{20CDD885-CD06-4AA7-8A56-7BBD3B1678A1}"/>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menor desplazamiento mayor fuerza</a:t>
            </a:r>
          </a:p>
        </p:txBody>
      </p:sp>
      <p:sp>
        <p:nvSpPr>
          <p:cNvPr id="11" name="caption">
            <a:extLst>
              <a:ext uri="{FF2B5EF4-FFF2-40B4-BE49-F238E27FC236}">
                <a16:creationId xmlns:a16="http://schemas.microsoft.com/office/drawing/2014/main" id="{E6BF179B-BD79-47C5-B515-3521AAB6FED2}"/>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Mayor fuerza ideal de salida se acompaña por menor desplazamiento o velocidad.</a:t>
            </a:r>
          </a:p>
        </p:txBody>
      </p:sp>
      <p:sp>
        <p:nvSpPr>
          <p:cNvPr id="12" name="credit">
            <a:extLst>
              <a:ext uri="{FF2B5EF4-FFF2-40B4-BE49-F238E27FC236}">
                <a16:creationId xmlns:a16="http://schemas.microsoft.com/office/drawing/2014/main" id="{1602D5EE-3755-4A94-9423-3326E80400C0}"/>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87263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5CCCE47A-D75D-40A9-8623-BE8D0E9F3FB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transformación ideal combina áreas y palanca</a:t>
            </a:r>
          </a:p>
        </p:txBody>
      </p:sp>
      <p:sp>
        <p:nvSpPr>
          <p:cNvPr id="2" name="slide-subtitle">
            <a:extLst>
              <a:ext uri="{FF2B5EF4-FFF2-40B4-BE49-F238E27FC236}">
                <a16:creationId xmlns:a16="http://schemas.microsoft.com/office/drawing/2014/main" id="{98111780-D695-4CBE-B080-55E23D113C9C}"/>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razón de presiones del modelo no debe llamarse como el coeficiente R_p de U4.</a:t>
            </a:r>
          </a:p>
        </p:txBody>
      </p:sp>
      <p:sp>
        <p:nvSpPr>
          <p:cNvPr id="3" name="eyebrow">
            <a:extLst>
              <a:ext uri="{FF2B5EF4-FFF2-40B4-BE49-F238E27FC236}">
                <a16:creationId xmlns:a16="http://schemas.microsoft.com/office/drawing/2014/main" id="{8346E03B-C274-4A8E-877A-1A60D8C878C4}"/>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034</a:t>
            </a:r>
          </a:p>
        </p:txBody>
      </p:sp>
      <p:sp>
        <p:nvSpPr>
          <p:cNvPr id="4" name="equation-box">
            <a:extLst>
              <a:ext uri="{FF2B5EF4-FFF2-40B4-BE49-F238E27FC236}">
                <a16:creationId xmlns:a16="http://schemas.microsoft.com/office/drawing/2014/main" id="{072AA88C-2D60-43DD-8F49-3B2EE2FE9CE5}"/>
              </a:ext>
            </a:extLst>
          </p:cNvPr>
          <p:cNvSpPr>
            <a:spLocks noGrp="1"/>
          </p:cNvSpPr>
          <p:nvPr/>
        </p:nvSpPr>
        <p:spPr>
          <a:xfrm>
            <a:off x="1285875" y="1733550"/>
            <a:ext cx="9620250" cy="1000125"/>
          </a:xfrm>
          <a:prstGeom prst="roundRect">
            <a:avLst>
              <a:gd name="adj" fmla="val 11429"/>
            </a:avLst>
          </a:prstGeom>
          <a:solidFill>
            <a:srgbClr val="F7F6F2"/>
          </a:solidFill>
          <a:ln w="19050">
            <a:solidFill>
              <a:srgbClr val="903163"/>
            </a:solidFill>
            <a:prstDash val="solid"/>
          </a:ln>
        </p:spPr>
      </p:sp>
      <p:sp>
        <p:nvSpPr>
          <p:cNvPr id="5" name="equation">
            <a:extLst>
              <a:ext uri="{FF2B5EF4-FFF2-40B4-BE49-F238E27FC236}">
                <a16:creationId xmlns:a16="http://schemas.microsoft.com/office/drawing/2014/main" id="{5D54AB09-9751-4126-BDDE-462943C5A274}"/>
              </a:ext>
            </a:extLst>
          </p:cNvPr>
          <p:cNvSpPr>
            <a:spLocks noGrp="1"/>
          </p:cNvSpPr>
          <p:nvPr/>
        </p:nvSpPr>
        <p:spPr>
          <a:xfrm>
            <a:off x="1514475" y="1847850"/>
            <a:ext cx="9163050" cy="771525"/>
          </a:xfrm>
          <a:prstGeom prst="rect">
            <a:avLst/>
          </a:prstGeom>
          <a:noFill/>
          <a:ln w="0">
            <a:noFill/>
            <a:prstDash val="solid"/>
          </a:ln>
        </p:spPr>
        <p:txBody>
          <a:bodyPr wrap="square" lIns="0" tIns="0" rIns="0" bIns="0" anchor="ctr">
            <a:noAutofit/>
          </a:bodyPr>
          <a:lstStyle/>
          <a:p>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Provisional: M_p ≈ R_S·R_L; M_p, R_S y R_L son adimensionales.</a:t>
            </a:r>
          </a:p>
        </p:txBody>
      </p:sp>
      <p:sp>
        <p:nvSpPr>
          <p:cNvPr id="6" name="equation-meaning-box">
            <a:extLst>
              <a:ext uri="{FF2B5EF4-FFF2-40B4-BE49-F238E27FC236}">
                <a16:creationId xmlns:a16="http://schemas.microsoft.com/office/drawing/2014/main" id="{EDCE50F3-3BFD-45EE-BBB3-B6348AF060C8}"/>
              </a:ext>
            </a:extLst>
          </p:cNvPr>
          <p:cNvSpPr>
            <a:spLocks noGrp="1"/>
          </p:cNvSpPr>
          <p:nvPr/>
        </p:nvSpPr>
        <p:spPr>
          <a:xfrm>
            <a:off x="838200" y="3095625"/>
            <a:ext cx="4953000" cy="2381250"/>
          </a:xfrm>
          <a:prstGeom prst="roundRect">
            <a:avLst>
              <a:gd name="adj" fmla="val 4800"/>
            </a:avLst>
          </a:prstGeom>
          <a:solidFill>
            <a:srgbClr val="E7F1F1"/>
          </a:solidFill>
          <a:ln w="19050">
            <a:solidFill>
              <a:srgbClr val="2F7E83"/>
            </a:solidFill>
            <a:prstDash val="solid"/>
          </a:ln>
        </p:spPr>
      </p:sp>
      <p:sp>
        <p:nvSpPr>
          <p:cNvPr id="7" name="equation-meaning-title">
            <a:extLst>
              <a:ext uri="{FF2B5EF4-FFF2-40B4-BE49-F238E27FC236}">
                <a16:creationId xmlns:a16="http://schemas.microsoft.com/office/drawing/2014/main" id="{FD9288D7-1305-41D6-9CFA-97C13FE3B10A}"/>
              </a:ext>
            </a:extLst>
          </p:cNvPr>
          <p:cNvSpPr>
            <a:spLocks noGrp="1"/>
          </p:cNvSpPr>
          <p:nvPr/>
        </p:nvSpPr>
        <p:spPr>
          <a:xfrm>
            <a:off x="100965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8" name="equation-meaning-body">
            <a:extLst>
              <a:ext uri="{FF2B5EF4-FFF2-40B4-BE49-F238E27FC236}">
                <a16:creationId xmlns:a16="http://schemas.microsoft.com/office/drawing/2014/main" id="{E91F4165-575F-4FE6-BDED-4E2EF6E63A65}"/>
              </a:ext>
            </a:extLst>
          </p:cNvPr>
          <p:cNvSpPr>
            <a:spLocks noGrp="1"/>
          </p:cNvSpPr>
          <p:nvPr/>
        </p:nvSpPr>
        <p:spPr>
          <a:xfrm>
            <a:off x="100965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[PROVISIONAL] La razón de áreas y la razón de palanca se combinan en una razón ideal de presiones. El símbolo M_p evita confundir esta transformación con el coeficiente de reflexión R_p de U4.</a:t>
            </a:r>
          </a:p>
        </p:txBody>
      </p:sp>
      <p:sp>
        <p:nvSpPr>
          <p:cNvPr id="9" name="equation-use-box">
            <a:extLst>
              <a:ext uri="{FF2B5EF4-FFF2-40B4-BE49-F238E27FC236}">
                <a16:creationId xmlns:a16="http://schemas.microsoft.com/office/drawing/2014/main" id="{5E73573A-947E-4040-BB0F-0D6EE4D0EB17}"/>
              </a:ext>
            </a:extLst>
          </p:cNvPr>
          <p:cNvSpPr>
            <a:spLocks noGrp="1"/>
          </p:cNvSpPr>
          <p:nvPr/>
        </p:nvSpPr>
        <p:spPr>
          <a:xfrm>
            <a:off x="6381750" y="3095625"/>
            <a:ext cx="4953000" cy="2381250"/>
          </a:xfrm>
          <a:prstGeom prst="roundRect">
            <a:avLst>
              <a:gd name="adj" fmla="val 4800"/>
            </a:avLst>
          </a:prstGeom>
          <a:solidFill>
            <a:srgbClr val="F8EDE2"/>
          </a:solidFill>
          <a:ln w="19050">
            <a:solidFill>
              <a:srgbClr val="9F541A"/>
            </a:solidFill>
            <a:prstDash val="solid"/>
          </a:ln>
        </p:spPr>
      </p:sp>
      <p:sp>
        <p:nvSpPr>
          <p:cNvPr id="10" name="equation-use-title">
            <a:extLst>
              <a:ext uri="{FF2B5EF4-FFF2-40B4-BE49-F238E27FC236}">
                <a16:creationId xmlns:a16="http://schemas.microsoft.com/office/drawing/2014/main" id="{A924602D-6AA5-45AF-ABBD-B4F5A3D2E200}"/>
              </a:ext>
            </a:extLst>
          </p:cNvPr>
          <p:cNvSpPr>
            <a:spLocks noGrp="1"/>
          </p:cNvSpPr>
          <p:nvPr/>
        </p:nvSpPr>
        <p:spPr>
          <a:xfrm>
            <a:off x="655320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11" name="equation-use-body">
            <a:extLst>
              <a:ext uri="{FF2B5EF4-FFF2-40B4-BE49-F238E27FC236}">
                <a16:creationId xmlns:a16="http://schemas.microsoft.com/office/drawing/2014/main" id="{35B118DA-4E20-438E-B9E9-A3930729F255}"/>
              </a:ext>
            </a:extLst>
          </p:cNvPr>
          <p:cNvSpPr>
            <a:spLocks noGrp="1"/>
          </p:cNvSpPr>
          <p:nvPr/>
        </p:nvSpPr>
        <p:spPr>
          <a:xfrm>
            <a:off x="655320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[PROVISIONAL] La razón de áreas y la razón de palanca se combinan en una razón ideal de presiones. El símbolo M_p evita confundir esta transformación con el coeficiente de reflexión R_p de U4.</a:t>
            </a:r>
          </a:p>
        </p:txBody>
      </p:sp>
      <p:sp>
        <p:nvSpPr>
          <p:cNvPr id="12" name="caption">
            <a:extLst>
              <a:ext uri="{FF2B5EF4-FFF2-40B4-BE49-F238E27FC236}">
                <a16:creationId xmlns:a16="http://schemas.microsoft.com/office/drawing/2014/main" id="{3341E112-4C86-4BDA-B7B2-1F2ABB246BF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razón de presiones del modelo no debe llamarse como el coeficiente R_p de U4.</a:t>
            </a:r>
          </a:p>
        </p:txBody>
      </p:sp>
      <p:sp>
        <p:nvSpPr>
          <p:cNvPr id="13" name="credit">
            <a:extLst>
              <a:ext uri="{FF2B5EF4-FFF2-40B4-BE49-F238E27FC236}">
                <a16:creationId xmlns:a16="http://schemas.microsoft.com/office/drawing/2014/main" id="{B77C7A05-2285-4CC1-BAA5-F0A32F7F62EB}"/>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ec. 6.4; PDF p. 156; NOT; OD-U06-08/09.</a:t>
            </a:r>
          </a:p>
        </p:txBody>
      </p:sp>
    </p:spTree>
    <p:extLst>
      <p:ext uri="{BB962C8B-B14F-4D97-AF65-F5344CB8AC3E}">
        <p14:creationId xmlns:p14="http://schemas.microsoft.com/office/powerpoint/2010/main" val="1602286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61172A60-68E1-4FCF-AAA1-33ACF5407766}"/>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Mayor presión no significa mayor energía</a:t>
            </a:r>
          </a:p>
        </p:txBody>
      </p:sp>
      <p:sp>
        <p:nvSpPr>
          <p:cNvPr id="2" name="slide-subtitle">
            <a:extLst>
              <a:ext uri="{FF2B5EF4-FFF2-40B4-BE49-F238E27FC236}">
                <a16:creationId xmlns:a16="http://schemas.microsoft.com/office/drawing/2014/main" id="{FB5D97B3-971B-4E2A-B24B-D1D140FC51AA}"/>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Fuerza/presión aumentan a cambio de velocidad/desplazamiento; el oído real además pierde energía.</a:t>
            </a:r>
          </a:p>
        </p:txBody>
      </p:sp>
      <p:sp>
        <p:nvSpPr>
          <p:cNvPr id="3" name="eyebrow">
            <a:extLst>
              <a:ext uri="{FF2B5EF4-FFF2-40B4-BE49-F238E27FC236}">
                <a16:creationId xmlns:a16="http://schemas.microsoft.com/office/drawing/2014/main" id="{E66964CA-CED3-4334-93F2-5C108582FC92}"/>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035</a:t>
            </a:r>
          </a:p>
        </p:txBody>
      </p:sp>
      <p:sp>
        <p:nvSpPr>
          <p:cNvPr id="4" name="U06-DG-021-stage_1-anchor">
            <a:extLst>
              <a:ext uri="{FF2B5EF4-FFF2-40B4-BE49-F238E27FC236}">
                <a16:creationId xmlns:a16="http://schemas.microsoft.com/office/drawing/2014/main" id="{AC1CBFE1-C4A5-41F0-85DF-845C723ED00B}"/>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21-stage_2-anchor">
            <a:extLst>
              <a:ext uri="{FF2B5EF4-FFF2-40B4-BE49-F238E27FC236}">
                <a16:creationId xmlns:a16="http://schemas.microsoft.com/office/drawing/2014/main" id="{5DB75D79-D2A3-4654-9683-FDCB5D16E138}"/>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21-stage_3-anchor">
            <a:extLst>
              <a:ext uri="{FF2B5EF4-FFF2-40B4-BE49-F238E27FC236}">
                <a16:creationId xmlns:a16="http://schemas.microsoft.com/office/drawing/2014/main" id="{17ECFA65-8499-4D86-A150-738FEB72ACB3}"/>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21-stage_4-anchor">
            <a:extLst>
              <a:ext uri="{FF2B5EF4-FFF2-40B4-BE49-F238E27FC236}">
                <a16:creationId xmlns:a16="http://schemas.microsoft.com/office/drawing/2014/main" id="{654A4FC9-8100-43D9-AF6A-9DA2F04B8742}"/>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21-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21-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21-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21-stage_1-box" descr="Diagrama sobre «Mayor presión no significa mayor energía»; organiza balance cualitativo entrada–transformación–salida–pérdidas." title="Texto alternativo U06-035">
            <a:extLst>
              <a:ext uri="{FF2B5EF4-FFF2-40B4-BE49-F238E27FC236}">
                <a16:creationId xmlns:a16="http://schemas.microsoft.com/office/drawing/2014/main" id="{52D93948-DF6D-40AB-A4F6-EAF13EFBFC08}"/>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21-stage_1-title">
            <a:extLst>
              <a:ext uri="{FF2B5EF4-FFF2-40B4-BE49-F238E27FC236}">
                <a16:creationId xmlns:a16="http://schemas.microsoft.com/office/drawing/2014/main" id="{43CB1896-17BC-409A-AA9D-E057CB5122C6}"/>
              </a:ext>
            </a:extLst>
          </p:cNvPr>
          <p:cNvSpPr>
            <a:spLocks noGrp="1"/>
          </p:cNvSpPr>
          <p:nvPr/>
        </p:nvSpPr>
        <p:spPr>
          <a:xfrm>
            <a:off x="97155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Energía incidente</a:t>
            </a:r>
          </a:p>
        </p:txBody>
      </p:sp>
      <p:sp>
        <p:nvSpPr>
          <p:cNvPr id="13" name="U06-DG-021-stage_1-body">
            <a:extLst>
              <a:ext uri="{FF2B5EF4-FFF2-40B4-BE49-F238E27FC236}">
                <a16:creationId xmlns:a16="http://schemas.microsoft.com/office/drawing/2014/main" id="{DC52C1D2-5140-470A-AE1E-60A346C4E40B}"/>
              </a:ext>
            </a:extLst>
          </p:cNvPr>
          <p:cNvSpPr>
            <a:spLocks noGrp="1"/>
          </p:cNvSpPr>
          <p:nvPr/>
        </p:nvSpPr>
        <p:spPr>
          <a:xfrm>
            <a:off x="97155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14" name="U06-DG-021-stage_2-box">
            <a:extLst>
              <a:ext uri="{FF2B5EF4-FFF2-40B4-BE49-F238E27FC236}">
                <a16:creationId xmlns:a16="http://schemas.microsoft.com/office/drawing/2014/main" id="{466F4083-CC24-4087-8327-2FD43C3305C6}"/>
              </a:ext>
            </a:extLst>
          </p:cNvPr>
          <p:cNvSpPr>
            <a:spLocks noGrp="1"/>
          </p:cNvSpPr>
          <p:nvPr/>
        </p:nvSpPr>
        <p:spPr>
          <a:xfrm>
            <a:off x="3514725" y="2428875"/>
            <a:ext cx="2428875" cy="1666875"/>
          </a:xfrm>
          <a:prstGeom prst="roundRect">
            <a:avLst>
              <a:gd name="adj" fmla="val 5714"/>
            </a:avLst>
          </a:prstGeom>
          <a:solidFill>
            <a:srgbClr val="F4E9EF"/>
          </a:solidFill>
          <a:ln w="19050">
            <a:solidFill>
              <a:srgbClr val="4D1434"/>
            </a:solidFill>
            <a:prstDash val="solid"/>
          </a:ln>
        </p:spPr>
      </p:sp>
      <p:sp>
        <p:nvSpPr>
          <p:cNvPr id="15" name="U06-DG-021-stage_2-title">
            <a:extLst>
              <a:ext uri="{FF2B5EF4-FFF2-40B4-BE49-F238E27FC236}">
                <a16:creationId xmlns:a16="http://schemas.microsoft.com/office/drawing/2014/main" id="{563E9A3C-9C27-4BF6-BA69-85A6463912B4}"/>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Oído medio</a:t>
            </a:r>
          </a:p>
        </p:txBody>
      </p:sp>
      <p:sp>
        <p:nvSpPr>
          <p:cNvPr id="16" name="U06-DG-021-stage_2-body">
            <a:extLst>
              <a:ext uri="{FF2B5EF4-FFF2-40B4-BE49-F238E27FC236}">
                <a16:creationId xmlns:a16="http://schemas.microsoft.com/office/drawing/2014/main" id="{5853ECA3-36D3-4B52-8A9D-A3D7331FBBEE}"/>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transforma</a:t>
            </a:r>
          </a:p>
        </p:txBody>
      </p:sp>
      <p:sp>
        <p:nvSpPr>
          <p:cNvPr id="17" name="U06-DG-021-stage_3-box">
            <a:extLst>
              <a:ext uri="{FF2B5EF4-FFF2-40B4-BE49-F238E27FC236}">
                <a16:creationId xmlns:a16="http://schemas.microsoft.com/office/drawing/2014/main" id="{299BE52C-674B-4DD1-AD00-2CAA37E580B0}"/>
              </a:ext>
            </a:extLst>
          </p:cNvPr>
          <p:cNvSpPr>
            <a:spLocks noGrp="1"/>
          </p:cNvSpPr>
          <p:nvPr/>
        </p:nvSpPr>
        <p:spPr>
          <a:xfrm>
            <a:off x="6248400" y="2428875"/>
            <a:ext cx="2428875" cy="1666875"/>
          </a:xfrm>
          <a:prstGeom prst="roundRect">
            <a:avLst>
              <a:gd name="adj" fmla="val 5714"/>
            </a:avLst>
          </a:prstGeom>
          <a:solidFill>
            <a:srgbClr val="F8EDE2"/>
          </a:solidFill>
          <a:ln w="19050">
            <a:solidFill>
              <a:srgbClr val="9F541A"/>
            </a:solidFill>
            <a:prstDash val="solid"/>
          </a:ln>
        </p:spPr>
      </p:sp>
      <p:sp>
        <p:nvSpPr>
          <p:cNvPr id="18" name="U06-DG-021-stage_3-title">
            <a:extLst>
              <a:ext uri="{FF2B5EF4-FFF2-40B4-BE49-F238E27FC236}">
                <a16:creationId xmlns:a16="http://schemas.microsoft.com/office/drawing/2014/main" id="{DD5DDFAE-D047-4D69-B823-FA52F1294F66}"/>
              </a:ext>
            </a:extLst>
          </p:cNvPr>
          <p:cNvSpPr>
            <a:spLocks noGrp="1"/>
          </p:cNvSpPr>
          <p:nvPr/>
        </p:nvSpPr>
        <p:spPr>
          <a:xfrm>
            <a:off x="643890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Entrada coclear</a:t>
            </a:r>
          </a:p>
        </p:txBody>
      </p:sp>
      <p:sp>
        <p:nvSpPr>
          <p:cNvPr id="19" name="U06-DG-021-stage_3-body">
            <a:extLst>
              <a:ext uri="{FF2B5EF4-FFF2-40B4-BE49-F238E27FC236}">
                <a16:creationId xmlns:a16="http://schemas.microsoft.com/office/drawing/2014/main" id="{A70AC2E8-756A-4B74-8962-4682838CC163}"/>
              </a:ext>
            </a:extLst>
          </p:cNvPr>
          <p:cNvSpPr>
            <a:spLocks noGrp="1"/>
          </p:cNvSpPr>
          <p:nvPr/>
        </p:nvSpPr>
        <p:spPr>
          <a:xfrm>
            <a:off x="643890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energía transferida</a:t>
            </a:r>
          </a:p>
        </p:txBody>
      </p:sp>
      <p:sp>
        <p:nvSpPr>
          <p:cNvPr id="20" name="U06-DG-021-stage_4-box">
            <a:extLst>
              <a:ext uri="{FF2B5EF4-FFF2-40B4-BE49-F238E27FC236}">
                <a16:creationId xmlns:a16="http://schemas.microsoft.com/office/drawing/2014/main" id="{68CC65E9-1DE0-4348-B72A-F05DA8753AE6}"/>
              </a:ext>
            </a:extLst>
          </p:cNvPr>
          <p:cNvSpPr>
            <a:spLocks noGrp="1"/>
          </p:cNvSpPr>
          <p:nvPr/>
        </p:nvSpPr>
        <p:spPr>
          <a:xfrm>
            <a:off x="8982075" y="2428875"/>
            <a:ext cx="2428875" cy="1666875"/>
          </a:xfrm>
          <a:prstGeom prst="roundRect">
            <a:avLst>
              <a:gd name="adj" fmla="val 5714"/>
            </a:avLst>
          </a:prstGeom>
          <a:solidFill>
            <a:srgbClr val="F7F6F2"/>
          </a:solidFill>
          <a:ln w="19050">
            <a:solidFill>
              <a:srgbClr val="969FA7"/>
            </a:solidFill>
            <a:prstDash val="solid"/>
          </a:ln>
        </p:spPr>
      </p:sp>
      <p:sp>
        <p:nvSpPr>
          <p:cNvPr id="21" name="U06-DG-021-stage_4-title">
            <a:extLst>
              <a:ext uri="{FF2B5EF4-FFF2-40B4-BE49-F238E27FC236}">
                <a16:creationId xmlns:a16="http://schemas.microsoft.com/office/drawing/2014/main" id="{17FB9294-F509-4D83-B3DC-B0A59E8EAF3E}"/>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Pérdidas</a:t>
            </a:r>
          </a:p>
        </p:txBody>
      </p:sp>
      <p:sp>
        <p:nvSpPr>
          <p:cNvPr id="22" name="U06-DG-021-stage_4-body">
            <a:extLst>
              <a:ext uri="{FF2B5EF4-FFF2-40B4-BE49-F238E27FC236}">
                <a16:creationId xmlns:a16="http://schemas.microsoft.com/office/drawing/2014/main" id="{81794DDB-F815-45DA-A98F-E198B888BCDE}"/>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reflexión · disipación</a:t>
            </a:r>
          </a:p>
        </p:txBody>
      </p:sp>
      <p:sp>
        <p:nvSpPr>
          <p:cNvPr id="23" name="caption">
            <a:extLst>
              <a:ext uri="{FF2B5EF4-FFF2-40B4-BE49-F238E27FC236}">
                <a16:creationId xmlns:a16="http://schemas.microsoft.com/office/drawing/2014/main" id="{834E80BB-376F-437F-8470-CDB6EA2CF562}"/>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Fuerza/presión aumentan a cambio de velocidad/desplazamiento; el oído real ademá…</a:t>
            </a:r>
          </a:p>
        </p:txBody>
      </p:sp>
      <p:sp>
        <p:nvSpPr>
          <p:cNvPr id="24" name="credit">
            <a:extLst>
              <a:ext uri="{FF2B5EF4-FFF2-40B4-BE49-F238E27FC236}">
                <a16:creationId xmlns:a16="http://schemas.microsoft.com/office/drawing/2014/main" id="{6FA06735-D819-4624-ACCA-AF3066BF785E}"/>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741329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E7A5756-EE41-4A88-884C-DC684769B48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 modelo ideal puede multiplicar la presión por 24</a:t>
            </a:r>
          </a:p>
        </p:txBody>
      </p:sp>
      <p:sp>
        <p:nvSpPr>
          <p:cNvPr id="2" name="slide-subtitle">
            <a:extLst>
              <a:ext uri="{FF2B5EF4-FFF2-40B4-BE49-F238E27FC236}">
                <a16:creationId xmlns:a16="http://schemas.microsoft.com/office/drawing/2014/main" id="{A6AC1FA6-377D-4B7D-B085-15C02686CC5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20×1,2=24; expresarlo en dB no lo convierte en dB SPL ni energía.</a:t>
            </a:r>
          </a:p>
        </p:txBody>
      </p:sp>
      <p:sp>
        <p:nvSpPr>
          <p:cNvPr id="3" name="eyebrow">
            <a:extLst>
              <a:ext uri="{FF2B5EF4-FFF2-40B4-BE49-F238E27FC236}">
                <a16:creationId xmlns:a16="http://schemas.microsoft.com/office/drawing/2014/main" id="{18204E88-D48A-48D9-A3DE-2A2DA0F247FC}"/>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036</a:t>
            </a:r>
          </a:p>
        </p:txBody>
      </p:sp>
      <p:sp>
        <p:nvSpPr>
          <p:cNvPr id="4" name="equation-box">
            <a:extLst>
              <a:ext uri="{FF2B5EF4-FFF2-40B4-BE49-F238E27FC236}">
                <a16:creationId xmlns:a16="http://schemas.microsoft.com/office/drawing/2014/main" id="{97CACBBC-A927-4F30-BD04-E373F06B3125}"/>
              </a:ext>
            </a:extLst>
          </p:cNvPr>
          <p:cNvSpPr>
            <a:spLocks noGrp="1"/>
          </p:cNvSpPr>
          <p:nvPr/>
        </p:nvSpPr>
        <p:spPr>
          <a:xfrm>
            <a:off x="1285875" y="1733550"/>
            <a:ext cx="9620250" cy="1000125"/>
          </a:xfrm>
          <a:prstGeom prst="roundRect">
            <a:avLst>
              <a:gd name="adj" fmla="val 11429"/>
            </a:avLst>
          </a:prstGeom>
          <a:solidFill>
            <a:srgbClr val="F7F6F2"/>
          </a:solidFill>
          <a:ln w="19050">
            <a:solidFill>
              <a:srgbClr val="903163"/>
            </a:solidFill>
            <a:prstDash val="solid"/>
          </a:ln>
        </p:spPr>
      </p:sp>
      <p:sp>
        <p:nvSpPr>
          <p:cNvPr id="5" name="equation">
            <a:extLst>
              <a:ext uri="{FF2B5EF4-FFF2-40B4-BE49-F238E27FC236}">
                <a16:creationId xmlns:a16="http://schemas.microsoft.com/office/drawing/2014/main" id="{28A8AE47-80F3-460D-90FA-FECC46F54A07}"/>
              </a:ext>
            </a:extLst>
          </p:cNvPr>
          <p:cNvSpPr>
            <a:spLocks noGrp="1"/>
          </p:cNvSpPr>
          <p:nvPr/>
        </p:nvSpPr>
        <p:spPr>
          <a:xfrm>
            <a:off x="1514475" y="1847850"/>
            <a:ext cx="9163050" cy="771525"/>
          </a:xfrm>
          <a:prstGeom prst="rect">
            <a:avLst/>
          </a:prstGeom>
          <a:noFill/>
          <a:ln w="0">
            <a:noFill/>
            <a:prstDash val="solid"/>
          </a:ln>
        </p:spPr>
        <p:txBody>
          <a:bodyPr wrap="square" lIns="0" tIns="0" rIns="0" bIns="0" anchor="ctr">
            <a:noAutofit/>
          </a:bodyPr>
          <a:lstStyle/>
          <a:p>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Provisional: M_p ≈ 20×1,2 = 24; G_p = 20 log₁₀(24) ≈ 27,6 dB.</a:t>
            </a:r>
          </a:p>
        </p:txBody>
      </p:sp>
      <p:sp>
        <p:nvSpPr>
          <p:cNvPr id="6" name="equation-meaning-box">
            <a:extLst>
              <a:ext uri="{FF2B5EF4-FFF2-40B4-BE49-F238E27FC236}">
                <a16:creationId xmlns:a16="http://schemas.microsoft.com/office/drawing/2014/main" id="{C190C085-A65F-4911-9CC1-4FCC65269229}"/>
              </a:ext>
            </a:extLst>
          </p:cNvPr>
          <p:cNvSpPr>
            <a:spLocks noGrp="1"/>
          </p:cNvSpPr>
          <p:nvPr/>
        </p:nvSpPr>
        <p:spPr>
          <a:xfrm>
            <a:off x="838200" y="3095625"/>
            <a:ext cx="4953000" cy="2381250"/>
          </a:xfrm>
          <a:prstGeom prst="roundRect">
            <a:avLst>
              <a:gd name="adj" fmla="val 4800"/>
            </a:avLst>
          </a:prstGeom>
          <a:solidFill>
            <a:srgbClr val="E7F1F1"/>
          </a:solidFill>
          <a:ln w="19050">
            <a:solidFill>
              <a:srgbClr val="2F7E83"/>
            </a:solidFill>
            <a:prstDash val="solid"/>
          </a:ln>
        </p:spPr>
      </p:sp>
      <p:sp>
        <p:nvSpPr>
          <p:cNvPr id="7" name="equation-meaning-title">
            <a:extLst>
              <a:ext uri="{FF2B5EF4-FFF2-40B4-BE49-F238E27FC236}">
                <a16:creationId xmlns:a16="http://schemas.microsoft.com/office/drawing/2014/main" id="{34A0F890-5C37-4448-9829-5365F251200B}"/>
              </a:ext>
            </a:extLst>
          </p:cNvPr>
          <p:cNvSpPr>
            <a:spLocks noGrp="1"/>
          </p:cNvSpPr>
          <p:nvPr/>
        </p:nvSpPr>
        <p:spPr>
          <a:xfrm>
            <a:off x="100965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8" name="equation-meaning-body">
            <a:extLst>
              <a:ext uri="{FF2B5EF4-FFF2-40B4-BE49-F238E27FC236}">
                <a16:creationId xmlns:a16="http://schemas.microsoft.com/office/drawing/2014/main" id="{0E73275C-F12D-4DAD-AA32-63A96B55B63A}"/>
              </a:ext>
            </a:extLst>
          </p:cNvPr>
          <p:cNvSpPr>
            <a:spLocks noGrp="1"/>
          </p:cNvSpPr>
          <p:nvPr/>
        </p:nvSpPr>
        <p:spPr>
          <a:xfrm>
            <a:off x="100965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1. M_p ≈ 20×1,2 = 24. 2. G_p = 20 log₁₀(24) ≈ 27,6 dB. Interpretación: razón ideal de amplitudes; no dB SPL, no ganancia de energía, no respuesta universal.</a:t>
            </a:r>
          </a:p>
        </p:txBody>
      </p:sp>
      <p:sp>
        <p:nvSpPr>
          <p:cNvPr id="9" name="equation-use-box">
            <a:extLst>
              <a:ext uri="{FF2B5EF4-FFF2-40B4-BE49-F238E27FC236}">
                <a16:creationId xmlns:a16="http://schemas.microsoft.com/office/drawing/2014/main" id="{29CDBB4C-5E21-470C-8ABB-2851FD713B5C}"/>
              </a:ext>
            </a:extLst>
          </p:cNvPr>
          <p:cNvSpPr>
            <a:spLocks noGrp="1"/>
          </p:cNvSpPr>
          <p:nvPr/>
        </p:nvSpPr>
        <p:spPr>
          <a:xfrm>
            <a:off x="6381750" y="3095625"/>
            <a:ext cx="4953000" cy="2381250"/>
          </a:xfrm>
          <a:prstGeom prst="roundRect">
            <a:avLst>
              <a:gd name="adj" fmla="val 4800"/>
            </a:avLst>
          </a:prstGeom>
          <a:solidFill>
            <a:srgbClr val="F8EDE2"/>
          </a:solidFill>
          <a:ln w="19050">
            <a:solidFill>
              <a:srgbClr val="9F541A"/>
            </a:solidFill>
            <a:prstDash val="solid"/>
          </a:ln>
        </p:spPr>
      </p:sp>
      <p:sp>
        <p:nvSpPr>
          <p:cNvPr id="10" name="equation-use-title">
            <a:extLst>
              <a:ext uri="{FF2B5EF4-FFF2-40B4-BE49-F238E27FC236}">
                <a16:creationId xmlns:a16="http://schemas.microsoft.com/office/drawing/2014/main" id="{23F512CF-7A5F-49E9-A0BB-390AC8BA42EA}"/>
              </a:ext>
            </a:extLst>
          </p:cNvPr>
          <p:cNvSpPr>
            <a:spLocks noGrp="1"/>
          </p:cNvSpPr>
          <p:nvPr/>
        </p:nvSpPr>
        <p:spPr>
          <a:xfrm>
            <a:off x="6553200" y="3228975"/>
            <a:ext cx="4610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11" name="equation-use-body">
            <a:extLst>
              <a:ext uri="{FF2B5EF4-FFF2-40B4-BE49-F238E27FC236}">
                <a16:creationId xmlns:a16="http://schemas.microsoft.com/office/drawing/2014/main" id="{DDA762BD-C2EE-4658-A2A9-13FB5F37B1B0}"/>
              </a:ext>
            </a:extLst>
          </p:cNvPr>
          <p:cNvSpPr>
            <a:spLocks noGrp="1"/>
          </p:cNvSpPr>
          <p:nvPr/>
        </p:nvSpPr>
        <p:spPr>
          <a:xfrm>
            <a:off x="6553200" y="3629025"/>
            <a:ext cx="4610100" cy="16954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Razón de áreas 20 y razón de palanca 1,2: razón ideal de presión 24.</a:t>
            </a:r>
          </a:p>
        </p:txBody>
      </p:sp>
      <p:sp>
        <p:nvSpPr>
          <p:cNvPr id="12" name="caption">
            <a:extLst>
              <a:ext uri="{FF2B5EF4-FFF2-40B4-BE49-F238E27FC236}">
                <a16:creationId xmlns:a16="http://schemas.microsoft.com/office/drawing/2014/main" id="{598AAE72-9469-4E5F-9076-503FA57DADE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20×1,2=24; expresarlo en dB no lo convierte en dB SPL ni energía.</a:t>
            </a:r>
          </a:p>
        </p:txBody>
      </p:sp>
      <p:sp>
        <p:nvSpPr>
          <p:cNvPr id="13" name="credit">
            <a:extLst>
              <a:ext uri="{FF2B5EF4-FFF2-40B4-BE49-F238E27FC236}">
                <a16:creationId xmlns:a16="http://schemas.microsoft.com/office/drawing/2014/main" id="{E3E64AA0-CE4E-45D1-95D7-7396BF88D4C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6.5.3; PDF pp. 156–157; OD-U06-08/09.</a:t>
            </a:r>
          </a:p>
        </p:txBody>
      </p:sp>
    </p:spTree>
    <p:extLst>
      <p:ext uri="{BB962C8B-B14F-4D97-AF65-F5344CB8AC3E}">
        <p14:creationId xmlns:p14="http://schemas.microsoft.com/office/powerpoint/2010/main" val="1133635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499F3E1D-1F32-4EDF-ABE8-75382C13E5A0}"/>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Una razón en dB no es automáticamente dB SPL</a:t>
            </a:r>
          </a:p>
        </p:txBody>
      </p:sp>
      <p:sp>
        <p:nvSpPr>
          <p:cNvPr id="2" name="slide-subtitle">
            <a:extLst>
              <a:ext uri="{FF2B5EF4-FFF2-40B4-BE49-F238E27FC236}">
                <a16:creationId xmlns:a16="http://schemas.microsoft.com/office/drawing/2014/main" id="{A95E0FB6-B25E-483A-82ED-7B6A584242D1}"/>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Faltan referencia y definición de magnitud para informar SPL.</a:t>
            </a:r>
          </a:p>
        </p:txBody>
      </p:sp>
      <p:sp>
        <p:nvSpPr>
          <p:cNvPr id="3" name="eyebrow">
            <a:extLst>
              <a:ext uri="{FF2B5EF4-FFF2-40B4-BE49-F238E27FC236}">
                <a16:creationId xmlns:a16="http://schemas.microsoft.com/office/drawing/2014/main" id="{39610CDF-71EC-482A-AFDA-786FF8291EC8}"/>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037</a:t>
            </a:r>
          </a:p>
        </p:txBody>
      </p:sp>
      <p:sp>
        <p:nvSpPr>
          <p:cNvPr id="4" name="U06-DG-022-panel_left-anchor">
            <a:extLst>
              <a:ext uri="{FF2B5EF4-FFF2-40B4-BE49-F238E27FC236}">
                <a16:creationId xmlns:a16="http://schemas.microsoft.com/office/drawing/2014/main" id="{E03BB507-4415-4F1D-8442-4AD7010A1216}"/>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5" name="U06-DG-022-panel_right-anchor">
            <a:extLst>
              <a:ext uri="{FF2B5EF4-FFF2-40B4-BE49-F238E27FC236}">
                <a16:creationId xmlns:a16="http://schemas.microsoft.com/office/drawing/2014/main" id="{6A96A69A-2238-478C-A94A-AAA66E068486}"/>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6" name="U06-DG-022-panel_left-box" descr="Diagrama sobre «Una razón en dB no es automáticamente dB SPL»; organiza comparación `20 log10(p2/p1)` frente a `20 log10(p_rms/p_ref)`." title="Texto alternativo U06-037">
            <a:extLst>
              <a:ext uri="{FF2B5EF4-FFF2-40B4-BE49-F238E27FC236}">
                <a16:creationId xmlns:a16="http://schemas.microsoft.com/office/drawing/2014/main" id="{97923212-DFCA-4F50-8CDB-760F6D08E904}"/>
              </a:ext>
            </a:extLst>
          </p:cNvPr>
          <p:cNvSpPr>
            <a:spLocks noGrp="1"/>
          </p:cNvSpPr>
          <p:nvPr/>
        </p:nvSpPr>
        <p:spPr>
          <a:xfrm>
            <a:off x="876300" y="1714500"/>
            <a:ext cx="4953000" cy="3333750"/>
          </a:xfrm>
          <a:prstGeom prst="roundRect">
            <a:avLst>
              <a:gd name="adj" fmla="val 2857"/>
            </a:avLst>
          </a:prstGeom>
          <a:solidFill>
            <a:srgbClr val="F4E9EF"/>
          </a:solidFill>
          <a:ln w="19050">
            <a:solidFill>
              <a:srgbClr val="4D1434"/>
            </a:solidFill>
            <a:prstDash val="solid"/>
          </a:ln>
        </p:spPr>
      </p:sp>
      <p:sp>
        <p:nvSpPr>
          <p:cNvPr id="7" name="U06-DG-022-panel_left-title">
            <a:extLst>
              <a:ext uri="{FF2B5EF4-FFF2-40B4-BE49-F238E27FC236}">
                <a16:creationId xmlns:a16="http://schemas.microsoft.com/office/drawing/2014/main" id="{3CC55957-5C17-46ED-934D-A95564A7FA3A}"/>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Razón entre presiones</a:t>
            </a:r>
          </a:p>
        </p:txBody>
      </p:sp>
      <p:sp>
        <p:nvSpPr>
          <p:cNvPr id="8" name="U06-DG-022-panel_left-body">
            <a:extLst>
              <a:ext uri="{FF2B5EF4-FFF2-40B4-BE49-F238E27FC236}">
                <a16:creationId xmlns:a16="http://schemas.microsoft.com/office/drawing/2014/main" id="{9BF2E4FB-BA22-4024-B31E-844BFEF26FC6}"/>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20 log₁₀(p₂/p₁) referencia: p₁</a:t>
            </a:r>
          </a:p>
        </p:txBody>
      </p:sp>
      <p:sp>
        <p:nvSpPr>
          <p:cNvPr id="9" name="U06-DG-022-panel_right-box">
            <a:extLst>
              <a:ext uri="{FF2B5EF4-FFF2-40B4-BE49-F238E27FC236}">
                <a16:creationId xmlns:a16="http://schemas.microsoft.com/office/drawing/2014/main" id="{13CDA1D6-CF55-46B5-8204-02260558EBED}"/>
              </a:ext>
            </a:extLst>
          </p:cNvPr>
          <p:cNvSpPr>
            <a:spLocks noGrp="1"/>
          </p:cNvSpPr>
          <p:nvPr/>
        </p:nvSpPr>
        <p:spPr>
          <a:xfrm>
            <a:off x="6362700" y="1714500"/>
            <a:ext cx="4953000" cy="3333750"/>
          </a:xfrm>
          <a:prstGeom prst="roundRect">
            <a:avLst>
              <a:gd name="adj" fmla="val 2857"/>
            </a:avLst>
          </a:prstGeom>
          <a:solidFill>
            <a:srgbClr val="E7F1F1"/>
          </a:solidFill>
          <a:ln w="19050">
            <a:solidFill>
              <a:srgbClr val="2F7E83"/>
            </a:solidFill>
            <a:prstDash val="solid"/>
          </a:ln>
        </p:spPr>
      </p:sp>
      <p:sp>
        <p:nvSpPr>
          <p:cNvPr id="10" name="U06-DG-022-panel_right-title">
            <a:extLst>
              <a:ext uri="{FF2B5EF4-FFF2-40B4-BE49-F238E27FC236}">
                <a16:creationId xmlns:a16="http://schemas.microsoft.com/office/drawing/2014/main" id="{40E14E2E-49DC-491E-9FA9-2EBFC808B323}"/>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Nivel de presión sonora</a:t>
            </a:r>
          </a:p>
        </p:txBody>
      </p:sp>
      <p:sp>
        <p:nvSpPr>
          <p:cNvPr id="11" name="U06-DG-022-panel_right-body">
            <a:extLst>
              <a:ext uri="{FF2B5EF4-FFF2-40B4-BE49-F238E27FC236}">
                <a16:creationId xmlns:a16="http://schemas.microsoft.com/office/drawing/2014/main" id="{EB13DCC8-085A-4B71-905F-DDB95BE7E776}"/>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20 log₁₀(p_rms/p_ref) p_ref declarado</a:t>
            </a:r>
          </a:p>
        </p:txBody>
      </p:sp>
      <p:sp>
        <p:nvSpPr>
          <p:cNvPr id="12" name="caption">
            <a:extLst>
              <a:ext uri="{FF2B5EF4-FFF2-40B4-BE49-F238E27FC236}">
                <a16:creationId xmlns:a16="http://schemas.microsoft.com/office/drawing/2014/main" id="{B3FD0D3A-0F98-4C2E-9AF2-A9822DADF5B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Faltan referencia y definición de magnitud para informar SPL.</a:t>
            </a:r>
          </a:p>
        </p:txBody>
      </p:sp>
      <p:sp>
        <p:nvSpPr>
          <p:cNvPr id="13" name="credit">
            <a:extLst>
              <a:ext uri="{FF2B5EF4-FFF2-40B4-BE49-F238E27FC236}">
                <a16:creationId xmlns:a16="http://schemas.microsoft.com/office/drawing/2014/main" id="{28FEAEA6-F9E4-485E-8288-042A9B90DAF0}"/>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741329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lide-title">
            <a:extLst>
              <a:ext uri="{FF2B5EF4-FFF2-40B4-BE49-F238E27FC236}">
                <a16:creationId xmlns:a16="http://schemas.microsoft.com/office/drawing/2014/main" id="{3AC7393E-A461-4038-8E80-221106E9A69E}"/>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El reflejo acústico modifica la rigidez después de una latencia</a:t>
            </a:r>
          </a:p>
        </p:txBody>
      </p:sp>
      <p:sp>
        <p:nvSpPr>
          <p:cNvPr id="2" name="eyebrow">
            <a:extLst>
              <a:ext uri="{FF2B5EF4-FFF2-40B4-BE49-F238E27FC236}">
                <a16:creationId xmlns:a16="http://schemas.microsoft.com/office/drawing/2014/main" id="{B539305F-301E-41B3-A528-F79E52DA689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038</a:t>
            </a:r>
          </a:p>
        </p:txBody>
      </p:sp>
      <p:sp>
        <p:nvSpPr>
          <p:cNvPr id="3" name="U06-DG-023-stage_1-anchor">
            <a:extLst>
              <a:ext uri="{FF2B5EF4-FFF2-40B4-BE49-F238E27FC236}">
                <a16:creationId xmlns:a16="http://schemas.microsoft.com/office/drawing/2014/main" id="{D80288DD-A8C7-49CF-920E-DDEB60B58FF6}"/>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4" name="U06-DG-023-stage_2-anchor">
            <a:extLst>
              <a:ext uri="{FF2B5EF4-FFF2-40B4-BE49-F238E27FC236}">
                <a16:creationId xmlns:a16="http://schemas.microsoft.com/office/drawing/2014/main" id="{FD64A6D8-9CF8-4A3D-B4CB-A91BEB7F64E3}"/>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5" name="U06-DG-023-stage_3-anchor">
            <a:extLst>
              <a:ext uri="{FF2B5EF4-FFF2-40B4-BE49-F238E27FC236}">
                <a16:creationId xmlns:a16="http://schemas.microsoft.com/office/drawing/2014/main" id="{9AFB0E9D-8D39-4F25-A5D3-9FB2A14E867A}"/>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6" name="U06-DG-023-stage_4-anchor">
            <a:extLst>
              <a:ext uri="{FF2B5EF4-FFF2-40B4-BE49-F238E27FC236}">
                <a16:creationId xmlns:a16="http://schemas.microsoft.com/office/drawing/2014/main" id="{D3B7298F-EFA0-478A-B3B4-B1133E0CE41E}"/>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0" name="U06-DG-023-flow_1"/>
          <p:cNvCxnSpPr>
            <a:stCxn id="3" idx="3"/>
            <a:endCxn id="4"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1" name="U06-DG-023-flow_2"/>
          <p:cNvCxnSpPr>
            <a:stCxn id="4" idx="3"/>
            <a:endCxn id="5"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2" name="U06-DG-023-flow_3"/>
          <p:cNvCxnSpPr>
            <a:stCxn id="5" idx="3"/>
            <a:endCxn id="6"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0" name="U06-DG-023-stage_1-box" descr="Diagrama sobre «El reflejo acústico modifica la rigidez después de una latencia»; organiza estímulo → vía refleja → contracción → cambio de rigidez/transferencia." title="Texto alternativo U06-038">
            <a:extLst>
              <a:ext uri="{FF2B5EF4-FFF2-40B4-BE49-F238E27FC236}">
                <a16:creationId xmlns:a16="http://schemas.microsoft.com/office/drawing/2014/main" id="{42615C99-E796-46DE-9A17-C63EBE79C588}"/>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1" name="U06-DG-023-stage_1-title">
            <a:extLst>
              <a:ext uri="{FF2B5EF4-FFF2-40B4-BE49-F238E27FC236}">
                <a16:creationId xmlns:a16="http://schemas.microsoft.com/office/drawing/2014/main" id="{65AE4D35-E91F-4323-8C72-2054DAAE231B}"/>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Estímulo</a:t>
            </a:r>
          </a:p>
        </p:txBody>
      </p:sp>
      <p:sp>
        <p:nvSpPr>
          <p:cNvPr id="12" name="U06-DG-023-stage_1-body">
            <a:extLst>
              <a:ext uri="{FF2B5EF4-FFF2-40B4-BE49-F238E27FC236}">
                <a16:creationId xmlns:a16="http://schemas.microsoft.com/office/drawing/2014/main" id="{C8477EA8-BBB9-47AB-B418-367DC6B1E383}"/>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13" name="U06-DG-023-stage_2-box">
            <a:extLst>
              <a:ext uri="{FF2B5EF4-FFF2-40B4-BE49-F238E27FC236}">
                <a16:creationId xmlns:a16="http://schemas.microsoft.com/office/drawing/2014/main" id="{8E206550-A72D-4FDA-BEE5-B9293783E961}"/>
              </a:ext>
            </a:extLst>
          </p:cNvPr>
          <p:cNvSpPr>
            <a:spLocks noGrp="1"/>
          </p:cNvSpPr>
          <p:nvPr/>
        </p:nvSpPr>
        <p:spPr>
          <a:xfrm>
            <a:off x="3514725" y="2428875"/>
            <a:ext cx="2428875" cy="1666875"/>
          </a:xfrm>
          <a:prstGeom prst="roundRect">
            <a:avLst>
              <a:gd name="adj" fmla="val 5714"/>
            </a:avLst>
          </a:prstGeom>
          <a:solidFill>
            <a:srgbClr val="F7F6F2"/>
          </a:solidFill>
          <a:ln w="19050">
            <a:solidFill>
              <a:srgbClr val="969FA7"/>
            </a:solidFill>
            <a:prstDash val="solid"/>
          </a:ln>
        </p:spPr>
      </p:sp>
      <p:sp>
        <p:nvSpPr>
          <p:cNvPr id="14" name="U06-DG-023-stage_2-title">
            <a:extLst>
              <a:ext uri="{FF2B5EF4-FFF2-40B4-BE49-F238E27FC236}">
                <a16:creationId xmlns:a16="http://schemas.microsoft.com/office/drawing/2014/main" id="{CD62AB67-3FD5-4152-8CDA-DEE7515117BF}"/>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Vía refleja</a:t>
            </a:r>
          </a:p>
        </p:txBody>
      </p:sp>
      <p:sp>
        <p:nvSpPr>
          <p:cNvPr id="15" name="U06-DG-023-stage_2-body">
            <a:extLst>
              <a:ext uri="{FF2B5EF4-FFF2-40B4-BE49-F238E27FC236}">
                <a16:creationId xmlns:a16="http://schemas.microsoft.com/office/drawing/2014/main" id="{C5290A0A-9658-464D-B575-B7F4F67641DA}"/>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detección y control</a:t>
            </a:r>
          </a:p>
        </p:txBody>
      </p:sp>
      <p:sp>
        <p:nvSpPr>
          <p:cNvPr id="16" name="U06-DG-023-stage_3-box">
            <a:extLst>
              <a:ext uri="{FF2B5EF4-FFF2-40B4-BE49-F238E27FC236}">
                <a16:creationId xmlns:a16="http://schemas.microsoft.com/office/drawing/2014/main" id="{1573DFCE-5DB7-48F8-B9B7-701BD7AB0F22}"/>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7" name="U06-DG-023-stage_3-title">
            <a:extLst>
              <a:ext uri="{FF2B5EF4-FFF2-40B4-BE49-F238E27FC236}">
                <a16:creationId xmlns:a16="http://schemas.microsoft.com/office/drawing/2014/main" id="{55B6857C-FBD3-4F94-B36F-4AC82F4CC428}"/>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Músculos</a:t>
            </a:r>
          </a:p>
        </p:txBody>
      </p:sp>
      <p:sp>
        <p:nvSpPr>
          <p:cNvPr id="18" name="U06-DG-023-stage_3-body">
            <a:extLst>
              <a:ext uri="{FF2B5EF4-FFF2-40B4-BE49-F238E27FC236}">
                <a16:creationId xmlns:a16="http://schemas.microsoft.com/office/drawing/2014/main" id="{C55E2BDB-E2D4-4452-BBC6-75DD33EA53A9}"/>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contracción</a:t>
            </a:r>
          </a:p>
        </p:txBody>
      </p:sp>
      <p:sp>
        <p:nvSpPr>
          <p:cNvPr id="19" name="U06-DG-023-stage_4-box">
            <a:extLst>
              <a:ext uri="{FF2B5EF4-FFF2-40B4-BE49-F238E27FC236}">
                <a16:creationId xmlns:a16="http://schemas.microsoft.com/office/drawing/2014/main" id="{300EA1C6-5C8E-4DF9-83B3-91A61E35659B}"/>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0" name="U06-DG-023-stage_4-title">
            <a:extLst>
              <a:ext uri="{FF2B5EF4-FFF2-40B4-BE49-F238E27FC236}">
                <a16:creationId xmlns:a16="http://schemas.microsoft.com/office/drawing/2014/main" id="{F2627F44-B43D-4D58-9D64-014F985324EA}"/>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Oído medio</a:t>
            </a:r>
          </a:p>
        </p:txBody>
      </p:sp>
      <p:sp>
        <p:nvSpPr>
          <p:cNvPr id="21" name="U06-DG-023-stage_4-body">
            <a:extLst>
              <a:ext uri="{FF2B5EF4-FFF2-40B4-BE49-F238E27FC236}">
                <a16:creationId xmlns:a16="http://schemas.microsoft.com/office/drawing/2014/main" id="{8A11372C-E8F9-4F8C-A977-5D354871A409}"/>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impedancia cambia</a:t>
            </a:r>
          </a:p>
        </p:txBody>
      </p:sp>
      <p:sp>
        <p:nvSpPr>
          <p:cNvPr id="22" name="caption">
            <a:extLst>
              <a:ext uri="{FF2B5EF4-FFF2-40B4-BE49-F238E27FC236}">
                <a16:creationId xmlns:a16="http://schemas.microsoft.com/office/drawing/2014/main" id="{1019B277-E7E2-45AE-A333-82D70977764A}"/>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contracción del estapedio atenúa de forma dependiente de frecuencia y no es i…</a:t>
            </a:r>
          </a:p>
        </p:txBody>
      </p:sp>
      <p:sp>
        <p:nvSpPr>
          <p:cNvPr id="23" name="credit">
            <a:extLst>
              <a:ext uri="{FF2B5EF4-FFF2-40B4-BE49-F238E27FC236}">
                <a16:creationId xmlns:a16="http://schemas.microsoft.com/office/drawing/2014/main" id="{B26A979D-83FF-45DF-9463-6771E049C29C}"/>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044917C2-00FF-4DF8-874A-692FA4E0E8E1}"/>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Hasta acá: transferir, transformar y limitar</a:t>
            </a:r>
          </a:p>
        </p:txBody>
      </p:sp>
      <p:sp>
        <p:nvSpPr>
          <p:cNvPr id="2" name="slide-subtitle">
            <a:extLst>
              <a:ext uri="{FF2B5EF4-FFF2-40B4-BE49-F238E27FC236}">
                <a16:creationId xmlns:a16="http://schemas.microsoft.com/office/drawing/2014/main" id="{C292961B-E4DD-4792-BA4E-2CEBD2D02541}"/>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oído medio adapta con pérdidas; el reflejo llega tarde para el inicio de un impulso.</a:t>
            </a:r>
          </a:p>
        </p:txBody>
      </p:sp>
      <p:sp>
        <p:nvSpPr>
          <p:cNvPr id="3" name="eyebrow">
            <a:extLst>
              <a:ext uri="{FF2B5EF4-FFF2-40B4-BE49-F238E27FC236}">
                <a16:creationId xmlns:a16="http://schemas.microsoft.com/office/drawing/2014/main" id="{DA10BBE6-164C-4AA8-8690-4CEEF5E71E2C}"/>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039</a:t>
            </a:r>
          </a:p>
        </p:txBody>
      </p:sp>
      <p:sp>
        <p:nvSpPr>
          <p:cNvPr id="4" name="U06-DG-001-stage_1-anchor">
            <a:extLst>
              <a:ext uri="{FF2B5EF4-FFF2-40B4-BE49-F238E27FC236}">
                <a16:creationId xmlns:a16="http://schemas.microsoft.com/office/drawing/2014/main" id="{FDFFFC60-AF75-463A-986A-438FAF03F2D3}"/>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01-stage_2-anchor">
            <a:extLst>
              <a:ext uri="{FF2B5EF4-FFF2-40B4-BE49-F238E27FC236}">
                <a16:creationId xmlns:a16="http://schemas.microsoft.com/office/drawing/2014/main" id="{2BECC6A9-10DD-4723-8736-C93DA2008562}"/>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01-stage_3-anchor">
            <a:extLst>
              <a:ext uri="{FF2B5EF4-FFF2-40B4-BE49-F238E27FC236}">
                <a16:creationId xmlns:a16="http://schemas.microsoft.com/office/drawing/2014/main" id="{5042D1EE-B037-4CEF-B80E-2A55724F1142}"/>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01-stage_4-anchor">
            <a:extLst>
              <a:ext uri="{FF2B5EF4-FFF2-40B4-BE49-F238E27FC236}">
                <a16:creationId xmlns:a16="http://schemas.microsoft.com/office/drawing/2014/main" id="{5425CF20-2067-4176-88E5-94C2DC668EBE}"/>
              </a:ext>
            </a:extLst>
          </p:cNvPr>
          <p:cNvSpPr>
            <a:spLocks noGrp="1"/>
          </p:cNvSpPr>
          <p:nvPr/>
        </p:nvSpPr>
        <p:spPr>
          <a:xfrm>
            <a:off x="8045450" y="3952875"/>
            <a:ext cx="3365500" cy="1381125"/>
          </a:xfrm>
          <a:prstGeom prst="roundRect">
            <a:avLst>
              <a:gd name="adj" fmla="val 6897"/>
            </a:avLst>
          </a:prstGeom>
          <a:noFill/>
          <a:ln w="0">
            <a:noFill/>
            <a:prstDash val="solid"/>
          </a:ln>
        </p:spPr>
      </p:sp>
      <p:sp>
        <p:nvSpPr>
          <p:cNvPr id="8" name="U06-DG-001-stage_5-anchor">
            <a:extLst>
              <a:ext uri="{FF2B5EF4-FFF2-40B4-BE49-F238E27FC236}">
                <a16:creationId xmlns:a16="http://schemas.microsoft.com/office/drawing/2014/main" id="{B43B2E74-5A2A-4D9A-8838-AB4B450C9667}"/>
              </a:ext>
            </a:extLst>
          </p:cNvPr>
          <p:cNvSpPr>
            <a:spLocks noGrp="1"/>
          </p:cNvSpPr>
          <p:nvPr/>
        </p:nvSpPr>
        <p:spPr>
          <a:xfrm>
            <a:off x="4413250" y="3952875"/>
            <a:ext cx="3365500" cy="1381125"/>
          </a:xfrm>
          <a:prstGeom prst="roundRect">
            <a:avLst>
              <a:gd name="adj" fmla="val 6897"/>
            </a:avLst>
          </a:prstGeom>
          <a:noFill/>
          <a:ln w="0">
            <a:noFill/>
            <a:prstDash val="solid"/>
          </a:ln>
        </p:spPr>
      </p:sp>
      <p:sp>
        <p:nvSpPr>
          <p:cNvPr id="9" name="U06-DG-001-stage_6-anchor">
            <a:extLst>
              <a:ext uri="{FF2B5EF4-FFF2-40B4-BE49-F238E27FC236}">
                <a16:creationId xmlns:a16="http://schemas.microsoft.com/office/drawing/2014/main" id="{1AF89FDC-546A-4D02-B300-B9509E927117}"/>
              </a:ext>
            </a:extLst>
          </p:cNvPr>
          <p:cNvSpPr>
            <a:spLocks noGrp="1"/>
          </p:cNvSpPr>
          <p:nvPr/>
        </p:nvSpPr>
        <p:spPr>
          <a:xfrm>
            <a:off x="781050" y="3952875"/>
            <a:ext cx="3365500" cy="1381125"/>
          </a:xfrm>
          <a:prstGeom prst="roundRect">
            <a:avLst>
              <a:gd name="adj" fmla="val 6897"/>
            </a:avLst>
          </a:prstGeom>
          <a:noFill/>
          <a:ln w="0">
            <a:noFill/>
            <a:prstDash val="solid"/>
          </a:ln>
        </p:spPr>
      </p:sp>
      <p:cxnSp>
        <p:nvCxnSpPr>
          <p:cNvPr id="44" name="U06-DG-001-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45" name="U06-DG-001-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6" name="U06-DG-001-flow_3"/>
          <p:cNvCxnSpPr>
            <a:stCxn id="6" idx="2"/>
            <a:endCxn id="7" idx="0"/>
          </p:cNvCxnSpPr>
          <p:nvPr/>
        </p:nvCxnSpPr>
        <p:spPr>
          <a:xfrm>
            <a:off x="9728200" y="3048000"/>
            <a:ext cx="0" cy="904875"/>
          </a:xfrm>
          <a:prstGeom prst="straightConnector1">
            <a:avLst/>
          </a:prstGeom>
          <a:ln w="28575">
            <a:solidFill>
              <a:srgbClr val="3D3D3D"/>
            </a:solidFill>
            <a:prstDash val="solid"/>
            <a:tailEnd type="arrow" w="med" len="med"/>
          </a:ln>
        </p:spPr>
      </p:cxnSp>
      <p:cxnSp>
        <p:nvCxnSpPr>
          <p:cNvPr id="47" name="U06-DG-001-flow_4"/>
          <p:cNvCxnSpPr>
            <a:stCxn id="7" idx="1"/>
            <a:endCxn id="8" idx="3"/>
          </p:cNvCxnSpPr>
          <p:nvPr/>
        </p:nvCxnSpPr>
        <p:spPr>
          <a:xfrm flipH="1">
            <a:off x="7778750" y="4643438"/>
            <a:ext cx="266700" cy="0"/>
          </a:xfrm>
          <a:prstGeom prst="straightConnector1">
            <a:avLst/>
          </a:prstGeom>
          <a:ln w="28575">
            <a:solidFill>
              <a:srgbClr val="3D3D3D"/>
            </a:solidFill>
            <a:prstDash val="solid"/>
            <a:tailEnd type="arrow" w="med" len="med"/>
          </a:ln>
        </p:spPr>
      </p:cxnSp>
      <p:cxnSp>
        <p:nvCxnSpPr>
          <p:cNvPr id="48" name="U06-DG-001-flow_5"/>
          <p:cNvCxnSpPr>
            <a:stCxn id="8" idx="1"/>
            <a:endCxn id="9" idx="3"/>
          </p:cNvCxnSpPr>
          <p:nvPr/>
        </p:nvCxnSpPr>
        <p:spPr>
          <a:xfrm flipH="1">
            <a:off x="4146550" y="4643438"/>
            <a:ext cx="266700" cy="0"/>
          </a:xfrm>
          <a:prstGeom prst="straightConnector1">
            <a:avLst/>
          </a:prstGeom>
          <a:ln w="28575">
            <a:solidFill>
              <a:srgbClr val="3D3D3D"/>
            </a:solidFill>
            <a:prstDash val="solid"/>
            <a:tailEnd type="arrow" w="med" len="med"/>
          </a:ln>
        </p:spPr>
      </p:cxnSp>
      <p:sp>
        <p:nvSpPr>
          <p:cNvPr id="15" name="U06-DG-001-stage_1-box" descr="Diagrama sobre «Hasta acá: transferir, transformar y limitar»; organiza tres ideas + pregunta de control sobre energía y latencia." title="Texto alternativo U06-039">
            <a:extLst>
              <a:ext uri="{FF2B5EF4-FFF2-40B4-BE49-F238E27FC236}">
                <a16:creationId xmlns:a16="http://schemas.microsoft.com/office/drawing/2014/main" id="{7F78003B-A8B6-4D96-8A7F-D674DADB9152}"/>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6" name="U06-DG-001-stage_1-title">
            <a:extLst>
              <a:ext uri="{FF2B5EF4-FFF2-40B4-BE49-F238E27FC236}">
                <a16:creationId xmlns:a16="http://schemas.microsoft.com/office/drawing/2014/main" id="{905A8A7F-2D01-40E6-8503-040E56082D03}"/>
              </a:ext>
            </a:extLst>
          </p:cNvPr>
          <p:cNvSpPr>
            <a:spLocks noGrp="1"/>
          </p:cNvSpPr>
          <p:nvPr/>
        </p:nvSpPr>
        <p:spPr>
          <a:xfrm>
            <a:off x="9715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Pabellón</a:t>
            </a:r>
          </a:p>
        </p:txBody>
      </p:sp>
      <p:sp>
        <p:nvSpPr>
          <p:cNvPr id="17" name="U06-DG-001-stage_1-body">
            <a:extLst>
              <a:ext uri="{FF2B5EF4-FFF2-40B4-BE49-F238E27FC236}">
                <a16:creationId xmlns:a16="http://schemas.microsoft.com/office/drawing/2014/main" id="{6727561C-406B-4DEE-A1ED-15A210C78768}"/>
              </a:ext>
            </a:extLst>
          </p:cNvPr>
          <p:cNvSpPr>
            <a:spLocks noGrp="1"/>
          </p:cNvSpPr>
          <p:nvPr/>
        </p:nvSpPr>
        <p:spPr>
          <a:xfrm>
            <a:off x="9715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capta y filtra</a:t>
            </a:r>
          </a:p>
        </p:txBody>
      </p:sp>
      <p:sp>
        <p:nvSpPr>
          <p:cNvPr id="18" name="U06-DG-001-stage_2-box">
            <a:extLst>
              <a:ext uri="{FF2B5EF4-FFF2-40B4-BE49-F238E27FC236}">
                <a16:creationId xmlns:a16="http://schemas.microsoft.com/office/drawing/2014/main" id="{E2F360DC-D887-4165-A420-0E056AC954BD}"/>
              </a:ext>
            </a:extLst>
          </p:cNvPr>
          <p:cNvSpPr>
            <a:spLocks noGrp="1"/>
          </p:cNvSpPr>
          <p:nvPr/>
        </p:nvSpPr>
        <p:spPr>
          <a:xfrm>
            <a:off x="4413250" y="1666875"/>
            <a:ext cx="3365500" cy="1381125"/>
          </a:xfrm>
          <a:prstGeom prst="roundRect">
            <a:avLst>
              <a:gd name="adj" fmla="val 6897"/>
            </a:avLst>
          </a:prstGeom>
          <a:solidFill>
            <a:srgbClr val="E7F1F1"/>
          </a:solidFill>
          <a:ln w="19050">
            <a:solidFill>
              <a:srgbClr val="2F7E83"/>
            </a:solidFill>
            <a:prstDash val="solid"/>
          </a:ln>
        </p:spPr>
      </p:sp>
      <p:sp>
        <p:nvSpPr>
          <p:cNvPr id="19" name="U06-DG-001-stage_2-title">
            <a:extLst>
              <a:ext uri="{FF2B5EF4-FFF2-40B4-BE49-F238E27FC236}">
                <a16:creationId xmlns:a16="http://schemas.microsoft.com/office/drawing/2014/main" id="{B0C24342-AAD5-4461-B6E8-F122AEBFB158}"/>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0" name="U06-DG-001-stage_2-body">
            <a:extLst>
              <a:ext uri="{FF2B5EF4-FFF2-40B4-BE49-F238E27FC236}">
                <a16:creationId xmlns:a16="http://schemas.microsoft.com/office/drawing/2014/main" id="{C9D41F53-CB6B-4D49-B722-89E32D07A9F6}"/>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conduce presión</a:t>
            </a:r>
          </a:p>
        </p:txBody>
      </p:sp>
      <p:sp>
        <p:nvSpPr>
          <p:cNvPr id="21" name="U06-DG-001-stage_3-box">
            <a:extLst>
              <a:ext uri="{FF2B5EF4-FFF2-40B4-BE49-F238E27FC236}">
                <a16:creationId xmlns:a16="http://schemas.microsoft.com/office/drawing/2014/main" id="{E2793649-1434-4A31-9794-04B5C06C4B8C}"/>
              </a:ext>
            </a:extLst>
          </p:cNvPr>
          <p:cNvSpPr>
            <a:spLocks noGrp="1"/>
          </p:cNvSpPr>
          <p:nvPr/>
        </p:nvSpPr>
        <p:spPr>
          <a:xfrm>
            <a:off x="8045450" y="1666875"/>
            <a:ext cx="3365500" cy="1381125"/>
          </a:xfrm>
          <a:prstGeom prst="roundRect">
            <a:avLst>
              <a:gd name="adj" fmla="val 6897"/>
            </a:avLst>
          </a:prstGeom>
          <a:solidFill>
            <a:srgbClr val="F4E9EF"/>
          </a:solidFill>
          <a:ln w="19050">
            <a:solidFill>
              <a:srgbClr val="4D1434"/>
            </a:solidFill>
            <a:prstDash val="solid"/>
          </a:ln>
        </p:spPr>
      </p:sp>
      <p:sp>
        <p:nvSpPr>
          <p:cNvPr id="22" name="U06-DG-001-stage_3-title">
            <a:extLst>
              <a:ext uri="{FF2B5EF4-FFF2-40B4-BE49-F238E27FC236}">
                <a16:creationId xmlns:a16="http://schemas.microsoft.com/office/drawing/2014/main" id="{26F6037F-CA30-46B1-99E6-B926F832C8B9}"/>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Tímpano</a:t>
            </a:r>
          </a:p>
        </p:txBody>
      </p:sp>
      <p:sp>
        <p:nvSpPr>
          <p:cNvPr id="23" name="U06-DG-001-stage_3-body">
            <a:extLst>
              <a:ext uri="{FF2B5EF4-FFF2-40B4-BE49-F238E27FC236}">
                <a16:creationId xmlns:a16="http://schemas.microsoft.com/office/drawing/2014/main" id="{3CF01722-AE57-4F9E-99FF-D38A96D5BDB4}"/>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 → fuerza</a:t>
            </a:r>
          </a:p>
        </p:txBody>
      </p:sp>
      <p:sp>
        <p:nvSpPr>
          <p:cNvPr id="24" name="U06-DG-001-stage_4-box">
            <a:extLst>
              <a:ext uri="{FF2B5EF4-FFF2-40B4-BE49-F238E27FC236}">
                <a16:creationId xmlns:a16="http://schemas.microsoft.com/office/drawing/2014/main" id="{D9962670-C9E0-410D-A8D2-8FFB030D9AEE}"/>
              </a:ext>
            </a:extLst>
          </p:cNvPr>
          <p:cNvSpPr>
            <a:spLocks noGrp="1"/>
          </p:cNvSpPr>
          <p:nvPr/>
        </p:nvSpPr>
        <p:spPr>
          <a:xfrm>
            <a:off x="8045450" y="3952875"/>
            <a:ext cx="3365500" cy="1381125"/>
          </a:xfrm>
          <a:prstGeom prst="roundRect">
            <a:avLst>
              <a:gd name="adj" fmla="val 6897"/>
            </a:avLst>
          </a:prstGeom>
          <a:solidFill>
            <a:srgbClr val="F4E9EF"/>
          </a:solidFill>
          <a:ln w="19050">
            <a:solidFill>
              <a:srgbClr val="4D1434"/>
            </a:solidFill>
            <a:prstDash val="solid"/>
          </a:ln>
        </p:spPr>
      </p:sp>
      <p:sp>
        <p:nvSpPr>
          <p:cNvPr id="25" name="U06-DG-001-stage_4-title">
            <a:extLst>
              <a:ext uri="{FF2B5EF4-FFF2-40B4-BE49-F238E27FC236}">
                <a16:creationId xmlns:a16="http://schemas.microsoft.com/office/drawing/2014/main" id="{232EED35-C220-41E6-9648-A4A6D84C3B67}"/>
              </a:ext>
            </a:extLst>
          </p:cNvPr>
          <p:cNvSpPr>
            <a:spLocks noGrp="1"/>
          </p:cNvSpPr>
          <p:nvPr/>
        </p:nvSpPr>
        <p:spPr>
          <a:xfrm>
            <a:off x="82359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Osículos</a:t>
            </a:r>
          </a:p>
        </p:txBody>
      </p:sp>
      <p:sp>
        <p:nvSpPr>
          <p:cNvPr id="26" name="U06-DG-001-stage_4-body">
            <a:extLst>
              <a:ext uri="{FF2B5EF4-FFF2-40B4-BE49-F238E27FC236}">
                <a16:creationId xmlns:a16="http://schemas.microsoft.com/office/drawing/2014/main" id="{B775C5DC-5469-4D85-9937-9111A7672255}"/>
              </a:ext>
            </a:extLst>
          </p:cNvPr>
          <p:cNvSpPr>
            <a:spLocks noGrp="1"/>
          </p:cNvSpPr>
          <p:nvPr/>
        </p:nvSpPr>
        <p:spPr>
          <a:xfrm>
            <a:off x="82359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transfieren</a:t>
            </a:r>
          </a:p>
        </p:txBody>
      </p:sp>
      <p:sp>
        <p:nvSpPr>
          <p:cNvPr id="27" name="U06-DG-001-stage_5-box">
            <a:extLst>
              <a:ext uri="{FF2B5EF4-FFF2-40B4-BE49-F238E27FC236}">
                <a16:creationId xmlns:a16="http://schemas.microsoft.com/office/drawing/2014/main" id="{91F4AF7B-6054-4A70-834C-C404B6B90C4A}"/>
              </a:ext>
            </a:extLst>
          </p:cNvPr>
          <p:cNvSpPr>
            <a:spLocks noGrp="1"/>
          </p:cNvSpPr>
          <p:nvPr/>
        </p:nvSpPr>
        <p:spPr>
          <a:xfrm>
            <a:off x="4413250" y="3952875"/>
            <a:ext cx="3365500" cy="1381125"/>
          </a:xfrm>
          <a:prstGeom prst="roundRect">
            <a:avLst>
              <a:gd name="adj" fmla="val 6897"/>
            </a:avLst>
          </a:prstGeom>
          <a:solidFill>
            <a:srgbClr val="F8EDE2"/>
          </a:solidFill>
          <a:ln w="19050">
            <a:solidFill>
              <a:srgbClr val="9F541A"/>
            </a:solidFill>
            <a:prstDash val="solid"/>
          </a:ln>
        </p:spPr>
      </p:sp>
      <p:sp>
        <p:nvSpPr>
          <p:cNvPr id="28" name="U06-DG-001-stage_5-title">
            <a:extLst>
              <a:ext uri="{FF2B5EF4-FFF2-40B4-BE49-F238E27FC236}">
                <a16:creationId xmlns:a16="http://schemas.microsoft.com/office/drawing/2014/main" id="{8E6058CF-3C47-42B5-965D-A82F990B236A}"/>
              </a:ext>
            </a:extLst>
          </p:cNvPr>
          <p:cNvSpPr>
            <a:spLocks noGrp="1"/>
          </p:cNvSpPr>
          <p:nvPr/>
        </p:nvSpPr>
        <p:spPr>
          <a:xfrm>
            <a:off x="46037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Cóclea</a:t>
            </a:r>
          </a:p>
        </p:txBody>
      </p:sp>
      <p:sp>
        <p:nvSpPr>
          <p:cNvPr id="29" name="U06-DG-001-stage_5-body">
            <a:extLst>
              <a:ext uri="{FF2B5EF4-FFF2-40B4-BE49-F238E27FC236}">
                <a16:creationId xmlns:a16="http://schemas.microsoft.com/office/drawing/2014/main" id="{CD43E51E-A82E-4E9D-B1AB-339192FA1DE4}"/>
              </a:ext>
            </a:extLst>
          </p:cNvPr>
          <p:cNvSpPr>
            <a:spLocks noGrp="1"/>
          </p:cNvSpPr>
          <p:nvPr/>
        </p:nvSpPr>
        <p:spPr>
          <a:xfrm>
            <a:off x="46037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mecánica espacial</a:t>
            </a:r>
          </a:p>
        </p:txBody>
      </p:sp>
      <p:sp>
        <p:nvSpPr>
          <p:cNvPr id="30" name="U06-DG-001-stage_6-box">
            <a:extLst>
              <a:ext uri="{FF2B5EF4-FFF2-40B4-BE49-F238E27FC236}">
                <a16:creationId xmlns:a16="http://schemas.microsoft.com/office/drawing/2014/main" id="{40F06639-20D7-4DF8-81B1-46CAB35268C8}"/>
              </a:ext>
            </a:extLst>
          </p:cNvPr>
          <p:cNvSpPr>
            <a:spLocks noGrp="1"/>
          </p:cNvSpPr>
          <p:nvPr/>
        </p:nvSpPr>
        <p:spPr>
          <a:xfrm>
            <a:off x="781050" y="3952875"/>
            <a:ext cx="3365500" cy="1381125"/>
          </a:xfrm>
          <a:prstGeom prst="roundRect">
            <a:avLst>
              <a:gd name="adj" fmla="val 6897"/>
            </a:avLst>
          </a:prstGeom>
          <a:solidFill>
            <a:srgbClr val="F8EDE2"/>
          </a:solidFill>
          <a:ln w="19050">
            <a:solidFill>
              <a:srgbClr val="9F541A"/>
            </a:solidFill>
            <a:prstDash val="solid"/>
          </a:ln>
        </p:spPr>
      </p:sp>
      <p:sp>
        <p:nvSpPr>
          <p:cNvPr id="31" name="U06-DG-001-stage_6-title">
            <a:extLst>
              <a:ext uri="{FF2B5EF4-FFF2-40B4-BE49-F238E27FC236}">
                <a16:creationId xmlns:a16="http://schemas.microsoft.com/office/drawing/2014/main" id="{635F0785-A494-4126-B7B4-727C83F28F71}"/>
              </a:ext>
            </a:extLst>
          </p:cNvPr>
          <p:cNvSpPr>
            <a:spLocks noGrp="1"/>
          </p:cNvSpPr>
          <p:nvPr/>
        </p:nvSpPr>
        <p:spPr>
          <a:xfrm>
            <a:off x="9715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Nervio</a:t>
            </a:r>
          </a:p>
        </p:txBody>
      </p:sp>
      <p:sp>
        <p:nvSpPr>
          <p:cNvPr id="32" name="U06-DG-001-stage_6-body">
            <a:extLst>
              <a:ext uri="{FF2B5EF4-FFF2-40B4-BE49-F238E27FC236}">
                <a16:creationId xmlns:a16="http://schemas.microsoft.com/office/drawing/2014/main" id="{B4E5FFBE-8B77-4394-BC5E-3A6AEFC97A69}"/>
              </a:ext>
            </a:extLst>
          </p:cNvPr>
          <p:cNvSpPr>
            <a:spLocks noGrp="1"/>
          </p:cNvSpPr>
          <p:nvPr/>
        </p:nvSpPr>
        <p:spPr>
          <a:xfrm>
            <a:off x="9715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señal aferente</a:t>
            </a:r>
          </a:p>
        </p:txBody>
      </p:sp>
      <p:sp>
        <p:nvSpPr>
          <p:cNvPr id="33" name="caption">
            <a:extLst>
              <a:ext uri="{FF2B5EF4-FFF2-40B4-BE49-F238E27FC236}">
                <a16:creationId xmlns:a16="http://schemas.microsoft.com/office/drawing/2014/main" id="{498B9DEC-B55E-414C-921A-39535D23422B}"/>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oído medio adapta con pérdidas; el reflejo llega tarde para el inicio de un i…</a:t>
            </a:r>
          </a:p>
        </p:txBody>
      </p:sp>
      <p:sp>
        <p:nvSpPr>
          <p:cNvPr id="34" name="credit">
            <a:extLst>
              <a:ext uri="{FF2B5EF4-FFF2-40B4-BE49-F238E27FC236}">
                <a16:creationId xmlns:a16="http://schemas.microsoft.com/office/drawing/2014/main" id="{91A95619-D81F-4A8D-B3A6-03CE4B728339}"/>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BA4E969F-FF06-4F1D-B86C-88F1C9491D9F}"/>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040</a:t>
            </a:r>
          </a:p>
        </p:txBody>
      </p:sp>
      <p:sp>
        <p:nvSpPr>
          <p:cNvPr id="2" name="divider-title">
            <a:extLst>
              <a:ext uri="{FF2B5EF4-FFF2-40B4-BE49-F238E27FC236}">
                <a16:creationId xmlns:a16="http://schemas.microsoft.com/office/drawing/2014/main" id="{683DAE8D-9A82-45C9-9CF6-A0372651F20A}"/>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La vía ósea es una convergencia, no un atajo único</a:t>
            </a:r>
          </a:p>
        </p:txBody>
      </p:sp>
      <p:sp>
        <p:nvSpPr>
          <p:cNvPr id="3" name="divider-subtitle">
            <a:extLst>
              <a:ext uri="{FF2B5EF4-FFF2-40B4-BE49-F238E27FC236}">
                <a16:creationId xmlns:a16="http://schemas.microsoft.com/office/drawing/2014/main" id="{2B9BACB2-22A0-4065-B069-02207CB179B5}"/>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¿Por qué la conducción ósea no es una ruta única que evita el oído externo y medio?</a:t>
            </a:r>
          </a:p>
        </p:txBody>
      </p:sp>
      <p:sp>
        <p:nvSpPr>
          <p:cNvPr id="4" name="divider-content">
            <a:extLst>
              <a:ext uri="{FF2B5EF4-FFF2-40B4-BE49-F238E27FC236}">
                <a16:creationId xmlns:a16="http://schemas.microsoft.com/office/drawing/2014/main" id="{75666142-092D-4E71-8427-A7D0FC65E378}"/>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¿Por qué la conducción ósea no es una ruta única que evita el oído externo y medio?</a:t>
            </a:r>
          </a:p>
        </p:txBody>
      </p:sp>
    </p:spTree>
    <p:extLst>
      <p:ext uri="{BB962C8B-B14F-4D97-AF65-F5344CB8AC3E}">
        <p14:creationId xmlns:p14="http://schemas.microsoft.com/office/powerpoint/2010/main" val="11649023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slide-title">
            <a:extLst>
              <a:ext uri="{FF2B5EF4-FFF2-40B4-BE49-F238E27FC236}">
                <a16:creationId xmlns:a16="http://schemas.microsoft.com/office/drawing/2014/main" id="{9B53DF89-7397-4768-AEF4-4295B584475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Vía aérea y vía ósea cambian la entrada, no la cóclea final</a:t>
            </a:r>
          </a:p>
        </p:txBody>
      </p:sp>
      <p:sp>
        <p:nvSpPr>
          <p:cNvPr id="2" name="slide-subtitle">
            <a:extLst>
              <a:ext uri="{FF2B5EF4-FFF2-40B4-BE49-F238E27FC236}">
                <a16:creationId xmlns:a16="http://schemas.microsoft.com/office/drawing/2014/main" id="{DD1D5A5B-0D3C-4B3D-8D21-50EA78B9B8EA}"/>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Ambas pueden generar diferencias de presión y movimiento en la partición coclear.</a:t>
            </a:r>
          </a:p>
        </p:txBody>
      </p:sp>
      <p:sp>
        <p:nvSpPr>
          <p:cNvPr id="3" name="eyebrow">
            <a:extLst>
              <a:ext uri="{FF2B5EF4-FFF2-40B4-BE49-F238E27FC236}">
                <a16:creationId xmlns:a16="http://schemas.microsoft.com/office/drawing/2014/main" id="{A328756F-5D76-404C-B36B-8E5BEB7D4DEF}"/>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041</a:t>
            </a:r>
          </a:p>
        </p:txBody>
      </p:sp>
      <p:sp>
        <p:nvSpPr>
          <p:cNvPr id="4" name="U06-DG-024-target-anchor">
            <a:extLst>
              <a:ext uri="{FF2B5EF4-FFF2-40B4-BE49-F238E27FC236}">
                <a16:creationId xmlns:a16="http://schemas.microsoft.com/office/drawing/2014/main" id="{9A3E7156-5EB0-48A2-B6A6-90EA09B715A7}"/>
              </a:ext>
            </a:extLst>
          </p:cNvPr>
          <p:cNvSpPr>
            <a:spLocks noGrp="1"/>
          </p:cNvSpPr>
          <p:nvPr/>
        </p:nvSpPr>
        <p:spPr>
          <a:xfrm>
            <a:off x="9477375" y="2667000"/>
            <a:ext cx="1952625" cy="1524000"/>
          </a:xfrm>
          <a:prstGeom prst="roundRect">
            <a:avLst>
              <a:gd name="adj" fmla="val 6250"/>
            </a:avLst>
          </a:prstGeom>
          <a:noFill/>
          <a:ln w="0">
            <a:noFill/>
            <a:prstDash val="solid"/>
          </a:ln>
        </p:spPr>
      </p:sp>
      <p:sp>
        <p:nvSpPr>
          <p:cNvPr id="5" name="U06-DG-024-air_1-anchor">
            <a:extLst>
              <a:ext uri="{FF2B5EF4-FFF2-40B4-BE49-F238E27FC236}">
                <a16:creationId xmlns:a16="http://schemas.microsoft.com/office/drawing/2014/main" id="{B65B67EF-4613-4A4A-8FD0-3BEDCFDB2717}"/>
              </a:ext>
            </a:extLst>
          </p:cNvPr>
          <p:cNvSpPr>
            <a:spLocks noGrp="1"/>
          </p:cNvSpPr>
          <p:nvPr/>
        </p:nvSpPr>
        <p:spPr>
          <a:xfrm>
            <a:off x="781050" y="1428750"/>
            <a:ext cx="1881188" cy="1428750"/>
          </a:xfrm>
          <a:prstGeom prst="roundRect">
            <a:avLst>
              <a:gd name="adj" fmla="val 6667"/>
            </a:avLst>
          </a:prstGeom>
          <a:noFill/>
          <a:ln w="0">
            <a:noFill/>
            <a:prstDash val="solid"/>
          </a:ln>
        </p:spPr>
      </p:sp>
      <p:sp>
        <p:nvSpPr>
          <p:cNvPr id="6" name="U06-DG-024-air_2-anchor">
            <a:extLst>
              <a:ext uri="{FF2B5EF4-FFF2-40B4-BE49-F238E27FC236}">
                <a16:creationId xmlns:a16="http://schemas.microsoft.com/office/drawing/2014/main" id="{F18BA11E-E013-42CA-A0CA-8B39E7E7133E}"/>
              </a:ext>
            </a:extLst>
          </p:cNvPr>
          <p:cNvSpPr>
            <a:spLocks noGrp="1"/>
          </p:cNvSpPr>
          <p:nvPr/>
        </p:nvSpPr>
        <p:spPr>
          <a:xfrm>
            <a:off x="2852738" y="1428750"/>
            <a:ext cx="1881188" cy="1428750"/>
          </a:xfrm>
          <a:prstGeom prst="roundRect">
            <a:avLst>
              <a:gd name="adj" fmla="val 6667"/>
            </a:avLst>
          </a:prstGeom>
          <a:noFill/>
          <a:ln w="0">
            <a:noFill/>
            <a:prstDash val="solid"/>
          </a:ln>
        </p:spPr>
      </p:sp>
      <p:sp>
        <p:nvSpPr>
          <p:cNvPr id="7" name="U06-DG-024-air_3-anchor">
            <a:extLst>
              <a:ext uri="{FF2B5EF4-FFF2-40B4-BE49-F238E27FC236}">
                <a16:creationId xmlns:a16="http://schemas.microsoft.com/office/drawing/2014/main" id="{5BADA173-A194-4293-A1A5-49B2BFC93BC2}"/>
              </a:ext>
            </a:extLst>
          </p:cNvPr>
          <p:cNvSpPr>
            <a:spLocks noGrp="1"/>
          </p:cNvSpPr>
          <p:nvPr/>
        </p:nvSpPr>
        <p:spPr>
          <a:xfrm>
            <a:off x="4924425" y="1428750"/>
            <a:ext cx="1881188" cy="1428750"/>
          </a:xfrm>
          <a:prstGeom prst="roundRect">
            <a:avLst>
              <a:gd name="adj" fmla="val 6667"/>
            </a:avLst>
          </a:prstGeom>
          <a:noFill/>
          <a:ln w="0">
            <a:noFill/>
            <a:prstDash val="solid"/>
          </a:ln>
        </p:spPr>
      </p:sp>
      <p:sp>
        <p:nvSpPr>
          <p:cNvPr id="8" name="U06-DG-024-air_4-anchor">
            <a:extLst>
              <a:ext uri="{FF2B5EF4-FFF2-40B4-BE49-F238E27FC236}">
                <a16:creationId xmlns:a16="http://schemas.microsoft.com/office/drawing/2014/main" id="{4F494EFD-FC9C-43E5-A3B2-B3D73BBFEC42}"/>
              </a:ext>
            </a:extLst>
          </p:cNvPr>
          <p:cNvSpPr>
            <a:spLocks noGrp="1"/>
          </p:cNvSpPr>
          <p:nvPr/>
        </p:nvSpPr>
        <p:spPr>
          <a:xfrm>
            <a:off x="6996113" y="1428750"/>
            <a:ext cx="1881188" cy="1428750"/>
          </a:xfrm>
          <a:prstGeom prst="roundRect">
            <a:avLst>
              <a:gd name="adj" fmla="val 6667"/>
            </a:avLst>
          </a:prstGeom>
          <a:noFill/>
          <a:ln w="0">
            <a:noFill/>
            <a:prstDash val="solid"/>
          </a:ln>
        </p:spPr>
      </p:sp>
      <p:sp>
        <p:nvSpPr>
          <p:cNvPr id="9" name="U06-DG-024-bone_1-anchor">
            <a:extLst>
              <a:ext uri="{FF2B5EF4-FFF2-40B4-BE49-F238E27FC236}">
                <a16:creationId xmlns:a16="http://schemas.microsoft.com/office/drawing/2014/main" id="{335D4975-30F5-42A4-A9CB-077324FD95A9}"/>
              </a:ext>
            </a:extLst>
          </p:cNvPr>
          <p:cNvSpPr>
            <a:spLocks noGrp="1"/>
          </p:cNvSpPr>
          <p:nvPr/>
        </p:nvSpPr>
        <p:spPr>
          <a:xfrm>
            <a:off x="781050" y="4143375"/>
            <a:ext cx="2571750" cy="1428750"/>
          </a:xfrm>
          <a:prstGeom prst="roundRect">
            <a:avLst>
              <a:gd name="adj" fmla="val 6667"/>
            </a:avLst>
          </a:prstGeom>
          <a:noFill/>
          <a:ln w="0">
            <a:noFill/>
            <a:prstDash val="solid"/>
          </a:ln>
        </p:spPr>
      </p:sp>
      <p:sp>
        <p:nvSpPr>
          <p:cNvPr id="10" name="U06-DG-024-bone_2-anchor">
            <a:extLst>
              <a:ext uri="{FF2B5EF4-FFF2-40B4-BE49-F238E27FC236}">
                <a16:creationId xmlns:a16="http://schemas.microsoft.com/office/drawing/2014/main" id="{4E1894F8-E3B6-47E2-A53B-9CA236CA6FEA}"/>
              </a:ext>
            </a:extLst>
          </p:cNvPr>
          <p:cNvSpPr>
            <a:spLocks noGrp="1"/>
          </p:cNvSpPr>
          <p:nvPr/>
        </p:nvSpPr>
        <p:spPr>
          <a:xfrm>
            <a:off x="3543300" y="4143375"/>
            <a:ext cx="2571750" cy="1428750"/>
          </a:xfrm>
          <a:prstGeom prst="roundRect">
            <a:avLst>
              <a:gd name="adj" fmla="val 6667"/>
            </a:avLst>
          </a:prstGeom>
          <a:noFill/>
          <a:ln w="0">
            <a:noFill/>
            <a:prstDash val="solid"/>
          </a:ln>
        </p:spPr>
      </p:sp>
      <p:sp>
        <p:nvSpPr>
          <p:cNvPr id="11" name="U06-DG-024-bone_3-anchor">
            <a:extLst>
              <a:ext uri="{FF2B5EF4-FFF2-40B4-BE49-F238E27FC236}">
                <a16:creationId xmlns:a16="http://schemas.microsoft.com/office/drawing/2014/main" id="{CD30CC4B-A0A2-40E7-BFB1-D50D928BD34C}"/>
              </a:ext>
            </a:extLst>
          </p:cNvPr>
          <p:cNvSpPr>
            <a:spLocks noGrp="1"/>
          </p:cNvSpPr>
          <p:nvPr/>
        </p:nvSpPr>
        <p:spPr>
          <a:xfrm>
            <a:off x="6305550" y="4143375"/>
            <a:ext cx="2571750" cy="1428750"/>
          </a:xfrm>
          <a:prstGeom prst="roundRect">
            <a:avLst>
              <a:gd name="adj" fmla="val 6667"/>
            </a:avLst>
          </a:prstGeom>
          <a:noFill/>
          <a:ln w="0">
            <a:noFill/>
            <a:prstDash val="solid"/>
          </a:ln>
        </p:spPr>
      </p:sp>
      <p:cxnSp>
        <p:nvCxnSpPr>
          <p:cNvPr id="56" name="U06-DG-024-air_edge_1"/>
          <p:cNvCxnSpPr>
            <a:stCxn id="5" idx="3"/>
            <a:endCxn id="6" idx="1"/>
          </p:cNvCxnSpPr>
          <p:nvPr/>
        </p:nvCxnSpPr>
        <p:spPr>
          <a:xfrm>
            <a:off x="2662238" y="2143125"/>
            <a:ext cx="190500" cy="0"/>
          </a:xfrm>
          <a:prstGeom prst="straightConnector1">
            <a:avLst/>
          </a:prstGeom>
          <a:ln w="28575">
            <a:solidFill>
              <a:srgbClr val="3D3D3D"/>
            </a:solidFill>
            <a:prstDash val="solid"/>
            <a:tailEnd type="arrow" w="med" len="med"/>
          </a:ln>
        </p:spPr>
      </p:cxnSp>
      <p:cxnSp>
        <p:nvCxnSpPr>
          <p:cNvPr id="57" name="U06-DG-024-air_edge_2"/>
          <p:cNvCxnSpPr>
            <a:stCxn id="6" idx="3"/>
            <a:endCxn id="7" idx="1"/>
          </p:cNvCxnSpPr>
          <p:nvPr/>
        </p:nvCxnSpPr>
        <p:spPr>
          <a:xfrm>
            <a:off x="4733926" y="2143125"/>
            <a:ext cx="190499" cy="0"/>
          </a:xfrm>
          <a:prstGeom prst="straightConnector1">
            <a:avLst/>
          </a:prstGeom>
          <a:ln w="28575">
            <a:solidFill>
              <a:srgbClr val="3D3D3D"/>
            </a:solidFill>
            <a:prstDash val="solid"/>
            <a:tailEnd type="arrow" w="med" len="med"/>
          </a:ln>
        </p:spPr>
      </p:cxnSp>
      <p:cxnSp>
        <p:nvCxnSpPr>
          <p:cNvPr id="58" name="U06-DG-024-air_edge_3"/>
          <p:cNvCxnSpPr>
            <a:stCxn id="7" idx="3"/>
            <a:endCxn id="8" idx="1"/>
          </p:cNvCxnSpPr>
          <p:nvPr/>
        </p:nvCxnSpPr>
        <p:spPr>
          <a:xfrm>
            <a:off x="6805613" y="2143125"/>
            <a:ext cx="190500" cy="0"/>
          </a:xfrm>
          <a:prstGeom prst="straightConnector1">
            <a:avLst/>
          </a:prstGeom>
          <a:ln w="28575">
            <a:solidFill>
              <a:srgbClr val="3D3D3D"/>
            </a:solidFill>
            <a:prstDash val="solid"/>
            <a:tailEnd type="arrow" w="med" len="med"/>
          </a:ln>
        </p:spPr>
      </p:cxnSp>
      <p:cxnSp>
        <p:nvCxnSpPr>
          <p:cNvPr id="59" name="U06-DG-024-air_target"/>
          <p:cNvCxnSpPr>
            <a:stCxn id="8" idx="3"/>
            <a:endCxn id="4" idx="1"/>
          </p:cNvCxnSpPr>
          <p:nvPr/>
        </p:nvCxnSpPr>
        <p:spPr>
          <a:xfrm>
            <a:off x="8877301" y="2143125"/>
            <a:ext cx="600074" cy="1285875"/>
          </a:xfrm>
          <a:prstGeom prst="bentConnector3">
            <a:avLst>
              <a:gd name="adj1" fmla="val 50000"/>
            </a:avLst>
          </a:prstGeom>
          <a:ln w="28575">
            <a:solidFill>
              <a:srgbClr val="3D3D3D"/>
            </a:solidFill>
            <a:prstDash val="solid"/>
            <a:tailEnd type="arrow" w="med" len="med"/>
          </a:ln>
        </p:spPr>
      </p:cxnSp>
      <p:cxnSp>
        <p:nvCxnSpPr>
          <p:cNvPr id="60" name="U06-DG-024-bone_edge_1"/>
          <p:cNvCxnSpPr>
            <a:stCxn id="9" idx="3"/>
            <a:endCxn id="10" idx="1"/>
          </p:cNvCxnSpPr>
          <p:nvPr/>
        </p:nvCxnSpPr>
        <p:spPr>
          <a:xfrm>
            <a:off x="3352800" y="4857750"/>
            <a:ext cx="190500" cy="0"/>
          </a:xfrm>
          <a:prstGeom prst="straightConnector1">
            <a:avLst/>
          </a:prstGeom>
          <a:ln w="28575">
            <a:solidFill>
              <a:srgbClr val="3D3D3D"/>
            </a:solidFill>
            <a:prstDash val="solid"/>
            <a:tailEnd type="arrow" w="med" len="med"/>
          </a:ln>
        </p:spPr>
      </p:cxnSp>
      <p:cxnSp>
        <p:nvCxnSpPr>
          <p:cNvPr id="61" name="U06-DG-024-bone_edge_2"/>
          <p:cNvCxnSpPr>
            <a:stCxn id="10" idx="3"/>
            <a:endCxn id="11" idx="1"/>
          </p:cNvCxnSpPr>
          <p:nvPr/>
        </p:nvCxnSpPr>
        <p:spPr>
          <a:xfrm>
            <a:off x="6115050" y="4857750"/>
            <a:ext cx="190500" cy="0"/>
          </a:xfrm>
          <a:prstGeom prst="straightConnector1">
            <a:avLst/>
          </a:prstGeom>
          <a:ln w="28575">
            <a:solidFill>
              <a:srgbClr val="3D3D3D"/>
            </a:solidFill>
            <a:prstDash val="solid"/>
            <a:tailEnd type="arrow" w="med" len="med"/>
          </a:ln>
        </p:spPr>
      </p:cxnSp>
      <p:cxnSp>
        <p:nvCxnSpPr>
          <p:cNvPr id="62" name="U06-DG-024-bone_target"/>
          <p:cNvCxnSpPr>
            <a:stCxn id="11" idx="3"/>
            <a:endCxn id="4" idx="1"/>
          </p:cNvCxnSpPr>
          <p:nvPr/>
        </p:nvCxnSpPr>
        <p:spPr>
          <a:xfrm flipV="1">
            <a:off x="8877300" y="3429000"/>
            <a:ext cx="600075" cy="1428750"/>
          </a:xfrm>
          <a:prstGeom prst="bentConnector3">
            <a:avLst>
              <a:gd name="adj1" fmla="val 50000"/>
            </a:avLst>
          </a:prstGeom>
          <a:ln w="28575">
            <a:solidFill>
              <a:srgbClr val="3D3D3D"/>
            </a:solidFill>
            <a:prstDash val="solid"/>
            <a:tailEnd type="arrow" w="med" len="med"/>
          </a:ln>
        </p:spPr>
      </p:cxnSp>
      <p:sp>
        <p:nvSpPr>
          <p:cNvPr id="19" name="U06-DG-024-target-box" descr="Diagrama sobre «Vía aérea y vía ósea cambian la entrada, no la cóclea final»; organiza entrada, estructuras participantes y punto de convergencia; mismos criterios en dos columnas." title="Texto alternativo U06-041">
            <a:extLst>
              <a:ext uri="{FF2B5EF4-FFF2-40B4-BE49-F238E27FC236}">
                <a16:creationId xmlns:a16="http://schemas.microsoft.com/office/drawing/2014/main" id="{8D933A8F-B24B-4E3A-A929-86465E923A5D}"/>
              </a:ext>
            </a:extLst>
          </p:cNvPr>
          <p:cNvSpPr>
            <a:spLocks noGrp="1"/>
          </p:cNvSpPr>
          <p:nvPr/>
        </p:nvSpPr>
        <p:spPr>
          <a:xfrm>
            <a:off x="9477375" y="2667000"/>
            <a:ext cx="1952625" cy="1524000"/>
          </a:xfrm>
          <a:prstGeom prst="roundRect">
            <a:avLst>
              <a:gd name="adj" fmla="val 6250"/>
            </a:avLst>
          </a:prstGeom>
          <a:solidFill>
            <a:srgbClr val="F8EDE2"/>
          </a:solidFill>
          <a:ln w="19050">
            <a:solidFill>
              <a:srgbClr val="9F541A"/>
            </a:solidFill>
            <a:prstDash val="solid"/>
          </a:ln>
        </p:spPr>
      </p:sp>
      <p:sp>
        <p:nvSpPr>
          <p:cNvPr id="20" name="U06-DG-024-target-title">
            <a:extLst>
              <a:ext uri="{FF2B5EF4-FFF2-40B4-BE49-F238E27FC236}">
                <a16:creationId xmlns:a16="http://schemas.microsoft.com/office/drawing/2014/main" id="{89F591AD-69B8-4B41-A88F-81C84C1282B4}"/>
              </a:ext>
            </a:extLst>
          </p:cNvPr>
          <p:cNvSpPr>
            <a:spLocks noGrp="1"/>
          </p:cNvSpPr>
          <p:nvPr/>
        </p:nvSpPr>
        <p:spPr>
          <a:xfrm>
            <a:off x="9667875" y="2809875"/>
            <a:ext cx="157162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Cóclea</a:t>
            </a:r>
          </a:p>
        </p:txBody>
      </p:sp>
      <p:sp>
        <p:nvSpPr>
          <p:cNvPr id="21" name="U06-DG-024-target-body">
            <a:extLst>
              <a:ext uri="{FF2B5EF4-FFF2-40B4-BE49-F238E27FC236}">
                <a16:creationId xmlns:a16="http://schemas.microsoft.com/office/drawing/2014/main" id="{9E219952-2C56-473B-B5F8-D4B2B645DA4B}"/>
              </a:ext>
            </a:extLst>
          </p:cNvPr>
          <p:cNvSpPr>
            <a:spLocks noGrp="1"/>
          </p:cNvSpPr>
          <p:nvPr/>
        </p:nvSpPr>
        <p:spPr>
          <a:xfrm>
            <a:off x="9667875" y="3257550"/>
            <a:ext cx="1571625" cy="838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destino común</a:t>
            </a:r>
          </a:p>
        </p:txBody>
      </p:sp>
      <p:sp>
        <p:nvSpPr>
          <p:cNvPr id="22" name="U06-DG-024-air_1-box">
            <a:extLst>
              <a:ext uri="{FF2B5EF4-FFF2-40B4-BE49-F238E27FC236}">
                <a16:creationId xmlns:a16="http://schemas.microsoft.com/office/drawing/2014/main" id="{6701201F-4F4D-4E21-8DE4-6231DA7F0402}"/>
              </a:ext>
            </a:extLst>
          </p:cNvPr>
          <p:cNvSpPr>
            <a:spLocks noGrp="1"/>
          </p:cNvSpPr>
          <p:nvPr/>
        </p:nvSpPr>
        <p:spPr>
          <a:xfrm>
            <a:off x="781050" y="1428750"/>
            <a:ext cx="1881188" cy="1428750"/>
          </a:xfrm>
          <a:prstGeom prst="roundRect">
            <a:avLst>
              <a:gd name="adj" fmla="val 6667"/>
            </a:avLst>
          </a:prstGeom>
          <a:solidFill>
            <a:srgbClr val="E7F1F1"/>
          </a:solidFill>
          <a:ln w="19050">
            <a:solidFill>
              <a:srgbClr val="2F7E83"/>
            </a:solidFill>
            <a:prstDash val="solid"/>
          </a:ln>
        </p:spPr>
      </p:sp>
      <p:sp>
        <p:nvSpPr>
          <p:cNvPr id="23" name="U06-DG-024-air_1-title">
            <a:extLst>
              <a:ext uri="{FF2B5EF4-FFF2-40B4-BE49-F238E27FC236}">
                <a16:creationId xmlns:a16="http://schemas.microsoft.com/office/drawing/2014/main" id="{0E42151C-1611-4641-B19A-BA0474348A36}"/>
              </a:ext>
            </a:extLst>
          </p:cNvPr>
          <p:cNvSpPr>
            <a:spLocks noGrp="1"/>
          </p:cNvSpPr>
          <p:nvPr/>
        </p:nvSpPr>
        <p:spPr>
          <a:xfrm>
            <a:off x="971550"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Aire</a:t>
            </a:r>
          </a:p>
        </p:txBody>
      </p:sp>
      <p:sp>
        <p:nvSpPr>
          <p:cNvPr id="24" name="U06-DG-024-air_1-body">
            <a:extLst>
              <a:ext uri="{FF2B5EF4-FFF2-40B4-BE49-F238E27FC236}">
                <a16:creationId xmlns:a16="http://schemas.microsoft.com/office/drawing/2014/main" id="{278206A9-DE3E-4811-BD38-60C553CE3D33}"/>
              </a:ext>
            </a:extLst>
          </p:cNvPr>
          <p:cNvSpPr>
            <a:spLocks noGrp="1"/>
          </p:cNvSpPr>
          <p:nvPr/>
        </p:nvSpPr>
        <p:spPr>
          <a:xfrm>
            <a:off x="971550"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25" name="U06-DG-024-air_2-box">
            <a:extLst>
              <a:ext uri="{FF2B5EF4-FFF2-40B4-BE49-F238E27FC236}">
                <a16:creationId xmlns:a16="http://schemas.microsoft.com/office/drawing/2014/main" id="{3B55A1A2-CC0D-447D-B6BE-886B13E3345D}"/>
              </a:ext>
            </a:extLst>
          </p:cNvPr>
          <p:cNvSpPr>
            <a:spLocks noGrp="1"/>
          </p:cNvSpPr>
          <p:nvPr/>
        </p:nvSpPr>
        <p:spPr>
          <a:xfrm>
            <a:off x="2852738" y="1428750"/>
            <a:ext cx="1881188" cy="1428750"/>
          </a:xfrm>
          <a:prstGeom prst="roundRect">
            <a:avLst>
              <a:gd name="adj" fmla="val 6667"/>
            </a:avLst>
          </a:prstGeom>
          <a:solidFill>
            <a:srgbClr val="E7F1F1"/>
          </a:solidFill>
          <a:ln w="19050">
            <a:solidFill>
              <a:srgbClr val="2F7E83"/>
            </a:solidFill>
            <a:prstDash val="solid"/>
          </a:ln>
        </p:spPr>
      </p:sp>
      <p:sp>
        <p:nvSpPr>
          <p:cNvPr id="26" name="U06-DG-024-air_2-title">
            <a:extLst>
              <a:ext uri="{FF2B5EF4-FFF2-40B4-BE49-F238E27FC236}">
                <a16:creationId xmlns:a16="http://schemas.microsoft.com/office/drawing/2014/main" id="{D54CC81C-8304-4F0A-B616-2078DA95EC27}"/>
              </a:ext>
            </a:extLst>
          </p:cNvPr>
          <p:cNvSpPr>
            <a:spLocks noGrp="1"/>
          </p:cNvSpPr>
          <p:nvPr/>
        </p:nvSpPr>
        <p:spPr>
          <a:xfrm>
            <a:off x="3043238"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7" name="U06-DG-024-air_2-body">
            <a:extLst>
              <a:ext uri="{FF2B5EF4-FFF2-40B4-BE49-F238E27FC236}">
                <a16:creationId xmlns:a16="http://schemas.microsoft.com/office/drawing/2014/main" id="{2C3DBB19-8792-4C11-89B0-F2F0C0D954B4}"/>
              </a:ext>
            </a:extLst>
          </p:cNvPr>
          <p:cNvSpPr>
            <a:spLocks noGrp="1"/>
          </p:cNvSpPr>
          <p:nvPr/>
        </p:nvSpPr>
        <p:spPr>
          <a:xfrm>
            <a:off x="3043238"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a:t>
            </a:r>
          </a:p>
        </p:txBody>
      </p:sp>
      <p:sp>
        <p:nvSpPr>
          <p:cNvPr id="28" name="U06-DG-024-air_3-box">
            <a:extLst>
              <a:ext uri="{FF2B5EF4-FFF2-40B4-BE49-F238E27FC236}">
                <a16:creationId xmlns:a16="http://schemas.microsoft.com/office/drawing/2014/main" id="{91A573EE-7519-4BA1-88B2-CACA8D2ED918}"/>
              </a:ext>
            </a:extLst>
          </p:cNvPr>
          <p:cNvSpPr>
            <a:spLocks noGrp="1"/>
          </p:cNvSpPr>
          <p:nvPr/>
        </p:nvSpPr>
        <p:spPr>
          <a:xfrm>
            <a:off x="4924425" y="1428750"/>
            <a:ext cx="1881188" cy="1428750"/>
          </a:xfrm>
          <a:prstGeom prst="roundRect">
            <a:avLst>
              <a:gd name="adj" fmla="val 6667"/>
            </a:avLst>
          </a:prstGeom>
          <a:solidFill>
            <a:srgbClr val="F4E9EF"/>
          </a:solidFill>
          <a:ln w="19050">
            <a:solidFill>
              <a:srgbClr val="4D1434"/>
            </a:solidFill>
            <a:prstDash val="solid"/>
          </a:ln>
        </p:spPr>
      </p:sp>
      <p:sp>
        <p:nvSpPr>
          <p:cNvPr id="29" name="U06-DG-024-air_3-title">
            <a:extLst>
              <a:ext uri="{FF2B5EF4-FFF2-40B4-BE49-F238E27FC236}">
                <a16:creationId xmlns:a16="http://schemas.microsoft.com/office/drawing/2014/main" id="{77829212-5EFA-4052-9B42-1F42D7110331}"/>
              </a:ext>
            </a:extLst>
          </p:cNvPr>
          <p:cNvSpPr>
            <a:spLocks noGrp="1"/>
          </p:cNvSpPr>
          <p:nvPr/>
        </p:nvSpPr>
        <p:spPr>
          <a:xfrm>
            <a:off x="5114925"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Tímpano</a:t>
            </a:r>
          </a:p>
        </p:txBody>
      </p:sp>
      <p:sp>
        <p:nvSpPr>
          <p:cNvPr id="30" name="U06-DG-024-air_3-body">
            <a:extLst>
              <a:ext uri="{FF2B5EF4-FFF2-40B4-BE49-F238E27FC236}">
                <a16:creationId xmlns:a16="http://schemas.microsoft.com/office/drawing/2014/main" id="{EC06FB8D-9B1C-4379-91A1-E2016E512861}"/>
              </a:ext>
            </a:extLst>
          </p:cNvPr>
          <p:cNvSpPr>
            <a:spLocks noGrp="1"/>
          </p:cNvSpPr>
          <p:nvPr/>
        </p:nvSpPr>
        <p:spPr>
          <a:xfrm>
            <a:off x="5114925"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vibra</a:t>
            </a:r>
          </a:p>
        </p:txBody>
      </p:sp>
      <p:sp>
        <p:nvSpPr>
          <p:cNvPr id="31" name="U06-DG-024-air_4-box">
            <a:extLst>
              <a:ext uri="{FF2B5EF4-FFF2-40B4-BE49-F238E27FC236}">
                <a16:creationId xmlns:a16="http://schemas.microsoft.com/office/drawing/2014/main" id="{47927A80-EF61-4DCD-8F6B-C50CDD7E22CB}"/>
              </a:ext>
            </a:extLst>
          </p:cNvPr>
          <p:cNvSpPr>
            <a:spLocks noGrp="1"/>
          </p:cNvSpPr>
          <p:nvPr/>
        </p:nvSpPr>
        <p:spPr>
          <a:xfrm>
            <a:off x="6996113" y="1428750"/>
            <a:ext cx="1881188" cy="1428750"/>
          </a:xfrm>
          <a:prstGeom prst="roundRect">
            <a:avLst>
              <a:gd name="adj" fmla="val 6667"/>
            </a:avLst>
          </a:prstGeom>
          <a:solidFill>
            <a:srgbClr val="F4E9EF"/>
          </a:solidFill>
          <a:ln w="19050">
            <a:solidFill>
              <a:srgbClr val="4D1434"/>
            </a:solidFill>
            <a:prstDash val="solid"/>
          </a:ln>
        </p:spPr>
      </p:sp>
      <p:sp>
        <p:nvSpPr>
          <p:cNvPr id="32" name="U06-DG-024-air_4-title">
            <a:extLst>
              <a:ext uri="{FF2B5EF4-FFF2-40B4-BE49-F238E27FC236}">
                <a16:creationId xmlns:a16="http://schemas.microsoft.com/office/drawing/2014/main" id="{1E5449C4-4F57-4763-A599-D7DF4EF01593}"/>
              </a:ext>
            </a:extLst>
          </p:cNvPr>
          <p:cNvSpPr>
            <a:spLocks noGrp="1"/>
          </p:cNvSpPr>
          <p:nvPr/>
        </p:nvSpPr>
        <p:spPr>
          <a:xfrm>
            <a:off x="7186613"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Osículos</a:t>
            </a:r>
          </a:p>
        </p:txBody>
      </p:sp>
      <p:sp>
        <p:nvSpPr>
          <p:cNvPr id="33" name="U06-DG-024-air_4-body">
            <a:extLst>
              <a:ext uri="{FF2B5EF4-FFF2-40B4-BE49-F238E27FC236}">
                <a16:creationId xmlns:a16="http://schemas.microsoft.com/office/drawing/2014/main" id="{1C2647C0-BF54-4016-98B4-E5CACC059B97}"/>
              </a:ext>
            </a:extLst>
          </p:cNvPr>
          <p:cNvSpPr>
            <a:spLocks noGrp="1"/>
          </p:cNvSpPr>
          <p:nvPr/>
        </p:nvSpPr>
        <p:spPr>
          <a:xfrm>
            <a:off x="7186613"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a:t>
            </a:r>
          </a:p>
        </p:txBody>
      </p:sp>
      <p:sp>
        <p:nvSpPr>
          <p:cNvPr id="34" name="U06-DG-024-bone_1-box">
            <a:extLst>
              <a:ext uri="{FF2B5EF4-FFF2-40B4-BE49-F238E27FC236}">
                <a16:creationId xmlns:a16="http://schemas.microsoft.com/office/drawing/2014/main" id="{237E830B-990D-4029-8DDB-7D3322067E81}"/>
              </a:ext>
            </a:extLst>
          </p:cNvPr>
          <p:cNvSpPr>
            <a:spLocks noGrp="1"/>
          </p:cNvSpPr>
          <p:nvPr/>
        </p:nvSpPr>
        <p:spPr>
          <a:xfrm>
            <a:off x="781050" y="4143375"/>
            <a:ext cx="2571750" cy="1428750"/>
          </a:xfrm>
          <a:prstGeom prst="roundRect">
            <a:avLst>
              <a:gd name="adj" fmla="val 6667"/>
            </a:avLst>
          </a:prstGeom>
          <a:solidFill>
            <a:srgbClr val="F7F6F2"/>
          </a:solidFill>
          <a:ln w="19050">
            <a:solidFill>
              <a:srgbClr val="969FA7"/>
            </a:solidFill>
            <a:prstDash val="solid"/>
          </a:ln>
        </p:spPr>
      </p:sp>
      <p:sp>
        <p:nvSpPr>
          <p:cNvPr id="35" name="U06-DG-024-bone_1-title">
            <a:extLst>
              <a:ext uri="{FF2B5EF4-FFF2-40B4-BE49-F238E27FC236}">
                <a16:creationId xmlns:a16="http://schemas.microsoft.com/office/drawing/2014/main" id="{32F8EFED-0275-4316-8E50-FA2D89010314}"/>
              </a:ext>
            </a:extLst>
          </p:cNvPr>
          <p:cNvSpPr>
            <a:spLocks noGrp="1"/>
          </p:cNvSpPr>
          <p:nvPr/>
        </p:nvSpPr>
        <p:spPr>
          <a:xfrm>
            <a:off x="971550" y="428625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Cráneo</a:t>
            </a:r>
          </a:p>
        </p:txBody>
      </p:sp>
      <p:sp>
        <p:nvSpPr>
          <p:cNvPr id="36" name="U06-DG-024-bone_1-body">
            <a:extLst>
              <a:ext uri="{FF2B5EF4-FFF2-40B4-BE49-F238E27FC236}">
                <a16:creationId xmlns:a16="http://schemas.microsoft.com/office/drawing/2014/main" id="{DB62E1E7-48FA-469B-B5D8-7A4339537A9F}"/>
              </a:ext>
            </a:extLst>
          </p:cNvPr>
          <p:cNvSpPr>
            <a:spLocks noGrp="1"/>
          </p:cNvSpPr>
          <p:nvPr/>
        </p:nvSpPr>
        <p:spPr>
          <a:xfrm>
            <a:off x="971550" y="4733925"/>
            <a:ext cx="2190750"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vibra</a:t>
            </a:r>
          </a:p>
        </p:txBody>
      </p:sp>
      <p:sp>
        <p:nvSpPr>
          <p:cNvPr id="37" name="U06-DG-024-bone_2-box">
            <a:extLst>
              <a:ext uri="{FF2B5EF4-FFF2-40B4-BE49-F238E27FC236}">
                <a16:creationId xmlns:a16="http://schemas.microsoft.com/office/drawing/2014/main" id="{6C60AC57-E131-4175-96FE-AFA4497BC1E1}"/>
              </a:ext>
            </a:extLst>
          </p:cNvPr>
          <p:cNvSpPr>
            <a:spLocks noGrp="1"/>
          </p:cNvSpPr>
          <p:nvPr/>
        </p:nvSpPr>
        <p:spPr>
          <a:xfrm>
            <a:off x="3543300" y="4143375"/>
            <a:ext cx="2571750" cy="1428750"/>
          </a:xfrm>
          <a:prstGeom prst="roundRect">
            <a:avLst>
              <a:gd name="adj" fmla="val 6667"/>
            </a:avLst>
          </a:prstGeom>
          <a:solidFill>
            <a:srgbClr val="F7F6F2"/>
          </a:solidFill>
          <a:ln w="19050">
            <a:solidFill>
              <a:srgbClr val="969FA7"/>
            </a:solidFill>
            <a:prstDash val="solid"/>
          </a:ln>
        </p:spPr>
      </p:sp>
      <p:sp>
        <p:nvSpPr>
          <p:cNvPr id="38" name="U06-DG-024-bone_2-title">
            <a:extLst>
              <a:ext uri="{FF2B5EF4-FFF2-40B4-BE49-F238E27FC236}">
                <a16:creationId xmlns:a16="http://schemas.microsoft.com/office/drawing/2014/main" id="{304B32D1-881C-4BCB-8FA7-F57715DF0AC6}"/>
              </a:ext>
            </a:extLst>
          </p:cNvPr>
          <p:cNvSpPr>
            <a:spLocks noGrp="1"/>
          </p:cNvSpPr>
          <p:nvPr/>
        </p:nvSpPr>
        <p:spPr>
          <a:xfrm>
            <a:off x="3733800" y="4286250"/>
            <a:ext cx="21907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CAE + oído medio</a:t>
            </a:r>
          </a:p>
        </p:txBody>
      </p:sp>
      <p:sp>
        <p:nvSpPr>
          <p:cNvPr id="39" name="U06-DG-024-bone_2-body">
            <a:extLst>
              <a:ext uri="{FF2B5EF4-FFF2-40B4-BE49-F238E27FC236}">
                <a16:creationId xmlns:a16="http://schemas.microsoft.com/office/drawing/2014/main" id="{05E124E9-D5D0-4FE8-A165-0C2C2649286C}"/>
              </a:ext>
            </a:extLst>
          </p:cNvPr>
          <p:cNvSpPr>
            <a:spLocks noGrp="1"/>
          </p:cNvSpPr>
          <p:nvPr/>
        </p:nvSpPr>
        <p:spPr>
          <a:xfrm>
            <a:off x="3733800" y="5057775"/>
            <a:ext cx="2190750" cy="419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participan</a:t>
            </a:r>
          </a:p>
        </p:txBody>
      </p:sp>
      <p:sp>
        <p:nvSpPr>
          <p:cNvPr id="40" name="U06-DG-024-bone_3-box">
            <a:extLst>
              <a:ext uri="{FF2B5EF4-FFF2-40B4-BE49-F238E27FC236}">
                <a16:creationId xmlns:a16="http://schemas.microsoft.com/office/drawing/2014/main" id="{0F59D66B-FF5D-4413-85D1-16CCFEF5C0BB}"/>
              </a:ext>
            </a:extLst>
          </p:cNvPr>
          <p:cNvSpPr>
            <a:spLocks noGrp="1"/>
          </p:cNvSpPr>
          <p:nvPr/>
        </p:nvSpPr>
        <p:spPr>
          <a:xfrm>
            <a:off x="6305550" y="4143375"/>
            <a:ext cx="2571750" cy="1428750"/>
          </a:xfrm>
          <a:prstGeom prst="roundRect">
            <a:avLst>
              <a:gd name="adj" fmla="val 6667"/>
            </a:avLst>
          </a:prstGeom>
          <a:solidFill>
            <a:srgbClr val="F8EDE2"/>
          </a:solidFill>
          <a:ln w="19050">
            <a:solidFill>
              <a:srgbClr val="9F541A"/>
            </a:solidFill>
            <a:prstDash val="solid"/>
          </a:ln>
        </p:spPr>
      </p:sp>
      <p:sp>
        <p:nvSpPr>
          <p:cNvPr id="41" name="U06-DG-024-bone_3-title">
            <a:extLst>
              <a:ext uri="{FF2B5EF4-FFF2-40B4-BE49-F238E27FC236}">
                <a16:creationId xmlns:a16="http://schemas.microsoft.com/office/drawing/2014/main" id="{0A32873F-9001-40EC-9B54-948E6F69848D}"/>
              </a:ext>
            </a:extLst>
          </p:cNvPr>
          <p:cNvSpPr>
            <a:spLocks noGrp="1"/>
          </p:cNvSpPr>
          <p:nvPr/>
        </p:nvSpPr>
        <p:spPr>
          <a:xfrm>
            <a:off x="6496050" y="428625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Fluidos</a:t>
            </a:r>
          </a:p>
        </p:txBody>
      </p:sp>
      <p:sp>
        <p:nvSpPr>
          <p:cNvPr id="42" name="U06-DG-024-bone_3-body">
            <a:extLst>
              <a:ext uri="{FF2B5EF4-FFF2-40B4-BE49-F238E27FC236}">
                <a16:creationId xmlns:a16="http://schemas.microsoft.com/office/drawing/2014/main" id="{863465B7-D181-46FD-8DB0-01D580A46ACC}"/>
              </a:ext>
            </a:extLst>
          </p:cNvPr>
          <p:cNvSpPr>
            <a:spLocks noGrp="1"/>
          </p:cNvSpPr>
          <p:nvPr/>
        </p:nvSpPr>
        <p:spPr>
          <a:xfrm>
            <a:off x="6496050" y="4733925"/>
            <a:ext cx="2190750"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movilizan</a:t>
            </a:r>
          </a:p>
        </p:txBody>
      </p:sp>
      <p:sp>
        <p:nvSpPr>
          <p:cNvPr id="43" name="caption">
            <a:extLst>
              <a:ext uri="{FF2B5EF4-FFF2-40B4-BE49-F238E27FC236}">
                <a16:creationId xmlns:a16="http://schemas.microsoft.com/office/drawing/2014/main" id="{6E8CB460-2D4B-4020-986B-5E4003FB20E5}"/>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Ambas pueden generar diferencias de presión y movimiento en la partición coclear.</a:t>
            </a:r>
          </a:p>
        </p:txBody>
      </p:sp>
      <p:sp>
        <p:nvSpPr>
          <p:cNvPr id="44" name="credit">
            <a:extLst>
              <a:ext uri="{FF2B5EF4-FFF2-40B4-BE49-F238E27FC236}">
                <a16:creationId xmlns:a16="http://schemas.microsoft.com/office/drawing/2014/main" id="{302F9D49-9149-46DD-A722-23E2E0BF7377}"/>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slide-title">
            <a:extLst>
              <a:ext uri="{FF2B5EF4-FFF2-40B4-BE49-F238E27FC236}">
                <a16:creationId xmlns:a16="http://schemas.microsoft.com/office/drawing/2014/main" id="{5EA4C593-370E-4093-B378-5D8BBEF8B4B9}"/>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“La vía ósea evita el oído externo y medio”: ¿verdadero o falso?</a:t>
            </a:r>
          </a:p>
        </p:txBody>
      </p:sp>
      <p:sp>
        <p:nvSpPr>
          <p:cNvPr id="2" name="eyebrow">
            <a:extLst>
              <a:ext uri="{FF2B5EF4-FFF2-40B4-BE49-F238E27FC236}">
                <a16:creationId xmlns:a16="http://schemas.microsoft.com/office/drawing/2014/main" id="{F1BE3EB6-6B42-4745-BE36-B1832E7B627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042</a:t>
            </a:r>
          </a:p>
        </p:txBody>
      </p:sp>
      <p:sp>
        <p:nvSpPr>
          <p:cNvPr id="3" name="U06-DG-024-target-anchor">
            <a:extLst>
              <a:ext uri="{FF2B5EF4-FFF2-40B4-BE49-F238E27FC236}">
                <a16:creationId xmlns:a16="http://schemas.microsoft.com/office/drawing/2014/main" id="{08F6B8D5-4F15-43DA-A036-389B73EE0737}"/>
              </a:ext>
            </a:extLst>
          </p:cNvPr>
          <p:cNvSpPr>
            <a:spLocks noGrp="1"/>
          </p:cNvSpPr>
          <p:nvPr/>
        </p:nvSpPr>
        <p:spPr>
          <a:xfrm>
            <a:off x="9477375" y="2667000"/>
            <a:ext cx="1952625" cy="1524000"/>
          </a:xfrm>
          <a:prstGeom prst="roundRect">
            <a:avLst>
              <a:gd name="adj" fmla="val 6250"/>
            </a:avLst>
          </a:prstGeom>
          <a:noFill/>
          <a:ln w="0">
            <a:noFill/>
            <a:prstDash val="solid"/>
          </a:ln>
        </p:spPr>
      </p:sp>
      <p:sp>
        <p:nvSpPr>
          <p:cNvPr id="4" name="U06-DG-024-air_1-anchor">
            <a:extLst>
              <a:ext uri="{FF2B5EF4-FFF2-40B4-BE49-F238E27FC236}">
                <a16:creationId xmlns:a16="http://schemas.microsoft.com/office/drawing/2014/main" id="{DC0ADCE8-FB49-4F54-BE0E-C753E2C80F80}"/>
              </a:ext>
            </a:extLst>
          </p:cNvPr>
          <p:cNvSpPr>
            <a:spLocks noGrp="1"/>
          </p:cNvSpPr>
          <p:nvPr/>
        </p:nvSpPr>
        <p:spPr>
          <a:xfrm>
            <a:off x="781050" y="1428750"/>
            <a:ext cx="1881188" cy="1428750"/>
          </a:xfrm>
          <a:prstGeom prst="roundRect">
            <a:avLst>
              <a:gd name="adj" fmla="val 6667"/>
            </a:avLst>
          </a:prstGeom>
          <a:noFill/>
          <a:ln w="0">
            <a:noFill/>
            <a:prstDash val="solid"/>
          </a:ln>
        </p:spPr>
      </p:sp>
      <p:sp>
        <p:nvSpPr>
          <p:cNvPr id="5" name="U06-DG-024-air_2-anchor">
            <a:extLst>
              <a:ext uri="{FF2B5EF4-FFF2-40B4-BE49-F238E27FC236}">
                <a16:creationId xmlns:a16="http://schemas.microsoft.com/office/drawing/2014/main" id="{520BF53A-F4F0-4925-9DE5-71707E2C961D}"/>
              </a:ext>
            </a:extLst>
          </p:cNvPr>
          <p:cNvSpPr>
            <a:spLocks noGrp="1"/>
          </p:cNvSpPr>
          <p:nvPr/>
        </p:nvSpPr>
        <p:spPr>
          <a:xfrm>
            <a:off x="2852738" y="1428750"/>
            <a:ext cx="1881188" cy="1428750"/>
          </a:xfrm>
          <a:prstGeom prst="roundRect">
            <a:avLst>
              <a:gd name="adj" fmla="val 6667"/>
            </a:avLst>
          </a:prstGeom>
          <a:noFill/>
          <a:ln w="0">
            <a:noFill/>
            <a:prstDash val="solid"/>
          </a:ln>
        </p:spPr>
      </p:sp>
      <p:sp>
        <p:nvSpPr>
          <p:cNvPr id="6" name="U06-DG-024-air_3-anchor">
            <a:extLst>
              <a:ext uri="{FF2B5EF4-FFF2-40B4-BE49-F238E27FC236}">
                <a16:creationId xmlns:a16="http://schemas.microsoft.com/office/drawing/2014/main" id="{5D39F296-BD7A-48B1-922B-DB98E7C7F244}"/>
              </a:ext>
            </a:extLst>
          </p:cNvPr>
          <p:cNvSpPr>
            <a:spLocks noGrp="1"/>
          </p:cNvSpPr>
          <p:nvPr/>
        </p:nvSpPr>
        <p:spPr>
          <a:xfrm>
            <a:off x="4924425" y="1428750"/>
            <a:ext cx="1881188" cy="1428750"/>
          </a:xfrm>
          <a:prstGeom prst="roundRect">
            <a:avLst>
              <a:gd name="adj" fmla="val 6667"/>
            </a:avLst>
          </a:prstGeom>
          <a:noFill/>
          <a:ln w="0">
            <a:noFill/>
            <a:prstDash val="solid"/>
          </a:ln>
        </p:spPr>
      </p:sp>
      <p:sp>
        <p:nvSpPr>
          <p:cNvPr id="7" name="U06-DG-024-air_4-anchor">
            <a:extLst>
              <a:ext uri="{FF2B5EF4-FFF2-40B4-BE49-F238E27FC236}">
                <a16:creationId xmlns:a16="http://schemas.microsoft.com/office/drawing/2014/main" id="{2505283D-55D1-4B81-B013-1448D093C9C1}"/>
              </a:ext>
            </a:extLst>
          </p:cNvPr>
          <p:cNvSpPr>
            <a:spLocks noGrp="1"/>
          </p:cNvSpPr>
          <p:nvPr/>
        </p:nvSpPr>
        <p:spPr>
          <a:xfrm>
            <a:off x="6996113" y="1428750"/>
            <a:ext cx="1881188" cy="1428750"/>
          </a:xfrm>
          <a:prstGeom prst="roundRect">
            <a:avLst>
              <a:gd name="adj" fmla="val 6667"/>
            </a:avLst>
          </a:prstGeom>
          <a:noFill/>
          <a:ln w="0">
            <a:noFill/>
            <a:prstDash val="solid"/>
          </a:ln>
        </p:spPr>
      </p:sp>
      <p:sp>
        <p:nvSpPr>
          <p:cNvPr id="8" name="U06-DG-024-bone_1-anchor">
            <a:extLst>
              <a:ext uri="{FF2B5EF4-FFF2-40B4-BE49-F238E27FC236}">
                <a16:creationId xmlns:a16="http://schemas.microsoft.com/office/drawing/2014/main" id="{A8287F55-3340-459F-B4EC-B4D704AB7801}"/>
              </a:ext>
            </a:extLst>
          </p:cNvPr>
          <p:cNvSpPr>
            <a:spLocks noGrp="1"/>
          </p:cNvSpPr>
          <p:nvPr/>
        </p:nvSpPr>
        <p:spPr>
          <a:xfrm>
            <a:off x="781050" y="4143375"/>
            <a:ext cx="2571750" cy="1428750"/>
          </a:xfrm>
          <a:prstGeom prst="roundRect">
            <a:avLst>
              <a:gd name="adj" fmla="val 6667"/>
            </a:avLst>
          </a:prstGeom>
          <a:noFill/>
          <a:ln w="0">
            <a:noFill/>
            <a:prstDash val="solid"/>
          </a:ln>
        </p:spPr>
      </p:sp>
      <p:sp>
        <p:nvSpPr>
          <p:cNvPr id="9" name="U06-DG-024-bone_2-anchor">
            <a:extLst>
              <a:ext uri="{FF2B5EF4-FFF2-40B4-BE49-F238E27FC236}">
                <a16:creationId xmlns:a16="http://schemas.microsoft.com/office/drawing/2014/main" id="{8158F317-0049-4BD2-BDDE-6EEFBEFEA782}"/>
              </a:ext>
            </a:extLst>
          </p:cNvPr>
          <p:cNvSpPr>
            <a:spLocks noGrp="1"/>
          </p:cNvSpPr>
          <p:nvPr/>
        </p:nvSpPr>
        <p:spPr>
          <a:xfrm>
            <a:off x="3543300" y="4143375"/>
            <a:ext cx="2571750" cy="1428750"/>
          </a:xfrm>
          <a:prstGeom prst="roundRect">
            <a:avLst>
              <a:gd name="adj" fmla="val 6667"/>
            </a:avLst>
          </a:prstGeom>
          <a:noFill/>
          <a:ln w="0">
            <a:noFill/>
            <a:prstDash val="solid"/>
          </a:ln>
        </p:spPr>
      </p:sp>
      <p:sp>
        <p:nvSpPr>
          <p:cNvPr id="10" name="U06-DG-024-bone_3-anchor">
            <a:extLst>
              <a:ext uri="{FF2B5EF4-FFF2-40B4-BE49-F238E27FC236}">
                <a16:creationId xmlns:a16="http://schemas.microsoft.com/office/drawing/2014/main" id="{62CAD7C0-3218-473F-B0E9-8B59207720EB}"/>
              </a:ext>
            </a:extLst>
          </p:cNvPr>
          <p:cNvSpPr>
            <a:spLocks noGrp="1"/>
          </p:cNvSpPr>
          <p:nvPr/>
        </p:nvSpPr>
        <p:spPr>
          <a:xfrm>
            <a:off x="6305550" y="4143375"/>
            <a:ext cx="2571750" cy="1428750"/>
          </a:xfrm>
          <a:prstGeom prst="roundRect">
            <a:avLst>
              <a:gd name="adj" fmla="val 6667"/>
            </a:avLst>
          </a:prstGeom>
          <a:noFill/>
          <a:ln w="0">
            <a:noFill/>
            <a:prstDash val="solid"/>
          </a:ln>
        </p:spPr>
      </p:sp>
      <p:cxnSp>
        <p:nvCxnSpPr>
          <p:cNvPr id="54" name="U06-DG-024-air_edge_1"/>
          <p:cNvCxnSpPr>
            <a:stCxn id="4" idx="3"/>
            <a:endCxn id="5" idx="1"/>
          </p:cNvCxnSpPr>
          <p:nvPr/>
        </p:nvCxnSpPr>
        <p:spPr>
          <a:xfrm>
            <a:off x="2662238" y="2143125"/>
            <a:ext cx="190500" cy="0"/>
          </a:xfrm>
          <a:prstGeom prst="straightConnector1">
            <a:avLst/>
          </a:prstGeom>
          <a:ln w="28575">
            <a:solidFill>
              <a:srgbClr val="3D3D3D"/>
            </a:solidFill>
            <a:prstDash val="solid"/>
            <a:tailEnd type="arrow" w="med" len="med"/>
          </a:ln>
        </p:spPr>
      </p:cxnSp>
      <p:cxnSp>
        <p:nvCxnSpPr>
          <p:cNvPr id="55" name="U06-DG-024-air_edge_2"/>
          <p:cNvCxnSpPr>
            <a:stCxn id="5" idx="3"/>
            <a:endCxn id="6" idx="1"/>
          </p:cNvCxnSpPr>
          <p:nvPr/>
        </p:nvCxnSpPr>
        <p:spPr>
          <a:xfrm>
            <a:off x="4733926" y="2143125"/>
            <a:ext cx="190499" cy="0"/>
          </a:xfrm>
          <a:prstGeom prst="straightConnector1">
            <a:avLst/>
          </a:prstGeom>
          <a:ln w="28575">
            <a:solidFill>
              <a:srgbClr val="3D3D3D"/>
            </a:solidFill>
            <a:prstDash val="solid"/>
            <a:tailEnd type="arrow" w="med" len="med"/>
          </a:ln>
        </p:spPr>
      </p:cxnSp>
      <p:cxnSp>
        <p:nvCxnSpPr>
          <p:cNvPr id="56" name="U06-DG-024-air_edge_3"/>
          <p:cNvCxnSpPr>
            <a:stCxn id="6" idx="3"/>
            <a:endCxn id="7" idx="1"/>
          </p:cNvCxnSpPr>
          <p:nvPr/>
        </p:nvCxnSpPr>
        <p:spPr>
          <a:xfrm>
            <a:off x="6805613" y="2143125"/>
            <a:ext cx="190500" cy="0"/>
          </a:xfrm>
          <a:prstGeom prst="straightConnector1">
            <a:avLst/>
          </a:prstGeom>
          <a:ln w="28575">
            <a:solidFill>
              <a:srgbClr val="3D3D3D"/>
            </a:solidFill>
            <a:prstDash val="solid"/>
            <a:tailEnd type="arrow" w="med" len="med"/>
          </a:ln>
        </p:spPr>
      </p:cxnSp>
      <p:cxnSp>
        <p:nvCxnSpPr>
          <p:cNvPr id="57" name="U06-DG-024-air_target"/>
          <p:cNvCxnSpPr>
            <a:stCxn id="7" idx="3"/>
            <a:endCxn id="3" idx="1"/>
          </p:cNvCxnSpPr>
          <p:nvPr/>
        </p:nvCxnSpPr>
        <p:spPr>
          <a:xfrm>
            <a:off x="8877301" y="2143125"/>
            <a:ext cx="600074" cy="1285875"/>
          </a:xfrm>
          <a:prstGeom prst="bentConnector3">
            <a:avLst>
              <a:gd name="adj1" fmla="val 50000"/>
            </a:avLst>
          </a:prstGeom>
          <a:ln w="28575">
            <a:solidFill>
              <a:srgbClr val="3D3D3D"/>
            </a:solidFill>
            <a:prstDash val="solid"/>
            <a:tailEnd type="arrow" w="med" len="med"/>
          </a:ln>
        </p:spPr>
      </p:cxnSp>
      <p:cxnSp>
        <p:nvCxnSpPr>
          <p:cNvPr id="58" name="U06-DG-024-bone_edge_1"/>
          <p:cNvCxnSpPr>
            <a:stCxn id="8" idx="3"/>
            <a:endCxn id="9" idx="1"/>
          </p:cNvCxnSpPr>
          <p:nvPr/>
        </p:nvCxnSpPr>
        <p:spPr>
          <a:xfrm>
            <a:off x="3352800" y="4857750"/>
            <a:ext cx="190500" cy="0"/>
          </a:xfrm>
          <a:prstGeom prst="straightConnector1">
            <a:avLst/>
          </a:prstGeom>
          <a:ln w="28575">
            <a:solidFill>
              <a:srgbClr val="3D3D3D"/>
            </a:solidFill>
            <a:prstDash val="solid"/>
            <a:tailEnd type="arrow" w="med" len="med"/>
          </a:ln>
        </p:spPr>
      </p:cxnSp>
      <p:cxnSp>
        <p:nvCxnSpPr>
          <p:cNvPr id="59" name="U06-DG-024-bone_edge_2"/>
          <p:cNvCxnSpPr>
            <a:stCxn id="9" idx="3"/>
            <a:endCxn id="10" idx="1"/>
          </p:cNvCxnSpPr>
          <p:nvPr/>
        </p:nvCxnSpPr>
        <p:spPr>
          <a:xfrm>
            <a:off x="6115050" y="4857750"/>
            <a:ext cx="190500" cy="0"/>
          </a:xfrm>
          <a:prstGeom prst="straightConnector1">
            <a:avLst/>
          </a:prstGeom>
          <a:ln w="28575">
            <a:solidFill>
              <a:srgbClr val="3D3D3D"/>
            </a:solidFill>
            <a:prstDash val="solid"/>
            <a:tailEnd type="arrow" w="med" len="med"/>
          </a:ln>
        </p:spPr>
      </p:cxnSp>
      <p:cxnSp>
        <p:nvCxnSpPr>
          <p:cNvPr id="60" name="U06-DG-024-bone_target"/>
          <p:cNvCxnSpPr>
            <a:stCxn id="10" idx="3"/>
            <a:endCxn id="3" idx="1"/>
          </p:cNvCxnSpPr>
          <p:nvPr/>
        </p:nvCxnSpPr>
        <p:spPr>
          <a:xfrm flipV="1">
            <a:off x="8877300" y="3429000"/>
            <a:ext cx="600075" cy="1428750"/>
          </a:xfrm>
          <a:prstGeom prst="bentConnector3">
            <a:avLst>
              <a:gd name="adj1" fmla="val 50000"/>
            </a:avLst>
          </a:prstGeom>
          <a:ln w="28575">
            <a:solidFill>
              <a:srgbClr val="3D3D3D"/>
            </a:solidFill>
            <a:prstDash val="solid"/>
            <a:tailEnd type="arrow" w="med" len="med"/>
          </a:ln>
        </p:spPr>
      </p:cxnSp>
      <p:sp>
        <p:nvSpPr>
          <p:cNvPr id="18" name="U06-DG-024-target-box" descr="Diagrama sobre «“La vía ósea evita el oído externo y medio”: ¿verdadero o falso?»; organiza consigna con espacio para justificar mediante mecanismos." title="Texto alternativo U06-042">
            <a:extLst>
              <a:ext uri="{FF2B5EF4-FFF2-40B4-BE49-F238E27FC236}">
                <a16:creationId xmlns:a16="http://schemas.microsoft.com/office/drawing/2014/main" id="{EE63E8FD-359E-421C-B5D2-545B825A29CC}"/>
              </a:ext>
            </a:extLst>
          </p:cNvPr>
          <p:cNvSpPr>
            <a:spLocks noGrp="1"/>
          </p:cNvSpPr>
          <p:nvPr/>
        </p:nvSpPr>
        <p:spPr>
          <a:xfrm>
            <a:off x="9477375" y="2667000"/>
            <a:ext cx="1952625" cy="1524000"/>
          </a:xfrm>
          <a:prstGeom prst="roundRect">
            <a:avLst>
              <a:gd name="adj" fmla="val 6250"/>
            </a:avLst>
          </a:prstGeom>
          <a:solidFill>
            <a:srgbClr val="F8EDE2"/>
          </a:solidFill>
          <a:ln w="19050">
            <a:solidFill>
              <a:srgbClr val="9F541A"/>
            </a:solidFill>
            <a:prstDash val="solid"/>
          </a:ln>
        </p:spPr>
      </p:sp>
      <p:sp>
        <p:nvSpPr>
          <p:cNvPr id="19" name="U06-DG-024-target-title">
            <a:extLst>
              <a:ext uri="{FF2B5EF4-FFF2-40B4-BE49-F238E27FC236}">
                <a16:creationId xmlns:a16="http://schemas.microsoft.com/office/drawing/2014/main" id="{09201DE0-4C16-441B-84FE-B43674210292}"/>
              </a:ext>
            </a:extLst>
          </p:cNvPr>
          <p:cNvSpPr>
            <a:spLocks noGrp="1"/>
          </p:cNvSpPr>
          <p:nvPr/>
        </p:nvSpPr>
        <p:spPr>
          <a:xfrm>
            <a:off x="9667875" y="2809875"/>
            <a:ext cx="157162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Cóclea</a:t>
            </a:r>
          </a:p>
        </p:txBody>
      </p:sp>
      <p:sp>
        <p:nvSpPr>
          <p:cNvPr id="20" name="U06-DG-024-target-body">
            <a:extLst>
              <a:ext uri="{FF2B5EF4-FFF2-40B4-BE49-F238E27FC236}">
                <a16:creationId xmlns:a16="http://schemas.microsoft.com/office/drawing/2014/main" id="{0EF586B1-55C1-4DF4-878B-9E82159FED09}"/>
              </a:ext>
            </a:extLst>
          </p:cNvPr>
          <p:cNvSpPr>
            <a:spLocks noGrp="1"/>
          </p:cNvSpPr>
          <p:nvPr/>
        </p:nvSpPr>
        <p:spPr>
          <a:xfrm>
            <a:off x="9667875" y="3257550"/>
            <a:ext cx="1571625" cy="838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destino común</a:t>
            </a:r>
          </a:p>
        </p:txBody>
      </p:sp>
      <p:sp>
        <p:nvSpPr>
          <p:cNvPr id="21" name="U06-DG-024-air_1-box">
            <a:extLst>
              <a:ext uri="{FF2B5EF4-FFF2-40B4-BE49-F238E27FC236}">
                <a16:creationId xmlns:a16="http://schemas.microsoft.com/office/drawing/2014/main" id="{EA72D1D4-A5F3-4694-8152-3EB8E60347E5}"/>
              </a:ext>
            </a:extLst>
          </p:cNvPr>
          <p:cNvSpPr>
            <a:spLocks noGrp="1"/>
          </p:cNvSpPr>
          <p:nvPr/>
        </p:nvSpPr>
        <p:spPr>
          <a:xfrm>
            <a:off x="781050" y="1428750"/>
            <a:ext cx="1881188" cy="1428750"/>
          </a:xfrm>
          <a:prstGeom prst="roundRect">
            <a:avLst>
              <a:gd name="adj" fmla="val 6667"/>
            </a:avLst>
          </a:prstGeom>
          <a:solidFill>
            <a:srgbClr val="E7F1F1"/>
          </a:solidFill>
          <a:ln w="19050">
            <a:solidFill>
              <a:srgbClr val="2F7E83"/>
            </a:solidFill>
            <a:prstDash val="solid"/>
          </a:ln>
        </p:spPr>
      </p:sp>
      <p:sp>
        <p:nvSpPr>
          <p:cNvPr id="22" name="U06-DG-024-air_1-title">
            <a:extLst>
              <a:ext uri="{FF2B5EF4-FFF2-40B4-BE49-F238E27FC236}">
                <a16:creationId xmlns:a16="http://schemas.microsoft.com/office/drawing/2014/main" id="{A0EBDAFC-3667-45DF-9E74-44E7066BF77C}"/>
              </a:ext>
            </a:extLst>
          </p:cNvPr>
          <p:cNvSpPr>
            <a:spLocks noGrp="1"/>
          </p:cNvSpPr>
          <p:nvPr/>
        </p:nvSpPr>
        <p:spPr>
          <a:xfrm>
            <a:off x="971550"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Aire</a:t>
            </a:r>
          </a:p>
        </p:txBody>
      </p:sp>
      <p:sp>
        <p:nvSpPr>
          <p:cNvPr id="23" name="U06-DG-024-air_1-body">
            <a:extLst>
              <a:ext uri="{FF2B5EF4-FFF2-40B4-BE49-F238E27FC236}">
                <a16:creationId xmlns:a16="http://schemas.microsoft.com/office/drawing/2014/main" id="{556C2180-C2A9-47D8-9710-305D9934230F}"/>
              </a:ext>
            </a:extLst>
          </p:cNvPr>
          <p:cNvSpPr>
            <a:spLocks noGrp="1"/>
          </p:cNvSpPr>
          <p:nvPr/>
        </p:nvSpPr>
        <p:spPr>
          <a:xfrm>
            <a:off x="971550"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24" name="U06-DG-024-air_2-box">
            <a:extLst>
              <a:ext uri="{FF2B5EF4-FFF2-40B4-BE49-F238E27FC236}">
                <a16:creationId xmlns:a16="http://schemas.microsoft.com/office/drawing/2014/main" id="{17C23B39-97B6-4D8B-A204-C3EEF55CD23B}"/>
              </a:ext>
            </a:extLst>
          </p:cNvPr>
          <p:cNvSpPr>
            <a:spLocks noGrp="1"/>
          </p:cNvSpPr>
          <p:nvPr/>
        </p:nvSpPr>
        <p:spPr>
          <a:xfrm>
            <a:off x="2852738" y="1428750"/>
            <a:ext cx="1881188" cy="1428750"/>
          </a:xfrm>
          <a:prstGeom prst="roundRect">
            <a:avLst>
              <a:gd name="adj" fmla="val 6667"/>
            </a:avLst>
          </a:prstGeom>
          <a:solidFill>
            <a:srgbClr val="E7F1F1"/>
          </a:solidFill>
          <a:ln w="19050">
            <a:solidFill>
              <a:srgbClr val="2F7E83"/>
            </a:solidFill>
            <a:prstDash val="solid"/>
          </a:ln>
        </p:spPr>
      </p:sp>
      <p:sp>
        <p:nvSpPr>
          <p:cNvPr id="25" name="U06-DG-024-air_2-title">
            <a:extLst>
              <a:ext uri="{FF2B5EF4-FFF2-40B4-BE49-F238E27FC236}">
                <a16:creationId xmlns:a16="http://schemas.microsoft.com/office/drawing/2014/main" id="{A2C4CA3D-681D-491E-ACE7-8359A5D57615}"/>
              </a:ext>
            </a:extLst>
          </p:cNvPr>
          <p:cNvSpPr>
            <a:spLocks noGrp="1"/>
          </p:cNvSpPr>
          <p:nvPr/>
        </p:nvSpPr>
        <p:spPr>
          <a:xfrm>
            <a:off x="3043238"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6" name="U06-DG-024-air_2-body">
            <a:extLst>
              <a:ext uri="{FF2B5EF4-FFF2-40B4-BE49-F238E27FC236}">
                <a16:creationId xmlns:a16="http://schemas.microsoft.com/office/drawing/2014/main" id="{6ABFF860-01E5-4D3F-9671-A31452366D14}"/>
              </a:ext>
            </a:extLst>
          </p:cNvPr>
          <p:cNvSpPr>
            <a:spLocks noGrp="1"/>
          </p:cNvSpPr>
          <p:nvPr/>
        </p:nvSpPr>
        <p:spPr>
          <a:xfrm>
            <a:off x="3043238"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a:t>
            </a:r>
          </a:p>
        </p:txBody>
      </p:sp>
      <p:sp>
        <p:nvSpPr>
          <p:cNvPr id="27" name="U06-DG-024-air_3-box">
            <a:extLst>
              <a:ext uri="{FF2B5EF4-FFF2-40B4-BE49-F238E27FC236}">
                <a16:creationId xmlns:a16="http://schemas.microsoft.com/office/drawing/2014/main" id="{7870D264-92F1-4436-8EF7-63D9E8AAD451}"/>
              </a:ext>
            </a:extLst>
          </p:cNvPr>
          <p:cNvSpPr>
            <a:spLocks noGrp="1"/>
          </p:cNvSpPr>
          <p:nvPr/>
        </p:nvSpPr>
        <p:spPr>
          <a:xfrm>
            <a:off x="4924425" y="1428750"/>
            <a:ext cx="1881188" cy="1428750"/>
          </a:xfrm>
          <a:prstGeom prst="roundRect">
            <a:avLst>
              <a:gd name="adj" fmla="val 6667"/>
            </a:avLst>
          </a:prstGeom>
          <a:solidFill>
            <a:srgbClr val="F4E9EF"/>
          </a:solidFill>
          <a:ln w="19050">
            <a:solidFill>
              <a:srgbClr val="4D1434"/>
            </a:solidFill>
            <a:prstDash val="solid"/>
          </a:ln>
        </p:spPr>
      </p:sp>
      <p:sp>
        <p:nvSpPr>
          <p:cNvPr id="28" name="U06-DG-024-air_3-title">
            <a:extLst>
              <a:ext uri="{FF2B5EF4-FFF2-40B4-BE49-F238E27FC236}">
                <a16:creationId xmlns:a16="http://schemas.microsoft.com/office/drawing/2014/main" id="{2006EDA1-1E5F-486D-B138-60B91024CCFC}"/>
              </a:ext>
            </a:extLst>
          </p:cNvPr>
          <p:cNvSpPr>
            <a:spLocks noGrp="1"/>
          </p:cNvSpPr>
          <p:nvPr/>
        </p:nvSpPr>
        <p:spPr>
          <a:xfrm>
            <a:off x="5114925"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Tímpano</a:t>
            </a:r>
          </a:p>
        </p:txBody>
      </p:sp>
      <p:sp>
        <p:nvSpPr>
          <p:cNvPr id="29" name="U06-DG-024-air_3-body">
            <a:extLst>
              <a:ext uri="{FF2B5EF4-FFF2-40B4-BE49-F238E27FC236}">
                <a16:creationId xmlns:a16="http://schemas.microsoft.com/office/drawing/2014/main" id="{1AF430FE-9258-4198-A15E-436A86308B65}"/>
              </a:ext>
            </a:extLst>
          </p:cNvPr>
          <p:cNvSpPr>
            <a:spLocks noGrp="1"/>
          </p:cNvSpPr>
          <p:nvPr/>
        </p:nvSpPr>
        <p:spPr>
          <a:xfrm>
            <a:off x="5114925"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vibra</a:t>
            </a:r>
          </a:p>
        </p:txBody>
      </p:sp>
      <p:sp>
        <p:nvSpPr>
          <p:cNvPr id="30" name="U06-DG-024-air_4-box">
            <a:extLst>
              <a:ext uri="{FF2B5EF4-FFF2-40B4-BE49-F238E27FC236}">
                <a16:creationId xmlns:a16="http://schemas.microsoft.com/office/drawing/2014/main" id="{4CB484BB-6D7E-401C-94FB-B68136B4FDED}"/>
              </a:ext>
            </a:extLst>
          </p:cNvPr>
          <p:cNvSpPr>
            <a:spLocks noGrp="1"/>
          </p:cNvSpPr>
          <p:nvPr/>
        </p:nvSpPr>
        <p:spPr>
          <a:xfrm>
            <a:off x="6996113" y="1428750"/>
            <a:ext cx="1881188" cy="1428750"/>
          </a:xfrm>
          <a:prstGeom prst="roundRect">
            <a:avLst>
              <a:gd name="adj" fmla="val 6667"/>
            </a:avLst>
          </a:prstGeom>
          <a:solidFill>
            <a:srgbClr val="F4E9EF"/>
          </a:solidFill>
          <a:ln w="19050">
            <a:solidFill>
              <a:srgbClr val="4D1434"/>
            </a:solidFill>
            <a:prstDash val="solid"/>
          </a:ln>
        </p:spPr>
      </p:sp>
      <p:sp>
        <p:nvSpPr>
          <p:cNvPr id="31" name="U06-DG-024-air_4-title">
            <a:extLst>
              <a:ext uri="{FF2B5EF4-FFF2-40B4-BE49-F238E27FC236}">
                <a16:creationId xmlns:a16="http://schemas.microsoft.com/office/drawing/2014/main" id="{76C3750D-35E6-43A5-B6B0-09C3CC4CA5EE}"/>
              </a:ext>
            </a:extLst>
          </p:cNvPr>
          <p:cNvSpPr>
            <a:spLocks noGrp="1"/>
          </p:cNvSpPr>
          <p:nvPr/>
        </p:nvSpPr>
        <p:spPr>
          <a:xfrm>
            <a:off x="7186613"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Osículos</a:t>
            </a:r>
          </a:p>
        </p:txBody>
      </p:sp>
      <p:sp>
        <p:nvSpPr>
          <p:cNvPr id="32" name="U06-DG-024-air_4-body">
            <a:extLst>
              <a:ext uri="{FF2B5EF4-FFF2-40B4-BE49-F238E27FC236}">
                <a16:creationId xmlns:a16="http://schemas.microsoft.com/office/drawing/2014/main" id="{69EF5C5C-D8A0-4AF7-82E1-343DFD0474FE}"/>
              </a:ext>
            </a:extLst>
          </p:cNvPr>
          <p:cNvSpPr>
            <a:spLocks noGrp="1"/>
          </p:cNvSpPr>
          <p:nvPr/>
        </p:nvSpPr>
        <p:spPr>
          <a:xfrm>
            <a:off x="7186613"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a:t>
            </a:r>
          </a:p>
        </p:txBody>
      </p:sp>
      <p:sp>
        <p:nvSpPr>
          <p:cNvPr id="33" name="U06-DG-024-bone_1-box">
            <a:extLst>
              <a:ext uri="{FF2B5EF4-FFF2-40B4-BE49-F238E27FC236}">
                <a16:creationId xmlns:a16="http://schemas.microsoft.com/office/drawing/2014/main" id="{25E217C1-339D-4D2A-9FBD-8144740D1A72}"/>
              </a:ext>
            </a:extLst>
          </p:cNvPr>
          <p:cNvSpPr>
            <a:spLocks noGrp="1"/>
          </p:cNvSpPr>
          <p:nvPr/>
        </p:nvSpPr>
        <p:spPr>
          <a:xfrm>
            <a:off x="781050" y="4143375"/>
            <a:ext cx="2571750" cy="1428750"/>
          </a:xfrm>
          <a:prstGeom prst="roundRect">
            <a:avLst>
              <a:gd name="adj" fmla="val 6667"/>
            </a:avLst>
          </a:prstGeom>
          <a:solidFill>
            <a:srgbClr val="F7F6F2"/>
          </a:solidFill>
          <a:ln w="19050">
            <a:solidFill>
              <a:srgbClr val="969FA7"/>
            </a:solidFill>
            <a:prstDash val="solid"/>
          </a:ln>
        </p:spPr>
      </p:sp>
      <p:sp>
        <p:nvSpPr>
          <p:cNvPr id="34" name="U06-DG-024-bone_1-title">
            <a:extLst>
              <a:ext uri="{FF2B5EF4-FFF2-40B4-BE49-F238E27FC236}">
                <a16:creationId xmlns:a16="http://schemas.microsoft.com/office/drawing/2014/main" id="{B040F0B3-1AC3-424C-BA6F-DCE34154FB76}"/>
              </a:ext>
            </a:extLst>
          </p:cNvPr>
          <p:cNvSpPr>
            <a:spLocks noGrp="1"/>
          </p:cNvSpPr>
          <p:nvPr/>
        </p:nvSpPr>
        <p:spPr>
          <a:xfrm>
            <a:off x="971550" y="428625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Cráneo</a:t>
            </a:r>
          </a:p>
        </p:txBody>
      </p:sp>
      <p:sp>
        <p:nvSpPr>
          <p:cNvPr id="35" name="U06-DG-024-bone_1-body">
            <a:extLst>
              <a:ext uri="{FF2B5EF4-FFF2-40B4-BE49-F238E27FC236}">
                <a16:creationId xmlns:a16="http://schemas.microsoft.com/office/drawing/2014/main" id="{56B80AC8-D7AD-4816-B35F-2250F3411D71}"/>
              </a:ext>
            </a:extLst>
          </p:cNvPr>
          <p:cNvSpPr>
            <a:spLocks noGrp="1"/>
          </p:cNvSpPr>
          <p:nvPr/>
        </p:nvSpPr>
        <p:spPr>
          <a:xfrm>
            <a:off x="971550" y="4733925"/>
            <a:ext cx="2190750"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vibra</a:t>
            </a:r>
          </a:p>
        </p:txBody>
      </p:sp>
      <p:sp>
        <p:nvSpPr>
          <p:cNvPr id="36" name="U06-DG-024-bone_2-box">
            <a:extLst>
              <a:ext uri="{FF2B5EF4-FFF2-40B4-BE49-F238E27FC236}">
                <a16:creationId xmlns:a16="http://schemas.microsoft.com/office/drawing/2014/main" id="{62634CE6-1941-4570-B102-10E6F8E2480A}"/>
              </a:ext>
            </a:extLst>
          </p:cNvPr>
          <p:cNvSpPr>
            <a:spLocks noGrp="1"/>
          </p:cNvSpPr>
          <p:nvPr/>
        </p:nvSpPr>
        <p:spPr>
          <a:xfrm>
            <a:off x="3543300" y="4143375"/>
            <a:ext cx="2571750" cy="1428750"/>
          </a:xfrm>
          <a:prstGeom prst="roundRect">
            <a:avLst>
              <a:gd name="adj" fmla="val 6667"/>
            </a:avLst>
          </a:prstGeom>
          <a:solidFill>
            <a:srgbClr val="F7F6F2"/>
          </a:solidFill>
          <a:ln w="19050">
            <a:solidFill>
              <a:srgbClr val="969FA7"/>
            </a:solidFill>
            <a:prstDash val="solid"/>
          </a:ln>
        </p:spPr>
      </p:sp>
      <p:sp>
        <p:nvSpPr>
          <p:cNvPr id="37" name="U06-DG-024-bone_2-title">
            <a:extLst>
              <a:ext uri="{FF2B5EF4-FFF2-40B4-BE49-F238E27FC236}">
                <a16:creationId xmlns:a16="http://schemas.microsoft.com/office/drawing/2014/main" id="{F89C71AF-D3D2-4089-80F0-802B4CCCD235}"/>
              </a:ext>
            </a:extLst>
          </p:cNvPr>
          <p:cNvSpPr>
            <a:spLocks noGrp="1"/>
          </p:cNvSpPr>
          <p:nvPr/>
        </p:nvSpPr>
        <p:spPr>
          <a:xfrm>
            <a:off x="3733800" y="4286250"/>
            <a:ext cx="21907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CAE + oído medio</a:t>
            </a:r>
          </a:p>
        </p:txBody>
      </p:sp>
      <p:sp>
        <p:nvSpPr>
          <p:cNvPr id="38" name="U06-DG-024-bone_2-body">
            <a:extLst>
              <a:ext uri="{FF2B5EF4-FFF2-40B4-BE49-F238E27FC236}">
                <a16:creationId xmlns:a16="http://schemas.microsoft.com/office/drawing/2014/main" id="{5EA620F4-CA5A-4E7B-8EDA-F75A40B50BE3}"/>
              </a:ext>
            </a:extLst>
          </p:cNvPr>
          <p:cNvSpPr>
            <a:spLocks noGrp="1"/>
          </p:cNvSpPr>
          <p:nvPr/>
        </p:nvSpPr>
        <p:spPr>
          <a:xfrm>
            <a:off x="3733800" y="5057775"/>
            <a:ext cx="2190750" cy="419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participan</a:t>
            </a:r>
          </a:p>
        </p:txBody>
      </p:sp>
      <p:sp>
        <p:nvSpPr>
          <p:cNvPr id="39" name="U06-DG-024-bone_3-box">
            <a:extLst>
              <a:ext uri="{FF2B5EF4-FFF2-40B4-BE49-F238E27FC236}">
                <a16:creationId xmlns:a16="http://schemas.microsoft.com/office/drawing/2014/main" id="{291323C5-5434-47DF-BF63-F8C405A926C3}"/>
              </a:ext>
            </a:extLst>
          </p:cNvPr>
          <p:cNvSpPr>
            <a:spLocks noGrp="1"/>
          </p:cNvSpPr>
          <p:nvPr/>
        </p:nvSpPr>
        <p:spPr>
          <a:xfrm>
            <a:off x="6305550" y="4143375"/>
            <a:ext cx="2571750" cy="1428750"/>
          </a:xfrm>
          <a:prstGeom prst="roundRect">
            <a:avLst>
              <a:gd name="adj" fmla="val 6667"/>
            </a:avLst>
          </a:prstGeom>
          <a:solidFill>
            <a:srgbClr val="F8EDE2"/>
          </a:solidFill>
          <a:ln w="19050">
            <a:solidFill>
              <a:srgbClr val="9F541A"/>
            </a:solidFill>
            <a:prstDash val="solid"/>
          </a:ln>
        </p:spPr>
      </p:sp>
      <p:sp>
        <p:nvSpPr>
          <p:cNvPr id="40" name="U06-DG-024-bone_3-title">
            <a:extLst>
              <a:ext uri="{FF2B5EF4-FFF2-40B4-BE49-F238E27FC236}">
                <a16:creationId xmlns:a16="http://schemas.microsoft.com/office/drawing/2014/main" id="{C12D3313-D17A-49FE-8AAC-93F605AB69B5}"/>
              </a:ext>
            </a:extLst>
          </p:cNvPr>
          <p:cNvSpPr>
            <a:spLocks noGrp="1"/>
          </p:cNvSpPr>
          <p:nvPr/>
        </p:nvSpPr>
        <p:spPr>
          <a:xfrm>
            <a:off x="6496050" y="428625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Fluidos</a:t>
            </a:r>
          </a:p>
        </p:txBody>
      </p:sp>
      <p:sp>
        <p:nvSpPr>
          <p:cNvPr id="41" name="U06-DG-024-bone_3-body">
            <a:extLst>
              <a:ext uri="{FF2B5EF4-FFF2-40B4-BE49-F238E27FC236}">
                <a16:creationId xmlns:a16="http://schemas.microsoft.com/office/drawing/2014/main" id="{BFAE8D54-C380-4507-9E20-EC8978E5270C}"/>
              </a:ext>
            </a:extLst>
          </p:cNvPr>
          <p:cNvSpPr>
            <a:spLocks noGrp="1"/>
          </p:cNvSpPr>
          <p:nvPr/>
        </p:nvSpPr>
        <p:spPr>
          <a:xfrm>
            <a:off x="6496050" y="4733925"/>
            <a:ext cx="2190750"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movilizan</a:t>
            </a:r>
          </a:p>
        </p:txBody>
      </p:sp>
      <p:sp>
        <p:nvSpPr>
          <p:cNvPr id="42" name="caption">
            <a:extLst>
              <a:ext uri="{FF2B5EF4-FFF2-40B4-BE49-F238E27FC236}">
                <a16:creationId xmlns:a16="http://schemas.microsoft.com/office/drawing/2014/main" id="{A91ED67A-AE51-47BC-80EE-68E1CA772BCD}"/>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afirmación absoluta es falsa porque algunas contribuciones involucran CAE y h…</a:t>
            </a:r>
          </a:p>
        </p:txBody>
      </p:sp>
      <p:sp>
        <p:nvSpPr>
          <p:cNvPr id="43" name="credit">
            <a:extLst>
              <a:ext uri="{FF2B5EF4-FFF2-40B4-BE49-F238E27FC236}">
                <a16:creationId xmlns:a16="http://schemas.microsoft.com/office/drawing/2014/main" id="{3ED81071-F77B-4C8A-9EAB-9654B911110A}"/>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73297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B8A42986-0163-4DE0-92C9-1BC1F4FBED51}"/>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Cinco contribuciones pueden actuar al mismo tiempo</a:t>
            </a:r>
          </a:p>
        </p:txBody>
      </p:sp>
      <p:sp>
        <p:nvSpPr>
          <p:cNvPr id="2" name="slide-subtitle">
            <a:extLst>
              <a:ext uri="{FF2B5EF4-FFF2-40B4-BE49-F238E27FC236}">
                <a16:creationId xmlns:a16="http://schemas.microsoft.com/office/drawing/2014/main" id="{13161D4B-E410-4E2E-8EE3-B06191307592}"/>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importancia relativa cambia con frecuencia, acoplamiento y punto de estimulación.</a:t>
            </a:r>
          </a:p>
        </p:txBody>
      </p:sp>
      <p:sp>
        <p:nvSpPr>
          <p:cNvPr id="3" name="eyebrow">
            <a:extLst>
              <a:ext uri="{FF2B5EF4-FFF2-40B4-BE49-F238E27FC236}">
                <a16:creationId xmlns:a16="http://schemas.microsoft.com/office/drawing/2014/main" id="{74EC0B40-DBCF-43BE-BDE0-E1519D112E3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043</a:t>
            </a:r>
          </a:p>
        </p:txBody>
      </p:sp>
      <p:sp>
        <p:nvSpPr>
          <p:cNvPr id="4" name="U06-DG-025-central-anchor">
            <a:extLst>
              <a:ext uri="{FF2B5EF4-FFF2-40B4-BE49-F238E27FC236}">
                <a16:creationId xmlns:a16="http://schemas.microsoft.com/office/drawing/2014/main" id="{99F804A7-347F-4330-9BFC-7E919DE5C211}"/>
              </a:ext>
            </a:extLst>
          </p:cNvPr>
          <p:cNvSpPr>
            <a:spLocks noGrp="1"/>
          </p:cNvSpPr>
          <p:nvPr/>
        </p:nvSpPr>
        <p:spPr>
          <a:xfrm>
            <a:off x="3714750" y="1381125"/>
            <a:ext cx="4762500" cy="1285875"/>
          </a:xfrm>
          <a:prstGeom prst="roundRect">
            <a:avLst>
              <a:gd name="adj" fmla="val 7407"/>
            </a:avLst>
          </a:prstGeom>
          <a:noFill/>
          <a:ln w="0">
            <a:noFill/>
            <a:prstDash val="solid"/>
          </a:ln>
        </p:spPr>
      </p:sp>
      <p:sp>
        <p:nvSpPr>
          <p:cNvPr id="5" name="U06-DG-025-branch_1-anchor">
            <a:extLst>
              <a:ext uri="{FF2B5EF4-FFF2-40B4-BE49-F238E27FC236}">
                <a16:creationId xmlns:a16="http://schemas.microsoft.com/office/drawing/2014/main" id="{03C7B91F-3D86-4E0B-88A3-304440F4B1D5}"/>
              </a:ext>
            </a:extLst>
          </p:cNvPr>
          <p:cNvSpPr>
            <a:spLocks noGrp="1"/>
          </p:cNvSpPr>
          <p:nvPr/>
        </p:nvSpPr>
        <p:spPr>
          <a:xfrm>
            <a:off x="781050" y="3619500"/>
            <a:ext cx="1958340" cy="1809750"/>
          </a:xfrm>
          <a:prstGeom prst="roundRect">
            <a:avLst>
              <a:gd name="adj" fmla="val 5263"/>
            </a:avLst>
          </a:prstGeom>
          <a:noFill/>
          <a:ln w="0">
            <a:noFill/>
            <a:prstDash val="solid"/>
          </a:ln>
        </p:spPr>
      </p:sp>
      <p:sp>
        <p:nvSpPr>
          <p:cNvPr id="6" name="U06-DG-025-branch_2-anchor">
            <a:extLst>
              <a:ext uri="{FF2B5EF4-FFF2-40B4-BE49-F238E27FC236}">
                <a16:creationId xmlns:a16="http://schemas.microsoft.com/office/drawing/2014/main" id="{467AFD2C-0B08-4D4B-A2FA-A1C281F7A666}"/>
              </a:ext>
            </a:extLst>
          </p:cNvPr>
          <p:cNvSpPr>
            <a:spLocks noGrp="1"/>
          </p:cNvSpPr>
          <p:nvPr/>
        </p:nvSpPr>
        <p:spPr>
          <a:xfrm>
            <a:off x="2948940" y="3619500"/>
            <a:ext cx="1958340" cy="1809750"/>
          </a:xfrm>
          <a:prstGeom prst="roundRect">
            <a:avLst>
              <a:gd name="adj" fmla="val 5263"/>
            </a:avLst>
          </a:prstGeom>
          <a:noFill/>
          <a:ln w="0">
            <a:noFill/>
            <a:prstDash val="solid"/>
          </a:ln>
        </p:spPr>
      </p:sp>
      <p:sp>
        <p:nvSpPr>
          <p:cNvPr id="7" name="U06-DG-025-branch_3-anchor">
            <a:extLst>
              <a:ext uri="{FF2B5EF4-FFF2-40B4-BE49-F238E27FC236}">
                <a16:creationId xmlns:a16="http://schemas.microsoft.com/office/drawing/2014/main" id="{04590B4E-6415-4874-8F68-A441953B66AD}"/>
              </a:ext>
            </a:extLst>
          </p:cNvPr>
          <p:cNvSpPr>
            <a:spLocks noGrp="1"/>
          </p:cNvSpPr>
          <p:nvPr/>
        </p:nvSpPr>
        <p:spPr>
          <a:xfrm>
            <a:off x="5116830" y="3619500"/>
            <a:ext cx="1958340" cy="1809750"/>
          </a:xfrm>
          <a:prstGeom prst="roundRect">
            <a:avLst>
              <a:gd name="adj" fmla="val 5263"/>
            </a:avLst>
          </a:prstGeom>
          <a:noFill/>
          <a:ln w="0">
            <a:noFill/>
            <a:prstDash val="solid"/>
          </a:ln>
        </p:spPr>
      </p:sp>
      <p:sp>
        <p:nvSpPr>
          <p:cNvPr id="8" name="U06-DG-025-branch_4-anchor">
            <a:extLst>
              <a:ext uri="{FF2B5EF4-FFF2-40B4-BE49-F238E27FC236}">
                <a16:creationId xmlns:a16="http://schemas.microsoft.com/office/drawing/2014/main" id="{82B93276-919A-4A35-869B-305380FC74C6}"/>
              </a:ext>
            </a:extLst>
          </p:cNvPr>
          <p:cNvSpPr>
            <a:spLocks noGrp="1"/>
          </p:cNvSpPr>
          <p:nvPr/>
        </p:nvSpPr>
        <p:spPr>
          <a:xfrm>
            <a:off x="7284720" y="3619500"/>
            <a:ext cx="1958340" cy="1809750"/>
          </a:xfrm>
          <a:prstGeom prst="roundRect">
            <a:avLst>
              <a:gd name="adj" fmla="val 5263"/>
            </a:avLst>
          </a:prstGeom>
          <a:noFill/>
          <a:ln w="0">
            <a:noFill/>
            <a:prstDash val="solid"/>
          </a:ln>
        </p:spPr>
      </p:sp>
      <p:sp>
        <p:nvSpPr>
          <p:cNvPr id="9" name="U06-DG-025-branch_5-anchor">
            <a:extLst>
              <a:ext uri="{FF2B5EF4-FFF2-40B4-BE49-F238E27FC236}">
                <a16:creationId xmlns:a16="http://schemas.microsoft.com/office/drawing/2014/main" id="{A0E044CA-A47B-4FFA-8C1E-73A6935D210E}"/>
              </a:ext>
            </a:extLst>
          </p:cNvPr>
          <p:cNvSpPr>
            <a:spLocks noGrp="1"/>
          </p:cNvSpPr>
          <p:nvPr/>
        </p:nvSpPr>
        <p:spPr>
          <a:xfrm>
            <a:off x="9452610" y="3619500"/>
            <a:ext cx="1958340" cy="1809750"/>
          </a:xfrm>
          <a:prstGeom prst="roundRect">
            <a:avLst>
              <a:gd name="adj" fmla="val 5263"/>
            </a:avLst>
          </a:prstGeom>
          <a:noFill/>
          <a:ln w="0">
            <a:noFill/>
            <a:prstDash val="solid"/>
          </a:ln>
        </p:spPr>
      </p:sp>
      <p:cxnSp>
        <p:nvCxnSpPr>
          <p:cNvPr id="44" name="U06-DG-025-branch_edge_1"/>
          <p:cNvCxnSpPr>
            <a:stCxn id="4" idx="1"/>
            <a:endCxn id="5" idx="3"/>
          </p:cNvCxnSpPr>
          <p:nvPr/>
        </p:nvCxnSpPr>
        <p:spPr>
          <a:xfrm flipH="1">
            <a:off x="2739390" y="2024063"/>
            <a:ext cx="975360" cy="2500313"/>
          </a:xfrm>
          <a:prstGeom prst="bentConnector3">
            <a:avLst>
              <a:gd name="adj1" fmla="val 50000"/>
            </a:avLst>
          </a:prstGeom>
          <a:ln w="28575">
            <a:solidFill>
              <a:srgbClr val="3D3D3D"/>
            </a:solidFill>
            <a:prstDash val="solid"/>
            <a:tailEnd type="arrow" w="med" len="med"/>
          </a:ln>
        </p:spPr>
      </p:cxnSp>
      <p:cxnSp>
        <p:nvCxnSpPr>
          <p:cNvPr id="45" name="U06-DG-025-branch_edge_2"/>
          <p:cNvCxnSpPr>
            <a:stCxn id="4" idx="2"/>
            <a:endCxn id="6" idx="0"/>
          </p:cNvCxnSpPr>
          <p:nvPr/>
        </p:nvCxnSpPr>
        <p:spPr>
          <a:xfrm flipH="1">
            <a:off x="392811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6" name="U06-DG-025-branch_edge_3"/>
          <p:cNvCxnSpPr>
            <a:stCxn id="4" idx="2"/>
            <a:endCxn id="7" idx="0"/>
          </p:cNvCxnSpPr>
          <p:nvPr/>
        </p:nvCxnSpPr>
        <p:spPr>
          <a:xfrm>
            <a:off x="6096000" y="2667000"/>
            <a:ext cx="0" cy="952500"/>
          </a:xfrm>
          <a:prstGeom prst="straightConnector1">
            <a:avLst/>
          </a:prstGeom>
          <a:ln w="28575">
            <a:solidFill>
              <a:srgbClr val="3D3D3D"/>
            </a:solidFill>
            <a:prstDash val="solid"/>
            <a:tailEnd type="arrow" w="med" len="med"/>
          </a:ln>
        </p:spPr>
      </p:cxnSp>
      <p:cxnSp>
        <p:nvCxnSpPr>
          <p:cNvPr id="47" name="U06-DG-025-branch_edge_4"/>
          <p:cNvCxnSpPr>
            <a:stCxn id="4" idx="2"/>
            <a:endCxn id="8" idx="0"/>
          </p:cNvCxnSpPr>
          <p:nvPr/>
        </p:nvCxnSpPr>
        <p:spPr>
          <a:xfrm>
            <a:off x="609600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8" name="U06-DG-025-branch_edge_5"/>
          <p:cNvCxnSpPr>
            <a:stCxn id="4" idx="3"/>
            <a:endCxn id="9" idx="1"/>
          </p:cNvCxnSpPr>
          <p:nvPr/>
        </p:nvCxnSpPr>
        <p:spPr>
          <a:xfrm>
            <a:off x="8477250" y="2024063"/>
            <a:ext cx="975360" cy="2500313"/>
          </a:xfrm>
          <a:prstGeom prst="bentConnector3">
            <a:avLst>
              <a:gd name="adj1" fmla="val 50000"/>
            </a:avLst>
          </a:prstGeom>
          <a:ln w="28575">
            <a:solidFill>
              <a:srgbClr val="3D3D3D"/>
            </a:solidFill>
            <a:prstDash val="solid"/>
            <a:tailEnd type="arrow" w="med" len="med"/>
          </a:ln>
        </p:spPr>
      </p:cxnSp>
      <p:sp>
        <p:nvSpPr>
          <p:cNvPr id="15" name="U06-DG-025-central-box" descr="Diagrama sobre «Cinco contribuciones pueden actuar al mismo tiempo»; organiza radiación cae, inercia osicular, inercia de fluidos, deformación capsular y tejidos/cavidades." title="Texto alternativo U06-043">
            <a:extLst>
              <a:ext uri="{FF2B5EF4-FFF2-40B4-BE49-F238E27FC236}">
                <a16:creationId xmlns:a16="http://schemas.microsoft.com/office/drawing/2014/main" id="{53EB10F7-582F-4B67-A563-9A8D56428054}"/>
              </a:ext>
            </a:extLst>
          </p:cNvPr>
          <p:cNvSpPr>
            <a:spLocks noGrp="1"/>
          </p:cNvSpPr>
          <p:nvPr/>
        </p:nvSpPr>
        <p:spPr>
          <a:xfrm>
            <a:off x="3714750" y="1381125"/>
            <a:ext cx="4762500" cy="1285875"/>
          </a:xfrm>
          <a:prstGeom prst="roundRect">
            <a:avLst>
              <a:gd name="adj" fmla="val 7407"/>
            </a:avLst>
          </a:prstGeom>
          <a:solidFill>
            <a:srgbClr val="F8EDE2"/>
          </a:solidFill>
          <a:ln w="19050">
            <a:solidFill>
              <a:srgbClr val="9F541A"/>
            </a:solidFill>
            <a:prstDash val="solid"/>
          </a:ln>
        </p:spPr>
      </p:sp>
      <p:sp>
        <p:nvSpPr>
          <p:cNvPr id="16" name="U06-DG-025-central-title">
            <a:extLst>
              <a:ext uri="{FF2B5EF4-FFF2-40B4-BE49-F238E27FC236}">
                <a16:creationId xmlns:a16="http://schemas.microsoft.com/office/drawing/2014/main" id="{D8D910D6-538B-4522-956C-55C218703C20}"/>
              </a:ext>
            </a:extLst>
          </p:cNvPr>
          <p:cNvSpPr>
            <a:spLocks noGrp="1"/>
          </p:cNvSpPr>
          <p:nvPr/>
        </p:nvSpPr>
        <p:spPr>
          <a:xfrm>
            <a:off x="3905250" y="1524000"/>
            <a:ext cx="4381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Respuesta coclear</a:t>
            </a:r>
          </a:p>
        </p:txBody>
      </p:sp>
      <p:sp>
        <p:nvSpPr>
          <p:cNvPr id="17" name="U06-DG-025-central-body">
            <a:extLst>
              <a:ext uri="{FF2B5EF4-FFF2-40B4-BE49-F238E27FC236}">
                <a16:creationId xmlns:a16="http://schemas.microsoft.com/office/drawing/2014/main" id="{EE6E38AA-8839-4C3A-A877-8626C70DBE57}"/>
              </a:ext>
            </a:extLst>
          </p:cNvPr>
          <p:cNvSpPr>
            <a:spLocks noGrp="1"/>
          </p:cNvSpPr>
          <p:nvPr/>
        </p:nvSpPr>
        <p:spPr>
          <a:xfrm>
            <a:off x="3905250" y="1971675"/>
            <a:ext cx="4381500" cy="600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resultado combinado</a:t>
            </a:r>
          </a:p>
        </p:txBody>
      </p:sp>
      <p:sp>
        <p:nvSpPr>
          <p:cNvPr id="18" name="U06-DG-025-branch_1-box">
            <a:extLst>
              <a:ext uri="{FF2B5EF4-FFF2-40B4-BE49-F238E27FC236}">
                <a16:creationId xmlns:a16="http://schemas.microsoft.com/office/drawing/2014/main" id="{B38A3D1B-7CC9-416A-8BC9-D9115F4927ED}"/>
              </a:ext>
            </a:extLst>
          </p:cNvPr>
          <p:cNvSpPr>
            <a:spLocks noGrp="1"/>
          </p:cNvSpPr>
          <p:nvPr/>
        </p:nvSpPr>
        <p:spPr>
          <a:xfrm>
            <a:off x="781050" y="3619500"/>
            <a:ext cx="1958340" cy="1809750"/>
          </a:xfrm>
          <a:prstGeom prst="roundRect">
            <a:avLst>
              <a:gd name="adj" fmla="val 5263"/>
            </a:avLst>
          </a:prstGeom>
          <a:solidFill>
            <a:srgbClr val="E7F1F1"/>
          </a:solidFill>
          <a:ln w="19050">
            <a:solidFill>
              <a:srgbClr val="2F7E83"/>
            </a:solidFill>
            <a:prstDash val="solid"/>
          </a:ln>
        </p:spPr>
      </p:sp>
      <p:sp>
        <p:nvSpPr>
          <p:cNvPr id="19" name="U06-DG-025-branch_1-title">
            <a:extLst>
              <a:ext uri="{FF2B5EF4-FFF2-40B4-BE49-F238E27FC236}">
                <a16:creationId xmlns:a16="http://schemas.microsoft.com/office/drawing/2014/main" id="{FA87A531-A0FB-4BFA-B5DC-35F22C54AE7B}"/>
              </a:ext>
            </a:extLst>
          </p:cNvPr>
          <p:cNvSpPr>
            <a:spLocks noGrp="1"/>
          </p:cNvSpPr>
          <p:nvPr/>
        </p:nvSpPr>
        <p:spPr>
          <a:xfrm>
            <a:off x="97155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Radiación</a:t>
            </a:r>
          </a:p>
        </p:txBody>
      </p:sp>
      <p:sp>
        <p:nvSpPr>
          <p:cNvPr id="20" name="U06-DG-025-branch_1-body">
            <a:extLst>
              <a:ext uri="{FF2B5EF4-FFF2-40B4-BE49-F238E27FC236}">
                <a16:creationId xmlns:a16="http://schemas.microsoft.com/office/drawing/2014/main" id="{AA3480E2-0A1B-4068-84DB-48FF34A5E582}"/>
              </a:ext>
            </a:extLst>
          </p:cNvPr>
          <p:cNvSpPr>
            <a:spLocks noGrp="1"/>
          </p:cNvSpPr>
          <p:nvPr/>
        </p:nvSpPr>
        <p:spPr>
          <a:xfrm>
            <a:off x="97155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al CAE</a:t>
            </a:r>
          </a:p>
        </p:txBody>
      </p:sp>
      <p:sp>
        <p:nvSpPr>
          <p:cNvPr id="21" name="U06-DG-025-branch_2-box">
            <a:extLst>
              <a:ext uri="{FF2B5EF4-FFF2-40B4-BE49-F238E27FC236}">
                <a16:creationId xmlns:a16="http://schemas.microsoft.com/office/drawing/2014/main" id="{6782E28B-701C-48C3-B6E6-78F9F718B241}"/>
              </a:ext>
            </a:extLst>
          </p:cNvPr>
          <p:cNvSpPr>
            <a:spLocks noGrp="1"/>
          </p:cNvSpPr>
          <p:nvPr/>
        </p:nvSpPr>
        <p:spPr>
          <a:xfrm>
            <a:off x="2948940" y="3619500"/>
            <a:ext cx="1958340" cy="1809750"/>
          </a:xfrm>
          <a:prstGeom prst="roundRect">
            <a:avLst>
              <a:gd name="adj" fmla="val 5263"/>
            </a:avLst>
          </a:prstGeom>
          <a:solidFill>
            <a:srgbClr val="F7F6F2"/>
          </a:solidFill>
          <a:ln w="19050">
            <a:solidFill>
              <a:srgbClr val="969FA7"/>
            </a:solidFill>
            <a:prstDash val="solid"/>
          </a:ln>
        </p:spPr>
      </p:sp>
      <p:sp>
        <p:nvSpPr>
          <p:cNvPr id="22" name="U06-DG-025-branch_2-title">
            <a:extLst>
              <a:ext uri="{FF2B5EF4-FFF2-40B4-BE49-F238E27FC236}">
                <a16:creationId xmlns:a16="http://schemas.microsoft.com/office/drawing/2014/main" id="{E70A6A2C-C563-4EA6-92EA-2E5DAD991F50}"/>
              </a:ext>
            </a:extLst>
          </p:cNvPr>
          <p:cNvSpPr>
            <a:spLocks noGrp="1"/>
          </p:cNvSpPr>
          <p:nvPr/>
        </p:nvSpPr>
        <p:spPr>
          <a:xfrm>
            <a:off x="313944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Inercia</a:t>
            </a:r>
          </a:p>
        </p:txBody>
      </p:sp>
      <p:sp>
        <p:nvSpPr>
          <p:cNvPr id="23" name="U06-DG-025-branch_2-body">
            <a:extLst>
              <a:ext uri="{FF2B5EF4-FFF2-40B4-BE49-F238E27FC236}">
                <a16:creationId xmlns:a16="http://schemas.microsoft.com/office/drawing/2014/main" id="{FBCE1353-16D3-4C32-8E81-61178701A5F6}"/>
              </a:ext>
            </a:extLst>
          </p:cNvPr>
          <p:cNvSpPr>
            <a:spLocks noGrp="1"/>
          </p:cNvSpPr>
          <p:nvPr/>
        </p:nvSpPr>
        <p:spPr>
          <a:xfrm>
            <a:off x="313944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osicular</a:t>
            </a:r>
          </a:p>
        </p:txBody>
      </p:sp>
      <p:sp>
        <p:nvSpPr>
          <p:cNvPr id="24" name="U06-DG-025-branch_3-box">
            <a:extLst>
              <a:ext uri="{FF2B5EF4-FFF2-40B4-BE49-F238E27FC236}">
                <a16:creationId xmlns:a16="http://schemas.microsoft.com/office/drawing/2014/main" id="{17C8DECB-5F1F-402C-9585-97E6071D3226}"/>
              </a:ext>
            </a:extLst>
          </p:cNvPr>
          <p:cNvSpPr>
            <a:spLocks noGrp="1"/>
          </p:cNvSpPr>
          <p:nvPr/>
        </p:nvSpPr>
        <p:spPr>
          <a:xfrm>
            <a:off x="5116830" y="3619500"/>
            <a:ext cx="1958340" cy="1809750"/>
          </a:xfrm>
          <a:prstGeom prst="roundRect">
            <a:avLst>
              <a:gd name="adj" fmla="val 5263"/>
            </a:avLst>
          </a:prstGeom>
          <a:solidFill>
            <a:srgbClr val="F7F6F2"/>
          </a:solidFill>
          <a:ln w="19050">
            <a:solidFill>
              <a:srgbClr val="969FA7"/>
            </a:solidFill>
            <a:prstDash val="solid"/>
          </a:ln>
        </p:spPr>
      </p:sp>
      <p:sp>
        <p:nvSpPr>
          <p:cNvPr id="25" name="U06-DG-025-branch_3-title">
            <a:extLst>
              <a:ext uri="{FF2B5EF4-FFF2-40B4-BE49-F238E27FC236}">
                <a16:creationId xmlns:a16="http://schemas.microsoft.com/office/drawing/2014/main" id="{94639D21-7F8C-4D5D-986E-BF9EFAA528FB}"/>
              </a:ext>
            </a:extLst>
          </p:cNvPr>
          <p:cNvSpPr>
            <a:spLocks noGrp="1"/>
          </p:cNvSpPr>
          <p:nvPr/>
        </p:nvSpPr>
        <p:spPr>
          <a:xfrm>
            <a:off x="530733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Inercia</a:t>
            </a:r>
          </a:p>
        </p:txBody>
      </p:sp>
      <p:sp>
        <p:nvSpPr>
          <p:cNvPr id="26" name="U06-DG-025-branch_3-body">
            <a:extLst>
              <a:ext uri="{FF2B5EF4-FFF2-40B4-BE49-F238E27FC236}">
                <a16:creationId xmlns:a16="http://schemas.microsoft.com/office/drawing/2014/main" id="{63903111-37C3-44FC-9DD7-C5B6CE0A7E4D}"/>
              </a:ext>
            </a:extLst>
          </p:cNvPr>
          <p:cNvSpPr>
            <a:spLocks noGrp="1"/>
          </p:cNvSpPr>
          <p:nvPr/>
        </p:nvSpPr>
        <p:spPr>
          <a:xfrm>
            <a:off x="530733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 fluidos</a:t>
            </a:r>
          </a:p>
        </p:txBody>
      </p:sp>
      <p:sp>
        <p:nvSpPr>
          <p:cNvPr id="27" name="U06-DG-025-branch_4-box">
            <a:extLst>
              <a:ext uri="{FF2B5EF4-FFF2-40B4-BE49-F238E27FC236}">
                <a16:creationId xmlns:a16="http://schemas.microsoft.com/office/drawing/2014/main" id="{9EC7D72B-7881-462D-A364-20B66CFF693D}"/>
              </a:ext>
            </a:extLst>
          </p:cNvPr>
          <p:cNvSpPr>
            <a:spLocks noGrp="1"/>
          </p:cNvSpPr>
          <p:nvPr/>
        </p:nvSpPr>
        <p:spPr>
          <a:xfrm>
            <a:off x="7284720" y="3619500"/>
            <a:ext cx="1958340" cy="1809750"/>
          </a:xfrm>
          <a:prstGeom prst="roundRect">
            <a:avLst>
              <a:gd name="adj" fmla="val 5263"/>
            </a:avLst>
          </a:prstGeom>
          <a:solidFill>
            <a:srgbClr val="F4E9EF"/>
          </a:solidFill>
          <a:ln w="19050">
            <a:solidFill>
              <a:srgbClr val="4D1434"/>
            </a:solidFill>
            <a:prstDash val="solid"/>
          </a:ln>
        </p:spPr>
      </p:sp>
      <p:sp>
        <p:nvSpPr>
          <p:cNvPr id="28" name="U06-DG-025-branch_4-title">
            <a:extLst>
              <a:ext uri="{FF2B5EF4-FFF2-40B4-BE49-F238E27FC236}">
                <a16:creationId xmlns:a16="http://schemas.microsoft.com/office/drawing/2014/main" id="{72EFF3A6-B9F2-4AAF-994C-BAE7080A184F}"/>
              </a:ext>
            </a:extLst>
          </p:cNvPr>
          <p:cNvSpPr>
            <a:spLocks noGrp="1"/>
          </p:cNvSpPr>
          <p:nvPr/>
        </p:nvSpPr>
        <p:spPr>
          <a:xfrm>
            <a:off x="7475220" y="3762375"/>
            <a:ext cx="157734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Cambio de forma</a:t>
            </a:r>
          </a:p>
        </p:txBody>
      </p:sp>
      <p:sp>
        <p:nvSpPr>
          <p:cNvPr id="29" name="U06-DG-025-branch_4-body">
            <a:extLst>
              <a:ext uri="{FF2B5EF4-FFF2-40B4-BE49-F238E27FC236}">
                <a16:creationId xmlns:a16="http://schemas.microsoft.com/office/drawing/2014/main" id="{36C83A8E-18DD-4BDA-BDEA-E4588C481FFA}"/>
              </a:ext>
            </a:extLst>
          </p:cNvPr>
          <p:cNvSpPr>
            <a:spLocks noGrp="1"/>
          </p:cNvSpPr>
          <p:nvPr/>
        </p:nvSpPr>
        <p:spPr>
          <a:xfrm>
            <a:off x="7475220" y="4533900"/>
            <a:ext cx="1577340" cy="800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coclear</a:t>
            </a:r>
          </a:p>
        </p:txBody>
      </p:sp>
      <p:sp>
        <p:nvSpPr>
          <p:cNvPr id="30" name="U06-DG-025-branch_5-box">
            <a:extLst>
              <a:ext uri="{FF2B5EF4-FFF2-40B4-BE49-F238E27FC236}">
                <a16:creationId xmlns:a16="http://schemas.microsoft.com/office/drawing/2014/main" id="{4FA1F291-4874-4CF1-A1E1-76E60B66C596}"/>
              </a:ext>
            </a:extLst>
          </p:cNvPr>
          <p:cNvSpPr>
            <a:spLocks noGrp="1"/>
          </p:cNvSpPr>
          <p:nvPr/>
        </p:nvSpPr>
        <p:spPr>
          <a:xfrm>
            <a:off x="9452610" y="3619500"/>
            <a:ext cx="1958340" cy="1809750"/>
          </a:xfrm>
          <a:prstGeom prst="roundRect">
            <a:avLst>
              <a:gd name="adj" fmla="val 5263"/>
            </a:avLst>
          </a:prstGeom>
          <a:solidFill>
            <a:srgbClr val="E7F1F1"/>
          </a:solidFill>
          <a:ln w="19050">
            <a:solidFill>
              <a:srgbClr val="2F7E83"/>
            </a:solidFill>
            <a:prstDash val="solid"/>
          </a:ln>
        </p:spPr>
      </p:sp>
      <p:sp>
        <p:nvSpPr>
          <p:cNvPr id="31" name="U06-DG-025-branch_5-title">
            <a:extLst>
              <a:ext uri="{FF2B5EF4-FFF2-40B4-BE49-F238E27FC236}">
                <a16:creationId xmlns:a16="http://schemas.microsoft.com/office/drawing/2014/main" id="{E184CB1E-E7B4-4295-B096-8C3C205AF6ED}"/>
              </a:ext>
            </a:extLst>
          </p:cNvPr>
          <p:cNvSpPr>
            <a:spLocks noGrp="1"/>
          </p:cNvSpPr>
          <p:nvPr/>
        </p:nvSpPr>
        <p:spPr>
          <a:xfrm>
            <a:off x="964311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Tejidos</a:t>
            </a:r>
          </a:p>
        </p:txBody>
      </p:sp>
      <p:sp>
        <p:nvSpPr>
          <p:cNvPr id="32" name="U06-DG-025-branch_5-body">
            <a:extLst>
              <a:ext uri="{FF2B5EF4-FFF2-40B4-BE49-F238E27FC236}">
                <a16:creationId xmlns:a16="http://schemas.microsoft.com/office/drawing/2014/main" id="{96CFA564-3B26-4C02-AA4B-47B4AA58666C}"/>
              </a:ext>
            </a:extLst>
          </p:cNvPr>
          <p:cNvSpPr>
            <a:spLocks noGrp="1"/>
          </p:cNvSpPr>
          <p:nvPr/>
        </p:nvSpPr>
        <p:spPr>
          <a:xfrm>
            <a:off x="964311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blandos</a:t>
            </a:r>
          </a:p>
        </p:txBody>
      </p:sp>
      <p:sp>
        <p:nvSpPr>
          <p:cNvPr id="33" name="caption">
            <a:extLst>
              <a:ext uri="{FF2B5EF4-FFF2-40B4-BE49-F238E27FC236}">
                <a16:creationId xmlns:a16="http://schemas.microsoft.com/office/drawing/2014/main" id="{754FBC0F-076E-4259-97C4-A8E5A745BBD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importancia relativa cambia con frecuencia, acoplamiento y punto de estimulac…</a:t>
            </a:r>
          </a:p>
        </p:txBody>
      </p:sp>
      <p:sp>
        <p:nvSpPr>
          <p:cNvPr id="34" name="credit">
            <a:extLst>
              <a:ext uri="{FF2B5EF4-FFF2-40B4-BE49-F238E27FC236}">
                <a16:creationId xmlns:a16="http://schemas.microsoft.com/office/drawing/2014/main" id="{2A1E905D-19E4-4526-90C8-A6CA1C4B7B4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954492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EDFAA6F5-0EFD-40D5-9213-9C2F6F05632E}"/>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pared del CAE también puede generar presión</a:t>
            </a:r>
          </a:p>
        </p:txBody>
      </p:sp>
      <p:sp>
        <p:nvSpPr>
          <p:cNvPr id="2" name="slide-subtitle">
            <a:extLst>
              <a:ext uri="{FF2B5EF4-FFF2-40B4-BE49-F238E27FC236}">
                <a16:creationId xmlns:a16="http://schemas.microsoft.com/office/drawing/2014/main" id="{2F9F6A57-C525-4F58-875D-B24D63313E8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vibración del canal puede reintroducir una contribución aérea local.</a:t>
            </a:r>
          </a:p>
        </p:txBody>
      </p:sp>
      <p:sp>
        <p:nvSpPr>
          <p:cNvPr id="3" name="eyebrow">
            <a:extLst>
              <a:ext uri="{FF2B5EF4-FFF2-40B4-BE49-F238E27FC236}">
                <a16:creationId xmlns:a16="http://schemas.microsoft.com/office/drawing/2014/main" id="{69D4C939-64E7-4FE5-AF09-3ADDB9C8EEA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044</a:t>
            </a:r>
          </a:p>
        </p:txBody>
      </p:sp>
      <p:sp>
        <p:nvSpPr>
          <p:cNvPr id="4" name="U06-DG-026-stage_1-anchor">
            <a:extLst>
              <a:ext uri="{FF2B5EF4-FFF2-40B4-BE49-F238E27FC236}">
                <a16:creationId xmlns:a16="http://schemas.microsoft.com/office/drawing/2014/main" id="{0FD8349E-06F9-40C9-BB5E-5D51023EF6DA}"/>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26-stage_2-anchor">
            <a:extLst>
              <a:ext uri="{FF2B5EF4-FFF2-40B4-BE49-F238E27FC236}">
                <a16:creationId xmlns:a16="http://schemas.microsoft.com/office/drawing/2014/main" id="{EEC96329-5863-42D3-A2F6-DFF5B76B2BEA}"/>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26-stage_3-anchor">
            <a:extLst>
              <a:ext uri="{FF2B5EF4-FFF2-40B4-BE49-F238E27FC236}">
                <a16:creationId xmlns:a16="http://schemas.microsoft.com/office/drawing/2014/main" id="{3685B6A9-0131-44D7-A990-D3D3CDA7DFD7}"/>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26-stage_4-anchor">
            <a:extLst>
              <a:ext uri="{FF2B5EF4-FFF2-40B4-BE49-F238E27FC236}">
                <a16:creationId xmlns:a16="http://schemas.microsoft.com/office/drawing/2014/main" id="{CFA2B923-843F-4205-B56C-28425C07EFA4}"/>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26-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26-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26-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26-stage_1-box" descr="Diagrama sobre «La pared del CAE también puede generar presión»; organiza pared del cae → presión interna; oclusión como modificador, sin procedimiento clínico." title="Texto alternativo U06-044">
            <a:extLst>
              <a:ext uri="{FF2B5EF4-FFF2-40B4-BE49-F238E27FC236}">
                <a16:creationId xmlns:a16="http://schemas.microsoft.com/office/drawing/2014/main" id="{317AD117-4021-42F9-B51E-F40851533C49}"/>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26-stage_1-title">
            <a:extLst>
              <a:ext uri="{FF2B5EF4-FFF2-40B4-BE49-F238E27FC236}">
                <a16:creationId xmlns:a16="http://schemas.microsoft.com/office/drawing/2014/main" id="{DC3F07A9-624A-40B9-8E97-C13AE3DC8E06}"/>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Cráneo vibra</a:t>
            </a:r>
          </a:p>
        </p:txBody>
      </p:sp>
      <p:sp>
        <p:nvSpPr>
          <p:cNvPr id="13" name="U06-DG-026-stage_1-body">
            <a:extLst>
              <a:ext uri="{FF2B5EF4-FFF2-40B4-BE49-F238E27FC236}">
                <a16:creationId xmlns:a16="http://schemas.microsoft.com/office/drawing/2014/main" id="{0B4AB74E-BA79-4254-A276-0521B3FF6E95}"/>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movimiento</a:t>
            </a:r>
          </a:p>
        </p:txBody>
      </p:sp>
      <p:sp>
        <p:nvSpPr>
          <p:cNvPr id="14" name="U06-DG-026-stage_2-box">
            <a:extLst>
              <a:ext uri="{FF2B5EF4-FFF2-40B4-BE49-F238E27FC236}">
                <a16:creationId xmlns:a16="http://schemas.microsoft.com/office/drawing/2014/main" id="{7181E665-D7CF-4A5A-B3AB-BD027FA1599E}"/>
              </a:ext>
            </a:extLst>
          </p:cNvPr>
          <p:cNvSpPr>
            <a:spLocks noGrp="1"/>
          </p:cNvSpPr>
          <p:nvPr/>
        </p:nvSpPr>
        <p:spPr>
          <a:xfrm>
            <a:off x="3514725" y="2428875"/>
            <a:ext cx="2428875" cy="1666875"/>
          </a:xfrm>
          <a:prstGeom prst="roundRect">
            <a:avLst>
              <a:gd name="adj" fmla="val 5714"/>
            </a:avLst>
          </a:prstGeom>
          <a:solidFill>
            <a:srgbClr val="F7F6F2"/>
          </a:solidFill>
          <a:ln w="19050">
            <a:solidFill>
              <a:srgbClr val="969FA7"/>
            </a:solidFill>
            <a:prstDash val="solid"/>
          </a:ln>
        </p:spPr>
      </p:sp>
      <p:sp>
        <p:nvSpPr>
          <p:cNvPr id="15" name="U06-DG-026-stage_2-title">
            <a:extLst>
              <a:ext uri="{FF2B5EF4-FFF2-40B4-BE49-F238E27FC236}">
                <a16:creationId xmlns:a16="http://schemas.microsoft.com/office/drawing/2014/main" id="{FAFEC7F6-589E-443E-8BF3-2CF2E6B0C067}"/>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Pared del CAE</a:t>
            </a:r>
          </a:p>
        </p:txBody>
      </p:sp>
      <p:sp>
        <p:nvSpPr>
          <p:cNvPr id="16" name="U06-DG-026-stage_2-body">
            <a:extLst>
              <a:ext uri="{FF2B5EF4-FFF2-40B4-BE49-F238E27FC236}">
                <a16:creationId xmlns:a16="http://schemas.microsoft.com/office/drawing/2014/main" id="{7144BA8E-017F-48DE-8A09-579697B7060F}"/>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desplaza</a:t>
            </a:r>
          </a:p>
        </p:txBody>
      </p:sp>
      <p:sp>
        <p:nvSpPr>
          <p:cNvPr id="17" name="U06-DG-026-stage_3-box">
            <a:extLst>
              <a:ext uri="{FF2B5EF4-FFF2-40B4-BE49-F238E27FC236}">
                <a16:creationId xmlns:a16="http://schemas.microsoft.com/office/drawing/2014/main" id="{8F622219-EF29-4C8F-A593-FAA9E022C6B3}"/>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8" name="U06-DG-026-stage_3-title">
            <a:extLst>
              <a:ext uri="{FF2B5EF4-FFF2-40B4-BE49-F238E27FC236}">
                <a16:creationId xmlns:a16="http://schemas.microsoft.com/office/drawing/2014/main" id="{D959A7BD-A800-4E10-8E31-7A813D8AF011}"/>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Aire del CAE</a:t>
            </a:r>
          </a:p>
        </p:txBody>
      </p:sp>
      <p:sp>
        <p:nvSpPr>
          <p:cNvPr id="19" name="U06-DG-026-stage_3-body">
            <a:extLst>
              <a:ext uri="{FF2B5EF4-FFF2-40B4-BE49-F238E27FC236}">
                <a16:creationId xmlns:a16="http://schemas.microsoft.com/office/drawing/2014/main" id="{ACBDC36D-FBDE-4EB4-B823-4B1378F2C72E}"/>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 radiada</a:t>
            </a:r>
          </a:p>
        </p:txBody>
      </p:sp>
      <p:sp>
        <p:nvSpPr>
          <p:cNvPr id="20" name="U06-DG-026-stage_4-box">
            <a:extLst>
              <a:ext uri="{FF2B5EF4-FFF2-40B4-BE49-F238E27FC236}">
                <a16:creationId xmlns:a16="http://schemas.microsoft.com/office/drawing/2014/main" id="{0800E903-2A39-4C02-A94C-24BDFE7FE79F}"/>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26-stage_4-title">
            <a:extLst>
              <a:ext uri="{FF2B5EF4-FFF2-40B4-BE49-F238E27FC236}">
                <a16:creationId xmlns:a16="http://schemas.microsoft.com/office/drawing/2014/main" id="{D56747DA-2A0E-411D-B904-92610911BEF9}"/>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Tímpano</a:t>
            </a:r>
          </a:p>
        </p:txBody>
      </p:sp>
      <p:sp>
        <p:nvSpPr>
          <p:cNvPr id="22" name="U06-DG-026-stage_4-body">
            <a:extLst>
              <a:ext uri="{FF2B5EF4-FFF2-40B4-BE49-F238E27FC236}">
                <a16:creationId xmlns:a16="http://schemas.microsoft.com/office/drawing/2014/main" id="{545A6D28-864A-421D-ABFB-F137C10E6216}"/>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recibe esa presión</a:t>
            </a:r>
          </a:p>
        </p:txBody>
      </p:sp>
      <p:sp>
        <p:nvSpPr>
          <p:cNvPr id="23" name="caption">
            <a:extLst>
              <a:ext uri="{FF2B5EF4-FFF2-40B4-BE49-F238E27FC236}">
                <a16:creationId xmlns:a16="http://schemas.microsoft.com/office/drawing/2014/main" id="{1F6FDEEA-B24F-4008-9440-FE4E5863ED5D}"/>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vibración del canal puede reintroducir una contribución aérea local.</a:t>
            </a:r>
          </a:p>
        </p:txBody>
      </p:sp>
      <p:sp>
        <p:nvSpPr>
          <p:cNvPr id="24" name="credit">
            <a:extLst>
              <a:ext uri="{FF2B5EF4-FFF2-40B4-BE49-F238E27FC236}">
                <a16:creationId xmlns:a16="http://schemas.microsoft.com/office/drawing/2014/main" id="{EE0BBBF1-0710-4F60-9EB3-1E7004A12A56}"/>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26975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1F5A3404-2C1C-4C49-B49F-7E8A05D45214}"/>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Huesecillos y fluidos responden por inercia relativa</a:t>
            </a:r>
          </a:p>
        </p:txBody>
      </p:sp>
      <p:sp>
        <p:nvSpPr>
          <p:cNvPr id="2" name="slide-subtitle">
            <a:extLst>
              <a:ext uri="{FF2B5EF4-FFF2-40B4-BE49-F238E27FC236}">
                <a16:creationId xmlns:a16="http://schemas.microsoft.com/office/drawing/2014/main" id="{B77CC266-5E0D-44DD-A247-A0FC912B475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Lo relevante es movimiento relativo respecto de la cavidad o cápsula.</a:t>
            </a:r>
          </a:p>
        </p:txBody>
      </p:sp>
      <p:sp>
        <p:nvSpPr>
          <p:cNvPr id="3" name="eyebrow">
            <a:extLst>
              <a:ext uri="{FF2B5EF4-FFF2-40B4-BE49-F238E27FC236}">
                <a16:creationId xmlns:a16="http://schemas.microsoft.com/office/drawing/2014/main" id="{7423AFAE-56A7-499D-A7C6-002F644AAFAB}"/>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045</a:t>
            </a:r>
          </a:p>
        </p:txBody>
      </p:sp>
      <p:sp>
        <p:nvSpPr>
          <p:cNvPr id="4" name="U06-DG-027-panel_left-anchor">
            <a:extLst>
              <a:ext uri="{FF2B5EF4-FFF2-40B4-BE49-F238E27FC236}">
                <a16:creationId xmlns:a16="http://schemas.microsoft.com/office/drawing/2014/main" id="{479F043E-281F-4E15-B936-D5468B31EBB1}"/>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5" name="U06-DG-027-panel_right-anchor">
            <a:extLst>
              <a:ext uri="{FF2B5EF4-FFF2-40B4-BE49-F238E27FC236}">
                <a16:creationId xmlns:a16="http://schemas.microsoft.com/office/drawing/2014/main" id="{007D288E-4866-48C8-AF97-7B62863EDBDB}"/>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6" name="U06-DG-027-panel_left-box" descr="Diagrama sobre «Huesecillos y fluidos responden por inercia relativa»; organiza inercia osicular / inercia de fluidos con entrada, estructura y efecto." title="Texto alternativo U06-045">
            <a:extLst>
              <a:ext uri="{FF2B5EF4-FFF2-40B4-BE49-F238E27FC236}">
                <a16:creationId xmlns:a16="http://schemas.microsoft.com/office/drawing/2014/main" id="{A7FE8C3A-A2C6-4CF0-B270-F3844FA585EA}"/>
              </a:ext>
            </a:extLst>
          </p:cNvPr>
          <p:cNvSpPr>
            <a:spLocks noGrp="1"/>
          </p:cNvSpPr>
          <p:nvPr/>
        </p:nvSpPr>
        <p:spPr>
          <a:xfrm>
            <a:off x="876300" y="1714500"/>
            <a:ext cx="4953000" cy="3333750"/>
          </a:xfrm>
          <a:prstGeom prst="roundRect">
            <a:avLst>
              <a:gd name="adj" fmla="val 2857"/>
            </a:avLst>
          </a:prstGeom>
          <a:solidFill>
            <a:srgbClr val="F4E9EF"/>
          </a:solidFill>
          <a:ln w="19050">
            <a:solidFill>
              <a:srgbClr val="4D1434"/>
            </a:solidFill>
            <a:prstDash val="solid"/>
          </a:ln>
        </p:spPr>
      </p:sp>
      <p:sp>
        <p:nvSpPr>
          <p:cNvPr id="7" name="U06-DG-027-panel_left-title">
            <a:extLst>
              <a:ext uri="{FF2B5EF4-FFF2-40B4-BE49-F238E27FC236}">
                <a16:creationId xmlns:a16="http://schemas.microsoft.com/office/drawing/2014/main" id="{795ADBC3-0EC1-42BD-8A7E-D00F666FB4EF}"/>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Cadena osicular</a:t>
            </a:r>
          </a:p>
        </p:txBody>
      </p:sp>
      <p:sp>
        <p:nvSpPr>
          <p:cNvPr id="8" name="U06-DG-027-panel_left-body">
            <a:extLst>
              <a:ext uri="{FF2B5EF4-FFF2-40B4-BE49-F238E27FC236}">
                <a16:creationId xmlns:a16="http://schemas.microsoft.com/office/drawing/2014/main" id="{C3123A27-B556-4D02-A221-8AB8E89CFE6F}"/>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retrasa respecto del cráneo movimiento relativo</a:t>
            </a:r>
          </a:p>
        </p:txBody>
      </p:sp>
      <p:sp>
        <p:nvSpPr>
          <p:cNvPr id="9" name="U06-DG-027-panel_right-box">
            <a:extLst>
              <a:ext uri="{FF2B5EF4-FFF2-40B4-BE49-F238E27FC236}">
                <a16:creationId xmlns:a16="http://schemas.microsoft.com/office/drawing/2014/main" id="{C89E393E-27ED-4782-A01B-6641D13CFA3D}"/>
              </a:ext>
            </a:extLst>
          </p:cNvPr>
          <p:cNvSpPr>
            <a:spLocks noGrp="1"/>
          </p:cNvSpPr>
          <p:nvPr/>
        </p:nvSpPr>
        <p:spPr>
          <a:xfrm>
            <a:off x="6362700" y="1714500"/>
            <a:ext cx="4953000" cy="3333750"/>
          </a:xfrm>
          <a:prstGeom prst="roundRect">
            <a:avLst>
              <a:gd name="adj" fmla="val 2857"/>
            </a:avLst>
          </a:prstGeom>
          <a:solidFill>
            <a:srgbClr val="E7F1F1"/>
          </a:solidFill>
          <a:ln w="19050">
            <a:solidFill>
              <a:srgbClr val="2F7E83"/>
            </a:solidFill>
            <a:prstDash val="solid"/>
          </a:ln>
        </p:spPr>
      </p:sp>
      <p:sp>
        <p:nvSpPr>
          <p:cNvPr id="10" name="U06-DG-027-panel_right-title">
            <a:extLst>
              <a:ext uri="{FF2B5EF4-FFF2-40B4-BE49-F238E27FC236}">
                <a16:creationId xmlns:a16="http://schemas.microsoft.com/office/drawing/2014/main" id="{CD7E9CEE-3C60-47C7-95E0-B194551567C4}"/>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Fluidos cocleares</a:t>
            </a:r>
          </a:p>
        </p:txBody>
      </p:sp>
      <p:sp>
        <p:nvSpPr>
          <p:cNvPr id="11" name="U06-DG-027-panel_right-body">
            <a:extLst>
              <a:ext uri="{FF2B5EF4-FFF2-40B4-BE49-F238E27FC236}">
                <a16:creationId xmlns:a16="http://schemas.microsoft.com/office/drawing/2014/main" id="{68797890-0FAE-494C-A4AE-B861EBFAD9F8}"/>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retrasan respecto de la cápsula diferencia de presión</a:t>
            </a:r>
          </a:p>
        </p:txBody>
      </p:sp>
      <p:sp>
        <p:nvSpPr>
          <p:cNvPr id="12" name="caption">
            <a:extLst>
              <a:ext uri="{FF2B5EF4-FFF2-40B4-BE49-F238E27FC236}">
                <a16:creationId xmlns:a16="http://schemas.microsoft.com/office/drawing/2014/main" id="{8A7F1266-0013-4D22-85C8-6DCC5D0DC342}"/>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Lo relevante es movimiento relativo respecto de la cavidad o cápsula.</a:t>
            </a:r>
          </a:p>
        </p:txBody>
      </p:sp>
      <p:sp>
        <p:nvSpPr>
          <p:cNvPr id="13" name="credit">
            <a:extLst>
              <a:ext uri="{FF2B5EF4-FFF2-40B4-BE49-F238E27FC236}">
                <a16:creationId xmlns:a16="http://schemas.microsoft.com/office/drawing/2014/main" id="{7F5899AC-4DD5-4F50-91D5-466B2F90477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A7914450-CB79-4176-95BC-235D65684FD5}"/>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La cápsula y los tejidos aportan otras diferencias de presión</a:t>
            </a:r>
          </a:p>
        </p:txBody>
      </p:sp>
      <p:sp>
        <p:nvSpPr>
          <p:cNvPr id="2" name="eyebrow">
            <a:extLst>
              <a:ext uri="{FF2B5EF4-FFF2-40B4-BE49-F238E27FC236}">
                <a16:creationId xmlns:a16="http://schemas.microsoft.com/office/drawing/2014/main" id="{8E812F75-C701-4083-9A43-EECA551B0698}"/>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046</a:t>
            </a:r>
          </a:p>
        </p:txBody>
      </p:sp>
      <p:sp>
        <p:nvSpPr>
          <p:cNvPr id="3" name="U06-DG-028-panel_left-anchor">
            <a:extLst>
              <a:ext uri="{FF2B5EF4-FFF2-40B4-BE49-F238E27FC236}">
                <a16:creationId xmlns:a16="http://schemas.microsoft.com/office/drawing/2014/main" id="{7E4CE646-641B-458D-B99D-50B4BD5BA6B9}"/>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4" name="U06-DG-028-panel_right-anchor">
            <a:extLst>
              <a:ext uri="{FF2B5EF4-FFF2-40B4-BE49-F238E27FC236}">
                <a16:creationId xmlns:a16="http://schemas.microsoft.com/office/drawing/2014/main" id="{97B632F4-5690-44C2-9A26-4430149E40DE}"/>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5" name="U06-DG-028-panel_left-box" descr="Diagrama sobre «La cápsula y los tejidos aportan otras diferencias de presión»; organiza dos mecanismos restantes y advertencia de dependencia contextual." title="Texto alternativo U06-046">
            <a:extLst>
              <a:ext uri="{FF2B5EF4-FFF2-40B4-BE49-F238E27FC236}">
                <a16:creationId xmlns:a16="http://schemas.microsoft.com/office/drawing/2014/main" id="{2100541F-9DD2-423B-9773-08705FE2E23D}"/>
              </a:ext>
            </a:extLst>
          </p:cNvPr>
          <p:cNvSpPr>
            <a:spLocks noGrp="1"/>
          </p:cNvSpPr>
          <p:nvPr/>
        </p:nvSpPr>
        <p:spPr>
          <a:xfrm>
            <a:off x="876300" y="1714500"/>
            <a:ext cx="4953000" cy="3333750"/>
          </a:xfrm>
          <a:prstGeom prst="roundRect">
            <a:avLst>
              <a:gd name="adj" fmla="val 2857"/>
            </a:avLst>
          </a:prstGeom>
          <a:solidFill>
            <a:srgbClr val="F4E9EF"/>
          </a:solidFill>
          <a:ln w="19050">
            <a:solidFill>
              <a:srgbClr val="4D1434"/>
            </a:solidFill>
            <a:prstDash val="solid"/>
          </a:ln>
        </p:spPr>
      </p:sp>
      <p:sp>
        <p:nvSpPr>
          <p:cNvPr id="6" name="U06-DG-028-panel_left-title">
            <a:extLst>
              <a:ext uri="{FF2B5EF4-FFF2-40B4-BE49-F238E27FC236}">
                <a16:creationId xmlns:a16="http://schemas.microsoft.com/office/drawing/2014/main" id="{0DEF9CEB-C255-4FD5-86FE-241DAADD3491}"/>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Cápsula coclear</a:t>
            </a:r>
          </a:p>
        </p:txBody>
      </p:sp>
      <p:sp>
        <p:nvSpPr>
          <p:cNvPr id="7" name="U06-DG-028-panel_left-body">
            <a:extLst>
              <a:ext uri="{FF2B5EF4-FFF2-40B4-BE49-F238E27FC236}">
                <a16:creationId xmlns:a16="http://schemas.microsoft.com/office/drawing/2014/main" id="{D4C1C881-C364-47BC-A901-8FFC65D3CA14}"/>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deformación presiones diferenciales</a:t>
            </a:r>
          </a:p>
        </p:txBody>
      </p:sp>
      <p:sp>
        <p:nvSpPr>
          <p:cNvPr id="8" name="U06-DG-028-panel_right-box">
            <a:extLst>
              <a:ext uri="{FF2B5EF4-FFF2-40B4-BE49-F238E27FC236}">
                <a16:creationId xmlns:a16="http://schemas.microsoft.com/office/drawing/2014/main" id="{3BFA59C0-7681-414E-B0B5-63B526488BEF}"/>
              </a:ext>
            </a:extLst>
          </p:cNvPr>
          <p:cNvSpPr>
            <a:spLocks noGrp="1"/>
          </p:cNvSpPr>
          <p:nvPr/>
        </p:nvSpPr>
        <p:spPr>
          <a:xfrm>
            <a:off x="6362700" y="1714500"/>
            <a:ext cx="4953000" cy="3333750"/>
          </a:xfrm>
          <a:prstGeom prst="roundRect">
            <a:avLst>
              <a:gd name="adj" fmla="val 2857"/>
            </a:avLst>
          </a:prstGeom>
          <a:solidFill>
            <a:srgbClr val="E7F1F1"/>
          </a:solidFill>
          <a:ln w="19050">
            <a:solidFill>
              <a:srgbClr val="2F7E83"/>
            </a:solidFill>
            <a:prstDash val="solid"/>
          </a:ln>
        </p:spPr>
      </p:sp>
      <p:sp>
        <p:nvSpPr>
          <p:cNvPr id="9" name="U06-DG-028-panel_right-title">
            <a:extLst>
              <a:ext uri="{FF2B5EF4-FFF2-40B4-BE49-F238E27FC236}">
                <a16:creationId xmlns:a16="http://schemas.microsoft.com/office/drawing/2014/main" id="{E18DA3CD-F7E3-4216-AE0A-B5EDD8D93466}"/>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Tejidos blandos</a:t>
            </a:r>
          </a:p>
        </p:txBody>
      </p:sp>
      <p:sp>
        <p:nvSpPr>
          <p:cNvPr id="10" name="U06-DG-028-panel_right-body">
            <a:extLst>
              <a:ext uri="{FF2B5EF4-FFF2-40B4-BE49-F238E27FC236}">
                <a16:creationId xmlns:a16="http://schemas.microsoft.com/office/drawing/2014/main" id="{219BD9C9-D187-4CCE-8DC7-6AD2019DCEA2}"/>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transmiten vibración ruta complementaria</a:t>
            </a:r>
          </a:p>
        </p:txBody>
      </p:sp>
      <p:sp>
        <p:nvSpPr>
          <p:cNvPr id="11" name="caption">
            <a:extLst>
              <a:ext uri="{FF2B5EF4-FFF2-40B4-BE49-F238E27FC236}">
                <a16:creationId xmlns:a16="http://schemas.microsoft.com/office/drawing/2014/main" id="{7845FDE7-38DE-434B-93BF-874A0C12A6D5}"/>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Deformación y transmisión por cavidades pueden contribuir al resultado coclear.</a:t>
            </a:r>
          </a:p>
        </p:txBody>
      </p:sp>
      <p:sp>
        <p:nvSpPr>
          <p:cNvPr id="12" name="credit">
            <a:extLst>
              <a:ext uri="{FF2B5EF4-FFF2-40B4-BE49-F238E27FC236}">
                <a16:creationId xmlns:a16="http://schemas.microsoft.com/office/drawing/2014/main" id="{44552D42-22BD-4682-872C-D354475DF116}"/>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26975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51C4B23D-E0E3-472E-8910-0C2CD8D144AA}"/>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 vibrador óseo activa más de un mecanismo</a:t>
            </a:r>
          </a:p>
        </p:txBody>
      </p:sp>
      <p:sp>
        <p:nvSpPr>
          <p:cNvPr id="2" name="slide-subtitle">
            <a:extLst>
              <a:ext uri="{FF2B5EF4-FFF2-40B4-BE49-F238E27FC236}">
                <a16:creationId xmlns:a16="http://schemas.microsoft.com/office/drawing/2014/main" id="{BDB5F6B0-EA46-4D1B-9385-DED000EF5C60}"/>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Acoplamiento, ubicación y frecuencia cambian las contribuciones.</a:t>
            </a:r>
          </a:p>
        </p:txBody>
      </p:sp>
      <p:sp>
        <p:nvSpPr>
          <p:cNvPr id="3" name="eyebrow">
            <a:extLst>
              <a:ext uri="{FF2B5EF4-FFF2-40B4-BE49-F238E27FC236}">
                <a16:creationId xmlns:a16="http://schemas.microsoft.com/office/drawing/2014/main" id="{5EFBF6C8-7578-4AA5-B6B9-9803AE5CC986}"/>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047</a:t>
            </a:r>
          </a:p>
        </p:txBody>
      </p:sp>
      <p:sp>
        <p:nvSpPr>
          <p:cNvPr id="4" name="main-ideas">
            <a:extLst>
              <a:ext uri="{FF2B5EF4-FFF2-40B4-BE49-F238E27FC236}">
                <a16:creationId xmlns:a16="http://schemas.microsoft.com/office/drawing/2014/main" id="{32D79350-1AD8-4936-9149-53FC511A2D27}"/>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Acoplamiento, ubicación y frecuencia cambian las contribuciones.</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Transductor, punto de apoyo y rutas físicas posibles..</a:t>
            </a:r>
          </a:p>
        </p:txBody>
      </p:sp>
      <p:sp>
        <p:nvSpPr>
          <p:cNvPr id="5" name="side-panel-box">
            <a:extLst>
              <a:ext uri="{FF2B5EF4-FFF2-40B4-BE49-F238E27FC236}">
                <a16:creationId xmlns:a16="http://schemas.microsoft.com/office/drawing/2014/main" id="{CBEBD170-9EAE-4057-B7B9-34735019FD20}"/>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7D76F832-F434-49B9-A314-6E0FBC3A09E2}"/>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7" name="side-panel-body">
            <a:extLst>
              <a:ext uri="{FF2B5EF4-FFF2-40B4-BE49-F238E27FC236}">
                <a16:creationId xmlns:a16="http://schemas.microsoft.com/office/drawing/2014/main" id="{92A0DC72-DAD8-4DA7-A4D4-06870F89E57A}"/>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Un vibrador apoyado en el cráneo puede activar simultáneamente radiación al CAE, inercias y deformación.</a:t>
            </a:r>
          </a:p>
        </p:txBody>
      </p:sp>
      <p:sp>
        <p:nvSpPr>
          <p:cNvPr id="8" name="caption">
            <a:extLst>
              <a:ext uri="{FF2B5EF4-FFF2-40B4-BE49-F238E27FC236}">
                <a16:creationId xmlns:a16="http://schemas.microsoft.com/office/drawing/2014/main" id="{2F99DDE5-E3AF-4C94-8560-A96FC4B3AA1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Acoplamiento, ubicación y frecuencia cambian las contribuciones.</a:t>
            </a:r>
          </a:p>
        </p:txBody>
      </p:sp>
      <p:sp>
        <p:nvSpPr>
          <p:cNvPr id="9" name="credit">
            <a:extLst>
              <a:ext uri="{FF2B5EF4-FFF2-40B4-BE49-F238E27FC236}">
                <a16:creationId xmlns:a16="http://schemas.microsoft.com/office/drawing/2014/main" id="{B3ED71DA-E558-4873-9BF9-D982F68D335E}"/>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6.6 y aplicación A3; CM U6→U8; OD-U06-17/19.</a:t>
            </a:r>
          </a:p>
        </p:txBody>
      </p:sp>
    </p:spTree>
    <p:extLst>
      <p:ext uri="{BB962C8B-B14F-4D97-AF65-F5344CB8AC3E}">
        <p14:creationId xmlns:p14="http://schemas.microsoft.com/office/powerpoint/2010/main" val="817057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slide-title">
            <a:extLst>
              <a:ext uri="{FF2B5EF4-FFF2-40B4-BE49-F238E27FC236}">
                <a16:creationId xmlns:a16="http://schemas.microsoft.com/office/drawing/2014/main" id="{6A5336F8-E6B9-4BE8-82C6-6DE3AFB50F4E}"/>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Hasta acá: varias entradas, una partición coclear</a:t>
            </a:r>
          </a:p>
        </p:txBody>
      </p:sp>
      <p:sp>
        <p:nvSpPr>
          <p:cNvPr id="2" name="slide-subtitle">
            <a:extLst>
              <a:ext uri="{FF2B5EF4-FFF2-40B4-BE49-F238E27FC236}">
                <a16:creationId xmlns:a16="http://schemas.microsoft.com/office/drawing/2014/main" id="{C8576641-698B-4924-8C18-32B8A22DCDE2}"/>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“Vía ósea” nombra el estímulo, no una sola ruta interna.</a:t>
            </a:r>
          </a:p>
        </p:txBody>
      </p:sp>
      <p:sp>
        <p:nvSpPr>
          <p:cNvPr id="3" name="eyebrow">
            <a:extLst>
              <a:ext uri="{FF2B5EF4-FFF2-40B4-BE49-F238E27FC236}">
                <a16:creationId xmlns:a16="http://schemas.microsoft.com/office/drawing/2014/main" id="{AF0A0C45-2630-4038-AEBF-4F83C525C3A5}"/>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048</a:t>
            </a:r>
          </a:p>
        </p:txBody>
      </p:sp>
      <p:sp>
        <p:nvSpPr>
          <p:cNvPr id="4" name="U06-DG-024-target-anchor">
            <a:extLst>
              <a:ext uri="{FF2B5EF4-FFF2-40B4-BE49-F238E27FC236}">
                <a16:creationId xmlns:a16="http://schemas.microsoft.com/office/drawing/2014/main" id="{985BE5C5-79E5-4F65-85CA-594EE1DD15FA}"/>
              </a:ext>
            </a:extLst>
          </p:cNvPr>
          <p:cNvSpPr>
            <a:spLocks noGrp="1"/>
          </p:cNvSpPr>
          <p:nvPr/>
        </p:nvSpPr>
        <p:spPr>
          <a:xfrm>
            <a:off x="9477375" y="2667000"/>
            <a:ext cx="1952625" cy="1524000"/>
          </a:xfrm>
          <a:prstGeom prst="roundRect">
            <a:avLst>
              <a:gd name="adj" fmla="val 6250"/>
            </a:avLst>
          </a:prstGeom>
          <a:noFill/>
          <a:ln w="0">
            <a:noFill/>
            <a:prstDash val="solid"/>
          </a:ln>
        </p:spPr>
      </p:sp>
      <p:sp>
        <p:nvSpPr>
          <p:cNvPr id="5" name="U06-DG-024-air_1-anchor">
            <a:extLst>
              <a:ext uri="{FF2B5EF4-FFF2-40B4-BE49-F238E27FC236}">
                <a16:creationId xmlns:a16="http://schemas.microsoft.com/office/drawing/2014/main" id="{3C00B781-19EC-4182-87BA-C59ED56DF1B7}"/>
              </a:ext>
            </a:extLst>
          </p:cNvPr>
          <p:cNvSpPr>
            <a:spLocks noGrp="1"/>
          </p:cNvSpPr>
          <p:nvPr/>
        </p:nvSpPr>
        <p:spPr>
          <a:xfrm>
            <a:off x="781050" y="1428750"/>
            <a:ext cx="1881188" cy="1428750"/>
          </a:xfrm>
          <a:prstGeom prst="roundRect">
            <a:avLst>
              <a:gd name="adj" fmla="val 6667"/>
            </a:avLst>
          </a:prstGeom>
          <a:noFill/>
          <a:ln w="0">
            <a:noFill/>
            <a:prstDash val="solid"/>
          </a:ln>
        </p:spPr>
      </p:sp>
      <p:sp>
        <p:nvSpPr>
          <p:cNvPr id="6" name="U06-DG-024-air_2-anchor">
            <a:extLst>
              <a:ext uri="{FF2B5EF4-FFF2-40B4-BE49-F238E27FC236}">
                <a16:creationId xmlns:a16="http://schemas.microsoft.com/office/drawing/2014/main" id="{37B4D598-56F0-46AC-B778-2803C82C5FC7}"/>
              </a:ext>
            </a:extLst>
          </p:cNvPr>
          <p:cNvSpPr>
            <a:spLocks noGrp="1"/>
          </p:cNvSpPr>
          <p:nvPr/>
        </p:nvSpPr>
        <p:spPr>
          <a:xfrm>
            <a:off x="2852738" y="1428750"/>
            <a:ext cx="1881188" cy="1428750"/>
          </a:xfrm>
          <a:prstGeom prst="roundRect">
            <a:avLst>
              <a:gd name="adj" fmla="val 6667"/>
            </a:avLst>
          </a:prstGeom>
          <a:noFill/>
          <a:ln w="0">
            <a:noFill/>
            <a:prstDash val="solid"/>
          </a:ln>
        </p:spPr>
      </p:sp>
      <p:sp>
        <p:nvSpPr>
          <p:cNvPr id="7" name="U06-DG-024-air_3-anchor">
            <a:extLst>
              <a:ext uri="{FF2B5EF4-FFF2-40B4-BE49-F238E27FC236}">
                <a16:creationId xmlns:a16="http://schemas.microsoft.com/office/drawing/2014/main" id="{3DD0FB46-4E73-489C-B5EF-7806F6C6AF61}"/>
              </a:ext>
            </a:extLst>
          </p:cNvPr>
          <p:cNvSpPr>
            <a:spLocks noGrp="1"/>
          </p:cNvSpPr>
          <p:nvPr/>
        </p:nvSpPr>
        <p:spPr>
          <a:xfrm>
            <a:off x="4924425" y="1428750"/>
            <a:ext cx="1881188" cy="1428750"/>
          </a:xfrm>
          <a:prstGeom prst="roundRect">
            <a:avLst>
              <a:gd name="adj" fmla="val 6667"/>
            </a:avLst>
          </a:prstGeom>
          <a:noFill/>
          <a:ln w="0">
            <a:noFill/>
            <a:prstDash val="solid"/>
          </a:ln>
        </p:spPr>
      </p:sp>
      <p:sp>
        <p:nvSpPr>
          <p:cNvPr id="8" name="U06-DG-024-air_4-anchor">
            <a:extLst>
              <a:ext uri="{FF2B5EF4-FFF2-40B4-BE49-F238E27FC236}">
                <a16:creationId xmlns:a16="http://schemas.microsoft.com/office/drawing/2014/main" id="{FB8D6983-C292-44EC-B4DB-A7C77F15D660}"/>
              </a:ext>
            </a:extLst>
          </p:cNvPr>
          <p:cNvSpPr>
            <a:spLocks noGrp="1"/>
          </p:cNvSpPr>
          <p:nvPr/>
        </p:nvSpPr>
        <p:spPr>
          <a:xfrm>
            <a:off x="6996113" y="1428750"/>
            <a:ext cx="1881188" cy="1428750"/>
          </a:xfrm>
          <a:prstGeom prst="roundRect">
            <a:avLst>
              <a:gd name="adj" fmla="val 6667"/>
            </a:avLst>
          </a:prstGeom>
          <a:noFill/>
          <a:ln w="0">
            <a:noFill/>
            <a:prstDash val="solid"/>
          </a:ln>
        </p:spPr>
      </p:sp>
      <p:sp>
        <p:nvSpPr>
          <p:cNvPr id="9" name="U06-DG-024-bone_1-anchor">
            <a:extLst>
              <a:ext uri="{FF2B5EF4-FFF2-40B4-BE49-F238E27FC236}">
                <a16:creationId xmlns:a16="http://schemas.microsoft.com/office/drawing/2014/main" id="{3E6CBB2E-0D1F-4353-9EE9-64FE354104DF}"/>
              </a:ext>
            </a:extLst>
          </p:cNvPr>
          <p:cNvSpPr>
            <a:spLocks noGrp="1"/>
          </p:cNvSpPr>
          <p:nvPr/>
        </p:nvSpPr>
        <p:spPr>
          <a:xfrm>
            <a:off x="781050" y="4143375"/>
            <a:ext cx="2571750" cy="1428750"/>
          </a:xfrm>
          <a:prstGeom prst="roundRect">
            <a:avLst>
              <a:gd name="adj" fmla="val 6667"/>
            </a:avLst>
          </a:prstGeom>
          <a:noFill/>
          <a:ln w="0">
            <a:noFill/>
            <a:prstDash val="solid"/>
          </a:ln>
        </p:spPr>
      </p:sp>
      <p:sp>
        <p:nvSpPr>
          <p:cNvPr id="10" name="U06-DG-024-bone_2-anchor">
            <a:extLst>
              <a:ext uri="{FF2B5EF4-FFF2-40B4-BE49-F238E27FC236}">
                <a16:creationId xmlns:a16="http://schemas.microsoft.com/office/drawing/2014/main" id="{41A4E3E4-5B34-451B-AFCD-7F079F87453F}"/>
              </a:ext>
            </a:extLst>
          </p:cNvPr>
          <p:cNvSpPr>
            <a:spLocks noGrp="1"/>
          </p:cNvSpPr>
          <p:nvPr/>
        </p:nvSpPr>
        <p:spPr>
          <a:xfrm>
            <a:off x="3543300" y="4143375"/>
            <a:ext cx="2571750" cy="1428750"/>
          </a:xfrm>
          <a:prstGeom prst="roundRect">
            <a:avLst>
              <a:gd name="adj" fmla="val 6667"/>
            </a:avLst>
          </a:prstGeom>
          <a:noFill/>
          <a:ln w="0">
            <a:noFill/>
            <a:prstDash val="solid"/>
          </a:ln>
        </p:spPr>
      </p:sp>
      <p:sp>
        <p:nvSpPr>
          <p:cNvPr id="11" name="U06-DG-024-bone_3-anchor">
            <a:extLst>
              <a:ext uri="{FF2B5EF4-FFF2-40B4-BE49-F238E27FC236}">
                <a16:creationId xmlns:a16="http://schemas.microsoft.com/office/drawing/2014/main" id="{55777DAF-6DB5-4BC6-9B66-EFE3274F6F94}"/>
              </a:ext>
            </a:extLst>
          </p:cNvPr>
          <p:cNvSpPr>
            <a:spLocks noGrp="1"/>
          </p:cNvSpPr>
          <p:nvPr/>
        </p:nvSpPr>
        <p:spPr>
          <a:xfrm>
            <a:off x="6305550" y="4143375"/>
            <a:ext cx="2571750" cy="1428750"/>
          </a:xfrm>
          <a:prstGeom prst="roundRect">
            <a:avLst>
              <a:gd name="adj" fmla="val 6667"/>
            </a:avLst>
          </a:prstGeom>
          <a:noFill/>
          <a:ln w="0">
            <a:noFill/>
            <a:prstDash val="solid"/>
          </a:ln>
        </p:spPr>
      </p:sp>
      <p:cxnSp>
        <p:nvCxnSpPr>
          <p:cNvPr id="56" name="U06-DG-024-air_edge_1"/>
          <p:cNvCxnSpPr>
            <a:stCxn id="5" idx="3"/>
            <a:endCxn id="6" idx="1"/>
          </p:cNvCxnSpPr>
          <p:nvPr/>
        </p:nvCxnSpPr>
        <p:spPr>
          <a:xfrm>
            <a:off x="2662238" y="2143125"/>
            <a:ext cx="190500" cy="0"/>
          </a:xfrm>
          <a:prstGeom prst="straightConnector1">
            <a:avLst/>
          </a:prstGeom>
          <a:ln w="28575">
            <a:solidFill>
              <a:srgbClr val="3D3D3D"/>
            </a:solidFill>
            <a:prstDash val="solid"/>
            <a:tailEnd type="arrow" w="med" len="med"/>
          </a:ln>
        </p:spPr>
      </p:cxnSp>
      <p:cxnSp>
        <p:nvCxnSpPr>
          <p:cNvPr id="57" name="U06-DG-024-air_edge_2"/>
          <p:cNvCxnSpPr>
            <a:stCxn id="6" idx="3"/>
            <a:endCxn id="7" idx="1"/>
          </p:cNvCxnSpPr>
          <p:nvPr/>
        </p:nvCxnSpPr>
        <p:spPr>
          <a:xfrm>
            <a:off x="4733926" y="2143125"/>
            <a:ext cx="190499" cy="0"/>
          </a:xfrm>
          <a:prstGeom prst="straightConnector1">
            <a:avLst/>
          </a:prstGeom>
          <a:ln w="28575">
            <a:solidFill>
              <a:srgbClr val="3D3D3D"/>
            </a:solidFill>
            <a:prstDash val="solid"/>
            <a:tailEnd type="arrow" w="med" len="med"/>
          </a:ln>
        </p:spPr>
      </p:cxnSp>
      <p:cxnSp>
        <p:nvCxnSpPr>
          <p:cNvPr id="58" name="U06-DG-024-air_edge_3"/>
          <p:cNvCxnSpPr>
            <a:stCxn id="7" idx="3"/>
            <a:endCxn id="8" idx="1"/>
          </p:cNvCxnSpPr>
          <p:nvPr/>
        </p:nvCxnSpPr>
        <p:spPr>
          <a:xfrm>
            <a:off x="6805613" y="2143125"/>
            <a:ext cx="190500" cy="0"/>
          </a:xfrm>
          <a:prstGeom prst="straightConnector1">
            <a:avLst/>
          </a:prstGeom>
          <a:ln w="28575">
            <a:solidFill>
              <a:srgbClr val="3D3D3D"/>
            </a:solidFill>
            <a:prstDash val="solid"/>
            <a:tailEnd type="arrow" w="med" len="med"/>
          </a:ln>
        </p:spPr>
      </p:cxnSp>
      <p:cxnSp>
        <p:nvCxnSpPr>
          <p:cNvPr id="59" name="U06-DG-024-air_target"/>
          <p:cNvCxnSpPr>
            <a:stCxn id="8" idx="3"/>
            <a:endCxn id="4" idx="1"/>
          </p:cNvCxnSpPr>
          <p:nvPr/>
        </p:nvCxnSpPr>
        <p:spPr>
          <a:xfrm>
            <a:off x="8877301" y="2143125"/>
            <a:ext cx="600074" cy="1285875"/>
          </a:xfrm>
          <a:prstGeom prst="bentConnector3">
            <a:avLst>
              <a:gd name="adj1" fmla="val 50000"/>
            </a:avLst>
          </a:prstGeom>
          <a:ln w="28575">
            <a:solidFill>
              <a:srgbClr val="3D3D3D"/>
            </a:solidFill>
            <a:prstDash val="solid"/>
            <a:tailEnd type="arrow" w="med" len="med"/>
          </a:ln>
        </p:spPr>
      </p:cxnSp>
      <p:cxnSp>
        <p:nvCxnSpPr>
          <p:cNvPr id="60" name="U06-DG-024-bone_edge_1"/>
          <p:cNvCxnSpPr>
            <a:stCxn id="9" idx="3"/>
            <a:endCxn id="10" idx="1"/>
          </p:cNvCxnSpPr>
          <p:nvPr/>
        </p:nvCxnSpPr>
        <p:spPr>
          <a:xfrm>
            <a:off x="3352800" y="4857750"/>
            <a:ext cx="190500" cy="0"/>
          </a:xfrm>
          <a:prstGeom prst="straightConnector1">
            <a:avLst/>
          </a:prstGeom>
          <a:ln w="28575">
            <a:solidFill>
              <a:srgbClr val="3D3D3D"/>
            </a:solidFill>
            <a:prstDash val="solid"/>
            <a:tailEnd type="arrow" w="med" len="med"/>
          </a:ln>
        </p:spPr>
      </p:cxnSp>
      <p:cxnSp>
        <p:nvCxnSpPr>
          <p:cNvPr id="61" name="U06-DG-024-bone_edge_2"/>
          <p:cNvCxnSpPr>
            <a:stCxn id="10" idx="3"/>
            <a:endCxn id="11" idx="1"/>
          </p:cNvCxnSpPr>
          <p:nvPr/>
        </p:nvCxnSpPr>
        <p:spPr>
          <a:xfrm>
            <a:off x="6115050" y="4857750"/>
            <a:ext cx="190500" cy="0"/>
          </a:xfrm>
          <a:prstGeom prst="straightConnector1">
            <a:avLst/>
          </a:prstGeom>
          <a:ln w="28575">
            <a:solidFill>
              <a:srgbClr val="3D3D3D"/>
            </a:solidFill>
            <a:prstDash val="solid"/>
            <a:tailEnd type="arrow" w="med" len="med"/>
          </a:ln>
        </p:spPr>
      </p:cxnSp>
      <p:cxnSp>
        <p:nvCxnSpPr>
          <p:cNvPr id="62" name="U06-DG-024-bone_target"/>
          <p:cNvCxnSpPr>
            <a:stCxn id="11" idx="3"/>
            <a:endCxn id="4" idx="1"/>
          </p:cNvCxnSpPr>
          <p:nvPr/>
        </p:nvCxnSpPr>
        <p:spPr>
          <a:xfrm flipV="1">
            <a:off x="8877300" y="3429000"/>
            <a:ext cx="600075" cy="1428750"/>
          </a:xfrm>
          <a:prstGeom prst="bentConnector3">
            <a:avLst>
              <a:gd name="adj1" fmla="val 50000"/>
            </a:avLst>
          </a:prstGeom>
          <a:ln w="28575">
            <a:solidFill>
              <a:srgbClr val="3D3D3D"/>
            </a:solidFill>
            <a:prstDash val="solid"/>
            <a:tailEnd type="arrow" w="med" len="med"/>
          </a:ln>
        </p:spPr>
      </p:cxnSp>
      <p:sp>
        <p:nvSpPr>
          <p:cNvPr id="19" name="U06-DG-024-target-box" descr="Diagrama sobre «Hasta acá: varias entradas, una partición coclear»; organiza tres ideas + respuesta corregida a u06-042." title="Texto alternativo U06-048">
            <a:extLst>
              <a:ext uri="{FF2B5EF4-FFF2-40B4-BE49-F238E27FC236}">
                <a16:creationId xmlns:a16="http://schemas.microsoft.com/office/drawing/2014/main" id="{F3B945E6-6507-4106-8AA0-DAABAC4982A4}"/>
              </a:ext>
            </a:extLst>
          </p:cNvPr>
          <p:cNvSpPr>
            <a:spLocks noGrp="1"/>
          </p:cNvSpPr>
          <p:nvPr/>
        </p:nvSpPr>
        <p:spPr>
          <a:xfrm>
            <a:off x="9477375" y="2667000"/>
            <a:ext cx="1952625" cy="1524000"/>
          </a:xfrm>
          <a:prstGeom prst="roundRect">
            <a:avLst>
              <a:gd name="adj" fmla="val 6250"/>
            </a:avLst>
          </a:prstGeom>
          <a:solidFill>
            <a:srgbClr val="F8EDE2"/>
          </a:solidFill>
          <a:ln w="19050">
            <a:solidFill>
              <a:srgbClr val="9F541A"/>
            </a:solidFill>
            <a:prstDash val="solid"/>
          </a:ln>
        </p:spPr>
      </p:sp>
      <p:sp>
        <p:nvSpPr>
          <p:cNvPr id="20" name="U06-DG-024-target-title">
            <a:extLst>
              <a:ext uri="{FF2B5EF4-FFF2-40B4-BE49-F238E27FC236}">
                <a16:creationId xmlns:a16="http://schemas.microsoft.com/office/drawing/2014/main" id="{699B0578-D66E-4DBB-B380-DAFA44DF84F0}"/>
              </a:ext>
            </a:extLst>
          </p:cNvPr>
          <p:cNvSpPr>
            <a:spLocks noGrp="1"/>
          </p:cNvSpPr>
          <p:nvPr/>
        </p:nvSpPr>
        <p:spPr>
          <a:xfrm>
            <a:off x="9667875" y="2809875"/>
            <a:ext cx="157162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Cóclea</a:t>
            </a:r>
          </a:p>
        </p:txBody>
      </p:sp>
      <p:sp>
        <p:nvSpPr>
          <p:cNvPr id="21" name="U06-DG-024-target-body">
            <a:extLst>
              <a:ext uri="{FF2B5EF4-FFF2-40B4-BE49-F238E27FC236}">
                <a16:creationId xmlns:a16="http://schemas.microsoft.com/office/drawing/2014/main" id="{F7C12D48-FECC-46CF-8B9D-5656C2A54560}"/>
              </a:ext>
            </a:extLst>
          </p:cNvPr>
          <p:cNvSpPr>
            <a:spLocks noGrp="1"/>
          </p:cNvSpPr>
          <p:nvPr/>
        </p:nvSpPr>
        <p:spPr>
          <a:xfrm>
            <a:off x="9667875" y="3257550"/>
            <a:ext cx="1571625" cy="838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destino común</a:t>
            </a:r>
          </a:p>
        </p:txBody>
      </p:sp>
      <p:sp>
        <p:nvSpPr>
          <p:cNvPr id="22" name="U06-DG-024-air_1-box">
            <a:extLst>
              <a:ext uri="{FF2B5EF4-FFF2-40B4-BE49-F238E27FC236}">
                <a16:creationId xmlns:a16="http://schemas.microsoft.com/office/drawing/2014/main" id="{43018C03-49A4-4230-B2EB-F545C68D778F}"/>
              </a:ext>
            </a:extLst>
          </p:cNvPr>
          <p:cNvSpPr>
            <a:spLocks noGrp="1"/>
          </p:cNvSpPr>
          <p:nvPr/>
        </p:nvSpPr>
        <p:spPr>
          <a:xfrm>
            <a:off x="781050" y="1428750"/>
            <a:ext cx="1881188" cy="1428750"/>
          </a:xfrm>
          <a:prstGeom prst="roundRect">
            <a:avLst>
              <a:gd name="adj" fmla="val 6667"/>
            </a:avLst>
          </a:prstGeom>
          <a:solidFill>
            <a:srgbClr val="E7F1F1"/>
          </a:solidFill>
          <a:ln w="19050">
            <a:solidFill>
              <a:srgbClr val="2F7E83"/>
            </a:solidFill>
            <a:prstDash val="solid"/>
          </a:ln>
        </p:spPr>
      </p:sp>
      <p:sp>
        <p:nvSpPr>
          <p:cNvPr id="23" name="U06-DG-024-air_1-title">
            <a:extLst>
              <a:ext uri="{FF2B5EF4-FFF2-40B4-BE49-F238E27FC236}">
                <a16:creationId xmlns:a16="http://schemas.microsoft.com/office/drawing/2014/main" id="{BD6CA3A4-28F4-4E8D-B403-C8A54259A23E}"/>
              </a:ext>
            </a:extLst>
          </p:cNvPr>
          <p:cNvSpPr>
            <a:spLocks noGrp="1"/>
          </p:cNvSpPr>
          <p:nvPr/>
        </p:nvSpPr>
        <p:spPr>
          <a:xfrm>
            <a:off x="971550"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Aire</a:t>
            </a:r>
          </a:p>
        </p:txBody>
      </p:sp>
      <p:sp>
        <p:nvSpPr>
          <p:cNvPr id="24" name="U06-DG-024-air_1-body">
            <a:extLst>
              <a:ext uri="{FF2B5EF4-FFF2-40B4-BE49-F238E27FC236}">
                <a16:creationId xmlns:a16="http://schemas.microsoft.com/office/drawing/2014/main" id="{BC7C2EDA-41D2-4536-A004-9BDF51B70567}"/>
              </a:ext>
            </a:extLst>
          </p:cNvPr>
          <p:cNvSpPr>
            <a:spLocks noGrp="1"/>
          </p:cNvSpPr>
          <p:nvPr/>
        </p:nvSpPr>
        <p:spPr>
          <a:xfrm>
            <a:off x="971550"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25" name="U06-DG-024-air_2-box">
            <a:extLst>
              <a:ext uri="{FF2B5EF4-FFF2-40B4-BE49-F238E27FC236}">
                <a16:creationId xmlns:a16="http://schemas.microsoft.com/office/drawing/2014/main" id="{01788BD2-9096-4B7A-9FBE-1A440577E1A4}"/>
              </a:ext>
            </a:extLst>
          </p:cNvPr>
          <p:cNvSpPr>
            <a:spLocks noGrp="1"/>
          </p:cNvSpPr>
          <p:nvPr/>
        </p:nvSpPr>
        <p:spPr>
          <a:xfrm>
            <a:off x="2852738" y="1428750"/>
            <a:ext cx="1881188" cy="1428750"/>
          </a:xfrm>
          <a:prstGeom prst="roundRect">
            <a:avLst>
              <a:gd name="adj" fmla="val 6667"/>
            </a:avLst>
          </a:prstGeom>
          <a:solidFill>
            <a:srgbClr val="E7F1F1"/>
          </a:solidFill>
          <a:ln w="19050">
            <a:solidFill>
              <a:srgbClr val="2F7E83"/>
            </a:solidFill>
            <a:prstDash val="solid"/>
          </a:ln>
        </p:spPr>
      </p:sp>
      <p:sp>
        <p:nvSpPr>
          <p:cNvPr id="26" name="U06-DG-024-air_2-title">
            <a:extLst>
              <a:ext uri="{FF2B5EF4-FFF2-40B4-BE49-F238E27FC236}">
                <a16:creationId xmlns:a16="http://schemas.microsoft.com/office/drawing/2014/main" id="{9B7EEC11-7618-4F34-951B-659E21CDC54B}"/>
              </a:ext>
            </a:extLst>
          </p:cNvPr>
          <p:cNvSpPr>
            <a:spLocks noGrp="1"/>
          </p:cNvSpPr>
          <p:nvPr/>
        </p:nvSpPr>
        <p:spPr>
          <a:xfrm>
            <a:off x="3043238"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7" name="U06-DG-024-air_2-body">
            <a:extLst>
              <a:ext uri="{FF2B5EF4-FFF2-40B4-BE49-F238E27FC236}">
                <a16:creationId xmlns:a16="http://schemas.microsoft.com/office/drawing/2014/main" id="{97CF83AF-709B-4907-BB1A-1ECB032C73AA}"/>
              </a:ext>
            </a:extLst>
          </p:cNvPr>
          <p:cNvSpPr>
            <a:spLocks noGrp="1"/>
          </p:cNvSpPr>
          <p:nvPr/>
        </p:nvSpPr>
        <p:spPr>
          <a:xfrm>
            <a:off x="3043238"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a:t>
            </a:r>
          </a:p>
        </p:txBody>
      </p:sp>
      <p:sp>
        <p:nvSpPr>
          <p:cNvPr id="28" name="U06-DG-024-air_3-box">
            <a:extLst>
              <a:ext uri="{FF2B5EF4-FFF2-40B4-BE49-F238E27FC236}">
                <a16:creationId xmlns:a16="http://schemas.microsoft.com/office/drawing/2014/main" id="{A2DD1988-A15C-439D-B5AC-96B4013B7465}"/>
              </a:ext>
            </a:extLst>
          </p:cNvPr>
          <p:cNvSpPr>
            <a:spLocks noGrp="1"/>
          </p:cNvSpPr>
          <p:nvPr/>
        </p:nvSpPr>
        <p:spPr>
          <a:xfrm>
            <a:off x="4924425" y="1428750"/>
            <a:ext cx="1881188" cy="1428750"/>
          </a:xfrm>
          <a:prstGeom prst="roundRect">
            <a:avLst>
              <a:gd name="adj" fmla="val 6667"/>
            </a:avLst>
          </a:prstGeom>
          <a:solidFill>
            <a:srgbClr val="F4E9EF"/>
          </a:solidFill>
          <a:ln w="19050">
            <a:solidFill>
              <a:srgbClr val="4D1434"/>
            </a:solidFill>
            <a:prstDash val="solid"/>
          </a:ln>
        </p:spPr>
      </p:sp>
      <p:sp>
        <p:nvSpPr>
          <p:cNvPr id="29" name="U06-DG-024-air_3-title">
            <a:extLst>
              <a:ext uri="{FF2B5EF4-FFF2-40B4-BE49-F238E27FC236}">
                <a16:creationId xmlns:a16="http://schemas.microsoft.com/office/drawing/2014/main" id="{9BC4011A-A094-4B17-AE0C-6B64F225AA5F}"/>
              </a:ext>
            </a:extLst>
          </p:cNvPr>
          <p:cNvSpPr>
            <a:spLocks noGrp="1"/>
          </p:cNvSpPr>
          <p:nvPr/>
        </p:nvSpPr>
        <p:spPr>
          <a:xfrm>
            <a:off x="5114925"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Tímpano</a:t>
            </a:r>
          </a:p>
        </p:txBody>
      </p:sp>
      <p:sp>
        <p:nvSpPr>
          <p:cNvPr id="30" name="U06-DG-024-air_3-body">
            <a:extLst>
              <a:ext uri="{FF2B5EF4-FFF2-40B4-BE49-F238E27FC236}">
                <a16:creationId xmlns:a16="http://schemas.microsoft.com/office/drawing/2014/main" id="{44718603-8A74-4EFD-843C-8607167BD4B5}"/>
              </a:ext>
            </a:extLst>
          </p:cNvPr>
          <p:cNvSpPr>
            <a:spLocks noGrp="1"/>
          </p:cNvSpPr>
          <p:nvPr/>
        </p:nvSpPr>
        <p:spPr>
          <a:xfrm>
            <a:off x="5114925"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vibra</a:t>
            </a:r>
          </a:p>
        </p:txBody>
      </p:sp>
      <p:sp>
        <p:nvSpPr>
          <p:cNvPr id="31" name="U06-DG-024-air_4-box">
            <a:extLst>
              <a:ext uri="{FF2B5EF4-FFF2-40B4-BE49-F238E27FC236}">
                <a16:creationId xmlns:a16="http://schemas.microsoft.com/office/drawing/2014/main" id="{EC7C2F11-2150-43A3-80CE-37087C603D9A}"/>
              </a:ext>
            </a:extLst>
          </p:cNvPr>
          <p:cNvSpPr>
            <a:spLocks noGrp="1"/>
          </p:cNvSpPr>
          <p:nvPr/>
        </p:nvSpPr>
        <p:spPr>
          <a:xfrm>
            <a:off x="6996113" y="1428750"/>
            <a:ext cx="1881188" cy="1428750"/>
          </a:xfrm>
          <a:prstGeom prst="roundRect">
            <a:avLst>
              <a:gd name="adj" fmla="val 6667"/>
            </a:avLst>
          </a:prstGeom>
          <a:solidFill>
            <a:srgbClr val="F4E9EF"/>
          </a:solidFill>
          <a:ln w="19050">
            <a:solidFill>
              <a:srgbClr val="4D1434"/>
            </a:solidFill>
            <a:prstDash val="solid"/>
          </a:ln>
        </p:spPr>
      </p:sp>
      <p:sp>
        <p:nvSpPr>
          <p:cNvPr id="32" name="U06-DG-024-air_4-title">
            <a:extLst>
              <a:ext uri="{FF2B5EF4-FFF2-40B4-BE49-F238E27FC236}">
                <a16:creationId xmlns:a16="http://schemas.microsoft.com/office/drawing/2014/main" id="{A2009C74-1472-4CF9-97B8-06560923A563}"/>
              </a:ext>
            </a:extLst>
          </p:cNvPr>
          <p:cNvSpPr>
            <a:spLocks noGrp="1"/>
          </p:cNvSpPr>
          <p:nvPr/>
        </p:nvSpPr>
        <p:spPr>
          <a:xfrm>
            <a:off x="7186613" y="1571625"/>
            <a:ext cx="1500188"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Osículos</a:t>
            </a:r>
          </a:p>
        </p:txBody>
      </p:sp>
      <p:sp>
        <p:nvSpPr>
          <p:cNvPr id="33" name="U06-DG-024-air_4-body">
            <a:extLst>
              <a:ext uri="{FF2B5EF4-FFF2-40B4-BE49-F238E27FC236}">
                <a16:creationId xmlns:a16="http://schemas.microsoft.com/office/drawing/2014/main" id="{3A505264-BFAF-44E8-A151-4854992539FF}"/>
              </a:ext>
            </a:extLst>
          </p:cNvPr>
          <p:cNvSpPr>
            <a:spLocks noGrp="1"/>
          </p:cNvSpPr>
          <p:nvPr/>
        </p:nvSpPr>
        <p:spPr>
          <a:xfrm>
            <a:off x="7186613" y="2019300"/>
            <a:ext cx="1500188"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a:t>
            </a:r>
          </a:p>
        </p:txBody>
      </p:sp>
      <p:sp>
        <p:nvSpPr>
          <p:cNvPr id="34" name="U06-DG-024-bone_1-box">
            <a:extLst>
              <a:ext uri="{FF2B5EF4-FFF2-40B4-BE49-F238E27FC236}">
                <a16:creationId xmlns:a16="http://schemas.microsoft.com/office/drawing/2014/main" id="{FB90F19F-A23A-4EA4-9B42-697C7537B7EF}"/>
              </a:ext>
            </a:extLst>
          </p:cNvPr>
          <p:cNvSpPr>
            <a:spLocks noGrp="1"/>
          </p:cNvSpPr>
          <p:nvPr/>
        </p:nvSpPr>
        <p:spPr>
          <a:xfrm>
            <a:off x="781050" y="4143375"/>
            <a:ext cx="2571750" cy="1428750"/>
          </a:xfrm>
          <a:prstGeom prst="roundRect">
            <a:avLst>
              <a:gd name="adj" fmla="val 6667"/>
            </a:avLst>
          </a:prstGeom>
          <a:solidFill>
            <a:srgbClr val="F7F6F2"/>
          </a:solidFill>
          <a:ln w="19050">
            <a:solidFill>
              <a:srgbClr val="969FA7"/>
            </a:solidFill>
            <a:prstDash val="solid"/>
          </a:ln>
        </p:spPr>
      </p:sp>
      <p:sp>
        <p:nvSpPr>
          <p:cNvPr id="35" name="U06-DG-024-bone_1-title">
            <a:extLst>
              <a:ext uri="{FF2B5EF4-FFF2-40B4-BE49-F238E27FC236}">
                <a16:creationId xmlns:a16="http://schemas.microsoft.com/office/drawing/2014/main" id="{4707EFA2-91D5-40E1-9A45-60B971007178}"/>
              </a:ext>
            </a:extLst>
          </p:cNvPr>
          <p:cNvSpPr>
            <a:spLocks noGrp="1"/>
          </p:cNvSpPr>
          <p:nvPr/>
        </p:nvSpPr>
        <p:spPr>
          <a:xfrm>
            <a:off x="971550" y="428625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Cráneo</a:t>
            </a:r>
          </a:p>
        </p:txBody>
      </p:sp>
      <p:sp>
        <p:nvSpPr>
          <p:cNvPr id="36" name="U06-DG-024-bone_1-body">
            <a:extLst>
              <a:ext uri="{FF2B5EF4-FFF2-40B4-BE49-F238E27FC236}">
                <a16:creationId xmlns:a16="http://schemas.microsoft.com/office/drawing/2014/main" id="{E7B02E5E-832B-46B9-AA98-4E4B97D508F1}"/>
              </a:ext>
            </a:extLst>
          </p:cNvPr>
          <p:cNvSpPr>
            <a:spLocks noGrp="1"/>
          </p:cNvSpPr>
          <p:nvPr/>
        </p:nvSpPr>
        <p:spPr>
          <a:xfrm>
            <a:off x="971550" y="4733925"/>
            <a:ext cx="2190750"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vibra</a:t>
            </a:r>
          </a:p>
        </p:txBody>
      </p:sp>
      <p:sp>
        <p:nvSpPr>
          <p:cNvPr id="37" name="U06-DG-024-bone_2-box">
            <a:extLst>
              <a:ext uri="{FF2B5EF4-FFF2-40B4-BE49-F238E27FC236}">
                <a16:creationId xmlns:a16="http://schemas.microsoft.com/office/drawing/2014/main" id="{D35E08E8-6694-4EEF-83A2-4C382498733D}"/>
              </a:ext>
            </a:extLst>
          </p:cNvPr>
          <p:cNvSpPr>
            <a:spLocks noGrp="1"/>
          </p:cNvSpPr>
          <p:nvPr/>
        </p:nvSpPr>
        <p:spPr>
          <a:xfrm>
            <a:off x="3543300" y="4143375"/>
            <a:ext cx="2571750" cy="1428750"/>
          </a:xfrm>
          <a:prstGeom prst="roundRect">
            <a:avLst>
              <a:gd name="adj" fmla="val 6667"/>
            </a:avLst>
          </a:prstGeom>
          <a:solidFill>
            <a:srgbClr val="F7F6F2"/>
          </a:solidFill>
          <a:ln w="19050">
            <a:solidFill>
              <a:srgbClr val="969FA7"/>
            </a:solidFill>
            <a:prstDash val="solid"/>
          </a:ln>
        </p:spPr>
      </p:sp>
      <p:sp>
        <p:nvSpPr>
          <p:cNvPr id="38" name="U06-DG-024-bone_2-title">
            <a:extLst>
              <a:ext uri="{FF2B5EF4-FFF2-40B4-BE49-F238E27FC236}">
                <a16:creationId xmlns:a16="http://schemas.microsoft.com/office/drawing/2014/main" id="{00755A99-09FC-4E3D-851C-6B9D791098AE}"/>
              </a:ext>
            </a:extLst>
          </p:cNvPr>
          <p:cNvSpPr>
            <a:spLocks noGrp="1"/>
          </p:cNvSpPr>
          <p:nvPr/>
        </p:nvSpPr>
        <p:spPr>
          <a:xfrm>
            <a:off x="3733800" y="4286250"/>
            <a:ext cx="21907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CAE + oído medio</a:t>
            </a:r>
          </a:p>
        </p:txBody>
      </p:sp>
      <p:sp>
        <p:nvSpPr>
          <p:cNvPr id="39" name="U06-DG-024-bone_2-body">
            <a:extLst>
              <a:ext uri="{FF2B5EF4-FFF2-40B4-BE49-F238E27FC236}">
                <a16:creationId xmlns:a16="http://schemas.microsoft.com/office/drawing/2014/main" id="{66DEA772-A1BF-4D06-929D-CDB3D8BA5049}"/>
              </a:ext>
            </a:extLst>
          </p:cNvPr>
          <p:cNvSpPr>
            <a:spLocks noGrp="1"/>
          </p:cNvSpPr>
          <p:nvPr/>
        </p:nvSpPr>
        <p:spPr>
          <a:xfrm>
            <a:off x="3733800" y="5057775"/>
            <a:ext cx="2190750" cy="419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participan</a:t>
            </a:r>
          </a:p>
        </p:txBody>
      </p:sp>
      <p:sp>
        <p:nvSpPr>
          <p:cNvPr id="40" name="U06-DG-024-bone_3-box">
            <a:extLst>
              <a:ext uri="{FF2B5EF4-FFF2-40B4-BE49-F238E27FC236}">
                <a16:creationId xmlns:a16="http://schemas.microsoft.com/office/drawing/2014/main" id="{CBC86B0C-3B5F-4EE6-B31A-09AEDA027A70}"/>
              </a:ext>
            </a:extLst>
          </p:cNvPr>
          <p:cNvSpPr>
            <a:spLocks noGrp="1"/>
          </p:cNvSpPr>
          <p:nvPr/>
        </p:nvSpPr>
        <p:spPr>
          <a:xfrm>
            <a:off x="6305550" y="4143375"/>
            <a:ext cx="2571750" cy="1428750"/>
          </a:xfrm>
          <a:prstGeom prst="roundRect">
            <a:avLst>
              <a:gd name="adj" fmla="val 6667"/>
            </a:avLst>
          </a:prstGeom>
          <a:solidFill>
            <a:srgbClr val="F8EDE2"/>
          </a:solidFill>
          <a:ln w="19050">
            <a:solidFill>
              <a:srgbClr val="9F541A"/>
            </a:solidFill>
            <a:prstDash val="solid"/>
          </a:ln>
        </p:spPr>
      </p:sp>
      <p:sp>
        <p:nvSpPr>
          <p:cNvPr id="41" name="U06-DG-024-bone_3-title">
            <a:extLst>
              <a:ext uri="{FF2B5EF4-FFF2-40B4-BE49-F238E27FC236}">
                <a16:creationId xmlns:a16="http://schemas.microsoft.com/office/drawing/2014/main" id="{572D65E7-5198-4481-8880-31C7996FF1E8}"/>
              </a:ext>
            </a:extLst>
          </p:cNvPr>
          <p:cNvSpPr>
            <a:spLocks noGrp="1"/>
          </p:cNvSpPr>
          <p:nvPr/>
        </p:nvSpPr>
        <p:spPr>
          <a:xfrm>
            <a:off x="6496050" y="4286250"/>
            <a:ext cx="21907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Fluidos</a:t>
            </a:r>
          </a:p>
        </p:txBody>
      </p:sp>
      <p:sp>
        <p:nvSpPr>
          <p:cNvPr id="42" name="U06-DG-024-bone_3-body">
            <a:extLst>
              <a:ext uri="{FF2B5EF4-FFF2-40B4-BE49-F238E27FC236}">
                <a16:creationId xmlns:a16="http://schemas.microsoft.com/office/drawing/2014/main" id="{40EC1F17-30B6-4032-826D-FBACCF15443B}"/>
              </a:ext>
            </a:extLst>
          </p:cNvPr>
          <p:cNvSpPr>
            <a:spLocks noGrp="1"/>
          </p:cNvSpPr>
          <p:nvPr/>
        </p:nvSpPr>
        <p:spPr>
          <a:xfrm>
            <a:off x="6496050" y="4733925"/>
            <a:ext cx="2190750" cy="742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movilizan</a:t>
            </a:r>
          </a:p>
        </p:txBody>
      </p:sp>
      <p:sp>
        <p:nvSpPr>
          <p:cNvPr id="43" name="caption">
            <a:extLst>
              <a:ext uri="{FF2B5EF4-FFF2-40B4-BE49-F238E27FC236}">
                <a16:creationId xmlns:a16="http://schemas.microsoft.com/office/drawing/2014/main" id="{CAE895EF-C3F5-4908-B3C3-8695C83749AA}"/>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“Vía ósea” nombra el estímulo, no una sola ruta interna.</a:t>
            </a:r>
          </a:p>
        </p:txBody>
      </p:sp>
      <p:sp>
        <p:nvSpPr>
          <p:cNvPr id="44" name="credit">
            <a:extLst>
              <a:ext uri="{FF2B5EF4-FFF2-40B4-BE49-F238E27FC236}">
                <a16:creationId xmlns:a16="http://schemas.microsoft.com/office/drawing/2014/main" id="{53A53BD7-60DF-4F10-806A-ADDAD668282E}"/>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D0AE2AF3-2595-4E8E-B4FB-87F7F3C2BB09}"/>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049</a:t>
            </a:r>
          </a:p>
        </p:txBody>
      </p:sp>
      <p:sp>
        <p:nvSpPr>
          <p:cNvPr id="2" name="divider-title">
            <a:extLst>
              <a:ext uri="{FF2B5EF4-FFF2-40B4-BE49-F238E27FC236}">
                <a16:creationId xmlns:a16="http://schemas.microsoft.com/office/drawing/2014/main" id="{45F5CD42-3BBC-4914-9E5E-B930E5974353}"/>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La cóclea necesita dos vistas para entenderse</a:t>
            </a:r>
          </a:p>
        </p:txBody>
      </p:sp>
      <p:sp>
        <p:nvSpPr>
          <p:cNvPr id="3" name="divider-subtitle">
            <a:extLst>
              <a:ext uri="{FF2B5EF4-FFF2-40B4-BE49-F238E27FC236}">
                <a16:creationId xmlns:a16="http://schemas.microsoft.com/office/drawing/2014/main" id="{41AAE884-6F25-4F7D-84CE-C19694501619}"/>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¿Qué aporta la vista longitudinal y qué aporta el corte transversal de la cóclea?</a:t>
            </a:r>
          </a:p>
        </p:txBody>
      </p:sp>
      <p:sp>
        <p:nvSpPr>
          <p:cNvPr id="4" name="divider-content">
            <a:extLst>
              <a:ext uri="{FF2B5EF4-FFF2-40B4-BE49-F238E27FC236}">
                <a16:creationId xmlns:a16="http://schemas.microsoft.com/office/drawing/2014/main" id="{1384FB43-6221-49EE-8849-2456CA07AC79}"/>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¿Qué aporta la vista longitudinal y qué aporta el corte transversal de la cóclea?</a:t>
            </a:r>
          </a:p>
        </p:txBody>
      </p:sp>
    </p:spTree>
    <p:extLst>
      <p:ext uri="{BB962C8B-B14F-4D97-AF65-F5344CB8AC3E}">
        <p14:creationId xmlns:p14="http://schemas.microsoft.com/office/powerpoint/2010/main" val="11649023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lide-title">
            <a:extLst>
              <a:ext uri="{FF2B5EF4-FFF2-40B4-BE49-F238E27FC236}">
                <a16:creationId xmlns:a16="http://schemas.microsoft.com/office/drawing/2014/main" id="{6681BE8D-2B9A-4A30-8BA9-15F05095E490}"/>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Ventana oval y ventana redonda permiten movimiento complementario</a:t>
            </a:r>
          </a:p>
        </p:txBody>
      </p:sp>
      <p:sp>
        <p:nvSpPr>
          <p:cNvPr id="2" name="eyebrow">
            <a:extLst>
              <a:ext uri="{FF2B5EF4-FFF2-40B4-BE49-F238E27FC236}">
                <a16:creationId xmlns:a16="http://schemas.microsoft.com/office/drawing/2014/main" id="{6CFAF388-0C66-4E6B-8072-6200A5285295}"/>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050</a:t>
            </a:r>
          </a:p>
        </p:txBody>
      </p:sp>
      <p:sp>
        <p:nvSpPr>
          <p:cNvPr id="3" name="U06-DG-030-stage_1-anchor">
            <a:extLst>
              <a:ext uri="{FF2B5EF4-FFF2-40B4-BE49-F238E27FC236}">
                <a16:creationId xmlns:a16="http://schemas.microsoft.com/office/drawing/2014/main" id="{730101AA-2FE4-4993-9387-DC621873C4E8}"/>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4" name="U06-DG-030-stage_2-anchor">
            <a:extLst>
              <a:ext uri="{FF2B5EF4-FFF2-40B4-BE49-F238E27FC236}">
                <a16:creationId xmlns:a16="http://schemas.microsoft.com/office/drawing/2014/main" id="{08698CDC-CABB-4199-BFEC-E40D248FE741}"/>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5" name="U06-DG-030-stage_3-anchor">
            <a:extLst>
              <a:ext uri="{FF2B5EF4-FFF2-40B4-BE49-F238E27FC236}">
                <a16:creationId xmlns:a16="http://schemas.microsoft.com/office/drawing/2014/main" id="{7DADBBDA-1A03-4537-BFCF-09498E1B2503}"/>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6" name="U06-DG-030-stage_4-anchor">
            <a:extLst>
              <a:ext uri="{FF2B5EF4-FFF2-40B4-BE49-F238E27FC236}">
                <a16:creationId xmlns:a16="http://schemas.microsoft.com/office/drawing/2014/main" id="{719D8F1B-3F8B-4BED-B380-8A29D62E5EBF}"/>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0" name="U06-DG-030-flow_1"/>
          <p:cNvCxnSpPr>
            <a:stCxn id="3" idx="3"/>
            <a:endCxn id="4"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1" name="U06-DG-030-flow_2"/>
          <p:cNvCxnSpPr>
            <a:stCxn id="4" idx="3"/>
            <a:endCxn id="5"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2" name="U06-DG-030-flow_3"/>
          <p:cNvCxnSpPr>
            <a:stCxn id="5" idx="3"/>
            <a:endCxn id="6"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0" name="U06-DG-030-stage_1-box" descr="Diagrama sobre «Ventana oval y ventana redonda permiten movimiento complementario»; organiza estribo → presión en fluido → partición → ventana redonda." title="Texto alternativo U06-050">
            <a:extLst>
              <a:ext uri="{FF2B5EF4-FFF2-40B4-BE49-F238E27FC236}">
                <a16:creationId xmlns:a16="http://schemas.microsoft.com/office/drawing/2014/main" id="{64A1C94C-EACA-4EDF-A8E5-43324E5B74ED}"/>
              </a:ext>
            </a:extLst>
          </p:cNvPr>
          <p:cNvSpPr>
            <a:spLocks noGrp="1"/>
          </p:cNvSpPr>
          <p:nvPr/>
        </p:nvSpPr>
        <p:spPr>
          <a:xfrm>
            <a:off x="781050" y="2428875"/>
            <a:ext cx="2428875" cy="1666875"/>
          </a:xfrm>
          <a:prstGeom prst="roundRect">
            <a:avLst>
              <a:gd name="adj" fmla="val 5714"/>
            </a:avLst>
          </a:prstGeom>
          <a:solidFill>
            <a:srgbClr val="F4E9EF"/>
          </a:solidFill>
          <a:ln w="19050">
            <a:solidFill>
              <a:srgbClr val="4D1434"/>
            </a:solidFill>
            <a:prstDash val="solid"/>
          </a:ln>
        </p:spPr>
      </p:sp>
      <p:sp>
        <p:nvSpPr>
          <p:cNvPr id="11" name="U06-DG-030-stage_1-title">
            <a:extLst>
              <a:ext uri="{FF2B5EF4-FFF2-40B4-BE49-F238E27FC236}">
                <a16:creationId xmlns:a16="http://schemas.microsoft.com/office/drawing/2014/main" id="{B4E4B0D8-D06E-4F6E-81B4-34D67764568F}"/>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Estribo</a:t>
            </a:r>
          </a:p>
        </p:txBody>
      </p:sp>
      <p:sp>
        <p:nvSpPr>
          <p:cNvPr id="12" name="U06-DG-030-stage_1-body">
            <a:extLst>
              <a:ext uri="{FF2B5EF4-FFF2-40B4-BE49-F238E27FC236}">
                <a16:creationId xmlns:a16="http://schemas.microsoft.com/office/drawing/2014/main" id="{832B2724-3E21-4688-AE0C-F743165DC51E}"/>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empuja ventana oval</a:t>
            </a:r>
          </a:p>
        </p:txBody>
      </p:sp>
      <p:sp>
        <p:nvSpPr>
          <p:cNvPr id="13" name="U06-DG-030-stage_2-box">
            <a:extLst>
              <a:ext uri="{FF2B5EF4-FFF2-40B4-BE49-F238E27FC236}">
                <a16:creationId xmlns:a16="http://schemas.microsoft.com/office/drawing/2014/main" id="{4673D575-38D9-40D8-B1F2-51A402F1A676}"/>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4" name="U06-DG-030-stage_2-title">
            <a:extLst>
              <a:ext uri="{FF2B5EF4-FFF2-40B4-BE49-F238E27FC236}">
                <a16:creationId xmlns:a16="http://schemas.microsoft.com/office/drawing/2014/main" id="{F58C7031-2437-4246-B1B7-9D9CE32D924D}"/>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Fluido coclear</a:t>
            </a:r>
          </a:p>
        </p:txBody>
      </p:sp>
      <p:sp>
        <p:nvSpPr>
          <p:cNvPr id="15" name="U06-DG-030-stage_2-body">
            <a:extLst>
              <a:ext uri="{FF2B5EF4-FFF2-40B4-BE49-F238E27FC236}">
                <a16:creationId xmlns:a16="http://schemas.microsoft.com/office/drawing/2014/main" id="{0EE15AC5-D564-4860-95AD-18E8417F5958}"/>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desplaza</a:t>
            </a:r>
          </a:p>
        </p:txBody>
      </p:sp>
      <p:sp>
        <p:nvSpPr>
          <p:cNvPr id="16" name="U06-DG-030-stage_3-box">
            <a:extLst>
              <a:ext uri="{FF2B5EF4-FFF2-40B4-BE49-F238E27FC236}">
                <a16:creationId xmlns:a16="http://schemas.microsoft.com/office/drawing/2014/main" id="{74974359-92B4-473F-BFB6-0369834A45EB}"/>
              </a:ext>
            </a:extLst>
          </p:cNvPr>
          <p:cNvSpPr>
            <a:spLocks noGrp="1"/>
          </p:cNvSpPr>
          <p:nvPr/>
        </p:nvSpPr>
        <p:spPr>
          <a:xfrm>
            <a:off x="6248400" y="2428875"/>
            <a:ext cx="2428875" cy="1666875"/>
          </a:xfrm>
          <a:prstGeom prst="roundRect">
            <a:avLst>
              <a:gd name="adj" fmla="val 5714"/>
            </a:avLst>
          </a:prstGeom>
          <a:solidFill>
            <a:srgbClr val="F8EDE2"/>
          </a:solidFill>
          <a:ln w="19050">
            <a:solidFill>
              <a:srgbClr val="9F541A"/>
            </a:solidFill>
            <a:prstDash val="solid"/>
          </a:ln>
        </p:spPr>
      </p:sp>
      <p:sp>
        <p:nvSpPr>
          <p:cNvPr id="17" name="U06-DG-030-stage_3-title">
            <a:extLst>
              <a:ext uri="{FF2B5EF4-FFF2-40B4-BE49-F238E27FC236}">
                <a16:creationId xmlns:a16="http://schemas.microsoft.com/office/drawing/2014/main" id="{AD068D7E-E102-4878-A487-CC85B2D20785}"/>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Ventana</a:t>
            </a:r>
          </a:p>
        </p:txBody>
      </p:sp>
      <p:sp>
        <p:nvSpPr>
          <p:cNvPr id="18" name="U06-DG-030-stage_3-body">
            <a:extLst>
              <a:ext uri="{FF2B5EF4-FFF2-40B4-BE49-F238E27FC236}">
                <a16:creationId xmlns:a16="http://schemas.microsoft.com/office/drawing/2014/main" id="{D65E22E9-5C97-4749-A923-5BEFBD24B3E0}"/>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redonda · opuesta</a:t>
            </a:r>
          </a:p>
        </p:txBody>
      </p:sp>
      <p:sp>
        <p:nvSpPr>
          <p:cNvPr id="19" name="U06-DG-030-stage_4-box">
            <a:extLst>
              <a:ext uri="{FF2B5EF4-FFF2-40B4-BE49-F238E27FC236}">
                <a16:creationId xmlns:a16="http://schemas.microsoft.com/office/drawing/2014/main" id="{9F9932F0-A5A0-4735-B0D8-8A6C2CC20994}"/>
              </a:ext>
            </a:extLst>
          </p:cNvPr>
          <p:cNvSpPr>
            <a:spLocks noGrp="1"/>
          </p:cNvSpPr>
          <p:nvPr/>
        </p:nvSpPr>
        <p:spPr>
          <a:xfrm>
            <a:off x="8982075" y="2428875"/>
            <a:ext cx="2428875" cy="1666875"/>
          </a:xfrm>
          <a:prstGeom prst="roundRect">
            <a:avLst>
              <a:gd name="adj" fmla="val 5714"/>
            </a:avLst>
          </a:prstGeom>
          <a:solidFill>
            <a:srgbClr val="F7F6F2"/>
          </a:solidFill>
          <a:ln w="19050">
            <a:solidFill>
              <a:srgbClr val="969FA7"/>
            </a:solidFill>
            <a:prstDash val="solid"/>
          </a:ln>
        </p:spPr>
      </p:sp>
      <p:sp>
        <p:nvSpPr>
          <p:cNvPr id="20" name="U06-DG-030-stage_4-title">
            <a:extLst>
              <a:ext uri="{FF2B5EF4-FFF2-40B4-BE49-F238E27FC236}">
                <a16:creationId xmlns:a16="http://schemas.microsoft.com/office/drawing/2014/main" id="{B96A7945-19A1-4B16-A559-49948290CE6C}"/>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Frontera</a:t>
            </a:r>
          </a:p>
        </p:txBody>
      </p:sp>
      <p:sp>
        <p:nvSpPr>
          <p:cNvPr id="21" name="U06-DG-030-stage_4-body">
            <a:extLst>
              <a:ext uri="{FF2B5EF4-FFF2-40B4-BE49-F238E27FC236}">
                <a16:creationId xmlns:a16="http://schemas.microsoft.com/office/drawing/2014/main" id="{EAD027AD-5140-4906-BCD5-9461C35914DC}"/>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cambia la respuesta</a:t>
            </a:r>
          </a:p>
        </p:txBody>
      </p:sp>
      <p:sp>
        <p:nvSpPr>
          <p:cNvPr id="22" name="caption">
            <a:extLst>
              <a:ext uri="{FF2B5EF4-FFF2-40B4-BE49-F238E27FC236}">
                <a16:creationId xmlns:a16="http://schemas.microsoft.com/office/drawing/2014/main" id="{9F1E4A9B-4407-45EF-BFC2-8849572AE11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estribo impulsa en la oval; la redonda permite desplazamiento complementario…</a:t>
            </a:r>
          </a:p>
        </p:txBody>
      </p:sp>
      <p:sp>
        <p:nvSpPr>
          <p:cNvPr id="23" name="credit">
            <a:extLst>
              <a:ext uri="{FF2B5EF4-FFF2-40B4-BE49-F238E27FC236}">
                <a16:creationId xmlns:a16="http://schemas.microsoft.com/office/drawing/2014/main" id="{11B147B3-D515-4B2E-A299-0F6143D0C61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D0D56FC4-EACE-4CC9-B09A-A8B57429C479}"/>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vista longitudinal conecta base, ápex y helicotrema</a:t>
            </a:r>
          </a:p>
        </p:txBody>
      </p:sp>
      <p:sp>
        <p:nvSpPr>
          <p:cNvPr id="2" name="slide-subtitle">
            <a:extLst>
              <a:ext uri="{FF2B5EF4-FFF2-40B4-BE49-F238E27FC236}">
                <a16:creationId xmlns:a16="http://schemas.microsoft.com/office/drawing/2014/main" id="{E9B0A652-E133-462E-8AA7-E4CA2F7FDB0D}"/>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Rampa vestibular y timpánica se comunican apicalmente mediante helicotrema.</a:t>
            </a:r>
          </a:p>
        </p:txBody>
      </p:sp>
      <p:sp>
        <p:nvSpPr>
          <p:cNvPr id="3" name="eyebrow">
            <a:extLst>
              <a:ext uri="{FF2B5EF4-FFF2-40B4-BE49-F238E27FC236}">
                <a16:creationId xmlns:a16="http://schemas.microsoft.com/office/drawing/2014/main" id="{A263B3CA-1897-4DAC-ACD1-EDE93D97E70B}"/>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051</a:t>
            </a:r>
          </a:p>
        </p:txBody>
      </p:sp>
      <p:sp>
        <p:nvSpPr>
          <p:cNvPr id="4" name="U06-DG-031-stage_1-anchor">
            <a:extLst>
              <a:ext uri="{FF2B5EF4-FFF2-40B4-BE49-F238E27FC236}">
                <a16:creationId xmlns:a16="http://schemas.microsoft.com/office/drawing/2014/main" id="{12F27646-4196-48DD-B47E-90D6287B79FF}"/>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31-stage_2-anchor">
            <a:extLst>
              <a:ext uri="{FF2B5EF4-FFF2-40B4-BE49-F238E27FC236}">
                <a16:creationId xmlns:a16="http://schemas.microsoft.com/office/drawing/2014/main" id="{5B6A99D7-9C74-4054-B3C6-1014C5ED4AAE}"/>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31-stage_3-anchor">
            <a:extLst>
              <a:ext uri="{FF2B5EF4-FFF2-40B4-BE49-F238E27FC236}">
                <a16:creationId xmlns:a16="http://schemas.microsoft.com/office/drawing/2014/main" id="{D5C9320B-459A-4415-ADFC-371EC1D0AA7E}"/>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31-stage_4-anchor">
            <a:extLst>
              <a:ext uri="{FF2B5EF4-FFF2-40B4-BE49-F238E27FC236}">
                <a16:creationId xmlns:a16="http://schemas.microsoft.com/office/drawing/2014/main" id="{6DE41B3D-1CAA-4E51-A9DB-DEE66DFBAD93}"/>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31-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31-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31-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31-stage_1-box" descr="Diagrama sobre «La vista longitudinal conecta base, ápex y helicotrema»; organiza ventanas, base, ápex, dos rampas y helicotrema." title="Texto alternativo U06-051">
            <a:extLst>
              <a:ext uri="{FF2B5EF4-FFF2-40B4-BE49-F238E27FC236}">
                <a16:creationId xmlns:a16="http://schemas.microsoft.com/office/drawing/2014/main" id="{A5FFF1ED-9816-4BDA-A970-75C0C64215F4}"/>
              </a:ext>
            </a:extLst>
          </p:cNvPr>
          <p:cNvSpPr>
            <a:spLocks noGrp="1"/>
          </p:cNvSpPr>
          <p:nvPr/>
        </p:nvSpPr>
        <p:spPr>
          <a:xfrm>
            <a:off x="781050" y="2428875"/>
            <a:ext cx="2428875" cy="1666875"/>
          </a:xfrm>
          <a:prstGeom prst="roundRect">
            <a:avLst>
              <a:gd name="adj" fmla="val 5714"/>
            </a:avLst>
          </a:prstGeom>
          <a:solidFill>
            <a:srgbClr val="F4E9EF"/>
          </a:solidFill>
          <a:ln w="19050">
            <a:solidFill>
              <a:srgbClr val="4D1434"/>
            </a:solidFill>
            <a:prstDash val="solid"/>
          </a:ln>
        </p:spPr>
      </p:sp>
      <p:sp>
        <p:nvSpPr>
          <p:cNvPr id="12" name="U06-DG-031-stage_1-title">
            <a:extLst>
              <a:ext uri="{FF2B5EF4-FFF2-40B4-BE49-F238E27FC236}">
                <a16:creationId xmlns:a16="http://schemas.microsoft.com/office/drawing/2014/main" id="{609BFFE1-2FBD-4A33-81B7-83AC08B08572}"/>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Base</a:t>
            </a:r>
          </a:p>
        </p:txBody>
      </p:sp>
      <p:sp>
        <p:nvSpPr>
          <p:cNvPr id="13" name="U06-DG-031-stage_1-body">
            <a:extLst>
              <a:ext uri="{FF2B5EF4-FFF2-40B4-BE49-F238E27FC236}">
                <a16:creationId xmlns:a16="http://schemas.microsoft.com/office/drawing/2014/main" id="{4D08952C-8EF8-47E5-B9AC-ECCB3973B028}"/>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ventanas</a:t>
            </a:r>
          </a:p>
        </p:txBody>
      </p:sp>
      <p:sp>
        <p:nvSpPr>
          <p:cNvPr id="14" name="U06-DG-031-stage_2-box">
            <a:extLst>
              <a:ext uri="{FF2B5EF4-FFF2-40B4-BE49-F238E27FC236}">
                <a16:creationId xmlns:a16="http://schemas.microsoft.com/office/drawing/2014/main" id="{406FE41E-65B1-4D12-A65D-4AA8F2D26188}"/>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5" name="U06-DG-031-stage_2-title">
            <a:extLst>
              <a:ext uri="{FF2B5EF4-FFF2-40B4-BE49-F238E27FC236}">
                <a16:creationId xmlns:a16="http://schemas.microsoft.com/office/drawing/2014/main" id="{CAA0EFD2-C9AD-48D5-9CC3-DFA51F0EB9FA}"/>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Primera vuelta</a:t>
            </a:r>
          </a:p>
        </p:txBody>
      </p:sp>
      <p:sp>
        <p:nvSpPr>
          <p:cNvPr id="16" name="U06-DG-031-stage_2-body">
            <a:extLst>
              <a:ext uri="{FF2B5EF4-FFF2-40B4-BE49-F238E27FC236}">
                <a16:creationId xmlns:a16="http://schemas.microsoft.com/office/drawing/2014/main" id="{DD1BE083-7FEA-47A5-A119-7237E8EC0B08}"/>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trayecto</a:t>
            </a:r>
          </a:p>
        </p:txBody>
      </p:sp>
      <p:sp>
        <p:nvSpPr>
          <p:cNvPr id="17" name="U06-DG-031-stage_3-box">
            <a:extLst>
              <a:ext uri="{FF2B5EF4-FFF2-40B4-BE49-F238E27FC236}">
                <a16:creationId xmlns:a16="http://schemas.microsoft.com/office/drawing/2014/main" id="{2DFBDA91-C528-4E3F-8065-54DCEE9D58F5}"/>
              </a:ext>
            </a:extLst>
          </p:cNvPr>
          <p:cNvSpPr>
            <a:spLocks noGrp="1"/>
          </p:cNvSpPr>
          <p:nvPr/>
        </p:nvSpPr>
        <p:spPr>
          <a:xfrm>
            <a:off x="6248400" y="2428875"/>
            <a:ext cx="2428875" cy="1666875"/>
          </a:xfrm>
          <a:prstGeom prst="roundRect">
            <a:avLst>
              <a:gd name="adj" fmla="val 5714"/>
            </a:avLst>
          </a:prstGeom>
          <a:solidFill>
            <a:srgbClr val="E7F1F1"/>
          </a:solidFill>
          <a:ln w="19050">
            <a:solidFill>
              <a:srgbClr val="2F7E83"/>
            </a:solidFill>
            <a:prstDash val="solid"/>
          </a:ln>
        </p:spPr>
      </p:sp>
      <p:sp>
        <p:nvSpPr>
          <p:cNvPr id="18" name="U06-DG-031-stage_3-title">
            <a:extLst>
              <a:ext uri="{FF2B5EF4-FFF2-40B4-BE49-F238E27FC236}">
                <a16:creationId xmlns:a16="http://schemas.microsoft.com/office/drawing/2014/main" id="{1217010B-6424-4AD0-8205-5ED1CD263630}"/>
              </a:ext>
            </a:extLst>
          </p:cNvPr>
          <p:cNvSpPr>
            <a:spLocks noGrp="1"/>
          </p:cNvSpPr>
          <p:nvPr/>
        </p:nvSpPr>
        <p:spPr>
          <a:xfrm>
            <a:off x="643890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Vueltas apicales</a:t>
            </a:r>
          </a:p>
        </p:txBody>
      </p:sp>
      <p:sp>
        <p:nvSpPr>
          <p:cNvPr id="19" name="U06-DG-031-stage_3-body">
            <a:extLst>
              <a:ext uri="{FF2B5EF4-FFF2-40B4-BE49-F238E27FC236}">
                <a16:creationId xmlns:a16="http://schemas.microsoft.com/office/drawing/2014/main" id="{F85AFDAF-2CA2-4782-BB27-F436F2BC7B8F}"/>
              </a:ext>
            </a:extLst>
          </p:cNvPr>
          <p:cNvSpPr>
            <a:spLocks noGrp="1"/>
          </p:cNvSpPr>
          <p:nvPr/>
        </p:nvSpPr>
        <p:spPr>
          <a:xfrm>
            <a:off x="643890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continúan</a:t>
            </a:r>
          </a:p>
        </p:txBody>
      </p:sp>
      <p:sp>
        <p:nvSpPr>
          <p:cNvPr id="20" name="U06-DG-031-stage_4-box">
            <a:extLst>
              <a:ext uri="{FF2B5EF4-FFF2-40B4-BE49-F238E27FC236}">
                <a16:creationId xmlns:a16="http://schemas.microsoft.com/office/drawing/2014/main" id="{18B04ACA-A992-431D-9790-381EC0D5E160}"/>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31-stage_4-title">
            <a:extLst>
              <a:ext uri="{FF2B5EF4-FFF2-40B4-BE49-F238E27FC236}">
                <a16:creationId xmlns:a16="http://schemas.microsoft.com/office/drawing/2014/main" id="{C736BA9B-232B-4F63-B63F-28BDADA1CFF0}"/>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Ápex</a:t>
            </a:r>
          </a:p>
        </p:txBody>
      </p:sp>
      <p:sp>
        <p:nvSpPr>
          <p:cNvPr id="22" name="U06-DG-031-stage_4-body">
            <a:extLst>
              <a:ext uri="{FF2B5EF4-FFF2-40B4-BE49-F238E27FC236}">
                <a16:creationId xmlns:a16="http://schemas.microsoft.com/office/drawing/2014/main" id="{32D342E5-5A52-468F-9F33-59FF547D9BF2}"/>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helicotrema</a:t>
            </a:r>
          </a:p>
        </p:txBody>
      </p:sp>
      <p:sp>
        <p:nvSpPr>
          <p:cNvPr id="23" name="caption">
            <a:extLst>
              <a:ext uri="{FF2B5EF4-FFF2-40B4-BE49-F238E27FC236}">
                <a16:creationId xmlns:a16="http://schemas.microsoft.com/office/drawing/2014/main" id="{BFD062B9-2E71-4513-B9DC-3BB283287C29}"/>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Rampa vestibular y timpánica se comunican apicalmente mediante helicotrema.</a:t>
            </a:r>
          </a:p>
        </p:txBody>
      </p:sp>
      <p:sp>
        <p:nvSpPr>
          <p:cNvPr id="24" name="credit">
            <a:extLst>
              <a:ext uri="{FF2B5EF4-FFF2-40B4-BE49-F238E27FC236}">
                <a16:creationId xmlns:a16="http://schemas.microsoft.com/office/drawing/2014/main" id="{85E55679-F8D9-44DC-B286-9366AF63C42A}"/>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954492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85D5AE9D-9AFD-43C1-B9D6-FEFD6B26448D}"/>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El corte transversal muestra tres compartimentos</a:t>
            </a:r>
          </a:p>
        </p:txBody>
      </p:sp>
      <p:sp>
        <p:nvSpPr>
          <p:cNvPr id="2" name="slide-subtitle">
            <a:extLst>
              <a:ext uri="{FF2B5EF4-FFF2-40B4-BE49-F238E27FC236}">
                <a16:creationId xmlns:a16="http://schemas.microsoft.com/office/drawing/2014/main" id="{6A5CD7F9-C081-4A1E-9664-5F4989DABDFA}"/>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Rampa vestibular, conducto coclear/rampa media y rampa timpánica ocupan posiciones distintas.</a:t>
            </a:r>
          </a:p>
        </p:txBody>
      </p:sp>
      <p:sp>
        <p:nvSpPr>
          <p:cNvPr id="3" name="eyebrow">
            <a:extLst>
              <a:ext uri="{FF2B5EF4-FFF2-40B4-BE49-F238E27FC236}">
                <a16:creationId xmlns:a16="http://schemas.microsoft.com/office/drawing/2014/main" id="{3E135529-F3CA-4CD5-849C-78357FB5C5E5}"/>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052</a:t>
            </a:r>
          </a:p>
        </p:txBody>
      </p:sp>
      <p:sp>
        <p:nvSpPr>
          <p:cNvPr id="4" name="main-ideas">
            <a:extLst>
              <a:ext uri="{FF2B5EF4-FFF2-40B4-BE49-F238E27FC236}">
                <a16:creationId xmlns:a16="http://schemas.microsoft.com/office/drawing/2014/main" id="{07FA159D-7610-4A14-9CCD-82988D2CFFC7}"/>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Rampa vestibular, conducto coclear/rampa media y rampa timpánica ocupan posiciones distintas.</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Tres compartimentos con orientación superior/media/inferior.</a:t>
            </a:r>
          </a:p>
        </p:txBody>
      </p:sp>
      <p:sp>
        <p:nvSpPr>
          <p:cNvPr id="5" name="side-panel-box">
            <a:extLst>
              <a:ext uri="{FF2B5EF4-FFF2-40B4-BE49-F238E27FC236}">
                <a16:creationId xmlns:a16="http://schemas.microsoft.com/office/drawing/2014/main" id="{76FC0BD5-94FD-45C8-8589-7A277A80BE0F}"/>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A2657A6A-73DC-408A-AD46-38D9BE69C5B2}"/>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7" name="side-panel-body">
            <a:extLst>
              <a:ext uri="{FF2B5EF4-FFF2-40B4-BE49-F238E27FC236}">
                <a16:creationId xmlns:a16="http://schemas.microsoft.com/office/drawing/2014/main" id="{C1C01BF3-B6A5-4EDA-B933-768D04BBCD60}"/>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Provisional: rampa vestibular, conducto coclear (rampa media) y rampa timpánica.</a:t>
            </a:r>
          </a:p>
        </p:txBody>
      </p:sp>
      <p:sp>
        <p:nvSpPr>
          <p:cNvPr id="8" name="caption">
            <a:extLst>
              <a:ext uri="{FF2B5EF4-FFF2-40B4-BE49-F238E27FC236}">
                <a16:creationId xmlns:a16="http://schemas.microsoft.com/office/drawing/2014/main" id="{896B182D-655B-42BF-AF33-AF0A4007F96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Rampa vestibular, conducto coclear/rampa media y rampa timpánica ocupan posicion…</a:t>
            </a:r>
          </a:p>
        </p:txBody>
      </p:sp>
      <p:sp>
        <p:nvSpPr>
          <p:cNvPr id="9" name="credit">
            <a:extLst>
              <a:ext uri="{FF2B5EF4-FFF2-40B4-BE49-F238E27FC236}">
                <a16:creationId xmlns:a16="http://schemas.microsoft.com/office/drawing/2014/main" id="{98811966-41E8-46BC-A92A-9CAE43E51868}"/>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6.7.1; PDF p. 160; OD-U06-06.</a:t>
            </a:r>
          </a:p>
        </p:txBody>
      </p:sp>
    </p:spTree>
    <p:extLst>
      <p:ext uri="{BB962C8B-B14F-4D97-AF65-F5344CB8AC3E}">
        <p14:creationId xmlns:p14="http://schemas.microsoft.com/office/powerpoint/2010/main" val="19954492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E53093C8-133B-488D-A3DA-9AD74E1F76A3}"/>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Perilinfa y endolinfa no ocupan los mismos espacios</a:t>
            </a:r>
          </a:p>
        </p:txBody>
      </p:sp>
      <p:sp>
        <p:nvSpPr>
          <p:cNvPr id="2" name="slide-subtitle">
            <a:extLst>
              <a:ext uri="{FF2B5EF4-FFF2-40B4-BE49-F238E27FC236}">
                <a16:creationId xmlns:a16="http://schemas.microsoft.com/office/drawing/2014/main" id="{E2ED23F4-26A0-4BE7-A479-8944ABCB7492}"/>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Perilinfa: rampas vestibular/timpánica; endolinfa: rampa media.</a:t>
            </a:r>
          </a:p>
        </p:txBody>
      </p:sp>
      <p:sp>
        <p:nvSpPr>
          <p:cNvPr id="3" name="eyebrow">
            <a:extLst>
              <a:ext uri="{FF2B5EF4-FFF2-40B4-BE49-F238E27FC236}">
                <a16:creationId xmlns:a16="http://schemas.microsoft.com/office/drawing/2014/main" id="{8E6262D8-7BCE-4E0B-BA78-C58450A9055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053</a:t>
            </a:r>
          </a:p>
        </p:txBody>
      </p:sp>
      <p:sp>
        <p:nvSpPr>
          <p:cNvPr id="4" name="U06-DG-033-layer_1-anchor">
            <a:extLst>
              <a:ext uri="{FF2B5EF4-FFF2-40B4-BE49-F238E27FC236}">
                <a16:creationId xmlns:a16="http://schemas.microsoft.com/office/drawing/2014/main" id="{763EE1B6-0B11-40D5-A132-EBE803E13652}"/>
              </a:ext>
            </a:extLst>
          </p:cNvPr>
          <p:cNvSpPr>
            <a:spLocks noGrp="1"/>
          </p:cNvSpPr>
          <p:nvPr/>
        </p:nvSpPr>
        <p:spPr>
          <a:xfrm>
            <a:off x="1714500" y="1276350"/>
            <a:ext cx="8763000" cy="1384300"/>
          </a:xfrm>
          <a:prstGeom prst="roundRect">
            <a:avLst>
              <a:gd name="adj" fmla="val 6881"/>
            </a:avLst>
          </a:prstGeom>
          <a:noFill/>
          <a:ln w="0">
            <a:noFill/>
            <a:prstDash val="solid"/>
          </a:ln>
        </p:spPr>
      </p:sp>
      <p:sp>
        <p:nvSpPr>
          <p:cNvPr id="5" name="U06-DG-033-layer_2-anchor">
            <a:extLst>
              <a:ext uri="{FF2B5EF4-FFF2-40B4-BE49-F238E27FC236}">
                <a16:creationId xmlns:a16="http://schemas.microsoft.com/office/drawing/2014/main" id="{0ED961B2-E939-4C7B-A16C-096B89E64FFF}"/>
              </a:ext>
            </a:extLst>
          </p:cNvPr>
          <p:cNvSpPr>
            <a:spLocks noGrp="1"/>
          </p:cNvSpPr>
          <p:nvPr/>
        </p:nvSpPr>
        <p:spPr>
          <a:xfrm>
            <a:off x="1714500" y="2755900"/>
            <a:ext cx="8763000" cy="1384300"/>
          </a:xfrm>
          <a:prstGeom prst="roundRect">
            <a:avLst>
              <a:gd name="adj" fmla="val 6881"/>
            </a:avLst>
          </a:prstGeom>
          <a:noFill/>
          <a:ln w="0">
            <a:noFill/>
            <a:prstDash val="solid"/>
          </a:ln>
        </p:spPr>
      </p:sp>
      <p:sp>
        <p:nvSpPr>
          <p:cNvPr id="6" name="U06-DG-033-layer_3-anchor">
            <a:extLst>
              <a:ext uri="{FF2B5EF4-FFF2-40B4-BE49-F238E27FC236}">
                <a16:creationId xmlns:a16="http://schemas.microsoft.com/office/drawing/2014/main" id="{B381AF20-1B28-4227-89E5-AE06D9767858}"/>
              </a:ext>
            </a:extLst>
          </p:cNvPr>
          <p:cNvSpPr>
            <a:spLocks noGrp="1"/>
          </p:cNvSpPr>
          <p:nvPr/>
        </p:nvSpPr>
        <p:spPr>
          <a:xfrm>
            <a:off x="1714500" y="4235450"/>
            <a:ext cx="8763000" cy="1384300"/>
          </a:xfrm>
          <a:prstGeom prst="roundRect">
            <a:avLst>
              <a:gd name="adj" fmla="val 6881"/>
            </a:avLst>
          </a:prstGeom>
          <a:noFill/>
          <a:ln w="0">
            <a:noFill/>
            <a:prstDash val="solid"/>
          </a:ln>
        </p:spPr>
      </p:sp>
      <p:sp>
        <p:nvSpPr>
          <p:cNvPr id="7" name="U06-DG-033-layer_1-box" descr="Diagrama sobre «Perilinfa y endolinfa no ocupan los mismos espacios»; organiza comparación por ubicación y función en esta unidad; sin composición iónica detallada." title="Texto alternativo U06-053">
            <a:extLst>
              <a:ext uri="{FF2B5EF4-FFF2-40B4-BE49-F238E27FC236}">
                <a16:creationId xmlns:a16="http://schemas.microsoft.com/office/drawing/2014/main" id="{5ED664A9-4EE7-40DB-99C0-F485580368A6}"/>
              </a:ext>
            </a:extLst>
          </p:cNvPr>
          <p:cNvSpPr>
            <a:spLocks noGrp="1"/>
          </p:cNvSpPr>
          <p:nvPr/>
        </p:nvSpPr>
        <p:spPr>
          <a:xfrm>
            <a:off x="1714500" y="1276350"/>
            <a:ext cx="8763000" cy="1384300"/>
          </a:xfrm>
          <a:prstGeom prst="roundRect">
            <a:avLst>
              <a:gd name="adj" fmla="val 6881"/>
            </a:avLst>
          </a:prstGeom>
          <a:solidFill>
            <a:srgbClr val="E7F1F1"/>
          </a:solidFill>
          <a:ln w="19050">
            <a:solidFill>
              <a:srgbClr val="2F7E83"/>
            </a:solidFill>
            <a:prstDash val="solid"/>
          </a:ln>
        </p:spPr>
      </p:sp>
      <p:sp>
        <p:nvSpPr>
          <p:cNvPr id="8" name="U06-DG-033-layer_1-title">
            <a:extLst>
              <a:ext uri="{FF2B5EF4-FFF2-40B4-BE49-F238E27FC236}">
                <a16:creationId xmlns:a16="http://schemas.microsoft.com/office/drawing/2014/main" id="{156361AB-31A8-4F0B-9165-BEEFBD7E0E56}"/>
              </a:ext>
            </a:extLst>
          </p:cNvPr>
          <p:cNvSpPr>
            <a:spLocks noGrp="1"/>
          </p:cNvSpPr>
          <p:nvPr/>
        </p:nvSpPr>
        <p:spPr>
          <a:xfrm>
            <a:off x="1905000" y="1419225"/>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Rampa vestibular</a:t>
            </a:r>
          </a:p>
        </p:txBody>
      </p:sp>
      <p:sp>
        <p:nvSpPr>
          <p:cNvPr id="9" name="U06-DG-033-layer_1-body">
            <a:extLst>
              <a:ext uri="{FF2B5EF4-FFF2-40B4-BE49-F238E27FC236}">
                <a16:creationId xmlns:a16="http://schemas.microsoft.com/office/drawing/2014/main" id="{A3B87E74-E949-40A7-A6EC-E4A1B3338AD7}"/>
              </a:ext>
            </a:extLst>
          </p:cNvPr>
          <p:cNvSpPr>
            <a:spLocks noGrp="1"/>
          </p:cNvSpPr>
          <p:nvPr/>
        </p:nvSpPr>
        <p:spPr>
          <a:xfrm>
            <a:off x="1905000" y="1866900"/>
            <a:ext cx="8382000" cy="6985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perilinfa</a:t>
            </a:r>
          </a:p>
        </p:txBody>
      </p:sp>
      <p:sp>
        <p:nvSpPr>
          <p:cNvPr id="10" name="U06-DG-033-layer_2-box">
            <a:extLst>
              <a:ext uri="{FF2B5EF4-FFF2-40B4-BE49-F238E27FC236}">
                <a16:creationId xmlns:a16="http://schemas.microsoft.com/office/drawing/2014/main" id="{DDFC3128-778A-41DC-BC0E-9801FF10355C}"/>
              </a:ext>
            </a:extLst>
          </p:cNvPr>
          <p:cNvSpPr>
            <a:spLocks noGrp="1"/>
          </p:cNvSpPr>
          <p:nvPr/>
        </p:nvSpPr>
        <p:spPr>
          <a:xfrm>
            <a:off x="1714500" y="2755900"/>
            <a:ext cx="8763000" cy="1384300"/>
          </a:xfrm>
          <a:prstGeom prst="roundRect">
            <a:avLst>
              <a:gd name="adj" fmla="val 6881"/>
            </a:avLst>
          </a:prstGeom>
          <a:solidFill>
            <a:srgbClr val="F8EDE2"/>
          </a:solidFill>
          <a:ln w="19050">
            <a:solidFill>
              <a:srgbClr val="9F541A"/>
            </a:solidFill>
            <a:prstDash val="solid"/>
          </a:ln>
        </p:spPr>
      </p:sp>
      <p:sp>
        <p:nvSpPr>
          <p:cNvPr id="11" name="U06-DG-033-layer_2-title">
            <a:extLst>
              <a:ext uri="{FF2B5EF4-FFF2-40B4-BE49-F238E27FC236}">
                <a16:creationId xmlns:a16="http://schemas.microsoft.com/office/drawing/2014/main" id="{78498C63-5595-482D-BC27-E8ACD68AA9E3}"/>
              </a:ext>
            </a:extLst>
          </p:cNvPr>
          <p:cNvSpPr>
            <a:spLocks noGrp="1"/>
          </p:cNvSpPr>
          <p:nvPr/>
        </p:nvSpPr>
        <p:spPr>
          <a:xfrm>
            <a:off x="1905000" y="2898775"/>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Conducto coclear</a:t>
            </a:r>
          </a:p>
        </p:txBody>
      </p:sp>
      <p:sp>
        <p:nvSpPr>
          <p:cNvPr id="12" name="U06-DG-033-layer_2-body">
            <a:extLst>
              <a:ext uri="{FF2B5EF4-FFF2-40B4-BE49-F238E27FC236}">
                <a16:creationId xmlns:a16="http://schemas.microsoft.com/office/drawing/2014/main" id="{8E6B7C44-DE67-4C86-930C-DBA5FB55E792}"/>
              </a:ext>
            </a:extLst>
          </p:cNvPr>
          <p:cNvSpPr>
            <a:spLocks noGrp="1"/>
          </p:cNvSpPr>
          <p:nvPr/>
        </p:nvSpPr>
        <p:spPr>
          <a:xfrm>
            <a:off x="1905000" y="3346450"/>
            <a:ext cx="8382000" cy="6985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endolinfa</a:t>
            </a:r>
          </a:p>
        </p:txBody>
      </p:sp>
      <p:sp>
        <p:nvSpPr>
          <p:cNvPr id="13" name="U06-DG-033-layer_3-box">
            <a:extLst>
              <a:ext uri="{FF2B5EF4-FFF2-40B4-BE49-F238E27FC236}">
                <a16:creationId xmlns:a16="http://schemas.microsoft.com/office/drawing/2014/main" id="{33319D8B-E157-4B9B-8CE5-C395E8E55100}"/>
              </a:ext>
            </a:extLst>
          </p:cNvPr>
          <p:cNvSpPr>
            <a:spLocks noGrp="1"/>
          </p:cNvSpPr>
          <p:nvPr/>
        </p:nvSpPr>
        <p:spPr>
          <a:xfrm>
            <a:off x="1714500" y="4235450"/>
            <a:ext cx="8763000" cy="1384300"/>
          </a:xfrm>
          <a:prstGeom prst="roundRect">
            <a:avLst>
              <a:gd name="adj" fmla="val 6881"/>
            </a:avLst>
          </a:prstGeom>
          <a:solidFill>
            <a:srgbClr val="E7F1F1"/>
          </a:solidFill>
          <a:ln w="19050">
            <a:solidFill>
              <a:srgbClr val="2F7E83"/>
            </a:solidFill>
            <a:prstDash val="solid"/>
          </a:ln>
        </p:spPr>
      </p:sp>
      <p:sp>
        <p:nvSpPr>
          <p:cNvPr id="14" name="U06-DG-033-layer_3-title">
            <a:extLst>
              <a:ext uri="{FF2B5EF4-FFF2-40B4-BE49-F238E27FC236}">
                <a16:creationId xmlns:a16="http://schemas.microsoft.com/office/drawing/2014/main" id="{2F762796-3ACD-4E79-B589-CBB1155953EB}"/>
              </a:ext>
            </a:extLst>
          </p:cNvPr>
          <p:cNvSpPr>
            <a:spLocks noGrp="1"/>
          </p:cNvSpPr>
          <p:nvPr/>
        </p:nvSpPr>
        <p:spPr>
          <a:xfrm>
            <a:off x="1905000" y="4378325"/>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Rampa timpánica</a:t>
            </a:r>
          </a:p>
        </p:txBody>
      </p:sp>
      <p:sp>
        <p:nvSpPr>
          <p:cNvPr id="15" name="U06-DG-033-layer_3-body">
            <a:extLst>
              <a:ext uri="{FF2B5EF4-FFF2-40B4-BE49-F238E27FC236}">
                <a16:creationId xmlns:a16="http://schemas.microsoft.com/office/drawing/2014/main" id="{1A1D0BCF-7393-4E82-9A5A-D4A16D006745}"/>
              </a:ext>
            </a:extLst>
          </p:cNvPr>
          <p:cNvSpPr>
            <a:spLocks noGrp="1"/>
          </p:cNvSpPr>
          <p:nvPr/>
        </p:nvSpPr>
        <p:spPr>
          <a:xfrm>
            <a:off x="1905000" y="4826000"/>
            <a:ext cx="8382000" cy="6985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perilinfa</a:t>
            </a:r>
          </a:p>
        </p:txBody>
      </p:sp>
      <p:sp>
        <p:nvSpPr>
          <p:cNvPr id="16" name="caption">
            <a:extLst>
              <a:ext uri="{FF2B5EF4-FFF2-40B4-BE49-F238E27FC236}">
                <a16:creationId xmlns:a16="http://schemas.microsoft.com/office/drawing/2014/main" id="{1259168E-B367-4A2E-863F-712A8B06F9FA}"/>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Perilinfa: rampas vestibular/timpánica; endolinfa: rampa media.</a:t>
            </a:r>
          </a:p>
        </p:txBody>
      </p:sp>
      <p:sp>
        <p:nvSpPr>
          <p:cNvPr id="17" name="credit">
            <a:extLst>
              <a:ext uri="{FF2B5EF4-FFF2-40B4-BE49-F238E27FC236}">
                <a16:creationId xmlns:a16="http://schemas.microsoft.com/office/drawing/2014/main" id="{F21E753F-B2AD-4AF7-AE7D-7511B4F50C2C}"/>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9AF5A7F-6FE1-4AB9-8728-CEC5532AA903}"/>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Reissner y basilar delimitan la rampa media</a:t>
            </a:r>
          </a:p>
        </p:txBody>
      </p:sp>
      <p:sp>
        <p:nvSpPr>
          <p:cNvPr id="2" name="slide-subtitle">
            <a:extLst>
              <a:ext uri="{FF2B5EF4-FFF2-40B4-BE49-F238E27FC236}">
                <a16:creationId xmlns:a16="http://schemas.microsoft.com/office/drawing/2014/main" id="{AA7E4D67-EA28-4E62-9494-9EA79F1955BD}"/>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Las membranas separan compartimentos y sostienen la micromecánica.</a:t>
            </a:r>
          </a:p>
        </p:txBody>
      </p:sp>
      <p:sp>
        <p:nvSpPr>
          <p:cNvPr id="3" name="eyebrow">
            <a:extLst>
              <a:ext uri="{FF2B5EF4-FFF2-40B4-BE49-F238E27FC236}">
                <a16:creationId xmlns:a16="http://schemas.microsoft.com/office/drawing/2014/main" id="{EE79004F-7C09-4E9E-9633-22AA28288DD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054</a:t>
            </a:r>
          </a:p>
        </p:txBody>
      </p:sp>
      <p:sp>
        <p:nvSpPr>
          <p:cNvPr id="4" name="main-ideas">
            <a:extLst>
              <a:ext uri="{FF2B5EF4-FFF2-40B4-BE49-F238E27FC236}">
                <a16:creationId xmlns:a16="http://schemas.microsoft.com/office/drawing/2014/main" id="{FA67E586-91F9-4DC9-886E-25F7DCC5B5EE}"/>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Las membranas separan compartimentos y sostienen la micromecánica.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Reissner arriba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basilar abajo</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órgano de Corti apoyado en basilar.</a:t>
            </a:r>
          </a:p>
        </p:txBody>
      </p:sp>
      <p:sp>
        <p:nvSpPr>
          <p:cNvPr id="5" name="side-panel-box">
            <a:extLst>
              <a:ext uri="{FF2B5EF4-FFF2-40B4-BE49-F238E27FC236}">
                <a16:creationId xmlns:a16="http://schemas.microsoft.com/office/drawing/2014/main" id="{5269F175-900C-4BC5-8ECE-BC8343DC6035}"/>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43E0F08A-78AC-4553-A574-A193EB200066}"/>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434E0C99-E813-47CA-A7A2-EE9A656F06A3}"/>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Las membranas separan compartimentos y sostienen la micromecánica.</a:t>
            </a:r>
          </a:p>
        </p:txBody>
      </p:sp>
      <p:sp>
        <p:nvSpPr>
          <p:cNvPr id="8" name="caption">
            <a:extLst>
              <a:ext uri="{FF2B5EF4-FFF2-40B4-BE49-F238E27FC236}">
                <a16:creationId xmlns:a16="http://schemas.microsoft.com/office/drawing/2014/main" id="{3F7A0E62-6AA0-4CDC-8F1A-125C5D92162B}"/>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Las membranas separan compartimentos y sostienen la micromecánica.</a:t>
            </a:r>
          </a:p>
        </p:txBody>
      </p:sp>
      <p:sp>
        <p:nvSpPr>
          <p:cNvPr id="9" name="credit">
            <a:extLst>
              <a:ext uri="{FF2B5EF4-FFF2-40B4-BE49-F238E27FC236}">
                <a16:creationId xmlns:a16="http://schemas.microsoft.com/office/drawing/2014/main" id="{41E71FAD-25A4-4D3D-94AC-F20AECB88BD9}"/>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6.7.1; PDF p. 160.</a:t>
            </a:r>
          </a:p>
        </p:txBody>
      </p:sp>
    </p:spTree>
    <p:extLst>
      <p:ext uri="{BB962C8B-B14F-4D97-AF65-F5344CB8AC3E}">
        <p14:creationId xmlns:p14="http://schemas.microsoft.com/office/powerpoint/2010/main" val="16872630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8E883F58-36A1-4860-B1DA-72784EFC32F6}"/>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La membrana tectorial se relaciona con los haces de estereocilios</a:t>
            </a:r>
          </a:p>
        </p:txBody>
      </p:sp>
      <p:sp>
        <p:nvSpPr>
          <p:cNvPr id="2" name="eyebrow">
            <a:extLst>
              <a:ext uri="{FF2B5EF4-FFF2-40B4-BE49-F238E27FC236}">
                <a16:creationId xmlns:a16="http://schemas.microsoft.com/office/drawing/2014/main" id="{EFA38488-1718-4534-9063-EBA22E33B7E9}"/>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055</a:t>
            </a:r>
          </a:p>
        </p:txBody>
      </p:sp>
      <p:sp>
        <p:nvSpPr>
          <p:cNvPr id="3" name="main-ideas">
            <a:extLst>
              <a:ext uri="{FF2B5EF4-FFF2-40B4-BE49-F238E27FC236}">
                <a16:creationId xmlns:a16="http://schemas.microsoft.com/office/drawing/2014/main" id="{CBB89BFF-61B4-4030-A15F-F97EAD37C9F5}"/>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El estímulo celular depende de movimiento relativo dentro de la partición.</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Basilar, órgano de Corti, tectorial y estereocilios</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relación espacial básica.</a:t>
            </a:r>
          </a:p>
        </p:txBody>
      </p:sp>
      <p:sp>
        <p:nvSpPr>
          <p:cNvPr id="4" name="side-panel-box">
            <a:extLst>
              <a:ext uri="{FF2B5EF4-FFF2-40B4-BE49-F238E27FC236}">
                <a16:creationId xmlns:a16="http://schemas.microsoft.com/office/drawing/2014/main" id="{30BF0309-AB2E-4581-BB47-EAD0590FD497}"/>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5" name="side-panel-title">
            <a:extLst>
              <a:ext uri="{FF2B5EF4-FFF2-40B4-BE49-F238E27FC236}">
                <a16:creationId xmlns:a16="http://schemas.microsoft.com/office/drawing/2014/main" id="{5AAC050A-B1BA-4D0C-8236-AC193E255B77}"/>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6" name="side-panel-body">
            <a:extLst>
              <a:ext uri="{FF2B5EF4-FFF2-40B4-BE49-F238E27FC236}">
                <a16:creationId xmlns:a16="http://schemas.microsoft.com/office/drawing/2014/main" id="{F479F38D-18A3-4C17-99F8-A9D46AC5F527}"/>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estímulo celular depende de movimiento relativo dentro de la partición.</a:t>
            </a:r>
          </a:p>
        </p:txBody>
      </p:sp>
      <p:sp>
        <p:nvSpPr>
          <p:cNvPr id="7" name="caption">
            <a:extLst>
              <a:ext uri="{FF2B5EF4-FFF2-40B4-BE49-F238E27FC236}">
                <a16:creationId xmlns:a16="http://schemas.microsoft.com/office/drawing/2014/main" id="{436C9145-107E-4AA3-925D-4DAE5952931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estímulo celular depende de movimiento relativo dentro de la partición.</a:t>
            </a:r>
          </a:p>
        </p:txBody>
      </p:sp>
      <p:sp>
        <p:nvSpPr>
          <p:cNvPr id="8" name="credit">
            <a:extLst>
              <a:ext uri="{FF2B5EF4-FFF2-40B4-BE49-F238E27FC236}">
                <a16:creationId xmlns:a16="http://schemas.microsoft.com/office/drawing/2014/main" id="{1313DD89-6E4B-44AB-BF72-C4846D8E6FFE}"/>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6.7.1 y 6.8.1; PDF pp. 160–161; REF fettiplace2017.</a:t>
            </a:r>
          </a:p>
        </p:txBody>
      </p:sp>
    </p:spTree>
    <p:extLst>
      <p:ext uri="{BB962C8B-B14F-4D97-AF65-F5344CB8AC3E}">
        <p14:creationId xmlns:p14="http://schemas.microsoft.com/office/powerpoint/2010/main" val="16872630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B81E31D3-E42C-474B-B18B-3BDD8E0D592D}"/>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El órgano de Corti integra soporte y células sensoriales</a:t>
            </a:r>
          </a:p>
        </p:txBody>
      </p:sp>
      <p:sp>
        <p:nvSpPr>
          <p:cNvPr id="2" name="slide-subtitle">
            <a:extLst>
              <a:ext uri="{FF2B5EF4-FFF2-40B4-BE49-F238E27FC236}">
                <a16:creationId xmlns:a16="http://schemas.microsoft.com/office/drawing/2014/main" id="{0A4C75CF-C1A0-4822-A8BF-0C6EE6D89CDD}"/>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No es una célula ni una membrana: es una organización sobre la basilar.</a:t>
            </a:r>
          </a:p>
        </p:txBody>
      </p:sp>
      <p:sp>
        <p:nvSpPr>
          <p:cNvPr id="3" name="eyebrow">
            <a:extLst>
              <a:ext uri="{FF2B5EF4-FFF2-40B4-BE49-F238E27FC236}">
                <a16:creationId xmlns:a16="http://schemas.microsoft.com/office/drawing/2014/main" id="{E23739C3-E16A-456F-A7ED-FFA81EC7CB4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056</a:t>
            </a:r>
          </a:p>
        </p:txBody>
      </p:sp>
      <p:sp>
        <p:nvSpPr>
          <p:cNvPr id="4" name="main-ideas">
            <a:extLst>
              <a:ext uri="{FF2B5EF4-FFF2-40B4-BE49-F238E27FC236}">
                <a16:creationId xmlns:a16="http://schemas.microsoft.com/office/drawing/2014/main" id="{A7686C3D-22B2-45D2-9F1C-4CD62739E1FE}"/>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No es una célula ni una membrana: es una organización sobre la basilar.</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Definición, ubicación y componentes que se desarrollarán en B07.</a:t>
            </a:r>
          </a:p>
        </p:txBody>
      </p:sp>
      <p:sp>
        <p:nvSpPr>
          <p:cNvPr id="5" name="side-panel-box">
            <a:extLst>
              <a:ext uri="{FF2B5EF4-FFF2-40B4-BE49-F238E27FC236}">
                <a16:creationId xmlns:a16="http://schemas.microsoft.com/office/drawing/2014/main" id="{2B84239D-DECD-45EB-B5CB-E057BD461AA7}"/>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6A0B7A09-7689-4B80-899A-F959F178D574}"/>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7" name="side-panel-body">
            <a:extLst>
              <a:ext uri="{FF2B5EF4-FFF2-40B4-BE49-F238E27FC236}">
                <a16:creationId xmlns:a16="http://schemas.microsoft.com/office/drawing/2014/main" id="{63A514A4-69AD-4AD6-9E30-836ADDA58195}"/>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Órgano de Corti: organización sensorial y de sostén ubicada sobre la membrana basilar.</a:t>
            </a:r>
          </a:p>
        </p:txBody>
      </p:sp>
      <p:sp>
        <p:nvSpPr>
          <p:cNvPr id="8" name="caption">
            <a:extLst>
              <a:ext uri="{FF2B5EF4-FFF2-40B4-BE49-F238E27FC236}">
                <a16:creationId xmlns:a16="http://schemas.microsoft.com/office/drawing/2014/main" id="{C8CFDB53-2B91-49A8-B10F-C7827A0B5DAA}"/>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No es una célula ni una membrana: es una organización sobre la basilar.</a:t>
            </a:r>
          </a:p>
        </p:txBody>
      </p:sp>
      <p:sp>
        <p:nvSpPr>
          <p:cNvPr id="9" name="credit">
            <a:extLst>
              <a:ext uri="{FF2B5EF4-FFF2-40B4-BE49-F238E27FC236}">
                <a16:creationId xmlns:a16="http://schemas.microsoft.com/office/drawing/2014/main" id="{1C9ADDDA-09F5-42EC-A4DB-4E2C7A580A06}"/>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6.8.1; PDF p. 161; REF fettiplace2017.</a:t>
            </a:r>
          </a:p>
        </p:txBody>
      </p:sp>
    </p:spTree>
    <p:extLst>
      <p:ext uri="{BB962C8B-B14F-4D97-AF65-F5344CB8AC3E}">
        <p14:creationId xmlns:p14="http://schemas.microsoft.com/office/powerpoint/2010/main" val="9866304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8C738D38-F9EC-4191-B1C8-9C77C5FCB78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Túnel de Corti: ubicación y delimitación anatómica</a:t>
            </a:r>
          </a:p>
        </p:txBody>
      </p:sp>
      <p:sp>
        <p:nvSpPr>
          <p:cNvPr id="2" name="slide-subtitle">
            <a:extLst>
              <a:ext uri="{FF2B5EF4-FFF2-40B4-BE49-F238E27FC236}">
                <a16:creationId xmlns:a16="http://schemas.microsoft.com/office/drawing/2014/main" id="{427E02C6-E8D9-40E3-9E27-36B225E153C8}"/>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definición y el visual deben provenir de una fuente anatómica validada.</a:t>
            </a:r>
          </a:p>
        </p:txBody>
      </p:sp>
      <p:sp>
        <p:nvSpPr>
          <p:cNvPr id="3" name="eyebrow">
            <a:extLst>
              <a:ext uri="{FF2B5EF4-FFF2-40B4-BE49-F238E27FC236}">
                <a16:creationId xmlns:a16="http://schemas.microsoft.com/office/drawing/2014/main" id="{1A35B26F-C468-4632-B8AC-80A36A284AA0}"/>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057</a:t>
            </a:r>
          </a:p>
        </p:txBody>
      </p:sp>
      <p:sp>
        <p:nvSpPr>
          <p:cNvPr id="4" name="blocked-frame">
            <a:extLst>
              <a:ext uri="{FF2B5EF4-FFF2-40B4-BE49-F238E27FC236}">
                <a16:creationId xmlns:a16="http://schemas.microsoft.com/office/drawing/2014/main" id="{70E3B2F2-38DF-455A-8FE2-BAB20CBA0A74}"/>
              </a:ext>
            </a:extLst>
          </p:cNvPr>
          <p:cNvSpPr>
            <a:spLocks noGrp="1"/>
          </p:cNvSpPr>
          <p:nvPr/>
        </p:nvSpPr>
        <p:spPr>
          <a:xfrm>
            <a:off x="1476375" y="1762125"/>
            <a:ext cx="9239250" cy="3143250"/>
          </a:xfrm>
          <a:prstGeom prst="roundRect">
            <a:avLst>
              <a:gd name="adj" fmla="val 3636"/>
            </a:avLst>
          </a:prstGeom>
          <a:solidFill>
            <a:srgbClr val="F7F6F2"/>
          </a:solidFill>
          <a:ln w="19050">
            <a:solidFill>
              <a:srgbClr val="969FA7"/>
            </a:solidFill>
            <a:prstDash val="solid"/>
          </a:ln>
        </p:spPr>
      </p:sp>
      <p:sp>
        <p:nvSpPr>
          <p:cNvPr id="5" name="blocked-heading">
            <a:extLst>
              <a:ext uri="{FF2B5EF4-FFF2-40B4-BE49-F238E27FC236}">
                <a16:creationId xmlns:a16="http://schemas.microsoft.com/office/drawing/2014/main" id="{4314BEF2-BC2E-4674-A6B9-DFACB0F24878}"/>
              </a:ext>
            </a:extLst>
          </p:cNvPr>
          <p:cNvSpPr>
            <a:spLocks noGrp="1"/>
          </p:cNvSpPr>
          <p:nvPr/>
        </p:nvSpPr>
        <p:spPr>
          <a:xfrm>
            <a:off x="1952625" y="2190750"/>
            <a:ext cx="8286750" cy="523875"/>
          </a:xfrm>
          <a:prstGeom prst="rect">
            <a:avLst/>
          </a:prstGeom>
          <a:noFill/>
          <a:ln w="0">
            <a:noFill/>
            <a:prstDash val="solid"/>
          </a:ln>
        </p:spPr>
        <p:txBody>
          <a:bodyPr wrap="square" lIns="57150" tIns="38100" rIns="57150" bIns="38100" anchor="t">
            <a:noAutofit/>
          </a:bodyPr>
          <a:lstStyle/>
          <a:p>
            <a:pPr algn="ctr">
              <a:lnSpc>
                <a:spcPct val="102000"/>
              </a:lnSpc>
              <a:buNone/>
              <a:defRPr sz="2550" b="1" i="0">
                <a:solidFill>
                  <a:srgbClr val="4D1434"/>
                </a:solidFill>
                <a:latin typeface="Calibri"/>
                <a:ea typeface="Calibri"/>
                <a:cs typeface="Calibri"/>
              </a:defRPr>
            </a:pPr>
            <a:r>
              <a:rPr sz="2550" b="1" i="0">
                <a:solidFill>
                  <a:srgbClr val="4D1434"/>
                </a:solidFill>
                <a:latin typeface="Calibri"/>
                <a:ea typeface="Calibri"/>
                <a:cs typeface="Calibri"/>
              </a:rPr>
              <a:t>Material de respaldo no habilitado para proyección</a:t>
            </a:r>
          </a:p>
        </p:txBody>
      </p:sp>
      <p:sp>
        <p:nvSpPr>
          <p:cNvPr id="6" name="blocked-message">
            <a:extLst>
              <a:ext uri="{FF2B5EF4-FFF2-40B4-BE49-F238E27FC236}">
                <a16:creationId xmlns:a16="http://schemas.microsoft.com/office/drawing/2014/main" id="{B906A073-579B-40ED-891B-4A22D4A775E2}"/>
              </a:ext>
            </a:extLst>
          </p:cNvPr>
          <p:cNvSpPr>
            <a:spLocks noGrp="1"/>
          </p:cNvSpPr>
          <p:nvPr/>
        </p:nvSpPr>
        <p:spPr>
          <a:xfrm>
            <a:off x="2238375" y="3095625"/>
            <a:ext cx="7715250" cy="1000125"/>
          </a:xfrm>
          <a:prstGeom prst="rect">
            <a:avLst/>
          </a:prstGeom>
          <a:noFill/>
          <a:ln w="0">
            <a:noFill/>
            <a:prstDash val="solid"/>
          </a:ln>
        </p:spPr>
        <p:txBody>
          <a:bodyPr wrap="square" lIns="57150" tIns="38100" rIns="57150" bIns="38100" anchor="ctr">
            <a:noAutofit/>
          </a:bodyPr>
          <a:lstStyle/>
          <a:p>
            <a:pPr algn="ctr">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La definición y el rotulado requieren una fuente específica autorizada. Esta versión no completa el contenido por inferencia.</a:t>
            </a:r>
          </a:p>
        </p:txBody>
      </p:sp>
      <p:sp>
        <p:nvSpPr>
          <p:cNvPr id="7" name="blocked-label">
            <a:extLst>
              <a:ext uri="{FF2B5EF4-FFF2-40B4-BE49-F238E27FC236}">
                <a16:creationId xmlns:a16="http://schemas.microsoft.com/office/drawing/2014/main" id="{AE6DDEEE-CC1E-4873-98C6-2208C9F3B264}"/>
              </a:ext>
            </a:extLst>
          </p:cNvPr>
          <p:cNvSpPr>
            <a:spLocks noGrp="1"/>
          </p:cNvSpPr>
          <p:nvPr/>
        </p:nvSpPr>
        <p:spPr>
          <a:xfrm>
            <a:off x="4714875" y="4333875"/>
            <a:ext cx="2762250" cy="381000"/>
          </a:xfrm>
          <a:prstGeom prst="rect">
            <a:avLst/>
          </a:prstGeom>
          <a:noFill/>
          <a:ln w="0">
            <a:noFill/>
            <a:prstDash val="solid"/>
          </a:ln>
        </p:spPr>
        <p:txBody>
          <a:bodyPr wrap="square" lIns="57150" tIns="38100" rIns="57150" bIns="38100" anchor="t">
            <a:noAutofit/>
          </a:bodyPr>
          <a:lstStyle/>
          <a:p>
            <a:pPr algn="ctr">
              <a:lnSpc>
                <a:spcPct val="102000"/>
              </a:lnSpc>
              <a:buNone/>
              <a:defRPr sz="1800" b="1" i="0">
                <a:solidFill>
                  <a:srgbClr val="A33A3A"/>
                </a:solidFill>
                <a:latin typeface="Calibri"/>
                <a:ea typeface="Calibri"/>
                <a:cs typeface="Calibri"/>
              </a:defRPr>
            </a:pPr>
            <a:r>
              <a:rPr sz="1800" b="1" i="0">
                <a:solidFill>
                  <a:srgbClr val="A33A3A"/>
                </a:solidFill>
                <a:latin typeface="Calibri"/>
                <a:ea typeface="Calibri"/>
                <a:cs typeface="Calibri"/>
              </a:rPr>
              <a:t>No proyectar</a:t>
            </a:r>
          </a:p>
        </p:txBody>
      </p:sp>
      <p:sp>
        <p:nvSpPr>
          <p:cNvPr id="8" name="caption">
            <a:extLst>
              <a:ext uri="{FF2B5EF4-FFF2-40B4-BE49-F238E27FC236}">
                <a16:creationId xmlns:a16="http://schemas.microsoft.com/office/drawing/2014/main" id="{85EF81A4-A018-4CB8-A11D-172064264A8C}"/>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Recurso no aprobado: falta fuente específica; no usar en producción.</a:t>
            </a:r>
          </a:p>
        </p:txBody>
      </p:sp>
      <p:sp>
        <p:nvSpPr>
          <p:cNvPr id="9" name="credit">
            <a:extLst>
              <a:ext uri="{FF2B5EF4-FFF2-40B4-BE49-F238E27FC236}">
                <a16:creationId xmlns:a16="http://schemas.microsoft.com/office/drawing/2014/main" id="{FBC11622-74FA-438A-9060-D7BFC047CD72}"/>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SA vacío 6; OD-U06-04; EXT-PEND.</a:t>
            </a:r>
          </a:p>
        </p:txBody>
      </p:sp>
    </p:spTree>
    <p:extLst>
      <p:ext uri="{BB962C8B-B14F-4D97-AF65-F5344CB8AC3E}">
        <p14:creationId xmlns:p14="http://schemas.microsoft.com/office/powerpoint/2010/main" val="9866304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62FEC5E6-41F8-4406-8B85-D7A7E23F360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¿Qué cambia entre la vista longitudinal y el corte?</a:t>
            </a:r>
          </a:p>
        </p:txBody>
      </p:sp>
      <p:sp>
        <p:nvSpPr>
          <p:cNvPr id="2" name="slide-subtitle">
            <a:extLst>
              <a:ext uri="{FF2B5EF4-FFF2-40B4-BE49-F238E27FC236}">
                <a16:creationId xmlns:a16="http://schemas.microsoft.com/office/drawing/2014/main" id="{529BC15F-4966-4D7A-869A-9166075B6BDE}"/>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Cada vista responde una pregunta distinta y ambas son necesarias.</a:t>
            </a:r>
          </a:p>
        </p:txBody>
      </p:sp>
      <p:sp>
        <p:nvSpPr>
          <p:cNvPr id="3" name="eyebrow">
            <a:extLst>
              <a:ext uri="{FF2B5EF4-FFF2-40B4-BE49-F238E27FC236}">
                <a16:creationId xmlns:a16="http://schemas.microsoft.com/office/drawing/2014/main" id="{8B0B5D54-A504-4957-AAB0-7E22382BC079}"/>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058</a:t>
            </a:r>
          </a:p>
        </p:txBody>
      </p:sp>
      <p:sp>
        <p:nvSpPr>
          <p:cNvPr id="4" name="U06-DG-031-stage_1-anchor">
            <a:extLst>
              <a:ext uri="{FF2B5EF4-FFF2-40B4-BE49-F238E27FC236}">
                <a16:creationId xmlns:a16="http://schemas.microsoft.com/office/drawing/2014/main" id="{EDC31241-EB23-4FB6-A4B9-FD863A1C4717}"/>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31-stage_2-anchor">
            <a:extLst>
              <a:ext uri="{FF2B5EF4-FFF2-40B4-BE49-F238E27FC236}">
                <a16:creationId xmlns:a16="http://schemas.microsoft.com/office/drawing/2014/main" id="{A6AC62E1-9211-4FB6-8FE9-13E8A3D6F952}"/>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31-stage_3-anchor">
            <a:extLst>
              <a:ext uri="{FF2B5EF4-FFF2-40B4-BE49-F238E27FC236}">
                <a16:creationId xmlns:a16="http://schemas.microsoft.com/office/drawing/2014/main" id="{54F63849-06B4-4A62-8EB4-773FE7C45632}"/>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31-stage_4-anchor">
            <a:extLst>
              <a:ext uri="{FF2B5EF4-FFF2-40B4-BE49-F238E27FC236}">
                <a16:creationId xmlns:a16="http://schemas.microsoft.com/office/drawing/2014/main" id="{EC949A6D-06C8-4FF2-A3E5-67AB97F713DC}"/>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31-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31-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31-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31-stage_1-box" descr="Diagrama sobre «¿Qué cambia entre la vista longitudinal y el corte?»; organiza emparejar estructuras visibles en una vista, en ambas o solo en el corte." title="Texto alternativo U06-058">
            <a:extLst>
              <a:ext uri="{FF2B5EF4-FFF2-40B4-BE49-F238E27FC236}">
                <a16:creationId xmlns:a16="http://schemas.microsoft.com/office/drawing/2014/main" id="{C08BC30C-F73B-44F2-BBE1-2BF64EFFA39F}"/>
              </a:ext>
            </a:extLst>
          </p:cNvPr>
          <p:cNvSpPr>
            <a:spLocks noGrp="1"/>
          </p:cNvSpPr>
          <p:nvPr/>
        </p:nvSpPr>
        <p:spPr>
          <a:xfrm>
            <a:off x="781050" y="2428875"/>
            <a:ext cx="2428875" cy="1666875"/>
          </a:xfrm>
          <a:prstGeom prst="roundRect">
            <a:avLst>
              <a:gd name="adj" fmla="val 5714"/>
            </a:avLst>
          </a:prstGeom>
          <a:solidFill>
            <a:srgbClr val="F4E9EF"/>
          </a:solidFill>
          <a:ln w="19050">
            <a:solidFill>
              <a:srgbClr val="4D1434"/>
            </a:solidFill>
            <a:prstDash val="solid"/>
          </a:ln>
        </p:spPr>
      </p:sp>
      <p:sp>
        <p:nvSpPr>
          <p:cNvPr id="12" name="U06-DG-031-stage_1-title">
            <a:extLst>
              <a:ext uri="{FF2B5EF4-FFF2-40B4-BE49-F238E27FC236}">
                <a16:creationId xmlns:a16="http://schemas.microsoft.com/office/drawing/2014/main" id="{8361DC52-CDB1-4F59-987D-2175D076A7AF}"/>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Base</a:t>
            </a:r>
          </a:p>
        </p:txBody>
      </p:sp>
      <p:sp>
        <p:nvSpPr>
          <p:cNvPr id="13" name="U06-DG-031-stage_1-body">
            <a:extLst>
              <a:ext uri="{FF2B5EF4-FFF2-40B4-BE49-F238E27FC236}">
                <a16:creationId xmlns:a16="http://schemas.microsoft.com/office/drawing/2014/main" id="{A36412C8-5F96-46BD-A4E6-B10DD438AA29}"/>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ventanas</a:t>
            </a:r>
          </a:p>
        </p:txBody>
      </p:sp>
      <p:sp>
        <p:nvSpPr>
          <p:cNvPr id="14" name="U06-DG-031-stage_2-box">
            <a:extLst>
              <a:ext uri="{FF2B5EF4-FFF2-40B4-BE49-F238E27FC236}">
                <a16:creationId xmlns:a16="http://schemas.microsoft.com/office/drawing/2014/main" id="{884D3A74-F6E6-4C67-A3F8-3D72AC42AF3A}"/>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5" name="U06-DG-031-stage_2-title">
            <a:extLst>
              <a:ext uri="{FF2B5EF4-FFF2-40B4-BE49-F238E27FC236}">
                <a16:creationId xmlns:a16="http://schemas.microsoft.com/office/drawing/2014/main" id="{14236883-FC7E-443E-99BB-4EF8F1850ECE}"/>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Primera vuelta</a:t>
            </a:r>
          </a:p>
        </p:txBody>
      </p:sp>
      <p:sp>
        <p:nvSpPr>
          <p:cNvPr id="16" name="U06-DG-031-stage_2-body">
            <a:extLst>
              <a:ext uri="{FF2B5EF4-FFF2-40B4-BE49-F238E27FC236}">
                <a16:creationId xmlns:a16="http://schemas.microsoft.com/office/drawing/2014/main" id="{D54194A2-1CB9-4D9B-9FFD-8438EF47B84E}"/>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trayecto</a:t>
            </a:r>
          </a:p>
        </p:txBody>
      </p:sp>
      <p:sp>
        <p:nvSpPr>
          <p:cNvPr id="17" name="U06-DG-031-stage_3-box">
            <a:extLst>
              <a:ext uri="{FF2B5EF4-FFF2-40B4-BE49-F238E27FC236}">
                <a16:creationId xmlns:a16="http://schemas.microsoft.com/office/drawing/2014/main" id="{A6A89F00-8F71-4C2E-9515-74CE75A8F185}"/>
              </a:ext>
            </a:extLst>
          </p:cNvPr>
          <p:cNvSpPr>
            <a:spLocks noGrp="1"/>
          </p:cNvSpPr>
          <p:nvPr/>
        </p:nvSpPr>
        <p:spPr>
          <a:xfrm>
            <a:off x="6248400" y="2428875"/>
            <a:ext cx="2428875" cy="1666875"/>
          </a:xfrm>
          <a:prstGeom prst="roundRect">
            <a:avLst>
              <a:gd name="adj" fmla="val 5714"/>
            </a:avLst>
          </a:prstGeom>
          <a:solidFill>
            <a:srgbClr val="E7F1F1"/>
          </a:solidFill>
          <a:ln w="19050">
            <a:solidFill>
              <a:srgbClr val="2F7E83"/>
            </a:solidFill>
            <a:prstDash val="solid"/>
          </a:ln>
        </p:spPr>
      </p:sp>
      <p:sp>
        <p:nvSpPr>
          <p:cNvPr id="18" name="U06-DG-031-stage_3-title">
            <a:extLst>
              <a:ext uri="{FF2B5EF4-FFF2-40B4-BE49-F238E27FC236}">
                <a16:creationId xmlns:a16="http://schemas.microsoft.com/office/drawing/2014/main" id="{00A165EB-2891-41CE-96E9-3391B0B4139C}"/>
              </a:ext>
            </a:extLst>
          </p:cNvPr>
          <p:cNvSpPr>
            <a:spLocks noGrp="1"/>
          </p:cNvSpPr>
          <p:nvPr/>
        </p:nvSpPr>
        <p:spPr>
          <a:xfrm>
            <a:off x="643890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Vueltas apicales</a:t>
            </a:r>
          </a:p>
        </p:txBody>
      </p:sp>
      <p:sp>
        <p:nvSpPr>
          <p:cNvPr id="19" name="U06-DG-031-stage_3-body">
            <a:extLst>
              <a:ext uri="{FF2B5EF4-FFF2-40B4-BE49-F238E27FC236}">
                <a16:creationId xmlns:a16="http://schemas.microsoft.com/office/drawing/2014/main" id="{F1E4FAF3-4648-4B26-8A41-7E009357B7B8}"/>
              </a:ext>
            </a:extLst>
          </p:cNvPr>
          <p:cNvSpPr>
            <a:spLocks noGrp="1"/>
          </p:cNvSpPr>
          <p:nvPr/>
        </p:nvSpPr>
        <p:spPr>
          <a:xfrm>
            <a:off x="643890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continúan</a:t>
            </a:r>
          </a:p>
        </p:txBody>
      </p:sp>
      <p:sp>
        <p:nvSpPr>
          <p:cNvPr id="20" name="U06-DG-031-stage_4-box">
            <a:extLst>
              <a:ext uri="{FF2B5EF4-FFF2-40B4-BE49-F238E27FC236}">
                <a16:creationId xmlns:a16="http://schemas.microsoft.com/office/drawing/2014/main" id="{74340254-B9F4-4FB5-8C33-8720E4A1DEB1}"/>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31-stage_4-title">
            <a:extLst>
              <a:ext uri="{FF2B5EF4-FFF2-40B4-BE49-F238E27FC236}">
                <a16:creationId xmlns:a16="http://schemas.microsoft.com/office/drawing/2014/main" id="{1EC7821A-1F9D-4C60-9FA8-50DDFB5C17FB}"/>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Ápex</a:t>
            </a:r>
          </a:p>
        </p:txBody>
      </p:sp>
      <p:sp>
        <p:nvSpPr>
          <p:cNvPr id="22" name="U06-DG-031-stage_4-body">
            <a:extLst>
              <a:ext uri="{FF2B5EF4-FFF2-40B4-BE49-F238E27FC236}">
                <a16:creationId xmlns:a16="http://schemas.microsoft.com/office/drawing/2014/main" id="{207C241F-59E8-4BF1-8AD9-585FB56D69D4}"/>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helicotrema</a:t>
            </a:r>
          </a:p>
        </p:txBody>
      </p:sp>
      <p:sp>
        <p:nvSpPr>
          <p:cNvPr id="23" name="caption">
            <a:extLst>
              <a:ext uri="{FF2B5EF4-FFF2-40B4-BE49-F238E27FC236}">
                <a16:creationId xmlns:a16="http://schemas.microsoft.com/office/drawing/2014/main" id="{C7E2F753-34C8-4060-9788-50964DE5CF3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Cada vista responde una pregunta distinta y ambas son necesarias.</a:t>
            </a:r>
          </a:p>
        </p:txBody>
      </p:sp>
      <p:sp>
        <p:nvSpPr>
          <p:cNvPr id="24" name="credit">
            <a:extLst>
              <a:ext uri="{FF2B5EF4-FFF2-40B4-BE49-F238E27FC236}">
                <a16:creationId xmlns:a16="http://schemas.microsoft.com/office/drawing/2014/main" id="{D91F950E-1C7D-493E-B6A5-B25EAC1366C2}"/>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732971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BA28ACE2-10E5-4E12-A098-35F831E94DCD}"/>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Una frontera móvil altera toda la cadena hidromecánica</a:t>
            </a:r>
          </a:p>
        </p:txBody>
      </p:sp>
      <p:sp>
        <p:nvSpPr>
          <p:cNvPr id="2" name="slide-subtitle">
            <a:extLst>
              <a:ext uri="{FF2B5EF4-FFF2-40B4-BE49-F238E27FC236}">
                <a16:creationId xmlns:a16="http://schemas.microsoft.com/office/drawing/2014/main" id="{9237664F-E4A6-44F8-92B1-F775576C4268}"/>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Una estructura aislada no explica por sí sola la respuesta registrada.</a:t>
            </a:r>
          </a:p>
        </p:txBody>
      </p:sp>
      <p:sp>
        <p:nvSpPr>
          <p:cNvPr id="3" name="eyebrow">
            <a:extLst>
              <a:ext uri="{FF2B5EF4-FFF2-40B4-BE49-F238E27FC236}">
                <a16:creationId xmlns:a16="http://schemas.microsoft.com/office/drawing/2014/main" id="{2D2F3721-CA73-471D-8E14-FFC890560BB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059</a:t>
            </a:r>
          </a:p>
        </p:txBody>
      </p:sp>
      <p:sp>
        <p:nvSpPr>
          <p:cNvPr id="4" name="U06-DG-030-stage_1-anchor">
            <a:extLst>
              <a:ext uri="{FF2B5EF4-FFF2-40B4-BE49-F238E27FC236}">
                <a16:creationId xmlns:a16="http://schemas.microsoft.com/office/drawing/2014/main" id="{CFD568B8-2446-484E-8D3B-B77A44FAECDB}"/>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30-stage_2-anchor">
            <a:extLst>
              <a:ext uri="{FF2B5EF4-FFF2-40B4-BE49-F238E27FC236}">
                <a16:creationId xmlns:a16="http://schemas.microsoft.com/office/drawing/2014/main" id="{84F03AFA-16C7-40B1-AB5F-27B366A422CD}"/>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30-stage_3-anchor">
            <a:extLst>
              <a:ext uri="{FF2B5EF4-FFF2-40B4-BE49-F238E27FC236}">
                <a16:creationId xmlns:a16="http://schemas.microsoft.com/office/drawing/2014/main" id="{F75A418B-ABB2-45E4-A82F-1312A5BF3148}"/>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30-stage_4-anchor">
            <a:extLst>
              <a:ext uri="{FF2B5EF4-FFF2-40B4-BE49-F238E27FC236}">
                <a16:creationId xmlns:a16="http://schemas.microsoft.com/office/drawing/2014/main" id="{E6286570-0293-49A7-A407-76B9B37613FF}"/>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30-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30-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30-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30-stage_1-box" descr="Diagrama sobre «Una frontera móvil altera toda la cadena hidromecánica»; organiza caso conceptual: movilidad de ventana/partición y consecuencias posibles." title="Texto alternativo U06-059">
            <a:extLst>
              <a:ext uri="{FF2B5EF4-FFF2-40B4-BE49-F238E27FC236}">
                <a16:creationId xmlns:a16="http://schemas.microsoft.com/office/drawing/2014/main" id="{A6C7B218-96A3-43F0-B4D6-BC278BE50948}"/>
              </a:ext>
            </a:extLst>
          </p:cNvPr>
          <p:cNvSpPr>
            <a:spLocks noGrp="1"/>
          </p:cNvSpPr>
          <p:nvPr/>
        </p:nvSpPr>
        <p:spPr>
          <a:xfrm>
            <a:off x="781050" y="2428875"/>
            <a:ext cx="2428875" cy="1666875"/>
          </a:xfrm>
          <a:prstGeom prst="roundRect">
            <a:avLst>
              <a:gd name="adj" fmla="val 5714"/>
            </a:avLst>
          </a:prstGeom>
          <a:solidFill>
            <a:srgbClr val="F4E9EF"/>
          </a:solidFill>
          <a:ln w="19050">
            <a:solidFill>
              <a:srgbClr val="4D1434"/>
            </a:solidFill>
            <a:prstDash val="solid"/>
          </a:ln>
        </p:spPr>
      </p:sp>
      <p:sp>
        <p:nvSpPr>
          <p:cNvPr id="12" name="U06-DG-030-stage_1-title">
            <a:extLst>
              <a:ext uri="{FF2B5EF4-FFF2-40B4-BE49-F238E27FC236}">
                <a16:creationId xmlns:a16="http://schemas.microsoft.com/office/drawing/2014/main" id="{04B20E95-310D-4638-B554-111DCAB01BE5}"/>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Estribo</a:t>
            </a:r>
          </a:p>
        </p:txBody>
      </p:sp>
      <p:sp>
        <p:nvSpPr>
          <p:cNvPr id="13" name="U06-DG-030-stage_1-body">
            <a:extLst>
              <a:ext uri="{FF2B5EF4-FFF2-40B4-BE49-F238E27FC236}">
                <a16:creationId xmlns:a16="http://schemas.microsoft.com/office/drawing/2014/main" id="{72B5E30A-F352-46FC-87CA-7420540F4F59}"/>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empuja ventana oval</a:t>
            </a:r>
          </a:p>
        </p:txBody>
      </p:sp>
      <p:sp>
        <p:nvSpPr>
          <p:cNvPr id="14" name="U06-DG-030-stage_2-box">
            <a:extLst>
              <a:ext uri="{FF2B5EF4-FFF2-40B4-BE49-F238E27FC236}">
                <a16:creationId xmlns:a16="http://schemas.microsoft.com/office/drawing/2014/main" id="{90D4B191-1A7F-4657-AD4E-FC6C82BDEEE7}"/>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5" name="U06-DG-030-stage_2-title">
            <a:extLst>
              <a:ext uri="{FF2B5EF4-FFF2-40B4-BE49-F238E27FC236}">
                <a16:creationId xmlns:a16="http://schemas.microsoft.com/office/drawing/2014/main" id="{081AAECB-1D8F-4C74-A841-96ABC54EFBC9}"/>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Fluido coclear</a:t>
            </a:r>
          </a:p>
        </p:txBody>
      </p:sp>
      <p:sp>
        <p:nvSpPr>
          <p:cNvPr id="16" name="U06-DG-030-stage_2-body">
            <a:extLst>
              <a:ext uri="{FF2B5EF4-FFF2-40B4-BE49-F238E27FC236}">
                <a16:creationId xmlns:a16="http://schemas.microsoft.com/office/drawing/2014/main" id="{D304CD25-ADD3-4150-BF6F-F7302F551012}"/>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desplaza</a:t>
            </a:r>
          </a:p>
        </p:txBody>
      </p:sp>
      <p:sp>
        <p:nvSpPr>
          <p:cNvPr id="17" name="U06-DG-030-stage_3-box">
            <a:extLst>
              <a:ext uri="{FF2B5EF4-FFF2-40B4-BE49-F238E27FC236}">
                <a16:creationId xmlns:a16="http://schemas.microsoft.com/office/drawing/2014/main" id="{193B099D-8C01-4ABC-B2AD-7CF29533CE3B}"/>
              </a:ext>
            </a:extLst>
          </p:cNvPr>
          <p:cNvSpPr>
            <a:spLocks noGrp="1"/>
          </p:cNvSpPr>
          <p:nvPr/>
        </p:nvSpPr>
        <p:spPr>
          <a:xfrm>
            <a:off x="6248400" y="2428875"/>
            <a:ext cx="2428875" cy="1666875"/>
          </a:xfrm>
          <a:prstGeom prst="roundRect">
            <a:avLst>
              <a:gd name="adj" fmla="val 5714"/>
            </a:avLst>
          </a:prstGeom>
          <a:solidFill>
            <a:srgbClr val="F8EDE2"/>
          </a:solidFill>
          <a:ln w="19050">
            <a:solidFill>
              <a:srgbClr val="9F541A"/>
            </a:solidFill>
            <a:prstDash val="solid"/>
          </a:ln>
        </p:spPr>
      </p:sp>
      <p:sp>
        <p:nvSpPr>
          <p:cNvPr id="18" name="U06-DG-030-stage_3-title">
            <a:extLst>
              <a:ext uri="{FF2B5EF4-FFF2-40B4-BE49-F238E27FC236}">
                <a16:creationId xmlns:a16="http://schemas.microsoft.com/office/drawing/2014/main" id="{92F5C63D-CE24-4A91-B728-EAFC500F27A7}"/>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Ventana</a:t>
            </a:r>
          </a:p>
        </p:txBody>
      </p:sp>
      <p:sp>
        <p:nvSpPr>
          <p:cNvPr id="19" name="U06-DG-030-stage_3-body">
            <a:extLst>
              <a:ext uri="{FF2B5EF4-FFF2-40B4-BE49-F238E27FC236}">
                <a16:creationId xmlns:a16="http://schemas.microsoft.com/office/drawing/2014/main" id="{C28DA788-050F-4728-8153-0FF7912CF774}"/>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redonda · opuesta</a:t>
            </a:r>
          </a:p>
        </p:txBody>
      </p:sp>
      <p:sp>
        <p:nvSpPr>
          <p:cNvPr id="20" name="U06-DG-030-stage_4-box">
            <a:extLst>
              <a:ext uri="{FF2B5EF4-FFF2-40B4-BE49-F238E27FC236}">
                <a16:creationId xmlns:a16="http://schemas.microsoft.com/office/drawing/2014/main" id="{AE02CF4F-82B9-4FE1-9A7C-68E7F590DCBD}"/>
              </a:ext>
            </a:extLst>
          </p:cNvPr>
          <p:cNvSpPr>
            <a:spLocks noGrp="1"/>
          </p:cNvSpPr>
          <p:nvPr/>
        </p:nvSpPr>
        <p:spPr>
          <a:xfrm>
            <a:off x="8982075" y="2428875"/>
            <a:ext cx="2428875" cy="1666875"/>
          </a:xfrm>
          <a:prstGeom prst="roundRect">
            <a:avLst>
              <a:gd name="adj" fmla="val 5714"/>
            </a:avLst>
          </a:prstGeom>
          <a:solidFill>
            <a:srgbClr val="F7F6F2"/>
          </a:solidFill>
          <a:ln w="19050">
            <a:solidFill>
              <a:srgbClr val="969FA7"/>
            </a:solidFill>
            <a:prstDash val="solid"/>
          </a:ln>
        </p:spPr>
      </p:sp>
      <p:sp>
        <p:nvSpPr>
          <p:cNvPr id="21" name="U06-DG-030-stage_4-title">
            <a:extLst>
              <a:ext uri="{FF2B5EF4-FFF2-40B4-BE49-F238E27FC236}">
                <a16:creationId xmlns:a16="http://schemas.microsoft.com/office/drawing/2014/main" id="{E17A1FD1-45E7-4D01-859F-3A81B5B1FE53}"/>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Frontera</a:t>
            </a:r>
          </a:p>
        </p:txBody>
      </p:sp>
      <p:sp>
        <p:nvSpPr>
          <p:cNvPr id="22" name="U06-DG-030-stage_4-body">
            <a:extLst>
              <a:ext uri="{FF2B5EF4-FFF2-40B4-BE49-F238E27FC236}">
                <a16:creationId xmlns:a16="http://schemas.microsoft.com/office/drawing/2014/main" id="{5F622100-1C96-4E79-8A0D-01207D571A60}"/>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cambia la respuesta</a:t>
            </a:r>
          </a:p>
        </p:txBody>
      </p:sp>
      <p:sp>
        <p:nvSpPr>
          <p:cNvPr id="23" name="caption">
            <a:extLst>
              <a:ext uri="{FF2B5EF4-FFF2-40B4-BE49-F238E27FC236}">
                <a16:creationId xmlns:a16="http://schemas.microsoft.com/office/drawing/2014/main" id="{7D1716F7-8220-4AD1-A049-21BDB64508CD}"/>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Una estructura aislada no explica por sí sola la respuesta registrada.</a:t>
            </a:r>
          </a:p>
        </p:txBody>
      </p:sp>
      <p:sp>
        <p:nvSpPr>
          <p:cNvPr id="24" name="credit">
            <a:extLst>
              <a:ext uri="{FF2B5EF4-FFF2-40B4-BE49-F238E27FC236}">
                <a16:creationId xmlns:a16="http://schemas.microsoft.com/office/drawing/2014/main" id="{CC75E895-579F-46E5-B900-C11F27EED38F}"/>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8170577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0902E4B-A246-4DCA-80D8-8AA86098AFE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Hasta acá: ventanas, compartimentos, fluidos y membranas</a:t>
            </a:r>
          </a:p>
        </p:txBody>
      </p:sp>
      <p:sp>
        <p:nvSpPr>
          <p:cNvPr id="2" name="slide-subtitle">
            <a:extLst>
              <a:ext uri="{FF2B5EF4-FFF2-40B4-BE49-F238E27FC236}">
                <a16:creationId xmlns:a16="http://schemas.microsoft.com/office/drawing/2014/main" id="{0636EA99-B135-46F8-98CE-F45CA027AEA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cóclea combina fronteras móviles y estructuras distribuidas.</a:t>
            </a:r>
          </a:p>
        </p:txBody>
      </p:sp>
      <p:sp>
        <p:nvSpPr>
          <p:cNvPr id="3" name="eyebrow">
            <a:extLst>
              <a:ext uri="{FF2B5EF4-FFF2-40B4-BE49-F238E27FC236}">
                <a16:creationId xmlns:a16="http://schemas.microsoft.com/office/drawing/2014/main" id="{2A83166A-AA30-4DA4-9EFF-CC3F019160F3}"/>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060</a:t>
            </a:r>
          </a:p>
        </p:txBody>
      </p:sp>
      <p:sp>
        <p:nvSpPr>
          <p:cNvPr id="4" name="U06-DG-037-panel_left-anchor">
            <a:extLst>
              <a:ext uri="{FF2B5EF4-FFF2-40B4-BE49-F238E27FC236}">
                <a16:creationId xmlns:a16="http://schemas.microsoft.com/office/drawing/2014/main" id="{41DAE969-59E7-427F-AC94-5ADCAD153343}"/>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5" name="U06-DG-037-panel_right-anchor">
            <a:extLst>
              <a:ext uri="{FF2B5EF4-FFF2-40B4-BE49-F238E27FC236}">
                <a16:creationId xmlns:a16="http://schemas.microsoft.com/office/drawing/2014/main" id="{B6C59261-B032-4B1D-836E-60C02EDDF8E5}"/>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6" name="U06-DG-037-panel_left-box" descr="Diagrama sobre «Hasta acá: ventanas, compartimentos, fluidos y membranas»; organiza recorrido longitudinal + corte reducido + pregunta “¿dónde se moverá más cada frecuencia?”." title="Texto alternativo U06-060">
            <a:extLst>
              <a:ext uri="{FF2B5EF4-FFF2-40B4-BE49-F238E27FC236}">
                <a16:creationId xmlns:a16="http://schemas.microsoft.com/office/drawing/2014/main" id="{2EF19B75-D92F-442E-B258-667848A193B0}"/>
              </a:ext>
            </a:extLst>
          </p:cNvPr>
          <p:cNvSpPr>
            <a:spLocks noGrp="1"/>
          </p:cNvSpPr>
          <p:nvPr/>
        </p:nvSpPr>
        <p:spPr>
          <a:xfrm>
            <a:off x="876300" y="1714500"/>
            <a:ext cx="4953000" cy="3333750"/>
          </a:xfrm>
          <a:prstGeom prst="roundRect">
            <a:avLst>
              <a:gd name="adj" fmla="val 2857"/>
            </a:avLst>
          </a:prstGeom>
          <a:solidFill>
            <a:srgbClr val="E7F1F1"/>
          </a:solidFill>
          <a:ln w="19050">
            <a:solidFill>
              <a:srgbClr val="2F7E83"/>
            </a:solidFill>
            <a:prstDash val="solid"/>
          </a:ln>
        </p:spPr>
      </p:sp>
      <p:sp>
        <p:nvSpPr>
          <p:cNvPr id="7" name="U06-DG-037-panel_left-title">
            <a:extLst>
              <a:ext uri="{FF2B5EF4-FFF2-40B4-BE49-F238E27FC236}">
                <a16:creationId xmlns:a16="http://schemas.microsoft.com/office/drawing/2014/main" id="{F29833C4-51F7-4324-8DA9-BCD4649AF3DF}"/>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Vista longitudinal</a:t>
            </a:r>
          </a:p>
        </p:txBody>
      </p:sp>
      <p:sp>
        <p:nvSpPr>
          <p:cNvPr id="8" name="U06-DG-037-panel_left-body">
            <a:extLst>
              <a:ext uri="{FF2B5EF4-FFF2-40B4-BE49-F238E27FC236}">
                <a16:creationId xmlns:a16="http://schemas.microsoft.com/office/drawing/2014/main" id="{17E937D5-D22B-4936-BEAD-404C81D1027A}"/>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base → ápex lugar característico</a:t>
            </a:r>
          </a:p>
        </p:txBody>
      </p:sp>
      <p:sp>
        <p:nvSpPr>
          <p:cNvPr id="9" name="U06-DG-037-panel_right-box">
            <a:extLst>
              <a:ext uri="{FF2B5EF4-FFF2-40B4-BE49-F238E27FC236}">
                <a16:creationId xmlns:a16="http://schemas.microsoft.com/office/drawing/2014/main" id="{49171657-5FBE-401B-A836-D47FE084AD7B}"/>
              </a:ext>
            </a:extLst>
          </p:cNvPr>
          <p:cNvSpPr>
            <a:spLocks noGrp="1"/>
          </p:cNvSpPr>
          <p:nvPr/>
        </p:nvSpPr>
        <p:spPr>
          <a:xfrm>
            <a:off x="6362700" y="1714500"/>
            <a:ext cx="4953000" cy="3333750"/>
          </a:xfrm>
          <a:prstGeom prst="roundRect">
            <a:avLst>
              <a:gd name="adj" fmla="val 2857"/>
            </a:avLst>
          </a:prstGeom>
          <a:solidFill>
            <a:srgbClr val="F8EDE2"/>
          </a:solidFill>
          <a:ln w="19050">
            <a:solidFill>
              <a:srgbClr val="9F541A"/>
            </a:solidFill>
            <a:prstDash val="solid"/>
          </a:ln>
        </p:spPr>
      </p:sp>
      <p:sp>
        <p:nvSpPr>
          <p:cNvPr id="10" name="U06-DG-037-panel_right-title">
            <a:extLst>
              <a:ext uri="{FF2B5EF4-FFF2-40B4-BE49-F238E27FC236}">
                <a16:creationId xmlns:a16="http://schemas.microsoft.com/office/drawing/2014/main" id="{5BA5A4AB-1817-429E-9CBC-F7AD7B511C7E}"/>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Corte transversal</a:t>
            </a:r>
          </a:p>
        </p:txBody>
      </p:sp>
      <p:sp>
        <p:nvSpPr>
          <p:cNvPr id="11" name="U06-DG-037-panel_right-body">
            <a:extLst>
              <a:ext uri="{FF2B5EF4-FFF2-40B4-BE49-F238E27FC236}">
                <a16:creationId xmlns:a16="http://schemas.microsoft.com/office/drawing/2014/main" id="{0964883C-FF6F-4DA1-88AC-316A8DAF1811}"/>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tres compartimentos órgano de Corti</a:t>
            </a:r>
          </a:p>
        </p:txBody>
      </p:sp>
      <p:sp>
        <p:nvSpPr>
          <p:cNvPr id="12" name="caption">
            <a:extLst>
              <a:ext uri="{FF2B5EF4-FFF2-40B4-BE49-F238E27FC236}">
                <a16:creationId xmlns:a16="http://schemas.microsoft.com/office/drawing/2014/main" id="{42A227E7-1E55-42C8-8956-CFFE60E41AB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cóclea combina fronteras móviles y estructuras distribuidas.</a:t>
            </a:r>
          </a:p>
        </p:txBody>
      </p:sp>
      <p:sp>
        <p:nvSpPr>
          <p:cNvPr id="13" name="credit">
            <a:extLst>
              <a:ext uri="{FF2B5EF4-FFF2-40B4-BE49-F238E27FC236}">
                <a16:creationId xmlns:a16="http://schemas.microsoft.com/office/drawing/2014/main" id="{6BCAF522-962E-408A-ACF9-90B5ECF53EAB}"/>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CC7D6AC8-6402-42A9-B7CD-808A00B2F662}"/>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061</a:t>
            </a:r>
          </a:p>
        </p:txBody>
      </p:sp>
      <p:sp>
        <p:nvSpPr>
          <p:cNvPr id="2" name="divider-title">
            <a:extLst>
              <a:ext uri="{FF2B5EF4-FFF2-40B4-BE49-F238E27FC236}">
                <a16:creationId xmlns:a16="http://schemas.microsoft.com/office/drawing/2014/main" id="{87EF9946-21B9-4045-8D63-65F95AB5C3CF}"/>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La respuesta coclear se distribuye a lo largo de la partición</a:t>
            </a:r>
          </a:p>
        </p:txBody>
      </p:sp>
      <p:sp>
        <p:nvSpPr>
          <p:cNvPr id="3" name="divider-subtitle">
            <a:extLst>
              <a:ext uri="{FF2B5EF4-FFF2-40B4-BE49-F238E27FC236}">
                <a16:creationId xmlns:a16="http://schemas.microsoft.com/office/drawing/2014/main" id="{AF0A2CF6-342E-4BF0-9718-753BBEF2202C}"/>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¿Cómo dependen de la frecuencia y del nivel el lugar y la extensión de la respuesta coclear?</a:t>
            </a:r>
          </a:p>
        </p:txBody>
      </p:sp>
      <p:sp>
        <p:nvSpPr>
          <p:cNvPr id="4" name="divider-content">
            <a:extLst>
              <a:ext uri="{FF2B5EF4-FFF2-40B4-BE49-F238E27FC236}">
                <a16:creationId xmlns:a16="http://schemas.microsoft.com/office/drawing/2014/main" id="{BD84BD65-D590-430E-800C-0A536D6A2578}"/>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¿Cómo dependen de la frecuencia y del nivel el lugar y la extensión de la respuesta coclear?</a:t>
            </a:r>
          </a:p>
        </p:txBody>
      </p:sp>
    </p:spTree>
    <p:extLst>
      <p:ext uri="{BB962C8B-B14F-4D97-AF65-F5344CB8AC3E}">
        <p14:creationId xmlns:p14="http://schemas.microsoft.com/office/powerpoint/2010/main" val="11649023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lide-title">
            <a:extLst>
              <a:ext uri="{FF2B5EF4-FFF2-40B4-BE49-F238E27FC236}">
                <a16:creationId xmlns:a16="http://schemas.microsoft.com/office/drawing/2014/main" id="{160CD525-B744-4F6A-856F-3DC9F3516211}"/>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Los fluidos oscilan; no circulan una vez alrededor de la cóclea</a:t>
            </a:r>
          </a:p>
        </p:txBody>
      </p:sp>
      <p:sp>
        <p:nvSpPr>
          <p:cNvPr id="2" name="eyebrow">
            <a:extLst>
              <a:ext uri="{FF2B5EF4-FFF2-40B4-BE49-F238E27FC236}">
                <a16:creationId xmlns:a16="http://schemas.microsoft.com/office/drawing/2014/main" id="{B006730D-D3DB-4B8A-B8CF-CAA7CC380A10}"/>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062</a:t>
            </a:r>
          </a:p>
        </p:txBody>
      </p:sp>
      <p:sp>
        <p:nvSpPr>
          <p:cNvPr id="3" name="U06-DG-038-frame_1-anchor">
            <a:extLst>
              <a:ext uri="{FF2B5EF4-FFF2-40B4-BE49-F238E27FC236}">
                <a16:creationId xmlns:a16="http://schemas.microsoft.com/office/drawing/2014/main" id="{712082C7-AAF9-4FE4-B1AF-3F800723754A}"/>
              </a:ext>
            </a:extLst>
          </p:cNvPr>
          <p:cNvSpPr>
            <a:spLocks noGrp="1"/>
          </p:cNvSpPr>
          <p:nvPr/>
        </p:nvSpPr>
        <p:spPr>
          <a:xfrm>
            <a:off x="781050" y="2095500"/>
            <a:ext cx="2478881" cy="2476500"/>
          </a:xfrm>
          <a:prstGeom prst="roundRect">
            <a:avLst>
              <a:gd name="adj" fmla="val 3846"/>
            </a:avLst>
          </a:prstGeom>
          <a:noFill/>
          <a:ln w="0">
            <a:noFill/>
            <a:prstDash val="solid"/>
          </a:ln>
        </p:spPr>
      </p:sp>
      <p:sp>
        <p:nvSpPr>
          <p:cNvPr id="4" name="U06-DG-038-frame_2-anchor">
            <a:extLst>
              <a:ext uri="{FF2B5EF4-FFF2-40B4-BE49-F238E27FC236}">
                <a16:creationId xmlns:a16="http://schemas.microsoft.com/office/drawing/2014/main" id="{49FF8AFC-819B-4ABC-BE8B-A2A7E13C586F}"/>
              </a:ext>
            </a:extLst>
          </p:cNvPr>
          <p:cNvSpPr>
            <a:spLocks noGrp="1"/>
          </p:cNvSpPr>
          <p:nvPr/>
        </p:nvSpPr>
        <p:spPr>
          <a:xfrm>
            <a:off x="3498056" y="2095500"/>
            <a:ext cx="2478881" cy="2476500"/>
          </a:xfrm>
          <a:prstGeom prst="roundRect">
            <a:avLst>
              <a:gd name="adj" fmla="val 3846"/>
            </a:avLst>
          </a:prstGeom>
          <a:noFill/>
          <a:ln w="0">
            <a:noFill/>
            <a:prstDash val="solid"/>
          </a:ln>
        </p:spPr>
      </p:sp>
      <p:sp>
        <p:nvSpPr>
          <p:cNvPr id="5" name="U06-DG-038-frame_3-anchor">
            <a:extLst>
              <a:ext uri="{FF2B5EF4-FFF2-40B4-BE49-F238E27FC236}">
                <a16:creationId xmlns:a16="http://schemas.microsoft.com/office/drawing/2014/main" id="{D9E2F70C-D10B-4B9F-8A67-B2727366D0D4}"/>
              </a:ext>
            </a:extLst>
          </p:cNvPr>
          <p:cNvSpPr>
            <a:spLocks noGrp="1"/>
          </p:cNvSpPr>
          <p:nvPr/>
        </p:nvSpPr>
        <p:spPr>
          <a:xfrm>
            <a:off x="6215063" y="2095500"/>
            <a:ext cx="2478881" cy="2476500"/>
          </a:xfrm>
          <a:prstGeom prst="roundRect">
            <a:avLst>
              <a:gd name="adj" fmla="val 3846"/>
            </a:avLst>
          </a:prstGeom>
          <a:noFill/>
          <a:ln w="0">
            <a:noFill/>
            <a:prstDash val="solid"/>
          </a:ln>
        </p:spPr>
      </p:sp>
      <p:sp>
        <p:nvSpPr>
          <p:cNvPr id="6" name="U06-DG-038-frame_4-anchor">
            <a:extLst>
              <a:ext uri="{FF2B5EF4-FFF2-40B4-BE49-F238E27FC236}">
                <a16:creationId xmlns:a16="http://schemas.microsoft.com/office/drawing/2014/main" id="{B0F32D65-A8DA-4A21-BF68-EC72D6FECC55}"/>
              </a:ext>
            </a:extLst>
          </p:cNvPr>
          <p:cNvSpPr>
            <a:spLocks noGrp="1"/>
          </p:cNvSpPr>
          <p:nvPr/>
        </p:nvSpPr>
        <p:spPr>
          <a:xfrm>
            <a:off x="8932069" y="2095500"/>
            <a:ext cx="2478881" cy="2476500"/>
          </a:xfrm>
          <a:prstGeom prst="roundRect">
            <a:avLst>
              <a:gd name="adj" fmla="val 3846"/>
            </a:avLst>
          </a:prstGeom>
          <a:noFill/>
          <a:ln w="0">
            <a:noFill/>
            <a:prstDash val="solid"/>
          </a:ln>
        </p:spPr>
      </p:sp>
      <p:cxnSp>
        <p:nvCxnSpPr>
          <p:cNvPr id="30" name="U06-DG-038-time_1"/>
          <p:cNvCxnSpPr>
            <a:stCxn id="3" idx="3"/>
            <a:endCxn id="4" idx="1"/>
          </p:cNvCxnSpPr>
          <p:nvPr/>
        </p:nvCxnSpPr>
        <p:spPr>
          <a:xfrm>
            <a:off x="3259931" y="3333750"/>
            <a:ext cx="238125" cy="0"/>
          </a:xfrm>
          <a:prstGeom prst="straightConnector1">
            <a:avLst/>
          </a:prstGeom>
          <a:ln w="28575">
            <a:solidFill>
              <a:srgbClr val="3D3D3D"/>
            </a:solidFill>
            <a:prstDash val="solid"/>
            <a:tailEnd type="arrow" w="med" len="med"/>
          </a:ln>
        </p:spPr>
      </p:cxnSp>
      <p:cxnSp>
        <p:nvCxnSpPr>
          <p:cNvPr id="31" name="U06-DG-038-time_2"/>
          <p:cNvCxnSpPr>
            <a:stCxn id="4" idx="3"/>
            <a:endCxn id="5" idx="1"/>
          </p:cNvCxnSpPr>
          <p:nvPr/>
        </p:nvCxnSpPr>
        <p:spPr>
          <a:xfrm>
            <a:off x="5976937" y="3333750"/>
            <a:ext cx="238126" cy="0"/>
          </a:xfrm>
          <a:prstGeom prst="straightConnector1">
            <a:avLst/>
          </a:prstGeom>
          <a:ln w="28575">
            <a:solidFill>
              <a:srgbClr val="3D3D3D"/>
            </a:solidFill>
            <a:prstDash val="solid"/>
            <a:tailEnd type="arrow" w="med" len="med"/>
          </a:ln>
        </p:spPr>
      </p:cxnSp>
      <p:cxnSp>
        <p:nvCxnSpPr>
          <p:cNvPr id="32" name="U06-DG-038-time_3"/>
          <p:cNvCxnSpPr>
            <a:stCxn id="5" idx="3"/>
            <a:endCxn id="6" idx="1"/>
          </p:cNvCxnSpPr>
          <p:nvPr/>
        </p:nvCxnSpPr>
        <p:spPr>
          <a:xfrm>
            <a:off x="8693944" y="3333750"/>
            <a:ext cx="238125" cy="0"/>
          </a:xfrm>
          <a:prstGeom prst="straightConnector1">
            <a:avLst/>
          </a:prstGeom>
          <a:ln w="28575">
            <a:solidFill>
              <a:srgbClr val="3D3D3D"/>
            </a:solidFill>
            <a:prstDash val="solid"/>
            <a:tailEnd type="arrow" w="med" len="med"/>
          </a:ln>
        </p:spPr>
      </p:cxnSp>
      <p:sp>
        <p:nvSpPr>
          <p:cNvPr id="10" name="U06-DG-038-frame_1-box" descr="Diagrama sobre «Los fluidos oscilan; no circulan una vez alrededor de la cóclea»; organiza oscilación local frente a avance de la envolvente." title="Texto alternativo U06-062">
            <a:extLst>
              <a:ext uri="{FF2B5EF4-FFF2-40B4-BE49-F238E27FC236}">
                <a16:creationId xmlns:a16="http://schemas.microsoft.com/office/drawing/2014/main" id="{BED9817B-B8A7-4D41-9672-4289AED50F33}"/>
              </a:ext>
            </a:extLst>
          </p:cNvPr>
          <p:cNvSpPr>
            <a:spLocks noGrp="1"/>
          </p:cNvSpPr>
          <p:nvPr/>
        </p:nvSpPr>
        <p:spPr>
          <a:xfrm>
            <a:off x="781050" y="2095500"/>
            <a:ext cx="2478881" cy="2476500"/>
          </a:xfrm>
          <a:prstGeom prst="roundRect">
            <a:avLst>
              <a:gd name="adj" fmla="val 3846"/>
            </a:avLst>
          </a:prstGeom>
          <a:solidFill>
            <a:srgbClr val="E7F1F1"/>
          </a:solidFill>
          <a:ln w="19050">
            <a:solidFill>
              <a:srgbClr val="2F7E83"/>
            </a:solidFill>
            <a:prstDash val="solid"/>
          </a:ln>
        </p:spPr>
      </p:sp>
      <p:sp>
        <p:nvSpPr>
          <p:cNvPr id="11" name="U06-DG-038-frame_1-title">
            <a:extLst>
              <a:ext uri="{FF2B5EF4-FFF2-40B4-BE49-F238E27FC236}">
                <a16:creationId xmlns:a16="http://schemas.microsoft.com/office/drawing/2014/main" id="{9C2ACE14-10C8-4B24-B8B7-D4ADB6725008}"/>
              </a:ext>
            </a:extLst>
          </p:cNvPr>
          <p:cNvSpPr>
            <a:spLocks noGrp="1"/>
          </p:cNvSpPr>
          <p:nvPr/>
        </p:nvSpPr>
        <p:spPr>
          <a:xfrm>
            <a:off x="971550" y="2238375"/>
            <a:ext cx="2097881"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t₁</a:t>
            </a:r>
          </a:p>
        </p:txBody>
      </p:sp>
      <p:sp>
        <p:nvSpPr>
          <p:cNvPr id="12" name="U06-DG-038-frame_1-body">
            <a:extLst>
              <a:ext uri="{FF2B5EF4-FFF2-40B4-BE49-F238E27FC236}">
                <a16:creationId xmlns:a16="http://schemas.microsoft.com/office/drawing/2014/main" id="{C12BEFB0-A919-4415-A4C9-018533A713BE}"/>
              </a:ext>
            </a:extLst>
          </p:cNvPr>
          <p:cNvSpPr>
            <a:spLocks noGrp="1"/>
          </p:cNvSpPr>
          <p:nvPr/>
        </p:nvSpPr>
        <p:spPr>
          <a:xfrm>
            <a:off x="971550" y="2686050"/>
            <a:ext cx="2097881" cy="17907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inicio en base</a:t>
            </a:r>
          </a:p>
        </p:txBody>
      </p:sp>
      <p:sp>
        <p:nvSpPr>
          <p:cNvPr id="13" name="U06-DG-038-frame_2-box">
            <a:extLst>
              <a:ext uri="{FF2B5EF4-FFF2-40B4-BE49-F238E27FC236}">
                <a16:creationId xmlns:a16="http://schemas.microsoft.com/office/drawing/2014/main" id="{5B8501DC-5E0D-4DD4-9FB1-88FA7CF6F7D8}"/>
              </a:ext>
            </a:extLst>
          </p:cNvPr>
          <p:cNvSpPr>
            <a:spLocks noGrp="1"/>
          </p:cNvSpPr>
          <p:nvPr/>
        </p:nvSpPr>
        <p:spPr>
          <a:xfrm>
            <a:off x="3498056" y="2095500"/>
            <a:ext cx="2478881" cy="2476500"/>
          </a:xfrm>
          <a:prstGeom prst="roundRect">
            <a:avLst>
              <a:gd name="adj" fmla="val 3846"/>
            </a:avLst>
          </a:prstGeom>
          <a:solidFill>
            <a:srgbClr val="F7F6F2"/>
          </a:solidFill>
          <a:ln w="19050">
            <a:solidFill>
              <a:srgbClr val="969FA7"/>
            </a:solidFill>
            <a:prstDash val="solid"/>
          </a:ln>
        </p:spPr>
      </p:sp>
      <p:sp>
        <p:nvSpPr>
          <p:cNvPr id="14" name="U06-DG-038-frame_2-title">
            <a:extLst>
              <a:ext uri="{FF2B5EF4-FFF2-40B4-BE49-F238E27FC236}">
                <a16:creationId xmlns:a16="http://schemas.microsoft.com/office/drawing/2014/main" id="{351D9768-9257-47AC-8DCE-FF3BDEFBA001}"/>
              </a:ext>
            </a:extLst>
          </p:cNvPr>
          <p:cNvSpPr>
            <a:spLocks noGrp="1"/>
          </p:cNvSpPr>
          <p:nvPr/>
        </p:nvSpPr>
        <p:spPr>
          <a:xfrm>
            <a:off x="3688556" y="2238375"/>
            <a:ext cx="2097881"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t₂</a:t>
            </a:r>
          </a:p>
        </p:txBody>
      </p:sp>
      <p:sp>
        <p:nvSpPr>
          <p:cNvPr id="15" name="U06-DG-038-frame_2-body">
            <a:extLst>
              <a:ext uri="{FF2B5EF4-FFF2-40B4-BE49-F238E27FC236}">
                <a16:creationId xmlns:a16="http://schemas.microsoft.com/office/drawing/2014/main" id="{3AEAAEE9-021E-46B9-B27A-2F35CECE4480}"/>
              </a:ext>
            </a:extLst>
          </p:cNvPr>
          <p:cNvSpPr>
            <a:spLocks noGrp="1"/>
          </p:cNvSpPr>
          <p:nvPr/>
        </p:nvSpPr>
        <p:spPr>
          <a:xfrm>
            <a:off x="3688556" y="2686050"/>
            <a:ext cx="2097881" cy="17907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envolvente crece</a:t>
            </a:r>
          </a:p>
        </p:txBody>
      </p:sp>
      <p:sp>
        <p:nvSpPr>
          <p:cNvPr id="16" name="U06-DG-038-frame_3-box">
            <a:extLst>
              <a:ext uri="{FF2B5EF4-FFF2-40B4-BE49-F238E27FC236}">
                <a16:creationId xmlns:a16="http://schemas.microsoft.com/office/drawing/2014/main" id="{2FE164AB-74F6-4E8A-98B2-48FDBABE59C7}"/>
              </a:ext>
            </a:extLst>
          </p:cNvPr>
          <p:cNvSpPr>
            <a:spLocks noGrp="1"/>
          </p:cNvSpPr>
          <p:nvPr/>
        </p:nvSpPr>
        <p:spPr>
          <a:xfrm>
            <a:off x="6215063" y="2095500"/>
            <a:ext cx="2478881" cy="2476500"/>
          </a:xfrm>
          <a:prstGeom prst="roundRect">
            <a:avLst>
              <a:gd name="adj" fmla="val 3846"/>
            </a:avLst>
          </a:prstGeom>
          <a:solidFill>
            <a:srgbClr val="F4E9EF"/>
          </a:solidFill>
          <a:ln w="19050">
            <a:solidFill>
              <a:srgbClr val="4D1434"/>
            </a:solidFill>
            <a:prstDash val="solid"/>
          </a:ln>
        </p:spPr>
      </p:sp>
      <p:sp>
        <p:nvSpPr>
          <p:cNvPr id="17" name="U06-DG-038-frame_3-title">
            <a:extLst>
              <a:ext uri="{FF2B5EF4-FFF2-40B4-BE49-F238E27FC236}">
                <a16:creationId xmlns:a16="http://schemas.microsoft.com/office/drawing/2014/main" id="{D2279783-DCA6-453F-951D-6B906C806D14}"/>
              </a:ext>
            </a:extLst>
          </p:cNvPr>
          <p:cNvSpPr>
            <a:spLocks noGrp="1"/>
          </p:cNvSpPr>
          <p:nvPr/>
        </p:nvSpPr>
        <p:spPr>
          <a:xfrm>
            <a:off x="6405563" y="2238375"/>
            <a:ext cx="2097881"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t₃</a:t>
            </a:r>
          </a:p>
        </p:txBody>
      </p:sp>
      <p:sp>
        <p:nvSpPr>
          <p:cNvPr id="18" name="U06-DG-038-frame_3-body">
            <a:extLst>
              <a:ext uri="{FF2B5EF4-FFF2-40B4-BE49-F238E27FC236}">
                <a16:creationId xmlns:a16="http://schemas.microsoft.com/office/drawing/2014/main" id="{1D31B5CC-752E-4182-8D0E-BFED8CBC47BF}"/>
              </a:ext>
            </a:extLst>
          </p:cNvPr>
          <p:cNvSpPr>
            <a:spLocks noGrp="1"/>
          </p:cNvSpPr>
          <p:nvPr/>
        </p:nvSpPr>
        <p:spPr>
          <a:xfrm>
            <a:off x="6405563" y="2686050"/>
            <a:ext cx="2097881" cy="17907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máximo se desplaza</a:t>
            </a:r>
          </a:p>
        </p:txBody>
      </p:sp>
      <p:sp>
        <p:nvSpPr>
          <p:cNvPr id="19" name="U06-DG-038-frame_4-box">
            <a:extLst>
              <a:ext uri="{FF2B5EF4-FFF2-40B4-BE49-F238E27FC236}">
                <a16:creationId xmlns:a16="http://schemas.microsoft.com/office/drawing/2014/main" id="{55ABE757-D558-414E-AC25-110D562B4B84}"/>
              </a:ext>
            </a:extLst>
          </p:cNvPr>
          <p:cNvSpPr>
            <a:spLocks noGrp="1"/>
          </p:cNvSpPr>
          <p:nvPr/>
        </p:nvSpPr>
        <p:spPr>
          <a:xfrm>
            <a:off x="8932069" y="2095500"/>
            <a:ext cx="2478881" cy="2476500"/>
          </a:xfrm>
          <a:prstGeom prst="roundRect">
            <a:avLst>
              <a:gd name="adj" fmla="val 3846"/>
            </a:avLst>
          </a:prstGeom>
          <a:solidFill>
            <a:srgbClr val="F8EDE2"/>
          </a:solidFill>
          <a:ln w="19050">
            <a:solidFill>
              <a:srgbClr val="9F541A"/>
            </a:solidFill>
            <a:prstDash val="solid"/>
          </a:ln>
        </p:spPr>
      </p:sp>
      <p:sp>
        <p:nvSpPr>
          <p:cNvPr id="20" name="U06-DG-038-frame_4-title">
            <a:extLst>
              <a:ext uri="{FF2B5EF4-FFF2-40B4-BE49-F238E27FC236}">
                <a16:creationId xmlns:a16="http://schemas.microsoft.com/office/drawing/2014/main" id="{DDF9F77A-3CC3-417D-8421-5B858177C354}"/>
              </a:ext>
            </a:extLst>
          </p:cNvPr>
          <p:cNvSpPr>
            <a:spLocks noGrp="1"/>
          </p:cNvSpPr>
          <p:nvPr/>
        </p:nvSpPr>
        <p:spPr>
          <a:xfrm>
            <a:off x="9122569" y="2238375"/>
            <a:ext cx="2097881"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t₄</a:t>
            </a:r>
          </a:p>
        </p:txBody>
      </p:sp>
      <p:sp>
        <p:nvSpPr>
          <p:cNvPr id="21" name="U06-DG-038-frame_4-body">
            <a:extLst>
              <a:ext uri="{FF2B5EF4-FFF2-40B4-BE49-F238E27FC236}">
                <a16:creationId xmlns:a16="http://schemas.microsoft.com/office/drawing/2014/main" id="{69D48D6D-DDC1-4405-B873-9C8A285BFC4F}"/>
              </a:ext>
            </a:extLst>
          </p:cNvPr>
          <p:cNvSpPr>
            <a:spLocks noGrp="1"/>
          </p:cNvSpPr>
          <p:nvPr/>
        </p:nvSpPr>
        <p:spPr>
          <a:xfrm>
            <a:off x="9122569" y="2686050"/>
            <a:ext cx="2097881" cy="17907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decae hacia ápex</a:t>
            </a:r>
          </a:p>
        </p:txBody>
      </p:sp>
      <p:sp>
        <p:nvSpPr>
          <p:cNvPr id="22" name="caption">
            <a:extLst>
              <a:ext uri="{FF2B5EF4-FFF2-40B4-BE49-F238E27FC236}">
                <a16:creationId xmlns:a16="http://schemas.microsoft.com/office/drawing/2014/main" id="{0189D58A-1C81-427B-9A0D-72EE2E3A16B5}"/>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Las partículas se desplazan alrededor de equilibrio mientras el patrón progresa.</a:t>
            </a:r>
          </a:p>
        </p:txBody>
      </p:sp>
      <p:sp>
        <p:nvSpPr>
          <p:cNvPr id="23" name="credit">
            <a:extLst>
              <a:ext uri="{FF2B5EF4-FFF2-40B4-BE49-F238E27FC236}">
                <a16:creationId xmlns:a16="http://schemas.microsoft.com/office/drawing/2014/main" id="{F4B84937-7ECA-4EDF-B947-5E7975426AB0}"/>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0462133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3E483504-6139-4CC2-A16D-A4A1239699E1}"/>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onda crece, alcanza un máximo y decae</a:t>
            </a:r>
          </a:p>
        </p:txBody>
      </p:sp>
      <p:sp>
        <p:nvSpPr>
          <p:cNvPr id="2" name="slide-subtitle">
            <a:extLst>
              <a:ext uri="{FF2B5EF4-FFF2-40B4-BE49-F238E27FC236}">
                <a16:creationId xmlns:a16="http://schemas.microsoft.com/office/drawing/2014/main" id="{CE023CB7-01AB-42F7-8834-39A29B5BB144}"/>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máximo no aparece instantáneamente en un punto aislado.</a:t>
            </a:r>
          </a:p>
        </p:txBody>
      </p:sp>
      <p:sp>
        <p:nvSpPr>
          <p:cNvPr id="3" name="eyebrow">
            <a:extLst>
              <a:ext uri="{FF2B5EF4-FFF2-40B4-BE49-F238E27FC236}">
                <a16:creationId xmlns:a16="http://schemas.microsoft.com/office/drawing/2014/main" id="{49F37C9E-DE97-48C4-AFCB-D6F97855E16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063</a:t>
            </a:r>
          </a:p>
        </p:txBody>
      </p:sp>
      <p:sp>
        <p:nvSpPr>
          <p:cNvPr id="4" name="U06-DG-039-stage_1-anchor">
            <a:extLst>
              <a:ext uri="{FF2B5EF4-FFF2-40B4-BE49-F238E27FC236}">
                <a16:creationId xmlns:a16="http://schemas.microsoft.com/office/drawing/2014/main" id="{F292B5AB-99BA-4B26-B39E-C143494C8BDA}"/>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39-stage_2-anchor">
            <a:extLst>
              <a:ext uri="{FF2B5EF4-FFF2-40B4-BE49-F238E27FC236}">
                <a16:creationId xmlns:a16="http://schemas.microsoft.com/office/drawing/2014/main" id="{2DF9AD09-DA2F-486E-B38F-D11B726AAC1E}"/>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39-stage_3-anchor">
            <a:extLst>
              <a:ext uri="{FF2B5EF4-FFF2-40B4-BE49-F238E27FC236}">
                <a16:creationId xmlns:a16="http://schemas.microsoft.com/office/drawing/2014/main" id="{2A14CE10-45DA-40B9-8700-0DE3A78549F2}"/>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39-stage_4-anchor">
            <a:extLst>
              <a:ext uri="{FF2B5EF4-FFF2-40B4-BE49-F238E27FC236}">
                <a16:creationId xmlns:a16="http://schemas.microsoft.com/office/drawing/2014/main" id="{4D2E10C1-0C63-4804-BF5A-72D9BE288FAA}"/>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39-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39-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39-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39-stage_1-box" descr="Diagrama sobre «La onda crece, alcanza un máximo y decae»; organiza inicio basal → crecimiento → máximo → decaimiento." title="Texto alternativo U06-063">
            <a:extLst>
              <a:ext uri="{FF2B5EF4-FFF2-40B4-BE49-F238E27FC236}">
                <a16:creationId xmlns:a16="http://schemas.microsoft.com/office/drawing/2014/main" id="{D44AC8E3-2A2A-4757-BB92-D4B4739441A9}"/>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39-stage_1-title">
            <a:extLst>
              <a:ext uri="{FF2B5EF4-FFF2-40B4-BE49-F238E27FC236}">
                <a16:creationId xmlns:a16="http://schemas.microsoft.com/office/drawing/2014/main" id="{EBA38909-CB3F-447B-96F5-73CADFCB5D61}"/>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Base</a:t>
            </a:r>
          </a:p>
        </p:txBody>
      </p:sp>
      <p:sp>
        <p:nvSpPr>
          <p:cNvPr id="13" name="U06-DG-039-stage_1-body">
            <a:extLst>
              <a:ext uri="{FF2B5EF4-FFF2-40B4-BE49-F238E27FC236}">
                <a16:creationId xmlns:a16="http://schemas.microsoft.com/office/drawing/2014/main" id="{6F26DF29-BED2-47BF-8E6E-7C93F625E28D}"/>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inicia</a:t>
            </a:r>
          </a:p>
        </p:txBody>
      </p:sp>
      <p:sp>
        <p:nvSpPr>
          <p:cNvPr id="14" name="U06-DG-039-stage_2-box">
            <a:extLst>
              <a:ext uri="{FF2B5EF4-FFF2-40B4-BE49-F238E27FC236}">
                <a16:creationId xmlns:a16="http://schemas.microsoft.com/office/drawing/2014/main" id="{AAD00C1F-9246-49B4-9D14-157D0D31D85F}"/>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5" name="U06-DG-039-stage_2-title">
            <a:extLst>
              <a:ext uri="{FF2B5EF4-FFF2-40B4-BE49-F238E27FC236}">
                <a16:creationId xmlns:a16="http://schemas.microsoft.com/office/drawing/2014/main" id="{EB2CC856-9608-4FB2-8E51-F07D9BBC4405}"/>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Crecimiento</a:t>
            </a:r>
          </a:p>
        </p:txBody>
      </p:sp>
      <p:sp>
        <p:nvSpPr>
          <p:cNvPr id="16" name="U06-DG-039-stage_2-body">
            <a:extLst>
              <a:ext uri="{FF2B5EF4-FFF2-40B4-BE49-F238E27FC236}">
                <a16:creationId xmlns:a16="http://schemas.microsoft.com/office/drawing/2014/main" id="{D8C71710-9798-4E67-A896-86B6AA2BCFAF}"/>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amplitud aumenta</a:t>
            </a:r>
          </a:p>
        </p:txBody>
      </p:sp>
      <p:sp>
        <p:nvSpPr>
          <p:cNvPr id="17" name="U06-DG-039-stage_3-box">
            <a:extLst>
              <a:ext uri="{FF2B5EF4-FFF2-40B4-BE49-F238E27FC236}">
                <a16:creationId xmlns:a16="http://schemas.microsoft.com/office/drawing/2014/main" id="{5CEF0412-65D3-45E1-BB36-5E5E69E97BD6}"/>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8" name="U06-DG-039-stage_3-title">
            <a:extLst>
              <a:ext uri="{FF2B5EF4-FFF2-40B4-BE49-F238E27FC236}">
                <a16:creationId xmlns:a16="http://schemas.microsoft.com/office/drawing/2014/main" id="{6416DFE9-AA05-44A0-B7FD-9EEAA19EF57C}"/>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Máximo</a:t>
            </a:r>
          </a:p>
        </p:txBody>
      </p:sp>
      <p:sp>
        <p:nvSpPr>
          <p:cNvPr id="19" name="U06-DG-039-stage_3-body">
            <a:extLst>
              <a:ext uri="{FF2B5EF4-FFF2-40B4-BE49-F238E27FC236}">
                <a16:creationId xmlns:a16="http://schemas.microsoft.com/office/drawing/2014/main" id="{0013D84D-AC80-4EAF-BD6C-0954784D18C5}"/>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lugar característico</a:t>
            </a:r>
          </a:p>
        </p:txBody>
      </p:sp>
      <p:sp>
        <p:nvSpPr>
          <p:cNvPr id="20" name="U06-DG-039-stage_4-box">
            <a:extLst>
              <a:ext uri="{FF2B5EF4-FFF2-40B4-BE49-F238E27FC236}">
                <a16:creationId xmlns:a16="http://schemas.microsoft.com/office/drawing/2014/main" id="{27587578-C7DF-4EEF-9364-A63E400D408D}"/>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39-stage_4-title">
            <a:extLst>
              <a:ext uri="{FF2B5EF4-FFF2-40B4-BE49-F238E27FC236}">
                <a16:creationId xmlns:a16="http://schemas.microsoft.com/office/drawing/2014/main" id="{BF0FF161-A04E-4100-948E-43D5B21C694D}"/>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Decaimiento</a:t>
            </a:r>
          </a:p>
        </p:txBody>
      </p:sp>
      <p:sp>
        <p:nvSpPr>
          <p:cNvPr id="22" name="U06-DG-039-stage_4-body">
            <a:extLst>
              <a:ext uri="{FF2B5EF4-FFF2-40B4-BE49-F238E27FC236}">
                <a16:creationId xmlns:a16="http://schemas.microsoft.com/office/drawing/2014/main" id="{11012108-3EFD-49C0-9479-B612BC81A680}"/>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hacia el ápex</a:t>
            </a:r>
          </a:p>
        </p:txBody>
      </p:sp>
      <p:sp>
        <p:nvSpPr>
          <p:cNvPr id="23" name="caption">
            <a:extLst>
              <a:ext uri="{FF2B5EF4-FFF2-40B4-BE49-F238E27FC236}">
                <a16:creationId xmlns:a16="http://schemas.microsoft.com/office/drawing/2014/main" id="{3DDFF4D2-543A-4065-B1C7-F6C0F045C73C}"/>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máximo no aparece instantáneamente en un punto aislado.</a:t>
            </a:r>
          </a:p>
        </p:txBody>
      </p:sp>
      <p:sp>
        <p:nvSpPr>
          <p:cNvPr id="24" name="credit">
            <a:extLst>
              <a:ext uri="{FF2B5EF4-FFF2-40B4-BE49-F238E27FC236}">
                <a16:creationId xmlns:a16="http://schemas.microsoft.com/office/drawing/2014/main" id="{460B7A55-881D-47B4-BF93-3ED47A8A609F}"/>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0547C3F-3220-4D30-993F-FCCB70509489}"/>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Frecuencias altas y bajas alcanzan máximos en regiones distintas</a:t>
            </a:r>
          </a:p>
        </p:txBody>
      </p:sp>
      <p:sp>
        <p:nvSpPr>
          <p:cNvPr id="2" name="eyebrow">
            <a:extLst>
              <a:ext uri="{FF2B5EF4-FFF2-40B4-BE49-F238E27FC236}">
                <a16:creationId xmlns:a16="http://schemas.microsoft.com/office/drawing/2014/main" id="{D468E0E5-4AA0-43E3-A6A5-32069471B382}"/>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064</a:t>
            </a:r>
          </a:p>
        </p:txBody>
      </p:sp>
      <p:pic>
        <p:nvPicPr>
          <p:cNvPr id="11" name="U06-064-U06-CH-001" descr="Gráfico que muestra altas: base; bajas: ápex; las curvas tienen ancho y solapamiento. Ejes, escala y normalización se describen en el propio recurso." title="Texto alternativo U06-064"/>
          <p:cNvPicPr>
            <a:picLocks noChangeAspect="1"/>
          </p:cNvPicPr>
          <p:nvPr/>
        </p:nvPicPr>
        <p:blipFill>
          <a:blip>
            <a:extLst>
              <a:ext uri="{96DAC541-7B7A-43D3-8B79-37D633B846F1}">
                <asvg:svgBlip xmlns:asvg="http://schemas.microsoft.com/office/drawing/2016/SVG/main" r:embed="rId3"/>
              </a:ext>
            </a:extLst>
          </a:blip>
          <a:stretch/>
        </p:blipFill>
        <p:spPr>
          <a:xfrm>
            <a:off x="428625" y="1428750"/>
            <a:ext cx="7810500" cy="4333875"/>
          </a:xfrm>
          <a:prstGeom prst="rect">
            <a:avLst/>
          </a:prstGeom>
        </p:spPr>
      </p:pic>
      <p:sp>
        <p:nvSpPr>
          <p:cNvPr id="4" name="chart-reading-box">
            <a:extLst>
              <a:ext uri="{FF2B5EF4-FFF2-40B4-BE49-F238E27FC236}">
                <a16:creationId xmlns:a16="http://schemas.microsoft.com/office/drawing/2014/main" id="{1528923B-E3E7-410B-BDE1-BAB283EC83FE}"/>
              </a:ext>
            </a:extLst>
          </p:cNvPr>
          <p:cNvSpPr>
            <a:spLocks noGrp="1"/>
          </p:cNvSpPr>
          <p:nvPr/>
        </p:nvSpPr>
        <p:spPr>
          <a:xfrm>
            <a:off x="8429625" y="1571625"/>
            <a:ext cx="3048000" cy="3714750"/>
          </a:xfrm>
          <a:prstGeom prst="roundRect">
            <a:avLst>
              <a:gd name="adj" fmla="val 3750"/>
            </a:avLst>
          </a:prstGeom>
          <a:solidFill>
            <a:srgbClr val="E7F1F1"/>
          </a:solidFill>
          <a:ln w="19050">
            <a:solidFill>
              <a:srgbClr val="2F7E83"/>
            </a:solidFill>
            <a:prstDash val="solid"/>
          </a:ln>
        </p:spPr>
      </p:sp>
      <p:sp>
        <p:nvSpPr>
          <p:cNvPr id="5" name="chart-reading-title">
            <a:extLst>
              <a:ext uri="{FF2B5EF4-FFF2-40B4-BE49-F238E27FC236}">
                <a16:creationId xmlns:a16="http://schemas.microsoft.com/office/drawing/2014/main" id="{5EDEF599-C176-40A2-B5A6-531B3E558DAB}"/>
              </a:ext>
            </a:extLst>
          </p:cNvPr>
          <p:cNvSpPr>
            <a:spLocks noGrp="1"/>
          </p:cNvSpPr>
          <p:nvPr/>
        </p:nvSpPr>
        <p:spPr>
          <a:xfrm>
            <a:off x="8601075" y="1704975"/>
            <a:ext cx="2705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Qué leer</a:t>
            </a:r>
          </a:p>
        </p:txBody>
      </p:sp>
      <p:sp>
        <p:nvSpPr>
          <p:cNvPr id="6" name="chart-reading-body">
            <a:extLst>
              <a:ext uri="{FF2B5EF4-FFF2-40B4-BE49-F238E27FC236}">
                <a16:creationId xmlns:a16="http://schemas.microsoft.com/office/drawing/2014/main" id="{F860BD23-4E72-44F6-AA5A-5DFF8C59EF5A}"/>
              </a:ext>
            </a:extLst>
          </p:cNvPr>
          <p:cNvSpPr>
            <a:spLocks noGrp="1"/>
          </p:cNvSpPr>
          <p:nvPr/>
        </p:nvSpPr>
        <p:spPr>
          <a:xfrm>
            <a:off x="8601075" y="2105025"/>
            <a:ext cx="2705100" cy="3028950"/>
          </a:xfrm>
          <a:prstGeom prst="rect">
            <a:avLst/>
          </a:prstGeom>
          <a:noFill/>
          <a:ln w="0">
            <a:noFill/>
            <a:prstDash val="solid"/>
          </a:ln>
        </p:spPr>
        <p:txBody>
          <a:bodyPr wrap="square" lIns="0" tIns="0" rIns="0" bIns="0" anchor="t">
            <a:noAutofit/>
          </a:bodyPr>
          <a:lstStyle/>
          <a:p>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Tres envolventes normalizadas con eje posición s/L.</a:t>
            </a:r>
          </a:p>
        </p:txBody>
      </p:sp>
      <p:sp>
        <p:nvSpPr>
          <p:cNvPr id="7" name="caption">
            <a:extLst>
              <a:ext uri="{FF2B5EF4-FFF2-40B4-BE49-F238E27FC236}">
                <a16:creationId xmlns:a16="http://schemas.microsoft.com/office/drawing/2014/main" id="{3E71BBAC-D192-4201-8AD1-28D42BD78340}"/>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Lectura conceptual: Altas: base; bajas: ápex; las curvas tienen ancho y solapamiento. Las curvas no son d…</a:t>
            </a:r>
          </a:p>
        </p:txBody>
      </p:sp>
      <p:sp>
        <p:nvSpPr>
          <p:cNvPr id="8" name="credit">
            <a:extLst>
              <a:ext uri="{FF2B5EF4-FFF2-40B4-BE49-F238E27FC236}">
                <a16:creationId xmlns:a16="http://schemas.microsoft.com/office/drawing/2014/main" id="{E2E84D9C-B181-4BFB-A3FC-6BD36E7628AE}"/>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486490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966394B8-09CD-4366-BA02-80A5DA606624}"/>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Lugar característico y tonotopía describen relaciones distintas</a:t>
            </a:r>
          </a:p>
        </p:txBody>
      </p:sp>
      <p:sp>
        <p:nvSpPr>
          <p:cNvPr id="2" name="eyebrow">
            <a:extLst>
              <a:ext uri="{FF2B5EF4-FFF2-40B4-BE49-F238E27FC236}">
                <a16:creationId xmlns:a16="http://schemas.microsoft.com/office/drawing/2014/main" id="{168672ED-D4C6-481C-99B8-F1A701658031}"/>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065</a:t>
            </a:r>
          </a:p>
        </p:txBody>
      </p:sp>
      <p:sp>
        <p:nvSpPr>
          <p:cNvPr id="3" name="U06-DG-040-panel_left-anchor">
            <a:extLst>
              <a:ext uri="{FF2B5EF4-FFF2-40B4-BE49-F238E27FC236}">
                <a16:creationId xmlns:a16="http://schemas.microsoft.com/office/drawing/2014/main" id="{476352FE-CB7D-404D-A74D-A23C3BF06F05}"/>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4" name="U06-DG-040-panel_right-anchor">
            <a:extLst>
              <a:ext uri="{FF2B5EF4-FFF2-40B4-BE49-F238E27FC236}">
                <a16:creationId xmlns:a16="http://schemas.microsoft.com/office/drawing/2014/main" id="{5F68DE53-6BC1-4A94-B7EE-C51E42683655}"/>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5" name="U06-DG-040-panel_left-box" descr="Diagrama sobre «Lugar característico y tonotopía describen relaciones distintas»; organiza dos definiciones y ejemplo base/ápex." title="Texto alternativo U06-065">
            <a:extLst>
              <a:ext uri="{FF2B5EF4-FFF2-40B4-BE49-F238E27FC236}">
                <a16:creationId xmlns:a16="http://schemas.microsoft.com/office/drawing/2014/main" id="{F24708BF-D799-403B-A9E8-36CB9B141D06}"/>
              </a:ext>
            </a:extLst>
          </p:cNvPr>
          <p:cNvSpPr>
            <a:spLocks noGrp="1"/>
          </p:cNvSpPr>
          <p:nvPr/>
        </p:nvSpPr>
        <p:spPr>
          <a:xfrm>
            <a:off x="876300" y="1714500"/>
            <a:ext cx="4953000" cy="3333750"/>
          </a:xfrm>
          <a:prstGeom prst="roundRect">
            <a:avLst>
              <a:gd name="adj" fmla="val 2857"/>
            </a:avLst>
          </a:prstGeom>
          <a:solidFill>
            <a:srgbClr val="F4E9EF"/>
          </a:solidFill>
          <a:ln w="19050">
            <a:solidFill>
              <a:srgbClr val="4D1434"/>
            </a:solidFill>
            <a:prstDash val="solid"/>
          </a:ln>
        </p:spPr>
      </p:sp>
      <p:sp>
        <p:nvSpPr>
          <p:cNvPr id="6" name="U06-DG-040-panel_left-title">
            <a:extLst>
              <a:ext uri="{FF2B5EF4-FFF2-40B4-BE49-F238E27FC236}">
                <a16:creationId xmlns:a16="http://schemas.microsoft.com/office/drawing/2014/main" id="{7BC630F0-6640-49F6-872D-31A148AB9AF1}"/>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Lugar característico</a:t>
            </a:r>
          </a:p>
        </p:txBody>
      </p:sp>
      <p:sp>
        <p:nvSpPr>
          <p:cNvPr id="7" name="U06-DG-040-panel_left-body">
            <a:extLst>
              <a:ext uri="{FF2B5EF4-FFF2-40B4-BE49-F238E27FC236}">
                <a16:creationId xmlns:a16="http://schemas.microsoft.com/office/drawing/2014/main" id="{43E4C406-9F57-4864-8D70-9510CDDDC2EE}"/>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máxima respuesta para una condición</a:t>
            </a:r>
          </a:p>
        </p:txBody>
      </p:sp>
      <p:sp>
        <p:nvSpPr>
          <p:cNvPr id="8" name="U06-DG-040-panel_right-box">
            <a:extLst>
              <a:ext uri="{FF2B5EF4-FFF2-40B4-BE49-F238E27FC236}">
                <a16:creationId xmlns:a16="http://schemas.microsoft.com/office/drawing/2014/main" id="{830FF36F-88AD-461B-BFD5-56BDACC33127}"/>
              </a:ext>
            </a:extLst>
          </p:cNvPr>
          <p:cNvSpPr>
            <a:spLocks noGrp="1"/>
          </p:cNvSpPr>
          <p:nvPr/>
        </p:nvSpPr>
        <p:spPr>
          <a:xfrm>
            <a:off x="6362700" y="1714500"/>
            <a:ext cx="4953000" cy="3333750"/>
          </a:xfrm>
          <a:prstGeom prst="roundRect">
            <a:avLst>
              <a:gd name="adj" fmla="val 2857"/>
            </a:avLst>
          </a:prstGeom>
          <a:solidFill>
            <a:srgbClr val="E7F1F1"/>
          </a:solidFill>
          <a:ln w="19050">
            <a:solidFill>
              <a:srgbClr val="2F7E83"/>
            </a:solidFill>
            <a:prstDash val="solid"/>
          </a:ln>
        </p:spPr>
      </p:sp>
      <p:sp>
        <p:nvSpPr>
          <p:cNvPr id="9" name="U06-DG-040-panel_right-title">
            <a:extLst>
              <a:ext uri="{FF2B5EF4-FFF2-40B4-BE49-F238E27FC236}">
                <a16:creationId xmlns:a16="http://schemas.microsoft.com/office/drawing/2014/main" id="{53E66FFB-4B1A-4311-AC2F-6C27479794B2}"/>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Tonotopía</a:t>
            </a:r>
          </a:p>
        </p:txBody>
      </p:sp>
      <p:sp>
        <p:nvSpPr>
          <p:cNvPr id="10" name="U06-DG-040-panel_right-body">
            <a:extLst>
              <a:ext uri="{FF2B5EF4-FFF2-40B4-BE49-F238E27FC236}">
                <a16:creationId xmlns:a16="http://schemas.microsoft.com/office/drawing/2014/main" id="{77189A68-68DC-4C78-840E-555E26C35820}"/>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muchos lugares ordenados continuo espacial</a:t>
            </a:r>
          </a:p>
        </p:txBody>
      </p:sp>
      <p:sp>
        <p:nvSpPr>
          <p:cNvPr id="11" name="caption">
            <a:extLst>
              <a:ext uri="{FF2B5EF4-FFF2-40B4-BE49-F238E27FC236}">
                <a16:creationId xmlns:a16="http://schemas.microsoft.com/office/drawing/2014/main" id="{B0167782-43F8-4430-9BCF-66BC1EDD8C7C}"/>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Lugar característico es una región; tonotopía es la organización ordenada de muc…</a:t>
            </a:r>
          </a:p>
        </p:txBody>
      </p:sp>
      <p:sp>
        <p:nvSpPr>
          <p:cNvPr id="12" name="credit">
            <a:extLst>
              <a:ext uri="{FF2B5EF4-FFF2-40B4-BE49-F238E27FC236}">
                <a16:creationId xmlns:a16="http://schemas.microsoft.com/office/drawing/2014/main" id="{07AD1B8B-36EE-4751-9E41-10E1235FF243}"/>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130CD49-CBFD-40E2-9479-40899430BE7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¿Dónde esperás el máximo de un tono más agudo?</a:t>
            </a:r>
          </a:p>
        </p:txBody>
      </p:sp>
      <p:sp>
        <p:nvSpPr>
          <p:cNvPr id="2" name="slide-subtitle">
            <a:extLst>
              <a:ext uri="{FF2B5EF4-FFF2-40B4-BE49-F238E27FC236}">
                <a16:creationId xmlns:a16="http://schemas.microsoft.com/office/drawing/2014/main" id="{A7EAC047-E0EA-4B77-AC4A-4EF172FDF264}"/>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respuesta debe justificarse desde el mapa tonotópico.</a:t>
            </a:r>
          </a:p>
        </p:txBody>
      </p:sp>
      <p:sp>
        <p:nvSpPr>
          <p:cNvPr id="3" name="eyebrow">
            <a:extLst>
              <a:ext uri="{FF2B5EF4-FFF2-40B4-BE49-F238E27FC236}">
                <a16:creationId xmlns:a16="http://schemas.microsoft.com/office/drawing/2014/main" id="{2D0ED514-CD75-489C-BCC3-020C3BB4622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066</a:t>
            </a:r>
          </a:p>
        </p:txBody>
      </p:sp>
      <p:pic>
        <p:nvPicPr>
          <p:cNvPr id="10" name="U06-066-U06-CH-001" descr="Gráfico que muestra la respuesta debe justificarse desde el mapa tonotópico. Ejes, escala y normalización se describen en el propio recurso." title="Texto alternativo U06-066"/>
          <p:cNvPicPr>
            <a:picLocks noChangeAspect="1"/>
          </p:cNvPicPr>
          <p:nvPr/>
        </p:nvPicPr>
        <p:blipFill>
          <a:blip>
            <a:extLst>
              <a:ext uri="{96DAC541-7B7A-43D3-8B79-37D633B846F1}">
                <asvg:svgBlip xmlns:asvg="http://schemas.microsoft.com/office/drawing/2016/SVG/main" r:embed="rId3"/>
              </a:ext>
            </a:extLst>
          </a:blip>
          <a:stretch/>
        </p:blipFill>
        <p:spPr>
          <a:xfrm>
            <a:off x="428625" y="1333500"/>
            <a:ext cx="11334750" cy="4572000"/>
          </a:xfrm>
          <a:prstGeom prst="rect">
            <a:avLst/>
          </a:prstGeom>
        </p:spPr>
      </p:pic>
      <p:sp>
        <p:nvSpPr>
          <p:cNvPr id="5" name="caption">
            <a:extLst>
              <a:ext uri="{FF2B5EF4-FFF2-40B4-BE49-F238E27FC236}">
                <a16:creationId xmlns:a16="http://schemas.microsoft.com/office/drawing/2014/main" id="{B5404580-C6F9-41F0-85B9-E3D47C1FC78F}"/>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Lectura conceptual: La respuesta debe justificarse desde el mapa tonotópico. Las curvas no son datos clín…</a:t>
            </a:r>
          </a:p>
        </p:txBody>
      </p:sp>
      <p:sp>
        <p:nvSpPr>
          <p:cNvPr id="6" name="credit">
            <a:extLst>
              <a:ext uri="{FF2B5EF4-FFF2-40B4-BE49-F238E27FC236}">
                <a16:creationId xmlns:a16="http://schemas.microsoft.com/office/drawing/2014/main" id="{35980EE5-367A-4E65-9B66-245606090BCE}"/>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2815463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A72AF347-0857-4074-9798-85D2778728F3}"/>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Cada frecuencia no ocupa una celda coclear fija</a:t>
            </a:r>
          </a:p>
        </p:txBody>
      </p:sp>
      <p:sp>
        <p:nvSpPr>
          <p:cNvPr id="2" name="slide-subtitle">
            <a:extLst>
              <a:ext uri="{FF2B5EF4-FFF2-40B4-BE49-F238E27FC236}">
                <a16:creationId xmlns:a16="http://schemas.microsoft.com/office/drawing/2014/main" id="{1A459D07-B690-49AF-8199-C3F23E5E34F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excitación posee extensión, solapamiento y dependencia del nivel.</a:t>
            </a:r>
          </a:p>
        </p:txBody>
      </p:sp>
      <p:sp>
        <p:nvSpPr>
          <p:cNvPr id="3" name="eyebrow">
            <a:extLst>
              <a:ext uri="{FF2B5EF4-FFF2-40B4-BE49-F238E27FC236}">
                <a16:creationId xmlns:a16="http://schemas.microsoft.com/office/drawing/2014/main" id="{DB6321D6-7125-4CB7-9976-6E86112A22B6}"/>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067</a:t>
            </a:r>
          </a:p>
        </p:txBody>
      </p:sp>
      <p:pic>
        <p:nvPicPr>
          <p:cNvPr id="10" name="U06-067-U06-CH-001" descr="Gráfico que muestra la excitación posee extensión, solapamiento y dependencia del nivel. Ejes, escala y normalización se describen en el propio recurso." title="Texto alternativo U06-067"/>
          <p:cNvPicPr>
            <a:picLocks noChangeAspect="1"/>
          </p:cNvPicPr>
          <p:nvPr/>
        </p:nvPicPr>
        <p:blipFill>
          <a:blip>
            <a:extLst>
              <a:ext uri="{96DAC541-7B7A-43D3-8B79-37D633B846F1}">
                <asvg:svgBlip xmlns:asvg="http://schemas.microsoft.com/office/drawing/2016/SVG/main" r:embed="rId3"/>
              </a:ext>
            </a:extLst>
          </a:blip>
          <a:stretch/>
        </p:blipFill>
        <p:spPr>
          <a:xfrm>
            <a:off x="428625" y="1333500"/>
            <a:ext cx="11334750" cy="4572000"/>
          </a:xfrm>
          <a:prstGeom prst="rect">
            <a:avLst/>
          </a:prstGeom>
        </p:spPr>
      </p:pic>
      <p:sp>
        <p:nvSpPr>
          <p:cNvPr id="5" name="caption">
            <a:extLst>
              <a:ext uri="{FF2B5EF4-FFF2-40B4-BE49-F238E27FC236}">
                <a16:creationId xmlns:a16="http://schemas.microsoft.com/office/drawing/2014/main" id="{75821B89-2E81-487D-B0FD-0D7C4B3F538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Lectura conceptual: La excitación posee extensión, solapamiento y dependencia del nivel. Las curvas no so…</a:t>
            </a:r>
          </a:p>
        </p:txBody>
      </p:sp>
      <p:sp>
        <p:nvSpPr>
          <p:cNvPr id="6" name="credit">
            <a:extLst>
              <a:ext uri="{FF2B5EF4-FFF2-40B4-BE49-F238E27FC236}">
                <a16:creationId xmlns:a16="http://schemas.microsoft.com/office/drawing/2014/main" id="{9BF37832-EB0E-4D8D-8259-97C1025C226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7413291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3BD0BD38-2049-4F64-AE22-81555C3C1530}"/>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Una señal débil produce una respuesta más selectiva</a:t>
            </a:r>
          </a:p>
        </p:txBody>
      </p:sp>
      <p:sp>
        <p:nvSpPr>
          <p:cNvPr id="2" name="slide-subtitle">
            <a:extLst>
              <a:ext uri="{FF2B5EF4-FFF2-40B4-BE49-F238E27FC236}">
                <a16:creationId xmlns:a16="http://schemas.microsoft.com/office/drawing/2014/main" id="{CBAAA44D-C3A0-452C-863B-5B11ADA23FAD}"/>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contribución de CCE aumenta sensibilidad y agudiza el máximo.</a:t>
            </a:r>
          </a:p>
        </p:txBody>
      </p:sp>
      <p:sp>
        <p:nvSpPr>
          <p:cNvPr id="3" name="eyebrow">
            <a:extLst>
              <a:ext uri="{FF2B5EF4-FFF2-40B4-BE49-F238E27FC236}">
                <a16:creationId xmlns:a16="http://schemas.microsoft.com/office/drawing/2014/main" id="{B434FD20-65DA-4E24-8564-222211562D46}"/>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068</a:t>
            </a:r>
          </a:p>
        </p:txBody>
      </p:sp>
      <p:pic>
        <p:nvPicPr>
          <p:cNvPr id="13" name="U06-068-U06-CH-002A" descr="Gráfico que muestra la contribución de cce aumenta sensibilidad y agudiza el máximo. Ejes, escala y normalización se describen en el propio recurso." title="Texto alternativo U06-068"/>
          <p:cNvPicPr>
            <a:picLocks noChangeAspect="1"/>
          </p:cNvPicPr>
          <p:nvPr/>
        </p:nvPicPr>
        <p:blipFill>
          <a:blip>
            <a:extLst>
              <a:ext uri="{96DAC541-7B7A-43D3-8B79-37D633B846F1}">
                <asvg:svgBlip xmlns:asvg="http://schemas.microsoft.com/office/drawing/2016/SVG/main" r:embed="rId3"/>
              </a:ext>
            </a:extLst>
          </a:blip>
          <a:stretch/>
        </p:blipFill>
        <p:spPr>
          <a:xfrm>
            <a:off x="428625" y="1428750"/>
            <a:ext cx="7810500" cy="4333875"/>
          </a:xfrm>
          <a:prstGeom prst="rect">
            <a:avLst/>
          </a:prstGeom>
        </p:spPr>
      </p:pic>
      <p:sp>
        <p:nvSpPr>
          <p:cNvPr id="5" name="chart-reading-box">
            <a:extLst>
              <a:ext uri="{FF2B5EF4-FFF2-40B4-BE49-F238E27FC236}">
                <a16:creationId xmlns:a16="http://schemas.microsoft.com/office/drawing/2014/main" id="{2FA09D13-25C5-403C-AAF9-DB846825D012}"/>
              </a:ext>
            </a:extLst>
          </p:cNvPr>
          <p:cNvSpPr>
            <a:spLocks noGrp="1"/>
          </p:cNvSpPr>
          <p:nvPr/>
        </p:nvSpPr>
        <p:spPr>
          <a:xfrm>
            <a:off x="8429625" y="1571625"/>
            <a:ext cx="3048000" cy="3714750"/>
          </a:xfrm>
          <a:prstGeom prst="roundRect">
            <a:avLst>
              <a:gd name="adj" fmla="val 3750"/>
            </a:avLst>
          </a:prstGeom>
          <a:solidFill>
            <a:srgbClr val="E7F1F1"/>
          </a:solidFill>
          <a:ln w="19050">
            <a:solidFill>
              <a:srgbClr val="2F7E83"/>
            </a:solidFill>
            <a:prstDash val="solid"/>
          </a:ln>
        </p:spPr>
      </p:sp>
      <p:sp>
        <p:nvSpPr>
          <p:cNvPr id="6" name="chart-reading-title">
            <a:extLst>
              <a:ext uri="{FF2B5EF4-FFF2-40B4-BE49-F238E27FC236}">
                <a16:creationId xmlns:a16="http://schemas.microsoft.com/office/drawing/2014/main" id="{9ED4D368-6BED-48D1-ACD4-29D110BDD379}"/>
              </a:ext>
            </a:extLst>
          </p:cNvPr>
          <p:cNvSpPr>
            <a:spLocks noGrp="1"/>
          </p:cNvSpPr>
          <p:nvPr/>
        </p:nvSpPr>
        <p:spPr>
          <a:xfrm>
            <a:off x="8601075" y="1704975"/>
            <a:ext cx="2705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Qué leer</a:t>
            </a:r>
          </a:p>
        </p:txBody>
      </p:sp>
      <p:sp>
        <p:nvSpPr>
          <p:cNvPr id="7" name="chart-reading-body">
            <a:extLst>
              <a:ext uri="{FF2B5EF4-FFF2-40B4-BE49-F238E27FC236}">
                <a16:creationId xmlns:a16="http://schemas.microsoft.com/office/drawing/2014/main" id="{EE2B4929-4681-4DD1-AC73-B3BF9435B84D}"/>
              </a:ext>
            </a:extLst>
          </p:cNvPr>
          <p:cNvSpPr>
            <a:spLocks noGrp="1"/>
          </p:cNvSpPr>
          <p:nvPr/>
        </p:nvSpPr>
        <p:spPr>
          <a:xfrm>
            <a:off x="8601075" y="2105025"/>
            <a:ext cx="2705100" cy="3028950"/>
          </a:xfrm>
          <a:prstGeom prst="rect">
            <a:avLst/>
          </a:prstGeom>
          <a:noFill/>
          <a:ln w="0">
            <a:noFill/>
            <a:prstDash val="solid"/>
          </a:ln>
        </p:spPr>
        <p:txBody>
          <a:bodyPr wrap="square" lIns="0" tIns="0" rIns="0" bIns="0" anchor="t">
            <a:noAutofit/>
          </a:bodyPr>
          <a:lstStyle/>
          <a:p>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Envolvente débil normalizada y zona característica.</a:t>
            </a:r>
          </a:p>
        </p:txBody>
      </p:sp>
      <p:sp>
        <p:nvSpPr>
          <p:cNvPr id="8" name="caption">
            <a:extLst>
              <a:ext uri="{FF2B5EF4-FFF2-40B4-BE49-F238E27FC236}">
                <a16:creationId xmlns:a16="http://schemas.microsoft.com/office/drawing/2014/main" id="{3AB55432-16DE-464D-84D5-4AA04A3C8E15}"/>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Lectura conceptual: La contribución de CCE aumenta sensibilidad y agudiza el máximo. Las curvas no son da…</a:t>
            </a:r>
          </a:p>
        </p:txBody>
      </p:sp>
      <p:sp>
        <p:nvSpPr>
          <p:cNvPr id="9" name="credit">
            <a:extLst>
              <a:ext uri="{FF2B5EF4-FFF2-40B4-BE49-F238E27FC236}">
                <a16:creationId xmlns:a16="http://schemas.microsoft.com/office/drawing/2014/main" id="{5CDAE30F-5A72-4BEA-AD74-1131329DD8B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486490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8F6D8192-95FD-441D-8D30-C7BB2E240055}"/>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Una señal intensa extiende la región excitada</a:t>
            </a:r>
          </a:p>
        </p:txBody>
      </p:sp>
      <p:sp>
        <p:nvSpPr>
          <p:cNvPr id="2" name="slide-subtitle">
            <a:extLst>
              <a:ext uri="{FF2B5EF4-FFF2-40B4-BE49-F238E27FC236}">
                <a16:creationId xmlns:a16="http://schemas.microsoft.com/office/drawing/2014/main" id="{F42E15EE-0DDD-40E5-91BC-6BE6D4A8E05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respuesta crece de forma compresiva y se ensancha.</a:t>
            </a:r>
          </a:p>
        </p:txBody>
      </p:sp>
      <p:sp>
        <p:nvSpPr>
          <p:cNvPr id="3" name="eyebrow">
            <a:extLst>
              <a:ext uri="{FF2B5EF4-FFF2-40B4-BE49-F238E27FC236}">
                <a16:creationId xmlns:a16="http://schemas.microsoft.com/office/drawing/2014/main" id="{E3365816-F442-4522-B4E0-CDB55AC60AC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069</a:t>
            </a:r>
          </a:p>
        </p:txBody>
      </p:sp>
      <p:pic>
        <p:nvPicPr>
          <p:cNvPr id="13" name="U06-069-U06-CH-002B" descr="Gráfico que muestra la respuesta crece de forma compresiva y se ensancha. Ejes, escala y normalización se describen en el propio recurso." title="Texto alternativo U06-069"/>
          <p:cNvPicPr>
            <a:picLocks noChangeAspect="1"/>
          </p:cNvPicPr>
          <p:nvPr/>
        </p:nvPicPr>
        <p:blipFill>
          <a:blip>
            <a:extLst>
              <a:ext uri="{96DAC541-7B7A-43D3-8B79-37D633B846F1}">
                <asvg:svgBlip xmlns:asvg="http://schemas.microsoft.com/office/drawing/2016/SVG/main" r:embed="rId3"/>
              </a:ext>
            </a:extLst>
          </a:blip>
          <a:stretch/>
        </p:blipFill>
        <p:spPr>
          <a:xfrm>
            <a:off x="428625" y="1428750"/>
            <a:ext cx="7810500" cy="4333875"/>
          </a:xfrm>
          <a:prstGeom prst="rect">
            <a:avLst/>
          </a:prstGeom>
        </p:spPr>
      </p:pic>
      <p:sp>
        <p:nvSpPr>
          <p:cNvPr id="5" name="chart-reading-box">
            <a:extLst>
              <a:ext uri="{FF2B5EF4-FFF2-40B4-BE49-F238E27FC236}">
                <a16:creationId xmlns:a16="http://schemas.microsoft.com/office/drawing/2014/main" id="{1C473081-24C1-4E93-ADBB-5770062C8882}"/>
              </a:ext>
            </a:extLst>
          </p:cNvPr>
          <p:cNvSpPr>
            <a:spLocks noGrp="1"/>
          </p:cNvSpPr>
          <p:nvPr/>
        </p:nvSpPr>
        <p:spPr>
          <a:xfrm>
            <a:off x="8429625" y="1571625"/>
            <a:ext cx="3048000" cy="3714750"/>
          </a:xfrm>
          <a:prstGeom prst="roundRect">
            <a:avLst>
              <a:gd name="adj" fmla="val 3750"/>
            </a:avLst>
          </a:prstGeom>
          <a:solidFill>
            <a:srgbClr val="E7F1F1"/>
          </a:solidFill>
          <a:ln w="19050">
            <a:solidFill>
              <a:srgbClr val="2F7E83"/>
            </a:solidFill>
            <a:prstDash val="solid"/>
          </a:ln>
        </p:spPr>
      </p:sp>
      <p:sp>
        <p:nvSpPr>
          <p:cNvPr id="6" name="chart-reading-title">
            <a:extLst>
              <a:ext uri="{FF2B5EF4-FFF2-40B4-BE49-F238E27FC236}">
                <a16:creationId xmlns:a16="http://schemas.microsoft.com/office/drawing/2014/main" id="{7B92C819-8566-4929-BC26-B0C7D1652351}"/>
              </a:ext>
            </a:extLst>
          </p:cNvPr>
          <p:cNvSpPr>
            <a:spLocks noGrp="1"/>
          </p:cNvSpPr>
          <p:nvPr/>
        </p:nvSpPr>
        <p:spPr>
          <a:xfrm>
            <a:off x="8601075" y="1704975"/>
            <a:ext cx="2705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Qué leer</a:t>
            </a:r>
          </a:p>
        </p:txBody>
      </p:sp>
      <p:sp>
        <p:nvSpPr>
          <p:cNvPr id="7" name="chart-reading-body">
            <a:extLst>
              <a:ext uri="{FF2B5EF4-FFF2-40B4-BE49-F238E27FC236}">
                <a16:creationId xmlns:a16="http://schemas.microsoft.com/office/drawing/2014/main" id="{480673F7-1DD7-491D-A32C-026DF0F813AE}"/>
              </a:ext>
            </a:extLst>
          </p:cNvPr>
          <p:cNvSpPr>
            <a:spLocks noGrp="1"/>
          </p:cNvSpPr>
          <p:nvPr/>
        </p:nvSpPr>
        <p:spPr>
          <a:xfrm>
            <a:off x="8601075" y="2105025"/>
            <a:ext cx="2705100" cy="3028950"/>
          </a:xfrm>
          <a:prstGeom prst="rect">
            <a:avLst/>
          </a:prstGeom>
          <a:noFill/>
          <a:ln w="0">
            <a:noFill/>
            <a:prstDash val="solid"/>
          </a:ln>
        </p:spPr>
        <p:txBody>
          <a:bodyPr wrap="square" lIns="0" tIns="0" rIns="0" bIns="0" anchor="t">
            <a:noAutofit/>
          </a:bodyPr>
          <a:lstStyle/>
          <a:p>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Misma frecuencia, dos niveles, curvas superpuestas con lectura guiada.</a:t>
            </a:r>
          </a:p>
        </p:txBody>
      </p:sp>
      <p:sp>
        <p:nvSpPr>
          <p:cNvPr id="8" name="caption">
            <a:extLst>
              <a:ext uri="{FF2B5EF4-FFF2-40B4-BE49-F238E27FC236}">
                <a16:creationId xmlns:a16="http://schemas.microsoft.com/office/drawing/2014/main" id="{205B64D2-0A32-4807-919B-B1F4103C300E}"/>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Lectura conceptual: La respuesta crece de forma compresiva y se ensancha. Las curvas no son datos clínicos.</a:t>
            </a:r>
          </a:p>
        </p:txBody>
      </p:sp>
      <p:sp>
        <p:nvSpPr>
          <p:cNvPr id="9" name="credit">
            <a:extLst>
              <a:ext uri="{FF2B5EF4-FFF2-40B4-BE49-F238E27FC236}">
                <a16:creationId xmlns:a16="http://schemas.microsoft.com/office/drawing/2014/main" id="{F4768827-B4C7-4128-A5FA-505B397E11EC}"/>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486490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0A5C32B3-E18A-4D92-8D52-F363FD350BC2}"/>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El proceso activo coclear es compresivo, no una ganancia fija</a:t>
            </a:r>
          </a:p>
        </p:txBody>
      </p:sp>
      <p:sp>
        <p:nvSpPr>
          <p:cNvPr id="2" name="eyebrow">
            <a:extLst>
              <a:ext uri="{FF2B5EF4-FFF2-40B4-BE49-F238E27FC236}">
                <a16:creationId xmlns:a16="http://schemas.microsoft.com/office/drawing/2014/main" id="{C312A141-CEA5-456E-818E-E13248DBB8B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070</a:t>
            </a:r>
          </a:p>
        </p:txBody>
      </p:sp>
      <p:pic>
        <p:nvPicPr>
          <p:cNvPr id="11" name="U06-070-U06-CH-003" descr="Diagrama sobre «El proceso activo coclear es compresivo, no una ganancia fija»; organiza entrada física → respuesta pasiva/activa → compresión; sin modelo electrónico literal." title="Texto alternativo U06-070"/>
          <p:cNvPicPr>
            <a:picLocks noChangeAspect="1"/>
          </p:cNvPicPr>
          <p:nvPr/>
        </p:nvPicPr>
        <p:blipFill>
          <a:blip>
            <a:extLst>
              <a:ext uri="{96DAC541-7B7A-43D3-8B79-37D633B846F1}">
                <asvg:svgBlip xmlns:asvg="http://schemas.microsoft.com/office/drawing/2016/SVG/main" r:embed="rId3"/>
              </a:ext>
            </a:extLst>
          </a:blip>
          <a:stretch/>
        </p:blipFill>
        <p:spPr>
          <a:xfrm>
            <a:off x="428625" y="1428750"/>
            <a:ext cx="7810500" cy="4333875"/>
          </a:xfrm>
          <a:prstGeom prst="rect">
            <a:avLst/>
          </a:prstGeom>
        </p:spPr>
      </p:pic>
      <p:sp>
        <p:nvSpPr>
          <p:cNvPr id="4" name="chart-reading-box">
            <a:extLst>
              <a:ext uri="{FF2B5EF4-FFF2-40B4-BE49-F238E27FC236}">
                <a16:creationId xmlns:a16="http://schemas.microsoft.com/office/drawing/2014/main" id="{7F1B3762-B9C2-4CB7-901B-CE41A4D5DD51}"/>
              </a:ext>
            </a:extLst>
          </p:cNvPr>
          <p:cNvSpPr>
            <a:spLocks noGrp="1"/>
          </p:cNvSpPr>
          <p:nvPr/>
        </p:nvSpPr>
        <p:spPr>
          <a:xfrm>
            <a:off x="8429625" y="1571625"/>
            <a:ext cx="3048000" cy="3714750"/>
          </a:xfrm>
          <a:prstGeom prst="roundRect">
            <a:avLst>
              <a:gd name="adj" fmla="val 3750"/>
            </a:avLst>
          </a:prstGeom>
          <a:solidFill>
            <a:srgbClr val="E7F1F1"/>
          </a:solidFill>
          <a:ln w="19050">
            <a:solidFill>
              <a:srgbClr val="2F7E83"/>
            </a:solidFill>
            <a:prstDash val="solid"/>
          </a:ln>
        </p:spPr>
      </p:sp>
      <p:sp>
        <p:nvSpPr>
          <p:cNvPr id="5" name="chart-reading-title">
            <a:extLst>
              <a:ext uri="{FF2B5EF4-FFF2-40B4-BE49-F238E27FC236}">
                <a16:creationId xmlns:a16="http://schemas.microsoft.com/office/drawing/2014/main" id="{1F49F71E-41D0-457A-AD3D-2768EBB1929B}"/>
              </a:ext>
            </a:extLst>
          </p:cNvPr>
          <p:cNvSpPr>
            <a:spLocks noGrp="1"/>
          </p:cNvSpPr>
          <p:nvPr/>
        </p:nvSpPr>
        <p:spPr>
          <a:xfrm>
            <a:off x="8601075" y="1704975"/>
            <a:ext cx="2705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Qué leer</a:t>
            </a:r>
          </a:p>
        </p:txBody>
      </p:sp>
      <p:sp>
        <p:nvSpPr>
          <p:cNvPr id="6" name="chart-reading-body">
            <a:extLst>
              <a:ext uri="{FF2B5EF4-FFF2-40B4-BE49-F238E27FC236}">
                <a16:creationId xmlns:a16="http://schemas.microsoft.com/office/drawing/2014/main" id="{4534FDD8-2319-4A23-95CA-C7941D82A9BD}"/>
              </a:ext>
            </a:extLst>
          </p:cNvPr>
          <p:cNvSpPr>
            <a:spLocks noGrp="1"/>
          </p:cNvSpPr>
          <p:nvPr/>
        </p:nvSpPr>
        <p:spPr>
          <a:xfrm>
            <a:off x="8601075" y="2105025"/>
            <a:ext cx="2705100" cy="3028950"/>
          </a:xfrm>
          <a:prstGeom prst="rect">
            <a:avLst/>
          </a:prstGeom>
          <a:noFill/>
          <a:ln w="0">
            <a:noFill/>
            <a:prstDash val="solid"/>
          </a:ln>
        </p:spPr>
        <p:txBody>
          <a:bodyPr wrap="square" lIns="0" tIns="0" rIns="0" bIns="0" anchor="t">
            <a:noAutofit/>
          </a:bodyPr>
          <a:lstStyle/>
          <a:p>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Idea central: “Amplificador coclear” nombra un proceso dependiente de frecuencia y nivel. Clave de lectura: Entrada física → respuesta pasiva/activa → compresión sin modelo electrónico literal.</a:t>
            </a:r>
          </a:p>
        </p:txBody>
      </p:sp>
      <p:sp>
        <p:nvSpPr>
          <p:cNvPr id="7" name="caption">
            <a:extLst>
              <a:ext uri="{FF2B5EF4-FFF2-40B4-BE49-F238E27FC236}">
                <a16:creationId xmlns:a16="http://schemas.microsoft.com/office/drawing/2014/main" id="{1883116C-FF15-4F13-863D-63EBE5A602D7}"/>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“Amplificador coclear” nombra un proceso dependiente de frecuencia y nivel.</a:t>
            </a:r>
          </a:p>
        </p:txBody>
      </p:sp>
      <p:sp>
        <p:nvSpPr>
          <p:cNvPr id="8" name="credit">
            <a:extLst>
              <a:ext uri="{FF2B5EF4-FFF2-40B4-BE49-F238E27FC236}">
                <a16:creationId xmlns:a16="http://schemas.microsoft.com/office/drawing/2014/main" id="{4D63DE09-5300-4944-BC85-2C3A2F63F21F}"/>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486490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1935D0FD-5674-4389-A490-22DCB33905CC}"/>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Hasta acá: frecuencia cambia el lugar; nivel cambia la extensión</a:t>
            </a:r>
          </a:p>
        </p:txBody>
      </p:sp>
      <p:sp>
        <p:nvSpPr>
          <p:cNvPr id="2" name="eyebrow">
            <a:extLst>
              <a:ext uri="{FF2B5EF4-FFF2-40B4-BE49-F238E27FC236}">
                <a16:creationId xmlns:a16="http://schemas.microsoft.com/office/drawing/2014/main" id="{E7A9AE2B-154B-47E8-ADF2-5BFE675923C2}"/>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071</a:t>
            </a:r>
          </a:p>
        </p:txBody>
      </p:sp>
      <p:pic>
        <p:nvPicPr>
          <p:cNvPr id="8" name="U06-071-U06-CH-001" descr="Diagrama sobre «Hasta acá: frecuencia cambia el lugar; nivel cambia la extensión»; organiza tres ideas + pregunta sobre tono de 2 khz a dos niveles." title="Texto alternativo U06-071"/>
          <p:cNvPicPr>
            <a:picLocks noChangeAspect="1"/>
          </p:cNvPicPr>
          <p:nvPr/>
        </p:nvPicPr>
        <p:blipFill>
          <a:blip>
            <a:extLst>
              <a:ext uri="{96DAC541-7B7A-43D3-8B79-37D633B846F1}">
                <asvg:svgBlip xmlns:asvg="http://schemas.microsoft.com/office/drawing/2016/SVG/main" r:embed="rId3"/>
              </a:ext>
            </a:extLst>
          </a:blip>
          <a:stretch/>
        </p:blipFill>
        <p:spPr>
          <a:xfrm>
            <a:off x="428625" y="1333500"/>
            <a:ext cx="11334750" cy="4572000"/>
          </a:xfrm>
          <a:prstGeom prst="rect">
            <a:avLst/>
          </a:prstGeom>
        </p:spPr>
      </p:pic>
      <p:sp>
        <p:nvSpPr>
          <p:cNvPr id="4" name="caption">
            <a:extLst>
              <a:ext uri="{FF2B5EF4-FFF2-40B4-BE49-F238E27FC236}">
                <a16:creationId xmlns:a16="http://schemas.microsoft.com/office/drawing/2014/main" id="{5AF19133-418E-40F7-92FA-87F2A59EC5E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Tonotopía y compresión son respuestas periféricas; pitch y sonoridad vendrán des…</a:t>
            </a:r>
          </a:p>
        </p:txBody>
      </p:sp>
      <p:sp>
        <p:nvSpPr>
          <p:cNvPr id="5" name="credit">
            <a:extLst>
              <a:ext uri="{FF2B5EF4-FFF2-40B4-BE49-F238E27FC236}">
                <a16:creationId xmlns:a16="http://schemas.microsoft.com/office/drawing/2014/main" id="{71F4204F-B7D4-467F-AED4-1DDD5CFD7C7C}"/>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0601BEBC-37A1-41DC-9F77-746C81D7DFF9}"/>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072</a:t>
            </a:r>
          </a:p>
        </p:txBody>
      </p:sp>
      <p:sp>
        <p:nvSpPr>
          <p:cNvPr id="2" name="divider-title">
            <a:extLst>
              <a:ext uri="{FF2B5EF4-FFF2-40B4-BE49-F238E27FC236}">
                <a16:creationId xmlns:a16="http://schemas.microsoft.com/office/drawing/2014/main" id="{C4D0CD1D-A7DE-489A-88B8-832B41406AA9}"/>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El estímulo celular nace del movimiento relativo</a:t>
            </a:r>
          </a:p>
        </p:txBody>
      </p:sp>
      <p:sp>
        <p:nvSpPr>
          <p:cNvPr id="3" name="divider-subtitle">
            <a:extLst>
              <a:ext uri="{FF2B5EF4-FFF2-40B4-BE49-F238E27FC236}">
                <a16:creationId xmlns:a16="http://schemas.microsoft.com/office/drawing/2014/main" id="{FCC99F9F-BE41-4F6D-9117-E169674CA2C7}"/>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¿Qué movimiento relativo estimula las células ciliadas?</a:t>
            </a:r>
          </a:p>
        </p:txBody>
      </p:sp>
      <p:sp>
        <p:nvSpPr>
          <p:cNvPr id="4" name="divider-content">
            <a:extLst>
              <a:ext uri="{FF2B5EF4-FFF2-40B4-BE49-F238E27FC236}">
                <a16:creationId xmlns:a16="http://schemas.microsoft.com/office/drawing/2014/main" id="{86019947-31AB-4D39-B918-C4F35687B7C1}"/>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¿Qué movimiento relativo estimula las células ciliadas?</a:t>
            </a:r>
          </a:p>
        </p:txBody>
      </p:sp>
    </p:spTree>
    <p:extLst>
      <p:ext uri="{BB962C8B-B14F-4D97-AF65-F5344CB8AC3E}">
        <p14:creationId xmlns:p14="http://schemas.microsoft.com/office/powerpoint/2010/main" val="11649023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14BE08D5-E6ED-4381-907C-3348F7A1C8D9}"/>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El órgano de Corti se apoya sobre la membrana basilar</a:t>
            </a:r>
          </a:p>
        </p:txBody>
      </p:sp>
      <p:sp>
        <p:nvSpPr>
          <p:cNvPr id="2" name="slide-subtitle">
            <a:extLst>
              <a:ext uri="{FF2B5EF4-FFF2-40B4-BE49-F238E27FC236}">
                <a16:creationId xmlns:a16="http://schemas.microsoft.com/office/drawing/2014/main" id="{2752F013-8F24-4D26-95F6-0160888ED53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organización espacial permite convertir movimiento en deflexión de haces.</a:t>
            </a:r>
          </a:p>
        </p:txBody>
      </p:sp>
      <p:sp>
        <p:nvSpPr>
          <p:cNvPr id="3" name="eyebrow">
            <a:extLst>
              <a:ext uri="{FF2B5EF4-FFF2-40B4-BE49-F238E27FC236}">
                <a16:creationId xmlns:a16="http://schemas.microsoft.com/office/drawing/2014/main" id="{02CFE914-CB8E-47E9-BE5B-6D4F5D2A6718}"/>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073</a:t>
            </a:r>
          </a:p>
        </p:txBody>
      </p:sp>
      <p:sp>
        <p:nvSpPr>
          <p:cNvPr id="4" name="main-ideas">
            <a:extLst>
              <a:ext uri="{FF2B5EF4-FFF2-40B4-BE49-F238E27FC236}">
                <a16:creationId xmlns:a16="http://schemas.microsoft.com/office/drawing/2014/main" id="{AAA462D9-8764-44AC-A949-52FB9D1998E7}"/>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La organización espacial permite convertir movimiento en deflexión de haces.</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Corte anatómico funcional con una fila CCI y varias CCE</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túnel solo si fuente aprobada.</a:t>
            </a:r>
          </a:p>
        </p:txBody>
      </p:sp>
      <p:sp>
        <p:nvSpPr>
          <p:cNvPr id="5" name="side-panel-box">
            <a:extLst>
              <a:ext uri="{FF2B5EF4-FFF2-40B4-BE49-F238E27FC236}">
                <a16:creationId xmlns:a16="http://schemas.microsoft.com/office/drawing/2014/main" id="{3FBFA970-F0BF-40F2-8149-B416DE024D0A}"/>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7B1E1AAF-2B57-4025-80EF-D3FECBF55914}"/>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1EB381ED-8AB2-44AC-888F-DE94A875CF51}"/>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organización espacial permite convertir movimiento en deflexión de haces.</a:t>
            </a:r>
          </a:p>
        </p:txBody>
      </p:sp>
      <p:sp>
        <p:nvSpPr>
          <p:cNvPr id="8" name="caption">
            <a:extLst>
              <a:ext uri="{FF2B5EF4-FFF2-40B4-BE49-F238E27FC236}">
                <a16:creationId xmlns:a16="http://schemas.microsoft.com/office/drawing/2014/main" id="{50533CC3-01F0-4595-9697-7FE81ABE8A5C}"/>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organización espacial permite convertir movimiento en deflexión de haces.</a:t>
            </a:r>
          </a:p>
        </p:txBody>
      </p:sp>
      <p:sp>
        <p:nvSpPr>
          <p:cNvPr id="9" name="credit">
            <a:extLst>
              <a:ext uri="{FF2B5EF4-FFF2-40B4-BE49-F238E27FC236}">
                <a16:creationId xmlns:a16="http://schemas.microsoft.com/office/drawing/2014/main" id="{ECB59AD7-22A8-476C-B8EF-152E7C98320B}"/>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6.8.1; PDF p. 161; REF fettiplace2017; OD-U06-04/14.</a:t>
            </a:r>
          </a:p>
        </p:txBody>
      </p:sp>
    </p:spTree>
    <p:extLst>
      <p:ext uri="{BB962C8B-B14F-4D97-AF65-F5344CB8AC3E}">
        <p14:creationId xmlns:p14="http://schemas.microsoft.com/office/powerpoint/2010/main" val="19954492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863AE9F4-B935-4428-AAFD-B11759FC77A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Basilar, tectorial y partición se mueven de manera relativa</a:t>
            </a:r>
          </a:p>
        </p:txBody>
      </p:sp>
      <p:sp>
        <p:nvSpPr>
          <p:cNvPr id="2" name="slide-subtitle">
            <a:extLst>
              <a:ext uri="{FF2B5EF4-FFF2-40B4-BE49-F238E27FC236}">
                <a16:creationId xmlns:a16="http://schemas.microsoft.com/office/drawing/2014/main" id="{8F3E5616-7A47-43C5-BA9A-0A0C8881DD6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cizallamiento/relación de movimiento deflecta estereocilios.</a:t>
            </a:r>
          </a:p>
        </p:txBody>
      </p:sp>
      <p:sp>
        <p:nvSpPr>
          <p:cNvPr id="3" name="eyebrow">
            <a:extLst>
              <a:ext uri="{FF2B5EF4-FFF2-40B4-BE49-F238E27FC236}">
                <a16:creationId xmlns:a16="http://schemas.microsoft.com/office/drawing/2014/main" id="{85A0ED81-72DB-41FB-8CD2-B8292EAB67D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074</a:t>
            </a:r>
          </a:p>
        </p:txBody>
      </p:sp>
      <p:sp>
        <p:nvSpPr>
          <p:cNvPr id="4" name="U06-DG-042-panel_left-anchor">
            <a:extLst>
              <a:ext uri="{FF2B5EF4-FFF2-40B4-BE49-F238E27FC236}">
                <a16:creationId xmlns:a16="http://schemas.microsoft.com/office/drawing/2014/main" id="{19FE1C18-1C43-4C0D-8C9A-A0FB1ECC5732}"/>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5" name="U06-DG-042-panel_right-anchor">
            <a:extLst>
              <a:ext uri="{FF2B5EF4-FFF2-40B4-BE49-F238E27FC236}">
                <a16:creationId xmlns:a16="http://schemas.microsoft.com/office/drawing/2014/main" id="{616C28A2-0166-481B-B995-960F757CE03A}"/>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6" name="U06-DG-042-panel_left-box" descr="Diagrama sobre «Basilar, tectorial y partición se mueven de manera relativa»; organiza estado 1/estado 2 y dirección de movimiento; sin afirmar desplazamientos universales." title="Texto alternativo U06-074">
            <a:extLst>
              <a:ext uri="{FF2B5EF4-FFF2-40B4-BE49-F238E27FC236}">
                <a16:creationId xmlns:a16="http://schemas.microsoft.com/office/drawing/2014/main" id="{125CF12D-395D-483F-B533-6048E28751AD}"/>
              </a:ext>
            </a:extLst>
          </p:cNvPr>
          <p:cNvSpPr>
            <a:spLocks noGrp="1"/>
          </p:cNvSpPr>
          <p:nvPr/>
        </p:nvSpPr>
        <p:spPr>
          <a:xfrm>
            <a:off x="876300" y="1714500"/>
            <a:ext cx="4953000" cy="3333750"/>
          </a:xfrm>
          <a:prstGeom prst="roundRect">
            <a:avLst>
              <a:gd name="adj" fmla="val 2857"/>
            </a:avLst>
          </a:prstGeom>
          <a:solidFill>
            <a:srgbClr val="E7F1F1"/>
          </a:solidFill>
          <a:ln w="19050">
            <a:solidFill>
              <a:srgbClr val="2F7E83"/>
            </a:solidFill>
            <a:prstDash val="solid"/>
          </a:ln>
        </p:spPr>
      </p:sp>
      <p:sp>
        <p:nvSpPr>
          <p:cNvPr id="7" name="U06-DG-042-panel_left-title">
            <a:extLst>
              <a:ext uri="{FF2B5EF4-FFF2-40B4-BE49-F238E27FC236}">
                <a16:creationId xmlns:a16="http://schemas.microsoft.com/office/drawing/2014/main" id="{0423C3B0-84AA-46F0-9184-CF6630C8D256}"/>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Estado A</a:t>
            </a:r>
          </a:p>
        </p:txBody>
      </p:sp>
      <p:sp>
        <p:nvSpPr>
          <p:cNvPr id="8" name="U06-DG-042-panel_left-body">
            <a:extLst>
              <a:ext uri="{FF2B5EF4-FFF2-40B4-BE49-F238E27FC236}">
                <a16:creationId xmlns:a16="http://schemas.microsoft.com/office/drawing/2014/main" id="{C30B7B7A-AF20-4609-975F-D645FC70402F}"/>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basilar arriba tectorial relativa</a:t>
            </a:r>
          </a:p>
        </p:txBody>
      </p:sp>
      <p:sp>
        <p:nvSpPr>
          <p:cNvPr id="9" name="U06-DG-042-panel_right-box">
            <a:extLst>
              <a:ext uri="{FF2B5EF4-FFF2-40B4-BE49-F238E27FC236}">
                <a16:creationId xmlns:a16="http://schemas.microsoft.com/office/drawing/2014/main" id="{4FD90E06-42D9-4F3A-99EC-8EC7A9239D7E}"/>
              </a:ext>
            </a:extLst>
          </p:cNvPr>
          <p:cNvSpPr>
            <a:spLocks noGrp="1"/>
          </p:cNvSpPr>
          <p:nvPr/>
        </p:nvSpPr>
        <p:spPr>
          <a:xfrm>
            <a:off x="6362700" y="1714500"/>
            <a:ext cx="4953000" cy="3333750"/>
          </a:xfrm>
          <a:prstGeom prst="roundRect">
            <a:avLst>
              <a:gd name="adj" fmla="val 2857"/>
            </a:avLst>
          </a:prstGeom>
          <a:solidFill>
            <a:srgbClr val="F8EDE2"/>
          </a:solidFill>
          <a:ln w="19050">
            <a:solidFill>
              <a:srgbClr val="9F541A"/>
            </a:solidFill>
            <a:prstDash val="solid"/>
          </a:ln>
        </p:spPr>
      </p:sp>
      <p:sp>
        <p:nvSpPr>
          <p:cNvPr id="10" name="U06-DG-042-panel_right-title">
            <a:extLst>
              <a:ext uri="{FF2B5EF4-FFF2-40B4-BE49-F238E27FC236}">
                <a16:creationId xmlns:a16="http://schemas.microsoft.com/office/drawing/2014/main" id="{7B88CDEF-BA43-43B5-9E0C-884AF4DBFA3E}"/>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Estado B</a:t>
            </a:r>
          </a:p>
        </p:txBody>
      </p:sp>
      <p:sp>
        <p:nvSpPr>
          <p:cNvPr id="11" name="U06-DG-042-panel_right-body">
            <a:extLst>
              <a:ext uri="{FF2B5EF4-FFF2-40B4-BE49-F238E27FC236}">
                <a16:creationId xmlns:a16="http://schemas.microsoft.com/office/drawing/2014/main" id="{B2E29EC8-F594-4E70-9543-64A5E0A8C269}"/>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basilar abajo tectorial relativa</a:t>
            </a:r>
          </a:p>
        </p:txBody>
      </p:sp>
      <p:sp>
        <p:nvSpPr>
          <p:cNvPr id="12" name="caption">
            <a:extLst>
              <a:ext uri="{FF2B5EF4-FFF2-40B4-BE49-F238E27FC236}">
                <a16:creationId xmlns:a16="http://schemas.microsoft.com/office/drawing/2014/main" id="{0042F445-4C8E-4899-87F1-B3D2130B197B}"/>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cizallamiento/relación de movimiento deflecta estereocilios.</a:t>
            </a:r>
          </a:p>
        </p:txBody>
      </p:sp>
      <p:sp>
        <p:nvSpPr>
          <p:cNvPr id="13" name="credit">
            <a:extLst>
              <a:ext uri="{FF2B5EF4-FFF2-40B4-BE49-F238E27FC236}">
                <a16:creationId xmlns:a16="http://schemas.microsoft.com/office/drawing/2014/main" id="{45B68F92-8858-4C80-9A23-99FD514E1A48}"/>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0462133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D5656449-C45F-488F-916E-F8A8A4FF213E}"/>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dirección de deflexión cambia la respuesta del haz</a:t>
            </a:r>
          </a:p>
        </p:txBody>
      </p:sp>
      <p:sp>
        <p:nvSpPr>
          <p:cNvPr id="2" name="slide-subtitle">
            <a:extLst>
              <a:ext uri="{FF2B5EF4-FFF2-40B4-BE49-F238E27FC236}">
                <a16:creationId xmlns:a16="http://schemas.microsoft.com/office/drawing/2014/main" id="{03DD39CD-AEFC-43F3-B5D5-EBE14C8855EC}"/>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respuesta no depende solo de “cuánto”, sino también de hacia dónde se deflecta.</a:t>
            </a:r>
          </a:p>
        </p:txBody>
      </p:sp>
      <p:sp>
        <p:nvSpPr>
          <p:cNvPr id="3" name="eyebrow">
            <a:extLst>
              <a:ext uri="{FF2B5EF4-FFF2-40B4-BE49-F238E27FC236}">
                <a16:creationId xmlns:a16="http://schemas.microsoft.com/office/drawing/2014/main" id="{320B919C-14D0-445C-9F03-28D7476DF48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075</a:t>
            </a:r>
          </a:p>
        </p:txBody>
      </p:sp>
      <p:sp>
        <p:nvSpPr>
          <p:cNvPr id="4" name="U06-DG-043-frame_1-anchor">
            <a:extLst>
              <a:ext uri="{FF2B5EF4-FFF2-40B4-BE49-F238E27FC236}">
                <a16:creationId xmlns:a16="http://schemas.microsoft.com/office/drawing/2014/main" id="{56901D82-2E80-4C57-AF07-E58C70C73023}"/>
              </a:ext>
            </a:extLst>
          </p:cNvPr>
          <p:cNvSpPr>
            <a:spLocks noGrp="1"/>
          </p:cNvSpPr>
          <p:nvPr/>
        </p:nvSpPr>
        <p:spPr>
          <a:xfrm>
            <a:off x="781050" y="2095500"/>
            <a:ext cx="3384550" cy="2476500"/>
          </a:xfrm>
          <a:prstGeom prst="roundRect">
            <a:avLst>
              <a:gd name="adj" fmla="val 3846"/>
            </a:avLst>
          </a:prstGeom>
          <a:noFill/>
          <a:ln w="0">
            <a:noFill/>
            <a:prstDash val="solid"/>
          </a:ln>
        </p:spPr>
      </p:sp>
      <p:sp>
        <p:nvSpPr>
          <p:cNvPr id="5" name="U06-DG-043-frame_2-anchor">
            <a:extLst>
              <a:ext uri="{FF2B5EF4-FFF2-40B4-BE49-F238E27FC236}">
                <a16:creationId xmlns:a16="http://schemas.microsoft.com/office/drawing/2014/main" id="{176302AC-EBDC-43B4-A816-E3AE0A19A77B}"/>
              </a:ext>
            </a:extLst>
          </p:cNvPr>
          <p:cNvSpPr>
            <a:spLocks noGrp="1"/>
          </p:cNvSpPr>
          <p:nvPr/>
        </p:nvSpPr>
        <p:spPr>
          <a:xfrm>
            <a:off x="4403725" y="2095500"/>
            <a:ext cx="3384550" cy="2476500"/>
          </a:xfrm>
          <a:prstGeom prst="roundRect">
            <a:avLst>
              <a:gd name="adj" fmla="val 3846"/>
            </a:avLst>
          </a:prstGeom>
          <a:noFill/>
          <a:ln w="0">
            <a:noFill/>
            <a:prstDash val="solid"/>
          </a:ln>
        </p:spPr>
      </p:sp>
      <p:sp>
        <p:nvSpPr>
          <p:cNvPr id="6" name="U06-DG-043-frame_3-anchor">
            <a:extLst>
              <a:ext uri="{FF2B5EF4-FFF2-40B4-BE49-F238E27FC236}">
                <a16:creationId xmlns:a16="http://schemas.microsoft.com/office/drawing/2014/main" id="{78760A44-112D-485D-AFEB-09F0830E48EC}"/>
              </a:ext>
            </a:extLst>
          </p:cNvPr>
          <p:cNvSpPr>
            <a:spLocks noGrp="1"/>
          </p:cNvSpPr>
          <p:nvPr/>
        </p:nvSpPr>
        <p:spPr>
          <a:xfrm>
            <a:off x="8026400" y="2095500"/>
            <a:ext cx="3384550" cy="2476500"/>
          </a:xfrm>
          <a:prstGeom prst="roundRect">
            <a:avLst>
              <a:gd name="adj" fmla="val 3846"/>
            </a:avLst>
          </a:prstGeom>
          <a:noFill/>
          <a:ln w="0">
            <a:noFill/>
            <a:prstDash val="solid"/>
          </a:ln>
        </p:spPr>
      </p:sp>
      <p:cxnSp>
        <p:nvCxnSpPr>
          <p:cNvPr id="26" name="U06-DG-043-time_1"/>
          <p:cNvCxnSpPr>
            <a:stCxn id="4" idx="3"/>
            <a:endCxn id="5" idx="1"/>
          </p:cNvCxnSpPr>
          <p:nvPr/>
        </p:nvCxnSpPr>
        <p:spPr>
          <a:xfrm>
            <a:off x="4165600" y="3333750"/>
            <a:ext cx="238125" cy="0"/>
          </a:xfrm>
          <a:prstGeom prst="straightConnector1">
            <a:avLst/>
          </a:prstGeom>
          <a:ln w="28575">
            <a:solidFill>
              <a:srgbClr val="3D3D3D"/>
            </a:solidFill>
            <a:prstDash val="solid"/>
            <a:tailEnd type="arrow" w="med" len="med"/>
          </a:ln>
        </p:spPr>
      </p:cxnSp>
      <p:cxnSp>
        <p:nvCxnSpPr>
          <p:cNvPr id="27" name="U06-DG-043-time_2"/>
          <p:cNvCxnSpPr>
            <a:stCxn id="5" idx="3"/>
            <a:endCxn id="6" idx="1"/>
          </p:cNvCxnSpPr>
          <p:nvPr/>
        </p:nvCxnSpPr>
        <p:spPr>
          <a:xfrm>
            <a:off x="7788275" y="3333750"/>
            <a:ext cx="238125" cy="0"/>
          </a:xfrm>
          <a:prstGeom prst="straightConnector1">
            <a:avLst/>
          </a:prstGeom>
          <a:ln w="28575">
            <a:solidFill>
              <a:srgbClr val="3D3D3D"/>
            </a:solidFill>
            <a:prstDash val="solid"/>
            <a:tailEnd type="arrow" w="med" len="med"/>
          </a:ln>
        </p:spPr>
      </p:cxnSp>
      <p:sp>
        <p:nvSpPr>
          <p:cNvPr id="9" name="U06-DG-043-frame_1-box" descr="Diagrama sobre «La dirección de deflexión cambia la respuesta del haz»; organiza haz en reposo, deflexión excitatoria y opuesta; sin canales todavía." title="Texto alternativo U06-075">
            <a:extLst>
              <a:ext uri="{FF2B5EF4-FFF2-40B4-BE49-F238E27FC236}">
                <a16:creationId xmlns:a16="http://schemas.microsoft.com/office/drawing/2014/main" id="{99123113-3A5B-490A-B8BF-B608002CC8C8}"/>
              </a:ext>
            </a:extLst>
          </p:cNvPr>
          <p:cNvSpPr>
            <a:spLocks noGrp="1"/>
          </p:cNvSpPr>
          <p:nvPr/>
        </p:nvSpPr>
        <p:spPr>
          <a:xfrm>
            <a:off x="781050" y="2095500"/>
            <a:ext cx="3384550" cy="2476500"/>
          </a:xfrm>
          <a:prstGeom prst="roundRect">
            <a:avLst>
              <a:gd name="adj" fmla="val 3846"/>
            </a:avLst>
          </a:prstGeom>
          <a:solidFill>
            <a:srgbClr val="F7F6F2"/>
          </a:solidFill>
          <a:ln w="19050">
            <a:solidFill>
              <a:srgbClr val="969FA7"/>
            </a:solidFill>
            <a:prstDash val="solid"/>
          </a:ln>
        </p:spPr>
      </p:sp>
      <p:sp>
        <p:nvSpPr>
          <p:cNvPr id="10" name="U06-DG-043-frame_1-title">
            <a:extLst>
              <a:ext uri="{FF2B5EF4-FFF2-40B4-BE49-F238E27FC236}">
                <a16:creationId xmlns:a16="http://schemas.microsoft.com/office/drawing/2014/main" id="{ECCE2D74-DA96-4953-A00F-A29AB9C9038C}"/>
              </a:ext>
            </a:extLst>
          </p:cNvPr>
          <p:cNvSpPr>
            <a:spLocks noGrp="1"/>
          </p:cNvSpPr>
          <p:nvPr/>
        </p:nvSpPr>
        <p:spPr>
          <a:xfrm>
            <a:off x="971550" y="2238375"/>
            <a:ext cx="30035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Reposo</a:t>
            </a:r>
          </a:p>
        </p:txBody>
      </p:sp>
      <p:sp>
        <p:nvSpPr>
          <p:cNvPr id="11" name="U06-DG-043-frame_1-body">
            <a:extLst>
              <a:ext uri="{FF2B5EF4-FFF2-40B4-BE49-F238E27FC236}">
                <a16:creationId xmlns:a16="http://schemas.microsoft.com/office/drawing/2014/main" id="{41F71C29-D4AE-4888-9E40-FF5BAF7E5050}"/>
              </a:ext>
            </a:extLst>
          </p:cNvPr>
          <p:cNvSpPr>
            <a:spLocks noGrp="1"/>
          </p:cNvSpPr>
          <p:nvPr/>
        </p:nvSpPr>
        <p:spPr>
          <a:xfrm>
            <a:off x="971550" y="2686050"/>
            <a:ext cx="3003550" cy="17907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probabilidad basal</a:t>
            </a:r>
          </a:p>
        </p:txBody>
      </p:sp>
      <p:sp>
        <p:nvSpPr>
          <p:cNvPr id="12" name="U06-DG-043-frame_2-box">
            <a:extLst>
              <a:ext uri="{FF2B5EF4-FFF2-40B4-BE49-F238E27FC236}">
                <a16:creationId xmlns:a16="http://schemas.microsoft.com/office/drawing/2014/main" id="{656A813F-647D-47BE-9A2D-3D8722860E8B}"/>
              </a:ext>
            </a:extLst>
          </p:cNvPr>
          <p:cNvSpPr>
            <a:spLocks noGrp="1"/>
          </p:cNvSpPr>
          <p:nvPr/>
        </p:nvSpPr>
        <p:spPr>
          <a:xfrm>
            <a:off x="4403725" y="2095500"/>
            <a:ext cx="3384550" cy="2476500"/>
          </a:xfrm>
          <a:prstGeom prst="roundRect">
            <a:avLst>
              <a:gd name="adj" fmla="val 3846"/>
            </a:avLst>
          </a:prstGeom>
          <a:solidFill>
            <a:srgbClr val="F4E9EF"/>
          </a:solidFill>
          <a:ln w="19050">
            <a:solidFill>
              <a:srgbClr val="4D1434"/>
            </a:solidFill>
            <a:prstDash val="solid"/>
          </a:ln>
        </p:spPr>
      </p:sp>
      <p:sp>
        <p:nvSpPr>
          <p:cNvPr id="13" name="U06-DG-043-frame_2-title">
            <a:extLst>
              <a:ext uri="{FF2B5EF4-FFF2-40B4-BE49-F238E27FC236}">
                <a16:creationId xmlns:a16="http://schemas.microsoft.com/office/drawing/2014/main" id="{CD1B46E0-3338-49FF-AF44-BB97A65759F8}"/>
              </a:ext>
            </a:extLst>
          </p:cNvPr>
          <p:cNvSpPr>
            <a:spLocks noGrp="1"/>
          </p:cNvSpPr>
          <p:nvPr/>
        </p:nvSpPr>
        <p:spPr>
          <a:xfrm>
            <a:off x="4594225" y="2238375"/>
            <a:ext cx="30035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Dirección excitatoria</a:t>
            </a:r>
          </a:p>
        </p:txBody>
      </p:sp>
      <p:sp>
        <p:nvSpPr>
          <p:cNvPr id="14" name="U06-DG-043-frame_2-body">
            <a:extLst>
              <a:ext uri="{FF2B5EF4-FFF2-40B4-BE49-F238E27FC236}">
                <a16:creationId xmlns:a16="http://schemas.microsoft.com/office/drawing/2014/main" id="{BFC2DE1A-742B-4DD7-98E3-50C6401EE635}"/>
              </a:ext>
            </a:extLst>
          </p:cNvPr>
          <p:cNvSpPr>
            <a:spLocks noGrp="1"/>
          </p:cNvSpPr>
          <p:nvPr/>
        </p:nvSpPr>
        <p:spPr>
          <a:xfrm>
            <a:off x="4594225" y="3009900"/>
            <a:ext cx="3003550" cy="14668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apertura aumenta</a:t>
            </a:r>
          </a:p>
        </p:txBody>
      </p:sp>
      <p:sp>
        <p:nvSpPr>
          <p:cNvPr id="15" name="U06-DG-043-frame_3-box">
            <a:extLst>
              <a:ext uri="{FF2B5EF4-FFF2-40B4-BE49-F238E27FC236}">
                <a16:creationId xmlns:a16="http://schemas.microsoft.com/office/drawing/2014/main" id="{83A7AA51-8011-42BF-9A88-8EADEB444340}"/>
              </a:ext>
            </a:extLst>
          </p:cNvPr>
          <p:cNvSpPr>
            <a:spLocks noGrp="1"/>
          </p:cNvSpPr>
          <p:nvPr/>
        </p:nvSpPr>
        <p:spPr>
          <a:xfrm>
            <a:off x="8026400" y="2095500"/>
            <a:ext cx="3384550" cy="2476500"/>
          </a:xfrm>
          <a:prstGeom prst="roundRect">
            <a:avLst>
              <a:gd name="adj" fmla="val 3846"/>
            </a:avLst>
          </a:prstGeom>
          <a:solidFill>
            <a:srgbClr val="F8EDE2"/>
          </a:solidFill>
          <a:ln w="19050">
            <a:solidFill>
              <a:srgbClr val="9F541A"/>
            </a:solidFill>
            <a:prstDash val="solid"/>
          </a:ln>
        </p:spPr>
      </p:sp>
      <p:sp>
        <p:nvSpPr>
          <p:cNvPr id="16" name="U06-DG-043-frame_3-title">
            <a:extLst>
              <a:ext uri="{FF2B5EF4-FFF2-40B4-BE49-F238E27FC236}">
                <a16:creationId xmlns:a16="http://schemas.microsoft.com/office/drawing/2014/main" id="{303FEB08-B51E-43E2-9805-EE7C901644E6}"/>
              </a:ext>
            </a:extLst>
          </p:cNvPr>
          <p:cNvSpPr>
            <a:spLocks noGrp="1"/>
          </p:cNvSpPr>
          <p:nvPr/>
        </p:nvSpPr>
        <p:spPr>
          <a:xfrm>
            <a:off x="8216900" y="2238375"/>
            <a:ext cx="30035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Dirección opuesta</a:t>
            </a:r>
          </a:p>
        </p:txBody>
      </p:sp>
      <p:sp>
        <p:nvSpPr>
          <p:cNvPr id="17" name="U06-DG-043-frame_3-body">
            <a:extLst>
              <a:ext uri="{FF2B5EF4-FFF2-40B4-BE49-F238E27FC236}">
                <a16:creationId xmlns:a16="http://schemas.microsoft.com/office/drawing/2014/main" id="{CC064CBE-6D99-442F-BE80-81641F3C3ABF}"/>
              </a:ext>
            </a:extLst>
          </p:cNvPr>
          <p:cNvSpPr>
            <a:spLocks noGrp="1"/>
          </p:cNvSpPr>
          <p:nvPr/>
        </p:nvSpPr>
        <p:spPr>
          <a:xfrm>
            <a:off x="8216900" y="2686050"/>
            <a:ext cx="3003550" cy="17907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apertura disminuye</a:t>
            </a:r>
          </a:p>
        </p:txBody>
      </p:sp>
      <p:sp>
        <p:nvSpPr>
          <p:cNvPr id="18" name="caption">
            <a:extLst>
              <a:ext uri="{FF2B5EF4-FFF2-40B4-BE49-F238E27FC236}">
                <a16:creationId xmlns:a16="http://schemas.microsoft.com/office/drawing/2014/main" id="{AB644B43-88D7-4245-8DDD-3E5A8FC081E0}"/>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respuesta no depende solo de “cuánto”, sino también de hacia dónde se deflecta.</a:t>
            </a:r>
          </a:p>
        </p:txBody>
      </p:sp>
      <p:sp>
        <p:nvSpPr>
          <p:cNvPr id="19" name="credit">
            <a:extLst>
              <a:ext uri="{FF2B5EF4-FFF2-40B4-BE49-F238E27FC236}">
                <a16:creationId xmlns:a16="http://schemas.microsoft.com/office/drawing/2014/main" id="{AB9EACE8-0FCF-415B-A7FE-11A171DFAE16}"/>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872630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BE429BE3-B383-4BCA-A141-D7117AF96368}"/>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CCI y CCE comparten transducción, pero no función global</a:t>
            </a:r>
          </a:p>
        </p:txBody>
      </p:sp>
      <p:sp>
        <p:nvSpPr>
          <p:cNvPr id="2" name="slide-subtitle">
            <a:extLst>
              <a:ext uri="{FF2B5EF4-FFF2-40B4-BE49-F238E27FC236}">
                <a16:creationId xmlns:a16="http://schemas.microsoft.com/office/drawing/2014/main" id="{EED2D598-95B7-4C66-87DC-7EE160DE5CF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CCI: aferencia principal; CCE: realimentación mecánica activa.</a:t>
            </a:r>
          </a:p>
        </p:txBody>
      </p:sp>
      <p:sp>
        <p:nvSpPr>
          <p:cNvPr id="3" name="eyebrow">
            <a:extLst>
              <a:ext uri="{FF2B5EF4-FFF2-40B4-BE49-F238E27FC236}">
                <a16:creationId xmlns:a16="http://schemas.microsoft.com/office/drawing/2014/main" id="{3DCB0EB1-2C3B-4DA9-94B6-F12EEC41B3BB}"/>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076</a:t>
            </a:r>
          </a:p>
        </p:txBody>
      </p:sp>
      <p:sp>
        <p:nvSpPr>
          <p:cNvPr id="4" name="U06-DG-044-central-anchor">
            <a:extLst>
              <a:ext uri="{FF2B5EF4-FFF2-40B4-BE49-F238E27FC236}">
                <a16:creationId xmlns:a16="http://schemas.microsoft.com/office/drawing/2014/main" id="{01591D90-7AB0-40AC-B089-6A583406E628}"/>
              </a:ext>
            </a:extLst>
          </p:cNvPr>
          <p:cNvSpPr>
            <a:spLocks noGrp="1"/>
          </p:cNvSpPr>
          <p:nvPr/>
        </p:nvSpPr>
        <p:spPr>
          <a:xfrm>
            <a:off x="3714750" y="1381125"/>
            <a:ext cx="4762500" cy="1285875"/>
          </a:xfrm>
          <a:prstGeom prst="roundRect">
            <a:avLst>
              <a:gd name="adj" fmla="val 7407"/>
            </a:avLst>
          </a:prstGeom>
          <a:noFill/>
          <a:ln w="0">
            <a:noFill/>
            <a:prstDash val="solid"/>
          </a:ln>
        </p:spPr>
      </p:sp>
      <p:sp>
        <p:nvSpPr>
          <p:cNvPr id="5" name="U06-DG-044-branch_1-anchor">
            <a:extLst>
              <a:ext uri="{FF2B5EF4-FFF2-40B4-BE49-F238E27FC236}">
                <a16:creationId xmlns:a16="http://schemas.microsoft.com/office/drawing/2014/main" id="{E19B2CEA-6F88-484E-9D40-018AA2BE0889}"/>
              </a:ext>
            </a:extLst>
          </p:cNvPr>
          <p:cNvSpPr>
            <a:spLocks noGrp="1"/>
          </p:cNvSpPr>
          <p:nvPr/>
        </p:nvSpPr>
        <p:spPr>
          <a:xfrm>
            <a:off x="781050" y="3619500"/>
            <a:ext cx="1958340" cy="1809750"/>
          </a:xfrm>
          <a:prstGeom prst="roundRect">
            <a:avLst>
              <a:gd name="adj" fmla="val 5263"/>
            </a:avLst>
          </a:prstGeom>
          <a:noFill/>
          <a:ln w="0">
            <a:noFill/>
            <a:prstDash val="solid"/>
          </a:ln>
        </p:spPr>
      </p:sp>
      <p:sp>
        <p:nvSpPr>
          <p:cNvPr id="6" name="U06-DG-044-branch_2-anchor">
            <a:extLst>
              <a:ext uri="{FF2B5EF4-FFF2-40B4-BE49-F238E27FC236}">
                <a16:creationId xmlns:a16="http://schemas.microsoft.com/office/drawing/2014/main" id="{C5346E81-3209-4C9F-8CD4-F6A406679015}"/>
              </a:ext>
            </a:extLst>
          </p:cNvPr>
          <p:cNvSpPr>
            <a:spLocks noGrp="1"/>
          </p:cNvSpPr>
          <p:nvPr/>
        </p:nvSpPr>
        <p:spPr>
          <a:xfrm>
            <a:off x="2948940" y="3619500"/>
            <a:ext cx="1958340" cy="1809750"/>
          </a:xfrm>
          <a:prstGeom prst="roundRect">
            <a:avLst>
              <a:gd name="adj" fmla="val 5263"/>
            </a:avLst>
          </a:prstGeom>
          <a:noFill/>
          <a:ln w="0">
            <a:noFill/>
            <a:prstDash val="solid"/>
          </a:ln>
        </p:spPr>
      </p:sp>
      <p:sp>
        <p:nvSpPr>
          <p:cNvPr id="7" name="U06-DG-044-branch_3-anchor">
            <a:extLst>
              <a:ext uri="{FF2B5EF4-FFF2-40B4-BE49-F238E27FC236}">
                <a16:creationId xmlns:a16="http://schemas.microsoft.com/office/drawing/2014/main" id="{5E3873FF-ADC6-4985-8FFA-0BDFAD6C0068}"/>
              </a:ext>
            </a:extLst>
          </p:cNvPr>
          <p:cNvSpPr>
            <a:spLocks noGrp="1"/>
          </p:cNvSpPr>
          <p:nvPr/>
        </p:nvSpPr>
        <p:spPr>
          <a:xfrm>
            <a:off x="5116830" y="3619500"/>
            <a:ext cx="1958340" cy="1809750"/>
          </a:xfrm>
          <a:prstGeom prst="roundRect">
            <a:avLst>
              <a:gd name="adj" fmla="val 5263"/>
            </a:avLst>
          </a:prstGeom>
          <a:noFill/>
          <a:ln w="0">
            <a:noFill/>
            <a:prstDash val="solid"/>
          </a:ln>
        </p:spPr>
      </p:sp>
      <p:sp>
        <p:nvSpPr>
          <p:cNvPr id="8" name="U06-DG-044-branch_4-anchor">
            <a:extLst>
              <a:ext uri="{FF2B5EF4-FFF2-40B4-BE49-F238E27FC236}">
                <a16:creationId xmlns:a16="http://schemas.microsoft.com/office/drawing/2014/main" id="{916F8C9B-24E7-4A77-B63A-76486B1D995E}"/>
              </a:ext>
            </a:extLst>
          </p:cNvPr>
          <p:cNvSpPr>
            <a:spLocks noGrp="1"/>
          </p:cNvSpPr>
          <p:nvPr/>
        </p:nvSpPr>
        <p:spPr>
          <a:xfrm>
            <a:off x="7284720" y="3619500"/>
            <a:ext cx="1958340" cy="1809750"/>
          </a:xfrm>
          <a:prstGeom prst="roundRect">
            <a:avLst>
              <a:gd name="adj" fmla="val 5263"/>
            </a:avLst>
          </a:prstGeom>
          <a:noFill/>
          <a:ln w="0">
            <a:noFill/>
            <a:prstDash val="solid"/>
          </a:ln>
        </p:spPr>
      </p:sp>
      <p:sp>
        <p:nvSpPr>
          <p:cNvPr id="9" name="U06-DG-044-branch_5-anchor">
            <a:extLst>
              <a:ext uri="{FF2B5EF4-FFF2-40B4-BE49-F238E27FC236}">
                <a16:creationId xmlns:a16="http://schemas.microsoft.com/office/drawing/2014/main" id="{984F420D-EC50-4390-B649-D31CE3B6CE42}"/>
              </a:ext>
            </a:extLst>
          </p:cNvPr>
          <p:cNvSpPr>
            <a:spLocks noGrp="1"/>
          </p:cNvSpPr>
          <p:nvPr/>
        </p:nvSpPr>
        <p:spPr>
          <a:xfrm>
            <a:off x="9452610" y="3619500"/>
            <a:ext cx="1958340" cy="1809750"/>
          </a:xfrm>
          <a:prstGeom prst="roundRect">
            <a:avLst>
              <a:gd name="adj" fmla="val 5263"/>
            </a:avLst>
          </a:prstGeom>
          <a:noFill/>
          <a:ln w="0">
            <a:noFill/>
            <a:prstDash val="solid"/>
          </a:ln>
        </p:spPr>
      </p:sp>
      <p:cxnSp>
        <p:nvCxnSpPr>
          <p:cNvPr id="44" name="U06-DG-044-branch_edge_1"/>
          <p:cNvCxnSpPr>
            <a:stCxn id="4" idx="1"/>
            <a:endCxn id="5" idx="3"/>
          </p:cNvCxnSpPr>
          <p:nvPr/>
        </p:nvCxnSpPr>
        <p:spPr>
          <a:xfrm flipH="1">
            <a:off x="2739390" y="2024063"/>
            <a:ext cx="975360" cy="2500313"/>
          </a:xfrm>
          <a:prstGeom prst="bentConnector3">
            <a:avLst>
              <a:gd name="adj1" fmla="val 50000"/>
            </a:avLst>
          </a:prstGeom>
          <a:ln w="28575">
            <a:solidFill>
              <a:srgbClr val="3D3D3D"/>
            </a:solidFill>
            <a:prstDash val="solid"/>
            <a:tailEnd type="arrow" w="med" len="med"/>
          </a:ln>
        </p:spPr>
      </p:cxnSp>
      <p:cxnSp>
        <p:nvCxnSpPr>
          <p:cNvPr id="45" name="U06-DG-044-branch_edge_2"/>
          <p:cNvCxnSpPr>
            <a:stCxn id="4" idx="2"/>
            <a:endCxn id="6" idx="0"/>
          </p:cNvCxnSpPr>
          <p:nvPr/>
        </p:nvCxnSpPr>
        <p:spPr>
          <a:xfrm flipH="1">
            <a:off x="392811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6" name="U06-DG-044-branch_edge_3"/>
          <p:cNvCxnSpPr>
            <a:stCxn id="4" idx="2"/>
            <a:endCxn id="7" idx="0"/>
          </p:cNvCxnSpPr>
          <p:nvPr/>
        </p:nvCxnSpPr>
        <p:spPr>
          <a:xfrm>
            <a:off x="6096000" y="2667000"/>
            <a:ext cx="0" cy="952500"/>
          </a:xfrm>
          <a:prstGeom prst="straightConnector1">
            <a:avLst/>
          </a:prstGeom>
          <a:ln w="28575">
            <a:solidFill>
              <a:srgbClr val="3D3D3D"/>
            </a:solidFill>
            <a:prstDash val="solid"/>
            <a:tailEnd type="arrow" w="med" len="med"/>
          </a:ln>
        </p:spPr>
      </p:cxnSp>
      <p:cxnSp>
        <p:nvCxnSpPr>
          <p:cNvPr id="47" name="U06-DG-044-branch_edge_4"/>
          <p:cNvCxnSpPr>
            <a:stCxn id="4" idx="2"/>
            <a:endCxn id="8" idx="0"/>
          </p:cNvCxnSpPr>
          <p:nvPr/>
        </p:nvCxnSpPr>
        <p:spPr>
          <a:xfrm>
            <a:off x="609600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8" name="U06-DG-044-branch_edge_5"/>
          <p:cNvCxnSpPr>
            <a:stCxn id="4" idx="3"/>
            <a:endCxn id="9" idx="1"/>
          </p:cNvCxnSpPr>
          <p:nvPr/>
        </p:nvCxnSpPr>
        <p:spPr>
          <a:xfrm>
            <a:off x="8477250" y="2024063"/>
            <a:ext cx="975360" cy="2500313"/>
          </a:xfrm>
          <a:prstGeom prst="bentConnector3">
            <a:avLst>
              <a:gd name="adj1" fmla="val 50000"/>
            </a:avLst>
          </a:prstGeom>
          <a:ln w="28575">
            <a:solidFill>
              <a:srgbClr val="3D3D3D"/>
            </a:solidFill>
            <a:prstDash val="solid"/>
            <a:tailEnd type="arrow" w="med" len="med"/>
          </a:ln>
        </p:spPr>
      </p:cxnSp>
      <p:sp>
        <p:nvSpPr>
          <p:cNvPr id="15" name="U06-DG-044-central-box" descr="Diagrama sobre «CCI y CCE comparten transducción, pero no función global»; organiza comparación por entrada, salida inmediata, conexión y consecuencia." title="Texto alternativo U06-076">
            <a:extLst>
              <a:ext uri="{FF2B5EF4-FFF2-40B4-BE49-F238E27FC236}">
                <a16:creationId xmlns:a16="http://schemas.microsoft.com/office/drawing/2014/main" id="{9F0AACDE-0A41-47CB-85D5-0B8C10868F24}"/>
              </a:ext>
            </a:extLst>
          </p:cNvPr>
          <p:cNvSpPr>
            <a:spLocks noGrp="1"/>
          </p:cNvSpPr>
          <p:nvPr/>
        </p:nvSpPr>
        <p:spPr>
          <a:xfrm>
            <a:off x="3714750" y="1381125"/>
            <a:ext cx="4762500" cy="1285875"/>
          </a:xfrm>
          <a:prstGeom prst="roundRect">
            <a:avLst>
              <a:gd name="adj" fmla="val 7407"/>
            </a:avLst>
          </a:prstGeom>
          <a:solidFill>
            <a:srgbClr val="F4E9EF"/>
          </a:solidFill>
          <a:ln w="19050">
            <a:solidFill>
              <a:srgbClr val="4D1434"/>
            </a:solidFill>
            <a:prstDash val="solid"/>
          </a:ln>
        </p:spPr>
      </p:sp>
      <p:sp>
        <p:nvSpPr>
          <p:cNvPr id="16" name="U06-DG-044-central-title">
            <a:extLst>
              <a:ext uri="{FF2B5EF4-FFF2-40B4-BE49-F238E27FC236}">
                <a16:creationId xmlns:a16="http://schemas.microsoft.com/office/drawing/2014/main" id="{A21A08A1-6C09-4CE2-A822-C69AAA30C1BB}"/>
              </a:ext>
            </a:extLst>
          </p:cNvPr>
          <p:cNvSpPr>
            <a:spLocks noGrp="1"/>
          </p:cNvSpPr>
          <p:nvPr/>
        </p:nvSpPr>
        <p:spPr>
          <a:xfrm>
            <a:off x="3905250" y="1524000"/>
            <a:ext cx="4381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Deflexión del haz</a:t>
            </a:r>
          </a:p>
        </p:txBody>
      </p:sp>
      <p:sp>
        <p:nvSpPr>
          <p:cNvPr id="17" name="U06-DG-044-central-body">
            <a:extLst>
              <a:ext uri="{FF2B5EF4-FFF2-40B4-BE49-F238E27FC236}">
                <a16:creationId xmlns:a16="http://schemas.microsoft.com/office/drawing/2014/main" id="{3DBB57BF-7EFF-464E-AFA7-59FA633DD7B2}"/>
              </a:ext>
            </a:extLst>
          </p:cNvPr>
          <p:cNvSpPr>
            <a:spLocks noGrp="1"/>
          </p:cNvSpPr>
          <p:nvPr/>
        </p:nvSpPr>
        <p:spPr>
          <a:xfrm>
            <a:off x="3905250" y="1971675"/>
            <a:ext cx="4381500" cy="600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tramo común</a:t>
            </a:r>
          </a:p>
        </p:txBody>
      </p:sp>
      <p:sp>
        <p:nvSpPr>
          <p:cNvPr id="18" name="U06-DG-044-branch_1-box">
            <a:extLst>
              <a:ext uri="{FF2B5EF4-FFF2-40B4-BE49-F238E27FC236}">
                <a16:creationId xmlns:a16="http://schemas.microsoft.com/office/drawing/2014/main" id="{93FA1D1A-B715-4439-8C4D-DCC381B80DA9}"/>
              </a:ext>
            </a:extLst>
          </p:cNvPr>
          <p:cNvSpPr>
            <a:spLocks noGrp="1"/>
          </p:cNvSpPr>
          <p:nvPr/>
        </p:nvSpPr>
        <p:spPr>
          <a:xfrm>
            <a:off x="781050" y="3619500"/>
            <a:ext cx="1958340" cy="1809750"/>
          </a:xfrm>
          <a:prstGeom prst="roundRect">
            <a:avLst>
              <a:gd name="adj" fmla="val 5263"/>
            </a:avLst>
          </a:prstGeom>
          <a:solidFill>
            <a:srgbClr val="E7F1F1"/>
          </a:solidFill>
          <a:ln w="19050">
            <a:solidFill>
              <a:srgbClr val="2F7E83"/>
            </a:solidFill>
            <a:prstDash val="solid"/>
          </a:ln>
        </p:spPr>
      </p:sp>
      <p:sp>
        <p:nvSpPr>
          <p:cNvPr id="19" name="U06-DG-044-branch_1-title">
            <a:extLst>
              <a:ext uri="{FF2B5EF4-FFF2-40B4-BE49-F238E27FC236}">
                <a16:creationId xmlns:a16="http://schemas.microsoft.com/office/drawing/2014/main" id="{8455AEDF-3718-46DD-AB96-EB91770F202A}"/>
              </a:ext>
            </a:extLst>
          </p:cNvPr>
          <p:cNvSpPr>
            <a:spLocks noGrp="1"/>
          </p:cNvSpPr>
          <p:nvPr/>
        </p:nvSpPr>
        <p:spPr>
          <a:xfrm>
            <a:off x="97155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Canales</a:t>
            </a:r>
          </a:p>
        </p:txBody>
      </p:sp>
      <p:sp>
        <p:nvSpPr>
          <p:cNvPr id="20" name="U06-DG-044-branch_1-body">
            <a:extLst>
              <a:ext uri="{FF2B5EF4-FFF2-40B4-BE49-F238E27FC236}">
                <a16:creationId xmlns:a16="http://schemas.microsoft.com/office/drawing/2014/main" id="{85A4409A-FAE5-4FD7-A729-F95CD9BCCEB5}"/>
              </a:ext>
            </a:extLst>
          </p:cNvPr>
          <p:cNvSpPr>
            <a:spLocks noGrp="1"/>
          </p:cNvSpPr>
          <p:nvPr/>
        </p:nvSpPr>
        <p:spPr>
          <a:xfrm>
            <a:off x="97155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transducen</a:t>
            </a:r>
          </a:p>
        </p:txBody>
      </p:sp>
      <p:sp>
        <p:nvSpPr>
          <p:cNvPr id="21" name="U06-DG-044-branch_2-box">
            <a:extLst>
              <a:ext uri="{FF2B5EF4-FFF2-40B4-BE49-F238E27FC236}">
                <a16:creationId xmlns:a16="http://schemas.microsoft.com/office/drawing/2014/main" id="{ADA70B75-ADA5-4774-9741-B54A1616C64B}"/>
              </a:ext>
            </a:extLst>
          </p:cNvPr>
          <p:cNvSpPr>
            <a:spLocks noGrp="1"/>
          </p:cNvSpPr>
          <p:nvPr/>
        </p:nvSpPr>
        <p:spPr>
          <a:xfrm>
            <a:off x="2948940" y="3619500"/>
            <a:ext cx="1958340" cy="1809750"/>
          </a:xfrm>
          <a:prstGeom prst="roundRect">
            <a:avLst>
              <a:gd name="adj" fmla="val 5263"/>
            </a:avLst>
          </a:prstGeom>
          <a:solidFill>
            <a:srgbClr val="F8EDE2"/>
          </a:solidFill>
          <a:ln w="19050">
            <a:solidFill>
              <a:srgbClr val="9F541A"/>
            </a:solidFill>
            <a:prstDash val="solid"/>
          </a:ln>
        </p:spPr>
      </p:sp>
      <p:sp>
        <p:nvSpPr>
          <p:cNvPr id="22" name="U06-DG-044-branch_2-title">
            <a:extLst>
              <a:ext uri="{FF2B5EF4-FFF2-40B4-BE49-F238E27FC236}">
                <a16:creationId xmlns:a16="http://schemas.microsoft.com/office/drawing/2014/main" id="{529EA389-B70E-41A8-ADF9-2443B09C7238}"/>
              </a:ext>
            </a:extLst>
          </p:cNvPr>
          <p:cNvSpPr>
            <a:spLocks noGrp="1"/>
          </p:cNvSpPr>
          <p:nvPr/>
        </p:nvSpPr>
        <p:spPr>
          <a:xfrm>
            <a:off x="313944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CCI</a:t>
            </a:r>
          </a:p>
        </p:txBody>
      </p:sp>
      <p:sp>
        <p:nvSpPr>
          <p:cNvPr id="23" name="U06-DG-044-branch_2-body">
            <a:extLst>
              <a:ext uri="{FF2B5EF4-FFF2-40B4-BE49-F238E27FC236}">
                <a16:creationId xmlns:a16="http://schemas.microsoft.com/office/drawing/2014/main" id="{BC557936-DDED-4E38-82A8-84EB868A37D6}"/>
              </a:ext>
            </a:extLst>
          </p:cNvPr>
          <p:cNvSpPr>
            <a:spLocks noGrp="1"/>
          </p:cNvSpPr>
          <p:nvPr/>
        </p:nvSpPr>
        <p:spPr>
          <a:xfrm>
            <a:off x="313944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aferencia</a:t>
            </a:r>
          </a:p>
        </p:txBody>
      </p:sp>
      <p:sp>
        <p:nvSpPr>
          <p:cNvPr id="24" name="U06-DG-044-branch_3-box">
            <a:extLst>
              <a:ext uri="{FF2B5EF4-FFF2-40B4-BE49-F238E27FC236}">
                <a16:creationId xmlns:a16="http://schemas.microsoft.com/office/drawing/2014/main" id="{E45EEBE7-AA8F-44DF-AC91-C26049A7E658}"/>
              </a:ext>
            </a:extLst>
          </p:cNvPr>
          <p:cNvSpPr>
            <a:spLocks noGrp="1"/>
          </p:cNvSpPr>
          <p:nvPr/>
        </p:nvSpPr>
        <p:spPr>
          <a:xfrm>
            <a:off x="5116830" y="3619500"/>
            <a:ext cx="1958340" cy="1809750"/>
          </a:xfrm>
          <a:prstGeom prst="roundRect">
            <a:avLst>
              <a:gd name="adj" fmla="val 5263"/>
            </a:avLst>
          </a:prstGeom>
          <a:solidFill>
            <a:srgbClr val="F8EDE2"/>
          </a:solidFill>
          <a:ln w="19050">
            <a:solidFill>
              <a:srgbClr val="9F541A"/>
            </a:solidFill>
            <a:prstDash val="solid"/>
          </a:ln>
        </p:spPr>
      </p:sp>
      <p:sp>
        <p:nvSpPr>
          <p:cNvPr id="25" name="U06-DG-044-branch_3-title">
            <a:extLst>
              <a:ext uri="{FF2B5EF4-FFF2-40B4-BE49-F238E27FC236}">
                <a16:creationId xmlns:a16="http://schemas.microsoft.com/office/drawing/2014/main" id="{CD695DFC-E606-4544-A328-66B0818FC7D9}"/>
              </a:ext>
            </a:extLst>
          </p:cNvPr>
          <p:cNvSpPr>
            <a:spLocks noGrp="1"/>
          </p:cNvSpPr>
          <p:nvPr/>
        </p:nvSpPr>
        <p:spPr>
          <a:xfrm>
            <a:off x="530733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Fibra</a:t>
            </a:r>
          </a:p>
        </p:txBody>
      </p:sp>
      <p:sp>
        <p:nvSpPr>
          <p:cNvPr id="26" name="U06-DG-044-branch_3-body">
            <a:extLst>
              <a:ext uri="{FF2B5EF4-FFF2-40B4-BE49-F238E27FC236}">
                <a16:creationId xmlns:a16="http://schemas.microsoft.com/office/drawing/2014/main" id="{80C439F7-63D4-4C1C-A03D-4B16D36FB128}"/>
              </a:ext>
            </a:extLst>
          </p:cNvPr>
          <p:cNvSpPr>
            <a:spLocks noGrp="1"/>
          </p:cNvSpPr>
          <p:nvPr/>
        </p:nvSpPr>
        <p:spPr>
          <a:xfrm>
            <a:off x="530733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impulsos</a:t>
            </a:r>
          </a:p>
        </p:txBody>
      </p:sp>
      <p:sp>
        <p:nvSpPr>
          <p:cNvPr id="27" name="U06-DG-044-branch_4-box">
            <a:extLst>
              <a:ext uri="{FF2B5EF4-FFF2-40B4-BE49-F238E27FC236}">
                <a16:creationId xmlns:a16="http://schemas.microsoft.com/office/drawing/2014/main" id="{7B010691-5B98-4F05-97DC-8898502447AC}"/>
              </a:ext>
            </a:extLst>
          </p:cNvPr>
          <p:cNvSpPr>
            <a:spLocks noGrp="1"/>
          </p:cNvSpPr>
          <p:nvPr/>
        </p:nvSpPr>
        <p:spPr>
          <a:xfrm>
            <a:off x="7284720" y="3619500"/>
            <a:ext cx="1958340" cy="1809750"/>
          </a:xfrm>
          <a:prstGeom prst="roundRect">
            <a:avLst>
              <a:gd name="adj" fmla="val 5263"/>
            </a:avLst>
          </a:prstGeom>
          <a:solidFill>
            <a:srgbClr val="E7F1F1"/>
          </a:solidFill>
          <a:ln w="19050">
            <a:solidFill>
              <a:srgbClr val="2F7E83"/>
            </a:solidFill>
            <a:prstDash val="solid"/>
          </a:ln>
        </p:spPr>
      </p:sp>
      <p:sp>
        <p:nvSpPr>
          <p:cNvPr id="28" name="U06-DG-044-branch_4-title">
            <a:extLst>
              <a:ext uri="{FF2B5EF4-FFF2-40B4-BE49-F238E27FC236}">
                <a16:creationId xmlns:a16="http://schemas.microsoft.com/office/drawing/2014/main" id="{89B467B5-CA41-4156-9333-F24BF4F8E876}"/>
              </a:ext>
            </a:extLst>
          </p:cNvPr>
          <p:cNvSpPr>
            <a:spLocks noGrp="1"/>
          </p:cNvSpPr>
          <p:nvPr/>
        </p:nvSpPr>
        <p:spPr>
          <a:xfrm>
            <a:off x="747522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CCE</a:t>
            </a:r>
          </a:p>
        </p:txBody>
      </p:sp>
      <p:sp>
        <p:nvSpPr>
          <p:cNvPr id="29" name="U06-DG-044-branch_4-body">
            <a:extLst>
              <a:ext uri="{FF2B5EF4-FFF2-40B4-BE49-F238E27FC236}">
                <a16:creationId xmlns:a16="http://schemas.microsoft.com/office/drawing/2014/main" id="{98FEA65A-784D-4B4B-948F-CA0E915189E7}"/>
              </a:ext>
            </a:extLst>
          </p:cNvPr>
          <p:cNvSpPr>
            <a:spLocks noGrp="1"/>
          </p:cNvSpPr>
          <p:nvPr/>
        </p:nvSpPr>
        <p:spPr>
          <a:xfrm>
            <a:off x="747522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movimiento</a:t>
            </a:r>
          </a:p>
        </p:txBody>
      </p:sp>
      <p:sp>
        <p:nvSpPr>
          <p:cNvPr id="30" name="U06-DG-044-branch_5-box">
            <a:extLst>
              <a:ext uri="{FF2B5EF4-FFF2-40B4-BE49-F238E27FC236}">
                <a16:creationId xmlns:a16="http://schemas.microsoft.com/office/drawing/2014/main" id="{92C5D951-6784-4F92-8B49-7C120D6EEA70}"/>
              </a:ext>
            </a:extLst>
          </p:cNvPr>
          <p:cNvSpPr>
            <a:spLocks noGrp="1"/>
          </p:cNvSpPr>
          <p:nvPr/>
        </p:nvSpPr>
        <p:spPr>
          <a:xfrm>
            <a:off x="9452610" y="3619500"/>
            <a:ext cx="1958340" cy="1809750"/>
          </a:xfrm>
          <a:prstGeom prst="roundRect">
            <a:avLst>
              <a:gd name="adj" fmla="val 5263"/>
            </a:avLst>
          </a:prstGeom>
          <a:solidFill>
            <a:srgbClr val="E7F1F1"/>
          </a:solidFill>
          <a:ln w="19050">
            <a:solidFill>
              <a:srgbClr val="2F7E83"/>
            </a:solidFill>
            <a:prstDash val="solid"/>
          </a:ln>
        </p:spPr>
      </p:sp>
      <p:sp>
        <p:nvSpPr>
          <p:cNvPr id="31" name="U06-DG-044-branch_5-title">
            <a:extLst>
              <a:ext uri="{FF2B5EF4-FFF2-40B4-BE49-F238E27FC236}">
                <a16:creationId xmlns:a16="http://schemas.microsoft.com/office/drawing/2014/main" id="{C0CF4FFE-009F-4183-8940-66EEA4DA7E67}"/>
              </a:ext>
            </a:extLst>
          </p:cNvPr>
          <p:cNvSpPr>
            <a:spLocks noGrp="1"/>
          </p:cNvSpPr>
          <p:nvPr/>
        </p:nvSpPr>
        <p:spPr>
          <a:xfrm>
            <a:off x="964311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Mecánica</a:t>
            </a:r>
          </a:p>
        </p:txBody>
      </p:sp>
      <p:sp>
        <p:nvSpPr>
          <p:cNvPr id="32" name="U06-DG-044-branch_5-body">
            <a:extLst>
              <a:ext uri="{FF2B5EF4-FFF2-40B4-BE49-F238E27FC236}">
                <a16:creationId xmlns:a16="http://schemas.microsoft.com/office/drawing/2014/main" id="{C4240616-3FDB-4938-82BF-06BFB192AE65}"/>
              </a:ext>
            </a:extLst>
          </p:cNvPr>
          <p:cNvSpPr>
            <a:spLocks noGrp="1"/>
          </p:cNvSpPr>
          <p:nvPr/>
        </p:nvSpPr>
        <p:spPr>
          <a:xfrm>
            <a:off x="964311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retorno</a:t>
            </a:r>
          </a:p>
        </p:txBody>
      </p:sp>
      <p:sp>
        <p:nvSpPr>
          <p:cNvPr id="33" name="caption">
            <a:extLst>
              <a:ext uri="{FF2B5EF4-FFF2-40B4-BE49-F238E27FC236}">
                <a16:creationId xmlns:a16="http://schemas.microsoft.com/office/drawing/2014/main" id="{DE23B4FF-A964-42B4-8D10-5C294BCCCF8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CCI: aferencia principal; CCE: realimentación mecánica activa.</a:t>
            </a:r>
          </a:p>
        </p:txBody>
      </p:sp>
      <p:sp>
        <p:nvSpPr>
          <p:cNvPr id="34" name="credit">
            <a:extLst>
              <a:ext uri="{FF2B5EF4-FFF2-40B4-BE49-F238E27FC236}">
                <a16:creationId xmlns:a16="http://schemas.microsoft.com/office/drawing/2014/main" id="{DEBD2E5A-2B06-445A-8F0A-2884202A7069}"/>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C1B725F2-B8D1-4D21-91CD-CB31B03CF45A}"/>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Las CCI constituyen la vía aferente principal</a:t>
            </a:r>
          </a:p>
        </p:txBody>
      </p:sp>
      <p:sp>
        <p:nvSpPr>
          <p:cNvPr id="2" name="slide-subtitle">
            <a:extLst>
              <a:ext uri="{FF2B5EF4-FFF2-40B4-BE49-F238E27FC236}">
                <a16:creationId xmlns:a16="http://schemas.microsoft.com/office/drawing/2014/main" id="{BF95CF2A-96E2-437D-AC62-DB33371DDCB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señal neural principal comienza después de una transmisión sináptica.</a:t>
            </a:r>
          </a:p>
        </p:txBody>
      </p:sp>
      <p:sp>
        <p:nvSpPr>
          <p:cNvPr id="3" name="eyebrow">
            <a:extLst>
              <a:ext uri="{FF2B5EF4-FFF2-40B4-BE49-F238E27FC236}">
                <a16:creationId xmlns:a16="http://schemas.microsoft.com/office/drawing/2014/main" id="{3622AFE1-4AE7-438B-A062-AB48ED023720}"/>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077</a:t>
            </a:r>
          </a:p>
        </p:txBody>
      </p:sp>
      <p:sp>
        <p:nvSpPr>
          <p:cNvPr id="4" name="U06-DG-045-stage_1-anchor">
            <a:extLst>
              <a:ext uri="{FF2B5EF4-FFF2-40B4-BE49-F238E27FC236}">
                <a16:creationId xmlns:a16="http://schemas.microsoft.com/office/drawing/2014/main" id="{F8238194-203A-4175-ABEB-7780C6B822A1}"/>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45-stage_2-anchor">
            <a:extLst>
              <a:ext uri="{FF2B5EF4-FFF2-40B4-BE49-F238E27FC236}">
                <a16:creationId xmlns:a16="http://schemas.microsoft.com/office/drawing/2014/main" id="{41B7D872-D821-4500-B010-171F5083E747}"/>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45-stage_3-anchor">
            <a:extLst>
              <a:ext uri="{FF2B5EF4-FFF2-40B4-BE49-F238E27FC236}">
                <a16:creationId xmlns:a16="http://schemas.microsoft.com/office/drawing/2014/main" id="{D653CFC8-082E-4C86-B128-FBFEF798E329}"/>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45-stage_4-anchor">
            <a:extLst>
              <a:ext uri="{FF2B5EF4-FFF2-40B4-BE49-F238E27FC236}">
                <a16:creationId xmlns:a16="http://schemas.microsoft.com/office/drawing/2014/main" id="{7BB74498-7B30-44CA-9726-2C4996742E5B}"/>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45-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45-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45-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45-stage_1-box" descr="Diagrama sobre «Las CCI constituyen la vía aferente principal»; organiza cci → potencial receptor → glutamato → fibra aferente; detalle reducido." title="Texto alternativo U06-077">
            <a:extLst>
              <a:ext uri="{FF2B5EF4-FFF2-40B4-BE49-F238E27FC236}">
                <a16:creationId xmlns:a16="http://schemas.microsoft.com/office/drawing/2014/main" id="{CD2998AE-1AFC-484C-9FA3-4BE8F06F45B1}"/>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45-stage_1-title">
            <a:extLst>
              <a:ext uri="{FF2B5EF4-FFF2-40B4-BE49-F238E27FC236}">
                <a16:creationId xmlns:a16="http://schemas.microsoft.com/office/drawing/2014/main" id="{F493F243-7B98-49B7-AA9E-11BA3764F98A}"/>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Haz de CCI</a:t>
            </a:r>
          </a:p>
        </p:txBody>
      </p:sp>
      <p:sp>
        <p:nvSpPr>
          <p:cNvPr id="13" name="U06-DG-045-stage_1-body">
            <a:extLst>
              <a:ext uri="{FF2B5EF4-FFF2-40B4-BE49-F238E27FC236}">
                <a16:creationId xmlns:a16="http://schemas.microsoft.com/office/drawing/2014/main" id="{8B04A0AB-5A36-4F33-9CE0-6548C94CA1D7}"/>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deflecta</a:t>
            </a:r>
          </a:p>
        </p:txBody>
      </p:sp>
      <p:sp>
        <p:nvSpPr>
          <p:cNvPr id="14" name="U06-DG-045-stage_2-box">
            <a:extLst>
              <a:ext uri="{FF2B5EF4-FFF2-40B4-BE49-F238E27FC236}">
                <a16:creationId xmlns:a16="http://schemas.microsoft.com/office/drawing/2014/main" id="{9E2D0A94-1F94-4F7B-957D-F926804F1700}"/>
              </a:ext>
            </a:extLst>
          </p:cNvPr>
          <p:cNvSpPr>
            <a:spLocks noGrp="1"/>
          </p:cNvSpPr>
          <p:nvPr/>
        </p:nvSpPr>
        <p:spPr>
          <a:xfrm>
            <a:off x="3514725" y="2428875"/>
            <a:ext cx="2428875" cy="1666875"/>
          </a:xfrm>
          <a:prstGeom prst="roundRect">
            <a:avLst>
              <a:gd name="adj" fmla="val 5714"/>
            </a:avLst>
          </a:prstGeom>
          <a:solidFill>
            <a:srgbClr val="F4E9EF"/>
          </a:solidFill>
          <a:ln w="19050">
            <a:solidFill>
              <a:srgbClr val="4D1434"/>
            </a:solidFill>
            <a:prstDash val="solid"/>
          </a:ln>
        </p:spPr>
      </p:sp>
      <p:sp>
        <p:nvSpPr>
          <p:cNvPr id="15" name="U06-DG-045-stage_2-title">
            <a:extLst>
              <a:ext uri="{FF2B5EF4-FFF2-40B4-BE49-F238E27FC236}">
                <a16:creationId xmlns:a16="http://schemas.microsoft.com/office/drawing/2014/main" id="{5537A775-62C9-4E83-826C-BD5D04ACA4D3}"/>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Potencial receptor</a:t>
            </a:r>
          </a:p>
        </p:txBody>
      </p:sp>
      <p:sp>
        <p:nvSpPr>
          <p:cNvPr id="16" name="U06-DG-045-stage_2-body">
            <a:extLst>
              <a:ext uri="{FF2B5EF4-FFF2-40B4-BE49-F238E27FC236}">
                <a16:creationId xmlns:a16="http://schemas.microsoft.com/office/drawing/2014/main" id="{A740EA83-A383-4159-9EB0-AA3DA31418F4}"/>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graduado</a:t>
            </a:r>
          </a:p>
        </p:txBody>
      </p:sp>
      <p:sp>
        <p:nvSpPr>
          <p:cNvPr id="17" name="U06-DG-045-stage_3-box">
            <a:extLst>
              <a:ext uri="{FF2B5EF4-FFF2-40B4-BE49-F238E27FC236}">
                <a16:creationId xmlns:a16="http://schemas.microsoft.com/office/drawing/2014/main" id="{E66CF191-2F8D-42A6-B697-71C887FC1D99}"/>
              </a:ext>
            </a:extLst>
          </p:cNvPr>
          <p:cNvSpPr>
            <a:spLocks noGrp="1"/>
          </p:cNvSpPr>
          <p:nvPr/>
        </p:nvSpPr>
        <p:spPr>
          <a:xfrm>
            <a:off x="6248400" y="2428875"/>
            <a:ext cx="2428875" cy="1666875"/>
          </a:xfrm>
          <a:prstGeom prst="roundRect">
            <a:avLst>
              <a:gd name="adj" fmla="val 5714"/>
            </a:avLst>
          </a:prstGeom>
          <a:solidFill>
            <a:srgbClr val="F8EDE2"/>
          </a:solidFill>
          <a:ln w="19050">
            <a:solidFill>
              <a:srgbClr val="9F541A"/>
            </a:solidFill>
            <a:prstDash val="solid"/>
          </a:ln>
        </p:spPr>
      </p:sp>
      <p:sp>
        <p:nvSpPr>
          <p:cNvPr id="18" name="U06-DG-045-stage_3-title">
            <a:extLst>
              <a:ext uri="{FF2B5EF4-FFF2-40B4-BE49-F238E27FC236}">
                <a16:creationId xmlns:a16="http://schemas.microsoft.com/office/drawing/2014/main" id="{2861CEA6-6B6E-434F-8BBE-57C97BC98757}"/>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Glutamato</a:t>
            </a:r>
          </a:p>
        </p:txBody>
      </p:sp>
      <p:sp>
        <p:nvSpPr>
          <p:cNvPr id="19" name="U06-DG-045-stage_3-body">
            <a:extLst>
              <a:ext uri="{FF2B5EF4-FFF2-40B4-BE49-F238E27FC236}">
                <a16:creationId xmlns:a16="http://schemas.microsoft.com/office/drawing/2014/main" id="{18E2B88A-1BED-46C9-B765-D17F50D89F68}"/>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sinapsis</a:t>
            </a:r>
          </a:p>
        </p:txBody>
      </p:sp>
      <p:sp>
        <p:nvSpPr>
          <p:cNvPr id="20" name="U06-DG-045-stage_4-box">
            <a:extLst>
              <a:ext uri="{FF2B5EF4-FFF2-40B4-BE49-F238E27FC236}">
                <a16:creationId xmlns:a16="http://schemas.microsoft.com/office/drawing/2014/main" id="{C840C242-9B4B-4AC3-AB50-A4866042FF1D}"/>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45-stage_4-title">
            <a:extLst>
              <a:ext uri="{FF2B5EF4-FFF2-40B4-BE49-F238E27FC236}">
                <a16:creationId xmlns:a16="http://schemas.microsoft.com/office/drawing/2014/main" id="{3AFDC6DD-5D86-44B8-B0D3-1ACB190921B0}"/>
              </a:ext>
            </a:extLst>
          </p:cNvPr>
          <p:cNvSpPr>
            <a:spLocks noGrp="1"/>
          </p:cNvSpPr>
          <p:nvPr/>
        </p:nvSpPr>
        <p:spPr>
          <a:xfrm>
            <a:off x="917257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Fibra aferente</a:t>
            </a:r>
          </a:p>
        </p:txBody>
      </p:sp>
      <p:sp>
        <p:nvSpPr>
          <p:cNvPr id="22" name="U06-DG-045-stage_4-body">
            <a:extLst>
              <a:ext uri="{FF2B5EF4-FFF2-40B4-BE49-F238E27FC236}">
                <a16:creationId xmlns:a16="http://schemas.microsoft.com/office/drawing/2014/main" id="{14A5110E-53E7-4DB6-BC20-A4D30233CFDE}"/>
              </a:ext>
            </a:extLst>
          </p:cNvPr>
          <p:cNvSpPr>
            <a:spLocks noGrp="1"/>
          </p:cNvSpPr>
          <p:nvPr/>
        </p:nvSpPr>
        <p:spPr>
          <a:xfrm>
            <a:off x="917257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potencial de acción</a:t>
            </a:r>
          </a:p>
        </p:txBody>
      </p:sp>
      <p:sp>
        <p:nvSpPr>
          <p:cNvPr id="23" name="caption">
            <a:extLst>
              <a:ext uri="{FF2B5EF4-FFF2-40B4-BE49-F238E27FC236}">
                <a16:creationId xmlns:a16="http://schemas.microsoft.com/office/drawing/2014/main" id="{E5A872FD-2D89-4428-891E-6BBE1C91EFB9}"/>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señal neural principal comienza después de una transmisión sináptica.</a:t>
            </a:r>
          </a:p>
        </p:txBody>
      </p:sp>
      <p:sp>
        <p:nvSpPr>
          <p:cNvPr id="24" name="credit">
            <a:extLst>
              <a:ext uri="{FF2B5EF4-FFF2-40B4-BE49-F238E27FC236}">
                <a16:creationId xmlns:a16="http://schemas.microsoft.com/office/drawing/2014/main" id="{BBDC2114-590C-40CA-B234-F8B69C3456D9}"/>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269757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lide-title">
            <a:extLst>
              <a:ext uri="{FF2B5EF4-FFF2-40B4-BE49-F238E27FC236}">
                <a16:creationId xmlns:a16="http://schemas.microsoft.com/office/drawing/2014/main" id="{2FDC975F-EADA-4B16-BE13-E505EA8EF228}"/>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Las CCE realimentan la mecánica coclear</a:t>
            </a:r>
          </a:p>
        </p:txBody>
      </p:sp>
      <p:sp>
        <p:nvSpPr>
          <p:cNvPr id="2" name="slide-subtitle">
            <a:extLst>
              <a:ext uri="{FF2B5EF4-FFF2-40B4-BE49-F238E27FC236}">
                <a16:creationId xmlns:a16="http://schemas.microsoft.com/office/drawing/2014/main" id="{D091E7C3-0672-4BBB-A062-49E4F31ED2D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Cambios de longitud asociados con prestina modifican la partición, especialmente para señales débiles.</a:t>
            </a:r>
          </a:p>
        </p:txBody>
      </p:sp>
      <p:sp>
        <p:nvSpPr>
          <p:cNvPr id="3" name="eyebrow">
            <a:extLst>
              <a:ext uri="{FF2B5EF4-FFF2-40B4-BE49-F238E27FC236}">
                <a16:creationId xmlns:a16="http://schemas.microsoft.com/office/drawing/2014/main" id="{B0BBD2FA-FB52-4C32-BB55-88A18453E5C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078</a:t>
            </a:r>
          </a:p>
        </p:txBody>
      </p:sp>
      <p:sp>
        <p:nvSpPr>
          <p:cNvPr id="4" name="U06-DG-046-stage_1-anchor">
            <a:extLst>
              <a:ext uri="{FF2B5EF4-FFF2-40B4-BE49-F238E27FC236}">
                <a16:creationId xmlns:a16="http://schemas.microsoft.com/office/drawing/2014/main" id="{E8C4A73F-68F0-49CE-9325-538143DB4A25}"/>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46-stage_2-anchor">
            <a:extLst>
              <a:ext uri="{FF2B5EF4-FFF2-40B4-BE49-F238E27FC236}">
                <a16:creationId xmlns:a16="http://schemas.microsoft.com/office/drawing/2014/main" id="{19BF2190-3D69-452F-ADE5-A0A7D78BF93E}"/>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46-stage_3-anchor">
            <a:extLst>
              <a:ext uri="{FF2B5EF4-FFF2-40B4-BE49-F238E27FC236}">
                <a16:creationId xmlns:a16="http://schemas.microsoft.com/office/drawing/2014/main" id="{D64889CB-C41D-4C9B-938D-9772D637BAD6}"/>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46-stage_4-anchor">
            <a:extLst>
              <a:ext uri="{FF2B5EF4-FFF2-40B4-BE49-F238E27FC236}">
                <a16:creationId xmlns:a16="http://schemas.microsoft.com/office/drawing/2014/main" id="{1F118386-7CB8-45DA-9B42-8E19C68EB858}"/>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3" name="U06-DG-046-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4" name="U06-DG-046-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5" name="U06-DG-046-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cxnSp>
        <p:nvCxnSpPr>
          <p:cNvPr id="36" name="U06-DG-046-feedback"/>
          <p:cNvCxnSpPr>
            <a:stCxn id="7" idx="1"/>
            <a:endCxn id="4" idx="3"/>
          </p:cNvCxnSpPr>
          <p:nvPr/>
        </p:nvCxnSpPr>
        <p:spPr>
          <a:xfrm flipH="1">
            <a:off x="3209925" y="3262313"/>
            <a:ext cx="5772150" cy="0"/>
          </a:xfrm>
          <a:prstGeom prst="straightConnector1">
            <a:avLst/>
          </a:prstGeom>
          <a:ln w="28575">
            <a:solidFill>
              <a:srgbClr val="3D3D3D"/>
            </a:solidFill>
            <a:prstDash val="solid"/>
            <a:tailEnd type="arrow" w="med" len="med"/>
          </a:ln>
        </p:spPr>
      </p:cxnSp>
      <p:sp>
        <p:nvSpPr>
          <p:cNvPr id="12" name="U06-DG-046-stage_1-box" descr="Diagrama sobre «Las CCE realimentan la mecánica coclear»; organiza cce → cambio de longitud → realimentación → sensibilidad/selectividad/compresión." title="Texto alternativo U06-078">
            <a:extLst>
              <a:ext uri="{FF2B5EF4-FFF2-40B4-BE49-F238E27FC236}">
                <a16:creationId xmlns:a16="http://schemas.microsoft.com/office/drawing/2014/main" id="{4C8A74F6-C3A3-4149-B028-9BE02E2125C0}"/>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3" name="U06-DG-046-stage_1-title">
            <a:extLst>
              <a:ext uri="{FF2B5EF4-FFF2-40B4-BE49-F238E27FC236}">
                <a16:creationId xmlns:a16="http://schemas.microsoft.com/office/drawing/2014/main" id="{3D95795C-CA8A-4789-AAEA-3A486845623B}"/>
              </a:ext>
            </a:extLst>
          </p:cNvPr>
          <p:cNvSpPr>
            <a:spLocks noGrp="1"/>
          </p:cNvSpPr>
          <p:nvPr/>
        </p:nvSpPr>
        <p:spPr>
          <a:xfrm>
            <a:off x="97155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Movimiento coclear</a:t>
            </a:r>
          </a:p>
        </p:txBody>
      </p:sp>
      <p:sp>
        <p:nvSpPr>
          <p:cNvPr id="14" name="U06-DG-046-stage_1-body">
            <a:extLst>
              <a:ext uri="{FF2B5EF4-FFF2-40B4-BE49-F238E27FC236}">
                <a16:creationId xmlns:a16="http://schemas.microsoft.com/office/drawing/2014/main" id="{373D9AC7-08AA-4F8E-A9F3-89E6AB55AB04}"/>
              </a:ext>
            </a:extLst>
          </p:cNvPr>
          <p:cNvSpPr>
            <a:spLocks noGrp="1"/>
          </p:cNvSpPr>
          <p:nvPr/>
        </p:nvSpPr>
        <p:spPr>
          <a:xfrm>
            <a:off x="97155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15" name="U06-DG-046-stage_2-box">
            <a:extLst>
              <a:ext uri="{FF2B5EF4-FFF2-40B4-BE49-F238E27FC236}">
                <a16:creationId xmlns:a16="http://schemas.microsoft.com/office/drawing/2014/main" id="{A321C6DE-7CEE-4CF3-BA8D-0FEC4C2357FE}"/>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6" name="U06-DG-046-stage_2-title">
            <a:extLst>
              <a:ext uri="{FF2B5EF4-FFF2-40B4-BE49-F238E27FC236}">
                <a16:creationId xmlns:a16="http://schemas.microsoft.com/office/drawing/2014/main" id="{7DDAA7FE-E6DC-4472-AB44-4465C68AE5E1}"/>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Haz de CCE</a:t>
            </a:r>
          </a:p>
        </p:txBody>
      </p:sp>
      <p:sp>
        <p:nvSpPr>
          <p:cNvPr id="17" name="U06-DG-046-stage_2-body">
            <a:extLst>
              <a:ext uri="{FF2B5EF4-FFF2-40B4-BE49-F238E27FC236}">
                <a16:creationId xmlns:a16="http://schemas.microsoft.com/office/drawing/2014/main" id="{F6F2AC94-6B06-40EB-B08E-B798D0832AE5}"/>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deflecta</a:t>
            </a:r>
          </a:p>
        </p:txBody>
      </p:sp>
      <p:sp>
        <p:nvSpPr>
          <p:cNvPr id="18" name="U06-DG-046-stage_3-box">
            <a:extLst>
              <a:ext uri="{FF2B5EF4-FFF2-40B4-BE49-F238E27FC236}">
                <a16:creationId xmlns:a16="http://schemas.microsoft.com/office/drawing/2014/main" id="{539249CA-C923-4514-9422-2573D3B06A46}"/>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9" name="U06-DG-046-stage_3-title">
            <a:extLst>
              <a:ext uri="{FF2B5EF4-FFF2-40B4-BE49-F238E27FC236}">
                <a16:creationId xmlns:a16="http://schemas.microsoft.com/office/drawing/2014/main" id="{24ED46F8-CEB9-4917-92BA-96AC48BF4B65}"/>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CCE</a:t>
            </a:r>
          </a:p>
        </p:txBody>
      </p:sp>
      <p:sp>
        <p:nvSpPr>
          <p:cNvPr id="20" name="U06-DG-046-stage_3-body">
            <a:extLst>
              <a:ext uri="{FF2B5EF4-FFF2-40B4-BE49-F238E27FC236}">
                <a16:creationId xmlns:a16="http://schemas.microsoft.com/office/drawing/2014/main" id="{89E11AA9-4463-43AB-8DE4-842EE86E24A9}"/>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electromóvil</a:t>
            </a:r>
          </a:p>
        </p:txBody>
      </p:sp>
      <p:sp>
        <p:nvSpPr>
          <p:cNvPr id="21" name="U06-DG-046-stage_4-box">
            <a:extLst>
              <a:ext uri="{FF2B5EF4-FFF2-40B4-BE49-F238E27FC236}">
                <a16:creationId xmlns:a16="http://schemas.microsoft.com/office/drawing/2014/main" id="{5727278B-BFAD-417F-BC0A-FC825F6F3C14}"/>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2" name="U06-DG-046-stage_4-title">
            <a:extLst>
              <a:ext uri="{FF2B5EF4-FFF2-40B4-BE49-F238E27FC236}">
                <a16:creationId xmlns:a16="http://schemas.microsoft.com/office/drawing/2014/main" id="{AA7DB413-72FD-4A39-83DA-5432B1BF1B95}"/>
              </a:ext>
            </a:extLst>
          </p:cNvPr>
          <p:cNvSpPr>
            <a:spLocks noGrp="1"/>
          </p:cNvSpPr>
          <p:nvPr/>
        </p:nvSpPr>
        <p:spPr>
          <a:xfrm>
            <a:off x="917257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Mecánica local</a:t>
            </a:r>
          </a:p>
        </p:txBody>
      </p:sp>
      <p:sp>
        <p:nvSpPr>
          <p:cNvPr id="23" name="U06-DG-046-stage_4-body">
            <a:extLst>
              <a:ext uri="{FF2B5EF4-FFF2-40B4-BE49-F238E27FC236}">
                <a16:creationId xmlns:a16="http://schemas.microsoft.com/office/drawing/2014/main" id="{7E9C692C-0E29-4344-8854-6A5963FBEE4C}"/>
              </a:ext>
            </a:extLst>
          </p:cNvPr>
          <p:cNvSpPr>
            <a:spLocks noGrp="1"/>
          </p:cNvSpPr>
          <p:nvPr/>
        </p:nvSpPr>
        <p:spPr>
          <a:xfrm>
            <a:off x="917257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modifica</a:t>
            </a:r>
          </a:p>
        </p:txBody>
      </p:sp>
      <p:sp>
        <p:nvSpPr>
          <p:cNvPr id="24" name="caption">
            <a:extLst>
              <a:ext uri="{FF2B5EF4-FFF2-40B4-BE49-F238E27FC236}">
                <a16:creationId xmlns:a16="http://schemas.microsoft.com/office/drawing/2014/main" id="{AED61976-35B1-4471-9CB3-04CA30CE460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Cambios de longitud asociados con prestina modifican la partición, especialmente…</a:t>
            </a:r>
          </a:p>
        </p:txBody>
      </p:sp>
      <p:sp>
        <p:nvSpPr>
          <p:cNvPr id="25" name="credit">
            <a:extLst>
              <a:ext uri="{FF2B5EF4-FFF2-40B4-BE49-F238E27FC236}">
                <a16:creationId xmlns:a16="http://schemas.microsoft.com/office/drawing/2014/main" id="{81195689-8942-44B1-A643-33B4804E5EC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269757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29F86BC0-D934-483A-BC30-EC4F2D886E6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¿Qué rama explica cada consecuencia?</a:t>
            </a:r>
          </a:p>
        </p:txBody>
      </p:sp>
      <p:sp>
        <p:nvSpPr>
          <p:cNvPr id="2" name="slide-subtitle">
            <a:extLst>
              <a:ext uri="{FF2B5EF4-FFF2-40B4-BE49-F238E27FC236}">
                <a16:creationId xmlns:a16="http://schemas.microsoft.com/office/drawing/2014/main" id="{30FBCBE4-5413-479C-8F61-6D5441457497}"/>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Aferencia, OEA, selectividad y neurotransmisión no pertenecen a la misma rama.</a:t>
            </a:r>
          </a:p>
        </p:txBody>
      </p:sp>
      <p:sp>
        <p:nvSpPr>
          <p:cNvPr id="3" name="eyebrow">
            <a:extLst>
              <a:ext uri="{FF2B5EF4-FFF2-40B4-BE49-F238E27FC236}">
                <a16:creationId xmlns:a16="http://schemas.microsoft.com/office/drawing/2014/main" id="{41AB7F95-262D-40BD-B1DE-CCD2C81099D9}"/>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079</a:t>
            </a:r>
          </a:p>
        </p:txBody>
      </p:sp>
      <p:sp>
        <p:nvSpPr>
          <p:cNvPr id="4" name="U06-DG-044-central-anchor">
            <a:extLst>
              <a:ext uri="{FF2B5EF4-FFF2-40B4-BE49-F238E27FC236}">
                <a16:creationId xmlns:a16="http://schemas.microsoft.com/office/drawing/2014/main" id="{12CB6747-7941-4B7A-BF1D-71736C02F5A9}"/>
              </a:ext>
            </a:extLst>
          </p:cNvPr>
          <p:cNvSpPr>
            <a:spLocks noGrp="1"/>
          </p:cNvSpPr>
          <p:nvPr/>
        </p:nvSpPr>
        <p:spPr>
          <a:xfrm>
            <a:off x="3714750" y="1381125"/>
            <a:ext cx="4762500" cy="1285875"/>
          </a:xfrm>
          <a:prstGeom prst="roundRect">
            <a:avLst>
              <a:gd name="adj" fmla="val 7407"/>
            </a:avLst>
          </a:prstGeom>
          <a:noFill/>
          <a:ln w="0">
            <a:noFill/>
            <a:prstDash val="solid"/>
          </a:ln>
        </p:spPr>
      </p:sp>
      <p:sp>
        <p:nvSpPr>
          <p:cNvPr id="5" name="U06-DG-044-branch_1-anchor">
            <a:extLst>
              <a:ext uri="{FF2B5EF4-FFF2-40B4-BE49-F238E27FC236}">
                <a16:creationId xmlns:a16="http://schemas.microsoft.com/office/drawing/2014/main" id="{C822E2DD-BF59-49F8-BBEE-C1D7E3BE670C}"/>
              </a:ext>
            </a:extLst>
          </p:cNvPr>
          <p:cNvSpPr>
            <a:spLocks noGrp="1"/>
          </p:cNvSpPr>
          <p:nvPr/>
        </p:nvSpPr>
        <p:spPr>
          <a:xfrm>
            <a:off x="781050" y="3619500"/>
            <a:ext cx="1958340" cy="1809750"/>
          </a:xfrm>
          <a:prstGeom prst="roundRect">
            <a:avLst>
              <a:gd name="adj" fmla="val 5263"/>
            </a:avLst>
          </a:prstGeom>
          <a:noFill/>
          <a:ln w="0">
            <a:noFill/>
            <a:prstDash val="solid"/>
          </a:ln>
        </p:spPr>
      </p:sp>
      <p:sp>
        <p:nvSpPr>
          <p:cNvPr id="6" name="U06-DG-044-branch_2-anchor">
            <a:extLst>
              <a:ext uri="{FF2B5EF4-FFF2-40B4-BE49-F238E27FC236}">
                <a16:creationId xmlns:a16="http://schemas.microsoft.com/office/drawing/2014/main" id="{0D769C67-C3E9-463F-93F4-004EA71416D2}"/>
              </a:ext>
            </a:extLst>
          </p:cNvPr>
          <p:cNvSpPr>
            <a:spLocks noGrp="1"/>
          </p:cNvSpPr>
          <p:nvPr/>
        </p:nvSpPr>
        <p:spPr>
          <a:xfrm>
            <a:off x="2948940" y="3619500"/>
            <a:ext cx="1958340" cy="1809750"/>
          </a:xfrm>
          <a:prstGeom prst="roundRect">
            <a:avLst>
              <a:gd name="adj" fmla="val 5263"/>
            </a:avLst>
          </a:prstGeom>
          <a:noFill/>
          <a:ln w="0">
            <a:noFill/>
            <a:prstDash val="solid"/>
          </a:ln>
        </p:spPr>
      </p:sp>
      <p:sp>
        <p:nvSpPr>
          <p:cNvPr id="7" name="U06-DG-044-branch_3-anchor">
            <a:extLst>
              <a:ext uri="{FF2B5EF4-FFF2-40B4-BE49-F238E27FC236}">
                <a16:creationId xmlns:a16="http://schemas.microsoft.com/office/drawing/2014/main" id="{EC4158A5-D0B2-4DD2-BAAC-68C42BED2139}"/>
              </a:ext>
            </a:extLst>
          </p:cNvPr>
          <p:cNvSpPr>
            <a:spLocks noGrp="1"/>
          </p:cNvSpPr>
          <p:nvPr/>
        </p:nvSpPr>
        <p:spPr>
          <a:xfrm>
            <a:off x="5116830" y="3619500"/>
            <a:ext cx="1958340" cy="1809750"/>
          </a:xfrm>
          <a:prstGeom prst="roundRect">
            <a:avLst>
              <a:gd name="adj" fmla="val 5263"/>
            </a:avLst>
          </a:prstGeom>
          <a:noFill/>
          <a:ln w="0">
            <a:noFill/>
            <a:prstDash val="solid"/>
          </a:ln>
        </p:spPr>
      </p:sp>
      <p:sp>
        <p:nvSpPr>
          <p:cNvPr id="8" name="U06-DG-044-branch_4-anchor">
            <a:extLst>
              <a:ext uri="{FF2B5EF4-FFF2-40B4-BE49-F238E27FC236}">
                <a16:creationId xmlns:a16="http://schemas.microsoft.com/office/drawing/2014/main" id="{2A5CE59D-3819-48F2-8444-BDD07DB20676}"/>
              </a:ext>
            </a:extLst>
          </p:cNvPr>
          <p:cNvSpPr>
            <a:spLocks noGrp="1"/>
          </p:cNvSpPr>
          <p:nvPr/>
        </p:nvSpPr>
        <p:spPr>
          <a:xfrm>
            <a:off x="7284720" y="3619500"/>
            <a:ext cx="1958340" cy="1809750"/>
          </a:xfrm>
          <a:prstGeom prst="roundRect">
            <a:avLst>
              <a:gd name="adj" fmla="val 5263"/>
            </a:avLst>
          </a:prstGeom>
          <a:noFill/>
          <a:ln w="0">
            <a:noFill/>
            <a:prstDash val="solid"/>
          </a:ln>
        </p:spPr>
      </p:sp>
      <p:sp>
        <p:nvSpPr>
          <p:cNvPr id="9" name="U06-DG-044-branch_5-anchor">
            <a:extLst>
              <a:ext uri="{FF2B5EF4-FFF2-40B4-BE49-F238E27FC236}">
                <a16:creationId xmlns:a16="http://schemas.microsoft.com/office/drawing/2014/main" id="{62DF37ED-2E9C-4718-9618-2FFE6C0418C3}"/>
              </a:ext>
            </a:extLst>
          </p:cNvPr>
          <p:cNvSpPr>
            <a:spLocks noGrp="1"/>
          </p:cNvSpPr>
          <p:nvPr/>
        </p:nvSpPr>
        <p:spPr>
          <a:xfrm>
            <a:off x="9452610" y="3619500"/>
            <a:ext cx="1958340" cy="1809750"/>
          </a:xfrm>
          <a:prstGeom prst="roundRect">
            <a:avLst>
              <a:gd name="adj" fmla="val 5263"/>
            </a:avLst>
          </a:prstGeom>
          <a:noFill/>
          <a:ln w="0">
            <a:noFill/>
            <a:prstDash val="solid"/>
          </a:ln>
        </p:spPr>
      </p:sp>
      <p:cxnSp>
        <p:nvCxnSpPr>
          <p:cNvPr id="44" name="U06-DG-044-branch_edge_1"/>
          <p:cNvCxnSpPr>
            <a:stCxn id="4" idx="1"/>
            <a:endCxn id="5" idx="3"/>
          </p:cNvCxnSpPr>
          <p:nvPr/>
        </p:nvCxnSpPr>
        <p:spPr>
          <a:xfrm flipH="1">
            <a:off x="2739390" y="2024063"/>
            <a:ext cx="975360" cy="2500313"/>
          </a:xfrm>
          <a:prstGeom prst="bentConnector3">
            <a:avLst>
              <a:gd name="adj1" fmla="val 50000"/>
            </a:avLst>
          </a:prstGeom>
          <a:ln w="28575">
            <a:solidFill>
              <a:srgbClr val="3D3D3D"/>
            </a:solidFill>
            <a:prstDash val="solid"/>
            <a:tailEnd type="arrow" w="med" len="med"/>
          </a:ln>
        </p:spPr>
      </p:cxnSp>
      <p:cxnSp>
        <p:nvCxnSpPr>
          <p:cNvPr id="45" name="U06-DG-044-branch_edge_2"/>
          <p:cNvCxnSpPr>
            <a:stCxn id="4" idx="2"/>
            <a:endCxn id="6" idx="0"/>
          </p:cNvCxnSpPr>
          <p:nvPr/>
        </p:nvCxnSpPr>
        <p:spPr>
          <a:xfrm flipH="1">
            <a:off x="392811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6" name="U06-DG-044-branch_edge_3"/>
          <p:cNvCxnSpPr>
            <a:stCxn id="4" idx="2"/>
            <a:endCxn id="7" idx="0"/>
          </p:cNvCxnSpPr>
          <p:nvPr/>
        </p:nvCxnSpPr>
        <p:spPr>
          <a:xfrm>
            <a:off x="6096000" y="2667000"/>
            <a:ext cx="0" cy="952500"/>
          </a:xfrm>
          <a:prstGeom prst="straightConnector1">
            <a:avLst/>
          </a:prstGeom>
          <a:ln w="28575">
            <a:solidFill>
              <a:srgbClr val="3D3D3D"/>
            </a:solidFill>
            <a:prstDash val="solid"/>
            <a:tailEnd type="arrow" w="med" len="med"/>
          </a:ln>
        </p:spPr>
      </p:cxnSp>
      <p:cxnSp>
        <p:nvCxnSpPr>
          <p:cNvPr id="47" name="U06-DG-044-branch_edge_4"/>
          <p:cNvCxnSpPr>
            <a:stCxn id="4" idx="2"/>
            <a:endCxn id="8" idx="0"/>
          </p:cNvCxnSpPr>
          <p:nvPr/>
        </p:nvCxnSpPr>
        <p:spPr>
          <a:xfrm>
            <a:off x="609600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8" name="U06-DG-044-branch_edge_5"/>
          <p:cNvCxnSpPr>
            <a:stCxn id="4" idx="3"/>
            <a:endCxn id="9" idx="1"/>
          </p:cNvCxnSpPr>
          <p:nvPr/>
        </p:nvCxnSpPr>
        <p:spPr>
          <a:xfrm>
            <a:off x="8477250" y="2024063"/>
            <a:ext cx="975360" cy="2500313"/>
          </a:xfrm>
          <a:prstGeom prst="bentConnector3">
            <a:avLst>
              <a:gd name="adj1" fmla="val 50000"/>
            </a:avLst>
          </a:prstGeom>
          <a:ln w="28575">
            <a:solidFill>
              <a:srgbClr val="3D3D3D"/>
            </a:solidFill>
            <a:prstDash val="solid"/>
            <a:tailEnd type="arrow" w="med" len="med"/>
          </a:ln>
        </p:spPr>
      </p:cxnSp>
      <p:sp>
        <p:nvSpPr>
          <p:cNvPr id="15" name="U06-DG-044-central-box" descr="Diagrama sobre «¿Qué rama explica cada consecuencia?»; organiza cuatro consecuencias para clasificar y justificar." title="Texto alternativo U06-079">
            <a:extLst>
              <a:ext uri="{FF2B5EF4-FFF2-40B4-BE49-F238E27FC236}">
                <a16:creationId xmlns:a16="http://schemas.microsoft.com/office/drawing/2014/main" id="{C8FF3249-CFE1-4A94-A1EA-0D98E3D02A00}"/>
              </a:ext>
            </a:extLst>
          </p:cNvPr>
          <p:cNvSpPr>
            <a:spLocks noGrp="1"/>
          </p:cNvSpPr>
          <p:nvPr/>
        </p:nvSpPr>
        <p:spPr>
          <a:xfrm>
            <a:off x="3714750" y="1381125"/>
            <a:ext cx="4762500" cy="1285875"/>
          </a:xfrm>
          <a:prstGeom prst="roundRect">
            <a:avLst>
              <a:gd name="adj" fmla="val 7407"/>
            </a:avLst>
          </a:prstGeom>
          <a:solidFill>
            <a:srgbClr val="F4E9EF"/>
          </a:solidFill>
          <a:ln w="19050">
            <a:solidFill>
              <a:srgbClr val="4D1434"/>
            </a:solidFill>
            <a:prstDash val="solid"/>
          </a:ln>
        </p:spPr>
      </p:sp>
      <p:sp>
        <p:nvSpPr>
          <p:cNvPr id="16" name="U06-DG-044-central-title">
            <a:extLst>
              <a:ext uri="{FF2B5EF4-FFF2-40B4-BE49-F238E27FC236}">
                <a16:creationId xmlns:a16="http://schemas.microsoft.com/office/drawing/2014/main" id="{B4E73DD6-4622-42AD-B61B-8834163A7B7A}"/>
              </a:ext>
            </a:extLst>
          </p:cNvPr>
          <p:cNvSpPr>
            <a:spLocks noGrp="1"/>
          </p:cNvSpPr>
          <p:nvPr/>
        </p:nvSpPr>
        <p:spPr>
          <a:xfrm>
            <a:off x="3905250" y="1524000"/>
            <a:ext cx="4381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Deflexión del haz</a:t>
            </a:r>
          </a:p>
        </p:txBody>
      </p:sp>
      <p:sp>
        <p:nvSpPr>
          <p:cNvPr id="17" name="U06-DG-044-central-body">
            <a:extLst>
              <a:ext uri="{FF2B5EF4-FFF2-40B4-BE49-F238E27FC236}">
                <a16:creationId xmlns:a16="http://schemas.microsoft.com/office/drawing/2014/main" id="{20829E09-6310-449B-8CB4-33986F82853B}"/>
              </a:ext>
            </a:extLst>
          </p:cNvPr>
          <p:cNvSpPr>
            <a:spLocks noGrp="1"/>
          </p:cNvSpPr>
          <p:nvPr/>
        </p:nvSpPr>
        <p:spPr>
          <a:xfrm>
            <a:off x="3905250" y="1971675"/>
            <a:ext cx="4381500" cy="600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tramo común</a:t>
            </a:r>
          </a:p>
        </p:txBody>
      </p:sp>
      <p:sp>
        <p:nvSpPr>
          <p:cNvPr id="18" name="U06-DG-044-branch_1-box">
            <a:extLst>
              <a:ext uri="{FF2B5EF4-FFF2-40B4-BE49-F238E27FC236}">
                <a16:creationId xmlns:a16="http://schemas.microsoft.com/office/drawing/2014/main" id="{937C5E30-ABF2-4C5F-B51D-0419683FE525}"/>
              </a:ext>
            </a:extLst>
          </p:cNvPr>
          <p:cNvSpPr>
            <a:spLocks noGrp="1"/>
          </p:cNvSpPr>
          <p:nvPr/>
        </p:nvSpPr>
        <p:spPr>
          <a:xfrm>
            <a:off x="781050" y="3619500"/>
            <a:ext cx="1958340" cy="1809750"/>
          </a:xfrm>
          <a:prstGeom prst="roundRect">
            <a:avLst>
              <a:gd name="adj" fmla="val 5263"/>
            </a:avLst>
          </a:prstGeom>
          <a:solidFill>
            <a:srgbClr val="E7F1F1"/>
          </a:solidFill>
          <a:ln w="19050">
            <a:solidFill>
              <a:srgbClr val="2F7E83"/>
            </a:solidFill>
            <a:prstDash val="solid"/>
          </a:ln>
        </p:spPr>
      </p:sp>
      <p:sp>
        <p:nvSpPr>
          <p:cNvPr id="19" name="U06-DG-044-branch_1-title">
            <a:extLst>
              <a:ext uri="{FF2B5EF4-FFF2-40B4-BE49-F238E27FC236}">
                <a16:creationId xmlns:a16="http://schemas.microsoft.com/office/drawing/2014/main" id="{7426C2BF-2BCE-4E5A-AE1F-BA27CF13DFDE}"/>
              </a:ext>
            </a:extLst>
          </p:cNvPr>
          <p:cNvSpPr>
            <a:spLocks noGrp="1"/>
          </p:cNvSpPr>
          <p:nvPr/>
        </p:nvSpPr>
        <p:spPr>
          <a:xfrm>
            <a:off x="97155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Canales</a:t>
            </a:r>
          </a:p>
        </p:txBody>
      </p:sp>
      <p:sp>
        <p:nvSpPr>
          <p:cNvPr id="20" name="U06-DG-044-branch_1-body">
            <a:extLst>
              <a:ext uri="{FF2B5EF4-FFF2-40B4-BE49-F238E27FC236}">
                <a16:creationId xmlns:a16="http://schemas.microsoft.com/office/drawing/2014/main" id="{6E78E6C9-5DB2-4305-A7F3-5471987C6F6E}"/>
              </a:ext>
            </a:extLst>
          </p:cNvPr>
          <p:cNvSpPr>
            <a:spLocks noGrp="1"/>
          </p:cNvSpPr>
          <p:nvPr/>
        </p:nvSpPr>
        <p:spPr>
          <a:xfrm>
            <a:off x="97155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transducen</a:t>
            </a:r>
          </a:p>
        </p:txBody>
      </p:sp>
      <p:sp>
        <p:nvSpPr>
          <p:cNvPr id="21" name="U06-DG-044-branch_2-box">
            <a:extLst>
              <a:ext uri="{FF2B5EF4-FFF2-40B4-BE49-F238E27FC236}">
                <a16:creationId xmlns:a16="http://schemas.microsoft.com/office/drawing/2014/main" id="{46D97434-14AB-4E94-B497-9ED54B509DD6}"/>
              </a:ext>
            </a:extLst>
          </p:cNvPr>
          <p:cNvSpPr>
            <a:spLocks noGrp="1"/>
          </p:cNvSpPr>
          <p:nvPr/>
        </p:nvSpPr>
        <p:spPr>
          <a:xfrm>
            <a:off x="2948940" y="3619500"/>
            <a:ext cx="1958340" cy="1809750"/>
          </a:xfrm>
          <a:prstGeom prst="roundRect">
            <a:avLst>
              <a:gd name="adj" fmla="val 5263"/>
            </a:avLst>
          </a:prstGeom>
          <a:solidFill>
            <a:srgbClr val="F8EDE2"/>
          </a:solidFill>
          <a:ln w="19050">
            <a:solidFill>
              <a:srgbClr val="9F541A"/>
            </a:solidFill>
            <a:prstDash val="solid"/>
          </a:ln>
        </p:spPr>
      </p:sp>
      <p:sp>
        <p:nvSpPr>
          <p:cNvPr id="22" name="U06-DG-044-branch_2-title">
            <a:extLst>
              <a:ext uri="{FF2B5EF4-FFF2-40B4-BE49-F238E27FC236}">
                <a16:creationId xmlns:a16="http://schemas.microsoft.com/office/drawing/2014/main" id="{C99C432E-5E20-423A-AAD2-70EC067ED091}"/>
              </a:ext>
            </a:extLst>
          </p:cNvPr>
          <p:cNvSpPr>
            <a:spLocks noGrp="1"/>
          </p:cNvSpPr>
          <p:nvPr/>
        </p:nvSpPr>
        <p:spPr>
          <a:xfrm>
            <a:off x="313944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CCI</a:t>
            </a:r>
          </a:p>
        </p:txBody>
      </p:sp>
      <p:sp>
        <p:nvSpPr>
          <p:cNvPr id="23" name="U06-DG-044-branch_2-body">
            <a:extLst>
              <a:ext uri="{FF2B5EF4-FFF2-40B4-BE49-F238E27FC236}">
                <a16:creationId xmlns:a16="http://schemas.microsoft.com/office/drawing/2014/main" id="{4608D1F8-93FF-4097-942B-2E67A7F0F4AA}"/>
              </a:ext>
            </a:extLst>
          </p:cNvPr>
          <p:cNvSpPr>
            <a:spLocks noGrp="1"/>
          </p:cNvSpPr>
          <p:nvPr/>
        </p:nvSpPr>
        <p:spPr>
          <a:xfrm>
            <a:off x="313944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aferencia</a:t>
            </a:r>
          </a:p>
        </p:txBody>
      </p:sp>
      <p:sp>
        <p:nvSpPr>
          <p:cNvPr id="24" name="U06-DG-044-branch_3-box">
            <a:extLst>
              <a:ext uri="{FF2B5EF4-FFF2-40B4-BE49-F238E27FC236}">
                <a16:creationId xmlns:a16="http://schemas.microsoft.com/office/drawing/2014/main" id="{CF4C5EF5-8A5E-4431-8CCC-BBE40E6B45A1}"/>
              </a:ext>
            </a:extLst>
          </p:cNvPr>
          <p:cNvSpPr>
            <a:spLocks noGrp="1"/>
          </p:cNvSpPr>
          <p:nvPr/>
        </p:nvSpPr>
        <p:spPr>
          <a:xfrm>
            <a:off x="5116830" y="3619500"/>
            <a:ext cx="1958340" cy="1809750"/>
          </a:xfrm>
          <a:prstGeom prst="roundRect">
            <a:avLst>
              <a:gd name="adj" fmla="val 5263"/>
            </a:avLst>
          </a:prstGeom>
          <a:solidFill>
            <a:srgbClr val="F8EDE2"/>
          </a:solidFill>
          <a:ln w="19050">
            <a:solidFill>
              <a:srgbClr val="9F541A"/>
            </a:solidFill>
            <a:prstDash val="solid"/>
          </a:ln>
        </p:spPr>
      </p:sp>
      <p:sp>
        <p:nvSpPr>
          <p:cNvPr id="25" name="U06-DG-044-branch_3-title">
            <a:extLst>
              <a:ext uri="{FF2B5EF4-FFF2-40B4-BE49-F238E27FC236}">
                <a16:creationId xmlns:a16="http://schemas.microsoft.com/office/drawing/2014/main" id="{374346DB-C5BE-48F4-ADC9-2F7BFBE65188}"/>
              </a:ext>
            </a:extLst>
          </p:cNvPr>
          <p:cNvSpPr>
            <a:spLocks noGrp="1"/>
          </p:cNvSpPr>
          <p:nvPr/>
        </p:nvSpPr>
        <p:spPr>
          <a:xfrm>
            <a:off x="530733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Fibra</a:t>
            </a:r>
          </a:p>
        </p:txBody>
      </p:sp>
      <p:sp>
        <p:nvSpPr>
          <p:cNvPr id="26" name="U06-DG-044-branch_3-body">
            <a:extLst>
              <a:ext uri="{FF2B5EF4-FFF2-40B4-BE49-F238E27FC236}">
                <a16:creationId xmlns:a16="http://schemas.microsoft.com/office/drawing/2014/main" id="{CDF76645-7D62-49C4-8107-148D97A88983}"/>
              </a:ext>
            </a:extLst>
          </p:cNvPr>
          <p:cNvSpPr>
            <a:spLocks noGrp="1"/>
          </p:cNvSpPr>
          <p:nvPr/>
        </p:nvSpPr>
        <p:spPr>
          <a:xfrm>
            <a:off x="530733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impulsos</a:t>
            </a:r>
          </a:p>
        </p:txBody>
      </p:sp>
      <p:sp>
        <p:nvSpPr>
          <p:cNvPr id="27" name="U06-DG-044-branch_4-box">
            <a:extLst>
              <a:ext uri="{FF2B5EF4-FFF2-40B4-BE49-F238E27FC236}">
                <a16:creationId xmlns:a16="http://schemas.microsoft.com/office/drawing/2014/main" id="{15F9C2D7-AD4D-4076-BEA8-E815C1C56358}"/>
              </a:ext>
            </a:extLst>
          </p:cNvPr>
          <p:cNvSpPr>
            <a:spLocks noGrp="1"/>
          </p:cNvSpPr>
          <p:nvPr/>
        </p:nvSpPr>
        <p:spPr>
          <a:xfrm>
            <a:off x="7284720" y="3619500"/>
            <a:ext cx="1958340" cy="1809750"/>
          </a:xfrm>
          <a:prstGeom prst="roundRect">
            <a:avLst>
              <a:gd name="adj" fmla="val 5263"/>
            </a:avLst>
          </a:prstGeom>
          <a:solidFill>
            <a:srgbClr val="E7F1F1"/>
          </a:solidFill>
          <a:ln w="19050">
            <a:solidFill>
              <a:srgbClr val="2F7E83"/>
            </a:solidFill>
            <a:prstDash val="solid"/>
          </a:ln>
        </p:spPr>
      </p:sp>
      <p:sp>
        <p:nvSpPr>
          <p:cNvPr id="28" name="U06-DG-044-branch_4-title">
            <a:extLst>
              <a:ext uri="{FF2B5EF4-FFF2-40B4-BE49-F238E27FC236}">
                <a16:creationId xmlns:a16="http://schemas.microsoft.com/office/drawing/2014/main" id="{1894016B-133C-42B9-A02C-3A6BCA81987D}"/>
              </a:ext>
            </a:extLst>
          </p:cNvPr>
          <p:cNvSpPr>
            <a:spLocks noGrp="1"/>
          </p:cNvSpPr>
          <p:nvPr/>
        </p:nvSpPr>
        <p:spPr>
          <a:xfrm>
            <a:off x="747522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CCE</a:t>
            </a:r>
          </a:p>
        </p:txBody>
      </p:sp>
      <p:sp>
        <p:nvSpPr>
          <p:cNvPr id="29" name="U06-DG-044-branch_4-body">
            <a:extLst>
              <a:ext uri="{FF2B5EF4-FFF2-40B4-BE49-F238E27FC236}">
                <a16:creationId xmlns:a16="http://schemas.microsoft.com/office/drawing/2014/main" id="{A4823477-9087-45DD-B933-32BC8F8FAC8D}"/>
              </a:ext>
            </a:extLst>
          </p:cNvPr>
          <p:cNvSpPr>
            <a:spLocks noGrp="1"/>
          </p:cNvSpPr>
          <p:nvPr/>
        </p:nvSpPr>
        <p:spPr>
          <a:xfrm>
            <a:off x="747522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movimiento</a:t>
            </a:r>
          </a:p>
        </p:txBody>
      </p:sp>
      <p:sp>
        <p:nvSpPr>
          <p:cNvPr id="30" name="U06-DG-044-branch_5-box">
            <a:extLst>
              <a:ext uri="{FF2B5EF4-FFF2-40B4-BE49-F238E27FC236}">
                <a16:creationId xmlns:a16="http://schemas.microsoft.com/office/drawing/2014/main" id="{2992C45F-829B-44FE-A305-AF9BC35A53C6}"/>
              </a:ext>
            </a:extLst>
          </p:cNvPr>
          <p:cNvSpPr>
            <a:spLocks noGrp="1"/>
          </p:cNvSpPr>
          <p:nvPr/>
        </p:nvSpPr>
        <p:spPr>
          <a:xfrm>
            <a:off x="9452610" y="3619500"/>
            <a:ext cx="1958340" cy="1809750"/>
          </a:xfrm>
          <a:prstGeom prst="roundRect">
            <a:avLst>
              <a:gd name="adj" fmla="val 5263"/>
            </a:avLst>
          </a:prstGeom>
          <a:solidFill>
            <a:srgbClr val="E7F1F1"/>
          </a:solidFill>
          <a:ln w="19050">
            <a:solidFill>
              <a:srgbClr val="2F7E83"/>
            </a:solidFill>
            <a:prstDash val="solid"/>
          </a:ln>
        </p:spPr>
      </p:sp>
      <p:sp>
        <p:nvSpPr>
          <p:cNvPr id="31" name="U06-DG-044-branch_5-title">
            <a:extLst>
              <a:ext uri="{FF2B5EF4-FFF2-40B4-BE49-F238E27FC236}">
                <a16:creationId xmlns:a16="http://schemas.microsoft.com/office/drawing/2014/main" id="{EB7C9264-2966-484D-9E70-B0711AEDF12E}"/>
              </a:ext>
            </a:extLst>
          </p:cNvPr>
          <p:cNvSpPr>
            <a:spLocks noGrp="1"/>
          </p:cNvSpPr>
          <p:nvPr/>
        </p:nvSpPr>
        <p:spPr>
          <a:xfrm>
            <a:off x="964311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Mecánica</a:t>
            </a:r>
          </a:p>
        </p:txBody>
      </p:sp>
      <p:sp>
        <p:nvSpPr>
          <p:cNvPr id="32" name="U06-DG-044-branch_5-body">
            <a:extLst>
              <a:ext uri="{FF2B5EF4-FFF2-40B4-BE49-F238E27FC236}">
                <a16:creationId xmlns:a16="http://schemas.microsoft.com/office/drawing/2014/main" id="{8CF1B30E-4E4B-4B84-B829-383B5D66879A}"/>
              </a:ext>
            </a:extLst>
          </p:cNvPr>
          <p:cNvSpPr>
            <a:spLocks noGrp="1"/>
          </p:cNvSpPr>
          <p:nvPr/>
        </p:nvSpPr>
        <p:spPr>
          <a:xfrm>
            <a:off x="964311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retorno</a:t>
            </a:r>
          </a:p>
        </p:txBody>
      </p:sp>
      <p:sp>
        <p:nvSpPr>
          <p:cNvPr id="33" name="caption">
            <a:extLst>
              <a:ext uri="{FF2B5EF4-FFF2-40B4-BE49-F238E27FC236}">
                <a16:creationId xmlns:a16="http://schemas.microsoft.com/office/drawing/2014/main" id="{C0203B51-57A4-4D91-AB65-D7F3C1403BD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Aferencia, OEA, selectividad y neurotransmisión no pertenecen a la misma rama.</a:t>
            </a:r>
          </a:p>
        </p:txBody>
      </p:sp>
      <p:sp>
        <p:nvSpPr>
          <p:cNvPr id="34" name="credit">
            <a:extLst>
              <a:ext uri="{FF2B5EF4-FFF2-40B4-BE49-F238E27FC236}">
                <a16:creationId xmlns:a16="http://schemas.microsoft.com/office/drawing/2014/main" id="{B17924A4-5D1A-4053-BF3B-D8EB71613C6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2815463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340B364F-4AB6-4A7C-AE14-61D2EDAB45B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Una OEA depende de CCE y también de la cadena de salida</a:t>
            </a:r>
          </a:p>
        </p:txBody>
      </p:sp>
      <p:sp>
        <p:nvSpPr>
          <p:cNvPr id="2" name="slide-subtitle">
            <a:extLst>
              <a:ext uri="{FF2B5EF4-FFF2-40B4-BE49-F238E27FC236}">
                <a16:creationId xmlns:a16="http://schemas.microsoft.com/office/drawing/2014/main" id="{C34ED0E1-E351-43BF-8D84-603D14ED8035}"/>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energía debe atravesar cóclea, oído medio y CAE para registrarse.</a:t>
            </a:r>
          </a:p>
        </p:txBody>
      </p:sp>
      <p:sp>
        <p:nvSpPr>
          <p:cNvPr id="3" name="eyebrow">
            <a:extLst>
              <a:ext uri="{FF2B5EF4-FFF2-40B4-BE49-F238E27FC236}">
                <a16:creationId xmlns:a16="http://schemas.microsoft.com/office/drawing/2014/main" id="{72B2731E-93AF-4554-B31B-46257267C3E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080</a:t>
            </a:r>
          </a:p>
        </p:txBody>
      </p:sp>
      <p:sp>
        <p:nvSpPr>
          <p:cNvPr id="4" name="U06-DG-047-stage_1-anchor">
            <a:extLst>
              <a:ext uri="{FF2B5EF4-FFF2-40B4-BE49-F238E27FC236}">
                <a16:creationId xmlns:a16="http://schemas.microsoft.com/office/drawing/2014/main" id="{419E9F40-B7D1-4A31-9FE2-5F0CDDDD73E8}"/>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47-stage_2-anchor">
            <a:extLst>
              <a:ext uri="{FF2B5EF4-FFF2-40B4-BE49-F238E27FC236}">
                <a16:creationId xmlns:a16="http://schemas.microsoft.com/office/drawing/2014/main" id="{C6FF0047-D901-4E8D-A4F7-B3AC3EB0BAA8}"/>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47-stage_3-anchor">
            <a:extLst>
              <a:ext uri="{FF2B5EF4-FFF2-40B4-BE49-F238E27FC236}">
                <a16:creationId xmlns:a16="http://schemas.microsoft.com/office/drawing/2014/main" id="{054A66B2-5C20-46EC-B664-DB2066926E37}"/>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47-stage_4-anchor">
            <a:extLst>
              <a:ext uri="{FF2B5EF4-FFF2-40B4-BE49-F238E27FC236}">
                <a16:creationId xmlns:a16="http://schemas.microsoft.com/office/drawing/2014/main" id="{F61C9E4D-E8D1-499A-8F64-464FB9096914}"/>
              </a:ext>
            </a:extLst>
          </p:cNvPr>
          <p:cNvSpPr>
            <a:spLocks noGrp="1"/>
          </p:cNvSpPr>
          <p:nvPr/>
        </p:nvSpPr>
        <p:spPr>
          <a:xfrm>
            <a:off x="6229350" y="3952875"/>
            <a:ext cx="5181600" cy="1381125"/>
          </a:xfrm>
          <a:prstGeom prst="roundRect">
            <a:avLst>
              <a:gd name="adj" fmla="val 6897"/>
            </a:avLst>
          </a:prstGeom>
          <a:noFill/>
          <a:ln w="0">
            <a:noFill/>
            <a:prstDash val="solid"/>
          </a:ln>
        </p:spPr>
      </p:sp>
      <p:sp>
        <p:nvSpPr>
          <p:cNvPr id="8" name="U06-DG-047-stage_5-anchor">
            <a:extLst>
              <a:ext uri="{FF2B5EF4-FFF2-40B4-BE49-F238E27FC236}">
                <a16:creationId xmlns:a16="http://schemas.microsoft.com/office/drawing/2014/main" id="{920F4EA5-129D-44C2-806E-75F63DD694DB}"/>
              </a:ext>
            </a:extLst>
          </p:cNvPr>
          <p:cNvSpPr>
            <a:spLocks noGrp="1"/>
          </p:cNvSpPr>
          <p:nvPr/>
        </p:nvSpPr>
        <p:spPr>
          <a:xfrm>
            <a:off x="781050" y="3952875"/>
            <a:ext cx="5181600" cy="1381125"/>
          </a:xfrm>
          <a:prstGeom prst="roundRect">
            <a:avLst>
              <a:gd name="adj" fmla="val 6897"/>
            </a:avLst>
          </a:prstGeom>
          <a:noFill/>
          <a:ln w="0">
            <a:noFill/>
            <a:prstDash val="solid"/>
          </a:ln>
        </p:spPr>
      </p:sp>
      <p:cxnSp>
        <p:nvCxnSpPr>
          <p:cNvPr id="38" name="U06-DG-047-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39" name="U06-DG-047-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0" name="U06-DG-047-flow_3"/>
          <p:cNvCxnSpPr>
            <a:stCxn id="6" idx="2"/>
            <a:endCxn id="7" idx="0"/>
          </p:cNvCxnSpPr>
          <p:nvPr/>
        </p:nvCxnSpPr>
        <p:spPr>
          <a:xfrm flipH="1">
            <a:off x="8820150" y="3048000"/>
            <a:ext cx="908050" cy="904875"/>
          </a:xfrm>
          <a:prstGeom prst="bentConnector4">
            <a:avLst>
              <a:gd name="adj1" fmla="val 0"/>
              <a:gd name="adj2" fmla="val 50000"/>
            </a:avLst>
          </a:prstGeom>
          <a:ln w="28575">
            <a:solidFill>
              <a:srgbClr val="3D3D3D"/>
            </a:solidFill>
            <a:prstDash val="solid"/>
            <a:tailEnd type="arrow" w="med" len="med"/>
          </a:ln>
        </p:spPr>
      </p:cxnSp>
      <p:cxnSp>
        <p:nvCxnSpPr>
          <p:cNvPr id="41" name="U06-DG-047-flow_4"/>
          <p:cNvCxnSpPr>
            <a:stCxn id="7" idx="1"/>
            <a:endCxn id="8" idx="3"/>
          </p:cNvCxnSpPr>
          <p:nvPr/>
        </p:nvCxnSpPr>
        <p:spPr>
          <a:xfrm flipH="1">
            <a:off x="5962650" y="4643438"/>
            <a:ext cx="266700" cy="0"/>
          </a:xfrm>
          <a:prstGeom prst="straightConnector1">
            <a:avLst/>
          </a:prstGeom>
          <a:ln w="28575">
            <a:solidFill>
              <a:srgbClr val="3D3D3D"/>
            </a:solidFill>
            <a:prstDash val="solid"/>
            <a:tailEnd type="arrow" w="med" len="med"/>
          </a:ln>
        </p:spPr>
      </p:cxnSp>
      <p:sp>
        <p:nvSpPr>
          <p:cNvPr id="13" name="U06-DG-047-stage_1-box" descr="Diagrama sobre «Una OEA depende de CCE y también de la cadena de salida»; organiza proceso activo → transmisión inversa → micrófono; “qué permite/no permite”." title="Texto alternativo U06-080">
            <a:extLst>
              <a:ext uri="{FF2B5EF4-FFF2-40B4-BE49-F238E27FC236}">
                <a16:creationId xmlns:a16="http://schemas.microsoft.com/office/drawing/2014/main" id="{CB9B82F4-7859-4233-A29C-3EE512D515A9}"/>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4" name="U06-DG-047-stage_1-title">
            <a:extLst>
              <a:ext uri="{FF2B5EF4-FFF2-40B4-BE49-F238E27FC236}">
                <a16:creationId xmlns:a16="http://schemas.microsoft.com/office/drawing/2014/main" id="{28BC3705-8C7C-43D7-98AE-BF705A0855CF}"/>
              </a:ext>
            </a:extLst>
          </p:cNvPr>
          <p:cNvSpPr>
            <a:spLocks noGrp="1"/>
          </p:cNvSpPr>
          <p:nvPr/>
        </p:nvSpPr>
        <p:spPr>
          <a:xfrm>
            <a:off x="9715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CCE</a:t>
            </a:r>
          </a:p>
        </p:txBody>
      </p:sp>
      <p:sp>
        <p:nvSpPr>
          <p:cNvPr id="15" name="U06-DG-047-stage_1-body">
            <a:extLst>
              <a:ext uri="{FF2B5EF4-FFF2-40B4-BE49-F238E27FC236}">
                <a16:creationId xmlns:a16="http://schemas.microsoft.com/office/drawing/2014/main" id="{E839F4F2-2505-49E2-8C62-3EB53A0D06E2}"/>
              </a:ext>
            </a:extLst>
          </p:cNvPr>
          <p:cNvSpPr>
            <a:spLocks noGrp="1"/>
          </p:cNvSpPr>
          <p:nvPr/>
        </p:nvSpPr>
        <p:spPr>
          <a:xfrm>
            <a:off x="9715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genera energía mecánica</a:t>
            </a:r>
          </a:p>
        </p:txBody>
      </p:sp>
      <p:sp>
        <p:nvSpPr>
          <p:cNvPr id="16" name="U06-DG-047-stage_2-box">
            <a:extLst>
              <a:ext uri="{FF2B5EF4-FFF2-40B4-BE49-F238E27FC236}">
                <a16:creationId xmlns:a16="http://schemas.microsoft.com/office/drawing/2014/main" id="{16BA0B71-FF93-433D-BBF6-2220BF59A7E7}"/>
              </a:ext>
            </a:extLst>
          </p:cNvPr>
          <p:cNvSpPr>
            <a:spLocks noGrp="1"/>
          </p:cNvSpPr>
          <p:nvPr/>
        </p:nvSpPr>
        <p:spPr>
          <a:xfrm>
            <a:off x="4413250" y="1666875"/>
            <a:ext cx="3365500" cy="1381125"/>
          </a:xfrm>
          <a:prstGeom prst="roundRect">
            <a:avLst>
              <a:gd name="adj" fmla="val 6897"/>
            </a:avLst>
          </a:prstGeom>
          <a:solidFill>
            <a:srgbClr val="F4E9EF"/>
          </a:solidFill>
          <a:ln w="19050">
            <a:solidFill>
              <a:srgbClr val="4D1434"/>
            </a:solidFill>
            <a:prstDash val="solid"/>
          </a:ln>
        </p:spPr>
      </p:sp>
      <p:sp>
        <p:nvSpPr>
          <p:cNvPr id="17" name="U06-DG-047-stage_2-title">
            <a:extLst>
              <a:ext uri="{FF2B5EF4-FFF2-40B4-BE49-F238E27FC236}">
                <a16:creationId xmlns:a16="http://schemas.microsoft.com/office/drawing/2014/main" id="{61FC62F2-9D2A-4B93-81DC-17FE8BDC187B}"/>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Cóclea</a:t>
            </a:r>
          </a:p>
        </p:txBody>
      </p:sp>
      <p:sp>
        <p:nvSpPr>
          <p:cNvPr id="18" name="U06-DG-047-stage_2-body">
            <a:extLst>
              <a:ext uri="{FF2B5EF4-FFF2-40B4-BE49-F238E27FC236}">
                <a16:creationId xmlns:a16="http://schemas.microsoft.com/office/drawing/2014/main" id="{5CE5929E-0913-4883-AD05-20B633D30BE6}"/>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propaga hacia atrás</a:t>
            </a:r>
          </a:p>
        </p:txBody>
      </p:sp>
      <p:sp>
        <p:nvSpPr>
          <p:cNvPr id="19" name="U06-DG-047-stage_3-box">
            <a:extLst>
              <a:ext uri="{FF2B5EF4-FFF2-40B4-BE49-F238E27FC236}">
                <a16:creationId xmlns:a16="http://schemas.microsoft.com/office/drawing/2014/main" id="{498B6FEE-0C6F-4131-A6E8-1B47775DE6B7}"/>
              </a:ext>
            </a:extLst>
          </p:cNvPr>
          <p:cNvSpPr>
            <a:spLocks noGrp="1"/>
          </p:cNvSpPr>
          <p:nvPr/>
        </p:nvSpPr>
        <p:spPr>
          <a:xfrm>
            <a:off x="8045450" y="1666875"/>
            <a:ext cx="3365500" cy="1381125"/>
          </a:xfrm>
          <a:prstGeom prst="roundRect">
            <a:avLst>
              <a:gd name="adj" fmla="val 6897"/>
            </a:avLst>
          </a:prstGeom>
          <a:solidFill>
            <a:srgbClr val="F7F6F2"/>
          </a:solidFill>
          <a:ln w="19050">
            <a:solidFill>
              <a:srgbClr val="969FA7"/>
            </a:solidFill>
            <a:prstDash val="solid"/>
          </a:ln>
        </p:spPr>
      </p:sp>
      <p:sp>
        <p:nvSpPr>
          <p:cNvPr id="20" name="U06-DG-047-stage_3-title">
            <a:extLst>
              <a:ext uri="{FF2B5EF4-FFF2-40B4-BE49-F238E27FC236}">
                <a16:creationId xmlns:a16="http://schemas.microsoft.com/office/drawing/2014/main" id="{28831DB6-D98D-40D4-BAB1-C21DE18AA409}"/>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Oído medio</a:t>
            </a:r>
          </a:p>
        </p:txBody>
      </p:sp>
      <p:sp>
        <p:nvSpPr>
          <p:cNvPr id="21" name="U06-DG-047-stage_3-body">
            <a:extLst>
              <a:ext uri="{FF2B5EF4-FFF2-40B4-BE49-F238E27FC236}">
                <a16:creationId xmlns:a16="http://schemas.microsoft.com/office/drawing/2014/main" id="{DE39F4EC-02AB-473E-88AA-9589094647B0}"/>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transmite</a:t>
            </a:r>
          </a:p>
        </p:txBody>
      </p:sp>
      <p:sp>
        <p:nvSpPr>
          <p:cNvPr id="22" name="U06-DG-047-stage_4-box">
            <a:extLst>
              <a:ext uri="{FF2B5EF4-FFF2-40B4-BE49-F238E27FC236}">
                <a16:creationId xmlns:a16="http://schemas.microsoft.com/office/drawing/2014/main" id="{0BB16973-2EEC-4E41-B790-F4E1BF42AE01}"/>
              </a:ext>
            </a:extLst>
          </p:cNvPr>
          <p:cNvSpPr>
            <a:spLocks noGrp="1"/>
          </p:cNvSpPr>
          <p:nvPr/>
        </p:nvSpPr>
        <p:spPr>
          <a:xfrm>
            <a:off x="6229350" y="3952875"/>
            <a:ext cx="5181600" cy="1381125"/>
          </a:xfrm>
          <a:prstGeom prst="roundRect">
            <a:avLst>
              <a:gd name="adj" fmla="val 6897"/>
            </a:avLst>
          </a:prstGeom>
          <a:solidFill>
            <a:srgbClr val="E7F1F1"/>
          </a:solidFill>
          <a:ln w="19050">
            <a:solidFill>
              <a:srgbClr val="2F7E83"/>
            </a:solidFill>
            <a:prstDash val="solid"/>
          </a:ln>
        </p:spPr>
      </p:sp>
      <p:sp>
        <p:nvSpPr>
          <p:cNvPr id="23" name="U06-DG-047-stage_4-title">
            <a:extLst>
              <a:ext uri="{FF2B5EF4-FFF2-40B4-BE49-F238E27FC236}">
                <a16:creationId xmlns:a16="http://schemas.microsoft.com/office/drawing/2014/main" id="{63B963DA-7E3D-4021-85D8-53C17DC81C37}"/>
              </a:ext>
            </a:extLst>
          </p:cNvPr>
          <p:cNvSpPr>
            <a:spLocks noGrp="1"/>
          </p:cNvSpPr>
          <p:nvPr/>
        </p:nvSpPr>
        <p:spPr>
          <a:xfrm>
            <a:off x="64198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4" name="U06-DG-047-stage_4-body">
            <a:extLst>
              <a:ext uri="{FF2B5EF4-FFF2-40B4-BE49-F238E27FC236}">
                <a16:creationId xmlns:a16="http://schemas.microsoft.com/office/drawing/2014/main" id="{FEB7B945-1D14-4EA6-81C0-681C1F0E46E0}"/>
              </a:ext>
            </a:extLst>
          </p:cNvPr>
          <p:cNvSpPr>
            <a:spLocks noGrp="1"/>
          </p:cNvSpPr>
          <p:nvPr/>
        </p:nvSpPr>
        <p:spPr>
          <a:xfrm>
            <a:off x="64198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presión acústica</a:t>
            </a:r>
          </a:p>
        </p:txBody>
      </p:sp>
      <p:sp>
        <p:nvSpPr>
          <p:cNvPr id="25" name="U06-DG-047-stage_5-box">
            <a:extLst>
              <a:ext uri="{FF2B5EF4-FFF2-40B4-BE49-F238E27FC236}">
                <a16:creationId xmlns:a16="http://schemas.microsoft.com/office/drawing/2014/main" id="{D04463AD-7E89-49B5-AB35-517334EAF120}"/>
              </a:ext>
            </a:extLst>
          </p:cNvPr>
          <p:cNvSpPr>
            <a:spLocks noGrp="1"/>
          </p:cNvSpPr>
          <p:nvPr/>
        </p:nvSpPr>
        <p:spPr>
          <a:xfrm>
            <a:off x="781050" y="3952875"/>
            <a:ext cx="5181600" cy="1381125"/>
          </a:xfrm>
          <a:prstGeom prst="roundRect">
            <a:avLst>
              <a:gd name="adj" fmla="val 6897"/>
            </a:avLst>
          </a:prstGeom>
          <a:solidFill>
            <a:srgbClr val="F8EDE2"/>
          </a:solidFill>
          <a:ln w="19050">
            <a:solidFill>
              <a:srgbClr val="9F541A"/>
            </a:solidFill>
            <a:prstDash val="solid"/>
          </a:ln>
        </p:spPr>
      </p:sp>
      <p:sp>
        <p:nvSpPr>
          <p:cNvPr id="26" name="U06-DG-047-stage_5-title">
            <a:extLst>
              <a:ext uri="{FF2B5EF4-FFF2-40B4-BE49-F238E27FC236}">
                <a16:creationId xmlns:a16="http://schemas.microsoft.com/office/drawing/2014/main" id="{1172D902-D43A-4A07-A10D-66A77332B359}"/>
              </a:ext>
            </a:extLst>
          </p:cNvPr>
          <p:cNvSpPr>
            <a:spLocks noGrp="1"/>
          </p:cNvSpPr>
          <p:nvPr/>
        </p:nvSpPr>
        <p:spPr>
          <a:xfrm>
            <a:off x="9715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Micrófono</a:t>
            </a:r>
          </a:p>
        </p:txBody>
      </p:sp>
      <p:sp>
        <p:nvSpPr>
          <p:cNvPr id="27" name="U06-DG-047-stage_5-body">
            <a:extLst>
              <a:ext uri="{FF2B5EF4-FFF2-40B4-BE49-F238E27FC236}">
                <a16:creationId xmlns:a16="http://schemas.microsoft.com/office/drawing/2014/main" id="{243FAB73-E645-4D61-91F0-6D1D646C3D23}"/>
              </a:ext>
            </a:extLst>
          </p:cNvPr>
          <p:cNvSpPr>
            <a:spLocks noGrp="1"/>
          </p:cNvSpPr>
          <p:nvPr/>
        </p:nvSpPr>
        <p:spPr>
          <a:xfrm>
            <a:off x="9715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registra</a:t>
            </a:r>
          </a:p>
        </p:txBody>
      </p:sp>
      <p:sp>
        <p:nvSpPr>
          <p:cNvPr id="28" name="caption">
            <a:extLst>
              <a:ext uri="{FF2B5EF4-FFF2-40B4-BE49-F238E27FC236}">
                <a16:creationId xmlns:a16="http://schemas.microsoft.com/office/drawing/2014/main" id="{ACF37FB3-A2D7-4163-9D7B-0A1574B8115A}"/>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energía debe atravesar cóclea, oído medio y CAE para registrarse.</a:t>
            </a:r>
          </a:p>
        </p:txBody>
      </p:sp>
      <p:sp>
        <p:nvSpPr>
          <p:cNvPr id="29" name="credit">
            <a:extLst>
              <a:ext uri="{FF2B5EF4-FFF2-40B4-BE49-F238E27FC236}">
                <a16:creationId xmlns:a16="http://schemas.microsoft.com/office/drawing/2014/main" id="{D9AA187D-6AFF-4F2F-9CDD-F4747E6FA1A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8170577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7E9E1D72-4F6E-4CC8-ADD9-A35F50286E0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Hasta acá: movimiento común, funciones diferentes</a:t>
            </a:r>
          </a:p>
        </p:txBody>
      </p:sp>
      <p:sp>
        <p:nvSpPr>
          <p:cNvPr id="2" name="slide-subtitle">
            <a:extLst>
              <a:ext uri="{FF2B5EF4-FFF2-40B4-BE49-F238E27FC236}">
                <a16:creationId xmlns:a16="http://schemas.microsoft.com/office/drawing/2014/main" id="{BCEAA337-EAA8-44CF-945E-B7E9E19A225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misma deflexión inicia transducción; las consecuencias globales divergen.</a:t>
            </a:r>
          </a:p>
        </p:txBody>
      </p:sp>
      <p:sp>
        <p:nvSpPr>
          <p:cNvPr id="3" name="eyebrow">
            <a:extLst>
              <a:ext uri="{FF2B5EF4-FFF2-40B4-BE49-F238E27FC236}">
                <a16:creationId xmlns:a16="http://schemas.microsoft.com/office/drawing/2014/main" id="{FAF733A3-2ABA-4728-A013-306EB1FA35E0}"/>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081</a:t>
            </a:r>
          </a:p>
        </p:txBody>
      </p:sp>
      <p:sp>
        <p:nvSpPr>
          <p:cNvPr id="4" name="U06-DG-044-central-anchor">
            <a:extLst>
              <a:ext uri="{FF2B5EF4-FFF2-40B4-BE49-F238E27FC236}">
                <a16:creationId xmlns:a16="http://schemas.microsoft.com/office/drawing/2014/main" id="{2DE9262D-583D-4038-86A3-05FFED0D9358}"/>
              </a:ext>
            </a:extLst>
          </p:cNvPr>
          <p:cNvSpPr>
            <a:spLocks noGrp="1"/>
          </p:cNvSpPr>
          <p:nvPr/>
        </p:nvSpPr>
        <p:spPr>
          <a:xfrm>
            <a:off x="3714750" y="1381125"/>
            <a:ext cx="4762500" cy="1285875"/>
          </a:xfrm>
          <a:prstGeom prst="roundRect">
            <a:avLst>
              <a:gd name="adj" fmla="val 7407"/>
            </a:avLst>
          </a:prstGeom>
          <a:noFill/>
          <a:ln w="0">
            <a:noFill/>
            <a:prstDash val="solid"/>
          </a:ln>
        </p:spPr>
      </p:sp>
      <p:sp>
        <p:nvSpPr>
          <p:cNvPr id="5" name="U06-DG-044-branch_1-anchor">
            <a:extLst>
              <a:ext uri="{FF2B5EF4-FFF2-40B4-BE49-F238E27FC236}">
                <a16:creationId xmlns:a16="http://schemas.microsoft.com/office/drawing/2014/main" id="{BCB01607-9F7C-42FE-B45E-11896047EF28}"/>
              </a:ext>
            </a:extLst>
          </p:cNvPr>
          <p:cNvSpPr>
            <a:spLocks noGrp="1"/>
          </p:cNvSpPr>
          <p:nvPr/>
        </p:nvSpPr>
        <p:spPr>
          <a:xfrm>
            <a:off x="781050" y="3619500"/>
            <a:ext cx="1958340" cy="1809750"/>
          </a:xfrm>
          <a:prstGeom prst="roundRect">
            <a:avLst>
              <a:gd name="adj" fmla="val 5263"/>
            </a:avLst>
          </a:prstGeom>
          <a:noFill/>
          <a:ln w="0">
            <a:noFill/>
            <a:prstDash val="solid"/>
          </a:ln>
        </p:spPr>
      </p:sp>
      <p:sp>
        <p:nvSpPr>
          <p:cNvPr id="6" name="U06-DG-044-branch_2-anchor">
            <a:extLst>
              <a:ext uri="{FF2B5EF4-FFF2-40B4-BE49-F238E27FC236}">
                <a16:creationId xmlns:a16="http://schemas.microsoft.com/office/drawing/2014/main" id="{0D8CBFEF-9B87-4DC8-A038-5E637C750128}"/>
              </a:ext>
            </a:extLst>
          </p:cNvPr>
          <p:cNvSpPr>
            <a:spLocks noGrp="1"/>
          </p:cNvSpPr>
          <p:nvPr/>
        </p:nvSpPr>
        <p:spPr>
          <a:xfrm>
            <a:off x="2948940" y="3619500"/>
            <a:ext cx="1958340" cy="1809750"/>
          </a:xfrm>
          <a:prstGeom prst="roundRect">
            <a:avLst>
              <a:gd name="adj" fmla="val 5263"/>
            </a:avLst>
          </a:prstGeom>
          <a:noFill/>
          <a:ln w="0">
            <a:noFill/>
            <a:prstDash val="solid"/>
          </a:ln>
        </p:spPr>
      </p:sp>
      <p:sp>
        <p:nvSpPr>
          <p:cNvPr id="7" name="U06-DG-044-branch_3-anchor">
            <a:extLst>
              <a:ext uri="{FF2B5EF4-FFF2-40B4-BE49-F238E27FC236}">
                <a16:creationId xmlns:a16="http://schemas.microsoft.com/office/drawing/2014/main" id="{7E9BFF6A-7169-4508-A53F-695E7EDC38A0}"/>
              </a:ext>
            </a:extLst>
          </p:cNvPr>
          <p:cNvSpPr>
            <a:spLocks noGrp="1"/>
          </p:cNvSpPr>
          <p:nvPr/>
        </p:nvSpPr>
        <p:spPr>
          <a:xfrm>
            <a:off x="5116830" y="3619500"/>
            <a:ext cx="1958340" cy="1809750"/>
          </a:xfrm>
          <a:prstGeom prst="roundRect">
            <a:avLst>
              <a:gd name="adj" fmla="val 5263"/>
            </a:avLst>
          </a:prstGeom>
          <a:noFill/>
          <a:ln w="0">
            <a:noFill/>
            <a:prstDash val="solid"/>
          </a:ln>
        </p:spPr>
      </p:sp>
      <p:sp>
        <p:nvSpPr>
          <p:cNvPr id="8" name="U06-DG-044-branch_4-anchor">
            <a:extLst>
              <a:ext uri="{FF2B5EF4-FFF2-40B4-BE49-F238E27FC236}">
                <a16:creationId xmlns:a16="http://schemas.microsoft.com/office/drawing/2014/main" id="{609BBD29-0C95-49C2-B9AC-9717B7517C22}"/>
              </a:ext>
            </a:extLst>
          </p:cNvPr>
          <p:cNvSpPr>
            <a:spLocks noGrp="1"/>
          </p:cNvSpPr>
          <p:nvPr/>
        </p:nvSpPr>
        <p:spPr>
          <a:xfrm>
            <a:off x="7284720" y="3619500"/>
            <a:ext cx="1958340" cy="1809750"/>
          </a:xfrm>
          <a:prstGeom prst="roundRect">
            <a:avLst>
              <a:gd name="adj" fmla="val 5263"/>
            </a:avLst>
          </a:prstGeom>
          <a:noFill/>
          <a:ln w="0">
            <a:noFill/>
            <a:prstDash val="solid"/>
          </a:ln>
        </p:spPr>
      </p:sp>
      <p:sp>
        <p:nvSpPr>
          <p:cNvPr id="9" name="U06-DG-044-branch_5-anchor">
            <a:extLst>
              <a:ext uri="{FF2B5EF4-FFF2-40B4-BE49-F238E27FC236}">
                <a16:creationId xmlns:a16="http://schemas.microsoft.com/office/drawing/2014/main" id="{BA1021B3-49F8-46A9-9FE0-442B50054CBD}"/>
              </a:ext>
            </a:extLst>
          </p:cNvPr>
          <p:cNvSpPr>
            <a:spLocks noGrp="1"/>
          </p:cNvSpPr>
          <p:nvPr/>
        </p:nvSpPr>
        <p:spPr>
          <a:xfrm>
            <a:off x="9452610" y="3619500"/>
            <a:ext cx="1958340" cy="1809750"/>
          </a:xfrm>
          <a:prstGeom prst="roundRect">
            <a:avLst>
              <a:gd name="adj" fmla="val 5263"/>
            </a:avLst>
          </a:prstGeom>
          <a:noFill/>
          <a:ln w="0">
            <a:noFill/>
            <a:prstDash val="solid"/>
          </a:ln>
        </p:spPr>
      </p:sp>
      <p:cxnSp>
        <p:nvCxnSpPr>
          <p:cNvPr id="44" name="U06-DG-044-branch_edge_1"/>
          <p:cNvCxnSpPr>
            <a:stCxn id="4" idx="1"/>
            <a:endCxn id="5" idx="3"/>
          </p:cNvCxnSpPr>
          <p:nvPr/>
        </p:nvCxnSpPr>
        <p:spPr>
          <a:xfrm flipH="1">
            <a:off x="2739390" y="2024063"/>
            <a:ext cx="975360" cy="2500313"/>
          </a:xfrm>
          <a:prstGeom prst="bentConnector3">
            <a:avLst>
              <a:gd name="adj1" fmla="val 50000"/>
            </a:avLst>
          </a:prstGeom>
          <a:ln w="28575">
            <a:solidFill>
              <a:srgbClr val="3D3D3D"/>
            </a:solidFill>
            <a:prstDash val="solid"/>
            <a:tailEnd type="arrow" w="med" len="med"/>
          </a:ln>
        </p:spPr>
      </p:cxnSp>
      <p:cxnSp>
        <p:nvCxnSpPr>
          <p:cNvPr id="45" name="U06-DG-044-branch_edge_2"/>
          <p:cNvCxnSpPr>
            <a:stCxn id="4" idx="2"/>
            <a:endCxn id="6" idx="0"/>
          </p:cNvCxnSpPr>
          <p:nvPr/>
        </p:nvCxnSpPr>
        <p:spPr>
          <a:xfrm flipH="1">
            <a:off x="392811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6" name="U06-DG-044-branch_edge_3"/>
          <p:cNvCxnSpPr>
            <a:stCxn id="4" idx="2"/>
            <a:endCxn id="7" idx="0"/>
          </p:cNvCxnSpPr>
          <p:nvPr/>
        </p:nvCxnSpPr>
        <p:spPr>
          <a:xfrm>
            <a:off x="6096000" y="2667000"/>
            <a:ext cx="0" cy="952500"/>
          </a:xfrm>
          <a:prstGeom prst="straightConnector1">
            <a:avLst/>
          </a:prstGeom>
          <a:ln w="28575">
            <a:solidFill>
              <a:srgbClr val="3D3D3D"/>
            </a:solidFill>
            <a:prstDash val="solid"/>
            <a:tailEnd type="arrow" w="med" len="med"/>
          </a:ln>
        </p:spPr>
      </p:cxnSp>
      <p:cxnSp>
        <p:nvCxnSpPr>
          <p:cNvPr id="47" name="U06-DG-044-branch_edge_4"/>
          <p:cNvCxnSpPr>
            <a:stCxn id="4" idx="2"/>
            <a:endCxn id="8" idx="0"/>
          </p:cNvCxnSpPr>
          <p:nvPr/>
        </p:nvCxnSpPr>
        <p:spPr>
          <a:xfrm>
            <a:off x="6096000" y="2667000"/>
            <a:ext cx="2167890" cy="952500"/>
          </a:xfrm>
          <a:prstGeom prst="bentConnector4">
            <a:avLst>
              <a:gd name="adj1" fmla="val 0"/>
              <a:gd name="adj2" fmla="val 50000"/>
            </a:avLst>
          </a:prstGeom>
          <a:ln w="28575">
            <a:solidFill>
              <a:srgbClr val="3D3D3D"/>
            </a:solidFill>
            <a:prstDash val="solid"/>
            <a:tailEnd type="arrow" w="med" len="med"/>
          </a:ln>
        </p:spPr>
      </p:cxnSp>
      <p:cxnSp>
        <p:nvCxnSpPr>
          <p:cNvPr id="48" name="U06-DG-044-branch_edge_5"/>
          <p:cNvCxnSpPr>
            <a:stCxn id="4" idx="3"/>
            <a:endCxn id="9" idx="1"/>
          </p:cNvCxnSpPr>
          <p:nvPr/>
        </p:nvCxnSpPr>
        <p:spPr>
          <a:xfrm>
            <a:off x="8477250" y="2024063"/>
            <a:ext cx="975360" cy="2500313"/>
          </a:xfrm>
          <a:prstGeom prst="bentConnector3">
            <a:avLst>
              <a:gd name="adj1" fmla="val 50000"/>
            </a:avLst>
          </a:prstGeom>
          <a:ln w="28575">
            <a:solidFill>
              <a:srgbClr val="3D3D3D"/>
            </a:solidFill>
            <a:prstDash val="solid"/>
            <a:tailEnd type="arrow" w="med" len="med"/>
          </a:ln>
        </p:spPr>
      </p:cxnSp>
      <p:sp>
        <p:nvSpPr>
          <p:cNvPr id="15" name="U06-DG-044-central-box" descr="Diagrama sobre «Hasta acá: movimiento común, funciones diferentes»; organiza tramo común + dos ramas + pregunta “¿dónde aparece lo eléctrico?”." title="Texto alternativo U06-081">
            <a:extLst>
              <a:ext uri="{FF2B5EF4-FFF2-40B4-BE49-F238E27FC236}">
                <a16:creationId xmlns:a16="http://schemas.microsoft.com/office/drawing/2014/main" id="{687BFD64-366A-4376-8E38-333EFCBD3DF6}"/>
              </a:ext>
            </a:extLst>
          </p:cNvPr>
          <p:cNvSpPr>
            <a:spLocks noGrp="1"/>
          </p:cNvSpPr>
          <p:nvPr/>
        </p:nvSpPr>
        <p:spPr>
          <a:xfrm>
            <a:off x="3714750" y="1381125"/>
            <a:ext cx="4762500" cy="1285875"/>
          </a:xfrm>
          <a:prstGeom prst="roundRect">
            <a:avLst>
              <a:gd name="adj" fmla="val 7407"/>
            </a:avLst>
          </a:prstGeom>
          <a:solidFill>
            <a:srgbClr val="F4E9EF"/>
          </a:solidFill>
          <a:ln w="19050">
            <a:solidFill>
              <a:srgbClr val="4D1434"/>
            </a:solidFill>
            <a:prstDash val="solid"/>
          </a:ln>
        </p:spPr>
      </p:sp>
      <p:sp>
        <p:nvSpPr>
          <p:cNvPr id="16" name="U06-DG-044-central-title">
            <a:extLst>
              <a:ext uri="{FF2B5EF4-FFF2-40B4-BE49-F238E27FC236}">
                <a16:creationId xmlns:a16="http://schemas.microsoft.com/office/drawing/2014/main" id="{85FBFBDA-54E2-4625-BF9F-4DD1C4DFDBCB}"/>
              </a:ext>
            </a:extLst>
          </p:cNvPr>
          <p:cNvSpPr>
            <a:spLocks noGrp="1"/>
          </p:cNvSpPr>
          <p:nvPr/>
        </p:nvSpPr>
        <p:spPr>
          <a:xfrm>
            <a:off x="3905250" y="1524000"/>
            <a:ext cx="4381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Deflexión del haz</a:t>
            </a:r>
          </a:p>
        </p:txBody>
      </p:sp>
      <p:sp>
        <p:nvSpPr>
          <p:cNvPr id="17" name="U06-DG-044-central-body">
            <a:extLst>
              <a:ext uri="{FF2B5EF4-FFF2-40B4-BE49-F238E27FC236}">
                <a16:creationId xmlns:a16="http://schemas.microsoft.com/office/drawing/2014/main" id="{9442316A-41BE-4E0C-ADE2-188D2A1779F8}"/>
              </a:ext>
            </a:extLst>
          </p:cNvPr>
          <p:cNvSpPr>
            <a:spLocks noGrp="1"/>
          </p:cNvSpPr>
          <p:nvPr/>
        </p:nvSpPr>
        <p:spPr>
          <a:xfrm>
            <a:off x="3905250" y="1971675"/>
            <a:ext cx="4381500" cy="600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tramo común</a:t>
            </a:r>
          </a:p>
        </p:txBody>
      </p:sp>
      <p:sp>
        <p:nvSpPr>
          <p:cNvPr id="18" name="U06-DG-044-branch_1-box">
            <a:extLst>
              <a:ext uri="{FF2B5EF4-FFF2-40B4-BE49-F238E27FC236}">
                <a16:creationId xmlns:a16="http://schemas.microsoft.com/office/drawing/2014/main" id="{2BBF0BCE-67D5-439F-B28D-7C74FA68DD77}"/>
              </a:ext>
            </a:extLst>
          </p:cNvPr>
          <p:cNvSpPr>
            <a:spLocks noGrp="1"/>
          </p:cNvSpPr>
          <p:nvPr/>
        </p:nvSpPr>
        <p:spPr>
          <a:xfrm>
            <a:off x="781050" y="3619500"/>
            <a:ext cx="1958340" cy="1809750"/>
          </a:xfrm>
          <a:prstGeom prst="roundRect">
            <a:avLst>
              <a:gd name="adj" fmla="val 5263"/>
            </a:avLst>
          </a:prstGeom>
          <a:solidFill>
            <a:srgbClr val="E7F1F1"/>
          </a:solidFill>
          <a:ln w="19050">
            <a:solidFill>
              <a:srgbClr val="2F7E83"/>
            </a:solidFill>
            <a:prstDash val="solid"/>
          </a:ln>
        </p:spPr>
      </p:sp>
      <p:sp>
        <p:nvSpPr>
          <p:cNvPr id="19" name="U06-DG-044-branch_1-title">
            <a:extLst>
              <a:ext uri="{FF2B5EF4-FFF2-40B4-BE49-F238E27FC236}">
                <a16:creationId xmlns:a16="http://schemas.microsoft.com/office/drawing/2014/main" id="{433ABE33-BA7C-4B0E-9A24-0ABCBF7036E4}"/>
              </a:ext>
            </a:extLst>
          </p:cNvPr>
          <p:cNvSpPr>
            <a:spLocks noGrp="1"/>
          </p:cNvSpPr>
          <p:nvPr/>
        </p:nvSpPr>
        <p:spPr>
          <a:xfrm>
            <a:off x="97155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Canales</a:t>
            </a:r>
          </a:p>
        </p:txBody>
      </p:sp>
      <p:sp>
        <p:nvSpPr>
          <p:cNvPr id="20" name="U06-DG-044-branch_1-body">
            <a:extLst>
              <a:ext uri="{FF2B5EF4-FFF2-40B4-BE49-F238E27FC236}">
                <a16:creationId xmlns:a16="http://schemas.microsoft.com/office/drawing/2014/main" id="{C0AE245A-F6DD-4AD7-9715-E9504A1A4779}"/>
              </a:ext>
            </a:extLst>
          </p:cNvPr>
          <p:cNvSpPr>
            <a:spLocks noGrp="1"/>
          </p:cNvSpPr>
          <p:nvPr/>
        </p:nvSpPr>
        <p:spPr>
          <a:xfrm>
            <a:off x="97155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transducen</a:t>
            </a:r>
          </a:p>
        </p:txBody>
      </p:sp>
      <p:sp>
        <p:nvSpPr>
          <p:cNvPr id="21" name="U06-DG-044-branch_2-box">
            <a:extLst>
              <a:ext uri="{FF2B5EF4-FFF2-40B4-BE49-F238E27FC236}">
                <a16:creationId xmlns:a16="http://schemas.microsoft.com/office/drawing/2014/main" id="{E7ADEAFC-689A-47D1-898C-A7862C7E3F66}"/>
              </a:ext>
            </a:extLst>
          </p:cNvPr>
          <p:cNvSpPr>
            <a:spLocks noGrp="1"/>
          </p:cNvSpPr>
          <p:nvPr/>
        </p:nvSpPr>
        <p:spPr>
          <a:xfrm>
            <a:off x="2948940" y="3619500"/>
            <a:ext cx="1958340" cy="1809750"/>
          </a:xfrm>
          <a:prstGeom prst="roundRect">
            <a:avLst>
              <a:gd name="adj" fmla="val 5263"/>
            </a:avLst>
          </a:prstGeom>
          <a:solidFill>
            <a:srgbClr val="F8EDE2"/>
          </a:solidFill>
          <a:ln w="19050">
            <a:solidFill>
              <a:srgbClr val="9F541A"/>
            </a:solidFill>
            <a:prstDash val="solid"/>
          </a:ln>
        </p:spPr>
      </p:sp>
      <p:sp>
        <p:nvSpPr>
          <p:cNvPr id="22" name="U06-DG-044-branch_2-title">
            <a:extLst>
              <a:ext uri="{FF2B5EF4-FFF2-40B4-BE49-F238E27FC236}">
                <a16:creationId xmlns:a16="http://schemas.microsoft.com/office/drawing/2014/main" id="{854D9DB5-C573-4369-B8A0-EE1E12F4B45D}"/>
              </a:ext>
            </a:extLst>
          </p:cNvPr>
          <p:cNvSpPr>
            <a:spLocks noGrp="1"/>
          </p:cNvSpPr>
          <p:nvPr/>
        </p:nvSpPr>
        <p:spPr>
          <a:xfrm>
            <a:off x="313944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CCI</a:t>
            </a:r>
          </a:p>
        </p:txBody>
      </p:sp>
      <p:sp>
        <p:nvSpPr>
          <p:cNvPr id="23" name="U06-DG-044-branch_2-body">
            <a:extLst>
              <a:ext uri="{FF2B5EF4-FFF2-40B4-BE49-F238E27FC236}">
                <a16:creationId xmlns:a16="http://schemas.microsoft.com/office/drawing/2014/main" id="{14A2D23B-85DE-46AA-B4AE-A277137BA20B}"/>
              </a:ext>
            </a:extLst>
          </p:cNvPr>
          <p:cNvSpPr>
            <a:spLocks noGrp="1"/>
          </p:cNvSpPr>
          <p:nvPr/>
        </p:nvSpPr>
        <p:spPr>
          <a:xfrm>
            <a:off x="313944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aferencia</a:t>
            </a:r>
          </a:p>
        </p:txBody>
      </p:sp>
      <p:sp>
        <p:nvSpPr>
          <p:cNvPr id="24" name="U06-DG-044-branch_3-box">
            <a:extLst>
              <a:ext uri="{FF2B5EF4-FFF2-40B4-BE49-F238E27FC236}">
                <a16:creationId xmlns:a16="http://schemas.microsoft.com/office/drawing/2014/main" id="{3306E52F-7E7B-4E56-80C2-78888B81ADD0}"/>
              </a:ext>
            </a:extLst>
          </p:cNvPr>
          <p:cNvSpPr>
            <a:spLocks noGrp="1"/>
          </p:cNvSpPr>
          <p:nvPr/>
        </p:nvSpPr>
        <p:spPr>
          <a:xfrm>
            <a:off x="5116830" y="3619500"/>
            <a:ext cx="1958340" cy="1809750"/>
          </a:xfrm>
          <a:prstGeom prst="roundRect">
            <a:avLst>
              <a:gd name="adj" fmla="val 5263"/>
            </a:avLst>
          </a:prstGeom>
          <a:solidFill>
            <a:srgbClr val="F8EDE2"/>
          </a:solidFill>
          <a:ln w="19050">
            <a:solidFill>
              <a:srgbClr val="9F541A"/>
            </a:solidFill>
            <a:prstDash val="solid"/>
          </a:ln>
        </p:spPr>
      </p:sp>
      <p:sp>
        <p:nvSpPr>
          <p:cNvPr id="25" name="U06-DG-044-branch_3-title">
            <a:extLst>
              <a:ext uri="{FF2B5EF4-FFF2-40B4-BE49-F238E27FC236}">
                <a16:creationId xmlns:a16="http://schemas.microsoft.com/office/drawing/2014/main" id="{CE7D8416-3742-43DC-99E7-EB60C964E73F}"/>
              </a:ext>
            </a:extLst>
          </p:cNvPr>
          <p:cNvSpPr>
            <a:spLocks noGrp="1"/>
          </p:cNvSpPr>
          <p:nvPr/>
        </p:nvSpPr>
        <p:spPr>
          <a:xfrm>
            <a:off x="530733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Fibra</a:t>
            </a:r>
          </a:p>
        </p:txBody>
      </p:sp>
      <p:sp>
        <p:nvSpPr>
          <p:cNvPr id="26" name="U06-DG-044-branch_3-body">
            <a:extLst>
              <a:ext uri="{FF2B5EF4-FFF2-40B4-BE49-F238E27FC236}">
                <a16:creationId xmlns:a16="http://schemas.microsoft.com/office/drawing/2014/main" id="{E3BB521E-7435-4A46-A36D-01FC770A4425}"/>
              </a:ext>
            </a:extLst>
          </p:cNvPr>
          <p:cNvSpPr>
            <a:spLocks noGrp="1"/>
          </p:cNvSpPr>
          <p:nvPr/>
        </p:nvSpPr>
        <p:spPr>
          <a:xfrm>
            <a:off x="530733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impulsos</a:t>
            </a:r>
          </a:p>
        </p:txBody>
      </p:sp>
      <p:sp>
        <p:nvSpPr>
          <p:cNvPr id="27" name="U06-DG-044-branch_4-box">
            <a:extLst>
              <a:ext uri="{FF2B5EF4-FFF2-40B4-BE49-F238E27FC236}">
                <a16:creationId xmlns:a16="http://schemas.microsoft.com/office/drawing/2014/main" id="{D1E7AF45-B10C-4B3F-8C0B-E052103749DE}"/>
              </a:ext>
            </a:extLst>
          </p:cNvPr>
          <p:cNvSpPr>
            <a:spLocks noGrp="1"/>
          </p:cNvSpPr>
          <p:nvPr/>
        </p:nvSpPr>
        <p:spPr>
          <a:xfrm>
            <a:off x="7284720" y="3619500"/>
            <a:ext cx="1958340" cy="1809750"/>
          </a:xfrm>
          <a:prstGeom prst="roundRect">
            <a:avLst>
              <a:gd name="adj" fmla="val 5263"/>
            </a:avLst>
          </a:prstGeom>
          <a:solidFill>
            <a:srgbClr val="E7F1F1"/>
          </a:solidFill>
          <a:ln w="19050">
            <a:solidFill>
              <a:srgbClr val="2F7E83"/>
            </a:solidFill>
            <a:prstDash val="solid"/>
          </a:ln>
        </p:spPr>
      </p:sp>
      <p:sp>
        <p:nvSpPr>
          <p:cNvPr id="28" name="U06-DG-044-branch_4-title">
            <a:extLst>
              <a:ext uri="{FF2B5EF4-FFF2-40B4-BE49-F238E27FC236}">
                <a16:creationId xmlns:a16="http://schemas.microsoft.com/office/drawing/2014/main" id="{B6D70CC7-6098-4CF1-84C9-BC5D460223FE}"/>
              </a:ext>
            </a:extLst>
          </p:cNvPr>
          <p:cNvSpPr>
            <a:spLocks noGrp="1"/>
          </p:cNvSpPr>
          <p:nvPr/>
        </p:nvSpPr>
        <p:spPr>
          <a:xfrm>
            <a:off x="747522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CCE</a:t>
            </a:r>
          </a:p>
        </p:txBody>
      </p:sp>
      <p:sp>
        <p:nvSpPr>
          <p:cNvPr id="29" name="U06-DG-044-branch_4-body">
            <a:extLst>
              <a:ext uri="{FF2B5EF4-FFF2-40B4-BE49-F238E27FC236}">
                <a16:creationId xmlns:a16="http://schemas.microsoft.com/office/drawing/2014/main" id="{82EC18AC-A767-4689-A68E-972B520E1BA2}"/>
              </a:ext>
            </a:extLst>
          </p:cNvPr>
          <p:cNvSpPr>
            <a:spLocks noGrp="1"/>
          </p:cNvSpPr>
          <p:nvPr/>
        </p:nvSpPr>
        <p:spPr>
          <a:xfrm>
            <a:off x="747522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movimiento</a:t>
            </a:r>
          </a:p>
        </p:txBody>
      </p:sp>
      <p:sp>
        <p:nvSpPr>
          <p:cNvPr id="30" name="U06-DG-044-branch_5-box">
            <a:extLst>
              <a:ext uri="{FF2B5EF4-FFF2-40B4-BE49-F238E27FC236}">
                <a16:creationId xmlns:a16="http://schemas.microsoft.com/office/drawing/2014/main" id="{82DF4409-3DB5-4BF9-885E-CF09B893D60D}"/>
              </a:ext>
            </a:extLst>
          </p:cNvPr>
          <p:cNvSpPr>
            <a:spLocks noGrp="1"/>
          </p:cNvSpPr>
          <p:nvPr/>
        </p:nvSpPr>
        <p:spPr>
          <a:xfrm>
            <a:off x="9452610" y="3619500"/>
            <a:ext cx="1958340" cy="1809750"/>
          </a:xfrm>
          <a:prstGeom prst="roundRect">
            <a:avLst>
              <a:gd name="adj" fmla="val 5263"/>
            </a:avLst>
          </a:prstGeom>
          <a:solidFill>
            <a:srgbClr val="E7F1F1"/>
          </a:solidFill>
          <a:ln w="19050">
            <a:solidFill>
              <a:srgbClr val="2F7E83"/>
            </a:solidFill>
            <a:prstDash val="solid"/>
          </a:ln>
        </p:spPr>
      </p:sp>
      <p:sp>
        <p:nvSpPr>
          <p:cNvPr id="31" name="U06-DG-044-branch_5-title">
            <a:extLst>
              <a:ext uri="{FF2B5EF4-FFF2-40B4-BE49-F238E27FC236}">
                <a16:creationId xmlns:a16="http://schemas.microsoft.com/office/drawing/2014/main" id="{D1E45803-A7DC-4313-96BA-256750E2B2A9}"/>
              </a:ext>
            </a:extLst>
          </p:cNvPr>
          <p:cNvSpPr>
            <a:spLocks noGrp="1"/>
          </p:cNvSpPr>
          <p:nvPr/>
        </p:nvSpPr>
        <p:spPr>
          <a:xfrm>
            <a:off x="9643110" y="3762375"/>
            <a:ext cx="157734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Mecánica</a:t>
            </a:r>
          </a:p>
        </p:txBody>
      </p:sp>
      <p:sp>
        <p:nvSpPr>
          <p:cNvPr id="32" name="U06-DG-044-branch_5-body">
            <a:extLst>
              <a:ext uri="{FF2B5EF4-FFF2-40B4-BE49-F238E27FC236}">
                <a16:creationId xmlns:a16="http://schemas.microsoft.com/office/drawing/2014/main" id="{6E4D9AF4-C107-4BBF-B4A5-7AFFC92E4C01}"/>
              </a:ext>
            </a:extLst>
          </p:cNvPr>
          <p:cNvSpPr>
            <a:spLocks noGrp="1"/>
          </p:cNvSpPr>
          <p:nvPr/>
        </p:nvSpPr>
        <p:spPr>
          <a:xfrm>
            <a:off x="9643110" y="4210050"/>
            <a:ext cx="157734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retorno</a:t>
            </a:r>
          </a:p>
        </p:txBody>
      </p:sp>
      <p:sp>
        <p:nvSpPr>
          <p:cNvPr id="33" name="caption">
            <a:extLst>
              <a:ext uri="{FF2B5EF4-FFF2-40B4-BE49-F238E27FC236}">
                <a16:creationId xmlns:a16="http://schemas.microsoft.com/office/drawing/2014/main" id="{D713A94B-EB50-46DC-9B14-238F1834D7A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misma deflexión inicia transducción; las consecuencias globales divergen.</a:t>
            </a:r>
          </a:p>
        </p:txBody>
      </p:sp>
      <p:sp>
        <p:nvSpPr>
          <p:cNvPr id="34" name="credit">
            <a:extLst>
              <a:ext uri="{FF2B5EF4-FFF2-40B4-BE49-F238E27FC236}">
                <a16:creationId xmlns:a16="http://schemas.microsoft.com/office/drawing/2014/main" id="{5B64C871-ACA8-41F3-8039-0B0CC2DF5C4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8E620DE9-0550-4AA7-8C2B-ACED7AF983E0}"/>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082</a:t>
            </a:r>
          </a:p>
        </p:txBody>
      </p:sp>
      <p:sp>
        <p:nvSpPr>
          <p:cNvPr id="2" name="divider-title">
            <a:extLst>
              <a:ext uri="{FF2B5EF4-FFF2-40B4-BE49-F238E27FC236}">
                <a16:creationId xmlns:a16="http://schemas.microsoft.com/office/drawing/2014/main" id="{BCF0B308-82DA-44FA-845F-B054014285D2}"/>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se convierte una deflexión en señal celular?</a:t>
            </a:r>
          </a:p>
        </p:txBody>
      </p:sp>
      <p:sp>
        <p:nvSpPr>
          <p:cNvPr id="3" name="divider-subtitle">
            <a:extLst>
              <a:ext uri="{FF2B5EF4-FFF2-40B4-BE49-F238E27FC236}">
                <a16:creationId xmlns:a16="http://schemas.microsoft.com/office/drawing/2014/main" id="{C5F0415C-4035-4D33-8E9B-351E62BCCE1C}"/>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¿Cómo pasa una deflexión mecánica a una respuesta celular y neural?</a:t>
            </a:r>
          </a:p>
        </p:txBody>
      </p:sp>
      <p:sp>
        <p:nvSpPr>
          <p:cNvPr id="4" name="divider-content">
            <a:extLst>
              <a:ext uri="{FF2B5EF4-FFF2-40B4-BE49-F238E27FC236}">
                <a16:creationId xmlns:a16="http://schemas.microsoft.com/office/drawing/2014/main" id="{D80E4BAC-B21E-433F-B428-B778BF41312F}"/>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¿Cómo pasa una deflexión mecánica a una respuesta celular y neural?</a:t>
            </a:r>
          </a:p>
        </p:txBody>
      </p:sp>
    </p:spTree>
    <p:extLst>
      <p:ext uri="{BB962C8B-B14F-4D97-AF65-F5344CB8AC3E}">
        <p14:creationId xmlns:p14="http://schemas.microsoft.com/office/powerpoint/2010/main" val="11649023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title">
            <a:extLst>
              <a:ext uri="{FF2B5EF4-FFF2-40B4-BE49-F238E27FC236}">
                <a16:creationId xmlns:a16="http://schemas.microsoft.com/office/drawing/2014/main" id="{27FE33CB-88DD-4BB9-824D-E9D3A7D1B08D}"/>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Cuatro potenciales no significan lo mismo</a:t>
            </a:r>
          </a:p>
        </p:txBody>
      </p:sp>
      <p:sp>
        <p:nvSpPr>
          <p:cNvPr id="2" name="slide-subtitle">
            <a:extLst>
              <a:ext uri="{FF2B5EF4-FFF2-40B4-BE49-F238E27FC236}">
                <a16:creationId xmlns:a16="http://schemas.microsoft.com/office/drawing/2014/main" id="{55C6AF3D-FD35-4234-BFA5-759C1AF8515C}"/>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Endococlear, reposo, receptor y acción se distinguen por ubicación, causa y función.</a:t>
            </a:r>
          </a:p>
        </p:txBody>
      </p:sp>
      <p:sp>
        <p:nvSpPr>
          <p:cNvPr id="3" name="eyebrow">
            <a:extLst>
              <a:ext uri="{FF2B5EF4-FFF2-40B4-BE49-F238E27FC236}">
                <a16:creationId xmlns:a16="http://schemas.microsoft.com/office/drawing/2014/main" id="{1AB627E0-0625-4F86-81E0-2354AA34D89F}"/>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083</a:t>
            </a:r>
          </a:p>
        </p:txBody>
      </p:sp>
      <p:sp>
        <p:nvSpPr>
          <p:cNvPr id="4" name="U06-DG-048-cell_1-anchor">
            <a:extLst>
              <a:ext uri="{FF2B5EF4-FFF2-40B4-BE49-F238E27FC236}">
                <a16:creationId xmlns:a16="http://schemas.microsoft.com/office/drawing/2014/main" id="{C4A5A424-1C51-41D7-AC13-062A2797789B}"/>
              </a:ext>
            </a:extLst>
          </p:cNvPr>
          <p:cNvSpPr>
            <a:spLocks noGrp="1"/>
          </p:cNvSpPr>
          <p:nvPr/>
        </p:nvSpPr>
        <p:spPr>
          <a:xfrm>
            <a:off x="781050" y="1571625"/>
            <a:ext cx="5148263" cy="1809750"/>
          </a:xfrm>
          <a:prstGeom prst="roundRect">
            <a:avLst>
              <a:gd name="adj" fmla="val 5263"/>
            </a:avLst>
          </a:prstGeom>
          <a:noFill/>
          <a:ln w="0">
            <a:noFill/>
            <a:prstDash val="solid"/>
          </a:ln>
        </p:spPr>
      </p:sp>
      <p:sp>
        <p:nvSpPr>
          <p:cNvPr id="5" name="U06-DG-048-cell_2-anchor">
            <a:extLst>
              <a:ext uri="{FF2B5EF4-FFF2-40B4-BE49-F238E27FC236}">
                <a16:creationId xmlns:a16="http://schemas.microsoft.com/office/drawing/2014/main" id="{BC09C090-1431-49E6-9F0D-3FF43726F12D}"/>
              </a:ext>
            </a:extLst>
          </p:cNvPr>
          <p:cNvSpPr>
            <a:spLocks noGrp="1"/>
          </p:cNvSpPr>
          <p:nvPr/>
        </p:nvSpPr>
        <p:spPr>
          <a:xfrm>
            <a:off x="6262688" y="1571625"/>
            <a:ext cx="5148263" cy="1809750"/>
          </a:xfrm>
          <a:prstGeom prst="roundRect">
            <a:avLst>
              <a:gd name="adj" fmla="val 5263"/>
            </a:avLst>
          </a:prstGeom>
          <a:noFill/>
          <a:ln w="0">
            <a:noFill/>
            <a:prstDash val="solid"/>
          </a:ln>
        </p:spPr>
      </p:sp>
      <p:sp>
        <p:nvSpPr>
          <p:cNvPr id="6" name="U06-DG-048-cell_3-anchor">
            <a:extLst>
              <a:ext uri="{FF2B5EF4-FFF2-40B4-BE49-F238E27FC236}">
                <a16:creationId xmlns:a16="http://schemas.microsoft.com/office/drawing/2014/main" id="{20A871CE-31E4-467A-ACCD-95298A32A6A0}"/>
              </a:ext>
            </a:extLst>
          </p:cNvPr>
          <p:cNvSpPr>
            <a:spLocks noGrp="1"/>
          </p:cNvSpPr>
          <p:nvPr/>
        </p:nvSpPr>
        <p:spPr>
          <a:xfrm>
            <a:off x="781050" y="3667125"/>
            <a:ext cx="5148263" cy="1809750"/>
          </a:xfrm>
          <a:prstGeom prst="roundRect">
            <a:avLst>
              <a:gd name="adj" fmla="val 5263"/>
            </a:avLst>
          </a:prstGeom>
          <a:noFill/>
          <a:ln w="0">
            <a:noFill/>
            <a:prstDash val="solid"/>
          </a:ln>
        </p:spPr>
      </p:sp>
      <p:sp>
        <p:nvSpPr>
          <p:cNvPr id="7" name="U06-DG-048-cell_4-anchor">
            <a:extLst>
              <a:ext uri="{FF2B5EF4-FFF2-40B4-BE49-F238E27FC236}">
                <a16:creationId xmlns:a16="http://schemas.microsoft.com/office/drawing/2014/main" id="{FDA97D2B-D6D0-4DB3-9BDA-F1F3550D8646}"/>
              </a:ext>
            </a:extLst>
          </p:cNvPr>
          <p:cNvSpPr>
            <a:spLocks noGrp="1"/>
          </p:cNvSpPr>
          <p:nvPr/>
        </p:nvSpPr>
        <p:spPr>
          <a:xfrm>
            <a:off x="6262688" y="3667125"/>
            <a:ext cx="5148263" cy="1809750"/>
          </a:xfrm>
          <a:prstGeom prst="roundRect">
            <a:avLst>
              <a:gd name="adj" fmla="val 5263"/>
            </a:avLst>
          </a:prstGeom>
          <a:noFill/>
          <a:ln w="0">
            <a:noFill/>
            <a:prstDash val="solid"/>
          </a:ln>
        </p:spPr>
      </p:sp>
      <p:sp>
        <p:nvSpPr>
          <p:cNvPr id="8" name="U06-DG-048-cell_1-box" descr="Diagrama sobre «Cuatro potenciales no significan lo mismo»; organiza mapa de términos con “dónde ocurre / qué lo genera / qué representa”." title="Texto alternativo U06-083">
            <a:extLst>
              <a:ext uri="{FF2B5EF4-FFF2-40B4-BE49-F238E27FC236}">
                <a16:creationId xmlns:a16="http://schemas.microsoft.com/office/drawing/2014/main" id="{4E3DCF55-0802-442B-B2BB-21A8808975EA}"/>
              </a:ext>
            </a:extLst>
          </p:cNvPr>
          <p:cNvSpPr>
            <a:spLocks noGrp="1"/>
          </p:cNvSpPr>
          <p:nvPr/>
        </p:nvSpPr>
        <p:spPr>
          <a:xfrm>
            <a:off x="781050" y="1571625"/>
            <a:ext cx="5148263" cy="1809750"/>
          </a:xfrm>
          <a:prstGeom prst="roundRect">
            <a:avLst>
              <a:gd name="adj" fmla="val 5263"/>
            </a:avLst>
          </a:prstGeom>
          <a:solidFill>
            <a:srgbClr val="E7F1F1"/>
          </a:solidFill>
          <a:ln w="19050">
            <a:solidFill>
              <a:srgbClr val="2F7E83"/>
            </a:solidFill>
            <a:prstDash val="solid"/>
          </a:ln>
        </p:spPr>
      </p:sp>
      <p:sp>
        <p:nvSpPr>
          <p:cNvPr id="9" name="U06-DG-048-cell_1-title">
            <a:extLst>
              <a:ext uri="{FF2B5EF4-FFF2-40B4-BE49-F238E27FC236}">
                <a16:creationId xmlns:a16="http://schemas.microsoft.com/office/drawing/2014/main" id="{3C293347-37E4-4D0D-9EB7-7690854E2D69}"/>
              </a:ext>
            </a:extLst>
          </p:cNvPr>
          <p:cNvSpPr>
            <a:spLocks noGrp="1"/>
          </p:cNvSpPr>
          <p:nvPr/>
        </p:nvSpPr>
        <p:spPr>
          <a:xfrm>
            <a:off x="971550"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Endococlear</a:t>
            </a:r>
          </a:p>
        </p:txBody>
      </p:sp>
      <p:sp>
        <p:nvSpPr>
          <p:cNvPr id="10" name="U06-DG-048-cell_1-body">
            <a:extLst>
              <a:ext uri="{FF2B5EF4-FFF2-40B4-BE49-F238E27FC236}">
                <a16:creationId xmlns:a16="http://schemas.microsoft.com/office/drawing/2014/main" id="{16E8933A-5C17-4637-AFAE-DAD5BFED576D}"/>
              </a:ext>
            </a:extLst>
          </p:cNvPr>
          <p:cNvSpPr>
            <a:spLocks noGrp="1"/>
          </p:cNvSpPr>
          <p:nvPr/>
        </p:nvSpPr>
        <p:spPr>
          <a:xfrm>
            <a:off x="971550"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endolinfa gradiente</a:t>
            </a:r>
          </a:p>
        </p:txBody>
      </p:sp>
      <p:sp>
        <p:nvSpPr>
          <p:cNvPr id="11" name="U06-DG-048-cell_2-box">
            <a:extLst>
              <a:ext uri="{FF2B5EF4-FFF2-40B4-BE49-F238E27FC236}">
                <a16:creationId xmlns:a16="http://schemas.microsoft.com/office/drawing/2014/main" id="{EA1C85D8-9AC3-4CB3-9EAA-8478FEC0FEFB}"/>
              </a:ext>
            </a:extLst>
          </p:cNvPr>
          <p:cNvSpPr>
            <a:spLocks noGrp="1"/>
          </p:cNvSpPr>
          <p:nvPr/>
        </p:nvSpPr>
        <p:spPr>
          <a:xfrm>
            <a:off x="6262688" y="1571625"/>
            <a:ext cx="5148263" cy="1809750"/>
          </a:xfrm>
          <a:prstGeom prst="roundRect">
            <a:avLst>
              <a:gd name="adj" fmla="val 5263"/>
            </a:avLst>
          </a:prstGeom>
          <a:solidFill>
            <a:srgbClr val="F7F6F2"/>
          </a:solidFill>
          <a:ln w="19050">
            <a:solidFill>
              <a:srgbClr val="969FA7"/>
            </a:solidFill>
            <a:prstDash val="solid"/>
          </a:ln>
        </p:spPr>
      </p:sp>
      <p:sp>
        <p:nvSpPr>
          <p:cNvPr id="12" name="U06-DG-048-cell_2-title">
            <a:extLst>
              <a:ext uri="{FF2B5EF4-FFF2-40B4-BE49-F238E27FC236}">
                <a16:creationId xmlns:a16="http://schemas.microsoft.com/office/drawing/2014/main" id="{E793E1AC-D262-406F-B496-31140FECD538}"/>
              </a:ext>
            </a:extLst>
          </p:cNvPr>
          <p:cNvSpPr>
            <a:spLocks noGrp="1"/>
          </p:cNvSpPr>
          <p:nvPr/>
        </p:nvSpPr>
        <p:spPr>
          <a:xfrm>
            <a:off x="6453188"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De reposo</a:t>
            </a:r>
          </a:p>
        </p:txBody>
      </p:sp>
      <p:sp>
        <p:nvSpPr>
          <p:cNvPr id="13" name="U06-DG-048-cell_2-body">
            <a:extLst>
              <a:ext uri="{FF2B5EF4-FFF2-40B4-BE49-F238E27FC236}">
                <a16:creationId xmlns:a16="http://schemas.microsoft.com/office/drawing/2014/main" id="{F839D84D-B850-4B60-BFEB-C3700E4D5A1E}"/>
              </a:ext>
            </a:extLst>
          </p:cNvPr>
          <p:cNvSpPr>
            <a:spLocks noGrp="1"/>
          </p:cNvSpPr>
          <p:nvPr/>
        </p:nvSpPr>
        <p:spPr>
          <a:xfrm>
            <a:off x="6453188"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interior celular referido afuera</a:t>
            </a:r>
          </a:p>
        </p:txBody>
      </p:sp>
      <p:sp>
        <p:nvSpPr>
          <p:cNvPr id="14" name="U06-DG-048-cell_3-box">
            <a:extLst>
              <a:ext uri="{FF2B5EF4-FFF2-40B4-BE49-F238E27FC236}">
                <a16:creationId xmlns:a16="http://schemas.microsoft.com/office/drawing/2014/main" id="{6AA31241-5FAC-495D-9ED3-489D8942CBE9}"/>
              </a:ext>
            </a:extLst>
          </p:cNvPr>
          <p:cNvSpPr>
            <a:spLocks noGrp="1"/>
          </p:cNvSpPr>
          <p:nvPr/>
        </p:nvSpPr>
        <p:spPr>
          <a:xfrm>
            <a:off x="781050" y="3667125"/>
            <a:ext cx="5148263" cy="1809750"/>
          </a:xfrm>
          <a:prstGeom prst="roundRect">
            <a:avLst>
              <a:gd name="adj" fmla="val 5263"/>
            </a:avLst>
          </a:prstGeom>
          <a:solidFill>
            <a:srgbClr val="F4E9EF"/>
          </a:solidFill>
          <a:ln w="19050">
            <a:solidFill>
              <a:srgbClr val="4D1434"/>
            </a:solidFill>
            <a:prstDash val="solid"/>
          </a:ln>
        </p:spPr>
      </p:sp>
      <p:sp>
        <p:nvSpPr>
          <p:cNvPr id="15" name="U06-DG-048-cell_3-title">
            <a:extLst>
              <a:ext uri="{FF2B5EF4-FFF2-40B4-BE49-F238E27FC236}">
                <a16:creationId xmlns:a16="http://schemas.microsoft.com/office/drawing/2014/main" id="{D5EF0161-AB9B-4591-B8DE-ECD91C84FCEB}"/>
              </a:ext>
            </a:extLst>
          </p:cNvPr>
          <p:cNvSpPr>
            <a:spLocks noGrp="1"/>
          </p:cNvSpPr>
          <p:nvPr/>
        </p:nvSpPr>
        <p:spPr>
          <a:xfrm>
            <a:off x="971550"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Receptor</a:t>
            </a:r>
          </a:p>
        </p:txBody>
      </p:sp>
      <p:sp>
        <p:nvSpPr>
          <p:cNvPr id="16" name="U06-DG-048-cell_3-body">
            <a:extLst>
              <a:ext uri="{FF2B5EF4-FFF2-40B4-BE49-F238E27FC236}">
                <a16:creationId xmlns:a16="http://schemas.microsoft.com/office/drawing/2014/main" id="{2DECFD0A-8CE4-45F7-9BDD-9C6FCB269BB8}"/>
              </a:ext>
            </a:extLst>
          </p:cNvPr>
          <p:cNvSpPr>
            <a:spLocks noGrp="1"/>
          </p:cNvSpPr>
          <p:nvPr/>
        </p:nvSpPr>
        <p:spPr>
          <a:xfrm>
            <a:off x="971550"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célula ciliada graduado</a:t>
            </a:r>
          </a:p>
        </p:txBody>
      </p:sp>
      <p:sp>
        <p:nvSpPr>
          <p:cNvPr id="17" name="U06-DG-048-cell_4-box">
            <a:extLst>
              <a:ext uri="{FF2B5EF4-FFF2-40B4-BE49-F238E27FC236}">
                <a16:creationId xmlns:a16="http://schemas.microsoft.com/office/drawing/2014/main" id="{2A3C02A5-0913-401C-9C58-F3DE3B8949B7}"/>
              </a:ext>
            </a:extLst>
          </p:cNvPr>
          <p:cNvSpPr>
            <a:spLocks noGrp="1"/>
          </p:cNvSpPr>
          <p:nvPr/>
        </p:nvSpPr>
        <p:spPr>
          <a:xfrm>
            <a:off x="6262688" y="3667125"/>
            <a:ext cx="5148263" cy="1809750"/>
          </a:xfrm>
          <a:prstGeom prst="roundRect">
            <a:avLst>
              <a:gd name="adj" fmla="val 5263"/>
            </a:avLst>
          </a:prstGeom>
          <a:solidFill>
            <a:srgbClr val="F8EDE2"/>
          </a:solidFill>
          <a:ln w="19050">
            <a:solidFill>
              <a:srgbClr val="9F541A"/>
            </a:solidFill>
            <a:prstDash val="solid"/>
          </a:ln>
        </p:spPr>
      </p:sp>
      <p:sp>
        <p:nvSpPr>
          <p:cNvPr id="18" name="U06-DG-048-cell_4-title">
            <a:extLst>
              <a:ext uri="{FF2B5EF4-FFF2-40B4-BE49-F238E27FC236}">
                <a16:creationId xmlns:a16="http://schemas.microsoft.com/office/drawing/2014/main" id="{FFBEC7BE-FAA6-4A80-8678-7625A65D6604}"/>
              </a:ext>
            </a:extLst>
          </p:cNvPr>
          <p:cNvSpPr>
            <a:spLocks noGrp="1"/>
          </p:cNvSpPr>
          <p:nvPr/>
        </p:nvSpPr>
        <p:spPr>
          <a:xfrm>
            <a:off x="6453188"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De acción</a:t>
            </a:r>
          </a:p>
        </p:txBody>
      </p:sp>
      <p:sp>
        <p:nvSpPr>
          <p:cNvPr id="19" name="U06-DG-048-cell_4-body">
            <a:extLst>
              <a:ext uri="{FF2B5EF4-FFF2-40B4-BE49-F238E27FC236}">
                <a16:creationId xmlns:a16="http://schemas.microsoft.com/office/drawing/2014/main" id="{C5C30AAF-6E26-48CA-9ABB-ED1056837E4A}"/>
              </a:ext>
            </a:extLst>
          </p:cNvPr>
          <p:cNvSpPr>
            <a:spLocks noGrp="1"/>
          </p:cNvSpPr>
          <p:nvPr/>
        </p:nvSpPr>
        <p:spPr>
          <a:xfrm>
            <a:off x="6453188"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fibra aferente impulsos</a:t>
            </a:r>
          </a:p>
        </p:txBody>
      </p:sp>
      <p:sp>
        <p:nvSpPr>
          <p:cNvPr id="20" name="caption">
            <a:extLst>
              <a:ext uri="{FF2B5EF4-FFF2-40B4-BE49-F238E27FC236}">
                <a16:creationId xmlns:a16="http://schemas.microsoft.com/office/drawing/2014/main" id="{3407CA63-C639-43F2-9B69-8EC745087AEC}"/>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Endococlear, reposo, receptor y acción se distinguen por ubicación, causa y func…</a:t>
            </a:r>
          </a:p>
        </p:txBody>
      </p:sp>
      <p:sp>
        <p:nvSpPr>
          <p:cNvPr id="21" name="credit">
            <a:extLst>
              <a:ext uri="{FF2B5EF4-FFF2-40B4-BE49-F238E27FC236}">
                <a16:creationId xmlns:a16="http://schemas.microsoft.com/office/drawing/2014/main" id="{5F074B97-E341-4716-9B47-FC0113AF52F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D4355052-88D9-47D4-BA52-C3190B66DCA1}"/>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El potencial endococlear sostiene un gradiente en la rampa media</a:t>
            </a:r>
          </a:p>
        </p:txBody>
      </p:sp>
      <p:sp>
        <p:nvSpPr>
          <p:cNvPr id="2" name="eyebrow">
            <a:extLst>
              <a:ext uri="{FF2B5EF4-FFF2-40B4-BE49-F238E27FC236}">
                <a16:creationId xmlns:a16="http://schemas.microsoft.com/office/drawing/2014/main" id="{51259A54-6B45-4F07-B9F6-D8BE05CDD3F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084</a:t>
            </a:r>
          </a:p>
        </p:txBody>
      </p:sp>
      <p:sp>
        <p:nvSpPr>
          <p:cNvPr id="3" name="U06-DG-049-layer_1-anchor">
            <a:extLst>
              <a:ext uri="{FF2B5EF4-FFF2-40B4-BE49-F238E27FC236}">
                <a16:creationId xmlns:a16="http://schemas.microsoft.com/office/drawing/2014/main" id="{4D40AA98-8873-4279-BDD1-4132D9744C11}"/>
              </a:ext>
            </a:extLst>
          </p:cNvPr>
          <p:cNvSpPr>
            <a:spLocks noGrp="1"/>
          </p:cNvSpPr>
          <p:nvPr/>
        </p:nvSpPr>
        <p:spPr>
          <a:xfrm>
            <a:off x="1714500" y="1276350"/>
            <a:ext cx="8763000" cy="1384300"/>
          </a:xfrm>
          <a:prstGeom prst="roundRect">
            <a:avLst>
              <a:gd name="adj" fmla="val 6881"/>
            </a:avLst>
          </a:prstGeom>
          <a:noFill/>
          <a:ln w="0">
            <a:noFill/>
            <a:prstDash val="solid"/>
          </a:ln>
        </p:spPr>
      </p:sp>
      <p:sp>
        <p:nvSpPr>
          <p:cNvPr id="4" name="U06-DG-049-layer_2-anchor">
            <a:extLst>
              <a:ext uri="{FF2B5EF4-FFF2-40B4-BE49-F238E27FC236}">
                <a16:creationId xmlns:a16="http://schemas.microsoft.com/office/drawing/2014/main" id="{0F6BA883-C246-4A15-B512-90A80A457D41}"/>
              </a:ext>
            </a:extLst>
          </p:cNvPr>
          <p:cNvSpPr>
            <a:spLocks noGrp="1"/>
          </p:cNvSpPr>
          <p:nvPr/>
        </p:nvSpPr>
        <p:spPr>
          <a:xfrm>
            <a:off x="1714500" y="2755900"/>
            <a:ext cx="8763000" cy="1384300"/>
          </a:xfrm>
          <a:prstGeom prst="roundRect">
            <a:avLst>
              <a:gd name="adj" fmla="val 6881"/>
            </a:avLst>
          </a:prstGeom>
          <a:noFill/>
          <a:ln w="0">
            <a:noFill/>
            <a:prstDash val="solid"/>
          </a:ln>
        </p:spPr>
      </p:sp>
      <p:sp>
        <p:nvSpPr>
          <p:cNvPr id="5" name="U06-DG-049-layer_3-anchor">
            <a:extLst>
              <a:ext uri="{FF2B5EF4-FFF2-40B4-BE49-F238E27FC236}">
                <a16:creationId xmlns:a16="http://schemas.microsoft.com/office/drawing/2014/main" id="{268261C6-B347-4C12-98E4-A0921491041D}"/>
              </a:ext>
            </a:extLst>
          </p:cNvPr>
          <p:cNvSpPr>
            <a:spLocks noGrp="1"/>
          </p:cNvSpPr>
          <p:nvPr/>
        </p:nvSpPr>
        <p:spPr>
          <a:xfrm>
            <a:off x="1714500" y="4235450"/>
            <a:ext cx="8763000" cy="1384300"/>
          </a:xfrm>
          <a:prstGeom prst="roundRect">
            <a:avLst>
              <a:gd name="adj" fmla="val 6881"/>
            </a:avLst>
          </a:prstGeom>
          <a:noFill/>
          <a:ln w="0">
            <a:noFill/>
            <a:prstDash val="solid"/>
          </a:ln>
        </p:spPr>
      </p:sp>
      <p:sp>
        <p:nvSpPr>
          <p:cNvPr id="6" name="U06-DG-049-layer_1-box" descr="Diagrama sobre «El potencial endococlear sostiene un gradiente en la rampa media»; organiza ubicación, polaridad relativa, función y advertencia sobre referencia de medida." title="Texto alternativo U06-084">
            <a:extLst>
              <a:ext uri="{FF2B5EF4-FFF2-40B4-BE49-F238E27FC236}">
                <a16:creationId xmlns:a16="http://schemas.microsoft.com/office/drawing/2014/main" id="{DAE5EC05-FE30-4039-A5AD-ACC348C74D74}"/>
              </a:ext>
            </a:extLst>
          </p:cNvPr>
          <p:cNvSpPr>
            <a:spLocks noGrp="1"/>
          </p:cNvSpPr>
          <p:nvPr/>
        </p:nvSpPr>
        <p:spPr>
          <a:xfrm>
            <a:off x="1714500" y="1276350"/>
            <a:ext cx="8763000" cy="1384300"/>
          </a:xfrm>
          <a:prstGeom prst="roundRect">
            <a:avLst>
              <a:gd name="adj" fmla="val 6881"/>
            </a:avLst>
          </a:prstGeom>
          <a:solidFill>
            <a:srgbClr val="F4E9EF"/>
          </a:solidFill>
          <a:ln w="19050">
            <a:solidFill>
              <a:srgbClr val="4D1434"/>
            </a:solidFill>
            <a:prstDash val="solid"/>
          </a:ln>
        </p:spPr>
      </p:sp>
      <p:sp>
        <p:nvSpPr>
          <p:cNvPr id="7" name="U06-DG-049-layer_1-title">
            <a:extLst>
              <a:ext uri="{FF2B5EF4-FFF2-40B4-BE49-F238E27FC236}">
                <a16:creationId xmlns:a16="http://schemas.microsoft.com/office/drawing/2014/main" id="{13FC78DC-4F97-4E9B-8EF5-85814D58D76F}"/>
              </a:ext>
            </a:extLst>
          </p:cNvPr>
          <p:cNvSpPr>
            <a:spLocks noGrp="1"/>
          </p:cNvSpPr>
          <p:nvPr/>
        </p:nvSpPr>
        <p:spPr>
          <a:xfrm>
            <a:off x="1905000" y="1419225"/>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Endolinfa</a:t>
            </a:r>
          </a:p>
        </p:txBody>
      </p:sp>
      <p:sp>
        <p:nvSpPr>
          <p:cNvPr id="8" name="U06-DG-049-layer_1-body">
            <a:extLst>
              <a:ext uri="{FF2B5EF4-FFF2-40B4-BE49-F238E27FC236}">
                <a16:creationId xmlns:a16="http://schemas.microsoft.com/office/drawing/2014/main" id="{9A7AFE78-C435-461F-B31F-9855FADBE953}"/>
              </a:ext>
            </a:extLst>
          </p:cNvPr>
          <p:cNvSpPr>
            <a:spLocks noGrp="1"/>
          </p:cNvSpPr>
          <p:nvPr/>
        </p:nvSpPr>
        <p:spPr>
          <a:xfrm>
            <a:off x="1905000" y="1866900"/>
            <a:ext cx="8382000" cy="6985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positiva respecto de V_ref</a:t>
            </a:r>
          </a:p>
        </p:txBody>
      </p:sp>
      <p:sp>
        <p:nvSpPr>
          <p:cNvPr id="9" name="U06-DG-049-layer_2-box">
            <a:extLst>
              <a:ext uri="{FF2B5EF4-FFF2-40B4-BE49-F238E27FC236}">
                <a16:creationId xmlns:a16="http://schemas.microsoft.com/office/drawing/2014/main" id="{2A009843-8D07-493A-A582-716FB8D08F7B}"/>
              </a:ext>
            </a:extLst>
          </p:cNvPr>
          <p:cNvSpPr>
            <a:spLocks noGrp="1"/>
          </p:cNvSpPr>
          <p:nvPr/>
        </p:nvSpPr>
        <p:spPr>
          <a:xfrm>
            <a:off x="1714500" y="2755900"/>
            <a:ext cx="8763000" cy="1384300"/>
          </a:xfrm>
          <a:prstGeom prst="roundRect">
            <a:avLst>
              <a:gd name="adj" fmla="val 6881"/>
            </a:avLst>
          </a:prstGeom>
          <a:solidFill>
            <a:srgbClr val="F8EDE2"/>
          </a:solidFill>
          <a:ln w="19050">
            <a:solidFill>
              <a:srgbClr val="9F541A"/>
            </a:solidFill>
            <a:prstDash val="solid"/>
          </a:ln>
        </p:spPr>
      </p:sp>
      <p:sp>
        <p:nvSpPr>
          <p:cNvPr id="10" name="U06-DG-049-layer_2-title">
            <a:extLst>
              <a:ext uri="{FF2B5EF4-FFF2-40B4-BE49-F238E27FC236}">
                <a16:creationId xmlns:a16="http://schemas.microsoft.com/office/drawing/2014/main" id="{FFEEE872-B62B-4DA3-A02E-AACEBE3654C8}"/>
              </a:ext>
            </a:extLst>
          </p:cNvPr>
          <p:cNvSpPr>
            <a:spLocks noGrp="1"/>
          </p:cNvSpPr>
          <p:nvPr/>
        </p:nvSpPr>
        <p:spPr>
          <a:xfrm>
            <a:off x="1905000" y="2898775"/>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Célula ciliada</a:t>
            </a:r>
          </a:p>
        </p:txBody>
      </p:sp>
      <p:sp>
        <p:nvSpPr>
          <p:cNvPr id="11" name="U06-DG-049-layer_2-body">
            <a:extLst>
              <a:ext uri="{FF2B5EF4-FFF2-40B4-BE49-F238E27FC236}">
                <a16:creationId xmlns:a16="http://schemas.microsoft.com/office/drawing/2014/main" id="{E649233D-EE80-42AD-803B-D7771A7E9560}"/>
              </a:ext>
            </a:extLst>
          </p:cNvPr>
          <p:cNvSpPr>
            <a:spLocks noGrp="1"/>
          </p:cNvSpPr>
          <p:nvPr/>
        </p:nvSpPr>
        <p:spPr>
          <a:xfrm>
            <a:off x="1905000" y="3346450"/>
            <a:ext cx="8382000" cy="6985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interior celular</a:t>
            </a:r>
          </a:p>
        </p:txBody>
      </p:sp>
      <p:sp>
        <p:nvSpPr>
          <p:cNvPr id="12" name="U06-DG-049-layer_3-box">
            <a:extLst>
              <a:ext uri="{FF2B5EF4-FFF2-40B4-BE49-F238E27FC236}">
                <a16:creationId xmlns:a16="http://schemas.microsoft.com/office/drawing/2014/main" id="{54C1F2F0-46C6-4112-ACC0-5E333D740680}"/>
              </a:ext>
            </a:extLst>
          </p:cNvPr>
          <p:cNvSpPr>
            <a:spLocks noGrp="1"/>
          </p:cNvSpPr>
          <p:nvPr/>
        </p:nvSpPr>
        <p:spPr>
          <a:xfrm>
            <a:off x="1714500" y="4235450"/>
            <a:ext cx="8763000" cy="1384300"/>
          </a:xfrm>
          <a:prstGeom prst="roundRect">
            <a:avLst>
              <a:gd name="adj" fmla="val 6881"/>
            </a:avLst>
          </a:prstGeom>
          <a:solidFill>
            <a:srgbClr val="E7F1F1"/>
          </a:solidFill>
          <a:ln w="19050">
            <a:solidFill>
              <a:srgbClr val="2F7E83"/>
            </a:solidFill>
            <a:prstDash val="solid"/>
          </a:ln>
        </p:spPr>
      </p:sp>
      <p:sp>
        <p:nvSpPr>
          <p:cNvPr id="13" name="U06-DG-049-layer_3-title">
            <a:extLst>
              <a:ext uri="{FF2B5EF4-FFF2-40B4-BE49-F238E27FC236}">
                <a16:creationId xmlns:a16="http://schemas.microsoft.com/office/drawing/2014/main" id="{759A4407-6F2B-45EC-83A4-853F5EEC1E64}"/>
              </a:ext>
            </a:extLst>
          </p:cNvPr>
          <p:cNvSpPr>
            <a:spLocks noGrp="1"/>
          </p:cNvSpPr>
          <p:nvPr/>
        </p:nvSpPr>
        <p:spPr>
          <a:xfrm>
            <a:off x="1905000" y="4378325"/>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Perilinfa / referencia</a:t>
            </a:r>
          </a:p>
        </p:txBody>
      </p:sp>
      <p:sp>
        <p:nvSpPr>
          <p:cNvPr id="14" name="U06-DG-049-layer_3-body">
            <a:extLst>
              <a:ext uri="{FF2B5EF4-FFF2-40B4-BE49-F238E27FC236}">
                <a16:creationId xmlns:a16="http://schemas.microsoft.com/office/drawing/2014/main" id="{D776729C-0487-48E0-82F8-57D4F7BFA3C8}"/>
              </a:ext>
            </a:extLst>
          </p:cNvPr>
          <p:cNvSpPr>
            <a:spLocks noGrp="1"/>
          </p:cNvSpPr>
          <p:nvPr/>
        </p:nvSpPr>
        <p:spPr>
          <a:xfrm>
            <a:off x="1905000" y="4826000"/>
            <a:ext cx="8382000" cy="6985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V_ref</a:t>
            </a:r>
          </a:p>
        </p:txBody>
      </p:sp>
      <p:sp>
        <p:nvSpPr>
          <p:cNvPr id="15" name="caption">
            <a:extLst>
              <a:ext uri="{FF2B5EF4-FFF2-40B4-BE49-F238E27FC236}">
                <a16:creationId xmlns:a16="http://schemas.microsoft.com/office/drawing/2014/main" id="{EE49D0F5-961B-4864-B371-5B96DF57AB24}"/>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endolinfa posee un potencial positivo respecto de referencias extracocleares…</a:t>
            </a:r>
          </a:p>
        </p:txBody>
      </p:sp>
      <p:sp>
        <p:nvSpPr>
          <p:cNvPr id="16" name="credit">
            <a:extLst>
              <a:ext uri="{FF2B5EF4-FFF2-40B4-BE49-F238E27FC236}">
                <a16:creationId xmlns:a16="http://schemas.microsoft.com/office/drawing/2014/main" id="{42041616-3182-4537-9AFC-61C903E65C0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9866304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EBDCB8F5-6F04-4D69-B37E-DFB8E197B967}"/>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Potencial de reposo: estado basal de la célula</a:t>
            </a:r>
          </a:p>
        </p:txBody>
      </p:sp>
      <p:sp>
        <p:nvSpPr>
          <p:cNvPr id="2" name="slide-subtitle">
            <a:extLst>
              <a:ext uri="{FF2B5EF4-FFF2-40B4-BE49-F238E27FC236}">
                <a16:creationId xmlns:a16="http://schemas.microsoft.com/office/drawing/2014/main" id="{828D0A3C-6972-493A-B9D3-1DD5CB6832A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Debe definirse como condición eléctrica basal, distinta del potencial endococlear y del potencial receptor.</a:t>
            </a:r>
          </a:p>
        </p:txBody>
      </p:sp>
      <p:sp>
        <p:nvSpPr>
          <p:cNvPr id="3" name="eyebrow">
            <a:extLst>
              <a:ext uri="{FF2B5EF4-FFF2-40B4-BE49-F238E27FC236}">
                <a16:creationId xmlns:a16="http://schemas.microsoft.com/office/drawing/2014/main" id="{74D57C67-E658-4FA4-B779-83E1147EF082}"/>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085</a:t>
            </a:r>
          </a:p>
        </p:txBody>
      </p:sp>
      <p:sp>
        <p:nvSpPr>
          <p:cNvPr id="4" name="blocked-frame">
            <a:extLst>
              <a:ext uri="{FF2B5EF4-FFF2-40B4-BE49-F238E27FC236}">
                <a16:creationId xmlns:a16="http://schemas.microsoft.com/office/drawing/2014/main" id="{3DE9B608-36B5-4F0C-B7D7-7ED4F42FCD5B}"/>
              </a:ext>
            </a:extLst>
          </p:cNvPr>
          <p:cNvSpPr>
            <a:spLocks noGrp="1"/>
          </p:cNvSpPr>
          <p:nvPr/>
        </p:nvSpPr>
        <p:spPr>
          <a:xfrm>
            <a:off x="1476375" y="1762125"/>
            <a:ext cx="9239250" cy="3143250"/>
          </a:xfrm>
          <a:prstGeom prst="roundRect">
            <a:avLst>
              <a:gd name="adj" fmla="val 3636"/>
            </a:avLst>
          </a:prstGeom>
          <a:solidFill>
            <a:srgbClr val="F7F6F2"/>
          </a:solidFill>
          <a:ln w="19050">
            <a:solidFill>
              <a:srgbClr val="969FA7"/>
            </a:solidFill>
            <a:prstDash val="solid"/>
          </a:ln>
        </p:spPr>
      </p:sp>
      <p:sp>
        <p:nvSpPr>
          <p:cNvPr id="5" name="blocked-heading">
            <a:extLst>
              <a:ext uri="{FF2B5EF4-FFF2-40B4-BE49-F238E27FC236}">
                <a16:creationId xmlns:a16="http://schemas.microsoft.com/office/drawing/2014/main" id="{C8B403BB-6D7A-49A2-9517-E46584139974}"/>
              </a:ext>
            </a:extLst>
          </p:cNvPr>
          <p:cNvSpPr>
            <a:spLocks noGrp="1"/>
          </p:cNvSpPr>
          <p:nvPr/>
        </p:nvSpPr>
        <p:spPr>
          <a:xfrm>
            <a:off x="1952625" y="2190750"/>
            <a:ext cx="8286750" cy="523875"/>
          </a:xfrm>
          <a:prstGeom prst="rect">
            <a:avLst/>
          </a:prstGeom>
          <a:noFill/>
          <a:ln w="0">
            <a:noFill/>
            <a:prstDash val="solid"/>
          </a:ln>
        </p:spPr>
        <p:txBody>
          <a:bodyPr wrap="square" lIns="57150" tIns="38100" rIns="57150" bIns="38100" anchor="t">
            <a:noAutofit/>
          </a:bodyPr>
          <a:lstStyle/>
          <a:p>
            <a:pPr algn="ctr">
              <a:lnSpc>
                <a:spcPct val="102000"/>
              </a:lnSpc>
              <a:buNone/>
              <a:defRPr sz="2550" b="1" i="0">
                <a:solidFill>
                  <a:srgbClr val="4D1434"/>
                </a:solidFill>
                <a:latin typeface="Calibri"/>
                <a:ea typeface="Calibri"/>
                <a:cs typeface="Calibri"/>
              </a:defRPr>
            </a:pPr>
            <a:r>
              <a:rPr sz="2550" b="1" i="0">
                <a:solidFill>
                  <a:srgbClr val="4D1434"/>
                </a:solidFill>
                <a:latin typeface="Calibri"/>
                <a:ea typeface="Calibri"/>
                <a:cs typeface="Calibri"/>
              </a:rPr>
              <a:t>Material de respaldo no habilitado para proyección</a:t>
            </a:r>
          </a:p>
        </p:txBody>
      </p:sp>
      <p:sp>
        <p:nvSpPr>
          <p:cNvPr id="6" name="blocked-message">
            <a:extLst>
              <a:ext uri="{FF2B5EF4-FFF2-40B4-BE49-F238E27FC236}">
                <a16:creationId xmlns:a16="http://schemas.microsoft.com/office/drawing/2014/main" id="{F0A14148-ABF3-4B43-AC7D-3D02CD7E1DE9}"/>
              </a:ext>
            </a:extLst>
          </p:cNvPr>
          <p:cNvSpPr>
            <a:spLocks noGrp="1"/>
          </p:cNvSpPr>
          <p:nvPr/>
        </p:nvSpPr>
        <p:spPr>
          <a:xfrm>
            <a:off x="2238375" y="3095625"/>
            <a:ext cx="7715250" cy="1000125"/>
          </a:xfrm>
          <a:prstGeom prst="rect">
            <a:avLst/>
          </a:prstGeom>
          <a:noFill/>
          <a:ln w="0">
            <a:noFill/>
            <a:prstDash val="solid"/>
          </a:ln>
        </p:spPr>
        <p:txBody>
          <a:bodyPr wrap="square" lIns="57150" tIns="38100" rIns="57150" bIns="38100" anchor="ctr">
            <a:noAutofit/>
          </a:bodyPr>
          <a:lstStyle/>
          <a:p>
            <a:pPr algn="ctr">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La definición y el rotulado requieren una fuente específica autorizada. Esta versión no completa el contenido por inferencia.</a:t>
            </a:r>
          </a:p>
        </p:txBody>
      </p:sp>
      <p:sp>
        <p:nvSpPr>
          <p:cNvPr id="7" name="blocked-label">
            <a:extLst>
              <a:ext uri="{FF2B5EF4-FFF2-40B4-BE49-F238E27FC236}">
                <a16:creationId xmlns:a16="http://schemas.microsoft.com/office/drawing/2014/main" id="{B2D60974-7B79-4B4E-907B-68855F816D24}"/>
              </a:ext>
            </a:extLst>
          </p:cNvPr>
          <p:cNvSpPr>
            <a:spLocks noGrp="1"/>
          </p:cNvSpPr>
          <p:nvPr/>
        </p:nvSpPr>
        <p:spPr>
          <a:xfrm>
            <a:off x="4714875" y="4333875"/>
            <a:ext cx="2762250" cy="381000"/>
          </a:xfrm>
          <a:prstGeom prst="rect">
            <a:avLst/>
          </a:prstGeom>
          <a:noFill/>
          <a:ln w="0">
            <a:noFill/>
            <a:prstDash val="solid"/>
          </a:ln>
        </p:spPr>
        <p:txBody>
          <a:bodyPr wrap="square" lIns="57150" tIns="38100" rIns="57150" bIns="38100" anchor="t">
            <a:noAutofit/>
          </a:bodyPr>
          <a:lstStyle/>
          <a:p>
            <a:pPr algn="ctr">
              <a:lnSpc>
                <a:spcPct val="102000"/>
              </a:lnSpc>
              <a:buNone/>
              <a:defRPr sz="1800" b="1" i="0">
                <a:solidFill>
                  <a:srgbClr val="A33A3A"/>
                </a:solidFill>
                <a:latin typeface="Calibri"/>
                <a:ea typeface="Calibri"/>
                <a:cs typeface="Calibri"/>
              </a:defRPr>
            </a:pPr>
            <a:r>
              <a:rPr sz="1800" b="1" i="0">
                <a:solidFill>
                  <a:srgbClr val="A33A3A"/>
                </a:solidFill>
                <a:latin typeface="Calibri"/>
                <a:ea typeface="Calibri"/>
                <a:cs typeface="Calibri"/>
              </a:rPr>
              <a:t>No proyectar</a:t>
            </a:r>
          </a:p>
        </p:txBody>
      </p:sp>
      <p:sp>
        <p:nvSpPr>
          <p:cNvPr id="8" name="caption">
            <a:extLst>
              <a:ext uri="{FF2B5EF4-FFF2-40B4-BE49-F238E27FC236}">
                <a16:creationId xmlns:a16="http://schemas.microsoft.com/office/drawing/2014/main" id="{E09F1B39-2BDC-4D7E-AAFD-08E88C63FA6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Recurso no aprobado: falta fuente específica; no usar en producción.</a:t>
            </a:r>
          </a:p>
        </p:txBody>
      </p:sp>
      <p:sp>
        <p:nvSpPr>
          <p:cNvPr id="9" name="credit">
            <a:extLst>
              <a:ext uri="{FF2B5EF4-FFF2-40B4-BE49-F238E27FC236}">
                <a16:creationId xmlns:a16="http://schemas.microsoft.com/office/drawing/2014/main" id="{89D99F27-2EA6-4E82-BE6B-BA857C93DB90}"/>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SA 6.4; OD-U06-05; EXT-PEND.</a:t>
            </a:r>
          </a:p>
        </p:txBody>
      </p:sp>
    </p:spTree>
    <p:extLst>
      <p:ext uri="{BB962C8B-B14F-4D97-AF65-F5344CB8AC3E}">
        <p14:creationId xmlns:p14="http://schemas.microsoft.com/office/powerpoint/2010/main" val="9866304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7F753E1-0A7D-4AFE-9B8A-49C16D42AAE6}"/>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Potencial receptor no es potencial de acción</a:t>
            </a:r>
          </a:p>
        </p:txBody>
      </p:sp>
      <p:sp>
        <p:nvSpPr>
          <p:cNvPr id="2" name="slide-subtitle">
            <a:extLst>
              <a:ext uri="{FF2B5EF4-FFF2-40B4-BE49-F238E27FC236}">
                <a16:creationId xmlns:a16="http://schemas.microsoft.com/office/drawing/2014/main" id="{B4C24012-77F1-4C82-A158-476235FD9B14}"/>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célula ciliada genera una respuesta graduada; los impulsos aparecen en fibras aferentes.</a:t>
            </a:r>
          </a:p>
        </p:txBody>
      </p:sp>
      <p:sp>
        <p:nvSpPr>
          <p:cNvPr id="3" name="eyebrow">
            <a:extLst>
              <a:ext uri="{FF2B5EF4-FFF2-40B4-BE49-F238E27FC236}">
                <a16:creationId xmlns:a16="http://schemas.microsoft.com/office/drawing/2014/main" id="{BDB3FB42-BDC0-49E6-98DD-3E1EE295C67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086</a:t>
            </a:r>
          </a:p>
        </p:txBody>
      </p:sp>
      <p:sp>
        <p:nvSpPr>
          <p:cNvPr id="4" name="U06-DG-051-panel_left-anchor">
            <a:extLst>
              <a:ext uri="{FF2B5EF4-FFF2-40B4-BE49-F238E27FC236}">
                <a16:creationId xmlns:a16="http://schemas.microsoft.com/office/drawing/2014/main" id="{E8C057D4-0F87-4F86-98CB-8CE681132EB8}"/>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5" name="U06-DG-051-panel_right-anchor">
            <a:extLst>
              <a:ext uri="{FF2B5EF4-FFF2-40B4-BE49-F238E27FC236}">
                <a16:creationId xmlns:a16="http://schemas.microsoft.com/office/drawing/2014/main" id="{034E10B9-3090-48E2-B470-F3993970C2A1}"/>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6" name="U06-DG-051-panel_left-box" descr="Diagrama sobre «Potencial receptor no es potencial de acción»; organiza comparación por célula/estructura, forma de variación, umbral y función." title="Texto alternativo U06-086">
            <a:extLst>
              <a:ext uri="{FF2B5EF4-FFF2-40B4-BE49-F238E27FC236}">
                <a16:creationId xmlns:a16="http://schemas.microsoft.com/office/drawing/2014/main" id="{59864F66-7936-4ED5-B36C-D4DE47E12BB9}"/>
              </a:ext>
            </a:extLst>
          </p:cNvPr>
          <p:cNvSpPr>
            <a:spLocks noGrp="1"/>
          </p:cNvSpPr>
          <p:nvPr/>
        </p:nvSpPr>
        <p:spPr>
          <a:xfrm>
            <a:off x="876300" y="1714500"/>
            <a:ext cx="4953000" cy="3333750"/>
          </a:xfrm>
          <a:prstGeom prst="roundRect">
            <a:avLst>
              <a:gd name="adj" fmla="val 2857"/>
            </a:avLst>
          </a:prstGeom>
          <a:solidFill>
            <a:srgbClr val="F4E9EF"/>
          </a:solidFill>
          <a:ln w="19050">
            <a:solidFill>
              <a:srgbClr val="4D1434"/>
            </a:solidFill>
            <a:prstDash val="solid"/>
          </a:ln>
        </p:spPr>
      </p:sp>
      <p:sp>
        <p:nvSpPr>
          <p:cNvPr id="7" name="U06-DG-051-panel_left-title">
            <a:extLst>
              <a:ext uri="{FF2B5EF4-FFF2-40B4-BE49-F238E27FC236}">
                <a16:creationId xmlns:a16="http://schemas.microsoft.com/office/drawing/2014/main" id="{C6F24420-8FF9-4379-89F8-7172C99C267A}"/>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Célula ciliada</a:t>
            </a:r>
          </a:p>
        </p:txBody>
      </p:sp>
      <p:sp>
        <p:nvSpPr>
          <p:cNvPr id="8" name="U06-DG-051-panel_left-body">
            <a:extLst>
              <a:ext uri="{FF2B5EF4-FFF2-40B4-BE49-F238E27FC236}">
                <a16:creationId xmlns:a16="http://schemas.microsoft.com/office/drawing/2014/main" id="{49DAFE35-9EDF-45F6-AC3E-457A67AA2FF7}"/>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potencial receptor graduado y continuo</a:t>
            </a:r>
          </a:p>
        </p:txBody>
      </p:sp>
      <p:sp>
        <p:nvSpPr>
          <p:cNvPr id="9" name="U06-DG-051-panel_right-box">
            <a:extLst>
              <a:ext uri="{FF2B5EF4-FFF2-40B4-BE49-F238E27FC236}">
                <a16:creationId xmlns:a16="http://schemas.microsoft.com/office/drawing/2014/main" id="{7F75969A-309A-43BC-8D41-371F80690CCD}"/>
              </a:ext>
            </a:extLst>
          </p:cNvPr>
          <p:cNvSpPr>
            <a:spLocks noGrp="1"/>
          </p:cNvSpPr>
          <p:nvPr/>
        </p:nvSpPr>
        <p:spPr>
          <a:xfrm>
            <a:off x="6362700" y="1714500"/>
            <a:ext cx="4953000" cy="3333750"/>
          </a:xfrm>
          <a:prstGeom prst="roundRect">
            <a:avLst>
              <a:gd name="adj" fmla="val 2857"/>
            </a:avLst>
          </a:prstGeom>
          <a:solidFill>
            <a:srgbClr val="F8EDE2"/>
          </a:solidFill>
          <a:ln w="19050">
            <a:solidFill>
              <a:srgbClr val="9F541A"/>
            </a:solidFill>
            <a:prstDash val="solid"/>
          </a:ln>
        </p:spPr>
      </p:sp>
      <p:sp>
        <p:nvSpPr>
          <p:cNvPr id="10" name="U06-DG-051-panel_right-title">
            <a:extLst>
              <a:ext uri="{FF2B5EF4-FFF2-40B4-BE49-F238E27FC236}">
                <a16:creationId xmlns:a16="http://schemas.microsoft.com/office/drawing/2014/main" id="{D8651FA2-A390-4A70-BC0F-5807CEAD675B}"/>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Fibra aferente</a:t>
            </a:r>
          </a:p>
        </p:txBody>
      </p:sp>
      <p:sp>
        <p:nvSpPr>
          <p:cNvPr id="11" name="U06-DG-051-panel_right-body">
            <a:extLst>
              <a:ext uri="{FF2B5EF4-FFF2-40B4-BE49-F238E27FC236}">
                <a16:creationId xmlns:a16="http://schemas.microsoft.com/office/drawing/2014/main" id="{81F2BE66-80AC-440E-93E3-348C06F3EEAC}"/>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potenciales de acción eventos discretos</a:t>
            </a:r>
          </a:p>
        </p:txBody>
      </p:sp>
      <p:sp>
        <p:nvSpPr>
          <p:cNvPr id="12" name="caption">
            <a:extLst>
              <a:ext uri="{FF2B5EF4-FFF2-40B4-BE49-F238E27FC236}">
                <a16:creationId xmlns:a16="http://schemas.microsoft.com/office/drawing/2014/main" id="{41F7A904-3EED-4FD7-BD2F-E95FAF7909B2}"/>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célula ciliada genera una respuesta graduada; los impulsos aparecen en fibras…</a:t>
            </a:r>
          </a:p>
        </p:txBody>
      </p:sp>
      <p:sp>
        <p:nvSpPr>
          <p:cNvPr id="13" name="credit">
            <a:extLst>
              <a:ext uri="{FF2B5EF4-FFF2-40B4-BE49-F238E27FC236}">
                <a16:creationId xmlns:a16="http://schemas.microsoft.com/office/drawing/2014/main" id="{864C489A-F07C-4470-8C2D-61F84C91096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753D2DE6-A432-460C-A991-15F8F6C6014A}"/>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Los *tip links* vinculan mecánicamente estereocilios vecinos</a:t>
            </a:r>
          </a:p>
        </p:txBody>
      </p:sp>
      <p:sp>
        <p:nvSpPr>
          <p:cNvPr id="2" name="slide-subtitle">
            <a:extLst>
              <a:ext uri="{FF2B5EF4-FFF2-40B4-BE49-F238E27FC236}">
                <a16:creationId xmlns:a16="http://schemas.microsoft.com/office/drawing/2014/main" id="{86873D37-7654-4F29-A20A-91BD204D2732}"/>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Son enlaces mecánicos del haz; no “cables nerviosos” ni canales por sí mismos.</a:t>
            </a:r>
          </a:p>
        </p:txBody>
      </p:sp>
      <p:sp>
        <p:nvSpPr>
          <p:cNvPr id="3" name="eyebrow">
            <a:extLst>
              <a:ext uri="{FF2B5EF4-FFF2-40B4-BE49-F238E27FC236}">
                <a16:creationId xmlns:a16="http://schemas.microsoft.com/office/drawing/2014/main" id="{16143758-E29C-40EF-BC45-3CE780107E9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087</a:t>
            </a:r>
          </a:p>
        </p:txBody>
      </p:sp>
      <p:sp>
        <p:nvSpPr>
          <p:cNvPr id="4" name="U06-DG-052-stage_1-anchor">
            <a:extLst>
              <a:ext uri="{FF2B5EF4-FFF2-40B4-BE49-F238E27FC236}">
                <a16:creationId xmlns:a16="http://schemas.microsoft.com/office/drawing/2014/main" id="{45572C01-BF51-4D12-9902-8BDB15DC1045}"/>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52-stage_2-anchor">
            <a:extLst>
              <a:ext uri="{FF2B5EF4-FFF2-40B4-BE49-F238E27FC236}">
                <a16:creationId xmlns:a16="http://schemas.microsoft.com/office/drawing/2014/main" id="{74EB19B9-1147-4C8E-B3EF-FF52D3496098}"/>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52-stage_3-anchor">
            <a:extLst>
              <a:ext uri="{FF2B5EF4-FFF2-40B4-BE49-F238E27FC236}">
                <a16:creationId xmlns:a16="http://schemas.microsoft.com/office/drawing/2014/main" id="{6B5A0382-A547-4BBE-8A5A-1DD710D8DB23}"/>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52-stage_4-anchor">
            <a:extLst>
              <a:ext uri="{FF2B5EF4-FFF2-40B4-BE49-F238E27FC236}">
                <a16:creationId xmlns:a16="http://schemas.microsoft.com/office/drawing/2014/main" id="{EF6FD152-2FAE-40D2-95D5-753C4D7190B8}"/>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52-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52-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52-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52-stage_1-box" descr="Diagrama sobre «Los *tip links* vinculan mecánicamente estereocilios vecinos»; organiza ubicación en el haz y relación con tensión; límite de la simplificación." title="Texto alternativo U06-087">
            <a:extLst>
              <a:ext uri="{FF2B5EF4-FFF2-40B4-BE49-F238E27FC236}">
                <a16:creationId xmlns:a16="http://schemas.microsoft.com/office/drawing/2014/main" id="{E672F985-CC99-462D-AF75-44CDC1EE55D6}"/>
              </a:ext>
            </a:extLst>
          </p:cNvPr>
          <p:cNvSpPr>
            <a:spLocks noGrp="1"/>
          </p:cNvSpPr>
          <p:nvPr/>
        </p:nvSpPr>
        <p:spPr>
          <a:xfrm>
            <a:off x="781050" y="2428875"/>
            <a:ext cx="2428875" cy="1666875"/>
          </a:xfrm>
          <a:prstGeom prst="roundRect">
            <a:avLst>
              <a:gd name="adj" fmla="val 5714"/>
            </a:avLst>
          </a:prstGeom>
          <a:solidFill>
            <a:srgbClr val="F7F6F2"/>
          </a:solidFill>
          <a:ln w="19050">
            <a:solidFill>
              <a:srgbClr val="969FA7"/>
            </a:solidFill>
            <a:prstDash val="solid"/>
          </a:ln>
        </p:spPr>
      </p:sp>
      <p:sp>
        <p:nvSpPr>
          <p:cNvPr id="12" name="U06-DG-052-stage_1-title">
            <a:extLst>
              <a:ext uri="{FF2B5EF4-FFF2-40B4-BE49-F238E27FC236}">
                <a16:creationId xmlns:a16="http://schemas.microsoft.com/office/drawing/2014/main" id="{735D912F-97B9-45A2-A23A-3FD4DB0AC450}"/>
              </a:ext>
            </a:extLst>
          </p:cNvPr>
          <p:cNvSpPr>
            <a:spLocks noGrp="1"/>
          </p:cNvSpPr>
          <p:nvPr/>
        </p:nvSpPr>
        <p:spPr>
          <a:xfrm>
            <a:off x="97155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Estereocilio bajo</a:t>
            </a:r>
          </a:p>
        </p:txBody>
      </p:sp>
      <p:sp>
        <p:nvSpPr>
          <p:cNvPr id="13" name="U06-DG-052-stage_1-body">
            <a:extLst>
              <a:ext uri="{FF2B5EF4-FFF2-40B4-BE49-F238E27FC236}">
                <a16:creationId xmlns:a16="http://schemas.microsoft.com/office/drawing/2014/main" id="{B605075E-56BE-46CB-8FBA-C18F847A111E}"/>
              </a:ext>
            </a:extLst>
          </p:cNvPr>
          <p:cNvSpPr>
            <a:spLocks noGrp="1"/>
          </p:cNvSpPr>
          <p:nvPr/>
        </p:nvSpPr>
        <p:spPr>
          <a:xfrm>
            <a:off x="97155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extremo inferior</a:t>
            </a:r>
          </a:p>
        </p:txBody>
      </p:sp>
      <p:sp>
        <p:nvSpPr>
          <p:cNvPr id="14" name="U06-DG-052-stage_2-box">
            <a:extLst>
              <a:ext uri="{FF2B5EF4-FFF2-40B4-BE49-F238E27FC236}">
                <a16:creationId xmlns:a16="http://schemas.microsoft.com/office/drawing/2014/main" id="{2C98FB56-3C3E-4E55-8160-24B08EEF2A0D}"/>
              </a:ext>
            </a:extLst>
          </p:cNvPr>
          <p:cNvSpPr>
            <a:spLocks noGrp="1"/>
          </p:cNvSpPr>
          <p:nvPr/>
        </p:nvSpPr>
        <p:spPr>
          <a:xfrm>
            <a:off x="3514725" y="2428875"/>
            <a:ext cx="2428875" cy="1666875"/>
          </a:xfrm>
          <a:prstGeom prst="roundRect">
            <a:avLst>
              <a:gd name="adj" fmla="val 5714"/>
            </a:avLst>
          </a:prstGeom>
          <a:solidFill>
            <a:srgbClr val="F4E9EF"/>
          </a:solidFill>
          <a:ln w="19050">
            <a:solidFill>
              <a:srgbClr val="4D1434"/>
            </a:solidFill>
            <a:prstDash val="solid"/>
          </a:ln>
        </p:spPr>
      </p:sp>
      <p:sp>
        <p:nvSpPr>
          <p:cNvPr id="15" name="U06-DG-052-stage_2-title">
            <a:extLst>
              <a:ext uri="{FF2B5EF4-FFF2-40B4-BE49-F238E27FC236}">
                <a16:creationId xmlns:a16="http://schemas.microsoft.com/office/drawing/2014/main" id="{DC1D387A-D51D-4F74-8D83-3237C6E7B4B4}"/>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Tip link</a:t>
            </a:r>
          </a:p>
        </p:txBody>
      </p:sp>
      <p:sp>
        <p:nvSpPr>
          <p:cNvPr id="16" name="U06-DG-052-stage_2-body">
            <a:extLst>
              <a:ext uri="{FF2B5EF4-FFF2-40B4-BE49-F238E27FC236}">
                <a16:creationId xmlns:a16="http://schemas.microsoft.com/office/drawing/2014/main" id="{415567E2-3E56-4D01-B7E1-EF366DB71FD5}"/>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enlace oblicuo</a:t>
            </a:r>
          </a:p>
        </p:txBody>
      </p:sp>
      <p:sp>
        <p:nvSpPr>
          <p:cNvPr id="17" name="U06-DG-052-stage_3-box">
            <a:extLst>
              <a:ext uri="{FF2B5EF4-FFF2-40B4-BE49-F238E27FC236}">
                <a16:creationId xmlns:a16="http://schemas.microsoft.com/office/drawing/2014/main" id="{AD9A2DFC-3AF0-42B4-9A52-9869B7F2B40A}"/>
              </a:ext>
            </a:extLst>
          </p:cNvPr>
          <p:cNvSpPr>
            <a:spLocks noGrp="1"/>
          </p:cNvSpPr>
          <p:nvPr/>
        </p:nvSpPr>
        <p:spPr>
          <a:xfrm>
            <a:off x="6248400" y="2428875"/>
            <a:ext cx="2428875" cy="1666875"/>
          </a:xfrm>
          <a:prstGeom prst="roundRect">
            <a:avLst>
              <a:gd name="adj" fmla="val 5714"/>
            </a:avLst>
          </a:prstGeom>
          <a:solidFill>
            <a:srgbClr val="E7F1F1"/>
          </a:solidFill>
          <a:ln w="19050">
            <a:solidFill>
              <a:srgbClr val="2F7E83"/>
            </a:solidFill>
            <a:prstDash val="solid"/>
          </a:ln>
        </p:spPr>
      </p:sp>
      <p:sp>
        <p:nvSpPr>
          <p:cNvPr id="18" name="U06-DG-052-stage_3-title">
            <a:extLst>
              <a:ext uri="{FF2B5EF4-FFF2-40B4-BE49-F238E27FC236}">
                <a16:creationId xmlns:a16="http://schemas.microsoft.com/office/drawing/2014/main" id="{D1097F42-3220-4D80-B324-35D134A53372}"/>
              </a:ext>
            </a:extLst>
          </p:cNvPr>
          <p:cNvSpPr>
            <a:spLocks noGrp="1"/>
          </p:cNvSpPr>
          <p:nvPr/>
        </p:nvSpPr>
        <p:spPr>
          <a:xfrm>
            <a:off x="643890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Estereocilio alto</a:t>
            </a:r>
          </a:p>
        </p:txBody>
      </p:sp>
      <p:sp>
        <p:nvSpPr>
          <p:cNvPr id="19" name="U06-DG-052-stage_3-body">
            <a:extLst>
              <a:ext uri="{FF2B5EF4-FFF2-40B4-BE49-F238E27FC236}">
                <a16:creationId xmlns:a16="http://schemas.microsoft.com/office/drawing/2014/main" id="{9613A0EE-E303-49A7-8BB6-1E09CCAEC3BE}"/>
              </a:ext>
            </a:extLst>
          </p:cNvPr>
          <p:cNvSpPr>
            <a:spLocks noGrp="1"/>
          </p:cNvSpPr>
          <p:nvPr/>
        </p:nvSpPr>
        <p:spPr>
          <a:xfrm>
            <a:off x="643890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extremo superior</a:t>
            </a:r>
          </a:p>
        </p:txBody>
      </p:sp>
      <p:sp>
        <p:nvSpPr>
          <p:cNvPr id="20" name="U06-DG-052-stage_4-box">
            <a:extLst>
              <a:ext uri="{FF2B5EF4-FFF2-40B4-BE49-F238E27FC236}">
                <a16:creationId xmlns:a16="http://schemas.microsoft.com/office/drawing/2014/main" id="{9D4155E3-3D63-41C9-BC9E-65B0CC62E4B2}"/>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52-stage_4-title">
            <a:extLst>
              <a:ext uri="{FF2B5EF4-FFF2-40B4-BE49-F238E27FC236}">
                <a16:creationId xmlns:a16="http://schemas.microsoft.com/office/drawing/2014/main" id="{F9A5FF88-7166-4AE2-839E-BE1BF5432044}"/>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Tensión</a:t>
            </a:r>
          </a:p>
        </p:txBody>
      </p:sp>
      <p:sp>
        <p:nvSpPr>
          <p:cNvPr id="22" name="U06-DG-052-stage_4-body">
            <a:extLst>
              <a:ext uri="{FF2B5EF4-FFF2-40B4-BE49-F238E27FC236}">
                <a16:creationId xmlns:a16="http://schemas.microsoft.com/office/drawing/2014/main" id="{3E31D737-FD86-4381-A3BF-00BF4EBCF820}"/>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modula apertura</a:t>
            </a:r>
          </a:p>
        </p:txBody>
      </p:sp>
      <p:sp>
        <p:nvSpPr>
          <p:cNvPr id="23" name="caption">
            <a:extLst>
              <a:ext uri="{FF2B5EF4-FFF2-40B4-BE49-F238E27FC236}">
                <a16:creationId xmlns:a16="http://schemas.microsoft.com/office/drawing/2014/main" id="{AB6DC2C0-B086-43A5-82C1-EA38056253D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Son enlaces mecánicos del haz; no “cables nerviosos” ni canales por sí mismos.</a:t>
            </a:r>
          </a:p>
        </p:txBody>
      </p:sp>
      <p:sp>
        <p:nvSpPr>
          <p:cNvPr id="24" name="credit">
            <a:extLst>
              <a:ext uri="{FF2B5EF4-FFF2-40B4-BE49-F238E27FC236}">
                <a16:creationId xmlns:a16="http://schemas.microsoft.com/office/drawing/2014/main" id="{ABFF93D5-7390-427F-9A1A-B0697C5EB70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872630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4CD8C57B-C902-4E8D-A2C8-BCB9E36A8F39}"/>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deflexión excitatoria aumenta la apertura de canales</a:t>
            </a:r>
          </a:p>
        </p:txBody>
      </p:sp>
      <p:sp>
        <p:nvSpPr>
          <p:cNvPr id="2" name="slide-subtitle">
            <a:extLst>
              <a:ext uri="{FF2B5EF4-FFF2-40B4-BE49-F238E27FC236}">
                <a16:creationId xmlns:a16="http://schemas.microsoft.com/office/drawing/2014/main" id="{FB515E7A-92C6-4BB4-8A06-708B799339F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tensión del haz modifica la probabilidad de apertura y permite una corriente predominantemente de K⁺ desde la endolinfa.</a:t>
            </a:r>
          </a:p>
        </p:txBody>
      </p:sp>
      <p:sp>
        <p:nvSpPr>
          <p:cNvPr id="3" name="eyebrow">
            <a:extLst>
              <a:ext uri="{FF2B5EF4-FFF2-40B4-BE49-F238E27FC236}">
                <a16:creationId xmlns:a16="http://schemas.microsoft.com/office/drawing/2014/main" id="{CA979DAE-917A-41EB-AB03-EAF46E417712}"/>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088</a:t>
            </a:r>
          </a:p>
        </p:txBody>
      </p:sp>
      <p:sp>
        <p:nvSpPr>
          <p:cNvPr id="4" name="U06-DG-053-panel_left-anchor">
            <a:extLst>
              <a:ext uri="{FF2B5EF4-FFF2-40B4-BE49-F238E27FC236}">
                <a16:creationId xmlns:a16="http://schemas.microsoft.com/office/drawing/2014/main" id="{17632E0E-AB01-48D2-962D-1EF368C60643}"/>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5" name="U06-DG-053-panel_right-anchor">
            <a:extLst>
              <a:ext uri="{FF2B5EF4-FFF2-40B4-BE49-F238E27FC236}">
                <a16:creationId xmlns:a16="http://schemas.microsoft.com/office/drawing/2014/main" id="{AD09A37B-2C43-41C2-AF95-203CB2302797}"/>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6" name="U06-DG-053-panel_left-box" descr="Diagrama sobre «La deflexión excitatoria aumenta la apertura de canales»; organiza reposo relativo → deflexión → apertura → entrada iónica → despolarización; dirección opuesta como contraste." title="Texto alternativo U06-088">
            <a:extLst>
              <a:ext uri="{FF2B5EF4-FFF2-40B4-BE49-F238E27FC236}">
                <a16:creationId xmlns:a16="http://schemas.microsoft.com/office/drawing/2014/main" id="{ECB6D4FF-6E42-4216-970F-168FE8CF0BDC}"/>
              </a:ext>
            </a:extLst>
          </p:cNvPr>
          <p:cNvSpPr>
            <a:spLocks noGrp="1"/>
          </p:cNvSpPr>
          <p:nvPr/>
        </p:nvSpPr>
        <p:spPr>
          <a:xfrm>
            <a:off x="876300" y="1714500"/>
            <a:ext cx="4953000" cy="3333750"/>
          </a:xfrm>
          <a:prstGeom prst="roundRect">
            <a:avLst>
              <a:gd name="adj" fmla="val 2857"/>
            </a:avLst>
          </a:prstGeom>
          <a:solidFill>
            <a:srgbClr val="F7F6F2"/>
          </a:solidFill>
          <a:ln w="19050">
            <a:solidFill>
              <a:srgbClr val="969FA7"/>
            </a:solidFill>
            <a:prstDash val="solid"/>
          </a:ln>
        </p:spPr>
      </p:sp>
      <p:sp>
        <p:nvSpPr>
          <p:cNvPr id="7" name="U06-DG-053-panel_left-title">
            <a:extLst>
              <a:ext uri="{FF2B5EF4-FFF2-40B4-BE49-F238E27FC236}">
                <a16:creationId xmlns:a16="http://schemas.microsoft.com/office/drawing/2014/main" id="{A1A8FFED-8262-4FFF-9002-6F529DDDE828}"/>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Menor tensión</a:t>
            </a:r>
          </a:p>
        </p:txBody>
      </p:sp>
      <p:sp>
        <p:nvSpPr>
          <p:cNvPr id="8" name="U06-DG-053-panel_left-body">
            <a:extLst>
              <a:ext uri="{FF2B5EF4-FFF2-40B4-BE49-F238E27FC236}">
                <a16:creationId xmlns:a16="http://schemas.microsoft.com/office/drawing/2014/main" id="{1CB7D825-8EB7-48D8-AC77-B2CE4B2A02E2}"/>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probabilidad menor corriente K⁺ menor</a:t>
            </a:r>
          </a:p>
        </p:txBody>
      </p:sp>
      <p:sp>
        <p:nvSpPr>
          <p:cNvPr id="9" name="U06-DG-053-panel_right-box">
            <a:extLst>
              <a:ext uri="{FF2B5EF4-FFF2-40B4-BE49-F238E27FC236}">
                <a16:creationId xmlns:a16="http://schemas.microsoft.com/office/drawing/2014/main" id="{89A6C8DE-954E-4F24-876B-8F9F60FA5191}"/>
              </a:ext>
            </a:extLst>
          </p:cNvPr>
          <p:cNvSpPr>
            <a:spLocks noGrp="1"/>
          </p:cNvSpPr>
          <p:nvPr/>
        </p:nvSpPr>
        <p:spPr>
          <a:xfrm>
            <a:off x="6362700" y="1714500"/>
            <a:ext cx="4953000" cy="3333750"/>
          </a:xfrm>
          <a:prstGeom prst="roundRect">
            <a:avLst>
              <a:gd name="adj" fmla="val 2857"/>
            </a:avLst>
          </a:prstGeom>
          <a:solidFill>
            <a:srgbClr val="F4E9EF"/>
          </a:solidFill>
          <a:ln w="19050">
            <a:solidFill>
              <a:srgbClr val="4D1434"/>
            </a:solidFill>
            <a:prstDash val="solid"/>
          </a:ln>
        </p:spPr>
      </p:sp>
      <p:sp>
        <p:nvSpPr>
          <p:cNvPr id="10" name="U06-DG-053-panel_right-title">
            <a:extLst>
              <a:ext uri="{FF2B5EF4-FFF2-40B4-BE49-F238E27FC236}">
                <a16:creationId xmlns:a16="http://schemas.microsoft.com/office/drawing/2014/main" id="{E35E6C35-C198-432C-B445-3F4A91AE43C8}"/>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Mayor tensión</a:t>
            </a:r>
          </a:p>
        </p:txBody>
      </p:sp>
      <p:sp>
        <p:nvSpPr>
          <p:cNvPr id="11" name="U06-DG-053-panel_right-body">
            <a:extLst>
              <a:ext uri="{FF2B5EF4-FFF2-40B4-BE49-F238E27FC236}">
                <a16:creationId xmlns:a16="http://schemas.microsoft.com/office/drawing/2014/main" id="{B0E25099-37B0-4CAA-8A7D-46656EC4C582}"/>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probabilidad mayor entrada de K⁺ mayor</a:t>
            </a:r>
          </a:p>
        </p:txBody>
      </p:sp>
      <p:sp>
        <p:nvSpPr>
          <p:cNvPr id="12" name="caption">
            <a:extLst>
              <a:ext uri="{FF2B5EF4-FFF2-40B4-BE49-F238E27FC236}">
                <a16:creationId xmlns:a16="http://schemas.microsoft.com/office/drawing/2014/main" id="{1D29D49A-79F4-4879-BD51-361C1ED732D7}"/>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tensión del haz modifica la probabilidad de apertura y permite una corriente…</a:t>
            </a:r>
          </a:p>
        </p:txBody>
      </p:sp>
      <p:sp>
        <p:nvSpPr>
          <p:cNvPr id="13" name="credit">
            <a:extLst>
              <a:ext uri="{FF2B5EF4-FFF2-40B4-BE49-F238E27FC236}">
                <a16:creationId xmlns:a16="http://schemas.microsoft.com/office/drawing/2014/main" id="{44CD90E5-6409-4A84-8DE8-36A6F26897A7}"/>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lide-title">
            <a:extLst>
              <a:ext uri="{FF2B5EF4-FFF2-40B4-BE49-F238E27FC236}">
                <a16:creationId xmlns:a16="http://schemas.microsoft.com/office/drawing/2014/main" id="{EE10D882-28EC-4282-8658-9303179F1CAB}"/>
              </a:ext>
            </a:extLst>
          </p:cNvPr>
          <p:cNvSpPr>
            <a:spLocks noGrp="1"/>
          </p:cNvSpPr>
          <p:nvPr/>
        </p:nvSpPr>
        <p:spPr>
          <a:xfrm>
            <a:off x="495300" y="409575"/>
            <a:ext cx="11163300" cy="895350"/>
          </a:xfrm>
          <a:prstGeom prst="rect">
            <a:avLst/>
          </a:prstGeom>
          <a:noFill/>
          <a:ln w="0">
            <a:noFill/>
            <a:prstDash val="solid"/>
          </a:ln>
        </p:spPr>
        <p:txBody>
          <a:bodyPr wrap="square" lIns="28575" tIns="0" rIns="28575" bIns="0" anchor="t">
            <a:noAutofit/>
          </a:bodyPr>
          <a:lstStyle/>
          <a:p>
            <a:pPr algn="l">
              <a:lnSpc>
                <a:spcPct val="102000"/>
              </a:lnSpc>
              <a:buNone/>
              <a:defRPr sz="2850" b="0" i="0">
                <a:solidFill>
                  <a:srgbClr val="4D1434"/>
                </a:solidFill>
                <a:latin typeface="Calibri Light"/>
                <a:ea typeface="Calibri Light"/>
                <a:cs typeface="Calibri Light"/>
              </a:defRPr>
            </a:pPr>
            <a:r>
              <a:rPr sz="2850" b="0" i="0">
                <a:solidFill>
                  <a:srgbClr val="4D1434"/>
                </a:solidFill>
                <a:latin typeface="Calibri Light"/>
                <a:ea typeface="Calibri Light"/>
                <a:cs typeface="Calibri Light"/>
              </a:rPr>
              <a:t>Ca²⁺ y glutamato conectan la respuesta celular con la aferencia</a:t>
            </a:r>
          </a:p>
        </p:txBody>
      </p:sp>
      <p:sp>
        <p:nvSpPr>
          <p:cNvPr id="2" name="eyebrow">
            <a:extLst>
              <a:ext uri="{FF2B5EF4-FFF2-40B4-BE49-F238E27FC236}">
                <a16:creationId xmlns:a16="http://schemas.microsoft.com/office/drawing/2014/main" id="{D7A011E9-476F-4993-899A-BE0B1AED52E8}"/>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089</a:t>
            </a:r>
          </a:p>
        </p:txBody>
      </p:sp>
      <p:sp>
        <p:nvSpPr>
          <p:cNvPr id="3" name="U06-DG-054-stage_1-anchor">
            <a:extLst>
              <a:ext uri="{FF2B5EF4-FFF2-40B4-BE49-F238E27FC236}">
                <a16:creationId xmlns:a16="http://schemas.microsoft.com/office/drawing/2014/main" id="{DE8C9655-0A5E-4C85-9986-EE615662B380}"/>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4" name="U06-DG-054-stage_2-anchor">
            <a:extLst>
              <a:ext uri="{FF2B5EF4-FFF2-40B4-BE49-F238E27FC236}">
                <a16:creationId xmlns:a16="http://schemas.microsoft.com/office/drawing/2014/main" id="{3FF91D46-815C-4B62-8E20-A0032BEBA17D}"/>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5" name="U06-DG-054-stage_3-anchor">
            <a:extLst>
              <a:ext uri="{FF2B5EF4-FFF2-40B4-BE49-F238E27FC236}">
                <a16:creationId xmlns:a16="http://schemas.microsoft.com/office/drawing/2014/main" id="{E6EF33FE-5FF3-4E10-B8FF-79CB124AA3D6}"/>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6" name="U06-DG-054-stage_4-anchor">
            <a:extLst>
              <a:ext uri="{FF2B5EF4-FFF2-40B4-BE49-F238E27FC236}">
                <a16:creationId xmlns:a16="http://schemas.microsoft.com/office/drawing/2014/main" id="{2B229BAB-4BFB-4C01-9056-B7248CB78016}"/>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0" name="U06-DG-054-flow_1"/>
          <p:cNvCxnSpPr>
            <a:stCxn id="3" idx="3"/>
            <a:endCxn id="4"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1" name="U06-DG-054-flow_2"/>
          <p:cNvCxnSpPr>
            <a:stCxn id="4" idx="3"/>
            <a:endCxn id="5"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2" name="U06-DG-054-flow_3"/>
          <p:cNvCxnSpPr>
            <a:stCxn id="5" idx="3"/>
            <a:endCxn id="6"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0" name="U06-DG-054-stage_1-box" descr="Diagrama sobre «Ca²⁺ y glutamato conectan la respuesta celular con la aferencia»; organiza tres pasos en la base de una cci; cce se retoma solo como contraste funcional." title="Texto alternativo U06-089">
            <a:extLst>
              <a:ext uri="{FF2B5EF4-FFF2-40B4-BE49-F238E27FC236}">
                <a16:creationId xmlns:a16="http://schemas.microsoft.com/office/drawing/2014/main" id="{908EAB13-5F56-4E62-A7D9-9E6B57B5F8FF}"/>
              </a:ext>
            </a:extLst>
          </p:cNvPr>
          <p:cNvSpPr>
            <a:spLocks noGrp="1"/>
          </p:cNvSpPr>
          <p:nvPr/>
        </p:nvSpPr>
        <p:spPr>
          <a:xfrm>
            <a:off x="781050" y="2428875"/>
            <a:ext cx="2428875" cy="1666875"/>
          </a:xfrm>
          <a:prstGeom prst="roundRect">
            <a:avLst>
              <a:gd name="adj" fmla="val 5714"/>
            </a:avLst>
          </a:prstGeom>
          <a:solidFill>
            <a:srgbClr val="F4E9EF"/>
          </a:solidFill>
          <a:ln w="19050">
            <a:solidFill>
              <a:srgbClr val="4D1434"/>
            </a:solidFill>
            <a:prstDash val="solid"/>
          </a:ln>
        </p:spPr>
      </p:sp>
      <p:sp>
        <p:nvSpPr>
          <p:cNvPr id="11" name="U06-DG-054-stage_1-title">
            <a:extLst>
              <a:ext uri="{FF2B5EF4-FFF2-40B4-BE49-F238E27FC236}">
                <a16:creationId xmlns:a16="http://schemas.microsoft.com/office/drawing/2014/main" id="{7E71A213-984E-4032-B3EA-9732DC189B00}"/>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Célula</a:t>
            </a:r>
          </a:p>
        </p:txBody>
      </p:sp>
      <p:sp>
        <p:nvSpPr>
          <p:cNvPr id="12" name="U06-DG-054-stage_1-body">
            <a:extLst>
              <a:ext uri="{FF2B5EF4-FFF2-40B4-BE49-F238E27FC236}">
                <a16:creationId xmlns:a16="http://schemas.microsoft.com/office/drawing/2014/main" id="{C8ECF9FD-32ED-415C-AC33-7F4A789FAE57}"/>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 despolariza</a:t>
            </a:r>
          </a:p>
        </p:txBody>
      </p:sp>
      <p:sp>
        <p:nvSpPr>
          <p:cNvPr id="13" name="U06-DG-054-stage_2-box">
            <a:extLst>
              <a:ext uri="{FF2B5EF4-FFF2-40B4-BE49-F238E27FC236}">
                <a16:creationId xmlns:a16="http://schemas.microsoft.com/office/drawing/2014/main" id="{34B9001F-1DCC-470E-B142-B089D0334288}"/>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4" name="U06-DG-054-stage_2-title">
            <a:extLst>
              <a:ext uri="{FF2B5EF4-FFF2-40B4-BE49-F238E27FC236}">
                <a16:creationId xmlns:a16="http://schemas.microsoft.com/office/drawing/2014/main" id="{5F45D8AA-337A-4140-A500-71CCE1D2D525}"/>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Entrada de Ca²⁺</a:t>
            </a:r>
          </a:p>
        </p:txBody>
      </p:sp>
      <p:sp>
        <p:nvSpPr>
          <p:cNvPr id="15" name="U06-DG-054-stage_2-body">
            <a:extLst>
              <a:ext uri="{FF2B5EF4-FFF2-40B4-BE49-F238E27FC236}">
                <a16:creationId xmlns:a16="http://schemas.microsoft.com/office/drawing/2014/main" id="{3D6E305A-04FC-4234-B64B-DC637FE7A423}"/>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zona basal</a:t>
            </a:r>
          </a:p>
        </p:txBody>
      </p:sp>
      <p:sp>
        <p:nvSpPr>
          <p:cNvPr id="16" name="U06-DG-054-stage_3-box">
            <a:extLst>
              <a:ext uri="{FF2B5EF4-FFF2-40B4-BE49-F238E27FC236}">
                <a16:creationId xmlns:a16="http://schemas.microsoft.com/office/drawing/2014/main" id="{7B811439-E671-4B29-9F75-174ABC594D05}"/>
              </a:ext>
            </a:extLst>
          </p:cNvPr>
          <p:cNvSpPr>
            <a:spLocks noGrp="1"/>
          </p:cNvSpPr>
          <p:nvPr/>
        </p:nvSpPr>
        <p:spPr>
          <a:xfrm>
            <a:off x="6248400" y="2428875"/>
            <a:ext cx="2428875" cy="1666875"/>
          </a:xfrm>
          <a:prstGeom prst="roundRect">
            <a:avLst>
              <a:gd name="adj" fmla="val 5714"/>
            </a:avLst>
          </a:prstGeom>
          <a:solidFill>
            <a:srgbClr val="F8EDE2"/>
          </a:solidFill>
          <a:ln w="19050">
            <a:solidFill>
              <a:srgbClr val="9F541A"/>
            </a:solidFill>
            <a:prstDash val="solid"/>
          </a:ln>
        </p:spPr>
      </p:sp>
      <p:sp>
        <p:nvSpPr>
          <p:cNvPr id="17" name="U06-DG-054-stage_3-title">
            <a:extLst>
              <a:ext uri="{FF2B5EF4-FFF2-40B4-BE49-F238E27FC236}">
                <a16:creationId xmlns:a16="http://schemas.microsoft.com/office/drawing/2014/main" id="{D64FC96C-BC49-4A24-B5AD-292725725320}"/>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Glutamato</a:t>
            </a:r>
          </a:p>
        </p:txBody>
      </p:sp>
      <p:sp>
        <p:nvSpPr>
          <p:cNvPr id="18" name="U06-DG-054-stage_3-body">
            <a:extLst>
              <a:ext uri="{FF2B5EF4-FFF2-40B4-BE49-F238E27FC236}">
                <a16:creationId xmlns:a16="http://schemas.microsoft.com/office/drawing/2014/main" id="{0CE54B34-2FEC-4C10-984C-D7068D1BC7B1}"/>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liberación</a:t>
            </a:r>
          </a:p>
        </p:txBody>
      </p:sp>
      <p:sp>
        <p:nvSpPr>
          <p:cNvPr id="19" name="U06-DG-054-stage_4-box">
            <a:extLst>
              <a:ext uri="{FF2B5EF4-FFF2-40B4-BE49-F238E27FC236}">
                <a16:creationId xmlns:a16="http://schemas.microsoft.com/office/drawing/2014/main" id="{6E5004B5-1FE0-4431-B1FE-7E46B09E4861}"/>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0" name="U06-DG-054-stage_4-title">
            <a:extLst>
              <a:ext uri="{FF2B5EF4-FFF2-40B4-BE49-F238E27FC236}">
                <a16:creationId xmlns:a16="http://schemas.microsoft.com/office/drawing/2014/main" id="{5057C446-FB18-44BE-82D2-0728402897F8}"/>
              </a:ext>
            </a:extLst>
          </p:cNvPr>
          <p:cNvSpPr>
            <a:spLocks noGrp="1"/>
          </p:cNvSpPr>
          <p:nvPr/>
        </p:nvSpPr>
        <p:spPr>
          <a:xfrm>
            <a:off x="917257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Fibra aferente</a:t>
            </a:r>
          </a:p>
        </p:txBody>
      </p:sp>
      <p:sp>
        <p:nvSpPr>
          <p:cNvPr id="21" name="U06-DG-054-stage_4-body">
            <a:extLst>
              <a:ext uri="{FF2B5EF4-FFF2-40B4-BE49-F238E27FC236}">
                <a16:creationId xmlns:a16="http://schemas.microsoft.com/office/drawing/2014/main" id="{2B5F786F-4DA6-4570-9689-E3BBEB28A0E1}"/>
              </a:ext>
            </a:extLst>
          </p:cNvPr>
          <p:cNvSpPr>
            <a:spLocks noGrp="1"/>
          </p:cNvSpPr>
          <p:nvPr/>
        </p:nvSpPr>
        <p:spPr>
          <a:xfrm>
            <a:off x="917257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señal neural</a:t>
            </a:r>
          </a:p>
        </p:txBody>
      </p:sp>
      <p:sp>
        <p:nvSpPr>
          <p:cNvPr id="22" name="caption">
            <a:extLst>
              <a:ext uri="{FF2B5EF4-FFF2-40B4-BE49-F238E27FC236}">
                <a16:creationId xmlns:a16="http://schemas.microsoft.com/office/drawing/2014/main" id="{C93317AC-1660-4321-B803-A6E28C9D0641}"/>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despolarización favorece entrada de Ca²⁺ y liberación de neurotransmisor haci…</a:t>
            </a:r>
          </a:p>
        </p:txBody>
      </p:sp>
      <p:sp>
        <p:nvSpPr>
          <p:cNvPr id="23" name="credit">
            <a:extLst>
              <a:ext uri="{FF2B5EF4-FFF2-40B4-BE49-F238E27FC236}">
                <a16:creationId xmlns:a16="http://schemas.microsoft.com/office/drawing/2014/main" id="{A6BA45F4-1CEA-4076-AE01-513B41D3088C}"/>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9269757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2DCCDC09-718D-4739-9C3D-CBAECBBE4FA4}"/>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Tramo 1: del movimiento al potencial receptor</a:t>
            </a:r>
          </a:p>
        </p:txBody>
      </p:sp>
      <p:sp>
        <p:nvSpPr>
          <p:cNvPr id="2" name="slide-subtitle">
            <a:extLst>
              <a:ext uri="{FF2B5EF4-FFF2-40B4-BE49-F238E27FC236}">
                <a16:creationId xmlns:a16="http://schemas.microsoft.com/office/drawing/2014/main" id="{A2E13DE8-3BFF-48EE-903F-284DAC444A07}"/>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Movimiento relativo → deflexión → cambio de canales → corriente → potencial receptor.</a:t>
            </a:r>
          </a:p>
        </p:txBody>
      </p:sp>
      <p:sp>
        <p:nvSpPr>
          <p:cNvPr id="3" name="eyebrow">
            <a:extLst>
              <a:ext uri="{FF2B5EF4-FFF2-40B4-BE49-F238E27FC236}">
                <a16:creationId xmlns:a16="http://schemas.microsoft.com/office/drawing/2014/main" id="{33918B95-AFC9-47E7-AD69-1CF2DEC20D96}"/>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090</a:t>
            </a:r>
          </a:p>
        </p:txBody>
      </p:sp>
      <p:sp>
        <p:nvSpPr>
          <p:cNvPr id="4" name="U06-DG-055-stage_1-anchor">
            <a:extLst>
              <a:ext uri="{FF2B5EF4-FFF2-40B4-BE49-F238E27FC236}">
                <a16:creationId xmlns:a16="http://schemas.microsoft.com/office/drawing/2014/main" id="{C48F69FB-9C27-4AF5-9D8B-8CD94AA800A0}"/>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55-stage_2-anchor">
            <a:extLst>
              <a:ext uri="{FF2B5EF4-FFF2-40B4-BE49-F238E27FC236}">
                <a16:creationId xmlns:a16="http://schemas.microsoft.com/office/drawing/2014/main" id="{5A47E743-3F9B-495D-9C60-FEBDF1B44E38}"/>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55-stage_3-anchor">
            <a:extLst>
              <a:ext uri="{FF2B5EF4-FFF2-40B4-BE49-F238E27FC236}">
                <a16:creationId xmlns:a16="http://schemas.microsoft.com/office/drawing/2014/main" id="{2A691AE3-477D-4268-8BDF-67C65A3BB802}"/>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55-stage_4-anchor">
            <a:extLst>
              <a:ext uri="{FF2B5EF4-FFF2-40B4-BE49-F238E27FC236}">
                <a16:creationId xmlns:a16="http://schemas.microsoft.com/office/drawing/2014/main" id="{09400C24-3E04-4A63-93A2-493DDFD8C709}"/>
              </a:ext>
            </a:extLst>
          </p:cNvPr>
          <p:cNvSpPr>
            <a:spLocks noGrp="1"/>
          </p:cNvSpPr>
          <p:nvPr/>
        </p:nvSpPr>
        <p:spPr>
          <a:xfrm>
            <a:off x="6229350" y="3952875"/>
            <a:ext cx="5181600" cy="1381125"/>
          </a:xfrm>
          <a:prstGeom prst="roundRect">
            <a:avLst>
              <a:gd name="adj" fmla="val 6897"/>
            </a:avLst>
          </a:prstGeom>
          <a:noFill/>
          <a:ln w="0">
            <a:noFill/>
            <a:prstDash val="solid"/>
          </a:ln>
        </p:spPr>
      </p:sp>
      <p:sp>
        <p:nvSpPr>
          <p:cNvPr id="8" name="U06-DG-055-stage_5-anchor">
            <a:extLst>
              <a:ext uri="{FF2B5EF4-FFF2-40B4-BE49-F238E27FC236}">
                <a16:creationId xmlns:a16="http://schemas.microsoft.com/office/drawing/2014/main" id="{C103DFB9-ED77-4593-A118-34E38B7FEAE9}"/>
              </a:ext>
            </a:extLst>
          </p:cNvPr>
          <p:cNvSpPr>
            <a:spLocks noGrp="1"/>
          </p:cNvSpPr>
          <p:nvPr/>
        </p:nvSpPr>
        <p:spPr>
          <a:xfrm>
            <a:off x="781050" y="3952875"/>
            <a:ext cx="5181600" cy="1381125"/>
          </a:xfrm>
          <a:prstGeom prst="roundRect">
            <a:avLst>
              <a:gd name="adj" fmla="val 6897"/>
            </a:avLst>
          </a:prstGeom>
          <a:noFill/>
          <a:ln w="0">
            <a:noFill/>
            <a:prstDash val="solid"/>
          </a:ln>
        </p:spPr>
      </p:sp>
      <p:cxnSp>
        <p:nvCxnSpPr>
          <p:cNvPr id="38" name="U06-DG-055-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39" name="U06-DG-055-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0" name="U06-DG-055-flow_3"/>
          <p:cNvCxnSpPr>
            <a:stCxn id="6" idx="2"/>
            <a:endCxn id="7" idx="0"/>
          </p:cNvCxnSpPr>
          <p:nvPr/>
        </p:nvCxnSpPr>
        <p:spPr>
          <a:xfrm flipH="1">
            <a:off x="8820150" y="3048000"/>
            <a:ext cx="908050" cy="904875"/>
          </a:xfrm>
          <a:prstGeom prst="bentConnector4">
            <a:avLst>
              <a:gd name="adj1" fmla="val 0"/>
              <a:gd name="adj2" fmla="val 50000"/>
            </a:avLst>
          </a:prstGeom>
          <a:ln w="28575">
            <a:solidFill>
              <a:srgbClr val="3D3D3D"/>
            </a:solidFill>
            <a:prstDash val="solid"/>
            <a:tailEnd type="arrow" w="med" len="med"/>
          </a:ln>
        </p:spPr>
      </p:cxnSp>
      <p:cxnSp>
        <p:nvCxnSpPr>
          <p:cNvPr id="41" name="U06-DG-055-flow_4"/>
          <p:cNvCxnSpPr>
            <a:stCxn id="7" idx="1"/>
            <a:endCxn id="8" idx="3"/>
          </p:cNvCxnSpPr>
          <p:nvPr/>
        </p:nvCxnSpPr>
        <p:spPr>
          <a:xfrm flipH="1">
            <a:off x="5962650" y="4643438"/>
            <a:ext cx="266700" cy="0"/>
          </a:xfrm>
          <a:prstGeom prst="straightConnector1">
            <a:avLst/>
          </a:prstGeom>
          <a:ln w="28575">
            <a:solidFill>
              <a:srgbClr val="3D3D3D"/>
            </a:solidFill>
            <a:prstDash val="solid"/>
            <a:tailEnd type="arrow" w="med" len="med"/>
          </a:ln>
        </p:spPr>
      </p:cxnSp>
      <p:sp>
        <p:nvSpPr>
          <p:cNvPr id="13" name="U06-DG-055-stage_1-box" descr="Diagrama sobre «Tramo 1: del movimiento al potencial receptor»; organiza cinco etapas con entrada, transformación, salida y qué no permite concluir." title="Texto alternativo U06-090">
            <a:extLst>
              <a:ext uri="{FF2B5EF4-FFF2-40B4-BE49-F238E27FC236}">
                <a16:creationId xmlns:a16="http://schemas.microsoft.com/office/drawing/2014/main" id="{B22CFBE1-4BC4-483E-BCB1-041F857DDF18}"/>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4" name="U06-DG-055-stage_1-title">
            <a:extLst>
              <a:ext uri="{FF2B5EF4-FFF2-40B4-BE49-F238E27FC236}">
                <a16:creationId xmlns:a16="http://schemas.microsoft.com/office/drawing/2014/main" id="{057007F5-8605-4FCB-9565-F20029319C8A}"/>
              </a:ext>
            </a:extLst>
          </p:cNvPr>
          <p:cNvSpPr>
            <a:spLocks noGrp="1"/>
          </p:cNvSpPr>
          <p:nvPr/>
        </p:nvSpPr>
        <p:spPr>
          <a:xfrm>
            <a:off x="971550" y="1809750"/>
            <a:ext cx="298450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Movimiento relativo</a:t>
            </a:r>
          </a:p>
        </p:txBody>
      </p:sp>
      <p:sp>
        <p:nvSpPr>
          <p:cNvPr id="15" name="U06-DG-055-stage_1-body">
            <a:extLst>
              <a:ext uri="{FF2B5EF4-FFF2-40B4-BE49-F238E27FC236}">
                <a16:creationId xmlns:a16="http://schemas.microsoft.com/office/drawing/2014/main" id="{2AFE4018-F9F5-45BA-A75A-0013C8B1DB4C}"/>
              </a:ext>
            </a:extLst>
          </p:cNvPr>
          <p:cNvSpPr>
            <a:spLocks noGrp="1"/>
          </p:cNvSpPr>
          <p:nvPr/>
        </p:nvSpPr>
        <p:spPr>
          <a:xfrm>
            <a:off x="971550" y="2581275"/>
            <a:ext cx="2984500" cy="3714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membranas</a:t>
            </a:r>
          </a:p>
        </p:txBody>
      </p:sp>
      <p:sp>
        <p:nvSpPr>
          <p:cNvPr id="16" name="U06-DG-055-stage_2-box">
            <a:extLst>
              <a:ext uri="{FF2B5EF4-FFF2-40B4-BE49-F238E27FC236}">
                <a16:creationId xmlns:a16="http://schemas.microsoft.com/office/drawing/2014/main" id="{EC5A84D8-473C-474C-83AB-316ADD2EF99E}"/>
              </a:ext>
            </a:extLst>
          </p:cNvPr>
          <p:cNvSpPr>
            <a:spLocks noGrp="1"/>
          </p:cNvSpPr>
          <p:nvPr/>
        </p:nvSpPr>
        <p:spPr>
          <a:xfrm>
            <a:off x="4413250" y="1666875"/>
            <a:ext cx="3365500" cy="1381125"/>
          </a:xfrm>
          <a:prstGeom prst="roundRect">
            <a:avLst>
              <a:gd name="adj" fmla="val 6897"/>
            </a:avLst>
          </a:prstGeom>
          <a:solidFill>
            <a:srgbClr val="E7F1F1"/>
          </a:solidFill>
          <a:ln w="19050">
            <a:solidFill>
              <a:srgbClr val="2F7E83"/>
            </a:solidFill>
            <a:prstDash val="solid"/>
          </a:ln>
        </p:spPr>
      </p:sp>
      <p:sp>
        <p:nvSpPr>
          <p:cNvPr id="17" name="U06-DG-055-stage_2-title">
            <a:extLst>
              <a:ext uri="{FF2B5EF4-FFF2-40B4-BE49-F238E27FC236}">
                <a16:creationId xmlns:a16="http://schemas.microsoft.com/office/drawing/2014/main" id="{5D3C9A84-FDDD-4851-8AC3-85D5880957B3}"/>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Deflexión del haz</a:t>
            </a:r>
          </a:p>
        </p:txBody>
      </p:sp>
      <p:sp>
        <p:nvSpPr>
          <p:cNvPr id="18" name="U06-DG-055-stage_2-body">
            <a:extLst>
              <a:ext uri="{FF2B5EF4-FFF2-40B4-BE49-F238E27FC236}">
                <a16:creationId xmlns:a16="http://schemas.microsoft.com/office/drawing/2014/main" id="{94D4910A-0369-4F43-AA15-7E349170D0D6}"/>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dirección</a:t>
            </a:r>
          </a:p>
        </p:txBody>
      </p:sp>
      <p:sp>
        <p:nvSpPr>
          <p:cNvPr id="19" name="U06-DG-055-stage_3-box">
            <a:extLst>
              <a:ext uri="{FF2B5EF4-FFF2-40B4-BE49-F238E27FC236}">
                <a16:creationId xmlns:a16="http://schemas.microsoft.com/office/drawing/2014/main" id="{C52D1E37-1E6C-424B-90A7-0B1EB85A3357}"/>
              </a:ext>
            </a:extLst>
          </p:cNvPr>
          <p:cNvSpPr>
            <a:spLocks noGrp="1"/>
          </p:cNvSpPr>
          <p:nvPr/>
        </p:nvSpPr>
        <p:spPr>
          <a:xfrm>
            <a:off x="8045450" y="1666875"/>
            <a:ext cx="3365500" cy="1381125"/>
          </a:xfrm>
          <a:prstGeom prst="roundRect">
            <a:avLst>
              <a:gd name="adj" fmla="val 6897"/>
            </a:avLst>
          </a:prstGeom>
          <a:solidFill>
            <a:srgbClr val="F4E9EF"/>
          </a:solidFill>
          <a:ln w="19050">
            <a:solidFill>
              <a:srgbClr val="4D1434"/>
            </a:solidFill>
            <a:prstDash val="solid"/>
          </a:ln>
        </p:spPr>
      </p:sp>
      <p:sp>
        <p:nvSpPr>
          <p:cNvPr id="20" name="U06-DG-055-stage_3-title">
            <a:extLst>
              <a:ext uri="{FF2B5EF4-FFF2-40B4-BE49-F238E27FC236}">
                <a16:creationId xmlns:a16="http://schemas.microsoft.com/office/drawing/2014/main" id="{0B378740-32A0-467B-B17C-D25B5ADD8073}"/>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Canales</a:t>
            </a:r>
          </a:p>
        </p:txBody>
      </p:sp>
      <p:sp>
        <p:nvSpPr>
          <p:cNvPr id="21" name="U06-DG-055-stage_3-body">
            <a:extLst>
              <a:ext uri="{FF2B5EF4-FFF2-40B4-BE49-F238E27FC236}">
                <a16:creationId xmlns:a16="http://schemas.microsoft.com/office/drawing/2014/main" id="{B54FA5E3-0AB5-4EF2-80EB-FC5CBCA1D5AD}"/>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probabilidad cambia</a:t>
            </a:r>
          </a:p>
        </p:txBody>
      </p:sp>
      <p:sp>
        <p:nvSpPr>
          <p:cNvPr id="22" name="U06-DG-055-stage_4-box">
            <a:extLst>
              <a:ext uri="{FF2B5EF4-FFF2-40B4-BE49-F238E27FC236}">
                <a16:creationId xmlns:a16="http://schemas.microsoft.com/office/drawing/2014/main" id="{1E53DB5A-3611-4462-8A47-404D6E3604AA}"/>
              </a:ext>
            </a:extLst>
          </p:cNvPr>
          <p:cNvSpPr>
            <a:spLocks noGrp="1"/>
          </p:cNvSpPr>
          <p:nvPr/>
        </p:nvSpPr>
        <p:spPr>
          <a:xfrm>
            <a:off x="6229350" y="3952875"/>
            <a:ext cx="5181600" cy="1381125"/>
          </a:xfrm>
          <a:prstGeom prst="roundRect">
            <a:avLst>
              <a:gd name="adj" fmla="val 6897"/>
            </a:avLst>
          </a:prstGeom>
          <a:solidFill>
            <a:srgbClr val="F7F6F2"/>
          </a:solidFill>
          <a:ln w="19050">
            <a:solidFill>
              <a:srgbClr val="969FA7"/>
            </a:solidFill>
            <a:prstDash val="solid"/>
          </a:ln>
        </p:spPr>
      </p:sp>
      <p:sp>
        <p:nvSpPr>
          <p:cNvPr id="23" name="U06-DG-055-stage_4-title">
            <a:extLst>
              <a:ext uri="{FF2B5EF4-FFF2-40B4-BE49-F238E27FC236}">
                <a16:creationId xmlns:a16="http://schemas.microsoft.com/office/drawing/2014/main" id="{15D8B589-2037-4CFE-9FDE-7C751EE21E28}"/>
              </a:ext>
            </a:extLst>
          </p:cNvPr>
          <p:cNvSpPr>
            <a:spLocks noGrp="1"/>
          </p:cNvSpPr>
          <p:nvPr/>
        </p:nvSpPr>
        <p:spPr>
          <a:xfrm>
            <a:off x="64198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Corriente iónica</a:t>
            </a:r>
          </a:p>
        </p:txBody>
      </p:sp>
      <p:sp>
        <p:nvSpPr>
          <p:cNvPr id="24" name="U06-DG-055-stage_4-body">
            <a:extLst>
              <a:ext uri="{FF2B5EF4-FFF2-40B4-BE49-F238E27FC236}">
                <a16:creationId xmlns:a16="http://schemas.microsoft.com/office/drawing/2014/main" id="{58AD5E8C-A423-467F-90E9-067FC2D83058}"/>
              </a:ext>
            </a:extLst>
          </p:cNvPr>
          <p:cNvSpPr>
            <a:spLocks noGrp="1"/>
          </p:cNvSpPr>
          <p:nvPr/>
        </p:nvSpPr>
        <p:spPr>
          <a:xfrm>
            <a:off x="64198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K⁺</a:t>
            </a:r>
          </a:p>
        </p:txBody>
      </p:sp>
      <p:sp>
        <p:nvSpPr>
          <p:cNvPr id="25" name="U06-DG-055-stage_5-box">
            <a:extLst>
              <a:ext uri="{FF2B5EF4-FFF2-40B4-BE49-F238E27FC236}">
                <a16:creationId xmlns:a16="http://schemas.microsoft.com/office/drawing/2014/main" id="{73914129-BF14-4B88-8C7A-90CCFD098867}"/>
              </a:ext>
            </a:extLst>
          </p:cNvPr>
          <p:cNvSpPr>
            <a:spLocks noGrp="1"/>
          </p:cNvSpPr>
          <p:nvPr/>
        </p:nvSpPr>
        <p:spPr>
          <a:xfrm>
            <a:off x="781050" y="3952875"/>
            <a:ext cx="5181600" cy="1381125"/>
          </a:xfrm>
          <a:prstGeom prst="roundRect">
            <a:avLst>
              <a:gd name="adj" fmla="val 6897"/>
            </a:avLst>
          </a:prstGeom>
          <a:solidFill>
            <a:srgbClr val="F8EDE2"/>
          </a:solidFill>
          <a:ln w="19050">
            <a:solidFill>
              <a:srgbClr val="9F541A"/>
            </a:solidFill>
            <a:prstDash val="solid"/>
          </a:ln>
        </p:spPr>
      </p:sp>
      <p:sp>
        <p:nvSpPr>
          <p:cNvPr id="26" name="U06-DG-055-stage_5-title">
            <a:extLst>
              <a:ext uri="{FF2B5EF4-FFF2-40B4-BE49-F238E27FC236}">
                <a16:creationId xmlns:a16="http://schemas.microsoft.com/office/drawing/2014/main" id="{1F05963B-8A53-429B-897F-2953EE273BF4}"/>
              </a:ext>
            </a:extLst>
          </p:cNvPr>
          <p:cNvSpPr>
            <a:spLocks noGrp="1"/>
          </p:cNvSpPr>
          <p:nvPr/>
        </p:nvSpPr>
        <p:spPr>
          <a:xfrm>
            <a:off x="9715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Potencial receptor</a:t>
            </a:r>
          </a:p>
        </p:txBody>
      </p:sp>
      <p:sp>
        <p:nvSpPr>
          <p:cNvPr id="27" name="U06-DG-055-stage_5-body">
            <a:extLst>
              <a:ext uri="{FF2B5EF4-FFF2-40B4-BE49-F238E27FC236}">
                <a16:creationId xmlns:a16="http://schemas.microsoft.com/office/drawing/2014/main" id="{FBEB7DB1-D36C-4548-AE17-AF4C998076E0}"/>
              </a:ext>
            </a:extLst>
          </p:cNvPr>
          <p:cNvSpPr>
            <a:spLocks noGrp="1"/>
          </p:cNvSpPr>
          <p:nvPr/>
        </p:nvSpPr>
        <p:spPr>
          <a:xfrm>
            <a:off x="9715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graduado</a:t>
            </a:r>
          </a:p>
        </p:txBody>
      </p:sp>
      <p:sp>
        <p:nvSpPr>
          <p:cNvPr id="28" name="caption">
            <a:extLst>
              <a:ext uri="{FF2B5EF4-FFF2-40B4-BE49-F238E27FC236}">
                <a16:creationId xmlns:a16="http://schemas.microsoft.com/office/drawing/2014/main" id="{CB0F6E3F-3195-49E4-B64B-07B0F6146317}"/>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Movimiento relativo → deflexión → cambio de canales → corriente → potencial rece…</a:t>
            </a:r>
          </a:p>
        </p:txBody>
      </p:sp>
      <p:sp>
        <p:nvSpPr>
          <p:cNvPr id="29" name="credit">
            <a:extLst>
              <a:ext uri="{FF2B5EF4-FFF2-40B4-BE49-F238E27FC236}">
                <a16:creationId xmlns:a16="http://schemas.microsoft.com/office/drawing/2014/main" id="{1F8DE1EB-AC51-4CC7-87B2-DC5AC9A87845}"/>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BE09B198-5384-474D-88AA-A13DC69412B8}"/>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Tramo 2: del potencial receptor a la señal neural</a:t>
            </a:r>
          </a:p>
        </p:txBody>
      </p:sp>
      <p:sp>
        <p:nvSpPr>
          <p:cNvPr id="2" name="slide-subtitle">
            <a:extLst>
              <a:ext uri="{FF2B5EF4-FFF2-40B4-BE49-F238E27FC236}">
                <a16:creationId xmlns:a16="http://schemas.microsoft.com/office/drawing/2014/main" id="{EF9A89BA-FA81-46FB-82CB-6C5770AC989E}"/>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Potencial receptor → Ca²⁺ → glutamato → respuesta de fibra → potenciales de acción.</a:t>
            </a:r>
          </a:p>
        </p:txBody>
      </p:sp>
      <p:sp>
        <p:nvSpPr>
          <p:cNvPr id="3" name="eyebrow">
            <a:extLst>
              <a:ext uri="{FF2B5EF4-FFF2-40B4-BE49-F238E27FC236}">
                <a16:creationId xmlns:a16="http://schemas.microsoft.com/office/drawing/2014/main" id="{BD8FED49-4CEA-44A0-89BC-8B17B938298A}"/>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091</a:t>
            </a:r>
          </a:p>
        </p:txBody>
      </p:sp>
      <p:sp>
        <p:nvSpPr>
          <p:cNvPr id="4" name="U06-DG-056-stage_1-anchor">
            <a:extLst>
              <a:ext uri="{FF2B5EF4-FFF2-40B4-BE49-F238E27FC236}">
                <a16:creationId xmlns:a16="http://schemas.microsoft.com/office/drawing/2014/main" id="{66F503F9-5C49-4273-9EC4-9C61CC6E443C}"/>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56-stage_2-anchor">
            <a:extLst>
              <a:ext uri="{FF2B5EF4-FFF2-40B4-BE49-F238E27FC236}">
                <a16:creationId xmlns:a16="http://schemas.microsoft.com/office/drawing/2014/main" id="{5AF46EA5-25AF-4495-85BD-D8CADF6E5FE5}"/>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56-stage_3-anchor">
            <a:extLst>
              <a:ext uri="{FF2B5EF4-FFF2-40B4-BE49-F238E27FC236}">
                <a16:creationId xmlns:a16="http://schemas.microsoft.com/office/drawing/2014/main" id="{5F0688D9-9F09-4A90-AAE8-9A6FE1E9FDEF}"/>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56-stage_4-anchor">
            <a:extLst>
              <a:ext uri="{FF2B5EF4-FFF2-40B4-BE49-F238E27FC236}">
                <a16:creationId xmlns:a16="http://schemas.microsoft.com/office/drawing/2014/main" id="{10C7999C-13F4-48BD-B51D-E45E27FB001E}"/>
              </a:ext>
            </a:extLst>
          </p:cNvPr>
          <p:cNvSpPr>
            <a:spLocks noGrp="1"/>
          </p:cNvSpPr>
          <p:nvPr/>
        </p:nvSpPr>
        <p:spPr>
          <a:xfrm>
            <a:off x="6229350" y="3952875"/>
            <a:ext cx="5181600" cy="1381125"/>
          </a:xfrm>
          <a:prstGeom prst="roundRect">
            <a:avLst>
              <a:gd name="adj" fmla="val 6897"/>
            </a:avLst>
          </a:prstGeom>
          <a:noFill/>
          <a:ln w="0">
            <a:noFill/>
            <a:prstDash val="solid"/>
          </a:ln>
        </p:spPr>
      </p:sp>
      <p:sp>
        <p:nvSpPr>
          <p:cNvPr id="8" name="U06-DG-056-stage_5-anchor">
            <a:extLst>
              <a:ext uri="{FF2B5EF4-FFF2-40B4-BE49-F238E27FC236}">
                <a16:creationId xmlns:a16="http://schemas.microsoft.com/office/drawing/2014/main" id="{24A844A7-596F-48DD-AC43-2A4F0A568EB7}"/>
              </a:ext>
            </a:extLst>
          </p:cNvPr>
          <p:cNvSpPr>
            <a:spLocks noGrp="1"/>
          </p:cNvSpPr>
          <p:nvPr/>
        </p:nvSpPr>
        <p:spPr>
          <a:xfrm>
            <a:off x="781050" y="3952875"/>
            <a:ext cx="5181600" cy="1381125"/>
          </a:xfrm>
          <a:prstGeom prst="roundRect">
            <a:avLst>
              <a:gd name="adj" fmla="val 6897"/>
            </a:avLst>
          </a:prstGeom>
          <a:noFill/>
          <a:ln w="0">
            <a:noFill/>
            <a:prstDash val="solid"/>
          </a:ln>
        </p:spPr>
      </p:sp>
      <p:cxnSp>
        <p:nvCxnSpPr>
          <p:cNvPr id="38" name="U06-DG-056-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39" name="U06-DG-056-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0" name="U06-DG-056-flow_3"/>
          <p:cNvCxnSpPr>
            <a:stCxn id="6" idx="2"/>
            <a:endCxn id="7" idx="0"/>
          </p:cNvCxnSpPr>
          <p:nvPr/>
        </p:nvCxnSpPr>
        <p:spPr>
          <a:xfrm flipH="1">
            <a:off x="8820150" y="3048000"/>
            <a:ext cx="908050" cy="904875"/>
          </a:xfrm>
          <a:prstGeom prst="bentConnector4">
            <a:avLst>
              <a:gd name="adj1" fmla="val 0"/>
              <a:gd name="adj2" fmla="val 50000"/>
            </a:avLst>
          </a:prstGeom>
          <a:ln w="28575">
            <a:solidFill>
              <a:srgbClr val="3D3D3D"/>
            </a:solidFill>
            <a:prstDash val="solid"/>
            <a:tailEnd type="arrow" w="med" len="med"/>
          </a:ln>
        </p:spPr>
      </p:cxnSp>
      <p:cxnSp>
        <p:nvCxnSpPr>
          <p:cNvPr id="41" name="U06-DG-056-flow_4"/>
          <p:cNvCxnSpPr>
            <a:stCxn id="7" idx="1"/>
            <a:endCxn id="8" idx="3"/>
          </p:cNvCxnSpPr>
          <p:nvPr/>
        </p:nvCxnSpPr>
        <p:spPr>
          <a:xfrm flipH="1">
            <a:off x="5962650" y="4643438"/>
            <a:ext cx="266700" cy="0"/>
          </a:xfrm>
          <a:prstGeom prst="straightConnector1">
            <a:avLst/>
          </a:prstGeom>
          <a:ln w="28575">
            <a:solidFill>
              <a:srgbClr val="3D3D3D"/>
            </a:solidFill>
            <a:prstDash val="solid"/>
            <a:tailEnd type="arrow" w="med" len="med"/>
          </a:ln>
        </p:spPr>
      </p:cxnSp>
      <p:sp>
        <p:nvSpPr>
          <p:cNvPr id="13" name="U06-DG-056-stage_1-box" descr="Diagrama sobre «Tramo 2: del potencial receptor a la señal neural»; organiza cinco etapas; ubicación explícita de célula y fibra aferente." title="Texto alternativo U06-091">
            <a:extLst>
              <a:ext uri="{FF2B5EF4-FFF2-40B4-BE49-F238E27FC236}">
                <a16:creationId xmlns:a16="http://schemas.microsoft.com/office/drawing/2014/main" id="{D81BE224-DDB6-4C19-9124-7FB013F5E5D7}"/>
              </a:ext>
            </a:extLst>
          </p:cNvPr>
          <p:cNvSpPr>
            <a:spLocks noGrp="1"/>
          </p:cNvSpPr>
          <p:nvPr/>
        </p:nvSpPr>
        <p:spPr>
          <a:xfrm>
            <a:off x="781050" y="1666875"/>
            <a:ext cx="3365500" cy="1381125"/>
          </a:xfrm>
          <a:prstGeom prst="roundRect">
            <a:avLst>
              <a:gd name="adj" fmla="val 6897"/>
            </a:avLst>
          </a:prstGeom>
          <a:solidFill>
            <a:srgbClr val="F4E9EF"/>
          </a:solidFill>
          <a:ln w="19050">
            <a:solidFill>
              <a:srgbClr val="4D1434"/>
            </a:solidFill>
            <a:prstDash val="solid"/>
          </a:ln>
        </p:spPr>
      </p:sp>
      <p:sp>
        <p:nvSpPr>
          <p:cNvPr id="14" name="U06-DG-056-stage_1-title">
            <a:extLst>
              <a:ext uri="{FF2B5EF4-FFF2-40B4-BE49-F238E27FC236}">
                <a16:creationId xmlns:a16="http://schemas.microsoft.com/office/drawing/2014/main" id="{94B37461-1175-404E-A28B-C9E1678262A2}"/>
              </a:ext>
            </a:extLst>
          </p:cNvPr>
          <p:cNvSpPr>
            <a:spLocks noGrp="1"/>
          </p:cNvSpPr>
          <p:nvPr/>
        </p:nvSpPr>
        <p:spPr>
          <a:xfrm>
            <a:off x="9715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Potencial receptor</a:t>
            </a:r>
          </a:p>
        </p:txBody>
      </p:sp>
      <p:sp>
        <p:nvSpPr>
          <p:cNvPr id="15" name="U06-DG-056-stage_1-body">
            <a:extLst>
              <a:ext uri="{FF2B5EF4-FFF2-40B4-BE49-F238E27FC236}">
                <a16:creationId xmlns:a16="http://schemas.microsoft.com/office/drawing/2014/main" id="{AAC96403-9F3B-43CA-9AEA-6385726BB643}"/>
              </a:ext>
            </a:extLst>
          </p:cNvPr>
          <p:cNvSpPr>
            <a:spLocks noGrp="1"/>
          </p:cNvSpPr>
          <p:nvPr/>
        </p:nvSpPr>
        <p:spPr>
          <a:xfrm>
            <a:off x="9715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graduado</a:t>
            </a:r>
          </a:p>
        </p:txBody>
      </p:sp>
      <p:sp>
        <p:nvSpPr>
          <p:cNvPr id="16" name="U06-DG-056-stage_2-box">
            <a:extLst>
              <a:ext uri="{FF2B5EF4-FFF2-40B4-BE49-F238E27FC236}">
                <a16:creationId xmlns:a16="http://schemas.microsoft.com/office/drawing/2014/main" id="{03A66B2E-7D14-477B-A0FE-46872F7F326B}"/>
              </a:ext>
            </a:extLst>
          </p:cNvPr>
          <p:cNvSpPr>
            <a:spLocks noGrp="1"/>
          </p:cNvSpPr>
          <p:nvPr/>
        </p:nvSpPr>
        <p:spPr>
          <a:xfrm>
            <a:off x="4413250" y="1666875"/>
            <a:ext cx="3365500" cy="1381125"/>
          </a:xfrm>
          <a:prstGeom prst="roundRect">
            <a:avLst>
              <a:gd name="adj" fmla="val 6897"/>
            </a:avLst>
          </a:prstGeom>
          <a:solidFill>
            <a:srgbClr val="E7F1F1"/>
          </a:solidFill>
          <a:ln w="19050">
            <a:solidFill>
              <a:srgbClr val="2F7E83"/>
            </a:solidFill>
            <a:prstDash val="solid"/>
          </a:ln>
        </p:spPr>
      </p:sp>
      <p:sp>
        <p:nvSpPr>
          <p:cNvPr id="17" name="U06-DG-056-stage_2-title">
            <a:extLst>
              <a:ext uri="{FF2B5EF4-FFF2-40B4-BE49-F238E27FC236}">
                <a16:creationId xmlns:a16="http://schemas.microsoft.com/office/drawing/2014/main" id="{3B84AA67-98F7-4E9F-9261-440C04689F8E}"/>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Canales de Ca²⁺</a:t>
            </a:r>
          </a:p>
        </p:txBody>
      </p:sp>
      <p:sp>
        <p:nvSpPr>
          <p:cNvPr id="18" name="U06-DG-056-stage_2-body">
            <a:extLst>
              <a:ext uri="{FF2B5EF4-FFF2-40B4-BE49-F238E27FC236}">
                <a16:creationId xmlns:a16="http://schemas.microsoft.com/office/drawing/2014/main" id="{4055C04A-899B-4E5B-BCC8-094CE9849F2F}"/>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zona basal</a:t>
            </a:r>
          </a:p>
        </p:txBody>
      </p:sp>
      <p:sp>
        <p:nvSpPr>
          <p:cNvPr id="19" name="U06-DG-056-stage_3-box">
            <a:extLst>
              <a:ext uri="{FF2B5EF4-FFF2-40B4-BE49-F238E27FC236}">
                <a16:creationId xmlns:a16="http://schemas.microsoft.com/office/drawing/2014/main" id="{9A8A59C2-3BD3-436F-B9C0-06958CEF30A5}"/>
              </a:ext>
            </a:extLst>
          </p:cNvPr>
          <p:cNvSpPr>
            <a:spLocks noGrp="1"/>
          </p:cNvSpPr>
          <p:nvPr/>
        </p:nvSpPr>
        <p:spPr>
          <a:xfrm>
            <a:off x="8045450" y="1666875"/>
            <a:ext cx="3365500" cy="1381125"/>
          </a:xfrm>
          <a:prstGeom prst="roundRect">
            <a:avLst>
              <a:gd name="adj" fmla="val 6897"/>
            </a:avLst>
          </a:prstGeom>
          <a:solidFill>
            <a:srgbClr val="F8EDE2"/>
          </a:solidFill>
          <a:ln w="19050">
            <a:solidFill>
              <a:srgbClr val="9F541A"/>
            </a:solidFill>
            <a:prstDash val="solid"/>
          </a:ln>
        </p:spPr>
      </p:sp>
      <p:sp>
        <p:nvSpPr>
          <p:cNvPr id="20" name="U06-DG-056-stage_3-title">
            <a:extLst>
              <a:ext uri="{FF2B5EF4-FFF2-40B4-BE49-F238E27FC236}">
                <a16:creationId xmlns:a16="http://schemas.microsoft.com/office/drawing/2014/main" id="{0968405D-FBFF-4909-AE57-81AB2B06CA64}"/>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Glutamato</a:t>
            </a:r>
          </a:p>
        </p:txBody>
      </p:sp>
      <p:sp>
        <p:nvSpPr>
          <p:cNvPr id="21" name="U06-DG-056-stage_3-body">
            <a:extLst>
              <a:ext uri="{FF2B5EF4-FFF2-40B4-BE49-F238E27FC236}">
                <a16:creationId xmlns:a16="http://schemas.microsoft.com/office/drawing/2014/main" id="{146994B5-5491-43A3-A4CA-15CCA4B02703}"/>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sinapsis</a:t>
            </a:r>
          </a:p>
        </p:txBody>
      </p:sp>
      <p:sp>
        <p:nvSpPr>
          <p:cNvPr id="22" name="U06-DG-056-stage_4-box">
            <a:extLst>
              <a:ext uri="{FF2B5EF4-FFF2-40B4-BE49-F238E27FC236}">
                <a16:creationId xmlns:a16="http://schemas.microsoft.com/office/drawing/2014/main" id="{388202B7-88B5-472A-94ED-D17E08627A5E}"/>
              </a:ext>
            </a:extLst>
          </p:cNvPr>
          <p:cNvSpPr>
            <a:spLocks noGrp="1"/>
          </p:cNvSpPr>
          <p:nvPr/>
        </p:nvSpPr>
        <p:spPr>
          <a:xfrm>
            <a:off x="6229350" y="3952875"/>
            <a:ext cx="5181600" cy="1381125"/>
          </a:xfrm>
          <a:prstGeom prst="roundRect">
            <a:avLst>
              <a:gd name="adj" fmla="val 6897"/>
            </a:avLst>
          </a:prstGeom>
          <a:solidFill>
            <a:srgbClr val="F7F6F2"/>
          </a:solidFill>
          <a:ln w="19050">
            <a:solidFill>
              <a:srgbClr val="969FA7"/>
            </a:solidFill>
            <a:prstDash val="solid"/>
          </a:ln>
        </p:spPr>
      </p:sp>
      <p:sp>
        <p:nvSpPr>
          <p:cNvPr id="23" name="U06-DG-056-stage_4-title">
            <a:extLst>
              <a:ext uri="{FF2B5EF4-FFF2-40B4-BE49-F238E27FC236}">
                <a16:creationId xmlns:a16="http://schemas.microsoft.com/office/drawing/2014/main" id="{C741EE09-D78B-4826-B02B-C93EA6620BDA}"/>
              </a:ext>
            </a:extLst>
          </p:cNvPr>
          <p:cNvSpPr>
            <a:spLocks noGrp="1"/>
          </p:cNvSpPr>
          <p:nvPr/>
        </p:nvSpPr>
        <p:spPr>
          <a:xfrm>
            <a:off x="64198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Fibra aferente</a:t>
            </a:r>
          </a:p>
        </p:txBody>
      </p:sp>
      <p:sp>
        <p:nvSpPr>
          <p:cNvPr id="24" name="U06-DG-056-stage_4-body">
            <a:extLst>
              <a:ext uri="{FF2B5EF4-FFF2-40B4-BE49-F238E27FC236}">
                <a16:creationId xmlns:a16="http://schemas.microsoft.com/office/drawing/2014/main" id="{A4CC02D9-32A0-43A4-8593-767480AE7673}"/>
              </a:ext>
            </a:extLst>
          </p:cNvPr>
          <p:cNvSpPr>
            <a:spLocks noGrp="1"/>
          </p:cNvSpPr>
          <p:nvPr/>
        </p:nvSpPr>
        <p:spPr>
          <a:xfrm>
            <a:off x="64198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integra señal</a:t>
            </a:r>
          </a:p>
        </p:txBody>
      </p:sp>
      <p:sp>
        <p:nvSpPr>
          <p:cNvPr id="25" name="U06-DG-056-stage_5-box">
            <a:extLst>
              <a:ext uri="{FF2B5EF4-FFF2-40B4-BE49-F238E27FC236}">
                <a16:creationId xmlns:a16="http://schemas.microsoft.com/office/drawing/2014/main" id="{045C3CB2-7CE7-454F-8F49-4529C360D6DA}"/>
              </a:ext>
            </a:extLst>
          </p:cNvPr>
          <p:cNvSpPr>
            <a:spLocks noGrp="1"/>
          </p:cNvSpPr>
          <p:nvPr/>
        </p:nvSpPr>
        <p:spPr>
          <a:xfrm>
            <a:off x="781050" y="3952875"/>
            <a:ext cx="5181600" cy="1381125"/>
          </a:xfrm>
          <a:prstGeom prst="roundRect">
            <a:avLst>
              <a:gd name="adj" fmla="val 6897"/>
            </a:avLst>
          </a:prstGeom>
          <a:solidFill>
            <a:srgbClr val="F8EDE2"/>
          </a:solidFill>
          <a:ln w="19050">
            <a:solidFill>
              <a:srgbClr val="9F541A"/>
            </a:solidFill>
            <a:prstDash val="solid"/>
          </a:ln>
        </p:spPr>
      </p:sp>
      <p:sp>
        <p:nvSpPr>
          <p:cNvPr id="26" name="U06-DG-056-stage_5-title">
            <a:extLst>
              <a:ext uri="{FF2B5EF4-FFF2-40B4-BE49-F238E27FC236}">
                <a16:creationId xmlns:a16="http://schemas.microsoft.com/office/drawing/2014/main" id="{3D101988-C542-4716-B4CA-734070159359}"/>
              </a:ext>
            </a:extLst>
          </p:cNvPr>
          <p:cNvSpPr>
            <a:spLocks noGrp="1"/>
          </p:cNvSpPr>
          <p:nvPr/>
        </p:nvSpPr>
        <p:spPr>
          <a:xfrm>
            <a:off x="9715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Potencial de acción</a:t>
            </a:r>
          </a:p>
        </p:txBody>
      </p:sp>
      <p:sp>
        <p:nvSpPr>
          <p:cNvPr id="27" name="U06-DG-056-stage_5-body">
            <a:extLst>
              <a:ext uri="{FF2B5EF4-FFF2-40B4-BE49-F238E27FC236}">
                <a16:creationId xmlns:a16="http://schemas.microsoft.com/office/drawing/2014/main" id="{CC223DD0-CC46-4EED-B416-FE7EA74C372D}"/>
              </a:ext>
            </a:extLst>
          </p:cNvPr>
          <p:cNvSpPr>
            <a:spLocks noGrp="1"/>
          </p:cNvSpPr>
          <p:nvPr/>
        </p:nvSpPr>
        <p:spPr>
          <a:xfrm>
            <a:off x="9715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eventos</a:t>
            </a:r>
          </a:p>
        </p:txBody>
      </p:sp>
      <p:sp>
        <p:nvSpPr>
          <p:cNvPr id="28" name="caption">
            <a:extLst>
              <a:ext uri="{FF2B5EF4-FFF2-40B4-BE49-F238E27FC236}">
                <a16:creationId xmlns:a16="http://schemas.microsoft.com/office/drawing/2014/main" id="{5BB40F06-623C-4140-9AD6-CE974E61E545}"/>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Potencial receptor → Ca²⁺ → glutamato → respuesta de fibra → potenciales de acción.</a:t>
            </a:r>
          </a:p>
        </p:txBody>
      </p:sp>
      <p:sp>
        <p:nvSpPr>
          <p:cNvPr id="29" name="credit">
            <a:extLst>
              <a:ext uri="{FF2B5EF4-FFF2-40B4-BE49-F238E27FC236}">
                <a16:creationId xmlns:a16="http://schemas.microsoft.com/office/drawing/2014/main" id="{F92F3B7F-26FA-48C2-A767-AD1DC1D3553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6D0A9393-464C-4764-AA9B-104F49541F0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Ordená la transducción y justificá dos enlaces</a:t>
            </a:r>
          </a:p>
        </p:txBody>
      </p:sp>
      <p:sp>
        <p:nvSpPr>
          <p:cNvPr id="2" name="slide-subtitle">
            <a:extLst>
              <a:ext uri="{FF2B5EF4-FFF2-40B4-BE49-F238E27FC236}">
                <a16:creationId xmlns:a16="http://schemas.microsoft.com/office/drawing/2014/main" id="{DE257E5E-A31B-479C-B286-E39BB6288E8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Una secuencia correcta debe explicar por qué cada salida puede ser entrada de la etapa siguiente.</a:t>
            </a:r>
          </a:p>
        </p:txBody>
      </p:sp>
      <p:sp>
        <p:nvSpPr>
          <p:cNvPr id="3" name="eyebrow">
            <a:extLst>
              <a:ext uri="{FF2B5EF4-FFF2-40B4-BE49-F238E27FC236}">
                <a16:creationId xmlns:a16="http://schemas.microsoft.com/office/drawing/2014/main" id="{E399822C-BCC9-4CFB-8939-B2B7F578F61F}"/>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092</a:t>
            </a:r>
          </a:p>
        </p:txBody>
      </p:sp>
      <p:sp>
        <p:nvSpPr>
          <p:cNvPr id="4" name="U06-DG-055-stage_1-anchor">
            <a:extLst>
              <a:ext uri="{FF2B5EF4-FFF2-40B4-BE49-F238E27FC236}">
                <a16:creationId xmlns:a16="http://schemas.microsoft.com/office/drawing/2014/main" id="{A084E02E-B934-4920-8ECC-D91097CEEF5C}"/>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55-stage_2-anchor">
            <a:extLst>
              <a:ext uri="{FF2B5EF4-FFF2-40B4-BE49-F238E27FC236}">
                <a16:creationId xmlns:a16="http://schemas.microsoft.com/office/drawing/2014/main" id="{9A701954-28F8-43A2-A0CA-3585E8FFF984}"/>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55-stage_3-anchor">
            <a:extLst>
              <a:ext uri="{FF2B5EF4-FFF2-40B4-BE49-F238E27FC236}">
                <a16:creationId xmlns:a16="http://schemas.microsoft.com/office/drawing/2014/main" id="{7C450F03-6CA1-4526-B803-FFFFCB13A991}"/>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55-stage_4-anchor">
            <a:extLst>
              <a:ext uri="{FF2B5EF4-FFF2-40B4-BE49-F238E27FC236}">
                <a16:creationId xmlns:a16="http://schemas.microsoft.com/office/drawing/2014/main" id="{AC86FA7F-B58C-488A-8676-9C06C8962F19}"/>
              </a:ext>
            </a:extLst>
          </p:cNvPr>
          <p:cNvSpPr>
            <a:spLocks noGrp="1"/>
          </p:cNvSpPr>
          <p:nvPr/>
        </p:nvSpPr>
        <p:spPr>
          <a:xfrm>
            <a:off x="6229350" y="3952875"/>
            <a:ext cx="5181600" cy="1381125"/>
          </a:xfrm>
          <a:prstGeom prst="roundRect">
            <a:avLst>
              <a:gd name="adj" fmla="val 6897"/>
            </a:avLst>
          </a:prstGeom>
          <a:noFill/>
          <a:ln w="0">
            <a:noFill/>
            <a:prstDash val="solid"/>
          </a:ln>
        </p:spPr>
      </p:sp>
      <p:sp>
        <p:nvSpPr>
          <p:cNvPr id="8" name="U06-DG-055-stage_5-anchor">
            <a:extLst>
              <a:ext uri="{FF2B5EF4-FFF2-40B4-BE49-F238E27FC236}">
                <a16:creationId xmlns:a16="http://schemas.microsoft.com/office/drawing/2014/main" id="{1E6A1AE1-9268-4A34-8C05-20E984534FC1}"/>
              </a:ext>
            </a:extLst>
          </p:cNvPr>
          <p:cNvSpPr>
            <a:spLocks noGrp="1"/>
          </p:cNvSpPr>
          <p:nvPr/>
        </p:nvSpPr>
        <p:spPr>
          <a:xfrm>
            <a:off x="781050" y="3952875"/>
            <a:ext cx="5181600" cy="1381125"/>
          </a:xfrm>
          <a:prstGeom prst="roundRect">
            <a:avLst>
              <a:gd name="adj" fmla="val 6897"/>
            </a:avLst>
          </a:prstGeom>
          <a:noFill/>
          <a:ln w="0">
            <a:noFill/>
            <a:prstDash val="solid"/>
          </a:ln>
        </p:spPr>
      </p:sp>
      <p:cxnSp>
        <p:nvCxnSpPr>
          <p:cNvPr id="38" name="U06-DG-055-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39" name="U06-DG-055-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0" name="U06-DG-055-flow_3"/>
          <p:cNvCxnSpPr>
            <a:stCxn id="6" idx="2"/>
            <a:endCxn id="7" idx="0"/>
          </p:cNvCxnSpPr>
          <p:nvPr/>
        </p:nvCxnSpPr>
        <p:spPr>
          <a:xfrm flipH="1">
            <a:off x="8820150" y="3048000"/>
            <a:ext cx="908050" cy="904875"/>
          </a:xfrm>
          <a:prstGeom prst="bentConnector4">
            <a:avLst>
              <a:gd name="adj1" fmla="val 0"/>
              <a:gd name="adj2" fmla="val 50000"/>
            </a:avLst>
          </a:prstGeom>
          <a:ln w="28575">
            <a:solidFill>
              <a:srgbClr val="3D3D3D"/>
            </a:solidFill>
            <a:prstDash val="solid"/>
            <a:tailEnd type="arrow" w="med" len="med"/>
          </a:ln>
        </p:spPr>
      </p:cxnSp>
      <p:cxnSp>
        <p:nvCxnSpPr>
          <p:cNvPr id="41" name="U06-DG-055-flow_4"/>
          <p:cNvCxnSpPr>
            <a:stCxn id="7" idx="1"/>
            <a:endCxn id="8" idx="3"/>
          </p:cNvCxnSpPr>
          <p:nvPr/>
        </p:nvCxnSpPr>
        <p:spPr>
          <a:xfrm flipH="1">
            <a:off x="5962650" y="4643438"/>
            <a:ext cx="266700" cy="0"/>
          </a:xfrm>
          <a:prstGeom prst="straightConnector1">
            <a:avLst/>
          </a:prstGeom>
          <a:ln w="28575">
            <a:solidFill>
              <a:srgbClr val="3D3D3D"/>
            </a:solidFill>
            <a:prstDash val="solid"/>
            <a:tailEnd type="arrow" w="med" len="med"/>
          </a:ln>
        </p:spPr>
      </p:cxnSp>
      <p:sp>
        <p:nvSpPr>
          <p:cNvPr id="13" name="U06-DG-055-stage_1-box" descr="Diagrama sobre «Ordená la transducción y justificá dos enlaces»; organiza tarjetas desordenadas: deflexión, corriente, receptor, neurotransmisor, fibra." title="Texto alternativo U06-092">
            <a:extLst>
              <a:ext uri="{FF2B5EF4-FFF2-40B4-BE49-F238E27FC236}">
                <a16:creationId xmlns:a16="http://schemas.microsoft.com/office/drawing/2014/main" id="{7F227967-9782-4A81-A1C4-630E85DFAAA9}"/>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4" name="U06-DG-055-stage_1-title">
            <a:extLst>
              <a:ext uri="{FF2B5EF4-FFF2-40B4-BE49-F238E27FC236}">
                <a16:creationId xmlns:a16="http://schemas.microsoft.com/office/drawing/2014/main" id="{8E98D26A-0EB6-4122-85CF-3E9704ED9FF1}"/>
              </a:ext>
            </a:extLst>
          </p:cNvPr>
          <p:cNvSpPr>
            <a:spLocks noGrp="1"/>
          </p:cNvSpPr>
          <p:nvPr/>
        </p:nvSpPr>
        <p:spPr>
          <a:xfrm>
            <a:off x="971550" y="1809750"/>
            <a:ext cx="298450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Movimiento relativo</a:t>
            </a:r>
          </a:p>
        </p:txBody>
      </p:sp>
      <p:sp>
        <p:nvSpPr>
          <p:cNvPr id="15" name="U06-DG-055-stage_1-body">
            <a:extLst>
              <a:ext uri="{FF2B5EF4-FFF2-40B4-BE49-F238E27FC236}">
                <a16:creationId xmlns:a16="http://schemas.microsoft.com/office/drawing/2014/main" id="{0FDF617C-067D-4BCE-BD96-D0138EAF6C49}"/>
              </a:ext>
            </a:extLst>
          </p:cNvPr>
          <p:cNvSpPr>
            <a:spLocks noGrp="1"/>
          </p:cNvSpPr>
          <p:nvPr/>
        </p:nvSpPr>
        <p:spPr>
          <a:xfrm>
            <a:off x="971550" y="2581275"/>
            <a:ext cx="2984500" cy="3714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membranas</a:t>
            </a:r>
          </a:p>
        </p:txBody>
      </p:sp>
      <p:sp>
        <p:nvSpPr>
          <p:cNvPr id="16" name="U06-DG-055-stage_2-box">
            <a:extLst>
              <a:ext uri="{FF2B5EF4-FFF2-40B4-BE49-F238E27FC236}">
                <a16:creationId xmlns:a16="http://schemas.microsoft.com/office/drawing/2014/main" id="{B9CA5B9E-3907-4C61-AD66-AC58412754D6}"/>
              </a:ext>
            </a:extLst>
          </p:cNvPr>
          <p:cNvSpPr>
            <a:spLocks noGrp="1"/>
          </p:cNvSpPr>
          <p:nvPr/>
        </p:nvSpPr>
        <p:spPr>
          <a:xfrm>
            <a:off x="4413250" y="1666875"/>
            <a:ext cx="3365500" cy="1381125"/>
          </a:xfrm>
          <a:prstGeom prst="roundRect">
            <a:avLst>
              <a:gd name="adj" fmla="val 6897"/>
            </a:avLst>
          </a:prstGeom>
          <a:solidFill>
            <a:srgbClr val="E7F1F1"/>
          </a:solidFill>
          <a:ln w="19050">
            <a:solidFill>
              <a:srgbClr val="2F7E83"/>
            </a:solidFill>
            <a:prstDash val="solid"/>
          </a:ln>
        </p:spPr>
      </p:sp>
      <p:sp>
        <p:nvSpPr>
          <p:cNvPr id="17" name="U06-DG-055-stage_2-title">
            <a:extLst>
              <a:ext uri="{FF2B5EF4-FFF2-40B4-BE49-F238E27FC236}">
                <a16:creationId xmlns:a16="http://schemas.microsoft.com/office/drawing/2014/main" id="{47FC09E2-0AEB-44D4-9495-646CDF5DAA1B}"/>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Deflexión del haz</a:t>
            </a:r>
          </a:p>
        </p:txBody>
      </p:sp>
      <p:sp>
        <p:nvSpPr>
          <p:cNvPr id="18" name="U06-DG-055-stage_2-body">
            <a:extLst>
              <a:ext uri="{FF2B5EF4-FFF2-40B4-BE49-F238E27FC236}">
                <a16:creationId xmlns:a16="http://schemas.microsoft.com/office/drawing/2014/main" id="{42E8B3EB-5ADD-4355-A438-9676BA85A983}"/>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dirección</a:t>
            </a:r>
          </a:p>
        </p:txBody>
      </p:sp>
      <p:sp>
        <p:nvSpPr>
          <p:cNvPr id="19" name="U06-DG-055-stage_3-box">
            <a:extLst>
              <a:ext uri="{FF2B5EF4-FFF2-40B4-BE49-F238E27FC236}">
                <a16:creationId xmlns:a16="http://schemas.microsoft.com/office/drawing/2014/main" id="{0C166D60-93DD-4768-B960-7E1FB09AB099}"/>
              </a:ext>
            </a:extLst>
          </p:cNvPr>
          <p:cNvSpPr>
            <a:spLocks noGrp="1"/>
          </p:cNvSpPr>
          <p:nvPr/>
        </p:nvSpPr>
        <p:spPr>
          <a:xfrm>
            <a:off x="8045450" y="1666875"/>
            <a:ext cx="3365500" cy="1381125"/>
          </a:xfrm>
          <a:prstGeom prst="roundRect">
            <a:avLst>
              <a:gd name="adj" fmla="val 6897"/>
            </a:avLst>
          </a:prstGeom>
          <a:solidFill>
            <a:srgbClr val="F4E9EF"/>
          </a:solidFill>
          <a:ln w="19050">
            <a:solidFill>
              <a:srgbClr val="4D1434"/>
            </a:solidFill>
            <a:prstDash val="solid"/>
          </a:ln>
        </p:spPr>
      </p:sp>
      <p:sp>
        <p:nvSpPr>
          <p:cNvPr id="20" name="U06-DG-055-stage_3-title">
            <a:extLst>
              <a:ext uri="{FF2B5EF4-FFF2-40B4-BE49-F238E27FC236}">
                <a16:creationId xmlns:a16="http://schemas.microsoft.com/office/drawing/2014/main" id="{AFC4FAA7-9865-4E4A-95C5-4D8FE74161BD}"/>
              </a:ext>
            </a:extLst>
          </p:cNvPr>
          <p:cNvSpPr>
            <a:spLocks noGrp="1"/>
          </p:cNvSpPr>
          <p:nvPr/>
        </p:nvSpPr>
        <p:spPr>
          <a:xfrm>
            <a:off x="82359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Canales</a:t>
            </a:r>
          </a:p>
        </p:txBody>
      </p:sp>
      <p:sp>
        <p:nvSpPr>
          <p:cNvPr id="21" name="U06-DG-055-stage_3-body">
            <a:extLst>
              <a:ext uri="{FF2B5EF4-FFF2-40B4-BE49-F238E27FC236}">
                <a16:creationId xmlns:a16="http://schemas.microsoft.com/office/drawing/2014/main" id="{A01F64BF-089A-492E-B50E-F553C2D92FD6}"/>
              </a:ext>
            </a:extLst>
          </p:cNvPr>
          <p:cNvSpPr>
            <a:spLocks noGrp="1"/>
          </p:cNvSpPr>
          <p:nvPr/>
        </p:nvSpPr>
        <p:spPr>
          <a:xfrm>
            <a:off x="82359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probabilidad cambia</a:t>
            </a:r>
          </a:p>
        </p:txBody>
      </p:sp>
      <p:sp>
        <p:nvSpPr>
          <p:cNvPr id="22" name="U06-DG-055-stage_4-box">
            <a:extLst>
              <a:ext uri="{FF2B5EF4-FFF2-40B4-BE49-F238E27FC236}">
                <a16:creationId xmlns:a16="http://schemas.microsoft.com/office/drawing/2014/main" id="{BEFAEE90-3DD4-4C59-BCD2-40EC0B1E7712}"/>
              </a:ext>
            </a:extLst>
          </p:cNvPr>
          <p:cNvSpPr>
            <a:spLocks noGrp="1"/>
          </p:cNvSpPr>
          <p:nvPr/>
        </p:nvSpPr>
        <p:spPr>
          <a:xfrm>
            <a:off x="6229350" y="3952875"/>
            <a:ext cx="5181600" cy="1381125"/>
          </a:xfrm>
          <a:prstGeom prst="roundRect">
            <a:avLst>
              <a:gd name="adj" fmla="val 6897"/>
            </a:avLst>
          </a:prstGeom>
          <a:solidFill>
            <a:srgbClr val="F7F6F2"/>
          </a:solidFill>
          <a:ln w="19050">
            <a:solidFill>
              <a:srgbClr val="969FA7"/>
            </a:solidFill>
            <a:prstDash val="solid"/>
          </a:ln>
        </p:spPr>
      </p:sp>
      <p:sp>
        <p:nvSpPr>
          <p:cNvPr id="23" name="U06-DG-055-stage_4-title">
            <a:extLst>
              <a:ext uri="{FF2B5EF4-FFF2-40B4-BE49-F238E27FC236}">
                <a16:creationId xmlns:a16="http://schemas.microsoft.com/office/drawing/2014/main" id="{0F12DEA4-5732-4468-A6D8-A28F488B399C}"/>
              </a:ext>
            </a:extLst>
          </p:cNvPr>
          <p:cNvSpPr>
            <a:spLocks noGrp="1"/>
          </p:cNvSpPr>
          <p:nvPr/>
        </p:nvSpPr>
        <p:spPr>
          <a:xfrm>
            <a:off x="64198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Corriente iónica</a:t>
            </a:r>
          </a:p>
        </p:txBody>
      </p:sp>
      <p:sp>
        <p:nvSpPr>
          <p:cNvPr id="24" name="U06-DG-055-stage_4-body">
            <a:extLst>
              <a:ext uri="{FF2B5EF4-FFF2-40B4-BE49-F238E27FC236}">
                <a16:creationId xmlns:a16="http://schemas.microsoft.com/office/drawing/2014/main" id="{95063F52-A25A-4F84-824D-40913341EFE2}"/>
              </a:ext>
            </a:extLst>
          </p:cNvPr>
          <p:cNvSpPr>
            <a:spLocks noGrp="1"/>
          </p:cNvSpPr>
          <p:nvPr/>
        </p:nvSpPr>
        <p:spPr>
          <a:xfrm>
            <a:off x="64198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K⁺</a:t>
            </a:r>
          </a:p>
        </p:txBody>
      </p:sp>
      <p:sp>
        <p:nvSpPr>
          <p:cNvPr id="25" name="U06-DG-055-stage_5-box">
            <a:extLst>
              <a:ext uri="{FF2B5EF4-FFF2-40B4-BE49-F238E27FC236}">
                <a16:creationId xmlns:a16="http://schemas.microsoft.com/office/drawing/2014/main" id="{616D1767-3C66-4150-9F6B-7A44F83536F5}"/>
              </a:ext>
            </a:extLst>
          </p:cNvPr>
          <p:cNvSpPr>
            <a:spLocks noGrp="1"/>
          </p:cNvSpPr>
          <p:nvPr/>
        </p:nvSpPr>
        <p:spPr>
          <a:xfrm>
            <a:off x="781050" y="3952875"/>
            <a:ext cx="5181600" cy="1381125"/>
          </a:xfrm>
          <a:prstGeom prst="roundRect">
            <a:avLst>
              <a:gd name="adj" fmla="val 6897"/>
            </a:avLst>
          </a:prstGeom>
          <a:solidFill>
            <a:srgbClr val="F8EDE2"/>
          </a:solidFill>
          <a:ln w="19050">
            <a:solidFill>
              <a:srgbClr val="9F541A"/>
            </a:solidFill>
            <a:prstDash val="solid"/>
          </a:ln>
        </p:spPr>
      </p:sp>
      <p:sp>
        <p:nvSpPr>
          <p:cNvPr id="26" name="U06-DG-055-stage_5-title">
            <a:extLst>
              <a:ext uri="{FF2B5EF4-FFF2-40B4-BE49-F238E27FC236}">
                <a16:creationId xmlns:a16="http://schemas.microsoft.com/office/drawing/2014/main" id="{B2C4D8A6-B365-4541-B141-28EEABB05AEB}"/>
              </a:ext>
            </a:extLst>
          </p:cNvPr>
          <p:cNvSpPr>
            <a:spLocks noGrp="1"/>
          </p:cNvSpPr>
          <p:nvPr/>
        </p:nvSpPr>
        <p:spPr>
          <a:xfrm>
            <a:off x="971550" y="4095750"/>
            <a:ext cx="48006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Potencial receptor</a:t>
            </a:r>
          </a:p>
        </p:txBody>
      </p:sp>
      <p:sp>
        <p:nvSpPr>
          <p:cNvPr id="27" name="U06-DG-055-stage_5-body">
            <a:extLst>
              <a:ext uri="{FF2B5EF4-FFF2-40B4-BE49-F238E27FC236}">
                <a16:creationId xmlns:a16="http://schemas.microsoft.com/office/drawing/2014/main" id="{9A601110-EF95-4135-A0F4-CF331B6EC095}"/>
              </a:ext>
            </a:extLst>
          </p:cNvPr>
          <p:cNvSpPr>
            <a:spLocks noGrp="1"/>
          </p:cNvSpPr>
          <p:nvPr/>
        </p:nvSpPr>
        <p:spPr>
          <a:xfrm>
            <a:off x="971550" y="4543425"/>
            <a:ext cx="48006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graduado</a:t>
            </a:r>
          </a:p>
        </p:txBody>
      </p:sp>
      <p:sp>
        <p:nvSpPr>
          <p:cNvPr id="28" name="caption">
            <a:extLst>
              <a:ext uri="{FF2B5EF4-FFF2-40B4-BE49-F238E27FC236}">
                <a16:creationId xmlns:a16="http://schemas.microsoft.com/office/drawing/2014/main" id="{265E3CCF-DB7E-4E75-BD66-58D77CD02D6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Una secuencia correcta debe explicar por qué cada salida puede ser entrada de la…</a:t>
            </a:r>
          </a:p>
        </p:txBody>
      </p:sp>
      <p:sp>
        <p:nvSpPr>
          <p:cNvPr id="29" name="credit">
            <a:extLst>
              <a:ext uri="{FF2B5EF4-FFF2-40B4-BE49-F238E27FC236}">
                <a16:creationId xmlns:a16="http://schemas.microsoft.com/office/drawing/2014/main" id="{590279C0-C5E4-4294-BE71-0938FF0A8827}"/>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2815463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title">
            <a:extLst>
              <a:ext uri="{FF2B5EF4-FFF2-40B4-BE49-F238E27FC236}">
                <a16:creationId xmlns:a16="http://schemas.microsoft.com/office/drawing/2014/main" id="{6F01E597-163D-48B0-B16B-5B891F238470}"/>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Hasta acá: cuatro formas de señal, una sola cadena causal</a:t>
            </a:r>
          </a:p>
        </p:txBody>
      </p:sp>
      <p:sp>
        <p:nvSpPr>
          <p:cNvPr id="2" name="slide-subtitle">
            <a:extLst>
              <a:ext uri="{FF2B5EF4-FFF2-40B4-BE49-F238E27FC236}">
                <a16:creationId xmlns:a16="http://schemas.microsoft.com/office/drawing/2014/main" id="{C64FCD6B-3C75-4AED-A83C-39C76238E641}"/>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Mecánica, respuesta celular, sinapsis e impulsos son etapas conectadas, no sinónimos.</a:t>
            </a:r>
          </a:p>
        </p:txBody>
      </p:sp>
      <p:sp>
        <p:nvSpPr>
          <p:cNvPr id="3" name="eyebrow">
            <a:extLst>
              <a:ext uri="{FF2B5EF4-FFF2-40B4-BE49-F238E27FC236}">
                <a16:creationId xmlns:a16="http://schemas.microsoft.com/office/drawing/2014/main" id="{DEB7F72F-75C1-4DCC-9E23-963790D89E3F}"/>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093</a:t>
            </a:r>
          </a:p>
        </p:txBody>
      </p:sp>
      <p:sp>
        <p:nvSpPr>
          <p:cNvPr id="4" name="U06-DG-057-layer_1-anchor">
            <a:extLst>
              <a:ext uri="{FF2B5EF4-FFF2-40B4-BE49-F238E27FC236}">
                <a16:creationId xmlns:a16="http://schemas.microsoft.com/office/drawing/2014/main" id="{B42C3CEC-8BD4-4902-8DBC-12006C8342D4}"/>
              </a:ext>
            </a:extLst>
          </p:cNvPr>
          <p:cNvSpPr>
            <a:spLocks noGrp="1"/>
          </p:cNvSpPr>
          <p:nvPr/>
        </p:nvSpPr>
        <p:spPr>
          <a:xfrm>
            <a:off x="1714500" y="1276350"/>
            <a:ext cx="8763000" cy="1014413"/>
          </a:xfrm>
          <a:prstGeom prst="roundRect">
            <a:avLst>
              <a:gd name="adj" fmla="val 9390"/>
            </a:avLst>
          </a:prstGeom>
          <a:noFill/>
          <a:ln w="0">
            <a:noFill/>
            <a:prstDash val="solid"/>
          </a:ln>
        </p:spPr>
      </p:sp>
      <p:sp>
        <p:nvSpPr>
          <p:cNvPr id="5" name="U06-DG-057-layer_2-anchor">
            <a:extLst>
              <a:ext uri="{FF2B5EF4-FFF2-40B4-BE49-F238E27FC236}">
                <a16:creationId xmlns:a16="http://schemas.microsoft.com/office/drawing/2014/main" id="{606E0F5B-78F9-4215-9089-F228D975F6BE}"/>
              </a:ext>
            </a:extLst>
          </p:cNvPr>
          <p:cNvSpPr>
            <a:spLocks noGrp="1"/>
          </p:cNvSpPr>
          <p:nvPr/>
        </p:nvSpPr>
        <p:spPr>
          <a:xfrm>
            <a:off x="1714500" y="2386013"/>
            <a:ext cx="8763000" cy="1014413"/>
          </a:xfrm>
          <a:prstGeom prst="roundRect">
            <a:avLst>
              <a:gd name="adj" fmla="val 9390"/>
            </a:avLst>
          </a:prstGeom>
          <a:noFill/>
          <a:ln w="0">
            <a:noFill/>
            <a:prstDash val="solid"/>
          </a:ln>
        </p:spPr>
      </p:sp>
      <p:sp>
        <p:nvSpPr>
          <p:cNvPr id="6" name="U06-DG-057-layer_3-anchor">
            <a:extLst>
              <a:ext uri="{FF2B5EF4-FFF2-40B4-BE49-F238E27FC236}">
                <a16:creationId xmlns:a16="http://schemas.microsoft.com/office/drawing/2014/main" id="{48A7FA3F-AC17-42CE-8465-C939F1B1D495}"/>
              </a:ext>
            </a:extLst>
          </p:cNvPr>
          <p:cNvSpPr>
            <a:spLocks noGrp="1"/>
          </p:cNvSpPr>
          <p:nvPr/>
        </p:nvSpPr>
        <p:spPr>
          <a:xfrm>
            <a:off x="1714500" y="3495675"/>
            <a:ext cx="8763000" cy="1014413"/>
          </a:xfrm>
          <a:prstGeom prst="roundRect">
            <a:avLst>
              <a:gd name="adj" fmla="val 9390"/>
            </a:avLst>
          </a:prstGeom>
          <a:noFill/>
          <a:ln w="0">
            <a:noFill/>
            <a:prstDash val="solid"/>
          </a:ln>
        </p:spPr>
      </p:sp>
      <p:sp>
        <p:nvSpPr>
          <p:cNvPr id="7" name="U06-DG-057-layer_4-anchor">
            <a:extLst>
              <a:ext uri="{FF2B5EF4-FFF2-40B4-BE49-F238E27FC236}">
                <a16:creationId xmlns:a16="http://schemas.microsoft.com/office/drawing/2014/main" id="{6A466C8C-46A4-425B-981F-ECF48737B6CD}"/>
              </a:ext>
            </a:extLst>
          </p:cNvPr>
          <p:cNvSpPr>
            <a:spLocks noGrp="1"/>
          </p:cNvSpPr>
          <p:nvPr/>
        </p:nvSpPr>
        <p:spPr>
          <a:xfrm>
            <a:off x="1714500" y="4605338"/>
            <a:ext cx="8763000" cy="1014413"/>
          </a:xfrm>
          <a:prstGeom prst="roundRect">
            <a:avLst>
              <a:gd name="adj" fmla="val 9390"/>
            </a:avLst>
          </a:prstGeom>
          <a:noFill/>
          <a:ln w="0">
            <a:noFill/>
            <a:prstDash val="solid"/>
          </a:ln>
        </p:spPr>
      </p:sp>
      <p:sp>
        <p:nvSpPr>
          <p:cNvPr id="8" name="U06-DG-057-layer_1-box" descr="Diagrama sobre «Hasta acá: cuatro formas de señal, una sola cadena causal»; organiza tabla mínima de potenciales + cadena completa + pregunta “¿dónde se conserva información?”." title="Texto alternativo U06-093">
            <a:extLst>
              <a:ext uri="{FF2B5EF4-FFF2-40B4-BE49-F238E27FC236}">
                <a16:creationId xmlns:a16="http://schemas.microsoft.com/office/drawing/2014/main" id="{0030E5C3-FC5A-4DE2-953F-617265AADA8D}"/>
              </a:ext>
            </a:extLst>
          </p:cNvPr>
          <p:cNvSpPr>
            <a:spLocks noGrp="1"/>
          </p:cNvSpPr>
          <p:nvPr/>
        </p:nvSpPr>
        <p:spPr>
          <a:xfrm>
            <a:off x="1714500" y="1276350"/>
            <a:ext cx="8763000" cy="1014413"/>
          </a:xfrm>
          <a:prstGeom prst="roundRect">
            <a:avLst>
              <a:gd name="adj" fmla="val 9390"/>
            </a:avLst>
          </a:prstGeom>
          <a:solidFill>
            <a:srgbClr val="E7F1F1"/>
          </a:solidFill>
          <a:ln w="19050">
            <a:solidFill>
              <a:srgbClr val="2F7E83"/>
            </a:solidFill>
            <a:prstDash val="solid"/>
          </a:ln>
        </p:spPr>
      </p:sp>
      <p:sp>
        <p:nvSpPr>
          <p:cNvPr id="9" name="U06-DG-057-layer_1-title">
            <a:extLst>
              <a:ext uri="{FF2B5EF4-FFF2-40B4-BE49-F238E27FC236}">
                <a16:creationId xmlns:a16="http://schemas.microsoft.com/office/drawing/2014/main" id="{6159E750-1333-4907-B001-D3CE03406F12}"/>
              </a:ext>
            </a:extLst>
          </p:cNvPr>
          <p:cNvSpPr>
            <a:spLocks noGrp="1"/>
          </p:cNvSpPr>
          <p:nvPr/>
        </p:nvSpPr>
        <p:spPr>
          <a:xfrm>
            <a:off x="1905000" y="1419225"/>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Mecánica espacial</a:t>
            </a:r>
          </a:p>
        </p:txBody>
      </p:sp>
      <p:sp>
        <p:nvSpPr>
          <p:cNvPr id="10" name="U06-DG-057-layer_1-body">
            <a:extLst>
              <a:ext uri="{FF2B5EF4-FFF2-40B4-BE49-F238E27FC236}">
                <a16:creationId xmlns:a16="http://schemas.microsoft.com/office/drawing/2014/main" id="{52AC9B3C-D0AC-4E34-8D81-AD59DE37DE63}"/>
              </a:ext>
            </a:extLst>
          </p:cNvPr>
          <p:cNvSpPr>
            <a:spLocks noGrp="1"/>
          </p:cNvSpPr>
          <p:nvPr/>
        </p:nvSpPr>
        <p:spPr>
          <a:xfrm>
            <a:off x="1905000" y="1866900"/>
            <a:ext cx="8382000" cy="328613"/>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lugar característico</a:t>
            </a:r>
          </a:p>
        </p:txBody>
      </p:sp>
      <p:sp>
        <p:nvSpPr>
          <p:cNvPr id="11" name="U06-DG-057-layer_2-box">
            <a:extLst>
              <a:ext uri="{FF2B5EF4-FFF2-40B4-BE49-F238E27FC236}">
                <a16:creationId xmlns:a16="http://schemas.microsoft.com/office/drawing/2014/main" id="{DA916F3E-82DF-4BE7-8C9D-FF85A73F0656}"/>
              </a:ext>
            </a:extLst>
          </p:cNvPr>
          <p:cNvSpPr>
            <a:spLocks noGrp="1"/>
          </p:cNvSpPr>
          <p:nvPr/>
        </p:nvSpPr>
        <p:spPr>
          <a:xfrm>
            <a:off x="1714500" y="2386013"/>
            <a:ext cx="8763000" cy="1014413"/>
          </a:xfrm>
          <a:prstGeom prst="roundRect">
            <a:avLst>
              <a:gd name="adj" fmla="val 9390"/>
            </a:avLst>
          </a:prstGeom>
          <a:solidFill>
            <a:srgbClr val="F7F6F2"/>
          </a:solidFill>
          <a:ln w="19050">
            <a:solidFill>
              <a:srgbClr val="969FA7"/>
            </a:solidFill>
            <a:prstDash val="solid"/>
          </a:ln>
        </p:spPr>
      </p:sp>
      <p:sp>
        <p:nvSpPr>
          <p:cNvPr id="12" name="U06-DG-057-layer_2-title">
            <a:extLst>
              <a:ext uri="{FF2B5EF4-FFF2-40B4-BE49-F238E27FC236}">
                <a16:creationId xmlns:a16="http://schemas.microsoft.com/office/drawing/2014/main" id="{89C17F99-B410-488C-8692-6E4875C78314}"/>
              </a:ext>
            </a:extLst>
          </p:cNvPr>
          <p:cNvSpPr>
            <a:spLocks noGrp="1"/>
          </p:cNvSpPr>
          <p:nvPr/>
        </p:nvSpPr>
        <p:spPr>
          <a:xfrm>
            <a:off x="1905000" y="2528888"/>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Potenciales cocleares</a:t>
            </a:r>
          </a:p>
        </p:txBody>
      </p:sp>
      <p:sp>
        <p:nvSpPr>
          <p:cNvPr id="13" name="U06-DG-057-layer_2-body">
            <a:extLst>
              <a:ext uri="{FF2B5EF4-FFF2-40B4-BE49-F238E27FC236}">
                <a16:creationId xmlns:a16="http://schemas.microsoft.com/office/drawing/2014/main" id="{D8FB5471-48A6-4298-AE42-C7B271AD4437}"/>
              </a:ext>
            </a:extLst>
          </p:cNvPr>
          <p:cNvSpPr>
            <a:spLocks noGrp="1"/>
          </p:cNvSpPr>
          <p:nvPr/>
        </p:nvSpPr>
        <p:spPr>
          <a:xfrm>
            <a:off x="1905000" y="2976563"/>
            <a:ext cx="8382000" cy="328613"/>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endococlear · reposo</a:t>
            </a:r>
          </a:p>
        </p:txBody>
      </p:sp>
      <p:sp>
        <p:nvSpPr>
          <p:cNvPr id="14" name="U06-DG-057-layer_3-box">
            <a:extLst>
              <a:ext uri="{FF2B5EF4-FFF2-40B4-BE49-F238E27FC236}">
                <a16:creationId xmlns:a16="http://schemas.microsoft.com/office/drawing/2014/main" id="{2409C258-8D56-4729-8D6F-B6AC4CABADAE}"/>
              </a:ext>
            </a:extLst>
          </p:cNvPr>
          <p:cNvSpPr>
            <a:spLocks noGrp="1"/>
          </p:cNvSpPr>
          <p:nvPr/>
        </p:nvSpPr>
        <p:spPr>
          <a:xfrm>
            <a:off x="1714500" y="3495675"/>
            <a:ext cx="8763000" cy="1014413"/>
          </a:xfrm>
          <a:prstGeom prst="roundRect">
            <a:avLst>
              <a:gd name="adj" fmla="val 9390"/>
            </a:avLst>
          </a:prstGeom>
          <a:solidFill>
            <a:srgbClr val="F4E9EF"/>
          </a:solidFill>
          <a:ln w="19050">
            <a:solidFill>
              <a:srgbClr val="4D1434"/>
            </a:solidFill>
            <a:prstDash val="solid"/>
          </a:ln>
        </p:spPr>
      </p:sp>
      <p:sp>
        <p:nvSpPr>
          <p:cNvPr id="15" name="U06-DG-057-layer_3-title">
            <a:extLst>
              <a:ext uri="{FF2B5EF4-FFF2-40B4-BE49-F238E27FC236}">
                <a16:creationId xmlns:a16="http://schemas.microsoft.com/office/drawing/2014/main" id="{D5135890-9DD9-4498-85A5-C6DEBC319B12}"/>
              </a:ext>
            </a:extLst>
          </p:cNvPr>
          <p:cNvSpPr>
            <a:spLocks noGrp="1"/>
          </p:cNvSpPr>
          <p:nvPr/>
        </p:nvSpPr>
        <p:spPr>
          <a:xfrm>
            <a:off x="1905000" y="3638550"/>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Célula ciliada</a:t>
            </a:r>
          </a:p>
        </p:txBody>
      </p:sp>
      <p:sp>
        <p:nvSpPr>
          <p:cNvPr id="16" name="U06-DG-057-layer_3-body">
            <a:extLst>
              <a:ext uri="{FF2B5EF4-FFF2-40B4-BE49-F238E27FC236}">
                <a16:creationId xmlns:a16="http://schemas.microsoft.com/office/drawing/2014/main" id="{84D84FC5-AF38-44A4-98B8-1B5943FDCEB9}"/>
              </a:ext>
            </a:extLst>
          </p:cNvPr>
          <p:cNvSpPr>
            <a:spLocks noGrp="1"/>
          </p:cNvSpPr>
          <p:nvPr/>
        </p:nvSpPr>
        <p:spPr>
          <a:xfrm>
            <a:off x="1905000" y="4086225"/>
            <a:ext cx="8382000" cy="328613"/>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potencial receptor</a:t>
            </a:r>
          </a:p>
        </p:txBody>
      </p:sp>
      <p:sp>
        <p:nvSpPr>
          <p:cNvPr id="17" name="U06-DG-057-layer_4-box">
            <a:extLst>
              <a:ext uri="{FF2B5EF4-FFF2-40B4-BE49-F238E27FC236}">
                <a16:creationId xmlns:a16="http://schemas.microsoft.com/office/drawing/2014/main" id="{E5C9646F-126B-4617-BA6F-DB2207DD5DE6}"/>
              </a:ext>
            </a:extLst>
          </p:cNvPr>
          <p:cNvSpPr>
            <a:spLocks noGrp="1"/>
          </p:cNvSpPr>
          <p:nvPr/>
        </p:nvSpPr>
        <p:spPr>
          <a:xfrm>
            <a:off x="1714500" y="4605338"/>
            <a:ext cx="8763000" cy="1014413"/>
          </a:xfrm>
          <a:prstGeom prst="roundRect">
            <a:avLst>
              <a:gd name="adj" fmla="val 9390"/>
            </a:avLst>
          </a:prstGeom>
          <a:solidFill>
            <a:srgbClr val="F8EDE2"/>
          </a:solidFill>
          <a:ln w="19050">
            <a:solidFill>
              <a:srgbClr val="9F541A"/>
            </a:solidFill>
            <a:prstDash val="solid"/>
          </a:ln>
        </p:spPr>
      </p:sp>
      <p:sp>
        <p:nvSpPr>
          <p:cNvPr id="18" name="U06-DG-057-layer_4-title">
            <a:extLst>
              <a:ext uri="{FF2B5EF4-FFF2-40B4-BE49-F238E27FC236}">
                <a16:creationId xmlns:a16="http://schemas.microsoft.com/office/drawing/2014/main" id="{A6B33ED6-DA38-473D-917A-EFA95745B885}"/>
              </a:ext>
            </a:extLst>
          </p:cNvPr>
          <p:cNvSpPr>
            <a:spLocks noGrp="1"/>
          </p:cNvSpPr>
          <p:nvPr/>
        </p:nvSpPr>
        <p:spPr>
          <a:xfrm>
            <a:off x="1905000" y="4748213"/>
            <a:ext cx="838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Fibra aferente</a:t>
            </a:r>
          </a:p>
        </p:txBody>
      </p:sp>
      <p:sp>
        <p:nvSpPr>
          <p:cNvPr id="19" name="U06-DG-057-layer_4-body">
            <a:extLst>
              <a:ext uri="{FF2B5EF4-FFF2-40B4-BE49-F238E27FC236}">
                <a16:creationId xmlns:a16="http://schemas.microsoft.com/office/drawing/2014/main" id="{AE4F07FF-F9C3-4511-B7B9-76039C6051A5}"/>
              </a:ext>
            </a:extLst>
          </p:cNvPr>
          <p:cNvSpPr>
            <a:spLocks noGrp="1"/>
          </p:cNvSpPr>
          <p:nvPr/>
        </p:nvSpPr>
        <p:spPr>
          <a:xfrm>
            <a:off x="1905000" y="5195888"/>
            <a:ext cx="8382000" cy="328613"/>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potencial de acción</a:t>
            </a:r>
          </a:p>
        </p:txBody>
      </p:sp>
      <p:sp>
        <p:nvSpPr>
          <p:cNvPr id="20" name="caption">
            <a:extLst>
              <a:ext uri="{FF2B5EF4-FFF2-40B4-BE49-F238E27FC236}">
                <a16:creationId xmlns:a16="http://schemas.microsoft.com/office/drawing/2014/main" id="{8F61B35B-3FBE-4574-85AB-B1E99A389D2D}"/>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Mecánica, respuesta celular, sinapsis e impulsos son etapas conectadas, no sinón…</a:t>
            </a:r>
          </a:p>
        </p:txBody>
      </p:sp>
      <p:sp>
        <p:nvSpPr>
          <p:cNvPr id="21" name="credit">
            <a:extLst>
              <a:ext uri="{FF2B5EF4-FFF2-40B4-BE49-F238E27FC236}">
                <a16:creationId xmlns:a16="http://schemas.microsoft.com/office/drawing/2014/main" id="{23663155-7E97-4930-9422-C95700E0AFF1}"/>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3202036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A031B584-2BD4-4F81-8F33-B6C534A30E3D}"/>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094</a:t>
            </a:r>
          </a:p>
        </p:txBody>
      </p:sp>
      <p:sp>
        <p:nvSpPr>
          <p:cNvPr id="2" name="divider-title">
            <a:extLst>
              <a:ext uri="{FF2B5EF4-FFF2-40B4-BE49-F238E27FC236}">
                <a16:creationId xmlns:a16="http://schemas.microsoft.com/office/drawing/2014/main" id="{09EB9C66-E2A5-48E9-9D35-C1204E3C762E}"/>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¿Qué rasgos del estímulo conserva la salida periférica?</a:t>
            </a:r>
          </a:p>
        </p:txBody>
      </p:sp>
      <p:sp>
        <p:nvSpPr>
          <p:cNvPr id="3" name="divider-subtitle">
            <a:extLst>
              <a:ext uri="{FF2B5EF4-FFF2-40B4-BE49-F238E27FC236}">
                <a16:creationId xmlns:a16="http://schemas.microsoft.com/office/drawing/2014/main" id="{7CAF0D36-5F69-4917-AFB7-835FADB5C26B}"/>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¿Qué información de frecuencia y nivel conserva la salida periférica?</a:t>
            </a:r>
          </a:p>
        </p:txBody>
      </p:sp>
      <p:sp>
        <p:nvSpPr>
          <p:cNvPr id="4" name="divider-content">
            <a:extLst>
              <a:ext uri="{FF2B5EF4-FFF2-40B4-BE49-F238E27FC236}">
                <a16:creationId xmlns:a16="http://schemas.microsoft.com/office/drawing/2014/main" id="{E78C6467-4329-420A-8FF9-85D37029CF38}"/>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¿Qué información de frecuencia y nivel conserva la salida periférica?</a:t>
            </a:r>
          </a:p>
        </p:txBody>
      </p:sp>
    </p:spTree>
    <p:extLst>
      <p:ext uri="{BB962C8B-B14F-4D97-AF65-F5344CB8AC3E}">
        <p14:creationId xmlns:p14="http://schemas.microsoft.com/office/powerpoint/2010/main" val="11649023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C6C8F902-1250-4A75-A95C-1DB572682400}"/>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frecuencia deja una firma espacial</a:t>
            </a:r>
          </a:p>
        </p:txBody>
      </p:sp>
      <p:sp>
        <p:nvSpPr>
          <p:cNvPr id="2" name="slide-subtitle">
            <a:extLst>
              <a:ext uri="{FF2B5EF4-FFF2-40B4-BE49-F238E27FC236}">
                <a16:creationId xmlns:a16="http://schemas.microsoft.com/office/drawing/2014/main" id="{0FB902E9-819D-4561-8360-D153997B418F}"/>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lugar de máxima respuesta contribuye a codificar frecuencia, con extensión y solapamiento.</a:t>
            </a:r>
          </a:p>
        </p:txBody>
      </p:sp>
      <p:sp>
        <p:nvSpPr>
          <p:cNvPr id="3" name="eyebrow">
            <a:extLst>
              <a:ext uri="{FF2B5EF4-FFF2-40B4-BE49-F238E27FC236}">
                <a16:creationId xmlns:a16="http://schemas.microsoft.com/office/drawing/2014/main" id="{2A011659-E87C-4E50-9EC0-3F5D038B94E6}"/>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095</a:t>
            </a:r>
          </a:p>
        </p:txBody>
      </p:sp>
      <p:pic>
        <p:nvPicPr>
          <p:cNvPr id="13" name="U06-095-U06-CH-004" descr="Diagrama sobre «La frecuencia deja una firma espacial»; organiza dos tonos, dos máximos y poblaciones aferentes asociadas; no correspondencia uno-a-uno." title="Texto alternativo U06-095"/>
          <p:cNvPicPr>
            <a:picLocks noChangeAspect="1"/>
          </p:cNvPicPr>
          <p:nvPr/>
        </p:nvPicPr>
        <p:blipFill>
          <a:blip>
            <a:extLst>
              <a:ext uri="{96DAC541-7B7A-43D3-8B79-37D633B846F1}">
                <asvg:svgBlip xmlns:asvg="http://schemas.microsoft.com/office/drawing/2016/SVG/main" r:embed="rId3"/>
              </a:ext>
            </a:extLst>
          </a:blip>
          <a:stretch/>
        </p:blipFill>
        <p:spPr>
          <a:xfrm>
            <a:off x="428625" y="1428750"/>
            <a:ext cx="7810500" cy="4333875"/>
          </a:xfrm>
          <a:prstGeom prst="rect">
            <a:avLst/>
          </a:prstGeom>
        </p:spPr>
      </p:pic>
      <p:sp>
        <p:nvSpPr>
          <p:cNvPr id="5" name="chart-reading-box">
            <a:extLst>
              <a:ext uri="{FF2B5EF4-FFF2-40B4-BE49-F238E27FC236}">
                <a16:creationId xmlns:a16="http://schemas.microsoft.com/office/drawing/2014/main" id="{C4B178D4-1700-4CC2-83B3-9DF4B8F13DEB}"/>
              </a:ext>
            </a:extLst>
          </p:cNvPr>
          <p:cNvSpPr>
            <a:spLocks noGrp="1"/>
          </p:cNvSpPr>
          <p:nvPr/>
        </p:nvSpPr>
        <p:spPr>
          <a:xfrm>
            <a:off x="8429625" y="1571625"/>
            <a:ext cx="3048000" cy="3714750"/>
          </a:xfrm>
          <a:prstGeom prst="roundRect">
            <a:avLst>
              <a:gd name="adj" fmla="val 3750"/>
            </a:avLst>
          </a:prstGeom>
          <a:solidFill>
            <a:srgbClr val="E7F1F1"/>
          </a:solidFill>
          <a:ln w="19050">
            <a:solidFill>
              <a:srgbClr val="2F7E83"/>
            </a:solidFill>
            <a:prstDash val="solid"/>
          </a:ln>
        </p:spPr>
      </p:sp>
      <p:sp>
        <p:nvSpPr>
          <p:cNvPr id="6" name="chart-reading-title">
            <a:extLst>
              <a:ext uri="{FF2B5EF4-FFF2-40B4-BE49-F238E27FC236}">
                <a16:creationId xmlns:a16="http://schemas.microsoft.com/office/drawing/2014/main" id="{ACFF5428-386A-40FA-8A21-55045C6D4FE1}"/>
              </a:ext>
            </a:extLst>
          </p:cNvPr>
          <p:cNvSpPr>
            <a:spLocks noGrp="1"/>
          </p:cNvSpPr>
          <p:nvPr/>
        </p:nvSpPr>
        <p:spPr>
          <a:xfrm>
            <a:off x="8601075" y="1704975"/>
            <a:ext cx="2705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Qué leer</a:t>
            </a:r>
          </a:p>
        </p:txBody>
      </p:sp>
      <p:sp>
        <p:nvSpPr>
          <p:cNvPr id="7" name="chart-reading-body">
            <a:extLst>
              <a:ext uri="{FF2B5EF4-FFF2-40B4-BE49-F238E27FC236}">
                <a16:creationId xmlns:a16="http://schemas.microsoft.com/office/drawing/2014/main" id="{508C1977-B142-4FE4-B7C6-594C84C4FF41}"/>
              </a:ext>
            </a:extLst>
          </p:cNvPr>
          <p:cNvSpPr>
            <a:spLocks noGrp="1"/>
          </p:cNvSpPr>
          <p:nvPr/>
        </p:nvSpPr>
        <p:spPr>
          <a:xfrm>
            <a:off x="8601075" y="2105025"/>
            <a:ext cx="2705100" cy="3028950"/>
          </a:xfrm>
          <a:prstGeom prst="rect">
            <a:avLst/>
          </a:prstGeom>
          <a:noFill/>
          <a:ln w="0">
            <a:noFill/>
            <a:prstDash val="solid"/>
          </a:ln>
        </p:spPr>
        <p:txBody>
          <a:bodyPr wrap="square" lIns="0" tIns="0" rIns="0" bIns="0" anchor="t">
            <a:noAutofit/>
          </a:bodyPr>
          <a:lstStyle/>
          <a:p>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Idea central: El lugar de máxima respuesta contribuye a codificar frecuencia, con extensión y solapamiento. Clave de lectura: Dos tonos, dos máximos y poblaciones aferentes asociadas no correspondencia uno-a-uno.</a:t>
            </a:r>
          </a:p>
        </p:txBody>
      </p:sp>
      <p:sp>
        <p:nvSpPr>
          <p:cNvPr id="8" name="caption">
            <a:extLst>
              <a:ext uri="{FF2B5EF4-FFF2-40B4-BE49-F238E27FC236}">
                <a16:creationId xmlns:a16="http://schemas.microsoft.com/office/drawing/2014/main" id="{C67F8FC5-9028-46F6-A7A0-84758146FDFB}"/>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lugar de máxima respuesta contribuye a codificar frecuencia, con extensión y…</a:t>
            </a:r>
          </a:p>
        </p:txBody>
      </p:sp>
      <p:sp>
        <p:nvSpPr>
          <p:cNvPr id="9" name="credit">
            <a:extLst>
              <a:ext uri="{FF2B5EF4-FFF2-40B4-BE49-F238E27FC236}">
                <a16:creationId xmlns:a16="http://schemas.microsoft.com/office/drawing/2014/main" id="{C33C143F-F147-48BC-A559-E4F96616E1DA}"/>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486490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48A3888E-C3ED-4A6D-AA56-1EC6090BAA45}"/>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La sincronización temporal aporta otra pista de frecuencia</a:t>
            </a:r>
          </a:p>
        </p:txBody>
      </p:sp>
      <p:sp>
        <p:nvSpPr>
          <p:cNvPr id="2" name="slide-subtitle">
            <a:extLst>
              <a:ext uri="{FF2B5EF4-FFF2-40B4-BE49-F238E27FC236}">
                <a16:creationId xmlns:a16="http://schemas.microsoft.com/office/drawing/2014/main" id="{FDFC7B7A-BEBA-444F-8E1B-F6843DCC6C9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patrón de descargas puede guardar relación temporal con la onda, pero su validez depende de frecuencia y fuente.</a:t>
            </a:r>
          </a:p>
        </p:txBody>
      </p:sp>
      <p:sp>
        <p:nvSpPr>
          <p:cNvPr id="3" name="eyebrow">
            <a:extLst>
              <a:ext uri="{FF2B5EF4-FFF2-40B4-BE49-F238E27FC236}">
                <a16:creationId xmlns:a16="http://schemas.microsoft.com/office/drawing/2014/main" id="{7190AA16-52D3-4870-A1B5-A9B73711793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096</a:t>
            </a:r>
          </a:p>
        </p:txBody>
      </p:sp>
      <p:sp>
        <p:nvSpPr>
          <p:cNvPr id="4" name="blocked-frame">
            <a:extLst>
              <a:ext uri="{FF2B5EF4-FFF2-40B4-BE49-F238E27FC236}">
                <a16:creationId xmlns:a16="http://schemas.microsoft.com/office/drawing/2014/main" id="{3BAE020B-4811-4AA4-91EC-5C3A0A72FBB2}"/>
              </a:ext>
            </a:extLst>
          </p:cNvPr>
          <p:cNvSpPr>
            <a:spLocks noGrp="1"/>
          </p:cNvSpPr>
          <p:nvPr/>
        </p:nvSpPr>
        <p:spPr>
          <a:xfrm>
            <a:off x="1476375" y="1762125"/>
            <a:ext cx="9239250" cy="3143250"/>
          </a:xfrm>
          <a:prstGeom prst="roundRect">
            <a:avLst>
              <a:gd name="adj" fmla="val 3636"/>
            </a:avLst>
          </a:prstGeom>
          <a:solidFill>
            <a:srgbClr val="F7F6F2"/>
          </a:solidFill>
          <a:ln w="19050">
            <a:solidFill>
              <a:srgbClr val="969FA7"/>
            </a:solidFill>
            <a:prstDash val="solid"/>
          </a:ln>
        </p:spPr>
      </p:sp>
      <p:sp>
        <p:nvSpPr>
          <p:cNvPr id="5" name="blocked-heading">
            <a:extLst>
              <a:ext uri="{FF2B5EF4-FFF2-40B4-BE49-F238E27FC236}">
                <a16:creationId xmlns:a16="http://schemas.microsoft.com/office/drawing/2014/main" id="{32DFEF51-B7A1-4CFC-8EA3-5941178C753F}"/>
              </a:ext>
            </a:extLst>
          </p:cNvPr>
          <p:cNvSpPr>
            <a:spLocks noGrp="1"/>
          </p:cNvSpPr>
          <p:nvPr/>
        </p:nvSpPr>
        <p:spPr>
          <a:xfrm>
            <a:off x="1952625" y="2190750"/>
            <a:ext cx="8286750" cy="523875"/>
          </a:xfrm>
          <a:prstGeom prst="rect">
            <a:avLst/>
          </a:prstGeom>
          <a:noFill/>
          <a:ln w="0">
            <a:noFill/>
            <a:prstDash val="solid"/>
          </a:ln>
        </p:spPr>
        <p:txBody>
          <a:bodyPr wrap="square" lIns="57150" tIns="38100" rIns="57150" bIns="38100" anchor="t">
            <a:noAutofit/>
          </a:bodyPr>
          <a:lstStyle/>
          <a:p>
            <a:pPr algn="ctr">
              <a:lnSpc>
                <a:spcPct val="102000"/>
              </a:lnSpc>
              <a:buNone/>
              <a:defRPr sz="2550" b="1" i="0">
                <a:solidFill>
                  <a:srgbClr val="4D1434"/>
                </a:solidFill>
                <a:latin typeface="Calibri"/>
                <a:ea typeface="Calibri"/>
                <a:cs typeface="Calibri"/>
              </a:defRPr>
            </a:pPr>
            <a:r>
              <a:rPr sz="2550" b="1" i="0">
                <a:solidFill>
                  <a:srgbClr val="4D1434"/>
                </a:solidFill>
                <a:latin typeface="Calibri"/>
                <a:ea typeface="Calibri"/>
                <a:cs typeface="Calibri"/>
              </a:rPr>
              <a:t>Material de respaldo no habilitado para proyección</a:t>
            </a:r>
          </a:p>
        </p:txBody>
      </p:sp>
      <p:sp>
        <p:nvSpPr>
          <p:cNvPr id="6" name="blocked-message">
            <a:extLst>
              <a:ext uri="{FF2B5EF4-FFF2-40B4-BE49-F238E27FC236}">
                <a16:creationId xmlns:a16="http://schemas.microsoft.com/office/drawing/2014/main" id="{7E28DE09-13C7-4C00-B52E-234A158D0249}"/>
              </a:ext>
            </a:extLst>
          </p:cNvPr>
          <p:cNvSpPr>
            <a:spLocks noGrp="1"/>
          </p:cNvSpPr>
          <p:nvPr/>
        </p:nvSpPr>
        <p:spPr>
          <a:xfrm>
            <a:off x="2238375" y="3095625"/>
            <a:ext cx="7715250" cy="1000125"/>
          </a:xfrm>
          <a:prstGeom prst="rect">
            <a:avLst/>
          </a:prstGeom>
          <a:noFill/>
          <a:ln w="0">
            <a:noFill/>
            <a:prstDash val="solid"/>
          </a:ln>
        </p:spPr>
        <p:txBody>
          <a:bodyPr wrap="square" lIns="57150" tIns="38100" rIns="57150" bIns="38100" anchor="ctr">
            <a:noAutofit/>
          </a:bodyPr>
          <a:lstStyle/>
          <a:p>
            <a:pPr algn="ctr">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La definición y el rotulado requieren una fuente específica autorizada. Esta versión no completa el contenido por inferencia.</a:t>
            </a:r>
          </a:p>
        </p:txBody>
      </p:sp>
      <p:sp>
        <p:nvSpPr>
          <p:cNvPr id="7" name="blocked-label">
            <a:extLst>
              <a:ext uri="{FF2B5EF4-FFF2-40B4-BE49-F238E27FC236}">
                <a16:creationId xmlns:a16="http://schemas.microsoft.com/office/drawing/2014/main" id="{B0384592-AC29-4D0C-ACBF-D8C21CDCECC6}"/>
              </a:ext>
            </a:extLst>
          </p:cNvPr>
          <p:cNvSpPr>
            <a:spLocks noGrp="1"/>
          </p:cNvSpPr>
          <p:nvPr/>
        </p:nvSpPr>
        <p:spPr>
          <a:xfrm>
            <a:off x="4714875" y="4333875"/>
            <a:ext cx="2762250" cy="381000"/>
          </a:xfrm>
          <a:prstGeom prst="rect">
            <a:avLst/>
          </a:prstGeom>
          <a:noFill/>
          <a:ln w="0">
            <a:noFill/>
            <a:prstDash val="solid"/>
          </a:ln>
        </p:spPr>
        <p:txBody>
          <a:bodyPr wrap="square" lIns="57150" tIns="38100" rIns="57150" bIns="38100" anchor="t">
            <a:noAutofit/>
          </a:bodyPr>
          <a:lstStyle/>
          <a:p>
            <a:pPr algn="ctr">
              <a:lnSpc>
                <a:spcPct val="102000"/>
              </a:lnSpc>
              <a:buNone/>
              <a:defRPr sz="1800" b="1" i="0">
                <a:solidFill>
                  <a:srgbClr val="A33A3A"/>
                </a:solidFill>
                <a:latin typeface="Calibri"/>
                <a:ea typeface="Calibri"/>
                <a:cs typeface="Calibri"/>
              </a:defRPr>
            </a:pPr>
            <a:r>
              <a:rPr sz="1800" b="1" i="0">
                <a:solidFill>
                  <a:srgbClr val="A33A3A"/>
                </a:solidFill>
                <a:latin typeface="Calibri"/>
                <a:ea typeface="Calibri"/>
                <a:cs typeface="Calibri"/>
              </a:rPr>
              <a:t>No proyectar</a:t>
            </a:r>
          </a:p>
        </p:txBody>
      </p:sp>
      <p:sp>
        <p:nvSpPr>
          <p:cNvPr id="8" name="caption">
            <a:extLst>
              <a:ext uri="{FF2B5EF4-FFF2-40B4-BE49-F238E27FC236}">
                <a16:creationId xmlns:a16="http://schemas.microsoft.com/office/drawing/2014/main" id="{625C7807-66F1-44AF-BA95-D27E39936E6C}"/>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Recurso no aprobado: falta fuente específica; no usar en producción.</a:t>
            </a:r>
          </a:p>
        </p:txBody>
      </p:sp>
      <p:sp>
        <p:nvSpPr>
          <p:cNvPr id="9" name="credit">
            <a:extLst>
              <a:ext uri="{FF2B5EF4-FFF2-40B4-BE49-F238E27FC236}">
                <a16:creationId xmlns:a16="http://schemas.microsoft.com/office/drawing/2014/main" id="{2B7CE611-FF26-405D-AC00-7C57BB0E0AE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6.9.1; PDF p. 164; OD-U06-13; EXT-PEND.</a:t>
            </a:r>
          </a:p>
        </p:txBody>
      </p:sp>
    </p:spTree>
    <p:extLst>
      <p:ext uri="{BB962C8B-B14F-4D97-AF65-F5344CB8AC3E}">
        <p14:creationId xmlns:p14="http://schemas.microsoft.com/office/powerpoint/2010/main" val="486490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E2C75938-C194-40C8-B2C1-B10298F150A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Frecuencia no es altura tonal</a:t>
            </a:r>
          </a:p>
        </p:txBody>
      </p:sp>
      <p:sp>
        <p:nvSpPr>
          <p:cNvPr id="2" name="slide-subtitle">
            <a:extLst>
              <a:ext uri="{FF2B5EF4-FFF2-40B4-BE49-F238E27FC236}">
                <a16:creationId xmlns:a16="http://schemas.microsoft.com/office/drawing/2014/main" id="{D17928F5-13D7-43AB-9E25-09385C607C9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frecuencia es una magnitud física; el *pitch* es una experiencia que depende del procesamiento.</a:t>
            </a:r>
          </a:p>
        </p:txBody>
      </p:sp>
      <p:sp>
        <p:nvSpPr>
          <p:cNvPr id="3" name="eyebrow">
            <a:extLst>
              <a:ext uri="{FF2B5EF4-FFF2-40B4-BE49-F238E27FC236}">
                <a16:creationId xmlns:a16="http://schemas.microsoft.com/office/drawing/2014/main" id="{BA98E28B-18F4-498B-9135-A099A2AB915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097</a:t>
            </a:r>
          </a:p>
        </p:txBody>
      </p:sp>
      <p:sp>
        <p:nvSpPr>
          <p:cNvPr id="4" name="U06-DG-058B-stage_1-anchor">
            <a:extLst>
              <a:ext uri="{FF2B5EF4-FFF2-40B4-BE49-F238E27FC236}">
                <a16:creationId xmlns:a16="http://schemas.microsoft.com/office/drawing/2014/main" id="{652F109E-7C01-40EC-A155-9BB3CD32D2B6}"/>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58B-stage_2-anchor">
            <a:extLst>
              <a:ext uri="{FF2B5EF4-FFF2-40B4-BE49-F238E27FC236}">
                <a16:creationId xmlns:a16="http://schemas.microsoft.com/office/drawing/2014/main" id="{E4382AAE-E82E-4B65-9E9B-B2F0136B1777}"/>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58B-stage_3-anchor">
            <a:extLst>
              <a:ext uri="{FF2B5EF4-FFF2-40B4-BE49-F238E27FC236}">
                <a16:creationId xmlns:a16="http://schemas.microsoft.com/office/drawing/2014/main" id="{C33E12A7-DF39-4FBE-B639-666F5567531F}"/>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58B-stage_4-anchor">
            <a:extLst>
              <a:ext uri="{FF2B5EF4-FFF2-40B4-BE49-F238E27FC236}">
                <a16:creationId xmlns:a16="http://schemas.microsoft.com/office/drawing/2014/main" id="{4B43B472-C668-4D6A-A843-078B81FB3B00}"/>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58B-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58B-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58B-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58B-stage_1-box" descr="Diagrama sobre «Frecuencia no es altura tonal»; organiza par físico/perceptual con ejemplos que muestran relación, no identidad." title="Texto alternativo U06-097">
            <a:extLst>
              <a:ext uri="{FF2B5EF4-FFF2-40B4-BE49-F238E27FC236}">
                <a16:creationId xmlns:a16="http://schemas.microsoft.com/office/drawing/2014/main" id="{6A1CAD3A-2ED5-4AB5-A74D-04541C403BAB}"/>
              </a:ext>
            </a:extLst>
          </p:cNvPr>
          <p:cNvSpPr>
            <a:spLocks noGrp="1"/>
          </p:cNvSpPr>
          <p:nvPr/>
        </p:nvSpPr>
        <p:spPr>
          <a:xfrm>
            <a:off x="781050" y="2428875"/>
            <a:ext cx="2428875" cy="1666875"/>
          </a:xfrm>
          <a:prstGeom prst="roundRect">
            <a:avLst>
              <a:gd name="adj" fmla="val 5714"/>
            </a:avLst>
          </a:prstGeom>
          <a:solidFill>
            <a:srgbClr val="E7F1F1"/>
          </a:solidFill>
          <a:ln w="19050">
            <a:solidFill>
              <a:srgbClr val="2F7E83"/>
            </a:solidFill>
            <a:prstDash val="solid"/>
          </a:ln>
        </p:spPr>
      </p:sp>
      <p:sp>
        <p:nvSpPr>
          <p:cNvPr id="12" name="U06-DG-058B-stage_1-title">
            <a:extLst>
              <a:ext uri="{FF2B5EF4-FFF2-40B4-BE49-F238E27FC236}">
                <a16:creationId xmlns:a16="http://schemas.microsoft.com/office/drawing/2014/main" id="{CB6E436D-7773-4A86-98E8-0DBE2AD73F29}"/>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Frecuencia</a:t>
            </a:r>
          </a:p>
        </p:txBody>
      </p:sp>
      <p:sp>
        <p:nvSpPr>
          <p:cNvPr id="13" name="U06-DG-058B-stage_1-body">
            <a:extLst>
              <a:ext uri="{FF2B5EF4-FFF2-40B4-BE49-F238E27FC236}">
                <a16:creationId xmlns:a16="http://schemas.microsoft.com/office/drawing/2014/main" id="{3210521E-3EA4-4F97-82FE-3C59B3D56CA7}"/>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magnitud física · Hz</a:t>
            </a:r>
          </a:p>
        </p:txBody>
      </p:sp>
      <p:sp>
        <p:nvSpPr>
          <p:cNvPr id="14" name="U06-DG-058B-stage_2-box">
            <a:extLst>
              <a:ext uri="{FF2B5EF4-FFF2-40B4-BE49-F238E27FC236}">
                <a16:creationId xmlns:a16="http://schemas.microsoft.com/office/drawing/2014/main" id="{2BDC8B5E-D749-4EB9-87E9-88F384708A25}"/>
              </a:ext>
            </a:extLst>
          </p:cNvPr>
          <p:cNvSpPr>
            <a:spLocks noGrp="1"/>
          </p:cNvSpPr>
          <p:nvPr/>
        </p:nvSpPr>
        <p:spPr>
          <a:xfrm>
            <a:off x="3514725" y="2428875"/>
            <a:ext cx="2428875" cy="1666875"/>
          </a:xfrm>
          <a:prstGeom prst="roundRect">
            <a:avLst>
              <a:gd name="adj" fmla="val 5714"/>
            </a:avLst>
          </a:prstGeom>
          <a:solidFill>
            <a:srgbClr val="F4E9EF"/>
          </a:solidFill>
          <a:ln w="19050">
            <a:solidFill>
              <a:srgbClr val="4D1434"/>
            </a:solidFill>
            <a:prstDash val="solid"/>
          </a:ln>
        </p:spPr>
      </p:sp>
      <p:sp>
        <p:nvSpPr>
          <p:cNvPr id="15" name="U06-DG-058B-stage_2-title">
            <a:extLst>
              <a:ext uri="{FF2B5EF4-FFF2-40B4-BE49-F238E27FC236}">
                <a16:creationId xmlns:a16="http://schemas.microsoft.com/office/drawing/2014/main" id="{CF7C347D-CC58-4260-B35C-307168FB749C}"/>
              </a:ext>
            </a:extLst>
          </p:cNvPr>
          <p:cNvSpPr>
            <a:spLocks noGrp="1"/>
          </p:cNvSpPr>
          <p:nvPr/>
        </p:nvSpPr>
        <p:spPr>
          <a:xfrm>
            <a:off x="370522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Código</a:t>
            </a:r>
          </a:p>
        </p:txBody>
      </p:sp>
      <p:sp>
        <p:nvSpPr>
          <p:cNvPr id="16" name="U06-DG-058B-stage_2-body">
            <a:extLst>
              <a:ext uri="{FF2B5EF4-FFF2-40B4-BE49-F238E27FC236}">
                <a16:creationId xmlns:a16="http://schemas.microsoft.com/office/drawing/2014/main" id="{1C9F95F1-A630-42DE-947D-E62D93199170}"/>
              </a:ext>
            </a:extLst>
          </p:cNvPr>
          <p:cNvSpPr>
            <a:spLocks noGrp="1"/>
          </p:cNvSpPr>
          <p:nvPr/>
        </p:nvSpPr>
        <p:spPr>
          <a:xfrm>
            <a:off x="370522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lugar + tiempo</a:t>
            </a:r>
          </a:p>
        </p:txBody>
      </p:sp>
      <p:sp>
        <p:nvSpPr>
          <p:cNvPr id="17" name="U06-DG-058B-stage_3-box">
            <a:extLst>
              <a:ext uri="{FF2B5EF4-FFF2-40B4-BE49-F238E27FC236}">
                <a16:creationId xmlns:a16="http://schemas.microsoft.com/office/drawing/2014/main" id="{92E1EB58-14D1-4775-A56A-18885A327F1A}"/>
              </a:ext>
            </a:extLst>
          </p:cNvPr>
          <p:cNvSpPr>
            <a:spLocks noGrp="1"/>
          </p:cNvSpPr>
          <p:nvPr/>
        </p:nvSpPr>
        <p:spPr>
          <a:xfrm>
            <a:off x="6248400" y="2428875"/>
            <a:ext cx="2428875" cy="1666875"/>
          </a:xfrm>
          <a:prstGeom prst="roundRect">
            <a:avLst>
              <a:gd name="adj" fmla="val 5714"/>
            </a:avLst>
          </a:prstGeom>
          <a:solidFill>
            <a:srgbClr val="F7F6F2"/>
          </a:solidFill>
          <a:ln w="19050">
            <a:solidFill>
              <a:srgbClr val="969FA7"/>
            </a:solidFill>
            <a:prstDash val="solid"/>
          </a:ln>
        </p:spPr>
      </p:sp>
      <p:sp>
        <p:nvSpPr>
          <p:cNvPr id="18" name="U06-DG-058B-stage_3-title">
            <a:extLst>
              <a:ext uri="{FF2B5EF4-FFF2-40B4-BE49-F238E27FC236}">
                <a16:creationId xmlns:a16="http://schemas.microsoft.com/office/drawing/2014/main" id="{E9F8870D-DD5C-4431-B723-3A89F278A506}"/>
              </a:ext>
            </a:extLst>
          </p:cNvPr>
          <p:cNvSpPr>
            <a:spLocks noGrp="1"/>
          </p:cNvSpPr>
          <p:nvPr/>
        </p:nvSpPr>
        <p:spPr>
          <a:xfrm>
            <a:off x="643890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Integración</a:t>
            </a:r>
          </a:p>
        </p:txBody>
      </p:sp>
      <p:sp>
        <p:nvSpPr>
          <p:cNvPr id="19" name="U06-DG-058B-stage_3-body">
            <a:extLst>
              <a:ext uri="{FF2B5EF4-FFF2-40B4-BE49-F238E27FC236}">
                <a16:creationId xmlns:a16="http://schemas.microsoft.com/office/drawing/2014/main" id="{16FEED13-C672-45D0-BB06-02FDD1B9ED52}"/>
              </a:ext>
            </a:extLst>
          </p:cNvPr>
          <p:cNvSpPr>
            <a:spLocks noGrp="1"/>
          </p:cNvSpPr>
          <p:nvPr/>
        </p:nvSpPr>
        <p:spPr>
          <a:xfrm>
            <a:off x="643890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claves neurales</a:t>
            </a:r>
          </a:p>
        </p:txBody>
      </p:sp>
      <p:sp>
        <p:nvSpPr>
          <p:cNvPr id="20" name="U06-DG-058B-stage_4-box">
            <a:extLst>
              <a:ext uri="{FF2B5EF4-FFF2-40B4-BE49-F238E27FC236}">
                <a16:creationId xmlns:a16="http://schemas.microsoft.com/office/drawing/2014/main" id="{126A3DF3-4215-43BA-828A-87C74C9D7F54}"/>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58B-stage_4-title">
            <a:extLst>
              <a:ext uri="{FF2B5EF4-FFF2-40B4-BE49-F238E27FC236}">
                <a16:creationId xmlns:a16="http://schemas.microsoft.com/office/drawing/2014/main" id="{3F83BC4B-F279-499D-8CD2-3F1CA106794C}"/>
              </a:ext>
            </a:extLst>
          </p:cNvPr>
          <p:cNvSpPr>
            <a:spLocks noGrp="1"/>
          </p:cNvSpPr>
          <p:nvPr/>
        </p:nvSpPr>
        <p:spPr>
          <a:xfrm>
            <a:off x="9172575"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Pitch</a:t>
            </a:r>
          </a:p>
        </p:txBody>
      </p:sp>
      <p:sp>
        <p:nvSpPr>
          <p:cNvPr id="22" name="U06-DG-058B-stage_4-body">
            <a:extLst>
              <a:ext uri="{FF2B5EF4-FFF2-40B4-BE49-F238E27FC236}">
                <a16:creationId xmlns:a16="http://schemas.microsoft.com/office/drawing/2014/main" id="{5CD8A103-0D36-4E61-B2A2-D7E38CAA9045}"/>
              </a:ext>
            </a:extLst>
          </p:cNvPr>
          <p:cNvSpPr>
            <a:spLocks noGrp="1"/>
          </p:cNvSpPr>
          <p:nvPr/>
        </p:nvSpPr>
        <p:spPr>
          <a:xfrm>
            <a:off x="9172575"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percepto</a:t>
            </a:r>
          </a:p>
        </p:txBody>
      </p:sp>
      <p:sp>
        <p:nvSpPr>
          <p:cNvPr id="23" name="caption">
            <a:extLst>
              <a:ext uri="{FF2B5EF4-FFF2-40B4-BE49-F238E27FC236}">
                <a16:creationId xmlns:a16="http://schemas.microsoft.com/office/drawing/2014/main" id="{2C5B92C8-761C-4FF2-A66D-3384BA705167}"/>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frecuencia es una magnitud física; el *pitch* es una experiencia que depende…</a:t>
            </a:r>
          </a:p>
        </p:txBody>
      </p:sp>
      <p:sp>
        <p:nvSpPr>
          <p:cNvPr id="24" name="credit">
            <a:extLst>
              <a:ext uri="{FF2B5EF4-FFF2-40B4-BE49-F238E27FC236}">
                <a16:creationId xmlns:a16="http://schemas.microsoft.com/office/drawing/2014/main" id="{B6D5A0DD-04AF-48DA-B1F4-0B439CC2107F}"/>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7413291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CB6F7BA-056B-49D3-A434-F0A081BA75B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El nivel modifica extensión y patrón de descarga</a:t>
            </a:r>
          </a:p>
        </p:txBody>
      </p:sp>
      <p:sp>
        <p:nvSpPr>
          <p:cNvPr id="2" name="slide-subtitle">
            <a:extLst>
              <a:ext uri="{FF2B5EF4-FFF2-40B4-BE49-F238E27FC236}">
                <a16:creationId xmlns:a16="http://schemas.microsoft.com/office/drawing/2014/main" id="{4F226967-497B-4105-9C0B-63D816098D1D}"/>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Mayor nivel puede reclutar una región más amplia y modificar tasas, sin traducirse linealmente en sonoridad.</a:t>
            </a:r>
          </a:p>
        </p:txBody>
      </p:sp>
      <p:sp>
        <p:nvSpPr>
          <p:cNvPr id="3" name="eyebrow">
            <a:extLst>
              <a:ext uri="{FF2B5EF4-FFF2-40B4-BE49-F238E27FC236}">
                <a16:creationId xmlns:a16="http://schemas.microsoft.com/office/drawing/2014/main" id="{B0485AA1-C076-4FC1-BAE2-F67E0EBBF214}"/>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098</a:t>
            </a:r>
          </a:p>
        </p:txBody>
      </p:sp>
      <p:pic>
        <p:nvPicPr>
          <p:cNvPr id="13" name="U06-098-U06-CH-006" descr="Diagrama sobre «El nivel modifica extensión y patrón de descarga»; organiza dos niveles a igual frecuencia: envolvente coclear y respuesta neural conceptual." title="Texto alternativo U06-098"/>
          <p:cNvPicPr>
            <a:picLocks noChangeAspect="1"/>
          </p:cNvPicPr>
          <p:nvPr/>
        </p:nvPicPr>
        <p:blipFill>
          <a:blip>
            <a:extLst>
              <a:ext uri="{96DAC541-7B7A-43D3-8B79-37D633B846F1}">
                <asvg:svgBlip xmlns:asvg="http://schemas.microsoft.com/office/drawing/2016/SVG/main" r:embed="rId3"/>
              </a:ext>
            </a:extLst>
          </a:blip>
          <a:stretch/>
        </p:blipFill>
        <p:spPr>
          <a:xfrm>
            <a:off x="428625" y="1428750"/>
            <a:ext cx="7810500" cy="4333875"/>
          </a:xfrm>
          <a:prstGeom prst="rect">
            <a:avLst/>
          </a:prstGeom>
        </p:spPr>
      </p:pic>
      <p:sp>
        <p:nvSpPr>
          <p:cNvPr id="5" name="chart-reading-box">
            <a:extLst>
              <a:ext uri="{FF2B5EF4-FFF2-40B4-BE49-F238E27FC236}">
                <a16:creationId xmlns:a16="http://schemas.microsoft.com/office/drawing/2014/main" id="{E96C82E6-BF85-46DC-9EE1-E851E4553867}"/>
              </a:ext>
            </a:extLst>
          </p:cNvPr>
          <p:cNvSpPr>
            <a:spLocks noGrp="1"/>
          </p:cNvSpPr>
          <p:nvPr/>
        </p:nvSpPr>
        <p:spPr>
          <a:xfrm>
            <a:off x="8429625" y="1571625"/>
            <a:ext cx="3048000" cy="3714750"/>
          </a:xfrm>
          <a:prstGeom prst="roundRect">
            <a:avLst>
              <a:gd name="adj" fmla="val 3750"/>
            </a:avLst>
          </a:prstGeom>
          <a:solidFill>
            <a:srgbClr val="E7F1F1"/>
          </a:solidFill>
          <a:ln w="19050">
            <a:solidFill>
              <a:srgbClr val="2F7E83"/>
            </a:solidFill>
            <a:prstDash val="solid"/>
          </a:ln>
        </p:spPr>
      </p:sp>
      <p:sp>
        <p:nvSpPr>
          <p:cNvPr id="6" name="chart-reading-title">
            <a:extLst>
              <a:ext uri="{FF2B5EF4-FFF2-40B4-BE49-F238E27FC236}">
                <a16:creationId xmlns:a16="http://schemas.microsoft.com/office/drawing/2014/main" id="{7935C6C0-FE6A-4D19-8EE1-4F12562E5742}"/>
              </a:ext>
            </a:extLst>
          </p:cNvPr>
          <p:cNvSpPr>
            <a:spLocks noGrp="1"/>
          </p:cNvSpPr>
          <p:nvPr/>
        </p:nvSpPr>
        <p:spPr>
          <a:xfrm>
            <a:off x="8601075" y="1704975"/>
            <a:ext cx="2705100"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Qué leer</a:t>
            </a:r>
          </a:p>
        </p:txBody>
      </p:sp>
      <p:sp>
        <p:nvSpPr>
          <p:cNvPr id="7" name="chart-reading-body">
            <a:extLst>
              <a:ext uri="{FF2B5EF4-FFF2-40B4-BE49-F238E27FC236}">
                <a16:creationId xmlns:a16="http://schemas.microsoft.com/office/drawing/2014/main" id="{825CDFFB-B3A8-46DE-B723-3265C51F60F0}"/>
              </a:ext>
            </a:extLst>
          </p:cNvPr>
          <p:cNvSpPr>
            <a:spLocks noGrp="1"/>
          </p:cNvSpPr>
          <p:nvPr/>
        </p:nvSpPr>
        <p:spPr>
          <a:xfrm>
            <a:off x="8601075" y="2105025"/>
            <a:ext cx="2705100" cy="3028950"/>
          </a:xfrm>
          <a:prstGeom prst="rect">
            <a:avLst/>
          </a:prstGeom>
          <a:noFill/>
          <a:ln w="0">
            <a:noFill/>
            <a:prstDash val="solid"/>
          </a:ln>
        </p:spPr>
        <p:txBody>
          <a:bodyPr wrap="square" lIns="0" tIns="0" rIns="0" bIns="0" anchor="t">
            <a:noAutofit/>
          </a:bodyPr>
          <a:lstStyle/>
          <a:p>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Idea central: Mayor nivel puede reclutar una región más amplia y modificar tasas, sin traducirse linealmente en sonoridad. Clave de lectura: Dos niveles a igual frecuencia: envolvente coclear y respuesta neural conceptual.</a:t>
            </a:r>
          </a:p>
        </p:txBody>
      </p:sp>
      <p:sp>
        <p:nvSpPr>
          <p:cNvPr id="8" name="caption">
            <a:extLst>
              <a:ext uri="{FF2B5EF4-FFF2-40B4-BE49-F238E27FC236}">
                <a16:creationId xmlns:a16="http://schemas.microsoft.com/office/drawing/2014/main" id="{1CC96354-5D0C-41B6-ACE9-A950E7B1D527}"/>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Mayor nivel puede reclutar una región más amplia y modificar tasas, sin traducir…</a:t>
            </a:r>
          </a:p>
        </p:txBody>
      </p:sp>
      <p:sp>
        <p:nvSpPr>
          <p:cNvPr id="9" name="credit">
            <a:extLst>
              <a:ext uri="{FF2B5EF4-FFF2-40B4-BE49-F238E27FC236}">
                <a16:creationId xmlns:a16="http://schemas.microsoft.com/office/drawing/2014/main" id="{9964B6D7-7FF2-4549-A5D9-14B0BEC6D2A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486490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390E4A19-88EA-48C6-95A7-2E315B6C1E5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Nivel de presión sonora no es sonoridad</a:t>
            </a:r>
          </a:p>
        </p:txBody>
      </p:sp>
      <p:sp>
        <p:nvSpPr>
          <p:cNvPr id="2" name="slide-subtitle">
            <a:extLst>
              <a:ext uri="{FF2B5EF4-FFF2-40B4-BE49-F238E27FC236}">
                <a16:creationId xmlns:a16="http://schemas.microsoft.com/office/drawing/2014/main" id="{66C455FA-45A7-4ED7-BDAC-58EDE1A78081}"/>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dB SPL describe una medición física; sonoridad describe experiencia perceptual.</a:t>
            </a:r>
          </a:p>
        </p:txBody>
      </p:sp>
      <p:sp>
        <p:nvSpPr>
          <p:cNvPr id="3" name="eyebrow">
            <a:extLst>
              <a:ext uri="{FF2B5EF4-FFF2-40B4-BE49-F238E27FC236}">
                <a16:creationId xmlns:a16="http://schemas.microsoft.com/office/drawing/2014/main" id="{0B13CB63-5BBE-4D0A-918D-3030FA078FAB}"/>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099</a:t>
            </a:r>
          </a:p>
        </p:txBody>
      </p:sp>
      <p:sp>
        <p:nvSpPr>
          <p:cNvPr id="4" name="U06-DG-059B-panel_left-anchor">
            <a:extLst>
              <a:ext uri="{FF2B5EF4-FFF2-40B4-BE49-F238E27FC236}">
                <a16:creationId xmlns:a16="http://schemas.microsoft.com/office/drawing/2014/main" id="{818AE988-FCB2-4F69-9117-E0C44CE3BBC9}"/>
              </a:ext>
            </a:extLst>
          </p:cNvPr>
          <p:cNvSpPr>
            <a:spLocks noGrp="1"/>
          </p:cNvSpPr>
          <p:nvPr/>
        </p:nvSpPr>
        <p:spPr>
          <a:xfrm>
            <a:off x="876300" y="1714500"/>
            <a:ext cx="4953000" cy="3333750"/>
          </a:xfrm>
          <a:prstGeom prst="roundRect">
            <a:avLst>
              <a:gd name="adj" fmla="val 2857"/>
            </a:avLst>
          </a:prstGeom>
          <a:noFill/>
          <a:ln w="0">
            <a:noFill/>
            <a:prstDash val="solid"/>
          </a:ln>
        </p:spPr>
      </p:sp>
      <p:sp>
        <p:nvSpPr>
          <p:cNvPr id="5" name="U06-DG-059B-panel_right-anchor">
            <a:extLst>
              <a:ext uri="{FF2B5EF4-FFF2-40B4-BE49-F238E27FC236}">
                <a16:creationId xmlns:a16="http://schemas.microsoft.com/office/drawing/2014/main" id="{81AA7880-BDF5-41A8-B178-42CA64B9B459}"/>
              </a:ext>
            </a:extLst>
          </p:cNvPr>
          <p:cNvSpPr>
            <a:spLocks noGrp="1"/>
          </p:cNvSpPr>
          <p:nvPr/>
        </p:nvSpPr>
        <p:spPr>
          <a:xfrm>
            <a:off x="6362700" y="1714500"/>
            <a:ext cx="4953000" cy="3333750"/>
          </a:xfrm>
          <a:prstGeom prst="roundRect">
            <a:avLst>
              <a:gd name="adj" fmla="val 2857"/>
            </a:avLst>
          </a:prstGeom>
          <a:noFill/>
          <a:ln w="0">
            <a:noFill/>
            <a:prstDash val="solid"/>
          </a:ln>
        </p:spPr>
      </p:sp>
      <p:sp>
        <p:nvSpPr>
          <p:cNvPr id="6" name="U06-DG-059B-panel_left-box" descr="Diagrama sobre «Nivel de presión sonora no es sonoridad»; organiza dos definiciones breves, relación no lineal y puente a u7." title="Texto alternativo U06-099">
            <a:extLst>
              <a:ext uri="{FF2B5EF4-FFF2-40B4-BE49-F238E27FC236}">
                <a16:creationId xmlns:a16="http://schemas.microsoft.com/office/drawing/2014/main" id="{01E8474C-2320-4CF6-88CC-1271F61AD6F8}"/>
              </a:ext>
            </a:extLst>
          </p:cNvPr>
          <p:cNvSpPr>
            <a:spLocks noGrp="1"/>
          </p:cNvSpPr>
          <p:nvPr/>
        </p:nvSpPr>
        <p:spPr>
          <a:xfrm>
            <a:off x="876300" y="1714500"/>
            <a:ext cx="4953000" cy="3333750"/>
          </a:xfrm>
          <a:prstGeom prst="roundRect">
            <a:avLst>
              <a:gd name="adj" fmla="val 2857"/>
            </a:avLst>
          </a:prstGeom>
          <a:solidFill>
            <a:srgbClr val="E7F1F1"/>
          </a:solidFill>
          <a:ln w="19050">
            <a:solidFill>
              <a:srgbClr val="2F7E83"/>
            </a:solidFill>
            <a:prstDash val="solid"/>
          </a:ln>
        </p:spPr>
      </p:sp>
      <p:sp>
        <p:nvSpPr>
          <p:cNvPr id="7" name="U06-DG-059B-panel_left-title">
            <a:extLst>
              <a:ext uri="{FF2B5EF4-FFF2-40B4-BE49-F238E27FC236}">
                <a16:creationId xmlns:a16="http://schemas.microsoft.com/office/drawing/2014/main" id="{C3BDC63F-4BD2-44C7-A21C-B1F4B3534553}"/>
              </a:ext>
            </a:extLst>
          </p:cNvPr>
          <p:cNvSpPr>
            <a:spLocks noGrp="1"/>
          </p:cNvSpPr>
          <p:nvPr/>
        </p:nvSpPr>
        <p:spPr>
          <a:xfrm>
            <a:off x="10668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Nivel sonoro</a:t>
            </a:r>
          </a:p>
        </p:txBody>
      </p:sp>
      <p:sp>
        <p:nvSpPr>
          <p:cNvPr id="8" name="U06-DG-059B-panel_left-body">
            <a:extLst>
              <a:ext uri="{FF2B5EF4-FFF2-40B4-BE49-F238E27FC236}">
                <a16:creationId xmlns:a16="http://schemas.microsoft.com/office/drawing/2014/main" id="{08CE9E61-5A12-4647-8CCE-A1B7B8A0CDE4}"/>
              </a:ext>
            </a:extLst>
          </p:cNvPr>
          <p:cNvSpPr>
            <a:spLocks noGrp="1"/>
          </p:cNvSpPr>
          <p:nvPr/>
        </p:nvSpPr>
        <p:spPr>
          <a:xfrm>
            <a:off x="10668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dB SPL magnitud física</a:t>
            </a:r>
          </a:p>
        </p:txBody>
      </p:sp>
      <p:sp>
        <p:nvSpPr>
          <p:cNvPr id="9" name="U06-DG-059B-panel_right-box">
            <a:extLst>
              <a:ext uri="{FF2B5EF4-FFF2-40B4-BE49-F238E27FC236}">
                <a16:creationId xmlns:a16="http://schemas.microsoft.com/office/drawing/2014/main" id="{764D908B-2C77-4FA8-A851-3F22E3EDA2EE}"/>
              </a:ext>
            </a:extLst>
          </p:cNvPr>
          <p:cNvSpPr>
            <a:spLocks noGrp="1"/>
          </p:cNvSpPr>
          <p:nvPr/>
        </p:nvSpPr>
        <p:spPr>
          <a:xfrm>
            <a:off x="6362700" y="1714500"/>
            <a:ext cx="4953000" cy="3333750"/>
          </a:xfrm>
          <a:prstGeom prst="roundRect">
            <a:avLst>
              <a:gd name="adj" fmla="val 2857"/>
            </a:avLst>
          </a:prstGeom>
          <a:solidFill>
            <a:srgbClr val="F8EDE2"/>
          </a:solidFill>
          <a:ln w="19050">
            <a:solidFill>
              <a:srgbClr val="9F541A"/>
            </a:solidFill>
            <a:prstDash val="solid"/>
          </a:ln>
        </p:spPr>
      </p:sp>
      <p:sp>
        <p:nvSpPr>
          <p:cNvPr id="10" name="U06-DG-059B-panel_right-title">
            <a:extLst>
              <a:ext uri="{FF2B5EF4-FFF2-40B4-BE49-F238E27FC236}">
                <a16:creationId xmlns:a16="http://schemas.microsoft.com/office/drawing/2014/main" id="{BBE6053E-5014-4A31-BF9B-9B57F49C30A2}"/>
              </a:ext>
            </a:extLst>
          </p:cNvPr>
          <p:cNvSpPr>
            <a:spLocks noGrp="1"/>
          </p:cNvSpPr>
          <p:nvPr/>
        </p:nvSpPr>
        <p:spPr>
          <a:xfrm>
            <a:off x="6553200" y="1857375"/>
            <a:ext cx="45720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Sonoridad</a:t>
            </a:r>
          </a:p>
        </p:txBody>
      </p:sp>
      <p:sp>
        <p:nvSpPr>
          <p:cNvPr id="11" name="U06-DG-059B-panel_right-body">
            <a:extLst>
              <a:ext uri="{FF2B5EF4-FFF2-40B4-BE49-F238E27FC236}">
                <a16:creationId xmlns:a16="http://schemas.microsoft.com/office/drawing/2014/main" id="{A632C746-0F74-4AF4-A0A3-75164D3C3F18}"/>
              </a:ext>
            </a:extLst>
          </p:cNvPr>
          <p:cNvSpPr>
            <a:spLocks noGrp="1"/>
          </p:cNvSpPr>
          <p:nvPr/>
        </p:nvSpPr>
        <p:spPr>
          <a:xfrm>
            <a:off x="6553200" y="2305050"/>
            <a:ext cx="4572000" cy="2647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percepto condicionado</a:t>
            </a:r>
          </a:p>
        </p:txBody>
      </p:sp>
      <p:sp>
        <p:nvSpPr>
          <p:cNvPr id="12" name="caption">
            <a:extLst>
              <a:ext uri="{FF2B5EF4-FFF2-40B4-BE49-F238E27FC236}">
                <a16:creationId xmlns:a16="http://schemas.microsoft.com/office/drawing/2014/main" id="{BC792AF8-1FD4-46FF-AD02-9D5F10A12AC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dB SPL describe una medición física; sonoridad describe experiencia perceptual.</a:t>
            </a:r>
          </a:p>
        </p:txBody>
      </p:sp>
      <p:sp>
        <p:nvSpPr>
          <p:cNvPr id="13" name="credit">
            <a:extLst>
              <a:ext uri="{FF2B5EF4-FFF2-40B4-BE49-F238E27FC236}">
                <a16:creationId xmlns:a16="http://schemas.microsoft.com/office/drawing/2014/main" id="{331C4F40-60D3-478A-9099-3FCED89DA899}"/>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83219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slide-title">
            <a:extLst>
              <a:ext uri="{FF2B5EF4-FFF2-40B4-BE49-F238E27FC236}">
                <a16:creationId xmlns:a16="http://schemas.microsoft.com/office/drawing/2014/main" id="{324F4A41-E843-46D1-90DF-FEDE341B7924}"/>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Toda prueba observa una parte de la cadena</a:t>
            </a:r>
          </a:p>
        </p:txBody>
      </p:sp>
      <p:sp>
        <p:nvSpPr>
          <p:cNvPr id="2" name="slide-subtitle">
            <a:extLst>
              <a:ext uri="{FF2B5EF4-FFF2-40B4-BE49-F238E27FC236}">
                <a16:creationId xmlns:a16="http://schemas.microsoft.com/office/drawing/2014/main" id="{645FF00A-AB18-4F07-9098-9D5C193A786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 resultado depende de la entrada, la estructura sensible, la vía de salida y la medición.</a:t>
            </a:r>
          </a:p>
        </p:txBody>
      </p:sp>
      <p:sp>
        <p:nvSpPr>
          <p:cNvPr id="3" name="eyebrow">
            <a:extLst>
              <a:ext uri="{FF2B5EF4-FFF2-40B4-BE49-F238E27FC236}">
                <a16:creationId xmlns:a16="http://schemas.microsoft.com/office/drawing/2014/main" id="{CC90EA6B-9A3C-4369-8B96-2A4C220B163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100</a:t>
            </a:r>
          </a:p>
        </p:txBody>
      </p:sp>
      <p:sp>
        <p:nvSpPr>
          <p:cNvPr id="4" name="U06-DG-060-chain_1-anchor">
            <a:extLst>
              <a:ext uri="{FF2B5EF4-FFF2-40B4-BE49-F238E27FC236}">
                <a16:creationId xmlns:a16="http://schemas.microsoft.com/office/drawing/2014/main" id="{38AF0371-7B3A-491E-87FE-D7758C8917AB}"/>
              </a:ext>
            </a:extLst>
          </p:cNvPr>
          <p:cNvSpPr>
            <a:spLocks noGrp="1"/>
          </p:cNvSpPr>
          <p:nvPr/>
        </p:nvSpPr>
        <p:spPr>
          <a:xfrm>
            <a:off x="781050" y="2762250"/>
            <a:ext cx="1973580" cy="1524000"/>
          </a:xfrm>
          <a:prstGeom prst="roundRect">
            <a:avLst>
              <a:gd name="adj" fmla="val 6250"/>
            </a:avLst>
          </a:prstGeom>
          <a:noFill/>
          <a:ln w="0">
            <a:noFill/>
            <a:prstDash val="solid"/>
          </a:ln>
        </p:spPr>
      </p:sp>
      <p:sp>
        <p:nvSpPr>
          <p:cNvPr id="5" name="U06-DG-060-chain_2-anchor">
            <a:extLst>
              <a:ext uri="{FF2B5EF4-FFF2-40B4-BE49-F238E27FC236}">
                <a16:creationId xmlns:a16="http://schemas.microsoft.com/office/drawing/2014/main" id="{7EECA28C-574D-4CDC-8B48-C8D9618DD86F}"/>
              </a:ext>
            </a:extLst>
          </p:cNvPr>
          <p:cNvSpPr>
            <a:spLocks noGrp="1"/>
          </p:cNvSpPr>
          <p:nvPr/>
        </p:nvSpPr>
        <p:spPr>
          <a:xfrm>
            <a:off x="2945130" y="2762250"/>
            <a:ext cx="1973580" cy="1524000"/>
          </a:xfrm>
          <a:prstGeom prst="roundRect">
            <a:avLst>
              <a:gd name="adj" fmla="val 6250"/>
            </a:avLst>
          </a:prstGeom>
          <a:noFill/>
          <a:ln w="0">
            <a:noFill/>
            <a:prstDash val="solid"/>
          </a:ln>
        </p:spPr>
      </p:sp>
      <p:sp>
        <p:nvSpPr>
          <p:cNvPr id="6" name="U06-DG-060-chain_3-anchor">
            <a:extLst>
              <a:ext uri="{FF2B5EF4-FFF2-40B4-BE49-F238E27FC236}">
                <a16:creationId xmlns:a16="http://schemas.microsoft.com/office/drawing/2014/main" id="{0DDBDB8F-32D7-4AF5-A7A7-A9CE3A852B74}"/>
              </a:ext>
            </a:extLst>
          </p:cNvPr>
          <p:cNvSpPr>
            <a:spLocks noGrp="1"/>
          </p:cNvSpPr>
          <p:nvPr/>
        </p:nvSpPr>
        <p:spPr>
          <a:xfrm>
            <a:off x="5109210" y="2762250"/>
            <a:ext cx="1973580" cy="1524000"/>
          </a:xfrm>
          <a:prstGeom prst="roundRect">
            <a:avLst>
              <a:gd name="adj" fmla="val 6250"/>
            </a:avLst>
          </a:prstGeom>
          <a:noFill/>
          <a:ln w="0">
            <a:noFill/>
            <a:prstDash val="solid"/>
          </a:ln>
        </p:spPr>
      </p:sp>
      <p:sp>
        <p:nvSpPr>
          <p:cNvPr id="7" name="U06-DG-060-chain_4-anchor">
            <a:extLst>
              <a:ext uri="{FF2B5EF4-FFF2-40B4-BE49-F238E27FC236}">
                <a16:creationId xmlns:a16="http://schemas.microsoft.com/office/drawing/2014/main" id="{B337E6CE-D4AC-4DF0-93B5-07598A1A08EB}"/>
              </a:ext>
            </a:extLst>
          </p:cNvPr>
          <p:cNvSpPr>
            <a:spLocks noGrp="1"/>
          </p:cNvSpPr>
          <p:nvPr/>
        </p:nvSpPr>
        <p:spPr>
          <a:xfrm>
            <a:off x="7273290" y="2762250"/>
            <a:ext cx="1973580" cy="1524000"/>
          </a:xfrm>
          <a:prstGeom prst="roundRect">
            <a:avLst>
              <a:gd name="adj" fmla="val 6250"/>
            </a:avLst>
          </a:prstGeom>
          <a:noFill/>
          <a:ln w="0">
            <a:noFill/>
            <a:prstDash val="solid"/>
          </a:ln>
        </p:spPr>
      </p:sp>
      <p:sp>
        <p:nvSpPr>
          <p:cNvPr id="8" name="U06-DG-060-chain_5-anchor">
            <a:extLst>
              <a:ext uri="{FF2B5EF4-FFF2-40B4-BE49-F238E27FC236}">
                <a16:creationId xmlns:a16="http://schemas.microsoft.com/office/drawing/2014/main" id="{C57CE58B-2DB8-4114-8CDB-F984C35EC7A8}"/>
              </a:ext>
            </a:extLst>
          </p:cNvPr>
          <p:cNvSpPr>
            <a:spLocks noGrp="1"/>
          </p:cNvSpPr>
          <p:nvPr/>
        </p:nvSpPr>
        <p:spPr>
          <a:xfrm>
            <a:off x="9437370" y="2762250"/>
            <a:ext cx="1973580" cy="1524000"/>
          </a:xfrm>
          <a:prstGeom prst="roundRect">
            <a:avLst>
              <a:gd name="adj" fmla="val 6250"/>
            </a:avLst>
          </a:prstGeom>
          <a:noFill/>
          <a:ln w="0">
            <a:noFill/>
            <a:prstDash val="solid"/>
          </a:ln>
        </p:spPr>
      </p:sp>
      <p:sp>
        <p:nvSpPr>
          <p:cNvPr id="9" name="U06-DG-060-window_1-anchor">
            <a:extLst>
              <a:ext uri="{FF2B5EF4-FFF2-40B4-BE49-F238E27FC236}">
                <a16:creationId xmlns:a16="http://schemas.microsoft.com/office/drawing/2014/main" id="{968361E4-A5C4-4379-B6F4-D3BD97D3041A}"/>
              </a:ext>
            </a:extLst>
          </p:cNvPr>
          <p:cNvSpPr>
            <a:spLocks noGrp="1"/>
          </p:cNvSpPr>
          <p:nvPr/>
        </p:nvSpPr>
        <p:spPr>
          <a:xfrm>
            <a:off x="1000125" y="1285875"/>
            <a:ext cx="2857500" cy="1143000"/>
          </a:xfrm>
          <a:prstGeom prst="roundRect">
            <a:avLst>
              <a:gd name="adj" fmla="val 8333"/>
            </a:avLst>
          </a:prstGeom>
          <a:noFill/>
          <a:ln w="0">
            <a:noFill/>
            <a:prstDash val="solid"/>
          </a:ln>
        </p:spPr>
      </p:sp>
      <p:sp>
        <p:nvSpPr>
          <p:cNvPr id="10" name="U06-DG-060-window_2-anchor">
            <a:extLst>
              <a:ext uri="{FF2B5EF4-FFF2-40B4-BE49-F238E27FC236}">
                <a16:creationId xmlns:a16="http://schemas.microsoft.com/office/drawing/2014/main" id="{A02F4BA4-3375-4B58-998B-11881DDCFB95}"/>
              </a:ext>
            </a:extLst>
          </p:cNvPr>
          <p:cNvSpPr>
            <a:spLocks noGrp="1"/>
          </p:cNvSpPr>
          <p:nvPr/>
        </p:nvSpPr>
        <p:spPr>
          <a:xfrm>
            <a:off x="4667250" y="1285875"/>
            <a:ext cx="2857500" cy="1143000"/>
          </a:xfrm>
          <a:prstGeom prst="roundRect">
            <a:avLst>
              <a:gd name="adj" fmla="val 8333"/>
            </a:avLst>
          </a:prstGeom>
          <a:noFill/>
          <a:ln w="0">
            <a:noFill/>
            <a:prstDash val="solid"/>
          </a:ln>
        </p:spPr>
      </p:sp>
      <p:sp>
        <p:nvSpPr>
          <p:cNvPr id="11" name="U06-DG-060-window_3-anchor">
            <a:extLst>
              <a:ext uri="{FF2B5EF4-FFF2-40B4-BE49-F238E27FC236}">
                <a16:creationId xmlns:a16="http://schemas.microsoft.com/office/drawing/2014/main" id="{002220E5-8084-43D7-986A-808C5B88A9AC}"/>
              </a:ext>
            </a:extLst>
          </p:cNvPr>
          <p:cNvSpPr>
            <a:spLocks noGrp="1"/>
          </p:cNvSpPr>
          <p:nvPr/>
        </p:nvSpPr>
        <p:spPr>
          <a:xfrm>
            <a:off x="8334375" y="1285875"/>
            <a:ext cx="2857500" cy="1143000"/>
          </a:xfrm>
          <a:prstGeom prst="roundRect">
            <a:avLst>
              <a:gd name="adj" fmla="val 8333"/>
            </a:avLst>
          </a:prstGeom>
          <a:noFill/>
          <a:ln w="0">
            <a:noFill/>
            <a:prstDash val="solid"/>
          </a:ln>
        </p:spPr>
      </p:sp>
      <p:cxnSp>
        <p:nvCxnSpPr>
          <p:cNvPr id="56" name="U06-DG-060-chain_edge_1"/>
          <p:cNvCxnSpPr>
            <a:stCxn id="4" idx="3"/>
            <a:endCxn id="5" idx="1"/>
          </p:cNvCxnSpPr>
          <p:nvPr/>
        </p:nvCxnSpPr>
        <p:spPr>
          <a:xfrm>
            <a:off x="2754630" y="3524250"/>
            <a:ext cx="190500" cy="0"/>
          </a:xfrm>
          <a:prstGeom prst="straightConnector1">
            <a:avLst/>
          </a:prstGeom>
          <a:ln w="28575">
            <a:solidFill>
              <a:srgbClr val="3D3D3D"/>
            </a:solidFill>
            <a:prstDash val="solid"/>
            <a:tailEnd type="arrow" w="med" len="med"/>
          </a:ln>
        </p:spPr>
      </p:cxnSp>
      <p:cxnSp>
        <p:nvCxnSpPr>
          <p:cNvPr id="57" name="U06-DG-060-chain_edge_2"/>
          <p:cNvCxnSpPr>
            <a:stCxn id="5" idx="3"/>
            <a:endCxn id="6" idx="1"/>
          </p:cNvCxnSpPr>
          <p:nvPr/>
        </p:nvCxnSpPr>
        <p:spPr>
          <a:xfrm>
            <a:off x="4918710" y="3524250"/>
            <a:ext cx="190500" cy="0"/>
          </a:xfrm>
          <a:prstGeom prst="straightConnector1">
            <a:avLst/>
          </a:prstGeom>
          <a:ln w="28575">
            <a:solidFill>
              <a:srgbClr val="3D3D3D"/>
            </a:solidFill>
            <a:prstDash val="solid"/>
            <a:tailEnd type="arrow" w="med" len="med"/>
          </a:ln>
        </p:spPr>
      </p:cxnSp>
      <p:cxnSp>
        <p:nvCxnSpPr>
          <p:cNvPr id="58" name="U06-DG-060-chain_edge_3"/>
          <p:cNvCxnSpPr>
            <a:stCxn id="6" idx="3"/>
            <a:endCxn id="7" idx="1"/>
          </p:cNvCxnSpPr>
          <p:nvPr/>
        </p:nvCxnSpPr>
        <p:spPr>
          <a:xfrm>
            <a:off x="7082790" y="3524250"/>
            <a:ext cx="190500" cy="0"/>
          </a:xfrm>
          <a:prstGeom prst="straightConnector1">
            <a:avLst/>
          </a:prstGeom>
          <a:ln w="28575">
            <a:solidFill>
              <a:srgbClr val="3D3D3D"/>
            </a:solidFill>
            <a:prstDash val="solid"/>
            <a:tailEnd type="arrow" w="med" len="med"/>
          </a:ln>
        </p:spPr>
      </p:cxnSp>
      <p:cxnSp>
        <p:nvCxnSpPr>
          <p:cNvPr id="59" name="U06-DG-060-chain_edge_4"/>
          <p:cNvCxnSpPr>
            <a:stCxn id="7" idx="3"/>
            <a:endCxn id="8" idx="1"/>
          </p:cNvCxnSpPr>
          <p:nvPr/>
        </p:nvCxnSpPr>
        <p:spPr>
          <a:xfrm>
            <a:off x="9246870" y="3524250"/>
            <a:ext cx="190500" cy="0"/>
          </a:xfrm>
          <a:prstGeom prst="straightConnector1">
            <a:avLst/>
          </a:prstGeom>
          <a:ln w="28575">
            <a:solidFill>
              <a:srgbClr val="3D3D3D"/>
            </a:solidFill>
            <a:prstDash val="solid"/>
            <a:tailEnd type="arrow" w="med" len="med"/>
          </a:ln>
        </p:spPr>
      </p:cxnSp>
      <p:cxnSp>
        <p:nvCxnSpPr>
          <p:cNvPr id="60" name="U06-DG-060-window_edge_1"/>
          <p:cNvCxnSpPr>
            <a:stCxn id="9" idx="2"/>
            <a:endCxn id="5" idx="0"/>
          </p:cNvCxnSpPr>
          <p:nvPr/>
        </p:nvCxnSpPr>
        <p:spPr>
          <a:xfrm>
            <a:off x="2428875" y="2428875"/>
            <a:ext cx="1503045" cy="333375"/>
          </a:xfrm>
          <a:prstGeom prst="bentConnector4">
            <a:avLst>
              <a:gd name="adj1" fmla="val 0"/>
              <a:gd name="adj2" fmla="val 50000"/>
            </a:avLst>
          </a:prstGeom>
          <a:ln w="28575">
            <a:solidFill>
              <a:srgbClr val="3D3D3D"/>
            </a:solidFill>
            <a:prstDash val="solid"/>
            <a:tailEnd type="arrow" w="med" len="med"/>
          </a:ln>
        </p:spPr>
      </p:cxnSp>
      <p:cxnSp>
        <p:nvCxnSpPr>
          <p:cNvPr id="61" name="U06-DG-060-window_edge_2"/>
          <p:cNvCxnSpPr>
            <a:stCxn id="10" idx="2"/>
            <a:endCxn id="6" idx="0"/>
          </p:cNvCxnSpPr>
          <p:nvPr/>
        </p:nvCxnSpPr>
        <p:spPr>
          <a:xfrm>
            <a:off x="6096000" y="2428875"/>
            <a:ext cx="0" cy="333375"/>
          </a:xfrm>
          <a:prstGeom prst="straightConnector1">
            <a:avLst/>
          </a:prstGeom>
          <a:ln w="28575">
            <a:solidFill>
              <a:srgbClr val="3D3D3D"/>
            </a:solidFill>
            <a:prstDash val="solid"/>
            <a:tailEnd type="arrow" w="med" len="med"/>
          </a:ln>
        </p:spPr>
      </p:cxnSp>
      <p:cxnSp>
        <p:nvCxnSpPr>
          <p:cNvPr id="62" name="U06-DG-060-window_edge_3"/>
          <p:cNvCxnSpPr>
            <a:stCxn id="11" idx="2"/>
            <a:endCxn id="8" idx="0"/>
          </p:cNvCxnSpPr>
          <p:nvPr/>
        </p:nvCxnSpPr>
        <p:spPr>
          <a:xfrm>
            <a:off x="9763125" y="2428875"/>
            <a:ext cx="661035" cy="333375"/>
          </a:xfrm>
          <a:prstGeom prst="bentConnector4">
            <a:avLst>
              <a:gd name="adj1" fmla="val 0"/>
              <a:gd name="adj2" fmla="val 50000"/>
            </a:avLst>
          </a:prstGeom>
          <a:ln w="28575">
            <a:solidFill>
              <a:srgbClr val="3D3D3D"/>
            </a:solidFill>
            <a:prstDash val="solid"/>
            <a:tailEnd type="arrow" w="med" len="med"/>
          </a:ln>
        </p:spPr>
      </p:cxnSp>
      <p:sp>
        <p:nvSpPr>
          <p:cNvPr id="19" name="U06-DG-060-chain_1-box" descr="Diagrama sobre «Toda prueba observa una parte de la cadena»; organiza matriz: prueba conceptual → tramo predominante → factores previos → qué no concluye sola." title="Texto alternativo U06-100">
            <a:extLst>
              <a:ext uri="{FF2B5EF4-FFF2-40B4-BE49-F238E27FC236}">
                <a16:creationId xmlns:a16="http://schemas.microsoft.com/office/drawing/2014/main" id="{86446C4A-3B38-45BF-B682-5B4406C7226B}"/>
              </a:ext>
            </a:extLst>
          </p:cNvPr>
          <p:cNvSpPr>
            <a:spLocks noGrp="1"/>
          </p:cNvSpPr>
          <p:nvPr/>
        </p:nvSpPr>
        <p:spPr>
          <a:xfrm>
            <a:off x="781050" y="2762250"/>
            <a:ext cx="1973580" cy="1524000"/>
          </a:xfrm>
          <a:prstGeom prst="roundRect">
            <a:avLst>
              <a:gd name="adj" fmla="val 6250"/>
            </a:avLst>
          </a:prstGeom>
          <a:solidFill>
            <a:srgbClr val="E7F1F1"/>
          </a:solidFill>
          <a:ln w="19050">
            <a:solidFill>
              <a:srgbClr val="2F7E83"/>
            </a:solidFill>
            <a:prstDash val="solid"/>
          </a:ln>
        </p:spPr>
      </p:sp>
      <p:sp>
        <p:nvSpPr>
          <p:cNvPr id="20" name="U06-DG-060-chain_1-title">
            <a:extLst>
              <a:ext uri="{FF2B5EF4-FFF2-40B4-BE49-F238E27FC236}">
                <a16:creationId xmlns:a16="http://schemas.microsoft.com/office/drawing/2014/main" id="{9A9B86DF-8D19-4265-A852-B640319940E6}"/>
              </a:ext>
            </a:extLst>
          </p:cNvPr>
          <p:cNvSpPr>
            <a:spLocks noGrp="1"/>
          </p:cNvSpPr>
          <p:nvPr/>
        </p:nvSpPr>
        <p:spPr>
          <a:xfrm>
            <a:off x="971550" y="2905125"/>
            <a:ext cx="159258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CAE</a:t>
            </a:r>
          </a:p>
        </p:txBody>
      </p:sp>
      <p:sp>
        <p:nvSpPr>
          <p:cNvPr id="21" name="U06-DG-060-chain_1-body">
            <a:extLst>
              <a:ext uri="{FF2B5EF4-FFF2-40B4-BE49-F238E27FC236}">
                <a16:creationId xmlns:a16="http://schemas.microsoft.com/office/drawing/2014/main" id="{2B287C94-ADAB-41F4-90C9-5C1B67777095}"/>
              </a:ext>
            </a:extLst>
          </p:cNvPr>
          <p:cNvSpPr>
            <a:spLocks noGrp="1"/>
          </p:cNvSpPr>
          <p:nvPr/>
        </p:nvSpPr>
        <p:spPr>
          <a:xfrm>
            <a:off x="971550" y="3352800"/>
            <a:ext cx="1592580" cy="838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22" name="U06-DG-060-chain_2-box">
            <a:extLst>
              <a:ext uri="{FF2B5EF4-FFF2-40B4-BE49-F238E27FC236}">
                <a16:creationId xmlns:a16="http://schemas.microsoft.com/office/drawing/2014/main" id="{E5A9AA16-1C8F-4A49-B599-8859F6A2088E}"/>
              </a:ext>
            </a:extLst>
          </p:cNvPr>
          <p:cNvSpPr>
            <a:spLocks noGrp="1"/>
          </p:cNvSpPr>
          <p:nvPr/>
        </p:nvSpPr>
        <p:spPr>
          <a:xfrm>
            <a:off x="2945130" y="2762250"/>
            <a:ext cx="1973580" cy="1524000"/>
          </a:xfrm>
          <a:prstGeom prst="roundRect">
            <a:avLst>
              <a:gd name="adj" fmla="val 6250"/>
            </a:avLst>
          </a:prstGeom>
          <a:solidFill>
            <a:srgbClr val="F4E9EF"/>
          </a:solidFill>
          <a:ln w="19050">
            <a:solidFill>
              <a:srgbClr val="4D1434"/>
            </a:solidFill>
            <a:prstDash val="solid"/>
          </a:ln>
        </p:spPr>
      </p:sp>
      <p:sp>
        <p:nvSpPr>
          <p:cNvPr id="23" name="U06-DG-060-chain_2-title">
            <a:extLst>
              <a:ext uri="{FF2B5EF4-FFF2-40B4-BE49-F238E27FC236}">
                <a16:creationId xmlns:a16="http://schemas.microsoft.com/office/drawing/2014/main" id="{8F5283E9-947E-459C-8F4F-552EA66EDF68}"/>
              </a:ext>
            </a:extLst>
          </p:cNvPr>
          <p:cNvSpPr>
            <a:spLocks noGrp="1"/>
          </p:cNvSpPr>
          <p:nvPr/>
        </p:nvSpPr>
        <p:spPr>
          <a:xfrm>
            <a:off x="3135630" y="2905125"/>
            <a:ext cx="159258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Oído medio</a:t>
            </a:r>
          </a:p>
        </p:txBody>
      </p:sp>
      <p:sp>
        <p:nvSpPr>
          <p:cNvPr id="24" name="U06-DG-060-chain_2-body">
            <a:extLst>
              <a:ext uri="{FF2B5EF4-FFF2-40B4-BE49-F238E27FC236}">
                <a16:creationId xmlns:a16="http://schemas.microsoft.com/office/drawing/2014/main" id="{5EEA8052-BD9A-4EB1-B66C-D86DD0770561}"/>
              </a:ext>
            </a:extLst>
          </p:cNvPr>
          <p:cNvSpPr>
            <a:spLocks noGrp="1"/>
          </p:cNvSpPr>
          <p:nvPr/>
        </p:nvSpPr>
        <p:spPr>
          <a:xfrm>
            <a:off x="3135630" y="3676650"/>
            <a:ext cx="1592580" cy="5143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transfiere</a:t>
            </a:r>
          </a:p>
        </p:txBody>
      </p:sp>
      <p:sp>
        <p:nvSpPr>
          <p:cNvPr id="25" name="U06-DG-060-chain_3-box">
            <a:extLst>
              <a:ext uri="{FF2B5EF4-FFF2-40B4-BE49-F238E27FC236}">
                <a16:creationId xmlns:a16="http://schemas.microsoft.com/office/drawing/2014/main" id="{389D3D09-5E9C-4C09-9781-F2C811FB375D}"/>
              </a:ext>
            </a:extLst>
          </p:cNvPr>
          <p:cNvSpPr>
            <a:spLocks noGrp="1"/>
          </p:cNvSpPr>
          <p:nvPr/>
        </p:nvSpPr>
        <p:spPr>
          <a:xfrm>
            <a:off x="5109210" y="2762250"/>
            <a:ext cx="1973580" cy="1524000"/>
          </a:xfrm>
          <a:prstGeom prst="roundRect">
            <a:avLst>
              <a:gd name="adj" fmla="val 6250"/>
            </a:avLst>
          </a:prstGeom>
          <a:solidFill>
            <a:srgbClr val="E7F1F1"/>
          </a:solidFill>
          <a:ln w="19050">
            <a:solidFill>
              <a:srgbClr val="2F7E83"/>
            </a:solidFill>
            <a:prstDash val="solid"/>
          </a:ln>
        </p:spPr>
      </p:sp>
      <p:sp>
        <p:nvSpPr>
          <p:cNvPr id="26" name="U06-DG-060-chain_3-title">
            <a:extLst>
              <a:ext uri="{FF2B5EF4-FFF2-40B4-BE49-F238E27FC236}">
                <a16:creationId xmlns:a16="http://schemas.microsoft.com/office/drawing/2014/main" id="{D5EA9146-103F-41F5-8611-EA9C7EA4121B}"/>
              </a:ext>
            </a:extLst>
          </p:cNvPr>
          <p:cNvSpPr>
            <a:spLocks noGrp="1"/>
          </p:cNvSpPr>
          <p:nvPr/>
        </p:nvSpPr>
        <p:spPr>
          <a:xfrm>
            <a:off x="5299710" y="2905125"/>
            <a:ext cx="159258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CCE</a:t>
            </a:r>
          </a:p>
        </p:txBody>
      </p:sp>
      <p:sp>
        <p:nvSpPr>
          <p:cNvPr id="27" name="U06-DG-060-chain_3-body">
            <a:extLst>
              <a:ext uri="{FF2B5EF4-FFF2-40B4-BE49-F238E27FC236}">
                <a16:creationId xmlns:a16="http://schemas.microsoft.com/office/drawing/2014/main" id="{73D3C395-FC9F-4DC5-A5BD-FA1B0ACE866B}"/>
              </a:ext>
            </a:extLst>
          </p:cNvPr>
          <p:cNvSpPr>
            <a:spLocks noGrp="1"/>
          </p:cNvSpPr>
          <p:nvPr/>
        </p:nvSpPr>
        <p:spPr>
          <a:xfrm>
            <a:off x="5299710" y="3352800"/>
            <a:ext cx="1592580" cy="838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mecánica activa</a:t>
            </a:r>
          </a:p>
        </p:txBody>
      </p:sp>
      <p:sp>
        <p:nvSpPr>
          <p:cNvPr id="28" name="U06-DG-060-chain_4-box">
            <a:extLst>
              <a:ext uri="{FF2B5EF4-FFF2-40B4-BE49-F238E27FC236}">
                <a16:creationId xmlns:a16="http://schemas.microsoft.com/office/drawing/2014/main" id="{315FFA3F-6729-4C9A-9A0A-77477FEEAF25}"/>
              </a:ext>
            </a:extLst>
          </p:cNvPr>
          <p:cNvSpPr>
            <a:spLocks noGrp="1"/>
          </p:cNvSpPr>
          <p:nvPr/>
        </p:nvSpPr>
        <p:spPr>
          <a:xfrm>
            <a:off x="7273290" y="2762250"/>
            <a:ext cx="1973580" cy="1524000"/>
          </a:xfrm>
          <a:prstGeom prst="roundRect">
            <a:avLst>
              <a:gd name="adj" fmla="val 6250"/>
            </a:avLst>
          </a:prstGeom>
          <a:solidFill>
            <a:srgbClr val="F8EDE2"/>
          </a:solidFill>
          <a:ln w="19050">
            <a:solidFill>
              <a:srgbClr val="9F541A"/>
            </a:solidFill>
            <a:prstDash val="solid"/>
          </a:ln>
        </p:spPr>
      </p:sp>
      <p:sp>
        <p:nvSpPr>
          <p:cNvPr id="29" name="U06-DG-060-chain_4-title">
            <a:extLst>
              <a:ext uri="{FF2B5EF4-FFF2-40B4-BE49-F238E27FC236}">
                <a16:creationId xmlns:a16="http://schemas.microsoft.com/office/drawing/2014/main" id="{E534CBF2-5641-4A92-A2BE-4798104CA2C3}"/>
              </a:ext>
            </a:extLst>
          </p:cNvPr>
          <p:cNvSpPr>
            <a:spLocks noGrp="1"/>
          </p:cNvSpPr>
          <p:nvPr/>
        </p:nvSpPr>
        <p:spPr>
          <a:xfrm>
            <a:off x="7463790" y="2905125"/>
            <a:ext cx="159258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CCI / sinapsis</a:t>
            </a:r>
          </a:p>
        </p:txBody>
      </p:sp>
      <p:sp>
        <p:nvSpPr>
          <p:cNvPr id="30" name="U06-DG-060-chain_4-body">
            <a:extLst>
              <a:ext uri="{FF2B5EF4-FFF2-40B4-BE49-F238E27FC236}">
                <a16:creationId xmlns:a16="http://schemas.microsoft.com/office/drawing/2014/main" id="{CEB10C12-41DE-425F-A108-AFF3048CE782}"/>
              </a:ext>
            </a:extLst>
          </p:cNvPr>
          <p:cNvSpPr>
            <a:spLocks noGrp="1"/>
          </p:cNvSpPr>
          <p:nvPr/>
        </p:nvSpPr>
        <p:spPr>
          <a:xfrm>
            <a:off x="7463790" y="3676650"/>
            <a:ext cx="1592580" cy="5143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aferencia</a:t>
            </a:r>
          </a:p>
        </p:txBody>
      </p:sp>
      <p:sp>
        <p:nvSpPr>
          <p:cNvPr id="31" name="U06-DG-060-chain_5-box">
            <a:extLst>
              <a:ext uri="{FF2B5EF4-FFF2-40B4-BE49-F238E27FC236}">
                <a16:creationId xmlns:a16="http://schemas.microsoft.com/office/drawing/2014/main" id="{C0350812-812D-4BD1-ACA3-5D8EDCBD5D10}"/>
              </a:ext>
            </a:extLst>
          </p:cNvPr>
          <p:cNvSpPr>
            <a:spLocks noGrp="1"/>
          </p:cNvSpPr>
          <p:nvPr/>
        </p:nvSpPr>
        <p:spPr>
          <a:xfrm>
            <a:off x="9437370" y="2762250"/>
            <a:ext cx="1973580" cy="1524000"/>
          </a:xfrm>
          <a:prstGeom prst="roundRect">
            <a:avLst>
              <a:gd name="adj" fmla="val 6250"/>
            </a:avLst>
          </a:prstGeom>
          <a:solidFill>
            <a:srgbClr val="F8EDE2"/>
          </a:solidFill>
          <a:ln w="19050">
            <a:solidFill>
              <a:srgbClr val="9F541A"/>
            </a:solidFill>
            <a:prstDash val="solid"/>
          </a:ln>
        </p:spPr>
      </p:sp>
      <p:sp>
        <p:nvSpPr>
          <p:cNvPr id="32" name="U06-DG-060-chain_5-title">
            <a:extLst>
              <a:ext uri="{FF2B5EF4-FFF2-40B4-BE49-F238E27FC236}">
                <a16:creationId xmlns:a16="http://schemas.microsoft.com/office/drawing/2014/main" id="{4E5B79C3-7DE6-481F-9AC1-6F3AB65F0CE6}"/>
              </a:ext>
            </a:extLst>
          </p:cNvPr>
          <p:cNvSpPr>
            <a:spLocks noGrp="1"/>
          </p:cNvSpPr>
          <p:nvPr/>
        </p:nvSpPr>
        <p:spPr>
          <a:xfrm>
            <a:off x="9627870" y="2905125"/>
            <a:ext cx="159258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Nervio</a:t>
            </a:r>
          </a:p>
        </p:txBody>
      </p:sp>
      <p:sp>
        <p:nvSpPr>
          <p:cNvPr id="33" name="U06-DG-060-chain_5-body">
            <a:extLst>
              <a:ext uri="{FF2B5EF4-FFF2-40B4-BE49-F238E27FC236}">
                <a16:creationId xmlns:a16="http://schemas.microsoft.com/office/drawing/2014/main" id="{DBC95BC0-23CE-49BD-AD10-16483C16A4B0}"/>
              </a:ext>
            </a:extLst>
          </p:cNvPr>
          <p:cNvSpPr>
            <a:spLocks noGrp="1"/>
          </p:cNvSpPr>
          <p:nvPr/>
        </p:nvSpPr>
        <p:spPr>
          <a:xfrm>
            <a:off x="9627870" y="3352800"/>
            <a:ext cx="1592580" cy="838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y tronco</a:t>
            </a:r>
          </a:p>
        </p:txBody>
      </p:sp>
      <p:sp>
        <p:nvSpPr>
          <p:cNvPr id="34" name="U06-DG-060-window_1-box">
            <a:extLst>
              <a:ext uri="{FF2B5EF4-FFF2-40B4-BE49-F238E27FC236}">
                <a16:creationId xmlns:a16="http://schemas.microsoft.com/office/drawing/2014/main" id="{4EC0E7B2-3AD3-4255-8ADC-EC924FD67D33}"/>
              </a:ext>
            </a:extLst>
          </p:cNvPr>
          <p:cNvSpPr>
            <a:spLocks noGrp="1"/>
          </p:cNvSpPr>
          <p:nvPr/>
        </p:nvSpPr>
        <p:spPr>
          <a:xfrm>
            <a:off x="1000125" y="1285875"/>
            <a:ext cx="2857500" cy="1143000"/>
          </a:xfrm>
          <a:prstGeom prst="roundRect">
            <a:avLst>
              <a:gd name="adj" fmla="val 8333"/>
            </a:avLst>
          </a:prstGeom>
          <a:solidFill>
            <a:srgbClr val="F7F6F2"/>
          </a:solidFill>
          <a:ln w="19050">
            <a:solidFill>
              <a:srgbClr val="969FA7"/>
            </a:solidFill>
            <a:prstDash val="solid"/>
          </a:ln>
        </p:spPr>
      </p:sp>
      <p:sp>
        <p:nvSpPr>
          <p:cNvPr id="35" name="U06-DG-060-window_1-title">
            <a:extLst>
              <a:ext uri="{FF2B5EF4-FFF2-40B4-BE49-F238E27FC236}">
                <a16:creationId xmlns:a16="http://schemas.microsoft.com/office/drawing/2014/main" id="{56167E28-A80E-48F1-9B65-A32CD93119DC}"/>
              </a:ext>
            </a:extLst>
          </p:cNvPr>
          <p:cNvSpPr>
            <a:spLocks noGrp="1"/>
          </p:cNvSpPr>
          <p:nvPr/>
        </p:nvSpPr>
        <p:spPr>
          <a:xfrm>
            <a:off x="1190625" y="1428750"/>
            <a:ext cx="2476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Timpanometría</a:t>
            </a:r>
          </a:p>
        </p:txBody>
      </p:sp>
      <p:sp>
        <p:nvSpPr>
          <p:cNvPr id="36" name="U06-DG-060-window_1-body">
            <a:extLst>
              <a:ext uri="{FF2B5EF4-FFF2-40B4-BE49-F238E27FC236}">
                <a16:creationId xmlns:a16="http://schemas.microsoft.com/office/drawing/2014/main" id="{2BF8E9C7-5AFE-44F4-BB95-88329D7F98EB}"/>
              </a:ext>
            </a:extLst>
          </p:cNvPr>
          <p:cNvSpPr>
            <a:spLocks noGrp="1"/>
          </p:cNvSpPr>
          <p:nvPr/>
        </p:nvSpPr>
        <p:spPr>
          <a:xfrm>
            <a:off x="1190625" y="1876425"/>
            <a:ext cx="2476500" cy="457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oído medio</a:t>
            </a:r>
          </a:p>
        </p:txBody>
      </p:sp>
      <p:sp>
        <p:nvSpPr>
          <p:cNvPr id="37" name="U06-DG-060-window_2-box">
            <a:extLst>
              <a:ext uri="{FF2B5EF4-FFF2-40B4-BE49-F238E27FC236}">
                <a16:creationId xmlns:a16="http://schemas.microsoft.com/office/drawing/2014/main" id="{71B91DB0-C9EB-4480-A584-B0512878A794}"/>
              </a:ext>
            </a:extLst>
          </p:cNvPr>
          <p:cNvSpPr>
            <a:spLocks noGrp="1"/>
          </p:cNvSpPr>
          <p:nvPr/>
        </p:nvSpPr>
        <p:spPr>
          <a:xfrm>
            <a:off x="4667250" y="1285875"/>
            <a:ext cx="2857500" cy="1143000"/>
          </a:xfrm>
          <a:prstGeom prst="roundRect">
            <a:avLst>
              <a:gd name="adj" fmla="val 8333"/>
            </a:avLst>
          </a:prstGeom>
          <a:solidFill>
            <a:srgbClr val="F7F6F2"/>
          </a:solidFill>
          <a:ln w="19050">
            <a:solidFill>
              <a:srgbClr val="969FA7"/>
            </a:solidFill>
            <a:prstDash val="solid"/>
          </a:ln>
        </p:spPr>
      </p:sp>
      <p:sp>
        <p:nvSpPr>
          <p:cNvPr id="38" name="U06-DG-060-window_2-title">
            <a:extLst>
              <a:ext uri="{FF2B5EF4-FFF2-40B4-BE49-F238E27FC236}">
                <a16:creationId xmlns:a16="http://schemas.microsoft.com/office/drawing/2014/main" id="{06014806-F9AD-4431-AB25-C6CD1C8F261A}"/>
              </a:ext>
            </a:extLst>
          </p:cNvPr>
          <p:cNvSpPr>
            <a:spLocks noGrp="1"/>
          </p:cNvSpPr>
          <p:nvPr/>
        </p:nvSpPr>
        <p:spPr>
          <a:xfrm>
            <a:off x="4857750" y="1428750"/>
            <a:ext cx="2476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OEA</a:t>
            </a:r>
          </a:p>
        </p:txBody>
      </p:sp>
      <p:sp>
        <p:nvSpPr>
          <p:cNvPr id="39" name="U06-DG-060-window_2-body">
            <a:extLst>
              <a:ext uri="{FF2B5EF4-FFF2-40B4-BE49-F238E27FC236}">
                <a16:creationId xmlns:a16="http://schemas.microsoft.com/office/drawing/2014/main" id="{0234CCAE-E6DB-427C-814C-A3A1B6059B7C}"/>
              </a:ext>
            </a:extLst>
          </p:cNvPr>
          <p:cNvSpPr>
            <a:spLocks noGrp="1"/>
          </p:cNvSpPr>
          <p:nvPr/>
        </p:nvSpPr>
        <p:spPr>
          <a:xfrm>
            <a:off x="4857750" y="1876425"/>
            <a:ext cx="2476500" cy="457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CCE + retorno</a:t>
            </a:r>
          </a:p>
        </p:txBody>
      </p:sp>
      <p:sp>
        <p:nvSpPr>
          <p:cNvPr id="40" name="U06-DG-060-window_3-box">
            <a:extLst>
              <a:ext uri="{FF2B5EF4-FFF2-40B4-BE49-F238E27FC236}">
                <a16:creationId xmlns:a16="http://schemas.microsoft.com/office/drawing/2014/main" id="{57818A3F-908D-48A1-A650-A0C0CDDDD047}"/>
              </a:ext>
            </a:extLst>
          </p:cNvPr>
          <p:cNvSpPr>
            <a:spLocks noGrp="1"/>
          </p:cNvSpPr>
          <p:nvPr/>
        </p:nvSpPr>
        <p:spPr>
          <a:xfrm>
            <a:off x="8334375" y="1285875"/>
            <a:ext cx="2857500" cy="1143000"/>
          </a:xfrm>
          <a:prstGeom prst="roundRect">
            <a:avLst>
              <a:gd name="adj" fmla="val 8333"/>
            </a:avLst>
          </a:prstGeom>
          <a:solidFill>
            <a:srgbClr val="F7F6F2"/>
          </a:solidFill>
          <a:ln w="19050">
            <a:solidFill>
              <a:srgbClr val="969FA7"/>
            </a:solidFill>
            <a:prstDash val="solid"/>
          </a:ln>
        </p:spPr>
      </p:sp>
      <p:sp>
        <p:nvSpPr>
          <p:cNvPr id="41" name="U06-DG-060-window_3-title">
            <a:extLst>
              <a:ext uri="{FF2B5EF4-FFF2-40B4-BE49-F238E27FC236}">
                <a16:creationId xmlns:a16="http://schemas.microsoft.com/office/drawing/2014/main" id="{BECF0DA8-2F48-472B-816E-D020991BD7C7}"/>
              </a:ext>
            </a:extLst>
          </p:cNvPr>
          <p:cNvSpPr>
            <a:spLocks noGrp="1"/>
          </p:cNvSpPr>
          <p:nvPr/>
        </p:nvSpPr>
        <p:spPr>
          <a:xfrm>
            <a:off x="8524875" y="1428750"/>
            <a:ext cx="2476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PEATC</a:t>
            </a:r>
          </a:p>
        </p:txBody>
      </p:sp>
      <p:sp>
        <p:nvSpPr>
          <p:cNvPr id="42" name="U06-DG-060-window_3-body">
            <a:extLst>
              <a:ext uri="{FF2B5EF4-FFF2-40B4-BE49-F238E27FC236}">
                <a16:creationId xmlns:a16="http://schemas.microsoft.com/office/drawing/2014/main" id="{A7FDABE8-3F90-43A7-ACB4-8185131D7DEC}"/>
              </a:ext>
            </a:extLst>
          </p:cNvPr>
          <p:cNvSpPr>
            <a:spLocks noGrp="1"/>
          </p:cNvSpPr>
          <p:nvPr/>
        </p:nvSpPr>
        <p:spPr>
          <a:xfrm>
            <a:off x="8524875" y="1876425"/>
            <a:ext cx="2476500" cy="4572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vía neural</a:t>
            </a:r>
          </a:p>
        </p:txBody>
      </p:sp>
      <p:sp>
        <p:nvSpPr>
          <p:cNvPr id="43" name="caption">
            <a:extLst>
              <a:ext uri="{FF2B5EF4-FFF2-40B4-BE49-F238E27FC236}">
                <a16:creationId xmlns:a16="http://schemas.microsoft.com/office/drawing/2014/main" id="{C28CDF3D-CB54-418C-B1B4-E1D485670DDA}"/>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 resultado depende de la entrada, la estructura sensible, la vía de salida y l…</a:t>
            </a:r>
          </a:p>
        </p:txBody>
      </p:sp>
      <p:sp>
        <p:nvSpPr>
          <p:cNvPr id="44" name="credit">
            <a:extLst>
              <a:ext uri="{FF2B5EF4-FFF2-40B4-BE49-F238E27FC236}">
                <a16:creationId xmlns:a16="http://schemas.microsoft.com/office/drawing/2014/main" id="{92314404-5F9A-4B78-A966-5F713AB5FA0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8170577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F4FFAE89-83E3-4AC8-839E-CCEF62AD2150}"/>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Un potencial evocado también depende de referencia y montaje</a:t>
            </a:r>
          </a:p>
        </p:txBody>
      </p:sp>
      <p:sp>
        <p:nvSpPr>
          <p:cNvPr id="2" name="slide-subtitle">
            <a:extLst>
              <a:ext uri="{FF2B5EF4-FFF2-40B4-BE49-F238E27FC236}">
                <a16:creationId xmlns:a16="http://schemas.microsoft.com/office/drawing/2014/main" id="{5928AE29-740E-47F5-9EC5-449F90568FBA}"/>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señal registrada no es “el potencial del oído”: combina generadores, conducción y sistema de medida.</a:t>
            </a:r>
          </a:p>
        </p:txBody>
      </p:sp>
      <p:sp>
        <p:nvSpPr>
          <p:cNvPr id="3" name="eyebrow">
            <a:extLst>
              <a:ext uri="{FF2B5EF4-FFF2-40B4-BE49-F238E27FC236}">
                <a16:creationId xmlns:a16="http://schemas.microsoft.com/office/drawing/2014/main" id="{1A4A07B7-4EA3-420D-9EAB-6C21F0035FCC}"/>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101</a:t>
            </a:r>
          </a:p>
        </p:txBody>
      </p:sp>
      <p:sp>
        <p:nvSpPr>
          <p:cNvPr id="4" name="main-ideas">
            <a:extLst>
              <a:ext uri="{FF2B5EF4-FFF2-40B4-BE49-F238E27FC236}">
                <a16:creationId xmlns:a16="http://schemas.microsoft.com/office/drawing/2014/main" id="{2F5D7AF1-85AD-4F44-8864-94D7F737EADF}"/>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Idea central: La señal registrada no es “el potencial del oído”: combina generadores, conducción y sistema de medida.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Clave de lectura: Esquema de estímulo, electrodos, referencia, señal y límites inferenciales.</a:t>
            </a:r>
          </a:p>
        </p:txBody>
      </p:sp>
      <p:sp>
        <p:nvSpPr>
          <p:cNvPr id="5" name="side-panel-box">
            <a:extLst>
              <a:ext uri="{FF2B5EF4-FFF2-40B4-BE49-F238E27FC236}">
                <a16:creationId xmlns:a16="http://schemas.microsoft.com/office/drawing/2014/main" id="{06FCA8BE-C8EE-41BD-8FD4-C21B816F7A00}"/>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37AB0035-E551-4858-AC09-EC1CF6E0BEEB}"/>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511BD333-0F91-4065-A1F6-CDCCE95792A0}"/>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señal registrada no es “el potencial del oído”: combina generadores, conducción y sistema de medida.</a:t>
            </a:r>
          </a:p>
        </p:txBody>
      </p:sp>
      <p:sp>
        <p:nvSpPr>
          <p:cNvPr id="8" name="caption">
            <a:extLst>
              <a:ext uri="{FF2B5EF4-FFF2-40B4-BE49-F238E27FC236}">
                <a16:creationId xmlns:a16="http://schemas.microsoft.com/office/drawing/2014/main" id="{7D133223-08E0-465D-B4AA-551A8A0FABA0}"/>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señal registrada no es “el potencial del oído”: combina generadores, conducci…</a:t>
            </a:r>
          </a:p>
        </p:txBody>
      </p:sp>
      <p:sp>
        <p:nvSpPr>
          <p:cNvPr id="9" name="credit">
            <a:extLst>
              <a:ext uri="{FF2B5EF4-FFF2-40B4-BE49-F238E27FC236}">
                <a16:creationId xmlns:a16="http://schemas.microsoft.com/office/drawing/2014/main" id="{22471FFC-CBF8-4F9C-89F0-9787C9829D4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6.8.3/6.10; PDF pp. 163–165; CM U6→U8; EXT-PEND.</a:t>
            </a:r>
          </a:p>
        </p:txBody>
      </p:sp>
    </p:spTree>
    <p:extLst>
      <p:ext uri="{BB962C8B-B14F-4D97-AF65-F5344CB8AC3E}">
        <p14:creationId xmlns:p14="http://schemas.microsoft.com/office/powerpoint/2010/main" val="8170577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5FA611A7-4EAC-49A4-90EB-64AFF4A04E30}"/>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Mismo tono, dos niveles: ¿qué cambia y qué no?</a:t>
            </a:r>
          </a:p>
        </p:txBody>
      </p:sp>
      <p:sp>
        <p:nvSpPr>
          <p:cNvPr id="2" name="slide-subtitle">
            <a:extLst>
              <a:ext uri="{FF2B5EF4-FFF2-40B4-BE49-F238E27FC236}">
                <a16:creationId xmlns:a16="http://schemas.microsoft.com/office/drawing/2014/main" id="{169DEEBE-8C38-4088-8A42-2B2B8DDB5A6E}"/>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frecuencia mantiene aproximadamente el lugar característico; el nivel cambia amplitud, extensión y patrón de salida.</a:t>
            </a:r>
          </a:p>
        </p:txBody>
      </p:sp>
      <p:sp>
        <p:nvSpPr>
          <p:cNvPr id="3" name="eyebrow">
            <a:extLst>
              <a:ext uri="{FF2B5EF4-FFF2-40B4-BE49-F238E27FC236}">
                <a16:creationId xmlns:a16="http://schemas.microsoft.com/office/drawing/2014/main" id="{7532B6A1-F6F9-4E55-BFD7-1F50BC9CF3B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102</a:t>
            </a:r>
          </a:p>
        </p:txBody>
      </p:sp>
      <p:sp>
        <p:nvSpPr>
          <p:cNvPr id="4" name="U06-DG-062-cell_1-anchor">
            <a:extLst>
              <a:ext uri="{FF2B5EF4-FFF2-40B4-BE49-F238E27FC236}">
                <a16:creationId xmlns:a16="http://schemas.microsoft.com/office/drawing/2014/main" id="{DA1B9EE7-E770-406F-A58B-2905AC5CDC39}"/>
              </a:ext>
            </a:extLst>
          </p:cNvPr>
          <p:cNvSpPr>
            <a:spLocks noGrp="1"/>
          </p:cNvSpPr>
          <p:nvPr/>
        </p:nvSpPr>
        <p:spPr>
          <a:xfrm>
            <a:off x="781050" y="1571625"/>
            <a:ext cx="3321050" cy="1809750"/>
          </a:xfrm>
          <a:prstGeom prst="roundRect">
            <a:avLst>
              <a:gd name="adj" fmla="val 5263"/>
            </a:avLst>
          </a:prstGeom>
          <a:noFill/>
          <a:ln w="0">
            <a:noFill/>
            <a:prstDash val="solid"/>
          </a:ln>
        </p:spPr>
      </p:sp>
      <p:sp>
        <p:nvSpPr>
          <p:cNvPr id="5" name="U06-DG-062-cell_2-anchor">
            <a:extLst>
              <a:ext uri="{FF2B5EF4-FFF2-40B4-BE49-F238E27FC236}">
                <a16:creationId xmlns:a16="http://schemas.microsoft.com/office/drawing/2014/main" id="{0F209AAB-B6E3-47C0-9C01-0FABB717361D}"/>
              </a:ext>
            </a:extLst>
          </p:cNvPr>
          <p:cNvSpPr>
            <a:spLocks noGrp="1"/>
          </p:cNvSpPr>
          <p:nvPr/>
        </p:nvSpPr>
        <p:spPr>
          <a:xfrm>
            <a:off x="4435475" y="1571625"/>
            <a:ext cx="3321050" cy="1809750"/>
          </a:xfrm>
          <a:prstGeom prst="roundRect">
            <a:avLst>
              <a:gd name="adj" fmla="val 5263"/>
            </a:avLst>
          </a:prstGeom>
          <a:noFill/>
          <a:ln w="0">
            <a:noFill/>
            <a:prstDash val="solid"/>
          </a:ln>
        </p:spPr>
      </p:sp>
      <p:sp>
        <p:nvSpPr>
          <p:cNvPr id="6" name="U06-DG-062-cell_3-anchor">
            <a:extLst>
              <a:ext uri="{FF2B5EF4-FFF2-40B4-BE49-F238E27FC236}">
                <a16:creationId xmlns:a16="http://schemas.microsoft.com/office/drawing/2014/main" id="{22B63EC9-9B7D-4A02-9325-4C0277EE3B7F}"/>
              </a:ext>
            </a:extLst>
          </p:cNvPr>
          <p:cNvSpPr>
            <a:spLocks noGrp="1"/>
          </p:cNvSpPr>
          <p:nvPr/>
        </p:nvSpPr>
        <p:spPr>
          <a:xfrm>
            <a:off x="8089900" y="1571625"/>
            <a:ext cx="3321050" cy="1809750"/>
          </a:xfrm>
          <a:prstGeom prst="roundRect">
            <a:avLst>
              <a:gd name="adj" fmla="val 5263"/>
            </a:avLst>
          </a:prstGeom>
          <a:noFill/>
          <a:ln w="0">
            <a:noFill/>
            <a:prstDash val="solid"/>
          </a:ln>
        </p:spPr>
      </p:sp>
      <p:sp>
        <p:nvSpPr>
          <p:cNvPr id="7" name="U06-DG-062-cell_4-anchor">
            <a:extLst>
              <a:ext uri="{FF2B5EF4-FFF2-40B4-BE49-F238E27FC236}">
                <a16:creationId xmlns:a16="http://schemas.microsoft.com/office/drawing/2014/main" id="{A4303A1A-9414-400B-B129-2D62FE3E536A}"/>
              </a:ext>
            </a:extLst>
          </p:cNvPr>
          <p:cNvSpPr>
            <a:spLocks noGrp="1"/>
          </p:cNvSpPr>
          <p:nvPr/>
        </p:nvSpPr>
        <p:spPr>
          <a:xfrm>
            <a:off x="781050" y="3667125"/>
            <a:ext cx="3321050" cy="1809750"/>
          </a:xfrm>
          <a:prstGeom prst="roundRect">
            <a:avLst>
              <a:gd name="adj" fmla="val 5263"/>
            </a:avLst>
          </a:prstGeom>
          <a:noFill/>
          <a:ln w="0">
            <a:noFill/>
            <a:prstDash val="solid"/>
          </a:ln>
        </p:spPr>
      </p:sp>
      <p:sp>
        <p:nvSpPr>
          <p:cNvPr id="8" name="U06-DG-062-cell_5-anchor">
            <a:extLst>
              <a:ext uri="{FF2B5EF4-FFF2-40B4-BE49-F238E27FC236}">
                <a16:creationId xmlns:a16="http://schemas.microsoft.com/office/drawing/2014/main" id="{7965AE47-CBD4-4EBB-8D26-8C5F2A10A7CD}"/>
              </a:ext>
            </a:extLst>
          </p:cNvPr>
          <p:cNvSpPr>
            <a:spLocks noGrp="1"/>
          </p:cNvSpPr>
          <p:nvPr/>
        </p:nvSpPr>
        <p:spPr>
          <a:xfrm>
            <a:off x="4435475" y="3667125"/>
            <a:ext cx="3321050" cy="1809750"/>
          </a:xfrm>
          <a:prstGeom prst="roundRect">
            <a:avLst>
              <a:gd name="adj" fmla="val 5263"/>
            </a:avLst>
          </a:prstGeom>
          <a:noFill/>
          <a:ln w="0">
            <a:noFill/>
            <a:prstDash val="solid"/>
          </a:ln>
        </p:spPr>
      </p:sp>
      <p:sp>
        <p:nvSpPr>
          <p:cNvPr id="9" name="U06-DG-062-cell_6-anchor">
            <a:extLst>
              <a:ext uri="{FF2B5EF4-FFF2-40B4-BE49-F238E27FC236}">
                <a16:creationId xmlns:a16="http://schemas.microsoft.com/office/drawing/2014/main" id="{1E411A03-47BE-4584-9299-610D2670BFE8}"/>
              </a:ext>
            </a:extLst>
          </p:cNvPr>
          <p:cNvSpPr>
            <a:spLocks noGrp="1"/>
          </p:cNvSpPr>
          <p:nvPr/>
        </p:nvSpPr>
        <p:spPr>
          <a:xfrm>
            <a:off x="8089900" y="3667125"/>
            <a:ext cx="3321050" cy="1809750"/>
          </a:xfrm>
          <a:prstGeom prst="roundRect">
            <a:avLst>
              <a:gd name="adj" fmla="val 5263"/>
            </a:avLst>
          </a:prstGeom>
          <a:noFill/>
          <a:ln w="0">
            <a:noFill/>
            <a:prstDash val="solid"/>
          </a:ln>
        </p:spPr>
      </p:sp>
      <p:sp>
        <p:nvSpPr>
          <p:cNvPr id="10" name="U06-DG-062-cell_1-box" descr="Diagrama sobre «Mismo tono, dos niveles: ¿qué cambia y qué no?»; organiza caso 2 khz a 40/70 db spl; cinco afirmaciones para seleccionar y justificar." title="Texto alternativo U06-102">
            <a:extLst>
              <a:ext uri="{FF2B5EF4-FFF2-40B4-BE49-F238E27FC236}">
                <a16:creationId xmlns:a16="http://schemas.microsoft.com/office/drawing/2014/main" id="{AD3D1563-C1B2-4107-8C0D-9EC9083F5726}"/>
              </a:ext>
            </a:extLst>
          </p:cNvPr>
          <p:cNvSpPr>
            <a:spLocks noGrp="1"/>
          </p:cNvSpPr>
          <p:nvPr/>
        </p:nvSpPr>
        <p:spPr>
          <a:xfrm>
            <a:off x="781050" y="1571625"/>
            <a:ext cx="3321050" cy="1809750"/>
          </a:xfrm>
          <a:prstGeom prst="roundRect">
            <a:avLst>
              <a:gd name="adj" fmla="val 5263"/>
            </a:avLst>
          </a:prstGeom>
          <a:solidFill>
            <a:srgbClr val="E7F1F1"/>
          </a:solidFill>
          <a:ln w="19050">
            <a:solidFill>
              <a:srgbClr val="2F7E83"/>
            </a:solidFill>
            <a:prstDash val="solid"/>
          </a:ln>
        </p:spPr>
      </p:sp>
      <p:sp>
        <p:nvSpPr>
          <p:cNvPr id="11" name="U06-DG-062-cell_1-title">
            <a:extLst>
              <a:ext uri="{FF2B5EF4-FFF2-40B4-BE49-F238E27FC236}">
                <a16:creationId xmlns:a16="http://schemas.microsoft.com/office/drawing/2014/main" id="{03F6E56F-C0DD-47AA-B53D-109BDC203CF5}"/>
              </a:ext>
            </a:extLst>
          </p:cNvPr>
          <p:cNvSpPr>
            <a:spLocks noGrp="1"/>
          </p:cNvSpPr>
          <p:nvPr/>
        </p:nvSpPr>
        <p:spPr>
          <a:xfrm>
            <a:off x="971550" y="17145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Condición A</a:t>
            </a:r>
          </a:p>
        </p:txBody>
      </p:sp>
      <p:sp>
        <p:nvSpPr>
          <p:cNvPr id="12" name="U06-DG-062-cell_1-body">
            <a:extLst>
              <a:ext uri="{FF2B5EF4-FFF2-40B4-BE49-F238E27FC236}">
                <a16:creationId xmlns:a16="http://schemas.microsoft.com/office/drawing/2014/main" id="{371DFB91-4F9D-41B7-95F1-9FBF7BEAE27D}"/>
              </a:ext>
            </a:extLst>
          </p:cNvPr>
          <p:cNvSpPr>
            <a:spLocks noGrp="1"/>
          </p:cNvSpPr>
          <p:nvPr/>
        </p:nvSpPr>
        <p:spPr>
          <a:xfrm>
            <a:off x="971550" y="21621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2 kHz · 40 dB SPL</a:t>
            </a:r>
          </a:p>
        </p:txBody>
      </p:sp>
      <p:sp>
        <p:nvSpPr>
          <p:cNvPr id="13" name="U06-DG-062-cell_2-box">
            <a:extLst>
              <a:ext uri="{FF2B5EF4-FFF2-40B4-BE49-F238E27FC236}">
                <a16:creationId xmlns:a16="http://schemas.microsoft.com/office/drawing/2014/main" id="{3572A6B3-9F94-40DF-B357-82FA1625629A}"/>
              </a:ext>
            </a:extLst>
          </p:cNvPr>
          <p:cNvSpPr>
            <a:spLocks noGrp="1"/>
          </p:cNvSpPr>
          <p:nvPr/>
        </p:nvSpPr>
        <p:spPr>
          <a:xfrm>
            <a:off x="4435475" y="1571625"/>
            <a:ext cx="3321050" cy="1809750"/>
          </a:xfrm>
          <a:prstGeom prst="roundRect">
            <a:avLst>
              <a:gd name="adj" fmla="val 5263"/>
            </a:avLst>
          </a:prstGeom>
          <a:solidFill>
            <a:srgbClr val="F4E9EF"/>
          </a:solidFill>
          <a:ln w="19050">
            <a:solidFill>
              <a:srgbClr val="4D1434"/>
            </a:solidFill>
            <a:prstDash val="solid"/>
          </a:ln>
        </p:spPr>
      </p:sp>
      <p:sp>
        <p:nvSpPr>
          <p:cNvPr id="14" name="U06-DG-062-cell_2-title">
            <a:extLst>
              <a:ext uri="{FF2B5EF4-FFF2-40B4-BE49-F238E27FC236}">
                <a16:creationId xmlns:a16="http://schemas.microsoft.com/office/drawing/2014/main" id="{E4C2FDE6-2AB0-48BA-8A7E-4A4E15E27AD8}"/>
              </a:ext>
            </a:extLst>
          </p:cNvPr>
          <p:cNvSpPr>
            <a:spLocks noGrp="1"/>
          </p:cNvSpPr>
          <p:nvPr/>
        </p:nvSpPr>
        <p:spPr>
          <a:xfrm>
            <a:off x="4625975" y="17145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Condición B</a:t>
            </a:r>
          </a:p>
        </p:txBody>
      </p:sp>
      <p:sp>
        <p:nvSpPr>
          <p:cNvPr id="15" name="U06-DG-062-cell_2-body">
            <a:extLst>
              <a:ext uri="{FF2B5EF4-FFF2-40B4-BE49-F238E27FC236}">
                <a16:creationId xmlns:a16="http://schemas.microsoft.com/office/drawing/2014/main" id="{27C41052-1F46-4A6D-94A4-3656E27BE7E4}"/>
              </a:ext>
            </a:extLst>
          </p:cNvPr>
          <p:cNvSpPr>
            <a:spLocks noGrp="1"/>
          </p:cNvSpPr>
          <p:nvPr/>
        </p:nvSpPr>
        <p:spPr>
          <a:xfrm>
            <a:off x="4625975" y="21621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2 kHz · 70 dB SPL</a:t>
            </a:r>
          </a:p>
        </p:txBody>
      </p:sp>
      <p:sp>
        <p:nvSpPr>
          <p:cNvPr id="16" name="U06-DG-062-cell_3-box">
            <a:extLst>
              <a:ext uri="{FF2B5EF4-FFF2-40B4-BE49-F238E27FC236}">
                <a16:creationId xmlns:a16="http://schemas.microsoft.com/office/drawing/2014/main" id="{F2ABCCE9-28CC-4BDB-BF6C-A6DF46081636}"/>
              </a:ext>
            </a:extLst>
          </p:cNvPr>
          <p:cNvSpPr>
            <a:spLocks noGrp="1"/>
          </p:cNvSpPr>
          <p:nvPr/>
        </p:nvSpPr>
        <p:spPr>
          <a:xfrm>
            <a:off x="8089900" y="1571625"/>
            <a:ext cx="3321050" cy="1809750"/>
          </a:xfrm>
          <a:prstGeom prst="roundRect">
            <a:avLst>
              <a:gd name="adj" fmla="val 5263"/>
            </a:avLst>
          </a:prstGeom>
          <a:solidFill>
            <a:srgbClr val="F7F6F2"/>
          </a:solidFill>
          <a:ln w="19050">
            <a:solidFill>
              <a:srgbClr val="969FA7"/>
            </a:solidFill>
            <a:prstDash val="solid"/>
          </a:ln>
        </p:spPr>
      </p:sp>
      <p:sp>
        <p:nvSpPr>
          <p:cNvPr id="17" name="U06-DG-062-cell_3-title">
            <a:extLst>
              <a:ext uri="{FF2B5EF4-FFF2-40B4-BE49-F238E27FC236}">
                <a16:creationId xmlns:a16="http://schemas.microsoft.com/office/drawing/2014/main" id="{705B34FB-E0E6-4043-AC2F-8B6AA646F529}"/>
              </a:ext>
            </a:extLst>
          </p:cNvPr>
          <p:cNvSpPr>
            <a:spLocks noGrp="1"/>
          </p:cNvSpPr>
          <p:nvPr/>
        </p:nvSpPr>
        <p:spPr>
          <a:xfrm>
            <a:off x="8280400" y="1714500"/>
            <a:ext cx="29400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Lugar característico</a:t>
            </a:r>
          </a:p>
        </p:txBody>
      </p:sp>
      <p:sp>
        <p:nvSpPr>
          <p:cNvPr id="18" name="U06-DG-062-cell_3-body">
            <a:extLst>
              <a:ext uri="{FF2B5EF4-FFF2-40B4-BE49-F238E27FC236}">
                <a16:creationId xmlns:a16="http://schemas.microsoft.com/office/drawing/2014/main" id="{BFADBB37-D122-468A-A322-600143A1E0EB}"/>
              </a:ext>
            </a:extLst>
          </p:cNvPr>
          <p:cNvSpPr>
            <a:spLocks noGrp="1"/>
          </p:cNvSpPr>
          <p:nvPr/>
        </p:nvSpPr>
        <p:spPr>
          <a:xfrm>
            <a:off x="8280400" y="2486025"/>
            <a:ext cx="2940050" cy="800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¿cambia?</a:t>
            </a:r>
          </a:p>
        </p:txBody>
      </p:sp>
      <p:sp>
        <p:nvSpPr>
          <p:cNvPr id="19" name="U06-DG-062-cell_4-box">
            <a:extLst>
              <a:ext uri="{FF2B5EF4-FFF2-40B4-BE49-F238E27FC236}">
                <a16:creationId xmlns:a16="http://schemas.microsoft.com/office/drawing/2014/main" id="{FFA3E17F-CE57-4837-A8EB-75D07FE69EF0}"/>
              </a:ext>
            </a:extLst>
          </p:cNvPr>
          <p:cNvSpPr>
            <a:spLocks noGrp="1"/>
          </p:cNvSpPr>
          <p:nvPr/>
        </p:nvSpPr>
        <p:spPr>
          <a:xfrm>
            <a:off x="781050" y="3667125"/>
            <a:ext cx="3321050" cy="1809750"/>
          </a:xfrm>
          <a:prstGeom prst="roundRect">
            <a:avLst>
              <a:gd name="adj" fmla="val 5263"/>
            </a:avLst>
          </a:prstGeom>
          <a:solidFill>
            <a:srgbClr val="F7F6F2"/>
          </a:solidFill>
          <a:ln w="19050">
            <a:solidFill>
              <a:srgbClr val="969FA7"/>
            </a:solidFill>
            <a:prstDash val="solid"/>
          </a:ln>
        </p:spPr>
      </p:sp>
      <p:sp>
        <p:nvSpPr>
          <p:cNvPr id="20" name="U06-DG-062-cell_4-title">
            <a:extLst>
              <a:ext uri="{FF2B5EF4-FFF2-40B4-BE49-F238E27FC236}">
                <a16:creationId xmlns:a16="http://schemas.microsoft.com/office/drawing/2014/main" id="{E2421B73-C7A4-49CE-9D26-1E9AC9C485DC}"/>
              </a:ext>
            </a:extLst>
          </p:cNvPr>
          <p:cNvSpPr>
            <a:spLocks noGrp="1"/>
          </p:cNvSpPr>
          <p:nvPr/>
        </p:nvSpPr>
        <p:spPr>
          <a:xfrm>
            <a:off x="971550" y="38100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Extensión</a:t>
            </a:r>
          </a:p>
        </p:txBody>
      </p:sp>
      <p:sp>
        <p:nvSpPr>
          <p:cNvPr id="21" name="U06-DG-062-cell_4-body">
            <a:extLst>
              <a:ext uri="{FF2B5EF4-FFF2-40B4-BE49-F238E27FC236}">
                <a16:creationId xmlns:a16="http://schemas.microsoft.com/office/drawing/2014/main" id="{B4DFB47D-A577-45B8-ADFC-B276DFB6BEBA}"/>
              </a:ext>
            </a:extLst>
          </p:cNvPr>
          <p:cNvSpPr>
            <a:spLocks noGrp="1"/>
          </p:cNvSpPr>
          <p:nvPr/>
        </p:nvSpPr>
        <p:spPr>
          <a:xfrm>
            <a:off x="971550" y="42576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¿cambia?</a:t>
            </a:r>
          </a:p>
        </p:txBody>
      </p:sp>
      <p:sp>
        <p:nvSpPr>
          <p:cNvPr id="22" name="U06-DG-062-cell_5-box">
            <a:extLst>
              <a:ext uri="{FF2B5EF4-FFF2-40B4-BE49-F238E27FC236}">
                <a16:creationId xmlns:a16="http://schemas.microsoft.com/office/drawing/2014/main" id="{2167588F-EE51-46D5-A1C7-5D5BA6BD681E}"/>
              </a:ext>
            </a:extLst>
          </p:cNvPr>
          <p:cNvSpPr>
            <a:spLocks noGrp="1"/>
          </p:cNvSpPr>
          <p:nvPr/>
        </p:nvSpPr>
        <p:spPr>
          <a:xfrm>
            <a:off x="4435475" y="3667125"/>
            <a:ext cx="3321050" cy="1809750"/>
          </a:xfrm>
          <a:prstGeom prst="roundRect">
            <a:avLst>
              <a:gd name="adj" fmla="val 5263"/>
            </a:avLst>
          </a:prstGeom>
          <a:solidFill>
            <a:srgbClr val="F7F6F2"/>
          </a:solidFill>
          <a:ln w="19050">
            <a:solidFill>
              <a:srgbClr val="969FA7"/>
            </a:solidFill>
            <a:prstDash val="solid"/>
          </a:ln>
        </p:spPr>
      </p:sp>
      <p:sp>
        <p:nvSpPr>
          <p:cNvPr id="23" name="U06-DG-062-cell_5-title">
            <a:extLst>
              <a:ext uri="{FF2B5EF4-FFF2-40B4-BE49-F238E27FC236}">
                <a16:creationId xmlns:a16="http://schemas.microsoft.com/office/drawing/2014/main" id="{7EB183DA-AEF5-4A41-B911-F60A0D9E2621}"/>
              </a:ext>
            </a:extLst>
          </p:cNvPr>
          <p:cNvSpPr>
            <a:spLocks noGrp="1"/>
          </p:cNvSpPr>
          <p:nvPr/>
        </p:nvSpPr>
        <p:spPr>
          <a:xfrm>
            <a:off x="4625975" y="3810000"/>
            <a:ext cx="29400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Respuesta periférica</a:t>
            </a:r>
          </a:p>
        </p:txBody>
      </p:sp>
      <p:sp>
        <p:nvSpPr>
          <p:cNvPr id="24" name="U06-DG-062-cell_5-body">
            <a:extLst>
              <a:ext uri="{FF2B5EF4-FFF2-40B4-BE49-F238E27FC236}">
                <a16:creationId xmlns:a16="http://schemas.microsoft.com/office/drawing/2014/main" id="{626F5A97-BA53-48F8-ACD0-22ECA735BC38}"/>
              </a:ext>
            </a:extLst>
          </p:cNvPr>
          <p:cNvSpPr>
            <a:spLocks noGrp="1"/>
          </p:cNvSpPr>
          <p:nvPr/>
        </p:nvSpPr>
        <p:spPr>
          <a:xfrm>
            <a:off x="4625975" y="4581525"/>
            <a:ext cx="2940050" cy="800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¿cómo cambia?</a:t>
            </a:r>
          </a:p>
        </p:txBody>
      </p:sp>
      <p:sp>
        <p:nvSpPr>
          <p:cNvPr id="25" name="U06-DG-062-cell_6-box">
            <a:extLst>
              <a:ext uri="{FF2B5EF4-FFF2-40B4-BE49-F238E27FC236}">
                <a16:creationId xmlns:a16="http://schemas.microsoft.com/office/drawing/2014/main" id="{777FDDCB-1359-41F9-B673-26371CC5FEA3}"/>
              </a:ext>
            </a:extLst>
          </p:cNvPr>
          <p:cNvSpPr>
            <a:spLocks noGrp="1"/>
          </p:cNvSpPr>
          <p:nvPr/>
        </p:nvSpPr>
        <p:spPr>
          <a:xfrm>
            <a:off x="8089900" y="3667125"/>
            <a:ext cx="3321050" cy="1809750"/>
          </a:xfrm>
          <a:prstGeom prst="roundRect">
            <a:avLst>
              <a:gd name="adj" fmla="val 5263"/>
            </a:avLst>
          </a:prstGeom>
          <a:solidFill>
            <a:srgbClr val="F8EDE2"/>
          </a:solidFill>
          <a:ln w="19050">
            <a:solidFill>
              <a:srgbClr val="9F541A"/>
            </a:solidFill>
            <a:prstDash val="solid"/>
          </a:ln>
        </p:spPr>
      </p:sp>
      <p:sp>
        <p:nvSpPr>
          <p:cNvPr id="26" name="U06-DG-062-cell_6-title">
            <a:extLst>
              <a:ext uri="{FF2B5EF4-FFF2-40B4-BE49-F238E27FC236}">
                <a16:creationId xmlns:a16="http://schemas.microsoft.com/office/drawing/2014/main" id="{1D3B98EE-6349-421B-9EE7-9E349668CDDD}"/>
              </a:ext>
            </a:extLst>
          </p:cNvPr>
          <p:cNvSpPr>
            <a:spLocks noGrp="1"/>
          </p:cNvSpPr>
          <p:nvPr/>
        </p:nvSpPr>
        <p:spPr>
          <a:xfrm>
            <a:off x="8280400" y="38100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Sonoridad</a:t>
            </a:r>
          </a:p>
        </p:txBody>
      </p:sp>
      <p:sp>
        <p:nvSpPr>
          <p:cNvPr id="27" name="U06-DG-062-cell_6-body">
            <a:extLst>
              <a:ext uri="{FF2B5EF4-FFF2-40B4-BE49-F238E27FC236}">
                <a16:creationId xmlns:a16="http://schemas.microsoft.com/office/drawing/2014/main" id="{1DB0E8F1-2787-4DEA-A785-DAC50571084B}"/>
              </a:ext>
            </a:extLst>
          </p:cNvPr>
          <p:cNvSpPr>
            <a:spLocks noGrp="1"/>
          </p:cNvSpPr>
          <p:nvPr/>
        </p:nvSpPr>
        <p:spPr>
          <a:xfrm>
            <a:off x="8280400" y="42576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¿qué no concluye?</a:t>
            </a:r>
          </a:p>
        </p:txBody>
      </p:sp>
      <p:sp>
        <p:nvSpPr>
          <p:cNvPr id="28" name="caption">
            <a:extLst>
              <a:ext uri="{FF2B5EF4-FFF2-40B4-BE49-F238E27FC236}">
                <a16:creationId xmlns:a16="http://schemas.microsoft.com/office/drawing/2014/main" id="{8BFB543D-97DA-4494-8F9E-88764A4ED1B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frecuencia mantiene aproximadamente el lugar característico; el nivel cambia…</a:t>
            </a:r>
          </a:p>
        </p:txBody>
      </p:sp>
      <p:sp>
        <p:nvSpPr>
          <p:cNvPr id="29" name="credit">
            <a:extLst>
              <a:ext uri="{FF2B5EF4-FFF2-40B4-BE49-F238E27FC236}">
                <a16:creationId xmlns:a16="http://schemas.microsoft.com/office/drawing/2014/main" id="{92494DC1-4CF2-467E-B734-83252DA5CE7F}"/>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7329715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lide-title">
            <a:extLst>
              <a:ext uri="{FF2B5EF4-FFF2-40B4-BE49-F238E27FC236}">
                <a16:creationId xmlns:a16="http://schemas.microsoft.com/office/drawing/2014/main" id="{59AAA752-BC52-4F97-8D19-90FE85CA870A}"/>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Del estímulo a la salida: resolución del caso</a:t>
            </a:r>
          </a:p>
        </p:txBody>
      </p:sp>
      <p:sp>
        <p:nvSpPr>
          <p:cNvPr id="2" name="slide-subtitle">
            <a:extLst>
              <a:ext uri="{FF2B5EF4-FFF2-40B4-BE49-F238E27FC236}">
                <a16:creationId xmlns:a16="http://schemas.microsoft.com/office/drawing/2014/main" id="{5F1AC149-21A8-413D-BD89-9C2BFD1ABA03}"/>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Una buena respuesta declara entrada, transformación por etapa, salida y lo que no puede inferirse.</a:t>
            </a:r>
          </a:p>
        </p:txBody>
      </p:sp>
      <p:sp>
        <p:nvSpPr>
          <p:cNvPr id="3" name="eyebrow">
            <a:extLst>
              <a:ext uri="{FF2B5EF4-FFF2-40B4-BE49-F238E27FC236}">
                <a16:creationId xmlns:a16="http://schemas.microsoft.com/office/drawing/2014/main" id="{7AE4182D-FFBC-4324-B182-E095EF327219}"/>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103</a:t>
            </a:r>
          </a:p>
        </p:txBody>
      </p:sp>
      <p:sp>
        <p:nvSpPr>
          <p:cNvPr id="4" name="U06-DG-063-stage_1-anchor">
            <a:extLst>
              <a:ext uri="{FF2B5EF4-FFF2-40B4-BE49-F238E27FC236}">
                <a16:creationId xmlns:a16="http://schemas.microsoft.com/office/drawing/2014/main" id="{A3C714E6-F538-4024-B2AA-0E5D8586031C}"/>
              </a:ext>
            </a:extLst>
          </p:cNvPr>
          <p:cNvSpPr>
            <a:spLocks noGrp="1"/>
          </p:cNvSpPr>
          <p:nvPr/>
        </p:nvSpPr>
        <p:spPr>
          <a:xfrm>
            <a:off x="781050" y="1666875"/>
            <a:ext cx="3365500" cy="1381125"/>
          </a:xfrm>
          <a:prstGeom prst="roundRect">
            <a:avLst>
              <a:gd name="adj" fmla="val 6897"/>
            </a:avLst>
          </a:prstGeom>
          <a:noFill/>
          <a:ln w="0">
            <a:noFill/>
            <a:prstDash val="solid"/>
          </a:ln>
        </p:spPr>
      </p:sp>
      <p:sp>
        <p:nvSpPr>
          <p:cNvPr id="5" name="U06-DG-063-stage_2-anchor">
            <a:extLst>
              <a:ext uri="{FF2B5EF4-FFF2-40B4-BE49-F238E27FC236}">
                <a16:creationId xmlns:a16="http://schemas.microsoft.com/office/drawing/2014/main" id="{297F5E99-D581-49C2-97EE-F182F5B42901}"/>
              </a:ext>
            </a:extLst>
          </p:cNvPr>
          <p:cNvSpPr>
            <a:spLocks noGrp="1"/>
          </p:cNvSpPr>
          <p:nvPr/>
        </p:nvSpPr>
        <p:spPr>
          <a:xfrm>
            <a:off x="4413250" y="1666875"/>
            <a:ext cx="3365500" cy="1381125"/>
          </a:xfrm>
          <a:prstGeom prst="roundRect">
            <a:avLst>
              <a:gd name="adj" fmla="val 6897"/>
            </a:avLst>
          </a:prstGeom>
          <a:noFill/>
          <a:ln w="0">
            <a:noFill/>
            <a:prstDash val="solid"/>
          </a:ln>
        </p:spPr>
      </p:sp>
      <p:sp>
        <p:nvSpPr>
          <p:cNvPr id="6" name="U06-DG-063-stage_3-anchor">
            <a:extLst>
              <a:ext uri="{FF2B5EF4-FFF2-40B4-BE49-F238E27FC236}">
                <a16:creationId xmlns:a16="http://schemas.microsoft.com/office/drawing/2014/main" id="{57276E8B-0DFB-45EA-8A74-6DD02D234A24}"/>
              </a:ext>
            </a:extLst>
          </p:cNvPr>
          <p:cNvSpPr>
            <a:spLocks noGrp="1"/>
          </p:cNvSpPr>
          <p:nvPr/>
        </p:nvSpPr>
        <p:spPr>
          <a:xfrm>
            <a:off x="8045450" y="1666875"/>
            <a:ext cx="3365500" cy="1381125"/>
          </a:xfrm>
          <a:prstGeom prst="roundRect">
            <a:avLst>
              <a:gd name="adj" fmla="val 6897"/>
            </a:avLst>
          </a:prstGeom>
          <a:noFill/>
          <a:ln w="0">
            <a:noFill/>
            <a:prstDash val="solid"/>
          </a:ln>
        </p:spPr>
      </p:sp>
      <p:sp>
        <p:nvSpPr>
          <p:cNvPr id="7" name="U06-DG-063-stage_4-anchor">
            <a:extLst>
              <a:ext uri="{FF2B5EF4-FFF2-40B4-BE49-F238E27FC236}">
                <a16:creationId xmlns:a16="http://schemas.microsoft.com/office/drawing/2014/main" id="{957307CC-106C-4A59-A285-71737A662D33}"/>
              </a:ext>
            </a:extLst>
          </p:cNvPr>
          <p:cNvSpPr>
            <a:spLocks noGrp="1"/>
          </p:cNvSpPr>
          <p:nvPr/>
        </p:nvSpPr>
        <p:spPr>
          <a:xfrm>
            <a:off x="8045450" y="3952875"/>
            <a:ext cx="3365500" cy="1381125"/>
          </a:xfrm>
          <a:prstGeom prst="roundRect">
            <a:avLst>
              <a:gd name="adj" fmla="val 6897"/>
            </a:avLst>
          </a:prstGeom>
          <a:noFill/>
          <a:ln w="0">
            <a:noFill/>
            <a:prstDash val="solid"/>
          </a:ln>
        </p:spPr>
      </p:sp>
      <p:sp>
        <p:nvSpPr>
          <p:cNvPr id="8" name="U06-DG-063-stage_5-anchor">
            <a:extLst>
              <a:ext uri="{FF2B5EF4-FFF2-40B4-BE49-F238E27FC236}">
                <a16:creationId xmlns:a16="http://schemas.microsoft.com/office/drawing/2014/main" id="{9DB7BC42-413D-454F-9642-B141400D699E}"/>
              </a:ext>
            </a:extLst>
          </p:cNvPr>
          <p:cNvSpPr>
            <a:spLocks noGrp="1"/>
          </p:cNvSpPr>
          <p:nvPr/>
        </p:nvSpPr>
        <p:spPr>
          <a:xfrm>
            <a:off x="4413250" y="3952875"/>
            <a:ext cx="3365500" cy="1381125"/>
          </a:xfrm>
          <a:prstGeom prst="roundRect">
            <a:avLst>
              <a:gd name="adj" fmla="val 6897"/>
            </a:avLst>
          </a:prstGeom>
          <a:noFill/>
          <a:ln w="0">
            <a:noFill/>
            <a:prstDash val="solid"/>
          </a:ln>
        </p:spPr>
      </p:sp>
      <p:sp>
        <p:nvSpPr>
          <p:cNvPr id="9" name="U06-DG-063-stage_6-anchor">
            <a:extLst>
              <a:ext uri="{FF2B5EF4-FFF2-40B4-BE49-F238E27FC236}">
                <a16:creationId xmlns:a16="http://schemas.microsoft.com/office/drawing/2014/main" id="{2DC60954-DD19-46B4-A031-77B2AE04F1FA}"/>
              </a:ext>
            </a:extLst>
          </p:cNvPr>
          <p:cNvSpPr>
            <a:spLocks noGrp="1"/>
          </p:cNvSpPr>
          <p:nvPr/>
        </p:nvSpPr>
        <p:spPr>
          <a:xfrm>
            <a:off x="781050" y="3952875"/>
            <a:ext cx="3365500" cy="1381125"/>
          </a:xfrm>
          <a:prstGeom prst="roundRect">
            <a:avLst>
              <a:gd name="adj" fmla="val 6897"/>
            </a:avLst>
          </a:prstGeom>
          <a:noFill/>
          <a:ln w="0">
            <a:noFill/>
            <a:prstDash val="solid"/>
          </a:ln>
        </p:spPr>
      </p:sp>
      <p:cxnSp>
        <p:nvCxnSpPr>
          <p:cNvPr id="44" name="U06-DG-063-flow_1"/>
          <p:cNvCxnSpPr>
            <a:stCxn id="4" idx="3"/>
            <a:endCxn id="5" idx="1"/>
          </p:cNvCxnSpPr>
          <p:nvPr/>
        </p:nvCxnSpPr>
        <p:spPr>
          <a:xfrm>
            <a:off x="4146550" y="2357438"/>
            <a:ext cx="266700" cy="0"/>
          </a:xfrm>
          <a:prstGeom prst="straightConnector1">
            <a:avLst/>
          </a:prstGeom>
          <a:ln w="28575">
            <a:solidFill>
              <a:srgbClr val="3D3D3D"/>
            </a:solidFill>
            <a:prstDash val="solid"/>
            <a:tailEnd type="arrow" w="med" len="med"/>
          </a:ln>
        </p:spPr>
      </p:cxnSp>
      <p:cxnSp>
        <p:nvCxnSpPr>
          <p:cNvPr id="45" name="U06-DG-063-flow_2"/>
          <p:cNvCxnSpPr>
            <a:stCxn id="5" idx="3"/>
            <a:endCxn id="6" idx="1"/>
          </p:cNvCxnSpPr>
          <p:nvPr/>
        </p:nvCxnSpPr>
        <p:spPr>
          <a:xfrm>
            <a:off x="7778750" y="2357438"/>
            <a:ext cx="266700" cy="0"/>
          </a:xfrm>
          <a:prstGeom prst="straightConnector1">
            <a:avLst/>
          </a:prstGeom>
          <a:ln w="28575">
            <a:solidFill>
              <a:srgbClr val="3D3D3D"/>
            </a:solidFill>
            <a:prstDash val="solid"/>
            <a:tailEnd type="arrow" w="med" len="med"/>
          </a:ln>
        </p:spPr>
      </p:cxnSp>
      <p:cxnSp>
        <p:nvCxnSpPr>
          <p:cNvPr id="46" name="U06-DG-063-flow_3"/>
          <p:cNvCxnSpPr>
            <a:stCxn id="6" idx="2"/>
            <a:endCxn id="7" idx="0"/>
          </p:cNvCxnSpPr>
          <p:nvPr/>
        </p:nvCxnSpPr>
        <p:spPr>
          <a:xfrm>
            <a:off x="9728200" y="3048000"/>
            <a:ext cx="0" cy="904875"/>
          </a:xfrm>
          <a:prstGeom prst="straightConnector1">
            <a:avLst/>
          </a:prstGeom>
          <a:ln w="28575">
            <a:solidFill>
              <a:srgbClr val="3D3D3D"/>
            </a:solidFill>
            <a:prstDash val="solid"/>
            <a:tailEnd type="arrow" w="med" len="med"/>
          </a:ln>
        </p:spPr>
      </p:cxnSp>
      <p:cxnSp>
        <p:nvCxnSpPr>
          <p:cNvPr id="47" name="U06-DG-063-flow_4"/>
          <p:cNvCxnSpPr>
            <a:stCxn id="7" idx="1"/>
            <a:endCxn id="8" idx="3"/>
          </p:cNvCxnSpPr>
          <p:nvPr/>
        </p:nvCxnSpPr>
        <p:spPr>
          <a:xfrm flipH="1">
            <a:off x="7778750" y="4643438"/>
            <a:ext cx="266700" cy="0"/>
          </a:xfrm>
          <a:prstGeom prst="straightConnector1">
            <a:avLst/>
          </a:prstGeom>
          <a:ln w="28575">
            <a:solidFill>
              <a:srgbClr val="3D3D3D"/>
            </a:solidFill>
            <a:prstDash val="solid"/>
            <a:tailEnd type="arrow" w="med" len="med"/>
          </a:ln>
        </p:spPr>
      </p:cxnSp>
      <p:cxnSp>
        <p:nvCxnSpPr>
          <p:cNvPr id="48" name="U06-DG-063-flow_5"/>
          <p:cNvCxnSpPr>
            <a:stCxn id="8" idx="1"/>
            <a:endCxn id="9" idx="3"/>
          </p:cNvCxnSpPr>
          <p:nvPr/>
        </p:nvCxnSpPr>
        <p:spPr>
          <a:xfrm flipH="1">
            <a:off x="4146550" y="4643438"/>
            <a:ext cx="266700" cy="0"/>
          </a:xfrm>
          <a:prstGeom prst="straightConnector1">
            <a:avLst/>
          </a:prstGeom>
          <a:ln w="28575">
            <a:solidFill>
              <a:srgbClr val="3D3D3D"/>
            </a:solidFill>
            <a:prstDash val="solid"/>
            <a:tailEnd type="arrow" w="med" len="med"/>
          </a:ln>
        </p:spPr>
      </p:cxnSp>
      <p:sp>
        <p:nvSpPr>
          <p:cNvPr id="15" name="U06-DG-063-stage_1-box" descr="Diagrama sobre «Del estímulo a la salida: resolución del caso»; organiza recorrido cae → medio → cóclea → cci/cce → fibra; diferencias entre 40/70 db spl." title="Texto alternativo U06-103">
            <a:extLst>
              <a:ext uri="{FF2B5EF4-FFF2-40B4-BE49-F238E27FC236}">
                <a16:creationId xmlns:a16="http://schemas.microsoft.com/office/drawing/2014/main" id="{04896DBB-EF4B-4660-AAFC-F1E7FC1BC1C6}"/>
              </a:ext>
            </a:extLst>
          </p:cNvPr>
          <p:cNvSpPr>
            <a:spLocks noGrp="1"/>
          </p:cNvSpPr>
          <p:nvPr/>
        </p:nvSpPr>
        <p:spPr>
          <a:xfrm>
            <a:off x="781050" y="1666875"/>
            <a:ext cx="3365500" cy="1381125"/>
          </a:xfrm>
          <a:prstGeom prst="roundRect">
            <a:avLst>
              <a:gd name="adj" fmla="val 6897"/>
            </a:avLst>
          </a:prstGeom>
          <a:solidFill>
            <a:srgbClr val="E7F1F1"/>
          </a:solidFill>
          <a:ln w="19050">
            <a:solidFill>
              <a:srgbClr val="2F7E83"/>
            </a:solidFill>
            <a:prstDash val="solid"/>
          </a:ln>
        </p:spPr>
      </p:sp>
      <p:sp>
        <p:nvSpPr>
          <p:cNvPr id="16" name="U06-DG-063-stage_1-title">
            <a:extLst>
              <a:ext uri="{FF2B5EF4-FFF2-40B4-BE49-F238E27FC236}">
                <a16:creationId xmlns:a16="http://schemas.microsoft.com/office/drawing/2014/main" id="{41F83C95-4050-43D2-9FDD-3A97FF5AB19C}"/>
              </a:ext>
            </a:extLst>
          </p:cNvPr>
          <p:cNvSpPr>
            <a:spLocks noGrp="1"/>
          </p:cNvSpPr>
          <p:nvPr/>
        </p:nvSpPr>
        <p:spPr>
          <a:xfrm>
            <a:off x="9715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Misma f</a:t>
            </a:r>
          </a:p>
        </p:txBody>
      </p:sp>
      <p:sp>
        <p:nvSpPr>
          <p:cNvPr id="17" name="U06-DG-063-stage_1-body">
            <a:extLst>
              <a:ext uri="{FF2B5EF4-FFF2-40B4-BE49-F238E27FC236}">
                <a16:creationId xmlns:a16="http://schemas.microsoft.com/office/drawing/2014/main" id="{2FA615ED-21C4-4C0B-827A-1A6D3D6137E9}"/>
              </a:ext>
            </a:extLst>
          </p:cNvPr>
          <p:cNvSpPr>
            <a:spLocks noGrp="1"/>
          </p:cNvSpPr>
          <p:nvPr/>
        </p:nvSpPr>
        <p:spPr>
          <a:xfrm>
            <a:off x="9715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mismo lugar aprox.</a:t>
            </a:r>
          </a:p>
        </p:txBody>
      </p:sp>
      <p:sp>
        <p:nvSpPr>
          <p:cNvPr id="18" name="U06-DG-063-stage_2-box">
            <a:extLst>
              <a:ext uri="{FF2B5EF4-FFF2-40B4-BE49-F238E27FC236}">
                <a16:creationId xmlns:a16="http://schemas.microsoft.com/office/drawing/2014/main" id="{A05138F4-53DF-4A2B-B8A6-E287F71419A9}"/>
              </a:ext>
            </a:extLst>
          </p:cNvPr>
          <p:cNvSpPr>
            <a:spLocks noGrp="1"/>
          </p:cNvSpPr>
          <p:nvPr/>
        </p:nvSpPr>
        <p:spPr>
          <a:xfrm>
            <a:off x="4413250" y="1666875"/>
            <a:ext cx="3365500" cy="1381125"/>
          </a:xfrm>
          <a:prstGeom prst="roundRect">
            <a:avLst>
              <a:gd name="adj" fmla="val 6897"/>
            </a:avLst>
          </a:prstGeom>
          <a:solidFill>
            <a:srgbClr val="F4E9EF"/>
          </a:solidFill>
          <a:ln w="19050">
            <a:solidFill>
              <a:srgbClr val="4D1434"/>
            </a:solidFill>
            <a:prstDash val="solid"/>
          </a:ln>
        </p:spPr>
      </p:sp>
      <p:sp>
        <p:nvSpPr>
          <p:cNvPr id="19" name="U06-DG-063-stage_2-title">
            <a:extLst>
              <a:ext uri="{FF2B5EF4-FFF2-40B4-BE49-F238E27FC236}">
                <a16:creationId xmlns:a16="http://schemas.microsoft.com/office/drawing/2014/main" id="{124B8C99-7A02-406A-A532-5E1762AC573A}"/>
              </a:ext>
            </a:extLst>
          </p:cNvPr>
          <p:cNvSpPr>
            <a:spLocks noGrp="1"/>
          </p:cNvSpPr>
          <p:nvPr/>
        </p:nvSpPr>
        <p:spPr>
          <a:xfrm>
            <a:off x="4603750" y="1809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Mayor nivel</a:t>
            </a:r>
          </a:p>
        </p:txBody>
      </p:sp>
      <p:sp>
        <p:nvSpPr>
          <p:cNvPr id="20" name="U06-DG-063-stage_2-body">
            <a:extLst>
              <a:ext uri="{FF2B5EF4-FFF2-40B4-BE49-F238E27FC236}">
                <a16:creationId xmlns:a16="http://schemas.microsoft.com/office/drawing/2014/main" id="{1107559C-4164-4345-8DD8-197D581CF0B8}"/>
              </a:ext>
            </a:extLst>
          </p:cNvPr>
          <p:cNvSpPr>
            <a:spLocks noGrp="1"/>
          </p:cNvSpPr>
          <p:nvPr/>
        </p:nvSpPr>
        <p:spPr>
          <a:xfrm>
            <a:off x="4603750" y="2257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entrada</a:t>
            </a:r>
          </a:p>
        </p:txBody>
      </p:sp>
      <p:sp>
        <p:nvSpPr>
          <p:cNvPr id="21" name="U06-DG-063-stage_3-box">
            <a:extLst>
              <a:ext uri="{FF2B5EF4-FFF2-40B4-BE49-F238E27FC236}">
                <a16:creationId xmlns:a16="http://schemas.microsoft.com/office/drawing/2014/main" id="{C967F276-1C06-4E4C-BF69-5CEE83D7E184}"/>
              </a:ext>
            </a:extLst>
          </p:cNvPr>
          <p:cNvSpPr>
            <a:spLocks noGrp="1"/>
          </p:cNvSpPr>
          <p:nvPr/>
        </p:nvSpPr>
        <p:spPr>
          <a:xfrm>
            <a:off x="8045450" y="1666875"/>
            <a:ext cx="3365500" cy="1381125"/>
          </a:xfrm>
          <a:prstGeom prst="roundRect">
            <a:avLst>
              <a:gd name="adj" fmla="val 6897"/>
            </a:avLst>
          </a:prstGeom>
          <a:solidFill>
            <a:srgbClr val="E7F1F1"/>
          </a:solidFill>
          <a:ln w="19050">
            <a:solidFill>
              <a:srgbClr val="2F7E83"/>
            </a:solidFill>
            <a:prstDash val="solid"/>
          </a:ln>
        </p:spPr>
      </p:sp>
      <p:sp>
        <p:nvSpPr>
          <p:cNvPr id="22" name="U06-DG-063-stage_3-title">
            <a:extLst>
              <a:ext uri="{FF2B5EF4-FFF2-40B4-BE49-F238E27FC236}">
                <a16:creationId xmlns:a16="http://schemas.microsoft.com/office/drawing/2014/main" id="{2584C709-9F9F-446A-84E3-634CF7E55099}"/>
              </a:ext>
            </a:extLst>
          </p:cNvPr>
          <p:cNvSpPr>
            <a:spLocks noGrp="1"/>
          </p:cNvSpPr>
          <p:nvPr/>
        </p:nvSpPr>
        <p:spPr>
          <a:xfrm>
            <a:off x="8235950" y="1809750"/>
            <a:ext cx="298450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Respuesta más amplia</a:t>
            </a:r>
          </a:p>
        </p:txBody>
      </p:sp>
      <p:sp>
        <p:nvSpPr>
          <p:cNvPr id="23" name="U06-DG-063-stage_3-body">
            <a:extLst>
              <a:ext uri="{FF2B5EF4-FFF2-40B4-BE49-F238E27FC236}">
                <a16:creationId xmlns:a16="http://schemas.microsoft.com/office/drawing/2014/main" id="{3E3222CC-5E6E-4117-838D-08700D1E219B}"/>
              </a:ext>
            </a:extLst>
          </p:cNvPr>
          <p:cNvSpPr>
            <a:spLocks noGrp="1"/>
          </p:cNvSpPr>
          <p:nvPr/>
        </p:nvSpPr>
        <p:spPr>
          <a:xfrm>
            <a:off x="8235950" y="2581275"/>
            <a:ext cx="2984500" cy="3714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mecánica</a:t>
            </a:r>
          </a:p>
        </p:txBody>
      </p:sp>
      <p:sp>
        <p:nvSpPr>
          <p:cNvPr id="24" name="U06-DG-063-stage_4-box">
            <a:extLst>
              <a:ext uri="{FF2B5EF4-FFF2-40B4-BE49-F238E27FC236}">
                <a16:creationId xmlns:a16="http://schemas.microsoft.com/office/drawing/2014/main" id="{A3BF2E7A-575D-4A90-AE28-5EE35D087008}"/>
              </a:ext>
            </a:extLst>
          </p:cNvPr>
          <p:cNvSpPr>
            <a:spLocks noGrp="1"/>
          </p:cNvSpPr>
          <p:nvPr/>
        </p:nvSpPr>
        <p:spPr>
          <a:xfrm>
            <a:off x="8045450" y="3952875"/>
            <a:ext cx="3365500" cy="1381125"/>
          </a:xfrm>
          <a:prstGeom prst="roundRect">
            <a:avLst>
              <a:gd name="adj" fmla="val 6897"/>
            </a:avLst>
          </a:prstGeom>
          <a:solidFill>
            <a:srgbClr val="F7F6F2"/>
          </a:solidFill>
          <a:ln w="19050">
            <a:solidFill>
              <a:srgbClr val="969FA7"/>
            </a:solidFill>
            <a:prstDash val="solid"/>
          </a:ln>
        </p:spPr>
      </p:sp>
      <p:sp>
        <p:nvSpPr>
          <p:cNvPr id="25" name="U06-DG-063-stage_4-title">
            <a:extLst>
              <a:ext uri="{FF2B5EF4-FFF2-40B4-BE49-F238E27FC236}">
                <a16:creationId xmlns:a16="http://schemas.microsoft.com/office/drawing/2014/main" id="{C6E1E0A1-EB49-4744-A438-EA3138E947EC}"/>
              </a:ext>
            </a:extLst>
          </p:cNvPr>
          <p:cNvSpPr>
            <a:spLocks noGrp="1"/>
          </p:cNvSpPr>
          <p:nvPr/>
        </p:nvSpPr>
        <p:spPr>
          <a:xfrm>
            <a:off x="82359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Más población</a:t>
            </a:r>
          </a:p>
        </p:txBody>
      </p:sp>
      <p:sp>
        <p:nvSpPr>
          <p:cNvPr id="26" name="U06-DG-063-stage_4-body">
            <a:extLst>
              <a:ext uri="{FF2B5EF4-FFF2-40B4-BE49-F238E27FC236}">
                <a16:creationId xmlns:a16="http://schemas.microsoft.com/office/drawing/2014/main" id="{3F33B1F1-2435-44A4-AE59-D93D28DC329E}"/>
              </a:ext>
            </a:extLst>
          </p:cNvPr>
          <p:cNvSpPr>
            <a:spLocks noGrp="1"/>
          </p:cNvSpPr>
          <p:nvPr/>
        </p:nvSpPr>
        <p:spPr>
          <a:xfrm>
            <a:off x="82359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reclutamiento</a:t>
            </a:r>
          </a:p>
        </p:txBody>
      </p:sp>
      <p:sp>
        <p:nvSpPr>
          <p:cNvPr id="27" name="U06-DG-063-stage_5-box">
            <a:extLst>
              <a:ext uri="{FF2B5EF4-FFF2-40B4-BE49-F238E27FC236}">
                <a16:creationId xmlns:a16="http://schemas.microsoft.com/office/drawing/2014/main" id="{D7F46EE6-41DB-42E0-B024-B3F762A3E28E}"/>
              </a:ext>
            </a:extLst>
          </p:cNvPr>
          <p:cNvSpPr>
            <a:spLocks noGrp="1"/>
          </p:cNvSpPr>
          <p:nvPr/>
        </p:nvSpPr>
        <p:spPr>
          <a:xfrm>
            <a:off x="4413250" y="3952875"/>
            <a:ext cx="3365500" cy="1381125"/>
          </a:xfrm>
          <a:prstGeom prst="roundRect">
            <a:avLst>
              <a:gd name="adj" fmla="val 6897"/>
            </a:avLst>
          </a:prstGeom>
          <a:solidFill>
            <a:srgbClr val="F8EDE2"/>
          </a:solidFill>
          <a:ln w="19050">
            <a:solidFill>
              <a:srgbClr val="9F541A"/>
            </a:solidFill>
            <a:prstDash val="solid"/>
          </a:ln>
        </p:spPr>
      </p:sp>
      <p:sp>
        <p:nvSpPr>
          <p:cNvPr id="28" name="U06-DG-063-stage_5-title">
            <a:extLst>
              <a:ext uri="{FF2B5EF4-FFF2-40B4-BE49-F238E27FC236}">
                <a16:creationId xmlns:a16="http://schemas.microsoft.com/office/drawing/2014/main" id="{A516CEAB-DF74-4710-91B1-99E9A1086350}"/>
              </a:ext>
            </a:extLst>
          </p:cNvPr>
          <p:cNvSpPr>
            <a:spLocks noGrp="1"/>
          </p:cNvSpPr>
          <p:nvPr/>
        </p:nvSpPr>
        <p:spPr>
          <a:xfrm>
            <a:off x="46037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Señal neural</a:t>
            </a:r>
          </a:p>
        </p:txBody>
      </p:sp>
      <p:sp>
        <p:nvSpPr>
          <p:cNvPr id="29" name="U06-DG-063-stage_5-body">
            <a:extLst>
              <a:ext uri="{FF2B5EF4-FFF2-40B4-BE49-F238E27FC236}">
                <a16:creationId xmlns:a16="http://schemas.microsoft.com/office/drawing/2014/main" id="{E8B29517-82FC-49C1-B10B-3C5F5D93DD93}"/>
              </a:ext>
            </a:extLst>
          </p:cNvPr>
          <p:cNvSpPr>
            <a:spLocks noGrp="1"/>
          </p:cNvSpPr>
          <p:nvPr/>
        </p:nvSpPr>
        <p:spPr>
          <a:xfrm>
            <a:off x="46037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cambia</a:t>
            </a:r>
          </a:p>
        </p:txBody>
      </p:sp>
      <p:sp>
        <p:nvSpPr>
          <p:cNvPr id="30" name="U06-DG-063-stage_6-box">
            <a:extLst>
              <a:ext uri="{FF2B5EF4-FFF2-40B4-BE49-F238E27FC236}">
                <a16:creationId xmlns:a16="http://schemas.microsoft.com/office/drawing/2014/main" id="{E10CB524-0C94-484B-93ED-A21C9252ECDF}"/>
              </a:ext>
            </a:extLst>
          </p:cNvPr>
          <p:cNvSpPr>
            <a:spLocks noGrp="1"/>
          </p:cNvSpPr>
          <p:nvPr/>
        </p:nvSpPr>
        <p:spPr>
          <a:xfrm>
            <a:off x="781050" y="3952875"/>
            <a:ext cx="3365500" cy="1381125"/>
          </a:xfrm>
          <a:prstGeom prst="roundRect">
            <a:avLst>
              <a:gd name="adj" fmla="val 6897"/>
            </a:avLst>
          </a:prstGeom>
          <a:solidFill>
            <a:srgbClr val="F8EDE2"/>
          </a:solidFill>
          <a:ln w="19050">
            <a:solidFill>
              <a:srgbClr val="9F541A"/>
            </a:solidFill>
            <a:prstDash val="solid"/>
          </a:ln>
        </p:spPr>
      </p:sp>
      <p:sp>
        <p:nvSpPr>
          <p:cNvPr id="31" name="U06-DG-063-stage_6-title">
            <a:extLst>
              <a:ext uri="{FF2B5EF4-FFF2-40B4-BE49-F238E27FC236}">
                <a16:creationId xmlns:a16="http://schemas.microsoft.com/office/drawing/2014/main" id="{9626E257-C96C-4E20-BC60-119F1222EA5B}"/>
              </a:ext>
            </a:extLst>
          </p:cNvPr>
          <p:cNvSpPr>
            <a:spLocks noGrp="1"/>
          </p:cNvSpPr>
          <p:nvPr/>
        </p:nvSpPr>
        <p:spPr>
          <a:xfrm>
            <a:off x="971550" y="4095750"/>
            <a:ext cx="298450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Sonoridad</a:t>
            </a:r>
          </a:p>
        </p:txBody>
      </p:sp>
      <p:sp>
        <p:nvSpPr>
          <p:cNvPr id="32" name="U06-DG-063-stage_6-body">
            <a:extLst>
              <a:ext uri="{FF2B5EF4-FFF2-40B4-BE49-F238E27FC236}">
                <a16:creationId xmlns:a16="http://schemas.microsoft.com/office/drawing/2014/main" id="{156147D8-8425-4FA2-A555-FB9A084DC2B5}"/>
              </a:ext>
            </a:extLst>
          </p:cNvPr>
          <p:cNvSpPr>
            <a:spLocks noGrp="1"/>
          </p:cNvSpPr>
          <p:nvPr/>
        </p:nvSpPr>
        <p:spPr>
          <a:xfrm>
            <a:off x="971550" y="4543425"/>
            <a:ext cx="2984500" cy="6953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inferencia limitada</a:t>
            </a:r>
          </a:p>
        </p:txBody>
      </p:sp>
      <p:sp>
        <p:nvSpPr>
          <p:cNvPr id="33" name="caption">
            <a:extLst>
              <a:ext uri="{FF2B5EF4-FFF2-40B4-BE49-F238E27FC236}">
                <a16:creationId xmlns:a16="http://schemas.microsoft.com/office/drawing/2014/main" id="{5EBB803E-B1B3-42FA-94AB-9E83B848E86F}"/>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Una buena respuesta declara entrada, transformación por etapa, salida y lo que n…</a:t>
            </a:r>
          </a:p>
        </p:txBody>
      </p:sp>
      <p:sp>
        <p:nvSpPr>
          <p:cNvPr id="34" name="credit">
            <a:extLst>
              <a:ext uri="{FF2B5EF4-FFF2-40B4-BE49-F238E27FC236}">
                <a16:creationId xmlns:a16="http://schemas.microsoft.com/office/drawing/2014/main" id="{89130D49-FA84-49FB-AD7E-717A7E05B94C}"/>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5674383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title">
            <a:extLst>
              <a:ext uri="{FF2B5EF4-FFF2-40B4-BE49-F238E27FC236}">
                <a16:creationId xmlns:a16="http://schemas.microsoft.com/office/drawing/2014/main" id="{99989512-FCDA-4F49-AB48-EDC383D706BF}"/>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Diez ideas que sostienen el mecanismo periférico</a:t>
            </a:r>
          </a:p>
        </p:txBody>
      </p:sp>
      <p:sp>
        <p:nvSpPr>
          <p:cNvPr id="2" name="slide-subtitle">
            <a:extLst>
              <a:ext uri="{FF2B5EF4-FFF2-40B4-BE49-F238E27FC236}">
                <a16:creationId xmlns:a16="http://schemas.microsoft.com/office/drawing/2014/main" id="{B339EE1D-4771-4FD6-803D-5F402464555C}"/>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cadena conserva y transforma información mediante etapas físicas, mecánicas, celulares y neurales.</a:t>
            </a:r>
          </a:p>
        </p:txBody>
      </p:sp>
      <p:sp>
        <p:nvSpPr>
          <p:cNvPr id="3" name="eyebrow">
            <a:extLst>
              <a:ext uri="{FF2B5EF4-FFF2-40B4-BE49-F238E27FC236}">
                <a16:creationId xmlns:a16="http://schemas.microsoft.com/office/drawing/2014/main" id="{2CDEF976-1DFD-47B7-BBAC-8511BA546749}"/>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104</a:t>
            </a:r>
          </a:p>
        </p:txBody>
      </p:sp>
      <p:sp>
        <p:nvSpPr>
          <p:cNvPr id="4" name="U06-DG-064-cell_1-anchor">
            <a:extLst>
              <a:ext uri="{FF2B5EF4-FFF2-40B4-BE49-F238E27FC236}">
                <a16:creationId xmlns:a16="http://schemas.microsoft.com/office/drawing/2014/main" id="{45F7C8C9-0BEF-42F2-80DF-485F2DA21447}"/>
              </a:ext>
            </a:extLst>
          </p:cNvPr>
          <p:cNvSpPr>
            <a:spLocks noGrp="1"/>
          </p:cNvSpPr>
          <p:nvPr/>
        </p:nvSpPr>
        <p:spPr>
          <a:xfrm>
            <a:off x="781050" y="1571625"/>
            <a:ext cx="5148263" cy="1809750"/>
          </a:xfrm>
          <a:prstGeom prst="roundRect">
            <a:avLst>
              <a:gd name="adj" fmla="val 5263"/>
            </a:avLst>
          </a:prstGeom>
          <a:noFill/>
          <a:ln w="0">
            <a:noFill/>
            <a:prstDash val="solid"/>
          </a:ln>
        </p:spPr>
      </p:sp>
      <p:sp>
        <p:nvSpPr>
          <p:cNvPr id="5" name="U06-DG-064-cell_2-anchor">
            <a:extLst>
              <a:ext uri="{FF2B5EF4-FFF2-40B4-BE49-F238E27FC236}">
                <a16:creationId xmlns:a16="http://schemas.microsoft.com/office/drawing/2014/main" id="{EF64F5E0-DF33-48DA-A91E-4601ED84702A}"/>
              </a:ext>
            </a:extLst>
          </p:cNvPr>
          <p:cNvSpPr>
            <a:spLocks noGrp="1"/>
          </p:cNvSpPr>
          <p:nvPr/>
        </p:nvSpPr>
        <p:spPr>
          <a:xfrm>
            <a:off x="6262688" y="1571625"/>
            <a:ext cx="5148263" cy="1809750"/>
          </a:xfrm>
          <a:prstGeom prst="roundRect">
            <a:avLst>
              <a:gd name="adj" fmla="val 5263"/>
            </a:avLst>
          </a:prstGeom>
          <a:noFill/>
          <a:ln w="0">
            <a:noFill/>
            <a:prstDash val="solid"/>
          </a:ln>
        </p:spPr>
      </p:sp>
      <p:sp>
        <p:nvSpPr>
          <p:cNvPr id="6" name="U06-DG-064-cell_3-anchor">
            <a:extLst>
              <a:ext uri="{FF2B5EF4-FFF2-40B4-BE49-F238E27FC236}">
                <a16:creationId xmlns:a16="http://schemas.microsoft.com/office/drawing/2014/main" id="{71882564-E098-4220-A66F-CA3B779C82BE}"/>
              </a:ext>
            </a:extLst>
          </p:cNvPr>
          <p:cNvSpPr>
            <a:spLocks noGrp="1"/>
          </p:cNvSpPr>
          <p:nvPr/>
        </p:nvSpPr>
        <p:spPr>
          <a:xfrm>
            <a:off x="781050" y="3667125"/>
            <a:ext cx="5148263" cy="1809750"/>
          </a:xfrm>
          <a:prstGeom prst="roundRect">
            <a:avLst>
              <a:gd name="adj" fmla="val 5263"/>
            </a:avLst>
          </a:prstGeom>
          <a:noFill/>
          <a:ln w="0">
            <a:noFill/>
            <a:prstDash val="solid"/>
          </a:ln>
        </p:spPr>
      </p:sp>
      <p:sp>
        <p:nvSpPr>
          <p:cNvPr id="7" name="U06-DG-064-cell_4-anchor">
            <a:extLst>
              <a:ext uri="{FF2B5EF4-FFF2-40B4-BE49-F238E27FC236}">
                <a16:creationId xmlns:a16="http://schemas.microsoft.com/office/drawing/2014/main" id="{5C08E1F8-37B6-4EB9-93EA-9A6F6B616B08}"/>
              </a:ext>
            </a:extLst>
          </p:cNvPr>
          <p:cNvSpPr>
            <a:spLocks noGrp="1"/>
          </p:cNvSpPr>
          <p:nvPr/>
        </p:nvSpPr>
        <p:spPr>
          <a:xfrm>
            <a:off x="6262688" y="3667125"/>
            <a:ext cx="5148263" cy="1809750"/>
          </a:xfrm>
          <a:prstGeom prst="roundRect">
            <a:avLst>
              <a:gd name="adj" fmla="val 5263"/>
            </a:avLst>
          </a:prstGeom>
          <a:noFill/>
          <a:ln w="0">
            <a:noFill/>
            <a:prstDash val="solid"/>
          </a:ln>
        </p:spPr>
      </p:sp>
      <p:sp>
        <p:nvSpPr>
          <p:cNvPr id="8" name="U06-DG-064-cell_1-box" descr="Diagrama sobre «Diez ideas que sostienen el mecanismo periférico»; organiza diez enunciados agrupados por oído externo, medio, interno y salida; dos errores frecuentes." title="Texto alternativo U06-104">
            <a:extLst>
              <a:ext uri="{FF2B5EF4-FFF2-40B4-BE49-F238E27FC236}">
                <a16:creationId xmlns:a16="http://schemas.microsoft.com/office/drawing/2014/main" id="{1BA1C2E7-EF16-46FA-A681-DF26F7AB1ED2}"/>
              </a:ext>
            </a:extLst>
          </p:cNvPr>
          <p:cNvSpPr>
            <a:spLocks noGrp="1"/>
          </p:cNvSpPr>
          <p:nvPr/>
        </p:nvSpPr>
        <p:spPr>
          <a:xfrm>
            <a:off x="781050" y="1571625"/>
            <a:ext cx="5148263" cy="1809750"/>
          </a:xfrm>
          <a:prstGeom prst="roundRect">
            <a:avLst>
              <a:gd name="adj" fmla="val 5263"/>
            </a:avLst>
          </a:prstGeom>
          <a:solidFill>
            <a:srgbClr val="E7F1F1"/>
          </a:solidFill>
          <a:ln w="19050">
            <a:solidFill>
              <a:srgbClr val="2F7E83"/>
            </a:solidFill>
            <a:prstDash val="solid"/>
          </a:ln>
        </p:spPr>
      </p:sp>
      <p:sp>
        <p:nvSpPr>
          <p:cNvPr id="9" name="U06-DG-064-cell_1-title">
            <a:extLst>
              <a:ext uri="{FF2B5EF4-FFF2-40B4-BE49-F238E27FC236}">
                <a16:creationId xmlns:a16="http://schemas.microsoft.com/office/drawing/2014/main" id="{750903C3-F888-4B16-B683-56A06A6F16DC}"/>
              </a:ext>
            </a:extLst>
          </p:cNvPr>
          <p:cNvSpPr>
            <a:spLocks noGrp="1"/>
          </p:cNvSpPr>
          <p:nvPr/>
        </p:nvSpPr>
        <p:spPr>
          <a:xfrm>
            <a:off x="971550"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Oído externo</a:t>
            </a:r>
          </a:p>
        </p:txBody>
      </p:sp>
      <p:sp>
        <p:nvSpPr>
          <p:cNvPr id="10" name="U06-DG-064-cell_1-body">
            <a:extLst>
              <a:ext uri="{FF2B5EF4-FFF2-40B4-BE49-F238E27FC236}">
                <a16:creationId xmlns:a16="http://schemas.microsoft.com/office/drawing/2014/main" id="{E2E6E2AC-0C74-40BF-AA4B-060538553010}"/>
              </a:ext>
            </a:extLst>
          </p:cNvPr>
          <p:cNvSpPr>
            <a:spLocks noGrp="1"/>
          </p:cNvSpPr>
          <p:nvPr/>
        </p:nvSpPr>
        <p:spPr>
          <a:xfrm>
            <a:off x="971550"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dirección · CAE presión</a:t>
            </a:r>
          </a:p>
        </p:txBody>
      </p:sp>
      <p:sp>
        <p:nvSpPr>
          <p:cNvPr id="11" name="U06-DG-064-cell_2-box">
            <a:extLst>
              <a:ext uri="{FF2B5EF4-FFF2-40B4-BE49-F238E27FC236}">
                <a16:creationId xmlns:a16="http://schemas.microsoft.com/office/drawing/2014/main" id="{C1CA8EB9-CEC0-4E63-A717-2C74AFBB09E0}"/>
              </a:ext>
            </a:extLst>
          </p:cNvPr>
          <p:cNvSpPr>
            <a:spLocks noGrp="1"/>
          </p:cNvSpPr>
          <p:nvPr/>
        </p:nvSpPr>
        <p:spPr>
          <a:xfrm>
            <a:off x="6262688" y="1571625"/>
            <a:ext cx="5148263" cy="1809750"/>
          </a:xfrm>
          <a:prstGeom prst="roundRect">
            <a:avLst>
              <a:gd name="adj" fmla="val 5263"/>
            </a:avLst>
          </a:prstGeom>
          <a:solidFill>
            <a:srgbClr val="F4E9EF"/>
          </a:solidFill>
          <a:ln w="19050">
            <a:solidFill>
              <a:srgbClr val="4D1434"/>
            </a:solidFill>
            <a:prstDash val="solid"/>
          </a:ln>
        </p:spPr>
      </p:sp>
      <p:sp>
        <p:nvSpPr>
          <p:cNvPr id="12" name="U06-DG-064-cell_2-title">
            <a:extLst>
              <a:ext uri="{FF2B5EF4-FFF2-40B4-BE49-F238E27FC236}">
                <a16:creationId xmlns:a16="http://schemas.microsoft.com/office/drawing/2014/main" id="{9BAC008A-DAA9-4E8E-8168-53DB3252EE5F}"/>
              </a:ext>
            </a:extLst>
          </p:cNvPr>
          <p:cNvSpPr>
            <a:spLocks noGrp="1"/>
          </p:cNvSpPr>
          <p:nvPr/>
        </p:nvSpPr>
        <p:spPr>
          <a:xfrm>
            <a:off x="6453188" y="17145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Oído medio</a:t>
            </a:r>
          </a:p>
        </p:txBody>
      </p:sp>
      <p:sp>
        <p:nvSpPr>
          <p:cNvPr id="13" name="U06-DG-064-cell_2-body">
            <a:extLst>
              <a:ext uri="{FF2B5EF4-FFF2-40B4-BE49-F238E27FC236}">
                <a16:creationId xmlns:a16="http://schemas.microsoft.com/office/drawing/2014/main" id="{2AB9914A-6808-4F64-B5FD-FB5BDD8167C6}"/>
              </a:ext>
            </a:extLst>
          </p:cNvPr>
          <p:cNvSpPr>
            <a:spLocks noGrp="1"/>
          </p:cNvSpPr>
          <p:nvPr/>
        </p:nvSpPr>
        <p:spPr>
          <a:xfrm>
            <a:off x="6453188" y="21621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fuerza · áreas palanca</a:t>
            </a:r>
          </a:p>
        </p:txBody>
      </p:sp>
      <p:sp>
        <p:nvSpPr>
          <p:cNvPr id="14" name="U06-DG-064-cell_3-box">
            <a:extLst>
              <a:ext uri="{FF2B5EF4-FFF2-40B4-BE49-F238E27FC236}">
                <a16:creationId xmlns:a16="http://schemas.microsoft.com/office/drawing/2014/main" id="{E1573224-00DE-42E7-A461-ED4B9C62452B}"/>
              </a:ext>
            </a:extLst>
          </p:cNvPr>
          <p:cNvSpPr>
            <a:spLocks noGrp="1"/>
          </p:cNvSpPr>
          <p:nvPr/>
        </p:nvSpPr>
        <p:spPr>
          <a:xfrm>
            <a:off x="781050" y="3667125"/>
            <a:ext cx="5148263" cy="1809750"/>
          </a:xfrm>
          <a:prstGeom prst="roundRect">
            <a:avLst>
              <a:gd name="adj" fmla="val 5263"/>
            </a:avLst>
          </a:prstGeom>
          <a:solidFill>
            <a:srgbClr val="E7F1F1"/>
          </a:solidFill>
          <a:ln w="19050">
            <a:solidFill>
              <a:srgbClr val="2F7E83"/>
            </a:solidFill>
            <a:prstDash val="solid"/>
          </a:ln>
        </p:spPr>
      </p:sp>
      <p:sp>
        <p:nvSpPr>
          <p:cNvPr id="15" name="U06-DG-064-cell_3-title">
            <a:extLst>
              <a:ext uri="{FF2B5EF4-FFF2-40B4-BE49-F238E27FC236}">
                <a16:creationId xmlns:a16="http://schemas.microsoft.com/office/drawing/2014/main" id="{7316A3B8-7E02-4045-8963-1C17A78CF685}"/>
              </a:ext>
            </a:extLst>
          </p:cNvPr>
          <p:cNvSpPr>
            <a:spLocks noGrp="1"/>
          </p:cNvSpPr>
          <p:nvPr/>
        </p:nvSpPr>
        <p:spPr>
          <a:xfrm>
            <a:off x="971550"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Cóclea</a:t>
            </a:r>
          </a:p>
        </p:txBody>
      </p:sp>
      <p:sp>
        <p:nvSpPr>
          <p:cNvPr id="16" name="U06-DG-064-cell_3-body">
            <a:extLst>
              <a:ext uri="{FF2B5EF4-FFF2-40B4-BE49-F238E27FC236}">
                <a16:creationId xmlns:a16="http://schemas.microsoft.com/office/drawing/2014/main" id="{7D2918BA-91D3-4A07-9EAD-ADF7921E7B0B}"/>
              </a:ext>
            </a:extLst>
          </p:cNvPr>
          <p:cNvSpPr>
            <a:spLocks noGrp="1"/>
          </p:cNvSpPr>
          <p:nvPr/>
        </p:nvSpPr>
        <p:spPr>
          <a:xfrm>
            <a:off x="971550"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fluidos · onda tonotopía</a:t>
            </a:r>
          </a:p>
        </p:txBody>
      </p:sp>
      <p:sp>
        <p:nvSpPr>
          <p:cNvPr id="17" name="U06-DG-064-cell_4-box">
            <a:extLst>
              <a:ext uri="{FF2B5EF4-FFF2-40B4-BE49-F238E27FC236}">
                <a16:creationId xmlns:a16="http://schemas.microsoft.com/office/drawing/2014/main" id="{1AD67205-DCF2-41AF-9233-B4ADD3FC570E}"/>
              </a:ext>
            </a:extLst>
          </p:cNvPr>
          <p:cNvSpPr>
            <a:spLocks noGrp="1"/>
          </p:cNvSpPr>
          <p:nvPr/>
        </p:nvSpPr>
        <p:spPr>
          <a:xfrm>
            <a:off x="6262688" y="3667125"/>
            <a:ext cx="5148263" cy="1809750"/>
          </a:xfrm>
          <a:prstGeom prst="roundRect">
            <a:avLst>
              <a:gd name="adj" fmla="val 5263"/>
            </a:avLst>
          </a:prstGeom>
          <a:solidFill>
            <a:srgbClr val="F8EDE2"/>
          </a:solidFill>
          <a:ln w="19050">
            <a:solidFill>
              <a:srgbClr val="9F541A"/>
            </a:solidFill>
            <a:prstDash val="solid"/>
          </a:ln>
        </p:spPr>
      </p:sp>
      <p:sp>
        <p:nvSpPr>
          <p:cNvPr id="18" name="U06-DG-064-cell_4-title">
            <a:extLst>
              <a:ext uri="{FF2B5EF4-FFF2-40B4-BE49-F238E27FC236}">
                <a16:creationId xmlns:a16="http://schemas.microsoft.com/office/drawing/2014/main" id="{2A86B5A1-83C4-4569-A1A1-CDB5F65952CC}"/>
              </a:ext>
            </a:extLst>
          </p:cNvPr>
          <p:cNvSpPr>
            <a:spLocks noGrp="1"/>
          </p:cNvSpPr>
          <p:nvPr/>
        </p:nvSpPr>
        <p:spPr>
          <a:xfrm>
            <a:off x="6453188" y="3810000"/>
            <a:ext cx="4767263"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Transducción</a:t>
            </a:r>
          </a:p>
        </p:txBody>
      </p:sp>
      <p:sp>
        <p:nvSpPr>
          <p:cNvPr id="19" name="U06-DG-064-cell_4-body">
            <a:extLst>
              <a:ext uri="{FF2B5EF4-FFF2-40B4-BE49-F238E27FC236}">
                <a16:creationId xmlns:a16="http://schemas.microsoft.com/office/drawing/2014/main" id="{B434406A-CC5F-4D7A-AF74-1C022F71B56A}"/>
              </a:ext>
            </a:extLst>
          </p:cNvPr>
          <p:cNvSpPr>
            <a:spLocks noGrp="1"/>
          </p:cNvSpPr>
          <p:nvPr/>
        </p:nvSpPr>
        <p:spPr>
          <a:xfrm>
            <a:off x="6453188" y="4257675"/>
            <a:ext cx="4767263"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CCI · CCE potenciales · nervio</a:t>
            </a:r>
          </a:p>
        </p:txBody>
      </p:sp>
      <p:sp>
        <p:nvSpPr>
          <p:cNvPr id="20" name="caption">
            <a:extLst>
              <a:ext uri="{FF2B5EF4-FFF2-40B4-BE49-F238E27FC236}">
                <a16:creationId xmlns:a16="http://schemas.microsoft.com/office/drawing/2014/main" id="{F5349FF0-D328-449B-8959-4E5CF6C80E4D}"/>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cadena conserva y transforma información mediante etapas físicas, mecánicas…</a:t>
            </a:r>
          </a:p>
        </p:txBody>
      </p:sp>
      <p:sp>
        <p:nvSpPr>
          <p:cNvPr id="21" name="credit">
            <a:extLst>
              <a:ext uri="{FF2B5EF4-FFF2-40B4-BE49-F238E27FC236}">
                <a16:creationId xmlns:a16="http://schemas.microsoft.com/office/drawing/2014/main" id="{4CBFE9F6-5DC1-4031-A137-0A8A415ECE20}"/>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9515302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4D1434"/>
        </a:solidFill>
        <a:effectLst/>
      </p:bgPr>
    </p:bg>
    <p:spTree>
      <p:nvGrpSpPr>
        <p:cNvPr id="1" name=""/>
        <p:cNvGrpSpPr/>
        <p:nvPr/>
      </p:nvGrpSpPr>
      <p:grpSpPr>
        <a:xfrm>
          <a:off x="0" y="0"/>
          <a:ext cx="0" cy="0"/>
          <a:chOff x="0" y="0"/>
          <a:chExt cx="0" cy="0"/>
        </a:xfrm>
      </p:grpSpPr>
      <p:sp>
        <p:nvSpPr>
          <p:cNvPr id="5" name="dark-eyebrow">
            <a:extLst>
              <a:ext uri="{FF2B5EF4-FFF2-40B4-BE49-F238E27FC236}">
                <a16:creationId xmlns:a16="http://schemas.microsoft.com/office/drawing/2014/main" id="{FFE2BD87-2CC6-4EAD-B63B-844BD2AE9E4E}"/>
              </a:ext>
            </a:extLst>
          </p:cNvPr>
          <p:cNvSpPr>
            <a:spLocks noGrp="1"/>
          </p:cNvSpPr>
          <p:nvPr/>
        </p:nvSpPr>
        <p:spPr>
          <a:xfrm>
            <a:off x="523875" y="228600"/>
            <a:ext cx="2381250" cy="228600"/>
          </a:xfrm>
          <a:prstGeom prst="rect">
            <a:avLst/>
          </a:prstGeom>
          <a:noFill/>
          <a:ln w="0">
            <a:noFill/>
            <a:prstDash val="solid"/>
          </a:ln>
        </p:spPr>
        <p:txBody>
          <a:bodyPr wrap="square" lIns="57150" tIns="38100" rIns="57150" bIns="38100" anchor="t">
            <a:noAutofit/>
          </a:bodyPr>
          <a:lstStyle/>
          <a:p>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6 · 105</a:t>
            </a:r>
          </a:p>
        </p:txBody>
      </p:sp>
      <p:sp>
        <p:nvSpPr>
          <p:cNvPr id="2" name="divider-title">
            <a:extLst>
              <a:ext uri="{FF2B5EF4-FFF2-40B4-BE49-F238E27FC236}">
                <a16:creationId xmlns:a16="http://schemas.microsoft.com/office/drawing/2014/main" id="{0903FDDD-1160-4DAF-A9D3-A552E5177B28}"/>
              </a:ext>
            </a:extLst>
          </p:cNvPr>
          <p:cNvSpPr>
            <a:spLocks noGrp="1"/>
          </p:cNvSpPr>
          <p:nvPr/>
        </p:nvSpPr>
        <p:spPr>
          <a:xfrm>
            <a:off x="762000" y="2143125"/>
            <a:ext cx="10668000" cy="1095375"/>
          </a:xfrm>
          <a:prstGeom prst="rect">
            <a:avLst/>
          </a:prstGeom>
          <a:noFill/>
          <a:ln w="0">
            <a:noFill/>
            <a:prstDash val="solid"/>
          </a:ln>
        </p:spPr>
        <p:txBody>
          <a:bodyPr wrap="square" lIns="57150" tIns="38100" rIns="57150" bIns="38100" anchor="ctr">
            <a:noAutofit/>
          </a:bodyPr>
          <a:lstStyle/>
          <a:p>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La periferia condiciona la percepción, pero no la agota</a:t>
            </a:r>
          </a:p>
        </p:txBody>
      </p:sp>
      <p:sp>
        <p:nvSpPr>
          <p:cNvPr id="3" name="divider-subtitle">
            <a:extLst>
              <a:ext uri="{FF2B5EF4-FFF2-40B4-BE49-F238E27FC236}">
                <a16:creationId xmlns:a16="http://schemas.microsoft.com/office/drawing/2014/main" id="{CCB2E2C8-11F7-4EB0-B2C3-3CF78CEE4011}"/>
              </a:ext>
            </a:extLst>
          </p:cNvPr>
          <p:cNvSpPr>
            <a:spLocks noGrp="1"/>
          </p:cNvSpPr>
          <p:nvPr/>
        </p:nvSpPr>
        <p:spPr>
          <a:xfrm>
            <a:off x="1571625" y="3524250"/>
            <a:ext cx="9048750" cy="619125"/>
          </a:xfrm>
          <a:prstGeom prst="rect">
            <a:avLst/>
          </a:prstGeom>
          <a:noFill/>
          <a:ln w="0">
            <a:noFill/>
            <a:prstDash val="solid"/>
          </a:ln>
        </p:spPr>
        <p:txBody>
          <a:bodyPr wrap="square" lIns="57150" tIns="38100" rIns="57150" bIns="38100" anchor="t">
            <a:noAutofit/>
          </a:bodyPr>
          <a:lstStyle/>
          <a:p>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U6 explica mecanismos periféricos; U7 estudiará atributos subjetivos y U8 sus mediciones/aplicaciones.</a:t>
            </a:r>
          </a:p>
        </p:txBody>
      </p:sp>
      <p:sp>
        <p:nvSpPr>
          <p:cNvPr id="4" name="divider-content">
            <a:extLst>
              <a:ext uri="{FF2B5EF4-FFF2-40B4-BE49-F238E27FC236}">
                <a16:creationId xmlns:a16="http://schemas.microsoft.com/office/drawing/2014/main" id="{FEDA711F-459E-4B9B-B0E1-CA745F50E357}"/>
              </a:ext>
            </a:extLst>
          </p:cNvPr>
          <p:cNvSpPr>
            <a:spLocks noGrp="1"/>
          </p:cNvSpPr>
          <p:nvPr/>
        </p:nvSpPr>
        <p:spPr>
          <a:xfrm>
            <a:off x="2095500" y="4476750"/>
            <a:ext cx="8001000" cy="714375"/>
          </a:xfrm>
          <a:prstGeom prst="rect">
            <a:avLst/>
          </a:prstGeom>
          <a:noFill/>
          <a:ln w="0">
            <a:noFill/>
            <a:prstDash val="solid"/>
          </a:ln>
        </p:spPr>
        <p:txBody>
          <a:bodyPr wrap="square" lIns="57150" tIns="38100" rIns="57150" bIns="38100" anchor="t">
            <a:noAutofit/>
          </a:bodyPr>
          <a:lstStyle/>
          <a:p>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Ahora podemos explicar la cadena periférica y sus transformaciones. Todavía no podemos deducir percepción completa ni diagnóstico desde una respuesta aislada. Próximas preguntas: ¿cómo emerge la experiencia?, ¿cómo se mide clínicamente?</a:t>
            </a:r>
          </a:p>
        </p:txBody>
      </p:sp>
    </p:spTree>
    <p:extLst>
      <p:ext uri="{BB962C8B-B14F-4D97-AF65-F5344CB8AC3E}">
        <p14:creationId xmlns:p14="http://schemas.microsoft.com/office/powerpoint/2010/main" val="8801129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F85E84C0-F44C-4BDD-860D-4E5B264F5874}"/>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Cómo usar las slides de respaldo</a:t>
            </a:r>
          </a:p>
        </p:txBody>
      </p:sp>
      <p:sp>
        <p:nvSpPr>
          <p:cNvPr id="2" name="slide-subtitle">
            <a:extLst>
              <a:ext uri="{FF2B5EF4-FFF2-40B4-BE49-F238E27FC236}">
                <a16:creationId xmlns:a16="http://schemas.microsoft.com/office/drawing/2014/main" id="{33E0165E-1032-47D0-A343-64471F8AAA27}"/>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respaldo amplía vocabulario, cálculos, mecanismos y fuentes; no constituye un bloque obligatorio.</a:t>
            </a:r>
          </a:p>
        </p:txBody>
      </p:sp>
      <p:sp>
        <p:nvSpPr>
          <p:cNvPr id="3" name="eyebrow">
            <a:extLst>
              <a:ext uri="{FF2B5EF4-FFF2-40B4-BE49-F238E27FC236}">
                <a16:creationId xmlns:a16="http://schemas.microsoft.com/office/drawing/2014/main" id="{57CDE2CA-1A68-4178-B51F-9A32BB3278EE}"/>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106</a:t>
            </a:r>
          </a:p>
        </p:txBody>
      </p:sp>
      <p:sp>
        <p:nvSpPr>
          <p:cNvPr id="4" name="main-ideas">
            <a:extLst>
              <a:ext uri="{FF2B5EF4-FFF2-40B4-BE49-F238E27FC236}">
                <a16:creationId xmlns:a16="http://schemas.microsoft.com/office/drawing/2014/main" id="{E8172EB9-BFD4-436B-B030-7247A7FC011E}"/>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Consultar según la duda: terminología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notación</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cálculos</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conducción ósea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electroquímica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reflejo fuentes anatómicas.</a:t>
            </a:r>
          </a:p>
        </p:txBody>
      </p:sp>
      <p:sp>
        <p:nvSpPr>
          <p:cNvPr id="5" name="side-panel-box">
            <a:extLst>
              <a:ext uri="{FF2B5EF4-FFF2-40B4-BE49-F238E27FC236}">
                <a16:creationId xmlns:a16="http://schemas.microsoft.com/office/drawing/2014/main" id="{3E70F1CA-E276-4DBC-BDE3-69B0285145AD}"/>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4907DD57-F78B-44B5-A43F-1C7A34EB1329}"/>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170D3AAA-B481-41C9-846D-565F3FA265E7}"/>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respaldo amplía vocabulario, cálculos, mecanismos y fuentes; no constituye un bloque obligatorio.</a:t>
            </a:r>
          </a:p>
        </p:txBody>
      </p:sp>
      <p:sp>
        <p:nvSpPr>
          <p:cNvPr id="8" name="caption">
            <a:extLst>
              <a:ext uri="{FF2B5EF4-FFF2-40B4-BE49-F238E27FC236}">
                <a16:creationId xmlns:a16="http://schemas.microsoft.com/office/drawing/2014/main" id="{3A03CE31-C2E3-4F0E-A8EF-D5E0710723A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El respaldo amplía vocabulario, cálculos, mecanismos y fuentes; no constituye un bloque obligatorio.</a:t>
            </a:r>
          </a:p>
        </p:txBody>
      </p:sp>
      <p:sp>
        <p:nvSpPr>
          <p:cNvPr id="9" name="credit">
            <a:extLst>
              <a:ext uri="{FF2B5EF4-FFF2-40B4-BE49-F238E27FC236}">
                <a16:creationId xmlns:a16="http://schemas.microsoft.com/office/drawing/2014/main" id="{ADF24E87-47F5-4755-AD84-4DEC94974D4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BR; US.</a:t>
            </a:r>
          </a:p>
        </p:txBody>
      </p:sp>
    </p:spTree>
    <p:extLst>
      <p:ext uri="{BB962C8B-B14F-4D97-AF65-F5344CB8AC3E}">
        <p14:creationId xmlns:p14="http://schemas.microsoft.com/office/powerpoint/2010/main" val="31302185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5BFCD2AA-5807-45F8-A521-9C7371F67D37}"/>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Terminología anatómica: equivalencias controladas</a:t>
            </a:r>
          </a:p>
        </p:txBody>
      </p:sp>
      <p:sp>
        <p:nvSpPr>
          <p:cNvPr id="2" name="slide-subtitle">
            <a:extLst>
              <a:ext uri="{FF2B5EF4-FFF2-40B4-BE49-F238E27FC236}">
                <a16:creationId xmlns:a16="http://schemas.microsoft.com/office/drawing/2014/main" id="{4E71388A-3BF0-4F66-8D94-A47185AF5B86}"/>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Términos equivalentes deben definirse una vez y usarse con consistencia.</a:t>
            </a:r>
          </a:p>
        </p:txBody>
      </p:sp>
      <p:sp>
        <p:nvSpPr>
          <p:cNvPr id="3" name="eyebrow">
            <a:extLst>
              <a:ext uri="{FF2B5EF4-FFF2-40B4-BE49-F238E27FC236}">
                <a16:creationId xmlns:a16="http://schemas.microsoft.com/office/drawing/2014/main" id="{0EDC6603-9714-44A3-B5A3-547289457684}"/>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107</a:t>
            </a:r>
          </a:p>
        </p:txBody>
      </p:sp>
      <p:sp>
        <p:nvSpPr>
          <p:cNvPr id="4" name="main-ideas">
            <a:extLst>
              <a:ext uri="{FF2B5EF4-FFF2-40B4-BE49-F238E27FC236}">
                <a16:creationId xmlns:a16="http://schemas.microsoft.com/office/drawing/2014/main" id="{ABF4C0E1-F115-4CB1-A019-922C2673FF49}"/>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[PROVISIONAL] Conducto auditivo externo (CAE)</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conducto coclear / rampa media / *scala media*</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ventana oval / vestibular</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otoemisión acústica (OEA).</a:t>
            </a:r>
          </a:p>
        </p:txBody>
      </p:sp>
      <p:sp>
        <p:nvSpPr>
          <p:cNvPr id="5" name="side-panel-box">
            <a:extLst>
              <a:ext uri="{FF2B5EF4-FFF2-40B4-BE49-F238E27FC236}">
                <a16:creationId xmlns:a16="http://schemas.microsoft.com/office/drawing/2014/main" id="{EA06495C-A2A9-479E-AD72-667756428940}"/>
              </a:ext>
            </a:extLst>
          </p:cNvPr>
          <p:cNvSpPr>
            <a:spLocks noGrp="1"/>
          </p:cNvSpPr>
          <p:nvPr/>
        </p:nvSpPr>
        <p:spPr>
          <a:xfrm>
            <a:off x="7905750" y="1619250"/>
            <a:ext cx="3571875" cy="3333750"/>
          </a:xfrm>
          <a:prstGeom prst="roundRect">
            <a:avLst>
              <a:gd name="adj" fmla="val 3429"/>
            </a:avLst>
          </a:prstGeom>
          <a:solidFill>
            <a:srgbClr val="F8EDE2"/>
          </a:solidFill>
          <a:ln w="19050">
            <a:solidFill>
              <a:srgbClr val="9F541A"/>
            </a:solidFill>
            <a:prstDash val="solid"/>
          </a:ln>
        </p:spPr>
      </p:sp>
      <p:sp>
        <p:nvSpPr>
          <p:cNvPr id="6" name="side-panel-title">
            <a:extLst>
              <a:ext uri="{FF2B5EF4-FFF2-40B4-BE49-F238E27FC236}">
                <a16:creationId xmlns:a16="http://schemas.microsoft.com/office/drawing/2014/main" id="{F8ABC46D-BD39-4FAD-82E0-7EC245CCFBC9}"/>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Idea central</a:t>
            </a:r>
          </a:p>
        </p:txBody>
      </p:sp>
      <p:sp>
        <p:nvSpPr>
          <p:cNvPr id="7" name="side-panel-body">
            <a:extLst>
              <a:ext uri="{FF2B5EF4-FFF2-40B4-BE49-F238E27FC236}">
                <a16:creationId xmlns:a16="http://schemas.microsoft.com/office/drawing/2014/main" id="{06249395-F545-4B95-807E-D68AAC8F8A1E}"/>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Términos equivalentes deben definirse una vez y usarse con consistencia.</a:t>
            </a:r>
          </a:p>
        </p:txBody>
      </p:sp>
      <p:sp>
        <p:nvSpPr>
          <p:cNvPr id="8" name="caption">
            <a:extLst>
              <a:ext uri="{FF2B5EF4-FFF2-40B4-BE49-F238E27FC236}">
                <a16:creationId xmlns:a16="http://schemas.microsoft.com/office/drawing/2014/main" id="{AD2B6F05-41DC-406B-8ADA-3C97981E1383}"/>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Términos equivalentes deben definirse una vez y usarse con consistencia.</a:t>
            </a:r>
          </a:p>
        </p:txBody>
      </p:sp>
      <p:sp>
        <p:nvSpPr>
          <p:cNvPr id="9" name="credit">
            <a:extLst>
              <a:ext uri="{FF2B5EF4-FFF2-40B4-BE49-F238E27FC236}">
                <a16:creationId xmlns:a16="http://schemas.microsoft.com/office/drawing/2014/main" id="{1E766C7E-4C21-4BEB-A091-96E5D16E5326}"/>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GLO; NG; OD-U06-06; TEX; PO.</a:t>
            </a:r>
          </a:p>
        </p:txBody>
      </p:sp>
    </p:spTree>
    <p:extLst>
      <p:ext uri="{BB962C8B-B14F-4D97-AF65-F5344CB8AC3E}">
        <p14:creationId xmlns:p14="http://schemas.microsoft.com/office/powerpoint/2010/main" val="346191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8EC7BDE4-782B-481D-B742-A127120D0E6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Cruce provisional de símbolos de área y presión</a:t>
            </a:r>
          </a:p>
        </p:txBody>
      </p:sp>
      <p:sp>
        <p:nvSpPr>
          <p:cNvPr id="2" name="slide-subtitle">
            <a:extLst>
              <a:ext uri="{FF2B5EF4-FFF2-40B4-BE49-F238E27FC236}">
                <a16:creationId xmlns:a16="http://schemas.microsoft.com/office/drawing/2014/main" id="{1139BA55-95F4-4E2D-8FF7-3CB6A367289D}"/>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S debe reservarse para área y el cociente del oído medio necesita un símbolo no confundible con reflexión.</a:t>
            </a:r>
          </a:p>
        </p:txBody>
      </p:sp>
      <p:sp>
        <p:nvSpPr>
          <p:cNvPr id="3" name="eyebrow">
            <a:extLst>
              <a:ext uri="{FF2B5EF4-FFF2-40B4-BE49-F238E27FC236}">
                <a16:creationId xmlns:a16="http://schemas.microsoft.com/office/drawing/2014/main" id="{1D981930-885A-46AC-B691-B71B5CA0B051}"/>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108</a:t>
            </a:r>
          </a:p>
        </p:txBody>
      </p:sp>
      <p:sp>
        <p:nvSpPr>
          <p:cNvPr id="4" name="main-ideas">
            <a:extLst>
              <a:ext uri="{FF2B5EF4-FFF2-40B4-BE49-F238E27FC236}">
                <a16:creationId xmlns:a16="http://schemas.microsoft.com/office/drawing/2014/main" id="{248707CA-EA70-42B1-BDB0-3BE499FA9B9E}"/>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[PROVISIONAL] Fuente: A, A_TM, A_E, R_p.</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Curso propuesto: S, S_TM, S_E, M_p.</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Reservar R_p para reflexión de presión.</a:t>
            </a:r>
          </a:p>
        </p:txBody>
      </p:sp>
      <p:sp>
        <p:nvSpPr>
          <p:cNvPr id="5" name="side-panel-box">
            <a:extLst>
              <a:ext uri="{FF2B5EF4-FFF2-40B4-BE49-F238E27FC236}">
                <a16:creationId xmlns:a16="http://schemas.microsoft.com/office/drawing/2014/main" id="{8E0D826C-63F2-49D2-84B4-06E9900D1814}"/>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042E4C23-A609-4743-B90F-0095829D26D4}"/>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362B3DF4-6E19-48D7-8DCD-54AF307475E2}"/>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S debe reservarse para área y el cociente del oído medio necesita un símbolo no confundible con reflexión.</a:t>
            </a:r>
          </a:p>
        </p:txBody>
      </p:sp>
      <p:sp>
        <p:nvSpPr>
          <p:cNvPr id="8" name="caption">
            <a:extLst>
              <a:ext uri="{FF2B5EF4-FFF2-40B4-BE49-F238E27FC236}">
                <a16:creationId xmlns:a16="http://schemas.microsoft.com/office/drawing/2014/main" id="{2395CCB0-137F-431D-A507-739EC393BBCB}"/>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S debe reservarse para área y el cociente del oído medio necesita un símbolo no…</a:t>
            </a:r>
          </a:p>
        </p:txBody>
      </p:sp>
      <p:sp>
        <p:nvSpPr>
          <p:cNvPr id="9" name="credit">
            <a:extLst>
              <a:ext uri="{FF2B5EF4-FFF2-40B4-BE49-F238E27FC236}">
                <a16:creationId xmlns:a16="http://schemas.microsoft.com/office/drawing/2014/main" id="{3DE63922-66B3-470D-8D3F-1D2283206482}"/>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6.5; PDF p. 156; NG; OD-U06-07/08.</a:t>
            </a:r>
          </a:p>
        </p:txBody>
      </p:sp>
    </p:spTree>
    <p:extLst>
      <p:ext uri="{BB962C8B-B14F-4D97-AF65-F5344CB8AC3E}">
        <p14:creationId xmlns:p14="http://schemas.microsoft.com/office/powerpoint/2010/main" val="3461911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646A2212-DAC1-4958-B85D-A3AB8F5877D7}"/>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G1: resonancia aproximada del CAE</a:t>
            </a:r>
          </a:p>
        </p:txBody>
      </p:sp>
      <p:sp>
        <p:nvSpPr>
          <p:cNvPr id="2" name="slide-subtitle">
            <a:extLst>
              <a:ext uri="{FF2B5EF4-FFF2-40B4-BE49-F238E27FC236}">
                <a16:creationId xmlns:a16="http://schemas.microsoft.com/office/drawing/2014/main" id="{168B1D2D-3644-4AB8-88CB-CB88D1C0AA04}"/>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modelo de cuarto de onda exige declarar longitud efectiva, velocidad y condición de contorno.</a:t>
            </a:r>
          </a:p>
        </p:txBody>
      </p:sp>
      <p:sp>
        <p:nvSpPr>
          <p:cNvPr id="3" name="eyebrow">
            <a:extLst>
              <a:ext uri="{FF2B5EF4-FFF2-40B4-BE49-F238E27FC236}">
                <a16:creationId xmlns:a16="http://schemas.microsoft.com/office/drawing/2014/main" id="{E84BD3A2-8D11-4658-BA13-14CF2009F78B}"/>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109</a:t>
            </a:r>
          </a:p>
        </p:txBody>
      </p:sp>
      <p:sp>
        <p:nvSpPr>
          <p:cNvPr id="4" name="U06-DG-009B-stage_1-anchor">
            <a:extLst>
              <a:ext uri="{FF2B5EF4-FFF2-40B4-BE49-F238E27FC236}">
                <a16:creationId xmlns:a16="http://schemas.microsoft.com/office/drawing/2014/main" id="{93C9C796-8B49-4CCB-9BD4-261B2DD1F53F}"/>
              </a:ext>
            </a:extLst>
          </p:cNvPr>
          <p:cNvSpPr>
            <a:spLocks noGrp="1"/>
          </p:cNvSpPr>
          <p:nvPr/>
        </p:nvSpPr>
        <p:spPr>
          <a:xfrm>
            <a:off x="781050" y="2428875"/>
            <a:ext cx="2428875" cy="1666875"/>
          </a:xfrm>
          <a:prstGeom prst="roundRect">
            <a:avLst>
              <a:gd name="adj" fmla="val 5714"/>
            </a:avLst>
          </a:prstGeom>
          <a:noFill/>
          <a:ln w="0">
            <a:noFill/>
            <a:prstDash val="solid"/>
          </a:ln>
        </p:spPr>
      </p:sp>
      <p:sp>
        <p:nvSpPr>
          <p:cNvPr id="5" name="U06-DG-009B-stage_2-anchor">
            <a:extLst>
              <a:ext uri="{FF2B5EF4-FFF2-40B4-BE49-F238E27FC236}">
                <a16:creationId xmlns:a16="http://schemas.microsoft.com/office/drawing/2014/main" id="{A9932DEB-2880-4BAF-93BC-2931D618AFC3}"/>
              </a:ext>
            </a:extLst>
          </p:cNvPr>
          <p:cNvSpPr>
            <a:spLocks noGrp="1"/>
          </p:cNvSpPr>
          <p:nvPr/>
        </p:nvSpPr>
        <p:spPr>
          <a:xfrm>
            <a:off x="3514725" y="2428875"/>
            <a:ext cx="2428875" cy="1666875"/>
          </a:xfrm>
          <a:prstGeom prst="roundRect">
            <a:avLst>
              <a:gd name="adj" fmla="val 5714"/>
            </a:avLst>
          </a:prstGeom>
          <a:noFill/>
          <a:ln w="0">
            <a:noFill/>
            <a:prstDash val="solid"/>
          </a:ln>
        </p:spPr>
      </p:sp>
      <p:sp>
        <p:nvSpPr>
          <p:cNvPr id="6" name="U06-DG-009B-stage_3-anchor">
            <a:extLst>
              <a:ext uri="{FF2B5EF4-FFF2-40B4-BE49-F238E27FC236}">
                <a16:creationId xmlns:a16="http://schemas.microsoft.com/office/drawing/2014/main" id="{954C5688-29EC-4C0D-9F2B-8B9F91946C83}"/>
              </a:ext>
            </a:extLst>
          </p:cNvPr>
          <p:cNvSpPr>
            <a:spLocks noGrp="1"/>
          </p:cNvSpPr>
          <p:nvPr/>
        </p:nvSpPr>
        <p:spPr>
          <a:xfrm>
            <a:off x="6248400" y="2428875"/>
            <a:ext cx="2428875" cy="1666875"/>
          </a:xfrm>
          <a:prstGeom prst="roundRect">
            <a:avLst>
              <a:gd name="adj" fmla="val 5714"/>
            </a:avLst>
          </a:prstGeom>
          <a:noFill/>
          <a:ln w="0">
            <a:noFill/>
            <a:prstDash val="solid"/>
          </a:ln>
        </p:spPr>
      </p:sp>
      <p:sp>
        <p:nvSpPr>
          <p:cNvPr id="7" name="U06-DG-009B-stage_4-anchor">
            <a:extLst>
              <a:ext uri="{FF2B5EF4-FFF2-40B4-BE49-F238E27FC236}">
                <a16:creationId xmlns:a16="http://schemas.microsoft.com/office/drawing/2014/main" id="{F01A7736-F2A8-46F2-9672-68C8385F5537}"/>
              </a:ext>
            </a:extLst>
          </p:cNvPr>
          <p:cNvSpPr>
            <a:spLocks noGrp="1"/>
          </p:cNvSpPr>
          <p:nvPr/>
        </p:nvSpPr>
        <p:spPr>
          <a:xfrm>
            <a:off x="8982075" y="2428875"/>
            <a:ext cx="2428875" cy="1666875"/>
          </a:xfrm>
          <a:prstGeom prst="roundRect">
            <a:avLst>
              <a:gd name="adj" fmla="val 5714"/>
            </a:avLst>
          </a:prstGeom>
          <a:noFill/>
          <a:ln w="0">
            <a:noFill/>
            <a:prstDash val="solid"/>
          </a:ln>
        </p:spPr>
      </p:sp>
      <p:cxnSp>
        <p:nvCxnSpPr>
          <p:cNvPr id="32" name="U06-DG-009B-flow_1"/>
          <p:cNvCxnSpPr>
            <a:stCxn id="4" idx="3"/>
            <a:endCxn id="5" idx="1"/>
          </p:cNvCxnSpPr>
          <p:nvPr/>
        </p:nvCxnSpPr>
        <p:spPr>
          <a:xfrm>
            <a:off x="3209925" y="3262313"/>
            <a:ext cx="304800" cy="0"/>
          </a:xfrm>
          <a:prstGeom prst="straightConnector1">
            <a:avLst/>
          </a:prstGeom>
          <a:ln w="28575">
            <a:solidFill>
              <a:srgbClr val="3D3D3D"/>
            </a:solidFill>
            <a:prstDash val="solid"/>
            <a:tailEnd type="arrow" w="med" len="med"/>
          </a:ln>
        </p:spPr>
      </p:cxnSp>
      <p:cxnSp>
        <p:nvCxnSpPr>
          <p:cNvPr id="33" name="U06-DG-009B-flow_2"/>
          <p:cNvCxnSpPr>
            <a:stCxn id="5" idx="3"/>
            <a:endCxn id="6" idx="1"/>
          </p:cNvCxnSpPr>
          <p:nvPr/>
        </p:nvCxnSpPr>
        <p:spPr>
          <a:xfrm>
            <a:off x="5943600" y="3262313"/>
            <a:ext cx="304800" cy="0"/>
          </a:xfrm>
          <a:prstGeom prst="straightConnector1">
            <a:avLst/>
          </a:prstGeom>
          <a:ln w="28575">
            <a:solidFill>
              <a:srgbClr val="3D3D3D"/>
            </a:solidFill>
            <a:prstDash val="solid"/>
            <a:tailEnd type="arrow" w="med" len="med"/>
          </a:ln>
        </p:spPr>
      </p:cxnSp>
      <p:cxnSp>
        <p:nvCxnSpPr>
          <p:cNvPr id="34" name="U06-DG-009B-flow_3"/>
          <p:cNvCxnSpPr>
            <a:stCxn id="6" idx="3"/>
            <a:endCxn id="7" idx="1"/>
          </p:cNvCxnSpPr>
          <p:nvPr/>
        </p:nvCxnSpPr>
        <p:spPr>
          <a:xfrm>
            <a:off x="8677275" y="3262313"/>
            <a:ext cx="304800" cy="0"/>
          </a:xfrm>
          <a:prstGeom prst="straightConnector1">
            <a:avLst/>
          </a:prstGeom>
          <a:ln w="28575">
            <a:solidFill>
              <a:srgbClr val="3D3D3D"/>
            </a:solidFill>
            <a:prstDash val="solid"/>
            <a:tailEnd type="arrow" w="med" len="med"/>
          </a:ln>
        </p:spPr>
      </p:cxnSp>
      <p:sp>
        <p:nvSpPr>
          <p:cNvPr id="11" name="U06-DG-009B-stage_1-box" descr="Diagrama sobre «G1: resonancia aproximada del CAE»; organiza datos, ecuación, sustitución, unidades, resultado e interpretación limitada." title="Texto alternativo U06-109">
            <a:extLst>
              <a:ext uri="{FF2B5EF4-FFF2-40B4-BE49-F238E27FC236}">
                <a16:creationId xmlns:a16="http://schemas.microsoft.com/office/drawing/2014/main" id="{B3619619-DC0F-4F8F-BD62-002E959C908E}"/>
              </a:ext>
            </a:extLst>
          </p:cNvPr>
          <p:cNvSpPr>
            <a:spLocks noGrp="1"/>
          </p:cNvSpPr>
          <p:nvPr/>
        </p:nvSpPr>
        <p:spPr>
          <a:xfrm>
            <a:off x="781050" y="2428875"/>
            <a:ext cx="2428875" cy="1666875"/>
          </a:xfrm>
          <a:prstGeom prst="roundRect">
            <a:avLst>
              <a:gd name="adj" fmla="val 5714"/>
            </a:avLst>
          </a:prstGeom>
          <a:solidFill>
            <a:srgbClr val="F7F6F2"/>
          </a:solidFill>
          <a:ln w="19050">
            <a:solidFill>
              <a:srgbClr val="969FA7"/>
            </a:solidFill>
            <a:prstDash val="solid"/>
          </a:ln>
        </p:spPr>
      </p:sp>
      <p:sp>
        <p:nvSpPr>
          <p:cNvPr id="12" name="U06-DG-009B-stage_1-title">
            <a:extLst>
              <a:ext uri="{FF2B5EF4-FFF2-40B4-BE49-F238E27FC236}">
                <a16:creationId xmlns:a16="http://schemas.microsoft.com/office/drawing/2014/main" id="{3F4CF4CD-7983-4773-9855-651D8CA5FA77}"/>
              </a:ext>
            </a:extLst>
          </p:cNvPr>
          <p:cNvSpPr>
            <a:spLocks noGrp="1"/>
          </p:cNvSpPr>
          <p:nvPr/>
        </p:nvSpPr>
        <p:spPr>
          <a:xfrm>
            <a:off x="971550" y="2571750"/>
            <a:ext cx="2047875"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1 · Longitud</a:t>
            </a:r>
          </a:p>
        </p:txBody>
      </p:sp>
      <p:sp>
        <p:nvSpPr>
          <p:cNvPr id="13" name="U06-DG-009B-stage_1-body">
            <a:extLst>
              <a:ext uri="{FF2B5EF4-FFF2-40B4-BE49-F238E27FC236}">
                <a16:creationId xmlns:a16="http://schemas.microsoft.com/office/drawing/2014/main" id="{B6E2F27E-840D-4D8D-82AB-FB6807EC11DF}"/>
              </a:ext>
            </a:extLst>
          </p:cNvPr>
          <p:cNvSpPr>
            <a:spLocks noGrp="1"/>
          </p:cNvSpPr>
          <p:nvPr/>
        </p:nvSpPr>
        <p:spPr>
          <a:xfrm>
            <a:off x="971550" y="3019425"/>
            <a:ext cx="2047875" cy="98107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ℓ = 27 mm</a:t>
            </a:r>
          </a:p>
        </p:txBody>
      </p:sp>
      <p:sp>
        <p:nvSpPr>
          <p:cNvPr id="14" name="U06-DG-009B-stage_2-box">
            <a:extLst>
              <a:ext uri="{FF2B5EF4-FFF2-40B4-BE49-F238E27FC236}">
                <a16:creationId xmlns:a16="http://schemas.microsoft.com/office/drawing/2014/main" id="{A802DBD6-36B8-4EFF-8526-74A8B5798917}"/>
              </a:ext>
            </a:extLst>
          </p:cNvPr>
          <p:cNvSpPr>
            <a:spLocks noGrp="1"/>
          </p:cNvSpPr>
          <p:nvPr/>
        </p:nvSpPr>
        <p:spPr>
          <a:xfrm>
            <a:off x="3514725" y="2428875"/>
            <a:ext cx="2428875" cy="1666875"/>
          </a:xfrm>
          <a:prstGeom prst="roundRect">
            <a:avLst>
              <a:gd name="adj" fmla="val 5714"/>
            </a:avLst>
          </a:prstGeom>
          <a:solidFill>
            <a:srgbClr val="E7F1F1"/>
          </a:solidFill>
          <a:ln w="19050">
            <a:solidFill>
              <a:srgbClr val="2F7E83"/>
            </a:solidFill>
            <a:prstDash val="solid"/>
          </a:ln>
        </p:spPr>
      </p:sp>
      <p:sp>
        <p:nvSpPr>
          <p:cNvPr id="15" name="U06-DG-009B-stage_2-title">
            <a:extLst>
              <a:ext uri="{FF2B5EF4-FFF2-40B4-BE49-F238E27FC236}">
                <a16:creationId xmlns:a16="http://schemas.microsoft.com/office/drawing/2014/main" id="{7C341AF9-D433-4DFF-90AD-B32159DA6A3C}"/>
              </a:ext>
            </a:extLst>
          </p:cNvPr>
          <p:cNvSpPr>
            <a:spLocks noGrp="1"/>
          </p:cNvSpPr>
          <p:nvPr/>
        </p:nvSpPr>
        <p:spPr>
          <a:xfrm>
            <a:off x="370522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2 · Convertir</a:t>
            </a:r>
          </a:p>
        </p:txBody>
      </p:sp>
      <p:sp>
        <p:nvSpPr>
          <p:cNvPr id="16" name="U06-DG-009B-stage_2-body">
            <a:extLst>
              <a:ext uri="{FF2B5EF4-FFF2-40B4-BE49-F238E27FC236}">
                <a16:creationId xmlns:a16="http://schemas.microsoft.com/office/drawing/2014/main" id="{446735DE-F40C-4657-845E-E440ABD8B3B8}"/>
              </a:ext>
            </a:extLst>
          </p:cNvPr>
          <p:cNvSpPr>
            <a:spLocks noGrp="1"/>
          </p:cNvSpPr>
          <p:nvPr/>
        </p:nvSpPr>
        <p:spPr>
          <a:xfrm>
            <a:off x="370522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0,027 m</a:t>
            </a:r>
          </a:p>
        </p:txBody>
      </p:sp>
      <p:sp>
        <p:nvSpPr>
          <p:cNvPr id="17" name="U06-DG-009B-stage_3-box">
            <a:extLst>
              <a:ext uri="{FF2B5EF4-FFF2-40B4-BE49-F238E27FC236}">
                <a16:creationId xmlns:a16="http://schemas.microsoft.com/office/drawing/2014/main" id="{3E87FEA5-33F9-48AF-85B1-70B18538AE76}"/>
              </a:ext>
            </a:extLst>
          </p:cNvPr>
          <p:cNvSpPr>
            <a:spLocks noGrp="1"/>
          </p:cNvSpPr>
          <p:nvPr/>
        </p:nvSpPr>
        <p:spPr>
          <a:xfrm>
            <a:off x="6248400" y="2428875"/>
            <a:ext cx="2428875" cy="1666875"/>
          </a:xfrm>
          <a:prstGeom prst="roundRect">
            <a:avLst>
              <a:gd name="adj" fmla="val 5714"/>
            </a:avLst>
          </a:prstGeom>
          <a:solidFill>
            <a:srgbClr val="F4E9EF"/>
          </a:solidFill>
          <a:ln w="19050">
            <a:solidFill>
              <a:srgbClr val="4D1434"/>
            </a:solidFill>
            <a:prstDash val="solid"/>
          </a:ln>
        </p:spPr>
      </p:sp>
      <p:sp>
        <p:nvSpPr>
          <p:cNvPr id="18" name="U06-DG-009B-stage_3-title">
            <a:extLst>
              <a:ext uri="{FF2B5EF4-FFF2-40B4-BE49-F238E27FC236}">
                <a16:creationId xmlns:a16="http://schemas.microsoft.com/office/drawing/2014/main" id="{AA878BC3-8A1C-4365-8AEC-6EF1A195DE26}"/>
              </a:ext>
            </a:extLst>
          </p:cNvPr>
          <p:cNvSpPr>
            <a:spLocks noGrp="1"/>
          </p:cNvSpPr>
          <p:nvPr/>
        </p:nvSpPr>
        <p:spPr>
          <a:xfrm>
            <a:off x="6438900"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3 · Sustituir</a:t>
            </a:r>
          </a:p>
        </p:txBody>
      </p:sp>
      <p:sp>
        <p:nvSpPr>
          <p:cNvPr id="19" name="U06-DG-009B-stage_3-body">
            <a:extLst>
              <a:ext uri="{FF2B5EF4-FFF2-40B4-BE49-F238E27FC236}">
                <a16:creationId xmlns:a16="http://schemas.microsoft.com/office/drawing/2014/main" id="{90AE09B2-610D-43C4-B1D6-E3B78A0A44A4}"/>
              </a:ext>
            </a:extLst>
          </p:cNvPr>
          <p:cNvSpPr>
            <a:spLocks noGrp="1"/>
          </p:cNvSpPr>
          <p:nvPr/>
        </p:nvSpPr>
        <p:spPr>
          <a:xfrm>
            <a:off x="6438900"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343/(4·0,027)</a:t>
            </a:r>
          </a:p>
        </p:txBody>
      </p:sp>
      <p:sp>
        <p:nvSpPr>
          <p:cNvPr id="20" name="U06-DG-009B-stage_4-box">
            <a:extLst>
              <a:ext uri="{FF2B5EF4-FFF2-40B4-BE49-F238E27FC236}">
                <a16:creationId xmlns:a16="http://schemas.microsoft.com/office/drawing/2014/main" id="{F0154DB0-E8D3-4107-B356-FD572612D64F}"/>
              </a:ext>
            </a:extLst>
          </p:cNvPr>
          <p:cNvSpPr>
            <a:spLocks noGrp="1"/>
          </p:cNvSpPr>
          <p:nvPr/>
        </p:nvSpPr>
        <p:spPr>
          <a:xfrm>
            <a:off x="8982075" y="2428875"/>
            <a:ext cx="2428875" cy="1666875"/>
          </a:xfrm>
          <a:prstGeom prst="roundRect">
            <a:avLst>
              <a:gd name="adj" fmla="val 5714"/>
            </a:avLst>
          </a:prstGeom>
          <a:solidFill>
            <a:srgbClr val="F8EDE2"/>
          </a:solidFill>
          <a:ln w="19050">
            <a:solidFill>
              <a:srgbClr val="9F541A"/>
            </a:solidFill>
            <a:prstDash val="solid"/>
          </a:ln>
        </p:spPr>
      </p:sp>
      <p:sp>
        <p:nvSpPr>
          <p:cNvPr id="21" name="U06-DG-009B-stage_4-title">
            <a:extLst>
              <a:ext uri="{FF2B5EF4-FFF2-40B4-BE49-F238E27FC236}">
                <a16:creationId xmlns:a16="http://schemas.microsoft.com/office/drawing/2014/main" id="{DA510F78-2753-4ECA-AD5D-C01B8F0127C7}"/>
              </a:ext>
            </a:extLst>
          </p:cNvPr>
          <p:cNvSpPr>
            <a:spLocks noGrp="1"/>
          </p:cNvSpPr>
          <p:nvPr/>
        </p:nvSpPr>
        <p:spPr>
          <a:xfrm>
            <a:off x="9172575" y="2571750"/>
            <a:ext cx="2047875"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4 · Resultado</a:t>
            </a:r>
          </a:p>
        </p:txBody>
      </p:sp>
      <p:sp>
        <p:nvSpPr>
          <p:cNvPr id="22" name="U06-DG-009B-stage_4-body">
            <a:extLst>
              <a:ext uri="{FF2B5EF4-FFF2-40B4-BE49-F238E27FC236}">
                <a16:creationId xmlns:a16="http://schemas.microsoft.com/office/drawing/2014/main" id="{80712D88-C6F0-4CAB-AEEB-6F24B93EA5F8}"/>
              </a:ext>
            </a:extLst>
          </p:cNvPr>
          <p:cNvSpPr>
            <a:spLocks noGrp="1"/>
          </p:cNvSpPr>
          <p:nvPr/>
        </p:nvSpPr>
        <p:spPr>
          <a:xfrm>
            <a:off x="9172575" y="3343275"/>
            <a:ext cx="2047875" cy="657225"/>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 3,18 kHz</a:t>
            </a:r>
          </a:p>
        </p:txBody>
      </p:sp>
      <p:sp>
        <p:nvSpPr>
          <p:cNvPr id="23" name="caption">
            <a:extLst>
              <a:ext uri="{FF2B5EF4-FFF2-40B4-BE49-F238E27FC236}">
                <a16:creationId xmlns:a16="http://schemas.microsoft.com/office/drawing/2014/main" id="{77D769AB-39DB-494E-B3F1-4C6A5067AC58}"/>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modelo de cuarto de onda exige declarar longitud efectiva, velocidad y condic…</a:t>
            </a:r>
          </a:p>
        </p:txBody>
      </p:sp>
      <p:sp>
        <p:nvSpPr>
          <p:cNvPr id="24" name="credit">
            <a:extLst>
              <a:ext uri="{FF2B5EF4-FFF2-40B4-BE49-F238E27FC236}">
                <a16:creationId xmlns:a16="http://schemas.microsoft.com/office/drawing/2014/main" id="{6A3F8362-C16D-449A-81F1-1BECA58D85B3}"/>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16732971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756D752-04DE-4494-8C35-51CBC56110FE}"/>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G2: presión a fuerza sobre el tímpano</a:t>
            </a:r>
          </a:p>
        </p:txBody>
      </p:sp>
      <p:sp>
        <p:nvSpPr>
          <p:cNvPr id="2" name="slide-subtitle">
            <a:extLst>
              <a:ext uri="{FF2B5EF4-FFF2-40B4-BE49-F238E27FC236}">
                <a16:creationId xmlns:a16="http://schemas.microsoft.com/office/drawing/2014/main" id="{9CD97B9E-29FD-46BA-9551-78F8BB32B0C4}"/>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F≈Δp·S es una aproximación que conecta presión y fuerza sin describir el movimiento.</a:t>
            </a:r>
          </a:p>
        </p:txBody>
      </p:sp>
      <p:sp>
        <p:nvSpPr>
          <p:cNvPr id="3" name="eyebrow">
            <a:extLst>
              <a:ext uri="{FF2B5EF4-FFF2-40B4-BE49-F238E27FC236}">
                <a16:creationId xmlns:a16="http://schemas.microsoft.com/office/drawing/2014/main" id="{78617F02-E3F7-4C04-BB66-DEADA5F50A27}"/>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110</a:t>
            </a:r>
          </a:p>
        </p:txBody>
      </p:sp>
      <p:sp>
        <p:nvSpPr>
          <p:cNvPr id="4" name="question-box">
            <a:extLst>
              <a:ext uri="{FF2B5EF4-FFF2-40B4-BE49-F238E27FC236}">
                <a16:creationId xmlns:a16="http://schemas.microsoft.com/office/drawing/2014/main" id="{0EB3AED5-2495-4130-BAA9-E8B70E5CA980}"/>
              </a:ext>
            </a:extLst>
          </p:cNvPr>
          <p:cNvSpPr>
            <a:spLocks noGrp="1"/>
          </p:cNvSpPr>
          <p:nvPr/>
        </p:nvSpPr>
        <p:spPr>
          <a:xfrm>
            <a:off x="685800" y="1571625"/>
            <a:ext cx="7191375" cy="3476625"/>
          </a:xfrm>
          <a:prstGeom prst="roundRect">
            <a:avLst>
              <a:gd name="adj" fmla="val 3288"/>
            </a:avLst>
          </a:prstGeom>
          <a:solidFill>
            <a:srgbClr val="F4E9EF"/>
          </a:solidFill>
          <a:ln w="19050">
            <a:solidFill>
              <a:srgbClr val="4D1434"/>
            </a:solidFill>
            <a:prstDash val="solid"/>
          </a:ln>
        </p:spPr>
      </p:sp>
      <p:sp>
        <p:nvSpPr>
          <p:cNvPr id="5" name="question-title">
            <a:extLst>
              <a:ext uri="{FF2B5EF4-FFF2-40B4-BE49-F238E27FC236}">
                <a16:creationId xmlns:a16="http://schemas.microsoft.com/office/drawing/2014/main" id="{8E218739-2EE8-42DF-8628-879BE51D8F98}"/>
              </a:ext>
            </a:extLst>
          </p:cNvPr>
          <p:cNvSpPr>
            <a:spLocks noGrp="1"/>
          </p:cNvSpPr>
          <p:nvPr/>
        </p:nvSpPr>
        <p:spPr>
          <a:xfrm>
            <a:off x="857250" y="1704975"/>
            <a:ext cx="6848475" cy="361950"/>
          </a:xfrm>
          <a:prstGeom prst="rect">
            <a:avLst/>
          </a:prstGeom>
          <a:noFill/>
          <a:ln w="0">
            <a:noFill/>
            <a:prstDash val="solid"/>
          </a:ln>
        </p:spPr>
        <p:txBody>
          <a:bodyPr wrap="square" lIns="0" tIns="0" rIns="0" bIns="0" anchor="t">
            <a:noAutofit/>
          </a:bodyPr>
          <a:lstStyle/>
          <a:p>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6" name="question-body">
            <a:extLst>
              <a:ext uri="{FF2B5EF4-FFF2-40B4-BE49-F238E27FC236}">
                <a16:creationId xmlns:a16="http://schemas.microsoft.com/office/drawing/2014/main" id="{83218EFF-024E-45F3-AA23-33B657115E46}"/>
              </a:ext>
            </a:extLst>
          </p:cNvPr>
          <p:cNvSpPr>
            <a:spLocks noGrp="1"/>
          </p:cNvSpPr>
          <p:nvPr/>
        </p:nvSpPr>
        <p:spPr>
          <a:xfrm>
            <a:off x="857250" y="2105025"/>
            <a:ext cx="6848475" cy="2790825"/>
          </a:xfrm>
          <a:prstGeom prst="rect">
            <a:avLst/>
          </a:prstGeom>
          <a:noFill/>
          <a:ln w="0">
            <a:noFill/>
            <a:prstDash val="solid"/>
          </a:ln>
        </p:spPr>
        <p:txBody>
          <a:bodyPr wrap="square" lIns="0" tIns="0" rIns="0" bIns="0" anchor="t">
            <a:noAutofit/>
          </a:bodyPr>
          <a:lstStyle/>
          <a:p>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Datos: Δp = 0,20 Pa, S = 50 mm² = 5,0×10⁻⁵ m². Resultado: F ≈ 1,0×10⁻⁵ N. Falta la respuesta mecánica para obtener desplazamiento.</a:t>
            </a:r>
          </a:p>
        </p:txBody>
      </p:sp>
      <p:sp>
        <p:nvSpPr>
          <p:cNvPr id="7" name="answer-guide-box">
            <a:extLst>
              <a:ext uri="{FF2B5EF4-FFF2-40B4-BE49-F238E27FC236}">
                <a16:creationId xmlns:a16="http://schemas.microsoft.com/office/drawing/2014/main" id="{76F05324-994A-45F3-8109-6F745FF87D27}"/>
              </a:ext>
            </a:extLst>
          </p:cNvPr>
          <p:cNvSpPr>
            <a:spLocks noGrp="1"/>
          </p:cNvSpPr>
          <p:nvPr/>
        </p:nvSpPr>
        <p:spPr>
          <a:xfrm>
            <a:off x="8239125" y="1571625"/>
            <a:ext cx="3286125" cy="3476625"/>
          </a:xfrm>
          <a:prstGeom prst="roundRect">
            <a:avLst>
              <a:gd name="adj" fmla="val 3478"/>
            </a:avLst>
          </a:prstGeom>
          <a:solidFill>
            <a:srgbClr val="E7F1F1"/>
          </a:solidFill>
          <a:ln w="19050">
            <a:solidFill>
              <a:srgbClr val="2F7E83"/>
            </a:solidFill>
            <a:prstDash val="solid"/>
          </a:ln>
        </p:spPr>
      </p:sp>
      <p:sp>
        <p:nvSpPr>
          <p:cNvPr id="8" name="answer-guide-title">
            <a:extLst>
              <a:ext uri="{FF2B5EF4-FFF2-40B4-BE49-F238E27FC236}">
                <a16:creationId xmlns:a16="http://schemas.microsoft.com/office/drawing/2014/main" id="{A7CF9F8C-9895-4CB6-9F21-032D40E29234}"/>
              </a:ext>
            </a:extLst>
          </p:cNvPr>
          <p:cNvSpPr>
            <a:spLocks noGrp="1"/>
          </p:cNvSpPr>
          <p:nvPr/>
        </p:nvSpPr>
        <p:spPr>
          <a:xfrm>
            <a:off x="8410575" y="1704975"/>
            <a:ext cx="2943225" cy="361950"/>
          </a:xfrm>
          <a:prstGeom prst="rect">
            <a:avLst/>
          </a:prstGeom>
          <a:noFill/>
          <a:ln w="0">
            <a:noFill/>
            <a:prstDash val="solid"/>
          </a:ln>
        </p:spPr>
        <p:txBody>
          <a:bodyPr wrap="square" lIns="0" tIns="0" rIns="0" bIns="0" anchor="t">
            <a:noAutofit/>
          </a:bodyPr>
          <a:lstStyle/>
          <a:p>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9" name="answer-guide-body">
            <a:extLst>
              <a:ext uri="{FF2B5EF4-FFF2-40B4-BE49-F238E27FC236}">
                <a16:creationId xmlns:a16="http://schemas.microsoft.com/office/drawing/2014/main" id="{8DE53C21-83FC-4BCE-8D57-0FFACCE30BE8}"/>
              </a:ext>
            </a:extLst>
          </p:cNvPr>
          <p:cNvSpPr>
            <a:spLocks noGrp="1"/>
          </p:cNvSpPr>
          <p:nvPr/>
        </p:nvSpPr>
        <p:spPr>
          <a:xfrm>
            <a:off x="8410575" y="2105025"/>
            <a:ext cx="2943225" cy="2790825"/>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Conversión de 50 mm² a 5,0×10⁻⁵ m² antes de multiplicar.</a:t>
            </a:r>
          </a:p>
        </p:txBody>
      </p:sp>
      <p:sp>
        <p:nvSpPr>
          <p:cNvPr id="10" name="caption">
            <a:extLst>
              <a:ext uri="{FF2B5EF4-FFF2-40B4-BE49-F238E27FC236}">
                <a16:creationId xmlns:a16="http://schemas.microsoft.com/office/drawing/2014/main" id="{B31B8718-3849-4D31-9256-989E82882FD9}"/>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F≈Δp·S es una aproximación que conecta presión y fuerza sin describir el movimie…</a:t>
            </a:r>
          </a:p>
        </p:txBody>
      </p:sp>
      <p:sp>
        <p:nvSpPr>
          <p:cNvPr id="11" name="credit">
            <a:extLst>
              <a:ext uri="{FF2B5EF4-FFF2-40B4-BE49-F238E27FC236}">
                <a16:creationId xmlns:a16="http://schemas.microsoft.com/office/drawing/2014/main" id="{FF2CF13C-9212-47F6-8B5A-C99C8B89C8A9}"/>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6.4.5 y ejercicio G2; PDF pp. 154–155, 166, 169/172; NG.</a:t>
            </a:r>
          </a:p>
        </p:txBody>
      </p:sp>
    </p:spTree>
    <p:extLst>
      <p:ext uri="{BB962C8B-B14F-4D97-AF65-F5344CB8AC3E}">
        <p14:creationId xmlns:p14="http://schemas.microsoft.com/office/powerpoint/2010/main" val="167329715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362DF414-9138-4D26-AB73-B1408F1A5E6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G3: modelo combinado del oído medio</a:t>
            </a:r>
          </a:p>
        </p:txBody>
      </p:sp>
      <p:sp>
        <p:nvSpPr>
          <p:cNvPr id="2" name="slide-subtitle">
            <a:extLst>
              <a:ext uri="{FF2B5EF4-FFF2-40B4-BE49-F238E27FC236}">
                <a16:creationId xmlns:a16="http://schemas.microsoft.com/office/drawing/2014/main" id="{0F4972B5-52F9-4F46-B6E3-EBF23D87B821}"/>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resultado depende de definiciones, pérdidas y símbolo aprobado.</a:t>
            </a:r>
          </a:p>
        </p:txBody>
      </p:sp>
      <p:sp>
        <p:nvSpPr>
          <p:cNvPr id="3" name="eyebrow">
            <a:extLst>
              <a:ext uri="{FF2B5EF4-FFF2-40B4-BE49-F238E27FC236}">
                <a16:creationId xmlns:a16="http://schemas.microsoft.com/office/drawing/2014/main" id="{77E02F2F-5221-4D38-BE80-9757C322C618}"/>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111</a:t>
            </a:r>
          </a:p>
        </p:txBody>
      </p:sp>
      <p:sp>
        <p:nvSpPr>
          <p:cNvPr id="4" name="question-box">
            <a:extLst>
              <a:ext uri="{FF2B5EF4-FFF2-40B4-BE49-F238E27FC236}">
                <a16:creationId xmlns:a16="http://schemas.microsoft.com/office/drawing/2014/main" id="{3B33D4DB-D6EE-4A70-A4A1-678909836B89}"/>
              </a:ext>
            </a:extLst>
          </p:cNvPr>
          <p:cNvSpPr>
            <a:spLocks noGrp="1"/>
          </p:cNvSpPr>
          <p:nvPr/>
        </p:nvSpPr>
        <p:spPr>
          <a:xfrm>
            <a:off x="685800" y="1571625"/>
            <a:ext cx="7191375" cy="3476625"/>
          </a:xfrm>
          <a:prstGeom prst="roundRect">
            <a:avLst>
              <a:gd name="adj" fmla="val 3288"/>
            </a:avLst>
          </a:prstGeom>
          <a:solidFill>
            <a:srgbClr val="F4E9EF"/>
          </a:solidFill>
          <a:ln w="19050">
            <a:solidFill>
              <a:srgbClr val="4D1434"/>
            </a:solidFill>
            <a:prstDash val="solid"/>
          </a:ln>
        </p:spPr>
      </p:sp>
      <p:sp>
        <p:nvSpPr>
          <p:cNvPr id="5" name="question-title">
            <a:extLst>
              <a:ext uri="{FF2B5EF4-FFF2-40B4-BE49-F238E27FC236}">
                <a16:creationId xmlns:a16="http://schemas.microsoft.com/office/drawing/2014/main" id="{E9AC70C9-B27D-41C7-8CA4-D976BBF4BCD9}"/>
              </a:ext>
            </a:extLst>
          </p:cNvPr>
          <p:cNvSpPr>
            <a:spLocks noGrp="1"/>
          </p:cNvSpPr>
          <p:nvPr/>
        </p:nvSpPr>
        <p:spPr>
          <a:xfrm>
            <a:off x="857250" y="1704975"/>
            <a:ext cx="6848475" cy="361950"/>
          </a:xfrm>
          <a:prstGeom prst="rect">
            <a:avLst/>
          </a:prstGeom>
          <a:noFill/>
          <a:ln w="0">
            <a:noFill/>
            <a:prstDash val="solid"/>
          </a:ln>
        </p:spPr>
        <p:txBody>
          <a:bodyPr wrap="square" lIns="0" tIns="0" rIns="0" bIns="0" anchor="t">
            <a:noAutofit/>
          </a:bodyPr>
          <a:lstStyle/>
          <a:p>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6" name="question-body">
            <a:extLst>
              <a:ext uri="{FF2B5EF4-FFF2-40B4-BE49-F238E27FC236}">
                <a16:creationId xmlns:a16="http://schemas.microsoft.com/office/drawing/2014/main" id="{827F4E6A-04CE-49C4-86C4-B643AA911203}"/>
              </a:ext>
            </a:extLst>
          </p:cNvPr>
          <p:cNvSpPr>
            <a:spLocks noGrp="1"/>
          </p:cNvSpPr>
          <p:nvPr/>
        </p:nvSpPr>
        <p:spPr>
          <a:xfrm>
            <a:off x="857250" y="2105025"/>
            <a:ext cx="6848475" cy="2790825"/>
          </a:xfrm>
          <a:prstGeom prst="rect">
            <a:avLst/>
          </a:prstGeom>
          <a:noFill/>
          <a:ln w="0">
            <a:noFill/>
            <a:prstDash val="solid"/>
          </a:ln>
        </p:spPr>
        <p:txBody>
          <a:bodyPr wrap="square" lIns="0" tIns="0" rIns="0" bIns="0" anchor="t">
            <a:noAutofit/>
          </a:bodyPr>
          <a:lstStyle/>
          <a:p>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[PROVISIONAL] Calcular razón de áreas, razón de palanca y razón de presiones; convertir la razón a dB; cerrar con balance de energía, pérdidas y límites del modelo.</a:t>
            </a:r>
          </a:p>
        </p:txBody>
      </p:sp>
      <p:sp>
        <p:nvSpPr>
          <p:cNvPr id="7" name="answer-guide-box">
            <a:extLst>
              <a:ext uri="{FF2B5EF4-FFF2-40B4-BE49-F238E27FC236}">
                <a16:creationId xmlns:a16="http://schemas.microsoft.com/office/drawing/2014/main" id="{CA5FB05C-A2F0-441F-9F06-4431D2910D8A}"/>
              </a:ext>
            </a:extLst>
          </p:cNvPr>
          <p:cNvSpPr>
            <a:spLocks noGrp="1"/>
          </p:cNvSpPr>
          <p:nvPr/>
        </p:nvSpPr>
        <p:spPr>
          <a:xfrm>
            <a:off x="8239125" y="1571625"/>
            <a:ext cx="3286125" cy="3476625"/>
          </a:xfrm>
          <a:prstGeom prst="roundRect">
            <a:avLst>
              <a:gd name="adj" fmla="val 3478"/>
            </a:avLst>
          </a:prstGeom>
          <a:solidFill>
            <a:srgbClr val="E7F1F1"/>
          </a:solidFill>
          <a:ln w="19050">
            <a:solidFill>
              <a:srgbClr val="2F7E83"/>
            </a:solidFill>
            <a:prstDash val="solid"/>
          </a:ln>
        </p:spPr>
      </p:sp>
      <p:sp>
        <p:nvSpPr>
          <p:cNvPr id="8" name="answer-guide-title">
            <a:extLst>
              <a:ext uri="{FF2B5EF4-FFF2-40B4-BE49-F238E27FC236}">
                <a16:creationId xmlns:a16="http://schemas.microsoft.com/office/drawing/2014/main" id="{3E8869DE-5344-4912-8A85-C52B69145BD8}"/>
              </a:ext>
            </a:extLst>
          </p:cNvPr>
          <p:cNvSpPr>
            <a:spLocks noGrp="1"/>
          </p:cNvSpPr>
          <p:nvPr/>
        </p:nvSpPr>
        <p:spPr>
          <a:xfrm>
            <a:off x="8410575" y="1704975"/>
            <a:ext cx="2943225" cy="361950"/>
          </a:xfrm>
          <a:prstGeom prst="rect">
            <a:avLst/>
          </a:prstGeom>
          <a:noFill/>
          <a:ln w="0">
            <a:noFill/>
            <a:prstDash val="solid"/>
          </a:ln>
        </p:spPr>
        <p:txBody>
          <a:bodyPr wrap="square" lIns="0" tIns="0" rIns="0" bIns="0" anchor="t">
            <a:noAutofit/>
          </a:bodyPr>
          <a:lstStyle/>
          <a:p>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9" name="answer-guide-body">
            <a:extLst>
              <a:ext uri="{FF2B5EF4-FFF2-40B4-BE49-F238E27FC236}">
                <a16:creationId xmlns:a16="http://schemas.microsoft.com/office/drawing/2014/main" id="{C0A62D00-C0D9-4E48-87D3-406871E7D8ED}"/>
              </a:ext>
            </a:extLst>
          </p:cNvPr>
          <p:cNvSpPr>
            <a:spLocks noGrp="1"/>
          </p:cNvSpPr>
          <p:nvPr/>
        </p:nvSpPr>
        <p:spPr>
          <a:xfrm>
            <a:off x="8410575" y="2105025"/>
            <a:ext cx="2943225" cy="2790825"/>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Cálculo paramétrico; no cerrar valores ni símbolos hasta resolver la notación.</a:t>
            </a:r>
          </a:p>
        </p:txBody>
      </p:sp>
      <p:sp>
        <p:nvSpPr>
          <p:cNvPr id="10" name="caption">
            <a:extLst>
              <a:ext uri="{FF2B5EF4-FFF2-40B4-BE49-F238E27FC236}">
                <a16:creationId xmlns:a16="http://schemas.microsoft.com/office/drawing/2014/main" id="{7EFDABEF-2967-406D-8A05-3431378F1F79}"/>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El resultado depende de definiciones, pérdidas y símbolo aprobado.</a:t>
            </a:r>
          </a:p>
        </p:txBody>
      </p:sp>
      <p:sp>
        <p:nvSpPr>
          <p:cNvPr id="11" name="credit">
            <a:extLst>
              <a:ext uri="{FF2B5EF4-FFF2-40B4-BE49-F238E27FC236}">
                <a16:creationId xmlns:a16="http://schemas.microsoft.com/office/drawing/2014/main" id="{0DFD956B-B342-4A4D-BFB7-39FB174E919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6.5.2–6.5.3 y ejercicio G3; PDF pp. 155–158, 166, 169/172; NG; OD-U06-07/08.</a:t>
            </a:r>
          </a:p>
        </p:txBody>
      </p:sp>
    </p:spTree>
    <p:extLst>
      <p:ext uri="{BB962C8B-B14F-4D97-AF65-F5344CB8AC3E}">
        <p14:creationId xmlns:p14="http://schemas.microsoft.com/office/powerpoint/2010/main" val="16732971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1A74553B-63E8-4D2C-9E7C-427DED96C218}"/>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Variantes numéricas y preguntas de transferencia</a:t>
            </a:r>
          </a:p>
        </p:txBody>
      </p:sp>
      <p:sp>
        <p:nvSpPr>
          <p:cNvPr id="2" name="slide-subtitle">
            <a:extLst>
              <a:ext uri="{FF2B5EF4-FFF2-40B4-BE49-F238E27FC236}">
                <a16:creationId xmlns:a16="http://schemas.microsoft.com/office/drawing/2014/main" id="{07FD07F9-59EF-47F7-9B61-B6B46CE3BD89}"/>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Cambiar datos no basta: cada variante debe pedir interpretación y límites.</a:t>
            </a:r>
          </a:p>
        </p:txBody>
      </p:sp>
      <p:sp>
        <p:nvSpPr>
          <p:cNvPr id="3" name="eyebrow">
            <a:extLst>
              <a:ext uri="{FF2B5EF4-FFF2-40B4-BE49-F238E27FC236}">
                <a16:creationId xmlns:a16="http://schemas.microsoft.com/office/drawing/2014/main" id="{BE8C3D9F-C3D5-427F-A0AC-22ACBEC7682D}"/>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112</a:t>
            </a:r>
          </a:p>
        </p:txBody>
      </p:sp>
      <p:sp>
        <p:nvSpPr>
          <p:cNvPr id="4" name="main-ideas">
            <a:extLst>
              <a:ext uri="{FF2B5EF4-FFF2-40B4-BE49-F238E27FC236}">
                <a16:creationId xmlns:a16="http://schemas.microsoft.com/office/drawing/2014/main" id="{EF0B4AC5-748C-4233-B10F-D38D84845B2A}"/>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G1: variar longitud del CAE y explicar el efecto.</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G2: variar Δp con área fija y comprobar proporcionalidad.</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G3: variar áreas/palanca y separar razón, dB y dB SPL.</a:t>
            </a:r>
          </a:p>
        </p:txBody>
      </p:sp>
      <p:sp>
        <p:nvSpPr>
          <p:cNvPr id="5" name="side-panel-box">
            <a:extLst>
              <a:ext uri="{FF2B5EF4-FFF2-40B4-BE49-F238E27FC236}">
                <a16:creationId xmlns:a16="http://schemas.microsoft.com/office/drawing/2014/main" id="{8F20F1D1-E2E9-4B2F-882A-51DB1DA85C6B}"/>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8F567B99-E8A8-4C34-A383-1009025A33C7}"/>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C7055010-7138-4468-9ADC-C2AF8DE309EF}"/>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Cambiar datos no basta: cada variante debe pedir interpretación y límites.</a:t>
            </a:r>
          </a:p>
        </p:txBody>
      </p:sp>
      <p:sp>
        <p:nvSpPr>
          <p:cNvPr id="8" name="caption">
            <a:extLst>
              <a:ext uri="{FF2B5EF4-FFF2-40B4-BE49-F238E27FC236}">
                <a16:creationId xmlns:a16="http://schemas.microsoft.com/office/drawing/2014/main" id="{9E03C973-7F1B-4801-AFAC-92DBA9E53B41}"/>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Cambiar datos no basta: cada variante debe pedir interpretación y límites.</a:t>
            </a:r>
          </a:p>
        </p:txBody>
      </p:sp>
      <p:sp>
        <p:nvSpPr>
          <p:cNvPr id="9" name="credit">
            <a:extLst>
              <a:ext uri="{FF2B5EF4-FFF2-40B4-BE49-F238E27FC236}">
                <a16:creationId xmlns:a16="http://schemas.microsoft.com/office/drawing/2014/main" id="{79AB99FF-BA00-4438-A11E-100503E99DBD}"/>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6.12; PDF pp. 165–174; BR.</a:t>
            </a:r>
          </a:p>
        </p:txBody>
      </p:sp>
    </p:spTree>
    <p:extLst>
      <p:ext uri="{BB962C8B-B14F-4D97-AF65-F5344CB8AC3E}">
        <p14:creationId xmlns:p14="http://schemas.microsoft.com/office/powerpoint/2010/main" val="31302185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DADDD0A5-08B3-4462-A300-1F229E3E9EDB}"/>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Cinco mecanismos propuestos para conducción ósea</a:t>
            </a:r>
          </a:p>
        </p:txBody>
      </p:sp>
      <p:sp>
        <p:nvSpPr>
          <p:cNvPr id="2" name="slide-subtitle">
            <a:extLst>
              <a:ext uri="{FF2B5EF4-FFF2-40B4-BE49-F238E27FC236}">
                <a16:creationId xmlns:a16="http://schemas.microsoft.com/office/drawing/2014/main" id="{BAA8679C-DF66-4E9B-923C-79DFAB760822}"/>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contribución relativa depende de frecuencia, transductor y condiciones; no hay una única ruta.</a:t>
            </a:r>
          </a:p>
        </p:txBody>
      </p:sp>
      <p:sp>
        <p:nvSpPr>
          <p:cNvPr id="3" name="eyebrow">
            <a:extLst>
              <a:ext uri="{FF2B5EF4-FFF2-40B4-BE49-F238E27FC236}">
                <a16:creationId xmlns:a16="http://schemas.microsoft.com/office/drawing/2014/main" id="{424ED490-E965-4CD4-9F5F-6D935B3D269B}"/>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113</a:t>
            </a:r>
          </a:p>
        </p:txBody>
      </p:sp>
      <p:sp>
        <p:nvSpPr>
          <p:cNvPr id="4" name="U06-DG-026B-cell_1-anchor">
            <a:extLst>
              <a:ext uri="{FF2B5EF4-FFF2-40B4-BE49-F238E27FC236}">
                <a16:creationId xmlns:a16="http://schemas.microsoft.com/office/drawing/2014/main" id="{EF508BFD-B3C4-4B87-A8B9-E27DE83B6C7D}"/>
              </a:ext>
            </a:extLst>
          </p:cNvPr>
          <p:cNvSpPr>
            <a:spLocks noGrp="1"/>
          </p:cNvSpPr>
          <p:nvPr/>
        </p:nvSpPr>
        <p:spPr>
          <a:xfrm>
            <a:off x="781050" y="1571625"/>
            <a:ext cx="3321050" cy="1809750"/>
          </a:xfrm>
          <a:prstGeom prst="roundRect">
            <a:avLst>
              <a:gd name="adj" fmla="val 5263"/>
            </a:avLst>
          </a:prstGeom>
          <a:noFill/>
          <a:ln w="0">
            <a:noFill/>
            <a:prstDash val="solid"/>
          </a:ln>
        </p:spPr>
      </p:sp>
      <p:sp>
        <p:nvSpPr>
          <p:cNvPr id="5" name="U06-DG-026B-cell_2-anchor">
            <a:extLst>
              <a:ext uri="{FF2B5EF4-FFF2-40B4-BE49-F238E27FC236}">
                <a16:creationId xmlns:a16="http://schemas.microsoft.com/office/drawing/2014/main" id="{5A991F70-050C-476E-9D34-323FAF74F705}"/>
              </a:ext>
            </a:extLst>
          </p:cNvPr>
          <p:cNvSpPr>
            <a:spLocks noGrp="1"/>
          </p:cNvSpPr>
          <p:nvPr/>
        </p:nvSpPr>
        <p:spPr>
          <a:xfrm>
            <a:off x="4435475" y="1571625"/>
            <a:ext cx="3321050" cy="1809750"/>
          </a:xfrm>
          <a:prstGeom prst="roundRect">
            <a:avLst>
              <a:gd name="adj" fmla="val 5263"/>
            </a:avLst>
          </a:prstGeom>
          <a:noFill/>
          <a:ln w="0">
            <a:noFill/>
            <a:prstDash val="solid"/>
          </a:ln>
        </p:spPr>
      </p:sp>
      <p:sp>
        <p:nvSpPr>
          <p:cNvPr id="6" name="U06-DG-026B-cell_3-anchor">
            <a:extLst>
              <a:ext uri="{FF2B5EF4-FFF2-40B4-BE49-F238E27FC236}">
                <a16:creationId xmlns:a16="http://schemas.microsoft.com/office/drawing/2014/main" id="{6CCE79C4-9AC4-4A53-9ABC-7D41F8E68451}"/>
              </a:ext>
            </a:extLst>
          </p:cNvPr>
          <p:cNvSpPr>
            <a:spLocks noGrp="1"/>
          </p:cNvSpPr>
          <p:nvPr/>
        </p:nvSpPr>
        <p:spPr>
          <a:xfrm>
            <a:off x="8089900" y="1571625"/>
            <a:ext cx="3321050" cy="1809750"/>
          </a:xfrm>
          <a:prstGeom prst="roundRect">
            <a:avLst>
              <a:gd name="adj" fmla="val 5263"/>
            </a:avLst>
          </a:prstGeom>
          <a:noFill/>
          <a:ln w="0">
            <a:noFill/>
            <a:prstDash val="solid"/>
          </a:ln>
        </p:spPr>
      </p:sp>
      <p:sp>
        <p:nvSpPr>
          <p:cNvPr id="7" name="U06-DG-026B-cell_4-anchor">
            <a:extLst>
              <a:ext uri="{FF2B5EF4-FFF2-40B4-BE49-F238E27FC236}">
                <a16:creationId xmlns:a16="http://schemas.microsoft.com/office/drawing/2014/main" id="{8F89CBF5-1F64-4B2E-8A72-41E7F8CB4DF6}"/>
              </a:ext>
            </a:extLst>
          </p:cNvPr>
          <p:cNvSpPr>
            <a:spLocks noGrp="1"/>
          </p:cNvSpPr>
          <p:nvPr/>
        </p:nvSpPr>
        <p:spPr>
          <a:xfrm>
            <a:off x="781050" y="3667125"/>
            <a:ext cx="3321050" cy="1809750"/>
          </a:xfrm>
          <a:prstGeom prst="roundRect">
            <a:avLst>
              <a:gd name="adj" fmla="val 5263"/>
            </a:avLst>
          </a:prstGeom>
          <a:noFill/>
          <a:ln w="0">
            <a:noFill/>
            <a:prstDash val="solid"/>
          </a:ln>
        </p:spPr>
      </p:sp>
      <p:sp>
        <p:nvSpPr>
          <p:cNvPr id="8" name="U06-DG-026B-cell_5-anchor">
            <a:extLst>
              <a:ext uri="{FF2B5EF4-FFF2-40B4-BE49-F238E27FC236}">
                <a16:creationId xmlns:a16="http://schemas.microsoft.com/office/drawing/2014/main" id="{5D77B861-980F-4D90-BFF3-3CE503999020}"/>
              </a:ext>
            </a:extLst>
          </p:cNvPr>
          <p:cNvSpPr>
            <a:spLocks noGrp="1"/>
          </p:cNvSpPr>
          <p:nvPr/>
        </p:nvSpPr>
        <p:spPr>
          <a:xfrm>
            <a:off x="4435475" y="3667125"/>
            <a:ext cx="3321050" cy="1809750"/>
          </a:xfrm>
          <a:prstGeom prst="roundRect">
            <a:avLst>
              <a:gd name="adj" fmla="val 5263"/>
            </a:avLst>
          </a:prstGeom>
          <a:noFill/>
          <a:ln w="0">
            <a:noFill/>
            <a:prstDash val="solid"/>
          </a:ln>
        </p:spPr>
      </p:sp>
      <p:sp>
        <p:nvSpPr>
          <p:cNvPr id="9" name="U06-DG-026B-cell_6-anchor">
            <a:extLst>
              <a:ext uri="{FF2B5EF4-FFF2-40B4-BE49-F238E27FC236}">
                <a16:creationId xmlns:a16="http://schemas.microsoft.com/office/drawing/2014/main" id="{30C13CEA-D21E-4B26-8C1E-9A8BE4563FFE}"/>
              </a:ext>
            </a:extLst>
          </p:cNvPr>
          <p:cNvSpPr>
            <a:spLocks noGrp="1"/>
          </p:cNvSpPr>
          <p:nvPr/>
        </p:nvSpPr>
        <p:spPr>
          <a:xfrm>
            <a:off x="8089900" y="3667125"/>
            <a:ext cx="3321050" cy="1809750"/>
          </a:xfrm>
          <a:prstGeom prst="roundRect">
            <a:avLst>
              <a:gd name="adj" fmla="val 5263"/>
            </a:avLst>
          </a:prstGeom>
          <a:noFill/>
          <a:ln w="0">
            <a:noFill/>
            <a:prstDash val="solid"/>
          </a:ln>
        </p:spPr>
      </p:sp>
      <p:sp>
        <p:nvSpPr>
          <p:cNvPr id="10" name="U06-DG-026B-cell_1-box" descr="Diagrama sobre «Cinco mecanismos propuestos para conducción ósea»; organiza definición ampliada, condiciones y cautelas por mecanismo." title="Texto alternativo U06-113">
            <a:extLst>
              <a:ext uri="{FF2B5EF4-FFF2-40B4-BE49-F238E27FC236}">
                <a16:creationId xmlns:a16="http://schemas.microsoft.com/office/drawing/2014/main" id="{D3672C3C-0C16-4B24-A48D-37CC7979A215}"/>
              </a:ext>
            </a:extLst>
          </p:cNvPr>
          <p:cNvSpPr>
            <a:spLocks noGrp="1"/>
          </p:cNvSpPr>
          <p:nvPr/>
        </p:nvSpPr>
        <p:spPr>
          <a:xfrm>
            <a:off x="781050" y="1571625"/>
            <a:ext cx="3321050" cy="1809750"/>
          </a:xfrm>
          <a:prstGeom prst="roundRect">
            <a:avLst>
              <a:gd name="adj" fmla="val 5263"/>
            </a:avLst>
          </a:prstGeom>
          <a:solidFill>
            <a:srgbClr val="E7F1F1"/>
          </a:solidFill>
          <a:ln w="19050">
            <a:solidFill>
              <a:srgbClr val="2F7E83"/>
            </a:solidFill>
            <a:prstDash val="solid"/>
          </a:ln>
        </p:spPr>
      </p:sp>
      <p:sp>
        <p:nvSpPr>
          <p:cNvPr id="11" name="U06-DG-026B-cell_1-title">
            <a:extLst>
              <a:ext uri="{FF2B5EF4-FFF2-40B4-BE49-F238E27FC236}">
                <a16:creationId xmlns:a16="http://schemas.microsoft.com/office/drawing/2014/main" id="{CC39C2D0-BFFF-496C-9BB4-8F1E47E136DA}"/>
              </a:ext>
            </a:extLst>
          </p:cNvPr>
          <p:cNvSpPr>
            <a:spLocks noGrp="1"/>
          </p:cNvSpPr>
          <p:nvPr/>
        </p:nvSpPr>
        <p:spPr>
          <a:xfrm>
            <a:off x="971550" y="17145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Radiación al CAE</a:t>
            </a:r>
          </a:p>
        </p:txBody>
      </p:sp>
      <p:sp>
        <p:nvSpPr>
          <p:cNvPr id="12" name="U06-DG-026B-cell_1-body">
            <a:extLst>
              <a:ext uri="{FF2B5EF4-FFF2-40B4-BE49-F238E27FC236}">
                <a16:creationId xmlns:a16="http://schemas.microsoft.com/office/drawing/2014/main" id="{0417C0C9-169B-400A-B8F6-F049196D2A96}"/>
              </a:ext>
            </a:extLst>
          </p:cNvPr>
          <p:cNvSpPr>
            <a:spLocks noGrp="1"/>
          </p:cNvSpPr>
          <p:nvPr/>
        </p:nvSpPr>
        <p:spPr>
          <a:xfrm>
            <a:off x="971550" y="21621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pared → aire</a:t>
            </a:r>
          </a:p>
        </p:txBody>
      </p:sp>
      <p:sp>
        <p:nvSpPr>
          <p:cNvPr id="13" name="U06-DG-026B-cell_2-box">
            <a:extLst>
              <a:ext uri="{FF2B5EF4-FFF2-40B4-BE49-F238E27FC236}">
                <a16:creationId xmlns:a16="http://schemas.microsoft.com/office/drawing/2014/main" id="{C4BB26FD-F990-459F-8CAD-202429B0B6CD}"/>
              </a:ext>
            </a:extLst>
          </p:cNvPr>
          <p:cNvSpPr>
            <a:spLocks noGrp="1"/>
          </p:cNvSpPr>
          <p:nvPr/>
        </p:nvSpPr>
        <p:spPr>
          <a:xfrm>
            <a:off x="4435475" y="1571625"/>
            <a:ext cx="3321050" cy="1809750"/>
          </a:xfrm>
          <a:prstGeom prst="roundRect">
            <a:avLst>
              <a:gd name="adj" fmla="val 5263"/>
            </a:avLst>
          </a:prstGeom>
          <a:solidFill>
            <a:srgbClr val="F7F6F2"/>
          </a:solidFill>
          <a:ln w="19050">
            <a:solidFill>
              <a:srgbClr val="969FA7"/>
            </a:solidFill>
            <a:prstDash val="solid"/>
          </a:ln>
        </p:spPr>
      </p:sp>
      <p:sp>
        <p:nvSpPr>
          <p:cNvPr id="14" name="U06-DG-026B-cell_2-title">
            <a:extLst>
              <a:ext uri="{FF2B5EF4-FFF2-40B4-BE49-F238E27FC236}">
                <a16:creationId xmlns:a16="http://schemas.microsoft.com/office/drawing/2014/main" id="{FAAB5EB0-C06C-4197-80E1-0574267CF2A4}"/>
              </a:ext>
            </a:extLst>
          </p:cNvPr>
          <p:cNvSpPr>
            <a:spLocks noGrp="1"/>
          </p:cNvSpPr>
          <p:nvPr/>
        </p:nvSpPr>
        <p:spPr>
          <a:xfrm>
            <a:off x="4625975" y="17145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Inercia osicular</a:t>
            </a:r>
          </a:p>
        </p:txBody>
      </p:sp>
      <p:sp>
        <p:nvSpPr>
          <p:cNvPr id="15" name="U06-DG-026B-cell_2-body">
            <a:extLst>
              <a:ext uri="{FF2B5EF4-FFF2-40B4-BE49-F238E27FC236}">
                <a16:creationId xmlns:a16="http://schemas.microsoft.com/office/drawing/2014/main" id="{1EA30A1A-4DB8-4947-A9DD-8609F763CD44}"/>
              </a:ext>
            </a:extLst>
          </p:cNvPr>
          <p:cNvSpPr>
            <a:spLocks noGrp="1"/>
          </p:cNvSpPr>
          <p:nvPr/>
        </p:nvSpPr>
        <p:spPr>
          <a:xfrm>
            <a:off x="4625975" y="21621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movimiento relativo</a:t>
            </a:r>
          </a:p>
        </p:txBody>
      </p:sp>
      <p:sp>
        <p:nvSpPr>
          <p:cNvPr id="16" name="U06-DG-026B-cell_3-box">
            <a:extLst>
              <a:ext uri="{FF2B5EF4-FFF2-40B4-BE49-F238E27FC236}">
                <a16:creationId xmlns:a16="http://schemas.microsoft.com/office/drawing/2014/main" id="{967A73CA-B056-4824-A02C-1C0BB0ACC3CA}"/>
              </a:ext>
            </a:extLst>
          </p:cNvPr>
          <p:cNvSpPr>
            <a:spLocks noGrp="1"/>
          </p:cNvSpPr>
          <p:nvPr/>
        </p:nvSpPr>
        <p:spPr>
          <a:xfrm>
            <a:off x="8089900" y="1571625"/>
            <a:ext cx="3321050" cy="1809750"/>
          </a:xfrm>
          <a:prstGeom prst="roundRect">
            <a:avLst>
              <a:gd name="adj" fmla="val 5263"/>
            </a:avLst>
          </a:prstGeom>
          <a:solidFill>
            <a:srgbClr val="F7F6F2"/>
          </a:solidFill>
          <a:ln w="19050">
            <a:solidFill>
              <a:srgbClr val="969FA7"/>
            </a:solidFill>
            <a:prstDash val="solid"/>
          </a:ln>
        </p:spPr>
      </p:sp>
      <p:sp>
        <p:nvSpPr>
          <p:cNvPr id="17" name="U06-DG-026B-cell_3-title">
            <a:extLst>
              <a:ext uri="{FF2B5EF4-FFF2-40B4-BE49-F238E27FC236}">
                <a16:creationId xmlns:a16="http://schemas.microsoft.com/office/drawing/2014/main" id="{581B0662-B2D9-4D67-80CF-9C46A0D119F9}"/>
              </a:ext>
            </a:extLst>
          </p:cNvPr>
          <p:cNvSpPr>
            <a:spLocks noGrp="1"/>
          </p:cNvSpPr>
          <p:nvPr/>
        </p:nvSpPr>
        <p:spPr>
          <a:xfrm>
            <a:off x="8280400" y="1714500"/>
            <a:ext cx="29400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3D3D3D"/>
                </a:solidFill>
                <a:latin typeface="Calibri"/>
                <a:ea typeface="Calibri"/>
                <a:cs typeface="Calibri"/>
              </a:defRPr>
            </a:pPr>
            <a:r>
              <a:rPr sz="2400" b="1" i="0">
                <a:solidFill>
                  <a:srgbClr val="3D3D3D"/>
                </a:solidFill>
                <a:latin typeface="Calibri"/>
                <a:ea typeface="Calibri"/>
                <a:cs typeface="Calibri"/>
              </a:rPr>
              <a:t>Inercia de fluidos</a:t>
            </a:r>
          </a:p>
        </p:txBody>
      </p:sp>
      <p:sp>
        <p:nvSpPr>
          <p:cNvPr id="18" name="U06-DG-026B-cell_3-body">
            <a:extLst>
              <a:ext uri="{FF2B5EF4-FFF2-40B4-BE49-F238E27FC236}">
                <a16:creationId xmlns:a16="http://schemas.microsoft.com/office/drawing/2014/main" id="{D2B6733D-40B6-4C48-B219-41AAEB08AA60}"/>
              </a:ext>
            </a:extLst>
          </p:cNvPr>
          <p:cNvSpPr>
            <a:spLocks noGrp="1"/>
          </p:cNvSpPr>
          <p:nvPr/>
        </p:nvSpPr>
        <p:spPr>
          <a:xfrm>
            <a:off x="8280400" y="2486025"/>
            <a:ext cx="2940050" cy="800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movimiento relativo</a:t>
            </a:r>
          </a:p>
        </p:txBody>
      </p:sp>
      <p:sp>
        <p:nvSpPr>
          <p:cNvPr id="19" name="U06-DG-026B-cell_4-box">
            <a:extLst>
              <a:ext uri="{FF2B5EF4-FFF2-40B4-BE49-F238E27FC236}">
                <a16:creationId xmlns:a16="http://schemas.microsoft.com/office/drawing/2014/main" id="{33C07127-1B7E-481A-A0AC-4EB938047CB7}"/>
              </a:ext>
            </a:extLst>
          </p:cNvPr>
          <p:cNvSpPr>
            <a:spLocks noGrp="1"/>
          </p:cNvSpPr>
          <p:nvPr/>
        </p:nvSpPr>
        <p:spPr>
          <a:xfrm>
            <a:off x="781050" y="3667125"/>
            <a:ext cx="3321050" cy="1809750"/>
          </a:xfrm>
          <a:prstGeom prst="roundRect">
            <a:avLst>
              <a:gd name="adj" fmla="val 5263"/>
            </a:avLst>
          </a:prstGeom>
          <a:solidFill>
            <a:srgbClr val="F4E9EF"/>
          </a:solidFill>
          <a:ln w="19050">
            <a:solidFill>
              <a:srgbClr val="4D1434"/>
            </a:solidFill>
            <a:prstDash val="solid"/>
          </a:ln>
        </p:spPr>
      </p:sp>
      <p:sp>
        <p:nvSpPr>
          <p:cNvPr id="20" name="U06-DG-026B-cell_4-title">
            <a:extLst>
              <a:ext uri="{FF2B5EF4-FFF2-40B4-BE49-F238E27FC236}">
                <a16:creationId xmlns:a16="http://schemas.microsoft.com/office/drawing/2014/main" id="{B5569DD8-D34D-4F10-8A90-B75DD9573930}"/>
              </a:ext>
            </a:extLst>
          </p:cNvPr>
          <p:cNvSpPr>
            <a:spLocks noGrp="1"/>
          </p:cNvSpPr>
          <p:nvPr/>
        </p:nvSpPr>
        <p:spPr>
          <a:xfrm>
            <a:off x="971550" y="3810000"/>
            <a:ext cx="2940050" cy="72390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4D1434"/>
                </a:solidFill>
                <a:latin typeface="Calibri"/>
                <a:ea typeface="Calibri"/>
                <a:cs typeface="Calibri"/>
              </a:defRPr>
            </a:pPr>
            <a:r>
              <a:rPr sz="2400" b="1" i="0">
                <a:solidFill>
                  <a:srgbClr val="4D1434"/>
                </a:solidFill>
                <a:latin typeface="Calibri"/>
                <a:ea typeface="Calibri"/>
                <a:cs typeface="Calibri"/>
              </a:rPr>
              <a:t>Deformación coclear</a:t>
            </a:r>
          </a:p>
        </p:txBody>
      </p:sp>
      <p:sp>
        <p:nvSpPr>
          <p:cNvPr id="21" name="U06-DG-026B-cell_4-body">
            <a:extLst>
              <a:ext uri="{FF2B5EF4-FFF2-40B4-BE49-F238E27FC236}">
                <a16:creationId xmlns:a16="http://schemas.microsoft.com/office/drawing/2014/main" id="{5FBA61D4-B6E5-4567-AE35-778D542BFC4F}"/>
              </a:ext>
            </a:extLst>
          </p:cNvPr>
          <p:cNvSpPr>
            <a:spLocks noGrp="1"/>
          </p:cNvSpPr>
          <p:nvPr/>
        </p:nvSpPr>
        <p:spPr>
          <a:xfrm>
            <a:off x="971550" y="4581525"/>
            <a:ext cx="2940050" cy="80010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diferencia de presión</a:t>
            </a:r>
          </a:p>
        </p:txBody>
      </p:sp>
      <p:sp>
        <p:nvSpPr>
          <p:cNvPr id="22" name="U06-DG-026B-cell_5-box">
            <a:extLst>
              <a:ext uri="{FF2B5EF4-FFF2-40B4-BE49-F238E27FC236}">
                <a16:creationId xmlns:a16="http://schemas.microsoft.com/office/drawing/2014/main" id="{1C10678D-EA34-438C-8FDB-69FC119328A2}"/>
              </a:ext>
            </a:extLst>
          </p:cNvPr>
          <p:cNvSpPr>
            <a:spLocks noGrp="1"/>
          </p:cNvSpPr>
          <p:nvPr/>
        </p:nvSpPr>
        <p:spPr>
          <a:xfrm>
            <a:off x="4435475" y="3667125"/>
            <a:ext cx="3321050" cy="1809750"/>
          </a:xfrm>
          <a:prstGeom prst="roundRect">
            <a:avLst>
              <a:gd name="adj" fmla="val 5263"/>
            </a:avLst>
          </a:prstGeom>
          <a:solidFill>
            <a:srgbClr val="E7F1F1"/>
          </a:solidFill>
          <a:ln w="19050">
            <a:solidFill>
              <a:srgbClr val="2F7E83"/>
            </a:solidFill>
            <a:prstDash val="solid"/>
          </a:ln>
        </p:spPr>
      </p:sp>
      <p:sp>
        <p:nvSpPr>
          <p:cNvPr id="23" name="U06-DG-026B-cell_5-title">
            <a:extLst>
              <a:ext uri="{FF2B5EF4-FFF2-40B4-BE49-F238E27FC236}">
                <a16:creationId xmlns:a16="http://schemas.microsoft.com/office/drawing/2014/main" id="{5AADB253-175A-4918-99A0-58464474E78C}"/>
              </a:ext>
            </a:extLst>
          </p:cNvPr>
          <p:cNvSpPr>
            <a:spLocks noGrp="1"/>
          </p:cNvSpPr>
          <p:nvPr/>
        </p:nvSpPr>
        <p:spPr>
          <a:xfrm>
            <a:off x="4625975" y="38100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2F7E83"/>
                </a:solidFill>
                <a:latin typeface="Calibri"/>
                <a:ea typeface="Calibri"/>
                <a:cs typeface="Calibri"/>
              </a:defRPr>
            </a:pPr>
            <a:r>
              <a:rPr sz="2400" b="1" i="0">
                <a:solidFill>
                  <a:srgbClr val="2F7E83"/>
                </a:solidFill>
                <a:latin typeface="Calibri"/>
                <a:ea typeface="Calibri"/>
                <a:cs typeface="Calibri"/>
              </a:rPr>
              <a:t>Tejidos blandos</a:t>
            </a:r>
          </a:p>
        </p:txBody>
      </p:sp>
      <p:sp>
        <p:nvSpPr>
          <p:cNvPr id="24" name="U06-DG-026B-cell_5-body">
            <a:extLst>
              <a:ext uri="{FF2B5EF4-FFF2-40B4-BE49-F238E27FC236}">
                <a16:creationId xmlns:a16="http://schemas.microsoft.com/office/drawing/2014/main" id="{009E2385-F0E0-46DC-9826-7F5B7EC738CA}"/>
              </a:ext>
            </a:extLst>
          </p:cNvPr>
          <p:cNvSpPr>
            <a:spLocks noGrp="1"/>
          </p:cNvSpPr>
          <p:nvPr/>
        </p:nvSpPr>
        <p:spPr>
          <a:xfrm>
            <a:off x="4625975" y="42576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transmisión</a:t>
            </a:r>
          </a:p>
        </p:txBody>
      </p:sp>
      <p:sp>
        <p:nvSpPr>
          <p:cNvPr id="25" name="U06-DG-026B-cell_6-box">
            <a:extLst>
              <a:ext uri="{FF2B5EF4-FFF2-40B4-BE49-F238E27FC236}">
                <a16:creationId xmlns:a16="http://schemas.microsoft.com/office/drawing/2014/main" id="{82BD76E4-E19F-4A59-9EC7-1ECD10008BE8}"/>
              </a:ext>
            </a:extLst>
          </p:cNvPr>
          <p:cNvSpPr>
            <a:spLocks noGrp="1"/>
          </p:cNvSpPr>
          <p:nvPr/>
        </p:nvSpPr>
        <p:spPr>
          <a:xfrm>
            <a:off x="8089900" y="3667125"/>
            <a:ext cx="3321050" cy="1809750"/>
          </a:xfrm>
          <a:prstGeom prst="roundRect">
            <a:avLst>
              <a:gd name="adj" fmla="val 5263"/>
            </a:avLst>
          </a:prstGeom>
          <a:solidFill>
            <a:srgbClr val="F8EDE2"/>
          </a:solidFill>
          <a:ln w="19050">
            <a:solidFill>
              <a:srgbClr val="9F541A"/>
            </a:solidFill>
            <a:prstDash val="solid"/>
          </a:ln>
        </p:spPr>
      </p:sp>
      <p:sp>
        <p:nvSpPr>
          <p:cNvPr id="26" name="U06-DG-026B-cell_6-title">
            <a:extLst>
              <a:ext uri="{FF2B5EF4-FFF2-40B4-BE49-F238E27FC236}">
                <a16:creationId xmlns:a16="http://schemas.microsoft.com/office/drawing/2014/main" id="{D6C7B32C-E3B4-4876-B087-D9E14F63B15E}"/>
              </a:ext>
            </a:extLst>
          </p:cNvPr>
          <p:cNvSpPr>
            <a:spLocks noGrp="1"/>
          </p:cNvSpPr>
          <p:nvPr/>
        </p:nvSpPr>
        <p:spPr>
          <a:xfrm>
            <a:off x="8280400" y="3810000"/>
            <a:ext cx="2940050" cy="400050"/>
          </a:xfrm>
          <a:prstGeom prst="rect">
            <a:avLst/>
          </a:prstGeom>
          <a:noFill/>
          <a:ln w="0">
            <a:noFill/>
            <a:prstDash val="solid"/>
          </a:ln>
        </p:spPr>
        <p:txBody>
          <a:bodyPr wrap="square" lIns="0" tIns="0" rIns="0" bIns="0" anchor="t">
            <a:noAutofit/>
          </a:bodyPr>
          <a:lstStyle/>
          <a:p>
            <a:pPr algn="ctr">
              <a:lnSpc>
                <a:spcPct val="102000"/>
              </a:lnSpc>
              <a:buNone/>
              <a:defRPr sz="2400" b="1" i="0">
                <a:solidFill>
                  <a:srgbClr val="9F541A"/>
                </a:solidFill>
                <a:latin typeface="Calibri"/>
                <a:ea typeface="Calibri"/>
                <a:cs typeface="Calibri"/>
              </a:defRPr>
            </a:pPr>
            <a:r>
              <a:rPr sz="2400" b="1" i="0">
                <a:solidFill>
                  <a:srgbClr val="9F541A"/>
                </a:solidFill>
                <a:latin typeface="Calibri"/>
                <a:ea typeface="Calibri"/>
                <a:cs typeface="Calibri"/>
              </a:rPr>
              <a:t>Respuesta coclear</a:t>
            </a:r>
          </a:p>
        </p:txBody>
      </p:sp>
      <p:sp>
        <p:nvSpPr>
          <p:cNvPr id="27" name="U06-DG-026B-cell_6-body">
            <a:extLst>
              <a:ext uri="{FF2B5EF4-FFF2-40B4-BE49-F238E27FC236}">
                <a16:creationId xmlns:a16="http://schemas.microsoft.com/office/drawing/2014/main" id="{9643BABB-5840-4121-8F06-6683354B8BE2}"/>
              </a:ext>
            </a:extLst>
          </p:cNvPr>
          <p:cNvSpPr>
            <a:spLocks noGrp="1"/>
          </p:cNvSpPr>
          <p:nvPr/>
        </p:nvSpPr>
        <p:spPr>
          <a:xfrm>
            <a:off x="8280400" y="4257675"/>
            <a:ext cx="2940050" cy="1123950"/>
          </a:xfrm>
          <a:prstGeom prst="rect">
            <a:avLst/>
          </a:prstGeom>
          <a:noFill/>
          <a:ln w="0">
            <a:noFill/>
            <a:prstDash val="solid"/>
          </a:ln>
        </p:spPr>
        <p:txBody>
          <a:bodyPr wrap="square" lIns="0" tIns="0" rIns="0" bIns="0" anchor="t">
            <a:noAutofit/>
          </a:bodyPr>
          <a:lstStyle/>
          <a:p>
            <a:pPr algn="ctr">
              <a:lnSpc>
                <a:spcPct val="102000"/>
              </a:lnSpc>
              <a:buNone/>
              <a:defRPr sz="2250" b="0" i="0">
                <a:solidFill>
                  <a:srgbClr val="3D3D3D"/>
                </a:solidFill>
                <a:latin typeface="Calibri"/>
                <a:ea typeface="Calibri"/>
                <a:cs typeface="Calibri"/>
              </a:defRPr>
            </a:pPr>
            <a:r>
              <a:rPr sz="2250" b="0" i="0">
                <a:solidFill>
                  <a:srgbClr val="3D3D3D"/>
                </a:solidFill>
                <a:latin typeface="Calibri"/>
                <a:ea typeface="Calibri"/>
                <a:cs typeface="Calibri"/>
              </a:rPr>
              <a:t>suma condicionada</a:t>
            </a:r>
          </a:p>
        </p:txBody>
      </p:sp>
      <p:sp>
        <p:nvSpPr>
          <p:cNvPr id="28" name="caption">
            <a:extLst>
              <a:ext uri="{FF2B5EF4-FFF2-40B4-BE49-F238E27FC236}">
                <a16:creationId xmlns:a16="http://schemas.microsoft.com/office/drawing/2014/main" id="{4425AE04-F586-4DD3-827E-1B085EEF5BB9}"/>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contribución relativa depende de frecuencia, transductor y condiciones; no ha…</a:t>
            </a:r>
          </a:p>
        </p:txBody>
      </p:sp>
      <p:sp>
        <p:nvSpPr>
          <p:cNvPr id="29" name="credit">
            <a:extLst>
              <a:ext uri="{FF2B5EF4-FFF2-40B4-BE49-F238E27FC236}">
                <a16:creationId xmlns:a16="http://schemas.microsoft.com/office/drawing/2014/main" id="{9AE52659-3BB5-4BA9-8784-F129A9DE8AA2}"/>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Producción propia UCASAL.</a:t>
            </a:r>
          </a:p>
        </p:txBody>
      </p:sp>
    </p:spTree>
    <p:extLst>
      <p:ext uri="{BB962C8B-B14F-4D97-AF65-F5344CB8AC3E}">
        <p14:creationId xmlns:p14="http://schemas.microsoft.com/office/powerpoint/2010/main" val="31302185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BADDAF43-4D05-4537-AF64-453EB0840B36}"/>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Detalle electroquímico de la transducción</a:t>
            </a:r>
          </a:p>
        </p:txBody>
      </p:sp>
      <p:sp>
        <p:nvSpPr>
          <p:cNvPr id="2" name="slide-subtitle">
            <a:extLst>
              <a:ext uri="{FF2B5EF4-FFF2-40B4-BE49-F238E27FC236}">
                <a16:creationId xmlns:a16="http://schemas.microsoft.com/office/drawing/2014/main" id="{52ACF5F9-7B0F-4ACD-A3FF-B0B5986D474B}"/>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 dirección de corrientes depende de gradientes electroquímicos y compartimentos, no solo de “carga positiva”.</a:t>
            </a:r>
          </a:p>
        </p:txBody>
      </p:sp>
      <p:sp>
        <p:nvSpPr>
          <p:cNvPr id="3" name="eyebrow">
            <a:extLst>
              <a:ext uri="{FF2B5EF4-FFF2-40B4-BE49-F238E27FC236}">
                <a16:creationId xmlns:a16="http://schemas.microsoft.com/office/drawing/2014/main" id="{2A911785-204E-41DB-B2B3-E626103194A5}"/>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114</a:t>
            </a:r>
          </a:p>
        </p:txBody>
      </p:sp>
      <p:sp>
        <p:nvSpPr>
          <p:cNvPr id="4" name="main-ideas">
            <a:extLst>
              <a:ext uri="{FF2B5EF4-FFF2-40B4-BE49-F238E27FC236}">
                <a16:creationId xmlns:a16="http://schemas.microsoft.com/office/drawing/2014/main" id="{EE786595-8980-41BE-9188-316B1A36885B}"/>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K⁺: entrada apical y despolarización.</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Ca²⁺: acoplamiento basal con liberación.</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Repolarización: cierre del ciclo celular.</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Glutamato: comunicación con la fibra.</a:t>
            </a:r>
          </a:p>
        </p:txBody>
      </p:sp>
      <p:sp>
        <p:nvSpPr>
          <p:cNvPr id="5" name="side-panel-box">
            <a:extLst>
              <a:ext uri="{FF2B5EF4-FFF2-40B4-BE49-F238E27FC236}">
                <a16:creationId xmlns:a16="http://schemas.microsoft.com/office/drawing/2014/main" id="{404F98C3-D7AB-4FA5-8227-A06AD637463C}"/>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ABDDBA6D-0882-4CC5-AF8F-7E1F5B6DD54D}"/>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20436C4E-7876-49B8-8518-0034D1FFDDCC}"/>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dirección de corrientes depende de gradientes electroquímicos y compartimentos, no solo de “carga positiva”.</a:t>
            </a:r>
          </a:p>
        </p:txBody>
      </p:sp>
      <p:sp>
        <p:nvSpPr>
          <p:cNvPr id="8" name="caption">
            <a:extLst>
              <a:ext uri="{FF2B5EF4-FFF2-40B4-BE49-F238E27FC236}">
                <a16:creationId xmlns:a16="http://schemas.microsoft.com/office/drawing/2014/main" id="{8CA642E1-7FF1-45EC-AC48-34813174CC8D}"/>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Conceptual; no a escala. La dirección de corrientes depende de gradientes electroquímicos y compartimento…</a:t>
            </a:r>
          </a:p>
        </p:txBody>
      </p:sp>
      <p:sp>
        <p:nvSpPr>
          <p:cNvPr id="9" name="credit">
            <a:extLst>
              <a:ext uri="{FF2B5EF4-FFF2-40B4-BE49-F238E27FC236}">
                <a16:creationId xmlns:a16="http://schemas.microsoft.com/office/drawing/2014/main" id="{3CF34455-5A29-4FBD-9B0B-579C3F6BEEA7}"/>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TEX 6.8.3; PDF p. 163; REF fettiplace2017, capraraPeng2022.</a:t>
            </a:r>
          </a:p>
        </p:txBody>
      </p:sp>
    </p:spTree>
    <p:extLst>
      <p:ext uri="{BB962C8B-B14F-4D97-AF65-F5344CB8AC3E}">
        <p14:creationId xmlns:p14="http://schemas.microsoft.com/office/powerpoint/2010/main" val="31302185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B2A856D1-9B0F-45D8-A230-6D140FC4A94C}"/>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Reflejo acústico: latencia, umbral y límites</a:t>
            </a:r>
          </a:p>
        </p:txBody>
      </p:sp>
      <p:sp>
        <p:nvSpPr>
          <p:cNvPr id="2" name="slide-subtitle">
            <a:extLst>
              <a:ext uri="{FF2B5EF4-FFF2-40B4-BE49-F238E27FC236}">
                <a16:creationId xmlns:a16="http://schemas.microsoft.com/office/drawing/2014/main" id="{1D19BD9B-AE59-4967-BC74-16A9B9A46072}"/>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Latencia y umbral varían con estímulo y método; no deben presentarse como constantes universales.</a:t>
            </a:r>
          </a:p>
        </p:txBody>
      </p:sp>
      <p:sp>
        <p:nvSpPr>
          <p:cNvPr id="3" name="eyebrow">
            <a:extLst>
              <a:ext uri="{FF2B5EF4-FFF2-40B4-BE49-F238E27FC236}">
                <a16:creationId xmlns:a16="http://schemas.microsoft.com/office/drawing/2014/main" id="{4CB99FBC-4B3C-46FA-8F17-C217DD1CE64C}"/>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115</a:t>
            </a:r>
          </a:p>
        </p:txBody>
      </p:sp>
      <p:sp>
        <p:nvSpPr>
          <p:cNvPr id="4" name="blocked-frame">
            <a:extLst>
              <a:ext uri="{FF2B5EF4-FFF2-40B4-BE49-F238E27FC236}">
                <a16:creationId xmlns:a16="http://schemas.microsoft.com/office/drawing/2014/main" id="{45A2E0B1-9233-4104-98C9-039B6353BC76}"/>
              </a:ext>
            </a:extLst>
          </p:cNvPr>
          <p:cNvSpPr>
            <a:spLocks noGrp="1"/>
          </p:cNvSpPr>
          <p:nvPr/>
        </p:nvSpPr>
        <p:spPr>
          <a:xfrm>
            <a:off x="1476375" y="1762125"/>
            <a:ext cx="9239250" cy="3143250"/>
          </a:xfrm>
          <a:prstGeom prst="roundRect">
            <a:avLst>
              <a:gd name="adj" fmla="val 3636"/>
            </a:avLst>
          </a:prstGeom>
          <a:solidFill>
            <a:srgbClr val="F7F6F2"/>
          </a:solidFill>
          <a:ln w="19050">
            <a:solidFill>
              <a:srgbClr val="969FA7"/>
            </a:solidFill>
            <a:prstDash val="solid"/>
          </a:ln>
        </p:spPr>
      </p:sp>
      <p:sp>
        <p:nvSpPr>
          <p:cNvPr id="5" name="blocked-heading">
            <a:extLst>
              <a:ext uri="{FF2B5EF4-FFF2-40B4-BE49-F238E27FC236}">
                <a16:creationId xmlns:a16="http://schemas.microsoft.com/office/drawing/2014/main" id="{9A401AF0-3FF4-420F-9569-53FB4F42736B}"/>
              </a:ext>
            </a:extLst>
          </p:cNvPr>
          <p:cNvSpPr>
            <a:spLocks noGrp="1"/>
          </p:cNvSpPr>
          <p:nvPr/>
        </p:nvSpPr>
        <p:spPr>
          <a:xfrm>
            <a:off x="1952625" y="2190750"/>
            <a:ext cx="8286750" cy="523875"/>
          </a:xfrm>
          <a:prstGeom prst="rect">
            <a:avLst/>
          </a:prstGeom>
          <a:noFill/>
          <a:ln w="0">
            <a:noFill/>
            <a:prstDash val="solid"/>
          </a:ln>
        </p:spPr>
        <p:txBody>
          <a:bodyPr wrap="square" lIns="57150" tIns="38100" rIns="57150" bIns="38100" anchor="t">
            <a:noAutofit/>
          </a:bodyPr>
          <a:lstStyle/>
          <a:p>
            <a:pPr algn="ctr">
              <a:lnSpc>
                <a:spcPct val="102000"/>
              </a:lnSpc>
              <a:buNone/>
              <a:defRPr sz="2550" b="1" i="0">
                <a:solidFill>
                  <a:srgbClr val="4D1434"/>
                </a:solidFill>
                <a:latin typeface="Calibri"/>
                <a:ea typeface="Calibri"/>
                <a:cs typeface="Calibri"/>
              </a:defRPr>
            </a:pPr>
            <a:r>
              <a:rPr sz="2550" b="1" i="0">
                <a:solidFill>
                  <a:srgbClr val="4D1434"/>
                </a:solidFill>
                <a:latin typeface="Calibri"/>
                <a:ea typeface="Calibri"/>
                <a:cs typeface="Calibri"/>
              </a:rPr>
              <a:t>Material de respaldo no habilitado para proyección</a:t>
            </a:r>
          </a:p>
        </p:txBody>
      </p:sp>
      <p:sp>
        <p:nvSpPr>
          <p:cNvPr id="6" name="blocked-message">
            <a:extLst>
              <a:ext uri="{FF2B5EF4-FFF2-40B4-BE49-F238E27FC236}">
                <a16:creationId xmlns:a16="http://schemas.microsoft.com/office/drawing/2014/main" id="{63052C8B-FD11-450F-B2AE-8E5F88F2DAB7}"/>
              </a:ext>
            </a:extLst>
          </p:cNvPr>
          <p:cNvSpPr>
            <a:spLocks noGrp="1"/>
          </p:cNvSpPr>
          <p:nvPr/>
        </p:nvSpPr>
        <p:spPr>
          <a:xfrm>
            <a:off x="2238375" y="3095625"/>
            <a:ext cx="7715250" cy="1000125"/>
          </a:xfrm>
          <a:prstGeom prst="rect">
            <a:avLst/>
          </a:prstGeom>
          <a:noFill/>
          <a:ln w="0">
            <a:noFill/>
            <a:prstDash val="solid"/>
          </a:ln>
        </p:spPr>
        <p:txBody>
          <a:bodyPr wrap="square" lIns="57150" tIns="38100" rIns="57150" bIns="38100" anchor="ctr">
            <a:noAutofit/>
          </a:bodyPr>
          <a:lstStyle/>
          <a:p>
            <a:pPr algn="ctr">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La definición y el rotulado requieren una fuente específica autorizada. Esta versión no completa el contenido por inferencia.</a:t>
            </a:r>
          </a:p>
        </p:txBody>
      </p:sp>
      <p:sp>
        <p:nvSpPr>
          <p:cNvPr id="7" name="blocked-label">
            <a:extLst>
              <a:ext uri="{FF2B5EF4-FFF2-40B4-BE49-F238E27FC236}">
                <a16:creationId xmlns:a16="http://schemas.microsoft.com/office/drawing/2014/main" id="{56B28045-BD55-4668-BFCC-2DD08E2B1E5E}"/>
              </a:ext>
            </a:extLst>
          </p:cNvPr>
          <p:cNvSpPr>
            <a:spLocks noGrp="1"/>
          </p:cNvSpPr>
          <p:nvPr/>
        </p:nvSpPr>
        <p:spPr>
          <a:xfrm>
            <a:off x="4714875" y="4333875"/>
            <a:ext cx="2762250" cy="381000"/>
          </a:xfrm>
          <a:prstGeom prst="rect">
            <a:avLst/>
          </a:prstGeom>
          <a:noFill/>
          <a:ln w="0">
            <a:noFill/>
            <a:prstDash val="solid"/>
          </a:ln>
        </p:spPr>
        <p:txBody>
          <a:bodyPr wrap="square" lIns="57150" tIns="38100" rIns="57150" bIns="38100" anchor="t">
            <a:noAutofit/>
          </a:bodyPr>
          <a:lstStyle/>
          <a:p>
            <a:pPr algn="ctr">
              <a:lnSpc>
                <a:spcPct val="102000"/>
              </a:lnSpc>
              <a:buNone/>
              <a:defRPr sz="1800" b="1" i="0">
                <a:solidFill>
                  <a:srgbClr val="A33A3A"/>
                </a:solidFill>
                <a:latin typeface="Calibri"/>
                <a:ea typeface="Calibri"/>
                <a:cs typeface="Calibri"/>
              </a:defRPr>
            </a:pPr>
            <a:r>
              <a:rPr sz="1800" b="1" i="0">
                <a:solidFill>
                  <a:srgbClr val="A33A3A"/>
                </a:solidFill>
                <a:latin typeface="Calibri"/>
                <a:ea typeface="Calibri"/>
                <a:cs typeface="Calibri"/>
              </a:rPr>
              <a:t>No proyectar</a:t>
            </a:r>
          </a:p>
        </p:txBody>
      </p:sp>
      <p:sp>
        <p:nvSpPr>
          <p:cNvPr id="8" name="caption">
            <a:extLst>
              <a:ext uri="{FF2B5EF4-FFF2-40B4-BE49-F238E27FC236}">
                <a16:creationId xmlns:a16="http://schemas.microsoft.com/office/drawing/2014/main" id="{D3389A9F-E36B-4FD8-8CE2-E1CBDFFA9CEF}"/>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Recurso no aprobado: falta fuente específica; no usar en producción.</a:t>
            </a:r>
          </a:p>
        </p:txBody>
      </p:sp>
      <p:sp>
        <p:nvSpPr>
          <p:cNvPr id="9" name="credit">
            <a:extLst>
              <a:ext uri="{FF2B5EF4-FFF2-40B4-BE49-F238E27FC236}">
                <a16:creationId xmlns:a16="http://schemas.microsoft.com/office/drawing/2014/main" id="{042E5F41-42C2-4055-8B23-471CB974348F}"/>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6.5.4; PDF pp. 157–158; OD-U06-10; EXT-PEND.</a:t>
            </a:r>
          </a:p>
        </p:txBody>
      </p:sp>
    </p:spTree>
    <p:extLst>
      <p:ext uri="{BB962C8B-B14F-4D97-AF65-F5344CB8AC3E}">
        <p14:creationId xmlns:p14="http://schemas.microsoft.com/office/powerpoint/2010/main" val="3130218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60D6157B-2B3E-4828-B095-D1D24BC71E99}"/>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Túnel de Corti: fuente y rotulado de alta fidelidad</a:t>
            </a:r>
          </a:p>
        </p:txBody>
      </p:sp>
      <p:sp>
        <p:nvSpPr>
          <p:cNvPr id="2" name="slide-subtitle">
            <a:extLst>
              <a:ext uri="{FF2B5EF4-FFF2-40B4-BE49-F238E27FC236}">
                <a16:creationId xmlns:a16="http://schemas.microsoft.com/office/drawing/2014/main" id="{044B5FB4-FDA1-4DDA-BC57-98DD046C058A}"/>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El visual debe mostrar límites anatómicos y relación con pilares sin distorsión.</a:t>
            </a:r>
          </a:p>
        </p:txBody>
      </p:sp>
      <p:sp>
        <p:nvSpPr>
          <p:cNvPr id="3" name="eyebrow">
            <a:extLst>
              <a:ext uri="{FF2B5EF4-FFF2-40B4-BE49-F238E27FC236}">
                <a16:creationId xmlns:a16="http://schemas.microsoft.com/office/drawing/2014/main" id="{C4E1C3BE-BC6D-43B4-906F-9A0637ECBB11}"/>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116</a:t>
            </a:r>
          </a:p>
        </p:txBody>
      </p:sp>
      <p:sp>
        <p:nvSpPr>
          <p:cNvPr id="4" name="blocked-frame">
            <a:extLst>
              <a:ext uri="{FF2B5EF4-FFF2-40B4-BE49-F238E27FC236}">
                <a16:creationId xmlns:a16="http://schemas.microsoft.com/office/drawing/2014/main" id="{FA547C4E-BDCA-4738-834F-CA76C9AD0331}"/>
              </a:ext>
            </a:extLst>
          </p:cNvPr>
          <p:cNvSpPr>
            <a:spLocks noGrp="1"/>
          </p:cNvSpPr>
          <p:nvPr/>
        </p:nvSpPr>
        <p:spPr>
          <a:xfrm>
            <a:off x="1476375" y="1762125"/>
            <a:ext cx="9239250" cy="3143250"/>
          </a:xfrm>
          <a:prstGeom prst="roundRect">
            <a:avLst>
              <a:gd name="adj" fmla="val 3636"/>
            </a:avLst>
          </a:prstGeom>
          <a:solidFill>
            <a:srgbClr val="F7F6F2"/>
          </a:solidFill>
          <a:ln w="19050">
            <a:solidFill>
              <a:srgbClr val="969FA7"/>
            </a:solidFill>
            <a:prstDash val="solid"/>
          </a:ln>
        </p:spPr>
      </p:sp>
      <p:sp>
        <p:nvSpPr>
          <p:cNvPr id="5" name="blocked-heading">
            <a:extLst>
              <a:ext uri="{FF2B5EF4-FFF2-40B4-BE49-F238E27FC236}">
                <a16:creationId xmlns:a16="http://schemas.microsoft.com/office/drawing/2014/main" id="{758372DD-753E-4C84-9AF9-2B484CD8D5C8}"/>
              </a:ext>
            </a:extLst>
          </p:cNvPr>
          <p:cNvSpPr>
            <a:spLocks noGrp="1"/>
          </p:cNvSpPr>
          <p:nvPr/>
        </p:nvSpPr>
        <p:spPr>
          <a:xfrm>
            <a:off x="1952625" y="2190750"/>
            <a:ext cx="8286750" cy="523875"/>
          </a:xfrm>
          <a:prstGeom prst="rect">
            <a:avLst/>
          </a:prstGeom>
          <a:noFill/>
          <a:ln w="0">
            <a:noFill/>
            <a:prstDash val="solid"/>
          </a:ln>
        </p:spPr>
        <p:txBody>
          <a:bodyPr wrap="square" lIns="57150" tIns="38100" rIns="57150" bIns="38100" anchor="t">
            <a:noAutofit/>
          </a:bodyPr>
          <a:lstStyle/>
          <a:p>
            <a:pPr algn="ctr">
              <a:lnSpc>
                <a:spcPct val="102000"/>
              </a:lnSpc>
              <a:buNone/>
              <a:defRPr sz="2550" b="1" i="0">
                <a:solidFill>
                  <a:srgbClr val="4D1434"/>
                </a:solidFill>
                <a:latin typeface="Calibri"/>
                <a:ea typeface="Calibri"/>
                <a:cs typeface="Calibri"/>
              </a:defRPr>
            </a:pPr>
            <a:r>
              <a:rPr sz="2550" b="1" i="0">
                <a:solidFill>
                  <a:srgbClr val="4D1434"/>
                </a:solidFill>
                <a:latin typeface="Calibri"/>
                <a:ea typeface="Calibri"/>
                <a:cs typeface="Calibri"/>
              </a:rPr>
              <a:t>Material de respaldo no habilitado para proyección</a:t>
            </a:r>
          </a:p>
        </p:txBody>
      </p:sp>
      <p:sp>
        <p:nvSpPr>
          <p:cNvPr id="6" name="blocked-message">
            <a:extLst>
              <a:ext uri="{FF2B5EF4-FFF2-40B4-BE49-F238E27FC236}">
                <a16:creationId xmlns:a16="http://schemas.microsoft.com/office/drawing/2014/main" id="{D5F7ACFD-5DA0-49DE-A565-D7E7E61EA2EB}"/>
              </a:ext>
            </a:extLst>
          </p:cNvPr>
          <p:cNvSpPr>
            <a:spLocks noGrp="1"/>
          </p:cNvSpPr>
          <p:nvPr/>
        </p:nvSpPr>
        <p:spPr>
          <a:xfrm>
            <a:off x="2238375" y="3095625"/>
            <a:ext cx="7715250" cy="1000125"/>
          </a:xfrm>
          <a:prstGeom prst="rect">
            <a:avLst/>
          </a:prstGeom>
          <a:noFill/>
          <a:ln w="0">
            <a:noFill/>
            <a:prstDash val="solid"/>
          </a:ln>
        </p:spPr>
        <p:txBody>
          <a:bodyPr wrap="square" lIns="57150" tIns="38100" rIns="57150" bIns="38100" anchor="ctr">
            <a:noAutofit/>
          </a:bodyPr>
          <a:lstStyle/>
          <a:p>
            <a:pPr algn="ctr">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La definición y el rotulado requieren una fuente específica autorizada. Esta versión no completa el contenido por inferencia.</a:t>
            </a:r>
          </a:p>
        </p:txBody>
      </p:sp>
      <p:sp>
        <p:nvSpPr>
          <p:cNvPr id="7" name="blocked-label">
            <a:extLst>
              <a:ext uri="{FF2B5EF4-FFF2-40B4-BE49-F238E27FC236}">
                <a16:creationId xmlns:a16="http://schemas.microsoft.com/office/drawing/2014/main" id="{4A8FDB86-1747-4391-A442-9BDC35D4CA15}"/>
              </a:ext>
            </a:extLst>
          </p:cNvPr>
          <p:cNvSpPr>
            <a:spLocks noGrp="1"/>
          </p:cNvSpPr>
          <p:nvPr/>
        </p:nvSpPr>
        <p:spPr>
          <a:xfrm>
            <a:off x="4714875" y="4333875"/>
            <a:ext cx="2762250" cy="381000"/>
          </a:xfrm>
          <a:prstGeom prst="rect">
            <a:avLst/>
          </a:prstGeom>
          <a:noFill/>
          <a:ln w="0">
            <a:noFill/>
            <a:prstDash val="solid"/>
          </a:ln>
        </p:spPr>
        <p:txBody>
          <a:bodyPr wrap="square" lIns="57150" tIns="38100" rIns="57150" bIns="38100" anchor="t">
            <a:noAutofit/>
          </a:bodyPr>
          <a:lstStyle/>
          <a:p>
            <a:pPr algn="ctr">
              <a:lnSpc>
                <a:spcPct val="102000"/>
              </a:lnSpc>
              <a:buNone/>
              <a:defRPr sz="1800" b="1" i="0">
                <a:solidFill>
                  <a:srgbClr val="A33A3A"/>
                </a:solidFill>
                <a:latin typeface="Calibri"/>
                <a:ea typeface="Calibri"/>
                <a:cs typeface="Calibri"/>
              </a:defRPr>
            </a:pPr>
            <a:r>
              <a:rPr sz="1800" b="1" i="0">
                <a:solidFill>
                  <a:srgbClr val="A33A3A"/>
                </a:solidFill>
                <a:latin typeface="Calibri"/>
                <a:ea typeface="Calibri"/>
                <a:cs typeface="Calibri"/>
              </a:rPr>
              <a:t>No proyectar</a:t>
            </a:r>
          </a:p>
        </p:txBody>
      </p:sp>
      <p:sp>
        <p:nvSpPr>
          <p:cNvPr id="8" name="caption">
            <a:extLst>
              <a:ext uri="{FF2B5EF4-FFF2-40B4-BE49-F238E27FC236}">
                <a16:creationId xmlns:a16="http://schemas.microsoft.com/office/drawing/2014/main" id="{ABB88557-B0CB-4019-9EFA-0A4ED91FAA26}"/>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Recurso no aprobado: falta fuente específica; no usar en producción.</a:t>
            </a:r>
          </a:p>
        </p:txBody>
      </p:sp>
      <p:sp>
        <p:nvSpPr>
          <p:cNvPr id="9" name="credit">
            <a:extLst>
              <a:ext uri="{FF2B5EF4-FFF2-40B4-BE49-F238E27FC236}">
                <a16:creationId xmlns:a16="http://schemas.microsoft.com/office/drawing/2014/main" id="{9749A130-7246-416E-A06F-BBECD521AD74}"/>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OD-U06-04/14; EXT-PEND.</a:t>
            </a:r>
          </a:p>
        </p:txBody>
      </p:sp>
    </p:spTree>
    <p:extLst>
      <p:ext uri="{BB962C8B-B14F-4D97-AF65-F5344CB8AC3E}">
        <p14:creationId xmlns:p14="http://schemas.microsoft.com/office/powerpoint/2010/main" val="3130218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ED0956A0-FAC8-41FB-B9E3-899612BC76B4}"/>
              </a:ext>
            </a:extLst>
          </p:cNvPr>
          <p:cNvSpPr>
            <a:spLocks noGrp="1"/>
          </p:cNvSpPr>
          <p:nvPr/>
        </p:nvSpPr>
        <p:spPr>
          <a:xfrm>
            <a:off x="495300" y="409575"/>
            <a:ext cx="11163300" cy="552450"/>
          </a:xfrm>
          <a:prstGeom prst="rect">
            <a:avLst/>
          </a:prstGeom>
          <a:noFill/>
          <a:ln w="0">
            <a:noFill/>
            <a:prstDash val="solid"/>
          </a:ln>
        </p:spPr>
        <p:txBody>
          <a:bodyPr wrap="square" lIns="28575" tIns="0" rIns="28575" bIns="0" anchor="t">
            <a:noAutofit/>
          </a:bodyPr>
          <a:lstStyle/>
          <a:p>
            <a:pPr algn="l">
              <a:lnSpc>
                <a:spcPct val="102000"/>
              </a:lnSpc>
              <a:buNone/>
              <a:defRPr sz="3450" b="0" i="0">
                <a:solidFill>
                  <a:srgbClr val="4D1434"/>
                </a:solidFill>
                <a:latin typeface="Calibri Light"/>
                <a:ea typeface="Calibri Light"/>
                <a:cs typeface="Calibri Light"/>
              </a:defRPr>
            </a:pPr>
            <a:r>
              <a:rPr sz="3450" b="0" i="0">
                <a:solidFill>
                  <a:srgbClr val="4D1434"/>
                </a:solidFill>
                <a:latin typeface="Calibri Light"/>
                <a:ea typeface="Calibri Light"/>
                <a:cs typeface="Calibri Light"/>
              </a:rPr>
              <a:t>Fuentes, glosario y decisiones de alcance</a:t>
            </a:r>
          </a:p>
        </p:txBody>
      </p:sp>
      <p:sp>
        <p:nvSpPr>
          <p:cNvPr id="2" name="slide-subtitle">
            <a:extLst>
              <a:ext uri="{FF2B5EF4-FFF2-40B4-BE49-F238E27FC236}">
                <a16:creationId xmlns:a16="http://schemas.microsoft.com/office/drawing/2014/main" id="{783A3D95-E31F-42BA-B059-9076D405A38C}"/>
              </a:ext>
            </a:extLst>
          </p:cNvPr>
          <p:cNvSpPr>
            <a:spLocks noGrp="1"/>
          </p:cNvSpPr>
          <p:nvPr/>
        </p:nvSpPr>
        <p:spPr>
          <a:xfrm>
            <a:off x="523875" y="962025"/>
            <a:ext cx="10953750" cy="295275"/>
          </a:xfrm>
          <a:prstGeom prst="rect">
            <a:avLst/>
          </a:prstGeom>
          <a:noFill/>
          <a:ln w="0">
            <a:noFill/>
            <a:prstDash val="solid"/>
          </a:ln>
        </p:spPr>
        <p:txBody>
          <a:bodyPr wrap="square" lIns="28575" tIns="0" rIns="28575" bIns="0" anchor="t">
            <a:noAutofit/>
          </a:bodyPr>
          <a:lstStyle/>
          <a:p>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Cada ampliación, visual y decisión debe poder rastrearse.</a:t>
            </a:r>
          </a:p>
        </p:txBody>
      </p:sp>
      <p:sp>
        <p:nvSpPr>
          <p:cNvPr id="3" name="eyebrow">
            <a:extLst>
              <a:ext uri="{FF2B5EF4-FFF2-40B4-BE49-F238E27FC236}">
                <a16:creationId xmlns:a16="http://schemas.microsoft.com/office/drawing/2014/main" id="{55D88291-31B0-460A-B8FF-5CCCAFDD615F}"/>
              </a:ext>
            </a:extLst>
          </p:cNvPr>
          <p:cNvSpPr>
            <a:spLocks noGrp="1"/>
          </p:cNvSpPr>
          <p:nvPr/>
        </p:nvSpPr>
        <p:spPr>
          <a:xfrm>
            <a:off x="476250" y="19050"/>
            <a:ext cx="2333625" cy="228600"/>
          </a:xfrm>
          <a:prstGeom prst="rect">
            <a:avLst/>
          </a:prstGeom>
          <a:noFill/>
          <a:ln w="0">
            <a:noFill/>
            <a:prstDash val="solid"/>
          </a:ln>
        </p:spPr>
        <p:txBody>
          <a:bodyPr wrap="square" lIns="19050" tIns="0" rIns="19050" bIns="0" anchor="t">
            <a:noAutofit/>
          </a:bodyPr>
          <a:lstStyle/>
          <a:p>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6 · 117</a:t>
            </a:r>
          </a:p>
        </p:txBody>
      </p:sp>
      <p:sp>
        <p:nvSpPr>
          <p:cNvPr id="4" name="main-ideas">
            <a:extLst>
              <a:ext uri="{FF2B5EF4-FFF2-40B4-BE49-F238E27FC236}">
                <a16:creationId xmlns:a16="http://schemas.microsoft.com/office/drawing/2014/main" id="{8496C8E5-91AE-429F-A112-4A98A5686790}"/>
              </a:ext>
            </a:extLst>
          </p:cNvPr>
          <p:cNvSpPr>
            <a:spLocks noGrp="1"/>
          </p:cNvSpPr>
          <p:nvPr/>
        </p:nvSpPr>
        <p:spPr>
          <a:xfrm>
            <a:off x="666750" y="1524000"/>
            <a:ext cx="6762750" cy="3857625"/>
          </a:xfrm>
          <a:prstGeom prst="rect">
            <a:avLst/>
          </a:prstGeom>
          <a:noFill/>
          <a:ln w="0">
            <a:noFill/>
            <a:prstDash val="solid"/>
          </a:ln>
        </p:spPr>
        <p:txBody>
          <a:bodyPr wrap="square" lIns="76200" tIns="76200" rIns="76200" bIns="76200">
            <a:noAutofit/>
          </a:bodyPr>
          <a:lstStyle/>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Programa oficial</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capítulo LaTeX/PDF</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bibliografía del capítulo</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glosario y notación</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manifiesto de assets</a:t>
            </a:r>
          </a:p>
          <a:p>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decisiones abiertas.</a:t>
            </a:r>
          </a:p>
        </p:txBody>
      </p:sp>
      <p:sp>
        <p:nvSpPr>
          <p:cNvPr id="5" name="side-panel-box">
            <a:extLst>
              <a:ext uri="{FF2B5EF4-FFF2-40B4-BE49-F238E27FC236}">
                <a16:creationId xmlns:a16="http://schemas.microsoft.com/office/drawing/2014/main" id="{FAE0B823-BD6B-4591-A2C8-07731FFB7AE7}"/>
              </a:ext>
            </a:extLst>
          </p:cNvPr>
          <p:cNvSpPr>
            <a:spLocks noGrp="1"/>
          </p:cNvSpPr>
          <p:nvPr/>
        </p:nvSpPr>
        <p:spPr>
          <a:xfrm>
            <a:off x="7905750" y="1619250"/>
            <a:ext cx="3571875" cy="3333750"/>
          </a:xfrm>
          <a:prstGeom prst="roundRect">
            <a:avLst>
              <a:gd name="adj" fmla="val 3429"/>
            </a:avLst>
          </a:prstGeom>
          <a:solidFill>
            <a:srgbClr val="E7F1F1"/>
          </a:solidFill>
          <a:ln w="19050">
            <a:solidFill>
              <a:srgbClr val="2F7E83"/>
            </a:solidFill>
            <a:prstDash val="solid"/>
          </a:ln>
        </p:spPr>
      </p:sp>
      <p:sp>
        <p:nvSpPr>
          <p:cNvPr id="6" name="side-panel-title">
            <a:extLst>
              <a:ext uri="{FF2B5EF4-FFF2-40B4-BE49-F238E27FC236}">
                <a16:creationId xmlns:a16="http://schemas.microsoft.com/office/drawing/2014/main" id="{919430B6-FD95-4D3B-9ECB-8CB737037258}"/>
              </a:ext>
            </a:extLst>
          </p:cNvPr>
          <p:cNvSpPr>
            <a:spLocks noGrp="1"/>
          </p:cNvSpPr>
          <p:nvPr/>
        </p:nvSpPr>
        <p:spPr>
          <a:xfrm>
            <a:off x="8077200" y="1752600"/>
            <a:ext cx="3228975" cy="361950"/>
          </a:xfrm>
          <a:prstGeom prst="rect">
            <a:avLst/>
          </a:prstGeom>
          <a:noFill/>
          <a:ln w="0">
            <a:noFill/>
            <a:prstDash val="solid"/>
          </a:ln>
        </p:spPr>
        <p:txBody>
          <a:bodyPr wrap="square" lIns="0" tIns="0" rIns="0" bIns="0" anchor="t">
            <a:noAutofit/>
          </a:bodyPr>
          <a:lstStyle/>
          <a:p>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Idea central</a:t>
            </a:r>
          </a:p>
        </p:txBody>
      </p:sp>
      <p:sp>
        <p:nvSpPr>
          <p:cNvPr id="7" name="side-panel-body">
            <a:extLst>
              <a:ext uri="{FF2B5EF4-FFF2-40B4-BE49-F238E27FC236}">
                <a16:creationId xmlns:a16="http://schemas.microsoft.com/office/drawing/2014/main" id="{EC0B35D0-E277-4BE1-8607-35D2E24ED458}"/>
              </a:ext>
            </a:extLst>
          </p:cNvPr>
          <p:cNvSpPr>
            <a:spLocks noGrp="1"/>
          </p:cNvSpPr>
          <p:nvPr/>
        </p:nvSpPr>
        <p:spPr>
          <a:xfrm>
            <a:off x="8077200" y="2152650"/>
            <a:ext cx="3228975" cy="2647950"/>
          </a:xfrm>
          <a:prstGeom prst="rect">
            <a:avLst/>
          </a:prstGeom>
          <a:noFill/>
          <a:ln w="0">
            <a:noFill/>
            <a:prstDash val="solid"/>
          </a:ln>
        </p:spPr>
        <p:txBody>
          <a:bodyPr wrap="square" lIns="0" tIns="0" rIns="0" bIns="0" anchor="t">
            <a:noAutofit/>
          </a:bodyPr>
          <a:lstStyle/>
          <a:p>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Cada ampliación, visual y decisión debe poder rastrearse.</a:t>
            </a:r>
          </a:p>
        </p:txBody>
      </p:sp>
      <p:sp>
        <p:nvSpPr>
          <p:cNvPr id="8" name="caption">
            <a:extLst>
              <a:ext uri="{FF2B5EF4-FFF2-40B4-BE49-F238E27FC236}">
                <a16:creationId xmlns:a16="http://schemas.microsoft.com/office/drawing/2014/main" id="{86BDF09C-83BD-4301-8ABD-0BE640399DBF}"/>
              </a:ext>
            </a:extLst>
          </p:cNvPr>
          <p:cNvSpPr>
            <a:spLocks noGrp="1"/>
          </p:cNvSpPr>
          <p:nvPr/>
        </p:nvSpPr>
        <p:spPr>
          <a:xfrm>
            <a:off x="533400" y="6019800"/>
            <a:ext cx="8096250" cy="228600"/>
          </a:xfrm>
          <a:prstGeom prst="rect">
            <a:avLst/>
          </a:prstGeom>
          <a:noFill/>
          <a:ln w="0">
            <a:noFill/>
            <a:prstDash val="solid"/>
          </a:ln>
        </p:spPr>
        <p:txBody>
          <a:bodyPr wrap="square" lIns="19050" tIns="0" rIns="19050" bIns="0" anchor="t">
            <a:noAutofit/>
          </a:bodyPr>
          <a:lstStyle/>
          <a:p>
            <a:pPr algn="l">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Cada ampliación, visual y decisión debe poder rastrearse.</a:t>
            </a:r>
          </a:p>
        </p:txBody>
      </p:sp>
      <p:sp>
        <p:nvSpPr>
          <p:cNvPr id="9" name="credit">
            <a:extLst>
              <a:ext uri="{FF2B5EF4-FFF2-40B4-BE49-F238E27FC236}">
                <a16:creationId xmlns:a16="http://schemas.microsoft.com/office/drawing/2014/main" id="{B4428B76-F423-4452-96B7-A1C6362BE92E}"/>
              </a:ext>
            </a:extLst>
          </p:cNvPr>
          <p:cNvSpPr>
            <a:spLocks noGrp="1"/>
          </p:cNvSpPr>
          <p:nvPr/>
        </p:nvSpPr>
        <p:spPr>
          <a:xfrm>
            <a:off x="8667750" y="6019800"/>
            <a:ext cx="3000375" cy="247650"/>
          </a:xfrm>
          <a:prstGeom prst="rect">
            <a:avLst/>
          </a:prstGeom>
          <a:noFill/>
          <a:ln w="0">
            <a:noFill/>
            <a:prstDash val="solid"/>
          </a:ln>
        </p:spPr>
        <p:txBody>
          <a:bodyPr wrap="square" lIns="19050" tIns="0" rIns="19050" bIns="0" anchor="t">
            <a:noAutofit/>
          </a:bodyPr>
          <a:lstStyle/>
          <a:p>
            <a:pPr algn="r">
              <a:lnSpc>
                <a:spcPct val="102000"/>
              </a:lnSpc>
              <a:buNone/>
              <a:defRPr sz="975" b="0" i="0">
                <a:solidFill>
                  <a:srgbClr val="777F87"/>
                </a:solidFill>
                <a:latin typeface="Calibri"/>
                <a:ea typeface="Calibri"/>
                <a:cs typeface="Calibri"/>
              </a:defRPr>
            </a:pPr>
            <a:r>
              <a:rPr sz="975" b="0" i="0">
                <a:solidFill>
                  <a:srgbClr val="777F87"/>
                </a:solidFill>
                <a:latin typeface="Calibri"/>
                <a:ea typeface="Calibri"/>
                <a:cs typeface="Calibri"/>
              </a:rPr>
              <a:t>Fuente: PO; TEX; PDF; CM; CDM; GLO; NG; OD; SA; inventarios iniciales.</a:t>
            </a:r>
          </a:p>
        </p:txBody>
      </p:sp>
    </p:spTree>
    <p:extLst>
      <p:ext uri="{BB962C8B-B14F-4D97-AF65-F5344CB8AC3E}">
        <p14:creationId xmlns:p14="http://schemas.microsoft.com/office/powerpoint/2010/main" val="235601764"/>
      </p:ext>
    </p:extLst>
  </p:cSld>
  <p:clrMapOvr>
    <a:masterClrMapping/>
  </p:clrMapOvr>
</p:sld>
</file>

<file path=ppt/theme/theme1.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FA_MASTER_BORDO">
  <a:themeElements>
    <a:clrScheme name="Office">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26822</Words>
  <Application>Microsoft Office PowerPoint</Application>
  <DocSecurity>0</DocSecurity>
  <PresentationFormat>Panorámica</PresentationFormat>
  <Paragraphs>2531</Paragraphs>
  <Slides>117</Slides>
  <Notes>117</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117</vt:i4>
      </vt:variant>
    </vt:vector>
  </HeadingPairs>
  <TitlesOfParts>
    <vt:vector size="124" baseType="lpstr">
      <vt:lpstr>Aptos</vt:lpstr>
      <vt:lpstr>Arial</vt:lpstr>
      <vt:lpstr>Calibri</vt:lpstr>
      <vt:lpstr>Calibri Light</vt:lpstr>
      <vt:lpstr>Cambria Math</vt:lpstr>
      <vt:lpstr>FA_MASTER_CLARO</vt:lpstr>
      <vt:lpstr>FA_MASTER_BORDO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Maximiliano Ortiz</cp:lastModifiedBy>
  <cp:revision>1</cp:revision>
  <dcterms:created xsi:type="dcterms:W3CDTF">2026-08-10T19:47:54Z</dcterms:created>
  <dcterms:modified xsi:type="dcterms:W3CDTF">2026-08-10T19:51:34Z</dcterms:modified>
</cp:coreProperties>
</file>