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1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tableStyles" Target="tableStyle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notesMaster" Target="notesMasters/notesMaster1.xml"/><Relationship Id="rId125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8-10T20:48:52.712" v="287"/>
      <pc:docMkLst>
        <pc:docMk/>
      </pc:docMkLst>
      <pc:sldChg chg="modSp mod">
        <pc:chgData name="Maximiliano Ortiz" userId="90727fd8e92db46b" providerId="LiveId" clId="{9BC7EBD1-E6C7-40E2-9BE0-E69EBE0B6810}" dt="2026-08-10T20:48:47.181" v="3"/>
        <pc:sldMkLst>
          <pc:docMk/>
          <pc:sldMk cId="281546375" sldId="257"/>
        </pc:sldMkLst>
        <pc:spChg chg="mod">
          <ac:chgData name="Maximiliano Ortiz" userId="90727fd8e92db46b" providerId="LiveId" clId="{9BC7EBD1-E6C7-40E2-9BE0-E69EBE0B6810}" dt="2026-08-10T20:48:47.181" v="3"/>
          <ac:spMkLst>
            <pc:docMk/>
            <pc:sldMk cId="281546375" sldId="257"/>
            <ac:spMk id="15" creationId="{039D2B83-09A4-43EA-B09E-D2C419F88414}"/>
          </ac:spMkLst>
        </pc:spChg>
      </pc:sldChg>
      <pc:sldChg chg="modSp mod">
        <pc:chgData name="Maximiliano Ortiz" userId="90727fd8e92db46b" providerId="LiveId" clId="{9BC7EBD1-E6C7-40E2-9BE0-E69EBE0B6810}" dt="2026-08-10T20:48:47.263" v="7"/>
        <pc:sldMkLst>
          <pc:docMk/>
          <pc:sldMk cId="1833595117" sldId="258"/>
        </pc:sldMkLst>
        <pc:spChg chg="mod">
          <ac:chgData name="Maximiliano Ortiz" userId="90727fd8e92db46b" providerId="LiveId" clId="{9BC7EBD1-E6C7-40E2-9BE0-E69EBE0B6810}" dt="2026-08-10T20:48:47.263" v="7"/>
          <ac:spMkLst>
            <pc:docMk/>
            <pc:sldMk cId="1833595117" sldId="258"/>
            <ac:spMk id="13" creationId="{60EC4D51-B9EA-4482-B2DE-522E73E9AF8D}"/>
          </ac:spMkLst>
        </pc:spChg>
      </pc:sldChg>
      <pc:sldChg chg="modSp mod">
        <pc:chgData name="Maximiliano Ortiz" userId="90727fd8e92db46b" providerId="LiveId" clId="{9BC7EBD1-E6C7-40E2-9BE0-E69EBE0B6810}" dt="2026-08-10T20:48:47.379" v="11"/>
        <pc:sldMkLst>
          <pc:docMk/>
          <pc:sldMk cId="281546375" sldId="259"/>
        </pc:sldMkLst>
        <pc:spChg chg="mod">
          <ac:chgData name="Maximiliano Ortiz" userId="90727fd8e92db46b" providerId="LiveId" clId="{9BC7EBD1-E6C7-40E2-9BE0-E69EBE0B6810}" dt="2026-08-10T20:48:47.379" v="11"/>
          <ac:spMkLst>
            <pc:docMk/>
            <pc:sldMk cId="281546375" sldId="259"/>
            <ac:spMk id="7" creationId="{4D3F0067-2252-4ADD-913A-BC3C18924D7C}"/>
          </ac:spMkLst>
        </pc:spChg>
      </pc:sldChg>
      <pc:sldChg chg="modSp mod">
        <pc:chgData name="Maximiliano Ortiz" userId="90727fd8e92db46b" providerId="LiveId" clId="{9BC7EBD1-E6C7-40E2-9BE0-E69EBE0B6810}" dt="2026-08-10T20:48:47.467" v="15"/>
        <pc:sldMkLst>
          <pc:docMk/>
          <pc:sldMk cId="1271479030" sldId="262"/>
        </pc:sldMkLst>
        <pc:spChg chg="mod">
          <ac:chgData name="Maximiliano Ortiz" userId="90727fd8e92db46b" providerId="LiveId" clId="{9BC7EBD1-E6C7-40E2-9BE0-E69EBE0B6810}" dt="2026-08-10T20:48:47.467" v="15"/>
          <ac:spMkLst>
            <pc:docMk/>
            <pc:sldMk cId="1271479030" sldId="262"/>
            <ac:spMk id="11" creationId="{101B425F-D06C-4991-9293-CF3FC37DA432}"/>
          </ac:spMkLst>
        </pc:spChg>
      </pc:sldChg>
      <pc:sldChg chg="modSp mod">
        <pc:chgData name="Maximiliano Ortiz" userId="90727fd8e92db46b" providerId="LiveId" clId="{9BC7EBD1-E6C7-40E2-9BE0-E69EBE0B6810}" dt="2026-08-10T20:48:47.603" v="19"/>
        <pc:sldMkLst>
          <pc:docMk/>
          <pc:sldMk cId="1995449240" sldId="266"/>
        </pc:sldMkLst>
        <pc:spChg chg="mod">
          <ac:chgData name="Maximiliano Ortiz" userId="90727fd8e92db46b" providerId="LiveId" clId="{9BC7EBD1-E6C7-40E2-9BE0-E69EBE0B6810}" dt="2026-08-10T20:48:47.603" v="19"/>
          <ac:spMkLst>
            <pc:docMk/>
            <pc:sldMk cId="1995449240" sldId="266"/>
            <ac:spMk id="11" creationId="{99F1C3BD-27F9-4A26-9E9C-CFC13DBB48AC}"/>
          </ac:spMkLst>
        </pc:spChg>
      </pc:sldChg>
      <pc:sldChg chg="modSp mod">
        <pc:chgData name="Maximiliano Ortiz" userId="90727fd8e92db46b" providerId="LiveId" clId="{9BC7EBD1-E6C7-40E2-9BE0-E69EBE0B6810}" dt="2026-08-10T20:48:47.732" v="23"/>
        <pc:sldMkLst>
          <pc:docMk/>
          <pc:sldMk cId="986630461" sldId="269"/>
        </pc:sldMkLst>
        <pc:spChg chg="mod">
          <ac:chgData name="Maximiliano Ortiz" userId="90727fd8e92db46b" providerId="LiveId" clId="{9BC7EBD1-E6C7-40E2-9BE0-E69EBE0B6810}" dt="2026-08-10T20:48:47.732" v="23"/>
          <ac:spMkLst>
            <pc:docMk/>
            <pc:sldMk cId="986630461" sldId="269"/>
            <ac:spMk id="11" creationId="{741F7268-55B8-49E0-99CB-1DD2AE898E84}"/>
          </ac:spMkLst>
        </pc:spChg>
      </pc:sldChg>
      <pc:sldChg chg="modSp mod">
        <pc:chgData name="Maximiliano Ortiz" userId="90727fd8e92db46b" providerId="LiveId" clId="{9BC7EBD1-E6C7-40E2-9BE0-E69EBE0B6810}" dt="2026-08-10T20:48:47.800" v="27"/>
        <pc:sldMkLst>
          <pc:docMk/>
          <pc:sldMk cId="1602286470" sldId="270"/>
        </pc:sldMkLst>
        <pc:spChg chg="mod">
          <ac:chgData name="Maximiliano Ortiz" userId="90727fd8e92db46b" providerId="LiveId" clId="{9BC7EBD1-E6C7-40E2-9BE0-E69EBE0B6810}" dt="2026-08-10T20:48:47.800" v="27"/>
          <ac:spMkLst>
            <pc:docMk/>
            <pc:sldMk cId="1602286470" sldId="270"/>
            <ac:spMk id="13" creationId="{7A92A31E-3A93-4AEE-8D45-23FE3A8CF71F}"/>
          </ac:spMkLst>
        </pc:spChg>
      </pc:sldChg>
      <pc:sldChg chg="modSp mod">
        <pc:chgData name="Maximiliano Ortiz" userId="90727fd8e92db46b" providerId="LiveId" clId="{9BC7EBD1-E6C7-40E2-9BE0-E69EBE0B6810}" dt="2026-08-10T20:48:47.881" v="31"/>
        <pc:sldMkLst>
          <pc:docMk/>
          <pc:sldMk cId="1133635661" sldId="271"/>
        </pc:sldMkLst>
        <pc:spChg chg="mod">
          <ac:chgData name="Maximiliano Ortiz" userId="90727fd8e92db46b" providerId="LiveId" clId="{9BC7EBD1-E6C7-40E2-9BE0-E69EBE0B6810}" dt="2026-08-10T20:48:47.881" v="31"/>
          <ac:spMkLst>
            <pc:docMk/>
            <pc:sldMk cId="1133635661" sldId="271"/>
            <ac:spMk id="11" creationId="{3B080CD7-A9B8-440C-BB68-1E53FACD701A}"/>
          </ac:spMkLst>
        </pc:spChg>
      </pc:sldChg>
      <pc:sldChg chg="modSp mod">
        <pc:chgData name="Maximiliano Ortiz" userId="90727fd8e92db46b" providerId="LiveId" clId="{9BC7EBD1-E6C7-40E2-9BE0-E69EBE0B6810}" dt="2026-08-10T20:48:47.970" v="35"/>
        <pc:sldMkLst>
          <pc:docMk/>
          <pc:sldMk cId="1320203634" sldId="272"/>
        </pc:sldMkLst>
        <pc:spChg chg="mod">
          <ac:chgData name="Maximiliano Ortiz" userId="90727fd8e92db46b" providerId="LiveId" clId="{9BC7EBD1-E6C7-40E2-9BE0-E69EBE0B6810}" dt="2026-08-10T20:48:47.970" v="35"/>
          <ac:spMkLst>
            <pc:docMk/>
            <pc:sldMk cId="1320203634" sldId="272"/>
            <ac:spMk id="15" creationId="{0528C579-C832-4543-A291-103609898B71}"/>
          </ac:spMkLst>
        </pc:spChg>
      </pc:sldChg>
      <pc:sldChg chg="modSp mod">
        <pc:chgData name="Maximiliano Ortiz" userId="90727fd8e92db46b" providerId="LiveId" clId="{9BC7EBD1-E6C7-40E2-9BE0-E69EBE0B6810}" dt="2026-08-10T20:48:48.098" v="39"/>
        <pc:sldMkLst>
          <pc:docMk/>
          <pc:sldMk cId="567438305" sldId="275"/>
        </pc:sldMkLst>
        <pc:spChg chg="mod">
          <ac:chgData name="Maximiliano Ortiz" userId="90727fd8e92db46b" providerId="LiveId" clId="{9BC7EBD1-E6C7-40E2-9BE0-E69EBE0B6810}" dt="2026-08-10T20:48:48.098" v="39"/>
          <ac:spMkLst>
            <pc:docMk/>
            <pc:sldMk cId="567438305" sldId="275"/>
            <ac:spMk id="11" creationId="{6B0D23BD-39B5-4BB4-B550-9CE37E41F599}"/>
          </ac:spMkLst>
        </pc:spChg>
      </pc:sldChg>
      <pc:sldChg chg="modSp mod">
        <pc:chgData name="Maximiliano Ortiz" userId="90727fd8e92db46b" providerId="LiveId" clId="{9BC7EBD1-E6C7-40E2-9BE0-E69EBE0B6810}" dt="2026-08-10T20:48:48.299" v="43"/>
        <pc:sldMkLst>
          <pc:docMk/>
          <pc:sldMk cId="281546375" sldId="278"/>
        </pc:sldMkLst>
        <pc:spChg chg="mod">
          <ac:chgData name="Maximiliano Ortiz" userId="90727fd8e92db46b" providerId="LiveId" clId="{9BC7EBD1-E6C7-40E2-9BE0-E69EBE0B6810}" dt="2026-08-10T20:48:48.299" v="43"/>
          <ac:spMkLst>
            <pc:docMk/>
            <pc:sldMk cId="281546375" sldId="278"/>
            <ac:spMk id="8" creationId="{2BD5ACEB-957F-482F-A485-156FFD027904}"/>
          </ac:spMkLst>
        </pc:spChg>
      </pc:sldChg>
      <pc:sldChg chg="modSp mod">
        <pc:chgData name="Maximiliano Ortiz" userId="90727fd8e92db46b" providerId="LiveId" clId="{9BC7EBD1-E6C7-40E2-9BE0-E69EBE0B6810}" dt="2026-08-10T20:48:48.402" v="47"/>
        <pc:sldMkLst>
          <pc:docMk/>
          <pc:sldMk cId="1926975773" sldId="279"/>
        </pc:sldMkLst>
        <pc:spChg chg="mod">
          <ac:chgData name="Maximiliano Ortiz" userId="90727fd8e92db46b" providerId="LiveId" clId="{9BC7EBD1-E6C7-40E2-9BE0-E69EBE0B6810}" dt="2026-08-10T20:48:48.402" v="47"/>
          <ac:spMkLst>
            <pc:docMk/>
            <pc:sldMk cId="1926975773" sldId="279"/>
            <ac:spMk id="15" creationId="{AE99CADC-3494-4F99-A827-1B3C9483FFF0}"/>
          </ac:spMkLst>
        </pc:spChg>
      </pc:sldChg>
      <pc:sldChg chg="modSp mod">
        <pc:chgData name="Maximiliano Ortiz" userId="90727fd8e92db46b" providerId="LiveId" clId="{9BC7EBD1-E6C7-40E2-9BE0-E69EBE0B6810}" dt="2026-08-10T20:48:48.503" v="51"/>
        <pc:sldMkLst>
          <pc:docMk/>
          <pc:sldMk cId="318321949" sldId="280"/>
        </pc:sldMkLst>
        <pc:spChg chg="mod">
          <ac:chgData name="Maximiliano Ortiz" userId="90727fd8e92db46b" providerId="LiveId" clId="{9BC7EBD1-E6C7-40E2-9BE0-E69EBE0B6810}" dt="2026-08-10T20:48:48.503" v="51"/>
          <ac:spMkLst>
            <pc:docMk/>
            <pc:sldMk cId="318321949" sldId="280"/>
            <ac:spMk id="5" creationId="{CA32C348-B19A-4C20-85E8-16C477D6B751}"/>
          </ac:spMkLst>
        </pc:spChg>
      </pc:sldChg>
      <pc:sldChg chg="modSp mod">
        <pc:chgData name="Maximiliano Ortiz" userId="90727fd8e92db46b" providerId="LiveId" clId="{9BC7EBD1-E6C7-40E2-9BE0-E69EBE0B6810}" dt="2026-08-10T20:48:48.613" v="55"/>
        <pc:sldMkLst>
          <pc:docMk/>
          <pc:sldMk cId="1320203634" sldId="282"/>
        </pc:sldMkLst>
        <pc:spChg chg="mod">
          <ac:chgData name="Maximiliano Ortiz" userId="90727fd8e92db46b" providerId="LiveId" clId="{9BC7EBD1-E6C7-40E2-9BE0-E69EBE0B6810}" dt="2026-08-10T20:48:48.613" v="55"/>
          <ac:spMkLst>
            <pc:docMk/>
            <pc:sldMk cId="1320203634" sldId="282"/>
            <ac:spMk id="14" creationId="{185160B5-1A79-4B2E-A210-FAAF1A685409}"/>
          </ac:spMkLst>
        </pc:spChg>
      </pc:sldChg>
      <pc:sldChg chg="modSp mod">
        <pc:chgData name="Maximiliano Ortiz" userId="90727fd8e92db46b" providerId="LiveId" clId="{9BC7EBD1-E6C7-40E2-9BE0-E69EBE0B6810}" dt="2026-08-10T20:48:48.746" v="59"/>
        <pc:sldMkLst>
          <pc:docMk/>
          <pc:sldMk cId="1926975773" sldId="285"/>
        </pc:sldMkLst>
        <pc:spChg chg="mod">
          <ac:chgData name="Maximiliano Ortiz" userId="90727fd8e92db46b" providerId="LiveId" clId="{9BC7EBD1-E6C7-40E2-9BE0-E69EBE0B6810}" dt="2026-08-10T20:48:48.746" v="59"/>
          <ac:spMkLst>
            <pc:docMk/>
            <pc:sldMk cId="1926975773" sldId="285"/>
            <ac:spMk id="11" creationId="{1D7FD487-67E6-4C9A-8572-5B0B754967FF}"/>
          </ac:spMkLst>
        </pc:spChg>
      </pc:sldChg>
      <pc:sldChg chg="modSp mod">
        <pc:chgData name="Maximiliano Ortiz" userId="90727fd8e92db46b" providerId="LiveId" clId="{9BC7EBD1-E6C7-40E2-9BE0-E69EBE0B6810}" dt="2026-08-10T20:48:48.817" v="63"/>
        <pc:sldMkLst>
          <pc:docMk/>
          <pc:sldMk cId="567438305" sldId="286"/>
        </pc:sldMkLst>
        <pc:spChg chg="mod">
          <ac:chgData name="Maximiliano Ortiz" userId="90727fd8e92db46b" providerId="LiveId" clId="{9BC7EBD1-E6C7-40E2-9BE0-E69EBE0B6810}" dt="2026-08-10T20:48:48.817" v="63"/>
          <ac:spMkLst>
            <pc:docMk/>
            <pc:sldMk cId="567438305" sldId="286"/>
            <ac:spMk id="9" creationId="{1D2FED33-259C-4229-86F6-5E1A23FF76C4}"/>
          </ac:spMkLst>
        </pc:spChg>
      </pc:sldChg>
      <pc:sldChg chg="modSp mod">
        <pc:chgData name="Maximiliano Ortiz" userId="90727fd8e92db46b" providerId="LiveId" clId="{9BC7EBD1-E6C7-40E2-9BE0-E69EBE0B6810}" dt="2026-08-10T20:48:48.904" v="67"/>
        <pc:sldMkLst>
          <pc:docMk/>
          <pc:sldMk cId="1687263069" sldId="288"/>
        </pc:sldMkLst>
        <pc:spChg chg="mod">
          <ac:chgData name="Maximiliano Ortiz" userId="90727fd8e92db46b" providerId="LiveId" clId="{9BC7EBD1-E6C7-40E2-9BE0-E69EBE0B6810}" dt="2026-08-10T20:48:48.904" v="67"/>
          <ac:spMkLst>
            <pc:docMk/>
            <pc:sldMk cId="1687263069" sldId="288"/>
            <ac:spMk id="5" creationId="{BBFF5418-E38A-4D65-9499-E33F49F13F61}"/>
          </ac:spMkLst>
        </pc:spChg>
      </pc:sldChg>
      <pc:sldChg chg="modSp mod">
        <pc:chgData name="Maximiliano Ortiz" userId="90727fd8e92db46b" providerId="LiveId" clId="{9BC7EBD1-E6C7-40E2-9BE0-E69EBE0B6810}" dt="2026-08-10T20:48:48.997" v="71"/>
        <pc:sldMkLst>
          <pc:docMk/>
          <pc:sldMk cId="1741329192" sldId="290"/>
        </pc:sldMkLst>
        <pc:spChg chg="mod">
          <ac:chgData name="Maximiliano Ortiz" userId="90727fd8e92db46b" providerId="LiveId" clId="{9BC7EBD1-E6C7-40E2-9BE0-E69EBE0B6810}" dt="2026-08-10T20:48:48.997" v="71"/>
          <ac:spMkLst>
            <pc:docMk/>
            <pc:sldMk cId="1741329192" sldId="290"/>
            <ac:spMk id="11" creationId="{E7A69817-8DEE-4D5D-863B-EEF4345B6614}"/>
          </ac:spMkLst>
        </pc:spChg>
      </pc:sldChg>
      <pc:sldChg chg="modSp mod">
        <pc:chgData name="Maximiliano Ortiz" userId="90727fd8e92db46b" providerId="LiveId" clId="{9BC7EBD1-E6C7-40E2-9BE0-E69EBE0B6810}" dt="2026-08-10T20:48:49.090" v="75"/>
        <pc:sldMkLst>
          <pc:docMk/>
          <pc:sldMk cId="1741329192" sldId="292"/>
        </pc:sldMkLst>
        <pc:spChg chg="mod">
          <ac:chgData name="Maximiliano Ortiz" userId="90727fd8e92db46b" providerId="LiveId" clId="{9BC7EBD1-E6C7-40E2-9BE0-E69EBE0B6810}" dt="2026-08-10T20:48:49.090" v="75"/>
          <ac:spMkLst>
            <pc:docMk/>
            <pc:sldMk cId="1741329192" sldId="292"/>
            <ac:spMk id="6" creationId="{1D70E390-E844-451E-872C-AFE0A8897A68}"/>
          </ac:spMkLst>
        </pc:spChg>
      </pc:sldChg>
      <pc:sldChg chg="modSp mod">
        <pc:chgData name="Maximiliano Ortiz" userId="90727fd8e92db46b" providerId="LiveId" clId="{9BC7EBD1-E6C7-40E2-9BE0-E69EBE0B6810}" dt="2026-08-10T20:48:49.129" v="79"/>
        <pc:sldMkLst>
          <pc:docMk/>
          <pc:sldMk cId="567438305" sldId="293"/>
        </pc:sldMkLst>
        <pc:spChg chg="mod">
          <ac:chgData name="Maximiliano Ortiz" userId="90727fd8e92db46b" providerId="LiveId" clId="{9BC7EBD1-E6C7-40E2-9BE0-E69EBE0B6810}" dt="2026-08-10T20:48:49.129" v="79"/>
          <ac:spMkLst>
            <pc:docMk/>
            <pc:sldMk cId="567438305" sldId="293"/>
            <ac:spMk id="10" creationId="{4C133DDA-BB6E-4EF6-86F6-F309136CBD83}"/>
          </ac:spMkLst>
        </pc:spChg>
      </pc:sldChg>
      <pc:sldChg chg="modSp mod">
        <pc:chgData name="Maximiliano Ortiz" userId="90727fd8e92db46b" providerId="LiveId" clId="{9BC7EBD1-E6C7-40E2-9BE0-E69EBE0B6810}" dt="2026-08-10T20:48:49.209" v="83"/>
        <pc:sldMkLst>
          <pc:docMk/>
          <pc:sldMk cId="1320203634" sldId="294"/>
        </pc:sldMkLst>
        <pc:spChg chg="mod">
          <ac:chgData name="Maximiliano Ortiz" userId="90727fd8e92db46b" providerId="LiveId" clId="{9BC7EBD1-E6C7-40E2-9BE0-E69EBE0B6810}" dt="2026-08-10T20:48:49.209" v="83"/>
          <ac:spMkLst>
            <pc:docMk/>
            <pc:sldMk cId="1320203634" sldId="294"/>
            <ac:spMk id="15" creationId="{177FDCE2-0AA4-40EB-81C7-3F1063109621}"/>
          </ac:spMkLst>
        </pc:spChg>
      </pc:sldChg>
      <pc:sldChg chg="modSp mod">
        <pc:chgData name="Maximiliano Ortiz" userId="90727fd8e92db46b" providerId="LiveId" clId="{9BC7EBD1-E6C7-40E2-9BE0-E69EBE0B6810}" dt="2026-08-10T20:48:49.313" v="87"/>
        <pc:sldMkLst>
          <pc:docMk/>
          <pc:sldMk cId="318321949" sldId="296"/>
        </pc:sldMkLst>
        <pc:spChg chg="mod">
          <ac:chgData name="Maximiliano Ortiz" userId="90727fd8e92db46b" providerId="LiveId" clId="{9BC7EBD1-E6C7-40E2-9BE0-E69EBE0B6810}" dt="2026-08-10T20:48:49.313" v="87"/>
          <ac:spMkLst>
            <pc:docMk/>
            <pc:sldMk cId="318321949" sldId="296"/>
            <ac:spMk id="19" creationId="{24404598-6719-4D85-8DB3-85CDFA3197A1}"/>
          </ac:spMkLst>
        </pc:spChg>
      </pc:sldChg>
      <pc:sldChg chg="modSp mod">
        <pc:chgData name="Maximiliano Ortiz" userId="90727fd8e92db46b" providerId="LiveId" clId="{9BC7EBD1-E6C7-40E2-9BE0-E69EBE0B6810}" dt="2026-08-10T20:48:49.425" v="91"/>
        <pc:sldMkLst>
          <pc:docMk/>
          <pc:sldMk cId="1673297158" sldId="297"/>
        </pc:sldMkLst>
        <pc:spChg chg="mod">
          <ac:chgData name="Maximiliano Ortiz" userId="90727fd8e92db46b" providerId="LiveId" clId="{9BC7EBD1-E6C7-40E2-9BE0-E69EBE0B6810}" dt="2026-08-10T20:48:49.425" v="91"/>
          <ac:spMkLst>
            <pc:docMk/>
            <pc:sldMk cId="1673297158" sldId="297"/>
            <ac:spMk id="18" creationId="{943446F8-A4D1-4170-8548-BDDAD483101C}"/>
          </ac:spMkLst>
        </pc:spChg>
      </pc:sldChg>
      <pc:sldChg chg="modSp mod">
        <pc:chgData name="Maximiliano Ortiz" userId="90727fd8e92db46b" providerId="LiveId" clId="{9BC7EBD1-E6C7-40E2-9BE0-E69EBE0B6810}" dt="2026-08-10T20:48:49.513" v="95"/>
        <pc:sldMkLst>
          <pc:docMk/>
          <pc:sldMk cId="1995449240" sldId="298"/>
        </pc:sldMkLst>
        <pc:spChg chg="mod">
          <ac:chgData name="Maximiliano Ortiz" userId="90727fd8e92db46b" providerId="LiveId" clId="{9BC7EBD1-E6C7-40E2-9BE0-E69EBE0B6810}" dt="2026-08-10T20:48:49.513" v="95"/>
          <ac:spMkLst>
            <pc:docMk/>
            <pc:sldMk cId="1995449240" sldId="298"/>
            <ac:spMk id="15" creationId="{4DB784A5-8836-44F7-A7C9-66B8AEA23A63}"/>
          </ac:spMkLst>
        </pc:spChg>
      </pc:sldChg>
      <pc:sldChg chg="modSp mod">
        <pc:chgData name="Maximiliano Ortiz" userId="90727fd8e92db46b" providerId="LiveId" clId="{9BC7EBD1-E6C7-40E2-9BE0-E69EBE0B6810}" dt="2026-08-10T20:48:49.579" v="99"/>
        <pc:sldMkLst>
          <pc:docMk/>
          <pc:sldMk cId="1926975773" sldId="299"/>
        </pc:sldMkLst>
        <pc:spChg chg="mod">
          <ac:chgData name="Maximiliano Ortiz" userId="90727fd8e92db46b" providerId="LiveId" clId="{9BC7EBD1-E6C7-40E2-9BE0-E69EBE0B6810}" dt="2026-08-10T20:48:49.579" v="99"/>
          <ac:spMkLst>
            <pc:docMk/>
            <pc:sldMk cId="1926975773" sldId="299"/>
            <ac:spMk id="11" creationId="{1FECA75E-95D9-4A60-B9A7-6B17C7181800}"/>
          </ac:spMkLst>
        </pc:spChg>
      </pc:sldChg>
      <pc:sldChg chg="modSp mod">
        <pc:chgData name="Maximiliano Ortiz" userId="90727fd8e92db46b" providerId="LiveId" clId="{9BC7EBD1-E6C7-40E2-9BE0-E69EBE0B6810}" dt="2026-08-10T20:48:49.630" v="103"/>
        <pc:sldMkLst>
          <pc:docMk/>
          <pc:sldMk cId="318321949" sldId="300"/>
        </pc:sldMkLst>
        <pc:spChg chg="mod">
          <ac:chgData name="Maximiliano Ortiz" userId="90727fd8e92db46b" providerId="LiveId" clId="{9BC7EBD1-E6C7-40E2-9BE0-E69EBE0B6810}" dt="2026-08-10T20:48:49.630" v="103"/>
          <ac:spMkLst>
            <pc:docMk/>
            <pc:sldMk cId="318321949" sldId="300"/>
            <ac:spMk id="6" creationId="{2A0055A7-F22C-4A5F-971B-9B6BC0E2581F}"/>
          </ac:spMkLst>
        </pc:spChg>
      </pc:sldChg>
      <pc:sldChg chg="modSp mod">
        <pc:chgData name="Maximiliano Ortiz" userId="90727fd8e92db46b" providerId="LiveId" clId="{9BC7EBD1-E6C7-40E2-9BE0-E69EBE0B6810}" dt="2026-08-10T20:48:49.659" v="107"/>
        <pc:sldMkLst>
          <pc:docMk/>
          <pc:sldMk cId="1926975773" sldId="301"/>
        </pc:sldMkLst>
        <pc:spChg chg="mod">
          <ac:chgData name="Maximiliano Ortiz" userId="90727fd8e92db46b" providerId="LiveId" clId="{9BC7EBD1-E6C7-40E2-9BE0-E69EBE0B6810}" dt="2026-08-10T20:48:49.659" v="107"/>
          <ac:spMkLst>
            <pc:docMk/>
            <pc:sldMk cId="1926975773" sldId="301"/>
            <ac:spMk id="5" creationId="{0933843C-3563-4DA8-9118-2A41935EC79E}"/>
          </ac:spMkLst>
        </pc:spChg>
      </pc:sldChg>
      <pc:sldChg chg="modSp mod">
        <pc:chgData name="Maximiliano Ortiz" userId="90727fd8e92db46b" providerId="LiveId" clId="{9BC7EBD1-E6C7-40E2-9BE0-E69EBE0B6810}" dt="2026-08-10T20:48:49.729" v="111"/>
        <pc:sldMkLst>
          <pc:docMk/>
          <pc:sldMk cId="1320203634" sldId="303"/>
        </pc:sldMkLst>
        <pc:spChg chg="mod">
          <ac:chgData name="Maximiliano Ortiz" userId="90727fd8e92db46b" providerId="LiveId" clId="{9BC7EBD1-E6C7-40E2-9BE0-E69EBE0B6810}" dt="2026-08-10T20:48:49.729" v="111"/>
          <ac:spMkLst>
            <pc:docMk/>
            <pc:sldMk cId="1320203634" sldId="303"/>
            <ac:spMk id="19" creationId="{057E40D7-B035-4431-8810-BD01F20E2C26}"/>
          </ac:spMkLst>
        </pc:spChg>
      </pc:sldChg>
      <pc:sldChg chg="modSp mod">
        <pc:chgData name="Maximiliano Ortiz" userId="90727fd8e92db46b" providerId="LiveId" clId="{9BC7EBD1-E6C7-40E2-9BE0-E69EBE0B6810}" dt="2026-08-10T20:48:49.819" v="115"/>
        <pc:sldMkLst>
          <pc:docMk/>
          <pc:sldMk cId="567438305" sldId="305"/>
        </pc:sldMkLst>
        <pc:spChg chg="mod">
          <ac:chgData name="Maximiliano Ortiz" userId="90727fd8e92db46b" providerId="LiveId" clId="{9BC7EBD1-E6C7-40E2-9BE0-E69EBE0B6810}" dt="2026-08-10T20:48:49.819" v="115"/>
          <ac:spMkLst>
            <pc:docMk/>
            <pc:sldMk cId="567438305" sldId="305"/>
            <ac:spMk id="10" creationId="{22470B47-111C-4B88-A654-93323D17C3A7}"/>
          </ac:spMkLst>
        </pc:spChg>
      </pc:sldChg>
      <pc:sldChg chg="modSp mod">
        <pc:chgData name="Maximiliano Ortiz" userId="90727fd8e92db46b" providerId="LiveId" clId="{9BC7EBD1-E6C7-40E2-9BE0-E69EBE0B6810}" dt="2026-08-10T20:48:49.880" v="119"/>
        <pc:sldMkLst>
          <pc:docMk/>
          <pc:sldMk cId="1995449240" sldId="306"/>
        </pc:sldMkLst>
        <pc:spChg chg="mod">
          <ac:chgData name="Maximiliano Ortiz" userId="90727fd8e92db46b" providerId="LiveId" clId="{9BC7EBD1-E6C7-40E2-9BE0-E69EBE0B6810}" dt="2026-08-10T20:48:49.880" v="119"/>
          <ac:spMkLst>
            <pc:docMk/>
            <pc:sldMk cId="1995449240" sldId="306"/>
            <ac:spMk id="11" creationId="{0F02AEE1-9D58-452C-AC88-28DD8CE77000}"/>
          </ac:spMkLst>
        </pc:spChg>
      </pc:sldChg>
      <pc:sldChg chg="modSp mod">
        <pc:chgData name="Maximiliano Ortiz" userId="90727fd8e92db46b" providerId="LiveId" clId="{9BC7EBD1-E6C7-40E2-9BE0-E69EBE0B6810}" dt="2026-08-10T20:48:49.944" v="123"/>
        <pc:sldMkLst>
          <pc:docMk/>
          <pc:sldMk cId="318321949" sldId="308"/>
        </pc:sldMkLst>
        <pc:spChg chg="mod">
          <ac:chgData name="Maximiliano Ortiz" userId="90727fd8e92db46b" providerId="LiveId" clId="{9BC7EBD1-E6C7-40E2-9BE0-E69EBE0B6810}" dt="2026-08-10T20:48:49.944" v="123"/>
          <ac:spMkLst>
            <pc:docMk/>
            <pc:sldMk cId="318321949" sldId="308"/>
            <ac:spMk id="7" creationId="{8CEC9A18-4148-4B3F-865B-02F2FA7EE778}"/>
          </ac:spMkLst>
        </pc:spChg>
      </pc:sldChg>
      <pc:sldChg chg="modSp mod">
        <pc:chgData name="Maximiliano Ortiz" userId="90727fd8e92db46b" providerId="LiveId" clId="{9BC7EBD1-E6C7-40E2-9BE0-E69EBE0B6810}" dt="2026-08-10T20:48:50.079" v="127"/>
        <pc:sldMkLst>
          <pc:docMk/>
          <pc:sldMk cId="1673297158" sldId="313"/>
        </pc:sldMkLst>
        <pc:spChg chg="mod">
          <ac:chgData name="Maximiliano Ortiz" userId="90727fd8e92db46b" providerId="LiveId" clId="{9BC7EBD1-E6C7-40E2-9BE0-E69EBE0B6810}" dt="2026-08-10T20:48:50.079" v="127"/>
          <ac:spMkLst>
            <pc:docMk/>
            <pc:sldMk cId="1673297158" sldId="313"/>
            <ac:spMk id="11" creationId="{C8D96A80-284C-4FFD-A3D3-8CC375F530A9}"/>
          </ac:spMkLst>
        </pc:spChg>
      </pc:sldChg>
      <pc:sldChg chg="modSp mod">
        <pc:chgData name="Maximiliano Ortiz" userId="90727fd8e92db46b" providerId="LiveId" clId="{9BC7EBD1-E6C7-40E2-9BE0-E69EBE0B6810}" dt="2026-08-10T20:48:50.129" v="131"/>
        <pc:sldMkLst>
          <pc:docMk/>
          <pc:sldMk cId="817057724" sldId="314"/>
        </pc:sldMkLst>
        <pc:spChg chg="mod">
          <ac:chgData name="Maximiliano Ortiz" userId="90727fd8e92db46b" providerId="LiveId" clId="{9BC7EBD1-E6C7-40E2-9BE0-E69EBE0B6810}" dt="2026-08-10T20:48:50.129" v="131"/>
          <ac:spMkLst>
            <pc:docMk/>
            <pc:sldMk cId="817057724" sldId="314"/>
            <ac:spMk id="11" creationId="{56ECC61E-291A-49B1-8685-D41B8123DCDD}"/>
          </ac:spMkLst>
        </pc:spChg>
      </pc:sldChg>
      <pc:sldChg chg="modSp mod">
        <pc:chgData name="Maximiliano Ortiz" userId="90727fd8e92db46b" providerId="LiveId" clId="{9BC7EBD1-E6C7-40E2-9BE0-E69EBE0B6810}" dt="2026-08-10T20:48:50.177" v="135"/>
        <pc:sldMkLst>
          <pc:docMk/>
          <pc:sldMk cId="1320203634" sldId="315"/>
        </pc:sldMkLst>
        <pc:spChg chg="mod">
          <ac:chgData name="Maximiliano Ortiz" userId="90727fd8e92db46b" providerId="LiveId" clId="{9BC7EBD1-E6C7-40E2-9BE0-E69EBE0B6810}" dt="2026-08-10T20:48:50.177" v="135"/>
          <ac:spMkLst>
            <pc:docMk/>
            <pc:sldMk cId="1320203634" sldId="315"/>
            <ac:spMk id="6" creationId="{DE3591D3-B86C-4DFA-8C24-45252AB47CAD}"/>
          </ac:spMkLst>
        </pc:spChg>
      </pc:sldChg>
      <pc:sldChg chg="modSp mod">
        <pc:chgData name="Maximiliano Ortiz" userId="90727fd8e92db46b" providerId="LiveId" clId="{9BC7EBD1-E6C7-40E2-9BE0-E69EBE0B6810}" dt="2026-08-10T20:48:50.225" v="139"/>
        <pc:sldMkLst>
          <pc:docMk/>
          <pc:sldMk cId="1046213385" sldId="317"/>
        </pc:sldMkLst>
        <pc:spChg chg="mod">
          <ac:chgData name="Maximiliano Ortiz" userId="90727fd8e92db46b" providerId="LiveId" clId="{9BC7EBD1-E6C7-40E2-9BE0-E69EBE0B6810}" dt="2026-08-10T20:48:50.225" v="139"/>
          <ac:spMkLst>
            <pc:docMk/>
            <pc:sldMk cId="1046213385" sldId="317"/>
            <ac:spMk id="10" creationId="{50E0210E-B293-4614-8FD7-EB573FF30DF5}"/>
          </ac:spMkLst>
        </pc:spChg>
      </pc:sldChg>
      <pc:sldChg chg="modSp mod">
        <pc:chgData name="Maximiliano Ortiz" userId="90727fd8e92db46b" providerId="LiveId" clId="{9BC7EBD1-E6C7-40E2-9BE0-E69EBE0B6810}" dt="2026-08-10T20:48:50.279" v="143"/>
        <pc:sldMkLst>
          <pc:docMk/>
          <pc:sldMk cId="567438305" sldId="318"/>
        </pc:sldMkLst>
        <pc:spChg chg="mod">
          <ac:chgData name="Maximiliano Ortiz" userId="90727fd8e92db46b" providerId="LiveId" clId="{9BC7EBD1-E6C7-40E2-9BE0-E69EBE0B6810}" dt="2026-08-10T20:48:50.279" v="143"/>
          <ac:spMkLst>
            <pc:docMk/>
            <pc:sldMk cId="567438305" sldId="318"/>
            <ac:spMk id="11" creationId="{F43B84D8-A779-4CA3-826E-E38EDA84641C}"/>
          </ac:spMkLst>
        </pc:spChg>
      </pc:sldChg>
      <pc:sldChg chg="modSp mod">
        <pc:chgData name="Maximiliano Ortiz" userId="90727fd8e92db46b" providerId="LiveId" clId="{9BC7EBD1-E6C7-40E2-9BE0-E69EBE0B6810}" dt="2026-08-10T20:48:50.363" v="147"/>
        <pc:sldMkLst>
          <pc:docMk/>
          <pc:sldMk cId="48649001" sldId="319"/>
        </pc:sldMkLst>
        <pc:picChg chg="mod">
          <ac:chgData name="Maximiliano Ortiz" userId="90727fd8e92db46b" providerId="LiveId" clId="{9BC7EBD1-E6C7-40E2-9BE0-E69EBE0B6810}" dt="2026-08-10T20:48:50.363" v="147"/>
          <ac:picMkLst>
            <pc:docMk/>
            <pc:sldMk cId="48649001" sldId="319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388" v="151"/>
        <pc:sldMkLst>
          <pc:docMk/>
          <pc:sldMk cId="318321949" sldId="320"/>
        </pc:sldMkLst>
        <pc:spChg chg="mod">
          <ac:chgData name="Maximiliano Ortiz" userId="90727fd8e92db46b" providerId="LiveId" clId="{9BC7EBD1-E6C7-40E2-9BE0-E69EBE0B6810}" dt="2026-08-10T20:48:50.388" v="151"/>
          <ac:spMkLst>
            <pc:docMk/>
            <pc:sldMk cId="318321949" sldId="320"/>
            <ac:spMk id="5" creationId="{41661885-6CED-46C5-B945-2E2254A58D3C}"/>
          </ac:spMkLst>
        </pc:spChg>
      </pc:sldChg>
      <pc:sldChg chg="modSp mod">
        <pc:chgData name="Maximiliano Ortiz" userId="90727fd8e92db46b" providerId="LiveId" clId="{9BC7EBD1-E6C7-40E2-9BE0-E69EBE0B6810}" dt="2026-08-10T20:48:50.431" v="155"/>
        <pc:sldMkLst>
          <pc:docMk/>
          <pc:sldMk cId="281546375" sldId="321"/>
        </pc:sldMkLst>
        <pc:picChg chg="mod">
          <ac:chgData name="Maximiliano Ortiz" userId="90727fd8e92db46b" providerId="LiveId" clId="{9BC7EBD1-E6C7-40E2-9BE0-E69EBE0B6810}" dt="2026-08-10T20:48:50.431" v="155"/>
          <ac:picMkLst>
            <pc:docMk/>
            <pc:sldMk cId="281546375" sldId="321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470" v="159"/>
        <pc:sldMkLst>
          <pc:docMk/>
          <pc:sldMk cId="1741329192" sldId="322"/>
        </pc:sldMkLst>
        <pc:picChg chg="mod">
          <ac:chgData name="Maximiliano Ortiz" userId="90727fd8e92db46b" providerId="LiveId" clId="{9BC7EBD1-E6C7-40E2-9BE0-E69EBE0B6810}" dt="2026-08-10T20:48:50.470" v="159"/>
          <ac:picMkLst>
            <pc:docMk/>
            <pc:sldMk cId="1741329192" sldId="322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497" v="163"/>
        <pc:sldMkLst>
          <pc:docMk/>
          <pc:sldMk cId="48649001" sldId="323"/>
        </pc:sldMkLst>
        <pc:picChg chg="mod">
          <ac:chgData name="Maximiliano Ortiz" userId="90727fd8e92db46b" providerId="LiveId" clId="{9BC7EBD1-E6C7-40E2-9BE0-E69EBE0B6810}" dt="2026-08-10T20:48:50.497" v="163"/>
          <ac:picMkLst>
            <pc:docMk/>
            <pc:sldMk cId="48649001" sldId="323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541" v="167"/>
        <pc:sldMkLst>
          <pc:docMk/>
          <pc:sldMk cId="48649001" sldId="324"/>
        </pc:sldMkLst>
        <pc:picChg chg="mod">
          <ac:chgData name="Maximiliano Ortiz" userId="90727fd8e92db46b" providerId="LiveId" clId="{9BC7EBD1-E6C7-40E2-9BE0-E69EBE0B6810}" dt="2026-08-10T20:48:50.541" v="167"/>
          <ac:picMkLst>
            <pc:docMk/>
            <pc:sldMk cId="48649001" sldId="324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563" v="171"/>
        <pc:sldMkLst>
          <pc:docMk/>
          <pc:sldMk cId="48649001" sldId="325"/>
        </pc:sldMkLst>
        <pc:picChg chg="mod">
          <ac:chgData name="Maximiliano Ortiz" userId="90727fd8e92db46b" providerId="LiveId" clId="{9BC7EBD1-E6C7-40E2-9BE0-E69EBE0B6810}" dt="2026-08-10T20:48:50.563" v="171"/>
          <ac:picMkLst>
            <pc:docMk/>
            <pc:sldMk cId="48649001" sldId="325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613" v="175"/>
        <pc:sldMkLst>
          <pc:docMk/>
          <pc:sldMk cId="1320203634" sldId="326"/>
        </pc:sldMkLst>
        <pc:picChg chg="mod">
          <ac:chgData name="Maximiliano Ortiz" userId="90727fd8e92db46b" providerId="LiveId" clId="{9BC7EBD1-E6C7-40E2-9BE0-E69EBE0B6810}" dt="2026-08-10T20:48:50.613" v="175"/>
          <ac:picMkLst>
            <pc:docMk/>
            <pc:sldMk cId="1320203634" sldId="326"/>
            <ac:picMk id="8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0.662" v="179"/>
        <pc:sldMkLst>
          <pc:docMk/>
          <pc:sldMk cId="1046213385" sldId="329"/>
        </pc:sldMkLst>
        <pc:spChg chg="mod">
          <ac:chgData name="Maximiliano Ortiz" userId="90727fd8e92db46b" providerId="LiveId" clId="{9BC7EBD1-E6C7-40E2-9BE0-E69EBE0B6810}" dt="2026-08-10T20:48:50.662" v="179"/>
          <ac:spMkLst>
            <pc:docMk/>
            <pc:sldMk cId="1046213385" sldId="329"/>
            <ac:spMk id="6" creationId="{5489C273-5C79-4AC7-ACA2-E6FC067B6B6C}"/>
          </ac:spMkLst>
        </pc:spChg>
      </pc:sldChg>
      <pc:sldChg chg="modSp mod">
        <pc:chgData name="Maximiliano Ortiz" userId="90727fd8e92db46b" providerId="LiveId" clId="{9BC7EBD1-E6C7-40E2-9BE0-E69EBE0B6810}" dt="2026-08-10T20:48:50.703" v="183"/>
        <pc:sldMkLst>
          <pc:docMk/>
          <pc:sldMk cId="1687263069" sldId="330"/>
        </pc:sldMkLst>
        <pc:spChg chg="mod">
          <ac:chgData name="Maximiliano Ortiz" userId="90727fd8e92db46b" providerId="LiveId" clId="{9BC7EBD1-E6C7-40E2-9BE0-E69EBE0B6810}" dt="2026-08-10T20:48:50.703" v="183"/>
          <ac:spMkLst>
            <pc:docMk/>
            <pc:sldMk cId="1687263069" sldId="330"/>
            <ac:spMk id="7" creationId="{0866B418-DA02-4874-9433-3A0A576F2A1A}"/>
          </ac:spMkLst>
        </pc:spChg>
      </pc:sldChg>
      <pc:sldChg chg="modSp mod">
        <pc:chgData name="Maximiliano Ortiz" userId="90727fd8e92db46b" providerId="LiveId" clId="{9BC7EBD1-E6C7-40E2-9BE0-E69EBE0B6810}" dt="2026-08-10T20:48:51.013" v="187"/>
        <pc:sldMkLst>
          <pc:docMk/>
          <pc:sldMk cId="318321949" sldId="331"/>
        </pc:sldMkLst>
        <pc:spChg chg="mod">
          <ac:chgData name="Maximiliano Ortiz" userId="90727fd8e92db46b" providerId="LiveId" clId="{9BC7EBD1-E6C7-40E2-9BE0-E69EBE0B6810}" dt="2026-08-10T20:48:51.013" v="187"/>
          <ac:spMkLst>
            <pc:docMk/>
            <pc:sldMk cId="318321949" sldId="331"/>
            <ac:spMk id="15" creationId="{30440C7D-579D-451A-BA85-DF91C43B7FC0}"/>
          </ac:spMkLst>
        </pc:spChg>
      </pc:sldChg>
      <pc:sldChg chg="modSp mod">
        <pc:chgData name="Maximiliano Ortiz" userId="90727fd8e92db46b" providerId="LiveId" clId="{9BC7EBD1-E6C7-40E2-9BE0-E69EBE0B6810}" dt="2026-08-10T20:48:51.079" v="191"/>
        <pc:sldMkLst>
          <pc:docMk/>
          <pc:sldMk cId="1926975773" sldId="332"/>
        </pc:sldMkLst>
        <pc:spChg chg="mod">
          <ac:chgData name="Maximiliano Ortiz" userId="90727fd8e92db46b" providerId="LiveId" clId="{9BC7EBD1-E6C7-40E2-9BE0-E69EBE0B6810}" dt="2026-08-10T20:48:51.079" v="191"/>
          <ac:spMkLst>
            <pc:docMk/>
            <pc:sldMk cId="1926975773" sldId="332"/>
            <ac:spMk id="11" creationId="{FABBF9AF-D31C-46B5-9C0A-A543EF514501}"/>
          </ac:spMkLst>
        </pc:spChg>
      </pc:sldChg>
      <pc:sldChg chg="modSp mod">
        <pc:chgData name="Maximiliano Ortiz" userId="90727fd8e92db46b" providerId="LiveId" clId="{9BC7EBD1-E6C7-40E2-9BE0-E69EBE0B6810}" dt="2026-08-10T20:48:51.129" v="195"/>
        <pc:sldMkLst>
          <pc:docMk/>
          <pc:sldMk cId="1926975773" sldId="333"/>
        </pc:sldMkLst>
        <pc:spChg chg="mod">
          <ac:chgData name="Maximiliano Ortiz" userId="90727fd8e92db46b" providerId="LiveId" clId="{9BC7EBD1-E6C7-40E2-9BE0-E69EBE0B6810}" dt="2026-08-10T20:48:51.129" v="195"/>
          <ac:spMkLst>
            <pc:docMk/>
            <pc:sldMk cId="1926975773" sldId="333"/>
            <ac:spMk id="12" creationId="{DF80548A-CBB0-428A-99A5-6713FDC53818}"/>
          </ac:spMkLst>
        </pc:spChg>
      </pc:sldChg>
      <pc:sldChg chg="modSp mod">
        <pc:chgData name="Maximiliano Ortiz" userId="90727fd8e92db46b" providerId="LiveId" clId="{9BC7EBD1-E6C7-40E2-9BE0-E69EBE0B6810}" dt="2026-08-10T20:48:51.205" v="199"/>
        <pc:sldMkLst>
          <pc:docMk/>
          <pc:sldMk cId="281546375" sldId="334"/>
        </pc:sldMkLst>
        <pc:spChg chg="mod">
          <ac:chgData name="Maximiliano Ortiz" userId="90727fd8e92db46b" providerId="LiveId" clId="{9BC7EBD1-E6C7-40E2-9BE0-E69EBE0B6810}" dt="2026-08-10T20:48:51.205" v="199"/>
          <ac:spMkLst>
            <pc:docMk/>
            <pc:sldMk cId="281546375" sldId="334"/>
            <ac:spMk id="15" creationId="{331C504E-AA13-4058-A0A2-A9874483E36D}"/>
          </ac:spMkLst>
        </pc:spChg>
      </pc:sldChg>
      <pc:sldChg chg="modSp mod">
        <pc:chgData name="Maximiliano Ortiz" userId="90727fd8e92db46b" providerId="LiveId" clId="{9BC7EBD1-E6C7-40E2-9BE0-E69EBE0B6810}" dt="2026-08-10T20:48:51.297" v="203"/>
        <pc:sldMkLst>
          <pc:docMk/>
          <pc:sldMk cId="817057724" sldId="335"/>
        </pc:sldMkLst>
        <pc:spChg chg="mod">
          <ac:chgData name="Maximiliano Ortiz" userId="90727fd8e92db46b" providerId="LiveId" clId="{9BC7EBD1-E6C7-40E2-9BE0-E69EBE0B6810}" dt="2026-08-10T20:48:51.297" v="203"/>
          <ac:spMkLst>
            <pc:docMk/>
            <pc:sldMk cId="817057724" sldId="335"/>
            <ac:spMk id="13" creationId="{77D93395-C38F-4B4B-945E-4B2324A585C9}"/>
          </ac:spMkLst>
        </pc:spChg>
      </pc:sldChg>
      <pc:sldChg chg="modSp mod">
        <pc:chgData name="Maximiliano Ortiz" userId="90727fd8e92db46b" providerId="LiveId" clId="{9BC7EBD1-E6C7-40E2-9BE0-E69EBE0B6810}" dt="2026-08-10T20:48:51.374" v="207"/>
        <pc:sldMkLst>
          <pc:docMk/>
          <pc:sldMk cId="1320203634" sldId="336"/>
        </pc:sldMkLst>
        <pc:spChg chg="mod">
          <ac:chgData name="Maximiliano Ortiz" userId="90727fd8e92db46b" providerId="LiveId" clId="{9BC7EBD1-E6C7-40E2-9BE0-E69EBE0B6810}" dt="2026-08-10T20:48:51.374" v="207"/>
          <ac:spMkLst>
            <pc:docMk/>
            <pc:sldMk cId="1320203634" sldId="336"/>
            <ac:spMk id="15" creationId="{5C342AD0-CAB3-40B3-A7FE-182040CB1CE6}"/>
          </ac:spMkLst>
        </pc:spChg>
      </pc:sldChg>
      <pc:sldChg chg="modSp mod">
        <pc:chgData name="Maximiliano Ortiz" userId="90727fd8e92db46b" providerId="LiveId" clId="{9BC7EBD1-E6C7-40E2-9BE0-E69EBE0B6810}" dt="2026-08-10T20:48:51.448" v="211"/>
        <pc:sldMkLst>
          <pc:docMk/>
          <pc:sldMk cId="567438305" sldId="338"/>
        </pc:sldMkLst>
        <pc:spChg chg="mod">
          <ac:chgData name="Maximiliano Ortiz" userId="90727fd8e92db46b" providerId="LiveId" clId="{9BC7EBD1-E6C7-40E2-9BE0-E69EBE0B6810}" dt="2026-08-10T20:48:51.448" v="211"/>
          <ac:spMkLst>
            <pc:docMk/>
            <pc:sldMk cId="567438305" sldId="338"/>
            <ac:spMk id="8" creationId="{5F26832E-0B4D-4A46-AADF-F9660D8E8A1B}"/>
          </ac:spMkLst>
        </pc:spChg>
      </pc:sldChg>
      <pc:sldChg chg="modSp mod">
        <pc:chgData name="Maximiliano Ortiz" userId="90727fd8e92db46b" providerId="LiveId" clId="{9BC7EBD1-E6C7-40E2-9BE0-E69EBE0B6810}" dt="2026-08-10T20:48:51.497" v="215"/>
        <pc:sldMkLst>
          <pc:docMk/>
          <pc:sldMk cId="986630461" sldId="339"/>
        </pc:sldMkLst>
        <pc:spChg chg="mod">
          <ac:chgData name="Maximiliano Ortiz" userId="90727fd8e92db46b" providerId="LiveId" clId="{9BC7EBD1-E6C7-40E2-9BE0-E69EBE0B6810}" dt="2026-08-10T20:48:51.497" v="215"/>
          <ac:spMkLst>
            <pc:docMk/>
            <pc:sldMk cId="986630461" sldId="339"/>
            <ac:spMk id="6" creationId="{C1FDEC01-B8AB-4F11-8A42-C97DB2109E09}"/>
          </ac:spMkLst>
        </pc:spChg>
      </pc:sldChg>
      <pc:sldChg chg="modSp mod">
        <pc:chgData name="Maximiliano Ortiz" userId="90727fd8e92db46b" providerId="LiveId" clId="{9BC7EBD1-E6C7-40E2-9BE0-E69EBE0B6810}" dt="2026-08-10T20:48:51.562" v="219"/>
        <pc:sldMkLst>
          <pc:docMk/>
          <pc:sldMk cId="318321949" sldId="341"/>
        </pc:sldMkLst>
        <pc:spChg chg="mod">
          <ac:chgData name="Maximiliano Ortiz" userId="90727fd8e92db46b" providerId="LiveId" clId="{9BC7EBD1-E6C7-40E2-9BE0-E69EBE0B6810}" dt="2026-08-10T20:48:51.562" v="219"/>
          <ac:spMkLst>
            <pc:docMk/>
            <pc:sldMk cId="318321949" sldId="341"/>
            <ac:spMk id="6" creationId="{411BADBE-D4B2-4756-8801-0DA9C1462575}"/>
          </ac:spMkLst>
        </pc:spChg>
      </pc:sldChg>
      <pc:sldChg chg="modSp mod">
        <pc:chgData name="Maximiliano Ortiz" userId="90727fd8e92db46b" providerId="LiveId" clId="{9BC7EBD1-E6C7-40E2-9BE0-E69EBE0B6810}" dt="2026-08-10T20:48:51.597" v="223"/>
        <pc:sldMkLst>
          <pc:docMk/>
          <pc:sldMk cId="1687263069" sldId="342"/>
        </pc:sldMkLst>
        <pc:spChg chg="mod">
          <ac:chgData name="Maximiliano Ortiz" userId="90727fd8e92db46b" providerId="LiveId" clId="{9BC7EBD1-E6C7-40E2-9BE0-E69EBE0B6810}" dt="2026-08-10T20:48:51.597" v="223"/>
          <ac:spMkLst>
            <pc:docMk/>
            <pc:sldMk cId="1687263069" sldId="342"/>
            <ac:spMk id="11" creationId="{A09BB3C5-B32C-4B11-B9CA-642F11878CD0}"/>
          </ac:spMkLst>
        </pc:spChg>
      </pc:sldChg>
      <pc:sldChg chg="modSp mod">
        <pc:chgData name="Maximiliano Ortiz" userId="90727fd8e92db46b" providerId="LiveId" clId="{9BC7EBD1-E6C7-40E2-9BE0-E69EBE0B6810}" dt="2026-08-10T20:48:51.646" v="227"/>
        <pc:sldMkLst>
          <pc:docMk/>
          <pc:sldMk cId="567438305" sldId="343"/>
        </pc:sldMkLst>
        <pc:spChg chg="mod">
          <ac:chgData name="Maximiliano Ortiz" userId="90727fd8e92db46b" providerId="LiveId" clId="{9BC7EBD1-E6C7-40E2-9BE0-E69EBE0B6810}" dt="2026-08-10T20:48:51.646" v="227"/>
          <ac:spMkLst>
            <pc:docMk/>
            <pc:sldMk cId="567438305" sldId="343"/>
            <ac:spMk id="6" creationId="{839398EC-CDF9-4991-A65D-F114AEEDBF58}"/>
          </ac:spMkLst>
        </pc:spChg>
      </pc:sldChg>
      <pc:sldChg chg="modSp mod">
        <pc:chgData name="Maximiliano Ortiz" userId="90727fd8e92db46b" providerId="LiveId" clId="{9BC7EBD1-E6C7-40E2-9BE0-E69EBE0B6810}" dt="2026-08-10T20:48:51.693" v="231"/>
        <pc:sldMkLst>
          <pc:docMk/>
          <pc:sldMk cId="1926975773" sldId="344"/>
        </pc:sldMkLst>
        <pc:spChg chg="mod">
          <ac:chgData name="Maximiliano Ortiz" userId="90727fd8e92db46b" providerId="LiveId" clId="{9BC7EBD1-E6C7-40E2-9BE0-E69EBE0B6810}" dt="2026-08-10T20:48:51.693" v="231"/>
          <ac:spMkLst>
            <pc:docMk/>
            <pc:sldMk cId="1926975773" sldId="344"/>
            <ac:spMk id="10" creationId="{88BEFE1F-8CDE-4509-9110-2B0E9B4BEB70}"/>
          </ac:spMkLst>
        </pc:spChg>
      </pc:sldChg>
      <pc:sldChg chg="modSp mod">
        <pc:chgData name="Maximiliano Ortiz" userId="90727fd8e92db46b" providerId="LiveId" clId="{9BC7EBD1-E6C7-40E2-9BE0-E69EBE0B6810}" dt="2026-08-10T20:48:51.752" v="235"/>
        <pc:sldMkLst>
          <pc:docMk/>
          <pc:sldMk cId="567438305" sldId="345"/>
        </pc:sldMkLst>
        <pc:spChg chg="mod">
          <ac:chgData name="Maximiliano Ortiz" userId="90727fd8e92db46b" providerId="LiveId" clId="{9BC7EBD1-E6C7-40E2-9BE0-E69EBE0B6810}" dt="2026-08-10T20:48:51.752" v="235"/>
          <ac:spMkLst>
            <pc:docMk/>
            <pc:sldMk cId="567438305" sldId="345"/>
            <ac:spMk id="13" creationId="{7AAEFFF1-6EFE-46C6-9226-9A6144C5085F}"/>
          </ac:spMkLst>
        </pc:spChg>
      </pc:sldChg>
      <pc:sldChg chg="modSp mod">
        <pc:chgData name="Maximiliano Ortiz" userId="90727fd8e92db46b" providerId="LiveId" clId="{9BC7EBD1-E6C7-40E2-9BE0-E69EBE0B6810}" dt="2026-08-10T20:48:51.813" v="239"/>
        <pc:sldMkLst>
          <pc:docMk/>
          <pc:sldMk cId="567438305" sldId="346"/>
        </pc:sldMkLst>
        <pc:spChg chg="mod">
          <ac:chgData name="Maximiliano Ortiz" userId="90727fd8e92db46b" providerId="LiveId" clId="{9BC7EBD1-E6C7-40E2-9BE0-E69EBE0B6810}" dt="2026-08-10T20:48:51.813" v="239"/>
          <ac:spMkLst>
            <pc:docMk/>
            <pc:sldMk cId="567438305" sldId="346"/>
            <ac:spMk id="13" creationId="{2BB4BB75-3636-4C3A-874F-4B04E5200225}"/>
          </ac:spMkLst>
        </pc:spChg>
      </pc:sldChg>
      <pc:sldChg chg="modSp mod">
        <pc:chgData name="Maximiliano Ortiz" userId="90727fd8e92db46b" providerId="LiveId" clId="{9BC7EBD1-E6C7-40E2-9BE0-E69EBE0B6810}" dt="2026-08-10T20:48:51.882" v="243"/>
        <pc:sldMkLst>
          <pc:docMk/>
          <pc:sldMk cId="281546375" sldId="347"/>
        </pc:sldMkLst>
        <pc:spChg chg="mod">
          <ac:chgData name="Maximiliano Ortiz" userId="90727fd8e92db46b" providerId="LiveId" clId="{9BC7EBD1-E6C7-40E2-9BE0-E69EBE0B6810}" dt="2026-08-10T20:48:51.882" v="243"/>
          <ac:spMkLst>
            <pc:docMk/>
            <pc:sldMk cId="281546375" sldId="347"/>
            <ac:spMk id="13" creationId="{6283C666-4E69-414E-87AE-DAA8F321EC5A}"/>
          </ac:spMkLst>
        </pc:spChg>
      </pc:sldChg>
      <pc:sldChg chg="modSp mod">
        <pc:chgData name="Maximiliano Ortiz" userId="90727fd8e92db46b" providerId="LiveId" clId="{9BC7EBD1-E6C7-40E2-9BE0-E69EBE0B6810}" dt="2026-08-10T20:48:51.929" v="247"/>
        <pc:sldMkLst>
          <pc:docMk/>
          <pc:sldMk cId="1320203634" sldId="348"/>
        </pc:sldMkLst>
        <pc:spChg chg="mod">
          <ac:chgData name="Maximiliano Ortiz" userId="90727fd8e92db46b" providerId="LiveId" clId="{9BC7EBD1-E6C7-40E2-9BE0-E69EBE0B6810}" dt="2026-08-10T20:48:51.929" v="247"/>
          <ac:spMkLst>
            <pc:docMk/>
            <pc:sldMk cId="1320203634" sldId="348"/>
            <ac:spMk id="8" creationId="{2EFFC9FA-3DEF-450A-934B-20CAE108FC64}"/>
          </ac:spMkLst>
        </pc:spChg>
      </pc:sldChg>
      <pc:sldChg chg="modSp mod">
        <pc:chgData name="Maximiliano Ortiz" userId="90727fd8e92db46b" providerId="LiveId" clId="{9BC7EBD1-E6C7-40E2-9BE0-E69EBE0B6810}" dt="2026-08-10T20:48:52.029" v="251"/>
        <pc:sldMkLst>
          <pc:docMk/>
          <pc:sldMk cId="48649001" sldId="350"/>
        </pc:sldMkLst>
        <pc:picChg chg="mod">
          <ac:chgData name="Maximiliano Ortiz" userId="90727fd8e92db46b" providerId="LiveId" clId="{9BC7EBD1-E6C7-40E2-9BE0-E69EBE0B6810}" dt="2026-08-10T20:48:52.029" v="251"/>
          <ac:picMkLst>
            <pc:docMk/>
            <pc:sldMk cId="48649001" sldId="350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2.114" v="255"/>
        <pc:sldMkLst>
          <pc:docMk/>
          <pc:sldMk cId="1741329192" sldId="352"/>
        </pc:sldMkLst>
        <pc:spChg chg="mod">
          <ac:chgData name="Maximiliano Ortiz" userId="90727fd8e92db46b" providerId="LiveId" clId="{9BC7EBD1-E6C7-40E2-9BE0-E69EBE0B6810}" dt="2026-08-10T20:48:52.114" v="255"/>
          <ac:spMkLst>
            <pc:docMk/>
            <pc:sldMk cId="1741329192" sldId="352"/>
            <ac:spMk id="11" creationId="{9D49A6E0-C239-4EAA-9CCB-13398C133770}"/>
          </ac:spMkLst>
        </pc:spChg>
      </pc:sldChg>
      <pc:sldChg chg="modSp mod">
        <pc:chgData name="Maximiliano Ortiz" userId="90727fd8e92db46b" providerId="LiveId" clId="{9BC7EBD1-E6C7-40E2-9BE0-E69EBE0B6810}" dt="2026-08-10T20:48:52.169" v="259"/>
        <pc:sldMkLst>
          <pc:docMk/>
          <pc:sldMk cId="48649001" sldId="353"/>
        </pc:sldMkLst>
        <pc:picChg chg="mod">
          <ac:chgData name="Maximiliano Ortiz" userId="90727fd8e92db46b" providerId="LiveId" clId="{9BC7EBD1-E6C7-40E2-9BE0-E69EBE0B6810}" dt="2026-08-10T20:48:52.169" v="259"/>
          <ac:picMkLst>
            <pc:docMk/>
            <pc:sldMk cId="48649001" sldId="353"/>
            <ac:picMk id="10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8-10T20:48:52.198" v="263"/>
        <pc:sldMkLst>
          <pc:docMk/>
          <pc:sldMk cId="318321949" sldId="354"/>
        </pc:sldMkLst>
        <pc:spChg chg="mod">
          <ac:chgData name="Maximiliano Ortiz" userId="90727fd8e92db46b" providerId="LiveId" clId="{9BC7EBD1-E6C7-40E2-9BE0-E69EBE0B6810}" dt="2026-08-10T20:48:52.198" v="263"/>
          <ac:spMkLst>
            <pc:docMk/>
            <pc:sldMk cId="318321949" sldId="354"/>
            <ac:spMk id="6" creationId="{7BE8EC6B-1A34-436B-A809-3DA55E6C7BAB}"/>
          </ac:spMkLst>
        </pc:spChg>
      </pc:sldChg>
      <pc:sldChg chg="modSp mod">
        <pc:chgData name="Maximiliano Ortiz" userId="90727fd8e92db46b" providerId="LiveId" clId="{9BC7EBD1-E6C7-40E2-9BE0-E69EBE0B6810}" dt="2026-08-10T20:48:52.262" v="267"/>
        <pc:sldMkLst>
          <pc:docMk/>
          <pc:sldMk cId="817057724" sldId="355"/>
        </pc:sldMkLst>
        <pc:spChg chg="mod">
          <ac:chgData name="Maximiliano Ortiz" userId="90727fd8e92db46b" providerId="LiveId" clId="{9BC7EBD1-E6C7-40E2-9BE0-E69EBE0B6810}" dt="2026-08-10T20:48:52.262" v="267"/>
          <ac:spMkLst>
            <pc:docMk/>
            <pc:sldMk cId="817057724" sldId="355"/>
            <ac:spMk id="19" creationId="{279C5DB5-CB93-4837-B59E-685CC78651B4}"/>
          </ac:spMkLst>
        </pc:spChg>
      </pc:sldChg>
      <pc:sldChg chg="modSp mod">
        <pc:chgData name="Maximiliano Ortiz" userId="90727fd8e92db46b" providerId="LiveId" clId="{9BC7EBD1-E6C7-40E2-9BE0-E69EBE0B6810}" dt="2026-08-10T20:48:52.363" v="271"/>
        <pc:sldMkLst>
          <pc:docMk/>
          <pc:sldMk cId="1673297158" sldId="357"/>
        </pc:sldMkLst>
        <pc:spChg chg="mod">
          <ac:chgData name="Maximiliano Ortiz" userId="90727fd8e92db46b" providerId="LiveId" clId="{9BC7EBD1-E6C7-40E2-9BE0-E69EBE0B6810}" dt="2026-08-10T20:48:52.363" v="271"/>
          <ac:spMkLst>
            <pc:docMk/>
            <pc:sldMk cId="1673297158" sldId="357"/>
            <ac:spMk id="10" creationId="{F7576829-6447-4EE4-9BAC-0EC8783E1EC8}"/>
          </ac:spMkLst>
        </pc:spChg>
      </pc:sldChg>
      <pc:sldChg chg="modSp mod">
        <pc:chgData name="Maximiliano Ortiz" userId="90727fd8e92db46b" providerId="LiveId" clId="{9BC7EBD1-E6C7-40E2-9BE0-E69EBE0B6810}" dt="2026-08-10T20:48:52.431" v="275"/>
        <pc:sldMkLst>
          <pc:docMk/>
          <pc:sldMk cId="567438305" sldId="358"/>
        </pc:sldMkLst>
        <pc:spChg chg="mod">
          <ac:chgData name="Maximiliano Ortiz" userId="90727fd8e92db46b" providerId="LiveId" clId="{9BC7EBD1-E6C7-40E2-9BE0-E69EBE0B6810}" dt="2026-08-10T20:48:52.431" v="275"/>
          <ac:spMkLst>
            <pc:docMk/>
            <pc:sldMk cId="567438305" sldId="358"/>
            <ac:spMk id="15" creationId="{AC728FCA-F55A-46B9-9C30-4414B5F73900}"/>
          </ac:spMkLst>
        </pc:spChg>
      </pc:sldChg>
      <pc:sldChg chg="modSp mod">
        <pc:chgData name="Maximiliano Ortiz" userId="90727fd8e92db46b" providerId="LiveId" clId="{9BC7EBD1-E6C7-40E2-9BE0-E69EBE0B6810}" dt="2026-08-10T20:48:52.499" v="279"/>
        <pc:sldMkLst>
          <pc:docMk/>
          <pc:sldMk cId="951530275" sldId="359"/>
        </pc:sldMkLst>
        <pc:spChg chg="mod">
          <ac:chgData name="Maximiliano Ortiz" userId="90727fd8e92db46b" providerId="LiveId" clId="{9BC7EBD1-E6C7-40E2-9BE0-E69EBE0B6810}" dt="2026-08-10T20:48:52.499" v="279"/>
          <ac:spMkLst>
            <pc:docMk/>
            <pc:sldMk cId="951530275" sldId="359"/>
            <ac:spMk id="8" creationId="{5EB5EE67-61BC-41DF-A502-E74B4E53FF43}"/>
          </ac:spMkLst>
        </pc:spChg>
      </pc:sldChg>
      <pc:sldChg chg="modSp mod">
        <pc:chgData name="Maximiliano Ortiz" userId="90727fd8e92db46b" providerId="LiveId" clId="{9BC7EBD1-E6C7-40E2-9BE0-E69EBE0B6810}" dt="2026-08-10T20:48:52.599" v="283"/>
        <pc:sldMkLst>
          <pc:docMk/>
          <pc:sldMk cId="1673297158" sldId="364"/>
        </pc:sldMkLst>
        <pc:spChg chg="mod">
          <ac:chgData name="Maximiliano Ortiz" userId="90727fd8e92db46b" providerId="LiveId" clId="{9BC7EBD1-E6C7-40E2-9BE0-E69EBE0B6810}" dt="2026-08-10T20:48:52.599" v="283"/>
          <ac:spMkLst>
            <pc:docMk/>
            <pc:sldMk cId="1673297158" sldId="364"/>
            <ac:spMk id="11" creationId="{01190810-3F68-4469-B109-5BBC03324ECF}"/>
          </ac:spMkLst>
        </pc:spChg>
      </pc:sldChg>
      <pc:sldChg chg="modSp mod">
        <pc:chgData name="Maximiliano Ortiz" userId="90727fd8e92db46b" providerId="LiveId" clId="{9BC7EBD1-E6C7-40E2-9BE0-E69EBE0B6810}" dt="2026-08-10T20:48:52.712" v="287"/>
        <pc:sldMkLst>
          <pc:docMk/>
          <pc:sldMk cId="313021856" sldId="368"/>
        </pc:sldMkLst>
        <pc:spChg chg="mod">
          <ac:chgData name="Maximiliano Ortiz" userId="90727fd8e92db46b" providerId="LiveId" clId="{9BC7EBD1-E6C7-40E2-9BE0-E69EBE0B6810}" dt="2026-08-10T20:48:52.712" v="287"/>
          <ac:spMkLst>
            <pc:docMk/>
            <pc:sldMk cId="313021856" sldId="368"/>
            <ac:spMk id="10" creationId="{BA579452-DD52-4E62-929C-BD98A25FC2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“periférico” como límite frente a U7/U8. Desarrollar la idea con esta conclusión: Oír comienza con presión y continúa mediante transformaciones periféricas.</a:t>
            </a:r>
          </a:p>
          <a:p>
            <a:r>
              <a:t>**Transición:** Abrir con la pregunta “¿qué cambia entre aire y nervio?”.</a:t>
            </a:r>
          </a:p>
          <a:p>
            <a:endParaRPr/>
          </a:p>
          <a:p>
            <a:r>
              <a:t>[Alt text]</a:t>
            </a:r>
          </a:p>
          <a:p>
            <a:r>
              <a:t>Motivo técnico del oído periférico que vincula presión en el aire con actividad del nervio auditivo.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6.1; PDF p. 151; OD-U06-01/24.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Recoger hipótesis sin corregir todavía; registrar vocabulario del grupo. Desarrollar la idea con esta conclusión: No se pasa directamente de presión a percepción.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Del aire al nervio: ¿qué etapas faltan?</a:t>
            </a:r>
          </a:p>
          <a:p>
            <a:r>
              <a:t>**Respuesta esperada:** Presión en el aire → tímpano → huesecillos → cóclea → células ciliadas → actividad del nervio auditivo.</a:t>
            </a:r>
          </a:p>
          <a:p>
            <a:r>
              <a:t>**Transición:** La dificultad del orden justifica recuperar magnitudes.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aire al nervio: ¿qué etapas faltan?»; organiza cadena incompleta para ordenar: presión, tímpano, huesecillos, cóclea, células y nervio.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6.3; PDF p. 152; BR diagnóstico;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Señalar qué se recuperará a demanda; no reenseñar unidades previas. Desarrollar la idea con esta conclusión: Fuerza, onda, presión, impedancia y respuesta en frecuencia convergen en U6.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concepto previo usaríamos para explicar la reflexión en una interfaz?</a:t>
            </a:r>
          </a:p>
          <a:p>
            <a:r>
              <a:t>**Respuesta esperada:** Fuerza, onda, presión, impedancia y respuesta en frecuencia convergen en U6.</a:t>
            </a:r>
          </a:p>
          <a:p>
            <a:r>
              <a:t>**Transición:** Pasar de conceptos previos a una prueba breve de magnitudes.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 que recuperamos de U2 a U5»; organiza cuatro aportes: mecánica, ondas, magnitudes acústicas y señal/sistema.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6.2; PDF p. 152; CM; CDM.</a:t>
            </a:r>
          </a:p>
          <a:p>
            <a:r>
              <a:t>- Asset propio aprobado: U06-DG-002.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justificación, no solo emparejamiento; corregir después de discutir. Desarrollar la idea con esta conclusión: Cada etapa exige una magnitud y una unidad diferentes.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¿Por qué no alcanza con decir que todas son «señales»?</a:t>
            </a:r>
          </a:p>
          <a:p>
            <a:r>
              <a:t>**Respuesta esperada:** Presión: Pa; fuerza: N; desplazamiento: m; potencial eléctrico: V o mV; actividad neural: patrón de descargas, no una única unidad física universal.</a:t>
            </a:r>
          </a:p>
          <a:p>
            <a:r>
              <a:t>**Transición:** La diversidad de magnitudes conduce a los objetivos.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«Presión, fuerza, desplazamiento y potencial: ¿qué unidad corresponde?»; organiza clasificación breve pa/n/m/v o mv/actividad neural..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6.2; BR; NOT; GLO; EP.</a:t>
            </a:r>
          </a:p>
          <a:p>
            <a:r>
              <a:t>- Asset propio aprobado: U06-DG-003.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evidencias esperadas: ordenar, relacionar, calcular y comparar. Desarrollar la idea con esta conclusión: La evaluación se centrará en relaciones, no en memorizar una lista anatómica.</a:t>
            </a:r>
          </a:p>
          <a:p>
            <a:r>
              <a:t>**Transición:** Anticipar que la segunda mitad llega a cóclea y transducción.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qué podremos reconstruir y explicar; destaca que la evaluación se centrará en relaciones, no en memorizar una lista anatómica.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 1–4;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Explicitar que pitch, sonoridad y diagnóstico quedan delimitados. Desarrollar la idea con esta conclusión: La fisiología periférica prepara percepción y clínica, pero no las reemplaza.</a:t>
            </a:r>
          </a:p>
          <a:p>
            <a:r>
              <a:t>**Transición:** Convertir objetivos en un recorrido visible.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qué podremos explicar dentro de la cóclea; destaca que la fisiología periférica prepara percepción y clínica, pero no las reemplaza.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 5–8; CM U6→U7/U8.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que el mapa reaparecerá con la etapa actual resaltada. Desarrollar la idea con esta conclusión: Cuatro tramos reúnen diez bloques y una misma cadena acumulativa.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Resaltar “entrada externa” y abrir B01.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«Mapa de la unidad: entrada, transferencia, cóclea y señal»; organiza entrada externa → oído medio/vía ósea → mecánica coclear → transducción/codificación.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bloques; TEX 6.3; TPL; EP.</a:t>
            </a:r>
          </a:p>
          <a:p>
            <a:r>
              <a:t>- Asset propio aprobado: U06-DG-004.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Conectar la señal de U5 con un sistema biológico dependiente de frecuencia. Desarrollar la idea con esta conclusión: Geometría, dirección y terminaciones modifican la presión que llega al tímpano.</a:t>
            </a:r>
          </a:p>
          <a:p>
            <a:r>
              <a:t>**Transición:** Comenzar por el pabellón antes del conducto.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el oído externo no es solo una entrada; destaca que geometría, dirección y terminaciones modifican la presión que llega al tímpano.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6.4; PDF p. 153.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Introducir “respuesta direccional” sin desarrollar HRTF ni localización de U7. Desarrollar la idea con esta conclusión: Reforzar o atenuar componentes es un cambio físico, no sonoridad fija.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Preguntar qué cambiaría al mover la fuente.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pabellón modifica el espectro según la dirección»; organiza pabellón, cabeza, dirección y cambios espectrales individuales.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6.4.1; PDF p. 153; REF carlini2024;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espectro de U5 y evitar concluir percepción individual. Desarrollar la idea con esta conclusión: Una misma geometría no modifica por igual cada componente.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¿La dirección cambia todas las frecuencias por igual?</a:t>
            </a:r>
          </a:p>
          <a:p>
            <a:r>
              <a:t>**Respuesta esperada:** No. La geometría produce modificaciones dependientes de frecuencia y dirección.</a:t>
            </a:r>
          </a:p>
          <a:p>
            <a:r>
              <a:t>**Transición:** Entrar al CAE y cambiar de dirección a posición.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«¿La dirección cambia todas las frecuencias por igual?»; organiza predicción cualitativa con tres componentes y dos direcciones.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6.4.1; REF carlini2024; 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Distinguir movimiento local de partículas, frente que avanza y patrón de presión. Desarrollar la idea con esta conclusión: El CAE real es curvo, variable y termina en una impedancia finita.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**Error frecuente:** Confundir desplazamiento local de partículas con avance del patrón de presión.</a:t>
            </a:r>
          </a:p>
          <a:p>
            <a:r>
              <a:t>**Transición:** La posición de medición se vuelve una aplicación inmediata.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presión no es idéntica en todos los puntos del CAE»; organiza geometría real, superposición y posición de observación.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6.4.2; PDF p. 153; REF ugarteburu2022; U4 ondas/reflexión.</a:t>
            </a:r>
          </a:p>
          <a:p>
            <a:r>
              <a:t>- Asset propio aprobado: U06-DG-006.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Delimitar medición física frente a inferencia clínica; preparar oído real. Desarrollar la idea con esta conclusión: Geometría, reflexiones, terminaciones y sonda alteran la presión local.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Geometría, reflexiones, terminaciones y sonda alteran la presión local.</a:t>
            </a:r>
          </a:p>
          <a:p>
            <a:r>
              <a:t>**Transición:** La variación real obliga a discutir el enunciado geométrico del programa.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«Medir en la entrada no equivale a medir cerca del tímpano»; organiza dos posiciones de sonda y cuatro causas físicas posibles..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6.4.2 y aplicación A1; PDF pp. 153, 168/173; REF ugarteburu2022.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la formulación del programa y explicar por qué no es una ley universal. Desarrollar la idea con esta conclusión: “Esférica a cilíndrica” es una idealización; el CAE real exige transferencia dependiente de frecuencia y posición.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Presentar «esférica → cilíndrica» como transformación exacta del CAE real.</a:t>
            </a:r>
          </a:p>
          <a:p>
            <a:r>
              <a:t>**Transición:** Usar un modelo más simple con hipótesis declaradas.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frente ideal al conducto real»; organiza comparación: modelos ideales / cae curvo, variable, finito y con pérdidas.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6.4.2–6.4.3; PDF pp. 153–154; SA tensión 2; OD-U06-03.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Separar modelo didáctico de anatomía individual. Desarrollar la idea con esta conclusión: Un tubo abierto–aproximadamente cerrado es útil si se declara qué omite.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La relación geométrica se compacta en una ecuación.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modelo de cuarto de onda aproxima la primera resonancia»; organiza extremos, longitud efectiva y condición λ≈4ℓ; lista breve de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6.4.3; PDF p. 154; BR; NOT.</a:t>
            </a:r>
          </a:p>
          <a:p>
            <a:r>
              <a:t>- Asset propio aprobado: U06-DG-008.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Leer la ecuación antes de sustituir; recordar que `≈` expresa modelo. Desarrollar la idea con esta conclusión: Mayor longitud efectiva implica menor primera frecuencia de resonancia.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**Pregunta al curso:** Si aumenta `ℓ`, ¿qué ocurre con `f_res`?</a:t>
            </a:r>
          </a:p>
          <a:p>
            <a:r>
              <a:t>**Respuesta esperada:** `f_res` disminuye porque es inversamente proporcional a `ℓ`.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Aplicar con datos didácticos.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resonancia del modelo depende de c y ℓ»; organiza fᵣₑₛ≈c/(4ℓ) con definiciones y control dimensional.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6.1; PDF p. 154; NOT.</a:t>
            </a:r>
          </a:p>
          <a:p>
            <a:r>
              <a:t>- Asset propio aprobado: U06-DG-009.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análisis dimensional y pedir dos límites del resultado. Desarrollar la idea con esta conclusión: El resultado pertenece al modelo, no a todas las personas.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dos propiedades del CAE real omite el cálculo?</a:t>
            </a:r>
          </a:p>
          <a:p>
            <a:r>
              <a:t>**Respuesta esperada:** Por ejemplo: curvatura, sección variable, pérdidas e impedancia del tímpano.</a:t>
            </a:r>
          </a:p>
          <a:p>
            <a:r>
              <a:t>**Error frecuente:** Tomar 3,18 kHz como constante anatómica universal.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Cerrar el bloque separando transferencia real y modelo.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CAE ideal de 27 mm resuena cerca de 3,18 kHz»; organiza datos → conversión → sustitución → unidad → limitaciones.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6.4.4; PDF p. 154.</a:t>
            </a:r>
          </a:p>
          <a:p>
            <a:r>
              <a:t>- Asset propio aprobado: U06-DG-009B.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nueva etapa resaltada; no repetir definiciones. Desarrollar la idea con esta conclusión: El oído externo modifica y conduce; el modelo explica una parte, no todo el sistema.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El oído externo modifica y conduce; el modelo explica una parte, no todo el sistema.</a:t>
            </a:r>
          </a:p>
          <a:p>
            <a:r>
              <a:t>**Transición:** La respuesta “diferencia de presión” abre B02.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dirección, posición, modelo y límite»; organiza tres afirmaciones + pregunta “¿qué llega finalmente al tímpano?”.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6.3–6.4; BR;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presión como fuerza por área. Desarrollar la idea con esta conclusión: El tímpano es una estructura mecánica, no un sensor eléctrico.</a:t>
            </a:r>
          </a:p>
          <a:p>
            <a:r>
              <a:t>**Transición:** Ubicar primero la membrana entre dos espacios.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una diferencia de presión pone en movimiento una membrana; destaca que el tímpano es una estructura mecánica, no un sensor eléctrico.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6.4.5; PDF pp. 154–155.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describirlo como pistón plano; introducir área efectiva. Desarrollar la idea con esta conclusión: La fuerza surge de una diferencia de presión entre las dos caras.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Pasar de ubicación a magnitud aplicada.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tímpano separa el CAE de la caja timpánica»; organiza vista anatómica simple con cae, tímpano, caja y mango del martillo.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PDF pp. 154–155; REF ugarteburu2022.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Definir signo/eje solo lo necesario; distinguir presión estática y alternante más adelante. Desarrollar la idea con esta conclusión: Importa la diferencia entre caras, no una presión aislada.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Compactar la relación en una ecuación.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«Dos presiones producen una fuerza resultante»; organiza presión del cae, presión de caja, resta y fuerza distribuida.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PDF p. 154; U2 presión/fuerza.</a:t>
            </a:r>
          </a:p>
          <a:p>
            <a:r>
              <a:t>- Asset propio aprobado: U06-DG-010.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la convención del curso `S` para el área efectiva y recordar la equivalencia con la notación de la fuente. Desarrollar la idea con esta conclusión: La ecuación estima fuerza; no predice por sí sola el desplazamiento.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**Pregunta al curso:** ¿Qué magnitud falta para describir el movimiento?</a:t>
            </a:r>
          </a:p>
          <a:p>
            <a:r>
              <a:t>**Respuesta esperada:** Se necesita la respuesta mecánica: masa, rigidez, amortiguamiento, frecuencia y apoyos.</a:t>
            </a:r>
          </a:p>
          <a:p>
            <a:r>
              <a:t>**Error frecuente:** Interpretar fuerza calculada como desplazamiento timpánico.</a:t>
            </a:r>
          </a:p>
          <a:p>
            <a:r>
              <a:t>**Transición:** Ofrecer una aplicación numérica breve.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 por área estima la fuerza resultante»; organiza ecuación, símbolos, pa·m²=n y advertencia de notación del libro 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6.2; PDF p. 154; NOT área; OD-U06-07.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Insistir en que el resultado no es un nivel ni un desplazamiento. Desarrollar la idea con esta conclusión: Una fuerza pequeña puede ser físicamente significativa en una estructura pequeña.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Preguntar qué información falta.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 0,20 Pa a una fuerza del orden de 10⁻⁵ N»; organiza datos, conversión, multiplicación y unidad; sin calcular desplazamiento.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G2 y solución; PDF pp. 168, 172.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Diagnosticar si el cálculo anterior produjo una falsa equivalencia. Desarrollar la idea con esta conclusión: Magnitudes relacionadas no son intercambiables.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magnitud describe cada frase?</a:t>
            </a:r>
          </a:p>
          <a:p>
            <a:r>
              <a:t>**Respuesta esperada:** Variación junto al tímpano: presión, Pa. Resultado sobre una superficie: fuerza, N. Movimiento de la membrana: desplazamiento, m.</a:t>
            </a:r>
          </a:p>
          <a:p>
            <a:r>
              <a:t>**Transición:** La diferencia abre la dinámica del tímpano.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magnitud describe cada frase?»; organiza tres situaciones; asignar símbolo/unidad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C3; PDF pp. 166, 171.</a:t>
            </a:r>
          </a:p>
          <a:p>
            <a:r>
              <a:t>- Asset propio aprobado: U06-DG-003.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Vincular con U2 y U5 sin modelar el tímpano como un resorte único. Desarrollar la idea con esta conclusión: El tímpano real tiene una respuesta mecánica dependiente de frecuencia.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¿Puede una misma fuerza producir movimientos distintos a frecuencias diferentes?</a:t>
            </a:r>
          </a:p>
          <a:p>
            <a:r>
              <a:t>**Respuesta esperada:** El tímpano real tiene una respuesta mecánica dependiente de frecuencia.</a:t>
            </a:r>
          </a:p>
          <a:p>
            <a:r>
              <a:t>**Transición:** Separar ahora presión acústica y estática.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«Conocer la fuerza no alcanza para conocer el movimiento»; organiza fuerza de entrada → sistema mecánico → desplazamiento; variables que condicionan.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solución G2; REF ugarteburu2022; CDM.</a:t>
            </a:r>
          </a:p>
          <a:p>
            <a:r>
              <a:t>- Asset propio aprobado: U06-DG-012.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Dar ejemplos cotidianos sin convertirlos en diagnóstico. Desarrollar la idea con esta conclusión: La acústica alterna y produce vibración; la estática cambia la posición de equilibrio.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Afirmar que la trompa iguala la presión acústica ciclo a ciclo.</a:t>
            </a:r>
          </a:p>
          <a:p>
            <a:r>
              <a:t>**Transición:** La presión estática conduce a la trompa de Eustaquio.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 acústica y presión estática actúan en tiempos distintos»; organiza criterios comunes: escala temporal, origen, efecto y mecanismo de compensación.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6.5.1 y ejercicio C4; PDF pp. 155, 166/171; GLO.</a:t>
            </a:r>
          </a:p>
          <a:p>
            <a:r>
              <a:t>- Asset propio aprobado: U06-DG-013.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explicar patología; conservar función normal y presión estática. Desarrollar la idea con esta conclusión: La apertura es intermitente y modifica condiciones del oído medio.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apertura es intermitente y modifica condiciones del oído medio.</a:t>
            </a:r>
          </a:p>
          <a:p>
            <a:r>
              <a:t>**Transición:** Volver a la señal acústica y seguir hacia huesecillos.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trompa contribuye a equilibrar presión, ventilar y drenar»; organiza caja timpánica ↔ nasofaringe; tres funciones y límite no diagnóstico.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6.5.1; PDF p. 155; REF schilder2015;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dominio mecánico añadido; pedir unidades. Desarrollar la idea con esta conclusión: Presión, fuerza y desplazamiento están conectados, pero exigen modelos distintos.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Presión, fuerza y desplazamiento están conectados, pero exigen modelos distintos.</a:t>
            </a:r>
          </a:p>
          <a:p>
            <a:r>
              <a:t>**Transición:** La pregunta de transferencia abre el oído medio.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Δp produce fuerza, el sistema determina movimiento»; organiza tres relaciones + pregunta “¿cómo se transfiere al fluido?”.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6.3–6.5.1; BR;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impedancia de U4 con una interpretación cualitativa. Desarrollar la idea con esta conclusión: El oído medio mejora el acoplamiento entre aire y cóclea sin crear energía.</a:t>
            </a:r>
          </a:p>
          <a:p>
            <a:r>
              <a:t>**Transición:** Ubicar la anatomía funcional completa.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transferir hacia un fluido exige transformar; destaca que el oído medio mejora el acoplamiento entre aire y cóclea sin crear energía.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6.5; PDF pp. 155–158.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Nombrar estructuras con orientación y función; no usar el dibujo para escala. Desarrollar la idea con esta conclusión: El martillo recibe; el yunque transmite; el estribo actúa en la ventana oval.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Plantear por qué la interfaz aire–fluido es problemática.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«Martillo, yunque y estribo forman una cadena funcional»; organiza caja, huesecillos, ventana oval/redonda y trompa en una ruta funcional.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6.5.1; PDF p. 155, fig. 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impedancia sin derivar; usar “mejora transferencia”, no “elimina pérdidas”. Desarrollar la idea con esta conclusión: Sin transformación, una fracción importante de energía se refleja.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destinos puede tener la energía en una interfaz desadaptada?</a:t>
            </a:r>
          </a:p>
          <a:p>
            <a:r>
              <a:t>**Respuesta esperada:** Puede transferirse, reflejarse y disiparse una parte.</a:t>
            </a:r>
          </a:p>
          <a:p>
            <a:r>
              <a:t>**Error frecuente:** Decir que adaptar impedancias elimina toda reflexión.</a:t>
            </a:r>
          </a:p>
          <a:p>
            <a:r>
              <a:t>**Transición:** Presentar los dos recursos mecánicos.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«Aire y fluidos presentan cargas mecánicas diferentes»; organiza dos medios, interfaz y destinos: reflexión/transferencia; sin coeficientes numéricos.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p. 155; U4 impedancia/reflexión.</a:t>
            </a:r>
          </a:p>
          <a:p>
            <a:r>
              <a:t>- Asset propio aprobado: U06-DG-016.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Anticipar que el oído real depende de frecuencia y pérdidas. Desarrollar la idea con esta conclusión: Área menor y acción de palanca cambian fuerza, presión y desplazamiento.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Formalizar primero la razón de áreas.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«Dos recursos colaboran en la transformación»; organiza 1) diferencia de áreas; 2) geometría martillo–yunque; 3) carga coclear.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pp. 155–156.</a:t>
            </a:r>
          </a:p>
          <a:p>
            <a:r>
              <a:t>- Asset propio aprobado: U06-DG-017.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presentar áreas como universales; resolver OD-U06-07 antes de escribir. Desarrollar la idea con esta conclusión: Una misma fuerza sobre menor área produce mayor presión ideal.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**Transición:** Añadir la acción de palanca sin otra ecuación compleja.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razón de áreas compara superficies efectivas»; organiza Rₛ=Sₜₘ/Sₑ; las unidades se cancelan; la equivalencia con la notación del libro se explica en notas.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6.3; PDF p. 156; NOT; OD-U06-07.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valores anatómicos; enfatizar modelo ideal. Desarrollar la idea con esta conclusión: Mayor fuerza ideal de salida se acompaña por menor desplazamiento o velocidad.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Combinar ambos recursos en una razón.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palanca cambia fuerza y desplazamiento en sentidos opuestos»; organiza brazos efectivos, fuerza de entrada/salida y sentido del intercambio.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p. 156, fig. 6.3.</a:t>
            </a:r>
          </a:p>
          <a:p>
            <a:r>
              <a:t>- Asset propio aprobado: U06-DG-019.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la colisión `R_p` y no fijar copy final. Desarrollar la idea con esta conclusión: La razón de presiones del modelo no debe llamarse como el coeficiente `R_p` de U4.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Mostrar qué se conserva en el modelo ideal.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transformación ideal combina áreas y palanca»; organiza Mₚ≈Rₛ·Rₗ y define entrada, salida y carácter adimensional.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6.4; PDF p. 156; NOT; OD-U06-08/09.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conservación con una nueva aplicación; diferenciar de proceso activo de CCE. Desarrollar la idea con esta conclusión: Fuerza/presión aumentan a cambio de velocidad/desplazamiento; el oído real además pierde energía.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variable disminuye si aumenta la fuerza de salida en un transformador ideal?</a:t>
            </a:r>
          </a:p>
          <a:p>
            <a:r>
              <a:t>**Respuesta esperada:** Disminuye el desplazamiento o la velocidad de salida, además de existir pérdidas reales.</a:t>
            </a:r>
          </a:p>
          <a:p>
            <a:r>
              <a:t>**Error frecuente:** Confundir aumento de presión con creación de energía.</a:t>
            </a:r>
          </a:p>
          <a:p>
            <a:r>
              <a:t>**Transición:** Aplicar los dos factores con números didácticos.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«Mayor presión no significa mayor energía»; organiza balance cualitativo entrada–transformación–salida–pérdidas.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6.3, 6.5.2 y error 6.11; PDF pp. 152, 156, 165.</a:t>
            </a:r>
          </a:p>
          <a:p>
            <a:r>
              <a:t>- Asset propio aprobado: U06-DG-021.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los símbolos definidos en la convención del curso; terminar con tres “no significa”. Desarrollar la idea con esta conclusión: `20×1,2=24`; expresarlo en dB no lo convierte en dB SPL ni energía.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Convertir el resultado en una pregunta de clasificación.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modelo ideal puede multiplicar la presión por 24»; organiza datos → razón → 20 log10 → interpretación y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6.5.3; PDF pp. 156–157; OD-U06-08/09.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referencia de U4 y evitar mezclar gain/nivel. Desarrollar la idea con esta conclusión: Faltan referencia y definición de magnitud para informar SPL.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Faltan referencia y definición de magnitud para informar SPL.</a:t>
            </a:r>
          </a:p>
          <a:p>
            <a:r>
              <a:t>**Error frecuente:** Rotular una razón del modelo como dB SPL.</a:t>
            </a:r>
          </a:p>
          <a:p>
            <a:r>
              <a:t>**Transición:** De la transformación pasiva pasar al reflejo muscular.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razón en dB no es automáticamente dB SPL»; organiza comparación 20 log10(p2/p1) frente a 20 log10(pᵣₘₛ/p(ref)).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6.5.3; PDF p. 156; NOT niveles.</a:t>
            </a:r>
          </a:p>
          <a:p>
            <a:r>
              <a:t>- Asset propio aprobado: U06-DG-022.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Señalar dependencias de estímulo, nivel y persona; reservar protocolo para U8. Desarrollar la idea con esta conclusión: La contracción del estapedio atenúa de forma dependiente de frecuencia y no es instantánea.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¿Por qué el reflejo no modifica el inicio de un impulso muy breve?</a:t>
            </a:r>
          </a:p>
          <a:p>
            <a:r>
              <a:t>**Respuesta esperada:** La contracción muscular ocurre después de una latencia.</a:t>
            </a:r>
          </a:p>
          <a:p>
            <a:r>
              <a:t>**Error frecuente:** Describir el reflejo como instantáneo o absolutamente protector.</a:t>
            </a:r>
          </a:p>
          <a:p>
            <a:r>
              <a:t>**Transición:** Preguntar por impulso breve y protección.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reflejo acústico modifica la rigidez después de una latencia»; organiza estímulo → vía refleja → contracción → cambio de rigidez/transferencia.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6.5.4; PDF p. 158; REF ashaHearingAdults; OD-U06-10/23.</a:t>
            </a:r>
          </a:p>
          <a:p>
            <a:r>
              <a:t>- Asset propio aprobado: U06-DG-023.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ventana oval y límite del reflejo; no repetir anatomía. Desarrollar la idea con esta conclusión: El oído medio adapta con pérdidas; el reflejo llega tarde para el inicio de un impulso.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El oído medio adapta con pérdidas; el reflejo llega tarde para el inicio de un impulso.</a:t>
            </a:r>
          </a:p>
          <a:p>
            <a:r>
              <a:t>**Transición:** Abrir una entrada alternativa: vibración del cráneo.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transferir, transformar y limitar»; organiza tres ideas + pregunta de control sobre energía y latencia.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6.5; PDF pp. 155–158; ejercicio A5.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que “vía” no significa un único trayecto anatómico. Desarrollar la idea con esta conclusión: Vibrar el cráneo puede estimular la cóclea mediante varias contribuciones simultáneas.</a:t>
            </a:r>
          </a:p>
          <a:p>
            <a:r>
              <a:t>**Transición:** Comparar primero las entradas aérea y ósea.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vía ósea es una convergencia, no un atajo único; destaca que vibrar el cráneo puede estimular la cóclea mediante varias contribuciones simultáneas.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6.6; PDF pp. 158–159.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“normal/anormal” y no introducir audiometría diagnóstica. Desarrollar la idea con esta conclusión: Ambas pueden generar diferencias de presión y movimiento en la partición coclear.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**Transición:** Convertir la comparación en una afirmación para evaluar.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«Vía aérea y vía ósea cambian la entrada, no la cóclea final»; organiza entrada, estructuras participantes y punto de convergencia; mismos criterios en dos columnas.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p. 158; GLO.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evidencia; no aceptar “porque llega directo”. Desarrollar la idea con esta conclusión: La afirmación absoluta es falsa porque algunas contribuciones involucran CAE y huesecillos.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“La vía ósea evita el oído externo y medio”: ¿verdadero o falso?</a:t>
            </a:r>
          </a:p>
          <a:p>
            <a:r>
              <a:t>**Respuesta esperada:** Falsa. La radiación hacia el CAE y la inercia osicular son dos ejemplos de participación del oído externo o medio.</a:t>
            </a:r>
          </a:p>
          <a:p>
            <a:r>
              <a:t>**Error frecuente:** Describir la vía ósea como un bypass único.</a:t>
            </a:r>
          </a:p>
          <a:p>
            <a:r>
              <a:t>**Transición:** Revelar el mapa multimecanismo.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«“La vía ósea evita el oído externo y medio”: ¿verdadero o falso?»; organiza consigna con espacio para justificar mediante mecanismos.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A3/D2; PDF pp. 168–170, 173–174.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simultaneidad y dependencia; no asignar porcentajes. Desarrollar la idea con esta conclusión: La importancia relativa cambia con frecuencia, acoplamiento y punto de estimulación.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condición puede cambiar la importancia relativa de los mecanismos?</a:t>
            </a:r>
          </a:p>
          <a:p>
            <a:r>
              <a:t>**Respuesta esperada:** La importancia relativa cambia con frecuencia, acoplamiento y punto de estimulación.</a:t>
            </a:r>
          </a:p>
          <a:p>
            <a:r>
              <a:t>**Transición:** Agrupar mecanismos por región para bajar carga.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«Cinco contribuciones pueden actuar al mismo tiempo»; organiza radiación cae, inercia osicular, inercia de fluidos, deformación capsular y tejidos/cavidades.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p. 159, fig. 6.4; REF stenfeltGoode2005.</a:t>
            </a:r>
          </a:p>
          <a:p>
            <a:r>
              <a:t>- Asset propio aprobado: U06-DG-025.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desarrollar efecto de oclusión audiométrico; conservar mecanismo físico. Desarrollar la idea con esta conclusión: La vibración del canal puede reintroducir una contribución aérea local.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Pasar de aire local a inercias.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pared del CAE también puede generar presión»; organiza pared del cae → presión interna; oclusión como modificador, sin procedimiento clínico.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 1; REF stenfeltGoode2005.</a:t>
            </a:r>
          </a:p>
          <a:p>
            <a:r>
              <a:t>- Asset propio aprobado: U06-DG-026.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inercia de U2 sin ecuaciones; evitar “todo se mueve igual”. Desarrollar la idea con esta conclusión: Lo relevante es movimiento relativo respecto de la cavidad o cápsula.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**Transición:** Completar con deformación y tejidos.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«Huesecillos y fluidos responden por inercia relativa»; organiza inercia osicular / inercia de fluidos con entrada, estructura y efecto.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puntos 2–3; REF stenfeltGoode2005.</a:t>
            </a:r>
          </a:p>
          <a:p>
            <a:r>
              <a:t>- Asset propio aprobado: U06-DG-027.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lenguaje probabilístico/condicional de la fuente. Desarrollar la idea con esta conclusión: Deformación y transmisión por cavidades pueden contribuir al resultado coclear.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Aplicar el mapa a un transductor.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cápsula y los tejidos aportan otras diferencias de presión»; organiza dos mecanismos restantes y advertencia de dependencia contextual.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puntos 4–5; REF stenfeltGoode2005.</a:t>
            </a:r>
          </a:p>
          <a:p>
            <a:r>
              <a:t>- Asset propio aprobado: U06-DG-028.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Diferenciar demostración física, calibración y evaluación clínica. Desarrollar la idea con esta conclusión: Acoplamiento, ubicación y frecuencia cambian las contribuciones.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Acoplamiento, ubicación y frecuencia cambian las contribuciones.</a:t>
            </a:r>
          </a:p>
          <a:p>
            <a:r>
              <a:t>**Transición:** Volver a la convergencia coclear.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vibrador óseo activa más de un mecanismo»; organiza transductor, punto de apoyo y rutas físicas posibles..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 y aplicación A3; CM U6→U8; OD-U06-17/19.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comparación con mecanismos ya conocidos, no la lista completa. Desarrollar la idea con esta conclusión: “Vía ósea” nombra el estímulo, no una sola ruta interna.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“Vía ósea” nombra el estímulo, no una sola ruta interna.</a:t>
            </a:r>
          </a:p>
          <a:p>
            <a:r>
              <a:t>**Transición:** La cóclea común abre B05.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varias entradas, una partición coclear»; organiza tres ideas + respuesta corregida a u06-042.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pp. 158–159; BR.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Advertir que ningún dibujo estará a escala. Desarrollar la idea con esta conclusión: Una vista longitudinal explica el recorrido; un corte transversal explica compartimentos y membranas.</a:t>
            </a:r>
          </a:p>
          <a:p>
            <a:r>
              <a:t>**Transición:** Comenzar por las ventanas y el recorrido longitudinal.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cóclea necesita dos vistas para entenderse; destaca que una vista longitudinal explica el recorrido; un corte transversal explica compartimentos y membranas.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pp. 159–160.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Corregir la imagen de “líquido que circula” de oval a redonda. Desarrollar la idea con esta conclusión: El estribo impulsa en la oval; la redonda permite desplazamiento complementario de fluidos.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función mecánica cumple la ventana redonda?</a:t>
            </a:r>
          </a:p>
          <a:p>
            <a:r>
              <a:t>**Respuesta esperada:** Aporta una frontera móvil complementaria para permitir desplazamientos oscilatorios del fluido.</a:t>
            </a:r>
          </a:p>
          <a:p>
            <a:r>
              <a:t>**Error frecuente:** Imaginar circulación neta permanente desde la ventana oval a la redonda.</a:t>
            </a:r>
          </a:p>
          <a:p>
            <a:r>
              <a:t>**Transición:** Ubicar el recorrido completo en vista longitudinal.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«Ventana oval y ventana redonda permiten movimiento complementario»; organiza estribo → presión en fluido → partición → ventana redonda.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pp. 159–160; ejercicio C6.</a:t>
            </a:r>
          </a:p>
          <a:p>
            <a:r>
              <a:t>- Asset propio aprobado: U06-DG-030.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trazar el recorrido con el dedo; aclarar oscilación, no flujo continuo. Desarrollar la idea con esta conclusión: Rampa vestibular y timpánica se comunican apicalmente mediante helicotrema.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Cambiar de vista y anunciar qué información nueva aparece.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vista longitudinal conecta base, ápex y helicotrema»; organiza ventanas, base, ápex, dos rampas y helicotrema.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p. 160, fig. 6.5a.</a:t>
            </a:r>
          </a:p>
          <a:p>
            <a:r>
              <a:t>- Asset propio aprobado: U06-DG-031.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doble nomenclatura solo en primera aparición; validar OD-U06-06. Desarrollar la idea con esta conclusión: Rampa vestibular, conducto coclear/rampa media y rampa timpánica ocupan posiciones distintas.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Preguntar qué fluido ocupa cada compartimento.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corte transversal muestra tres compartimentos»; organiza tres compartimentos con orientación superior/media/inferior.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p. 160; OD-U06-06.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Reservar gradiente eléctrico para B08; no anticipar todo. Desarrollar la idea con esta conclusión: Perilinfa: rampas vestibular/timpánica; endolinfa: rampa media.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¿Dónde se encuentra la endolinfa?</a:t>
            </a:r>
          </a:p>
          <a:p>
            <a:r>
              <a:t>**Respuesta esperada:** En el conducto coclear o rampa media.</a:t>
            </a:r>
          </a:p>
          <a:p>
            <a:r>
              <a:t>**Transición:** Añadir ahora las membranas que delimitan.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«Perilinfa y endolinfa no ocupan los mismos espacios»; organiza comparación por ubicación y función en esta unidad; sin composición iónica detallada.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 y 6.8.3; PDF pp. 159–160, 163; GLO.</a:t>
            </a:r>
          </a:p>
          <a:p>
            <a:r>
              <a:t>- Asset propio aprobado: U06-DG-033.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nombres; no decir que las membranas son paredes rígidas. Desarrollar la idea con esta conclusión: Las membranas separan compartimentos y sostienen la micromecánica.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Incorporar membrana tectorial y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«Reissner y basilar delimitan la rampa media»; organiza reissner arriba; basilar abajo; órgano de corti apoyado en basilar.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p. 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afirmar contacto idéntico para CCI y CCE; mantener esquema funcional. Desarrollar la idea con esta conclusión: El estímulo celular depende de movimiento relativo dentro de la partición.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Nombrar el órgano antes de añadir su túnel.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membrana tectorial se relaciona con los haces de estereocilios»; organiza basilar, órgano de corti, tectorial y estereocilios; relación espacial básica.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 y 6.8.1; PDF pp. 160–161; REF fettiplace2017.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la definición en nivel de primer año; no introducir todas las células de soporte. Desarrollar la idea con esta conclusión: No es una célula ni una membrana: es una organización sobre la basilar.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Señalar el punto obligatorio que falta en el capítulo.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órgano de Corti integra soporte y células sensoriales»; organiza definición, ubicación y componentes que se desarrollarán en b07.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6.8.1; PDF p. 161; REF fettiplace2017.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Ubicar primero la membrana basilar. Luego señalar las células pilares interna y externa: al inclinarse una hacia la otra delimitan un espacio triangular, el túnel de Corti. Aclarar que el esquema es conceptual y que el túnel forma parte del órgano de Corti.</a:t>
            </a:r>
          </a:p>
          <a:p>
            <a:r>
              <a:t>**Guía del diagrama:** Recorrer base, pilar interno, pilar externo y espacio central. La etiqueta del túnel debe señalar el espacio, no una de las células pilares.</a:t>
            </a:r>
          </a:p>
          <a:p>
            <a:r>
              <a:t>**Pregunta al curso:** ¿Qué tres límites permiten reconocer el túnel aunque cambie el estilo del dibujo?</a:t>
            </a:r>
          </a:p>
          <a:p>
            <a:r>
              <a:t>**Respuesta esperada:** Pilar interno, pilar externo y región de la membrana basilar que forma la base.</a:t>
            </a:r>
          </a:p>
          <a:p>
            <a:r>
              <a:t>**Error frecuente:** Confundir el túnel con una célula, una fila de células ciliadas o una rampa coclear.</a:t>
            </a:r>
          </a:p>
          <a:p>
            <a:r>
              <a:t>**Transición:** Volver al sistema completo mediante una actividad de rotulado.</a:t>
            </a:r>
          </a:p>
          <a:p>
            <a:endParaRPr/>
          </a:p>
          <a:p>
            <a:r>
              <a:t>[Alt text]</a:t>
            </a:r>
          </a:p>
          <a:p>
            <a:r>
              <a:t>Corte conceptual del órgano de Corti que ubica el túnel triangular entre los pilares interno y externo, sobre la membrana basilar.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PMC1852340; PMC4310856;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Diagnosticar rotación mental y vocabulario; dar pista base–ápex. Desarrollar la idea con esta conclusión: Cada vista responde una pregunta distinta y ambas son necesarias.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cambia entre la vista longitudinal y el corte?</a:t>
            </a:r>
          </a:p>
          <a:p>
            <a:r>
              <a:t>**Respuesta esperada:** Base–ápex, helicotrema y ventanas se reconocen principalmente en la vista longitudinal; rampas y membrana de Reissner, en el corte. La orientación general debe coordinarse entre ambas.</a:t>
            </a:r>
          </a:p>
          <a:p>
            <a:r>
              <a:t>**Transición:** Resolver con el mapa de compartimentos.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cambia entre la vista longitudinal y el corte?»; organiza emparejar estructuras visibles en una vista, en ambas o solo en el corte.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I3; PDF pp. 167, 171.</a:t>
            </a:r>
          </a:p>
          <a:p>
            <a:r>
              <a:t>- Asset propio aprobado: U06-DG-031.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caso funcional, no diagnóstico; preparar pruebas cruzadas. Desarrollar la idea con esta conclusión: Una estructura aislada no explica por sí sola la respuesta registrada.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Una estructura aislada no explica por sí sola la respuesta registrada.</a:t>
            </a:r>
          </a:p>
          <a:p>
            <a:r>
              <a:t>**Transición:** Cerrar con un mapa anatómico funcional.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frontera móvil altera toda la cadena hidromecánica»; organiza caso conceptual: movilidad de ventana/partición y consecuencias posibles.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6.10; PDF pp. 164–165; CM U6→U8.</a:t>
            </a:r>
          </a:p>
          <a:p>
            <a:r>
              <a:t>- Asset propio aprobado: U06-DG-030.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estructuras en una nueva tarea espacial, no como glosario. Desarrollar la idea con esta conclusión: La cóclea combina fronteras móviles y estructuras distribuidas.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cóclea combina fronteras móviles y estructuras distribuidas.</a:t>
            </a:r>
          </a:p>
          <a:p>
            <a:r>
              <a:t>**Transición:** La pregunta sobre movimiento abre B06.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ventanas, compartimentos, fluidos y membranas»; organiza recorrido longitudinal + corte reducido + pregunta “¿dónde se moverá más cada frecuencia?”.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pp. 159–160; BR.</a:t>
            </a:r>
          </a:p>
          <a:p>
            <a:r>
              <a:t>- Asset propio aprobado: U06-DG-037.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onda viajera de U3 y respuesta en frecuencia de U5. Desarrollar la idea con esta conclusión: Una estimulación tonal genera una onda con máximo dependiente de condiciones.</a:t>
            </a:r>
          </a:p>
          <a:p>
            <a:r>
              <a:t>**Transición:** Aclarar primero qué se mueve y qué no viaja netamente.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respuesta coclear se distribuye a lo largo de la partición; destaca que una estimulación tonal genera una onda con máximo dependiente de condiciones.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6.7.2–6.7.3; PDF pp. 160–162.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Relacionar con U3; señalar qué observar cuadro a cuadro. Desarrollar la idea con esta conclusión: Las partículas se desplazan alrededor de equilibrio mientras el patrón progresa.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**Multimedia/demostración:** Reproducir el recurso solo si está aprobado. Antes de iniciar, indicar qué observar; después, congelar o mostrar la alternativa estática y pedir que describan el cambio.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Las partículas se desplazan alrededor de equilibrio mientras el patrón progresa.</a:t>
            </a:r>
          </a:p>
          <a:p>
            <a:r>
              <a:t>**Error frecuente:** Confundir oscilación local con transporte neto del fluido.</a:t>
            </a:r>
          </a:p>
          <a:p>
            <a:r>
              <a:t>**Transición:** Seguir el crecimiento de la onda desde la base.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«Los fluidos oscilan; no circulan una vez alrededor de la cóclea»; organiza oscilación local frente a avance de la envolvente.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6.7.1–6.7.2; PDF pp. 160–161; GLO onda.</a:t>
            </a:r>
          </a:p>
          <a:p>
            <a:r>
              <a:t>- Asset propio aprobado: U06-DG-038.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hablar de “celdas de frecuencia”; introducir extensión espacial. Desarrollar la idea con esta conclusión: El máximo no aparece instantáneamente en un punto aislado.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Cambiar una variable: la frecuencia.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onda crece, alcanza un máximo y decae»; organiza inicio basal → crecimiento → máximo → decaimiento.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6.7.2; PDF pp. 160–161; REF fettiplace2017.</a:t>
            </a:r>
          </a:p>
          <a:p>
            <a:r>
              <a:t>- Asset propio aprobado: U06-DG-039.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Enseñar a leer ejes y aclarar que no son datos anatómicos. Desarrollar la idea con esta conclusión: Altas: base; bajas: ápex; las curvas tienen ancho y solapamiento.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¿Qué curva alcanza su máximo más cerca de la base?</a:t>
            </a:r>
          </a:p>
          <a:p>
            <a:r>
              <a:t>**Respuesta esperada:** La frecuencia alta; las bajas alcanzan máximos más apicales.</a:t>
            </a:r>
          </a:p>
          <a:p>
            <a:r>
              <a:t>**Transición:** Nombrar lugar característico y tonotopía.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altas: base; bajas: ápex; las curvas tienen ancho y solapamiento.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fig. 6.6a; PDF pp. 160–162; REF fettiplace2017, capraraPeng2022.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Contrastar región, mapa y atributo perceptual. Desarrollar la idea con esta conclusión: Lugar característico es una región; tonotopía es la organización ordenada de muchas frecuencias.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**Error frecuente:** Convertir el lugar característico en una celda de ancho fijo.</a:t>
            </a:r>
          </a:p>
          <a:p>
            <a:r>
              <a:t>**Transición:** Comprobar orientación.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«Lugar característico y tonotopía describen relaciones distintas»; organiza dos definiciones y ejemplo base/ápex.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6.7.2; PDF p. 160; GLO.</a:t>
            </a:r>
          </a:p>
          <a:p>
            <a:r>
              <a:t>- Asset propio aprobado: U06-DG-040.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“más basal/más apical”, no una distancia inventada. Desarrollar la idea con esta conclusión: La respuesta debe justificarse desde el mapa tonotópico.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¿Dónde esperás el máximo de un tono más agudo?</a:t>
            </a:r>
          </a:p>
          <a:p>
            <a:r>
              <a:t>**Respuesta esperada:** En una región relativamente más basal; el storyboard no autoriza asignar una distancia exacta.</a:t>
            </a:r>
          </a:p>
          <a:p>
            <a:r>
              <a:t>**Transición:** Hacer visible el error del punto fijo.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respuesta debe justificarse desde el mapa tonotópico.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I4/D3; PDF pp. 167, 170.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Conectar con U5: la cóclea no ejecuta un algoritmo FFT. Desarrollar la idea con esta conclusión: La excitación posee extensión, solapamiento y dependencia del nivel.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excitación posee extensión, solapamiento y dependencia del nivel.</a:t>
            </a:r>
          </a:p>
          <a:p>
            <a:r>
              <a:t>**Error frecuente:** Afirmar que la cóclea ejecuta literalmente una FFT.</a:t>
            </a:r>
          </a:p>
          <a:p>
            <a:r>
              <a:t>**Transición:** Mantener frecuencia y cambiar nivel.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excitación posee extensión, solapamiento y dependencia del nivel.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errores 6.11; PDF pp. 160, 165.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Declarar gráfico conceptual y no convertir altura de curva en unidad absoluta. Desarrollar la idea con esta conclusión: La contribución de CCE aumenta sensibilidad y agudiza el máximo.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**Transición:** Comparar con una señal intensa en slide siguiente.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contribución de cce aumenta sensibilidad y agudiza el máximo.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pp. 161–162; REF fettiplace2017, capraraPeng2022.</a:t>
            </a:r>
          </a:p>
          <a:p>
            <a:r>
              <a:t>- Asset propio aprobado: U06-CH-002A.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qué se mantiene: frecuencia y condiciones; qué cambia: nivel. Desarrollar la idea con esta conclusión: La respuesta crece de forma compresiva y se ensancha.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**Transición:** Preguntar por qué no hay ganancia constante.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respuesta crece de forma compresiva y se ensancha.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pp. 161–162.</a:t>
            </a:r>
          </a:p>
          <a:p>
            <a:r>
              <a:t>- Asset propio aprobado: U06-CH-002B.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anticipar prestina en detalle; reservarla para B07. Desarrollar la idea con esta conclusión: “Amplificador coclear” nombra un proceso dependiente de frecuencia y nivel.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¿Por qué una recta de ganancia constante no describe esta respuesta?</a:t>
            </a:r>
          </a:p>
          <a:p>
            <a:r>
              <a:t>**Respuesta esperada:** “Amplificador coclear” nombra un proceso dependiente de frecuencia y nivel.</a:t>
            </a:r>
          </a:p>
          <a:p>
            <a:r>
              <a:t>**Error frecuente:** Representar el proceso activo como ganancia constante.</a:t>
            </a:r>
          </a:p>
          <a:p>
            <a:r>
              <a:t>**Transición:** Consolidar frecuencia y nivel antes de abrir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proceso activo coclear es compresivo, no una ganancia fija»; organiza entrada física → respuesta pasiva/activa → compresión; sin modelo electrónico literal.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p. 161; REF fettiplace2017; GLO CCE.</a:t>
            </a:r>
          </a:p>
          <a:p>
            <a:r>
              <a:t>- Asset propio aprobado: U06-CH-003.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pares físico/perceptual con nueva evidencia mecánica. Desarrollar la idea con esta conclusión: Tonotopía y compresión son respuestas periféricas; pitch y sonoridad vendrán después.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Tonotopía y compresión son respuestas periféricas; pitch y sonoridad vendrán después.</a:t>
            </a:r>
          </a:p>
          <a:p>
            <a:r>
              <a:t>**Transición:** Preguntar qué estructura aporta el proceso activo.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frecuencia cambia el lugar; nivel cambia la extensión»; organiza tres ideas + pregunta sobre tono de 2 khz a dos niveles.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6.7.2–6.7.3; PDF pp. 160–162; CM U6→U7.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Volver del gráfico longitudinal al corte local. Desarrollar la idea con esta conclusión: La membrana basilar no actúa sola; importa la micromecánica de la partición.</a:t>
            </a:r>
          </a:p>
          <a:p>
            <a:r>
              <a:t>**Transición:** Ubicar el órgano y las células.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el estímulo celular nace del movimiento relativo; destaca que la membrana basilar no actúa sola; importa la micromecánica de la partición.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6.8; PDF pp. 161–164.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anatomía y evitar escala falsa; señalar fuente pendiente del túnel. Desarrollar la idea con esta conclusión: La organización espacial permite convertir movimiento en deflexión de haces.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Aislar el movimiento relativo.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órgano de Corti se apoya sobre la membrana basilar»; organiza una fila de células ciliadas internas, varias filas de células ciliadas externas, pilares y túnel de Corti.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6.8.1; PDF p. 161; REF fettiplace2017; OD-U06-04/14.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Indicar qué mirar; aclarar límites del esquema y contacto diferencial CCI/CCE. Desarrollar la idea con esta conclusión: El cizallamiento/relación de movimiento deflecta estereocilios.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**Multimedia/demostración:** Reproducir el recurso solo si está aprobado. Antes de iniciar, indicar qué observar; después, congelar o mostrar la alternativa estática y pedir que describan el cambio.</a:t>
            </a:r>
          </a:p>
          <a:p>
            <a:r>
              <a:t>**Transición:** Acercarse a un haz de estereocilios.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«Basilar, tectorial y partición se mueven de manera relativa»; organiza estado 1/estado 2 y dirección de movimiento; sin afirmar desplazamientos universales.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6.8.1; PDF p. 161; REF fettiplace2017, capraraPeng2022.</a:t>
            </a:r>
          </a:p>
          <a:p>
            <a:r>
              <a:t>- Asset propio aprobado: U06-DG-042.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Preparar B08 sin adelantar corriente iónica completa. Desarrollar la idea con esta conclusión: La respuesta no depende solo de “cuánto”, sino también de hacia dónde se deflecta.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Comparar los dos tipos celulares que reciben esta entrada.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dirección de deflexión cambia la respuesta del haz»; organiza haz en reposo, deflexión excitatoria y opuesta; sin canales todavía.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capraraPeng2022.</a:t>
            </a:r>
          </a:p>
          <a:p>
            <a:r>
              <a:t>- Asset propio aprobado: U06-DG-043.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afirmar que una transduce y la otra no; ambas lo hacen. Desarrollar la idea con esta conclusión: CCI: aferencia principal; CCE: realimentación mecánica activa.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¿Cuál es la vía aferente principal y cuál realimenta la mecánica?</a:t>
            </a:r>
          </a:p>
          <a:p>
            <a:r>
              <a:t>**Respuesta esperada:** CCI: aferencia principal. CCE: realimentación mecánica activa.</a:t>
            </a:r>
          </a:p>
          <a:p>
            <a:r>
              <a:t>**Error frecuente:** Afirmar que solo un tipo celular transduce.</a:t>
            </a:r>
          </a:p>
          <a:p>
            <a:r>
              <a:t>**Transición:** Profundizar cada rama por separado.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«CCI y CCE comparten transducción, pero no función global»; organiza comparación por entrada, salida inmediata, conexión y consecuencia.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6.8.2–6.8.3; PDF pp. 161–164; GLO.</a:t>
            </a:r>
          </a:p>
          <a:p>
            <a:r>
              <a:t>- Asset propio aprobado: U06-DG-044.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confundir potencial receptor con potencial de acción; se formaliza en B08. Desarrollar la idea con esta conclusión: La señal neural principal comienza después de una transmisión sináptica.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Contrastar con la salida mecánica de CCE.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«Las CCI constituyen la vía aferente principal»; organiza cci → potencial receptor → glutamato → fibra aferente; detalle reducido.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6.8.2; PDF pp. 161–162; REF fettiplace2017.</a:t>
            </a:r>
          </a:p>
          <a:p>
            <a:r>
              <a:t>- Asset propio aprobado: U06-DG-045.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presentar prestina como “motor” aislado ni ganancia constante. Desarrollar la idea con esta conclusión: Cambios de longitud asociados con prestina modifican la partición, especialmente para señales débiles.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Volver a las dos ramas en una actividad.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«Las CCE realimentan la mecánica coclear»; organiza cce → cambio de longitud → realimentación → sensibilidad/selectividad/compresión.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6.8.2; PDF p. 162; REF fettiplace2017, capraraPeng2022.</a:t>
            </a:r>
          </a:p>
          <a:p>
            <a:r>
              <a:t>- Asset propio aprobado: U06-DG-046.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Corregir intercambios CCI↔CCE y pedir evidencia causal. Desarrollar la idea con esta conclusión: Aferencia, OEA, selectividad y neurotransmisión no pertenecen a la misma rama.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rama explica cada consecuencia?</a:t>
            </a:r>
          </a:p>
          <a:p>
            <a:r>
              <a:t>**Respuesta esperada:** Aferencia y glutamato: rama CCI. Realimentación y OEA: rama CCE, con participación de la cadena de salida para registrar la OEA.</a:t>
            </a:r>
          </a:p>
          <a:p>
            <a:r>
              <a:t>**Transición:** Aplicar a otoemisiones con cautela.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rama explica cada consecuencia?»; organiza cuatro consecuencias para clasificar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I5/D4; PDF pp. 167, 170/174.</a:t>
            </a:r>
          </a:p>
          <a:p>
            <a:r>
              <a:t>- Asset propio aprobado: U06-DG-044.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foco físico-funcional; no enseñar protocolo ni diagnóstico. Desarrollar la idea con esta conclusión: La energía debe atravesar cóclea, oído medio y CAE para registrarse.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energía debe atravesar cóclea, oído medio y CAE para registrarse.</a:t>
            </a:r>
          </a:p>
          <a:p>
            <a:r>
              <a:t>**Error frecuente:** Tomar una OEA ausente como localización única en CCE.</a:t>
            </a:r>
          </a:p>
          <a:p>
            <a:r>
              <a:t>**Transición:** Recapitular entrada común y dos salidas.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OEA depende de CCE y también de la cadena de salida»; organiza proceso activo → transmisión inversa → micrófono; “qué permite/no permite”.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 y aplicación A2; PDF pp. 164–165, 168/173; CM U6→U8.</a:t>
            </a:r>
          </a:p>
          <a:p>
            <a:r>
              <a:t>- Asset propio aprobado: U06-DG-047.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el diagrama con la rama clínica añadida, no volver a definir CCI/CCE. Desarrollar la idea con esta conclusión: La misma deflexión inicia transducción; las consecuencias globales divergen.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misma deflexión inicia transducción; las consecuencias globales divergen.</a:t>
            </a:r>
          </a:p>
          <a:p>
            <a:r>
              <a:t>**Transición:** La pregunta eléctrica abre B08.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movimiento común, funciones diferentes»; organiza tramo común + dos ramas + pregunta “¿dónde aparece lo eléctrico?”.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6.8.1–6.8.2; PDF pp. 161–164.</a:t>
            </a:r>
          </a:p>
          <a:p>
            <a:r>
              <a:t>- Asset propio aprobado: U06-DG-044.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que CCI y CCE transducen, aunque sus funciones globales difieren. Desarrollar la idea con esta conclusión: La conversión ocurre por etapas: mecánica, eléctrica, química y neural.</a:t>
            </a:r>
          </a:p>
          <a:p>
            <a:r>
              <a:t>**Transición:** Ordenar primero el vocabulario eléctrico.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¿cómo se convierte una deflexión en señal celular?; destaca que la conversión ocurre por etapas: mecánica, eléctrica, química y neural.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162–164.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dar aún valores ni afirmar que el potencial de acción ocurre en la célula ciliada. Desarrollar la idea con esta conclusión: Endococlear, reposo, receptor y acción se distinguen por ubicación, causa y función.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Definir primero la fuente del gradiente.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«Cuatro potenciales no significan lo mismo»; organiza mapa de términos con “dónde ocurre / qué lo genera / qué representa”.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p. 163; SA 6.4; NG.</a:t>
            </a:r>
          </a:p>
          <a:p>
            <a:r>
              <a:t>- Asset propio aprobado: U06-DG-048.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presentar un voltaje sin electrodo de referencia; reservar valores para respaldo si se validan. Desarrollar la idea con esta conclusión: La endolinfa posee un potencial positivo respecto de referencias extracocleares; el gradiente importa más que memorizar un número.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¿Puede informarse un voltaje sin nombrar la referencia?</a:t>
            </a:r>
          </a:p>
          <a:p>
            <a:r>
              <a:t>**Respuesta esperada:** No; una diferencia de potencial siempre se define entre dos puntos o referencias.</a:t>
            </a:r>
          </a:p>
          <a:p>
            <a:r>
              <a:t>**Transición:** Comparar con el estado eléctrico de la célula.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potencial endococlear sostiene un gradiente en la rampa media»; organiza ubicación, polaridad relativa, función y advertencia sobre referencia de medida.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p. 163; REF fettiplace2017; NG.</a:t>
            </a:r>
          </a:p>
          <a:p>
            <a:r>
              <a:t>- Asset propio aprobado: U06-DG-049.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el potencial de reposo como la condición eléctrica basal de la membrana celular. Diferenciarlo del potencial endococlear, que corresponde a un compartimento, y del potencial receptor, que es la variación graduada durante el estímulo. No asignar un valor universal sin especificar célula, compartimentos y referencia.</a:t>
            </a:r>
          </a:p>
          <a:p>
            <a:r>
              <a:t>**Guía del diagrama:** Comparar estado basal y estado estimulado con el mismo criterio: localización, referencia y qué magnitud cambia.</a:t>
            </a:r>
          </a:p>
          <a:p>
            <a:r>
              <a:t>**Pregunta al curso:** ¿Qué información falta si alguien informa solamente “el potencial es −X mV”?</a:t>
            </a:r>
          </a:p>
          <a:p>
            <a:r>
              <a:t>**Respuesta esperada:** Qué célula o compartimento se midió, entre qué puntos y con qué referencia.</a:t>
            </a:r>
          </a:p>
          <a:p>
            <a:r>
              <a:t>**Error frecuente:** Confundir potencial endococlear, de reposo y receptor.</a:t>
            </a:r>
          </a:p>
          <a:p>
            <a:r>
              <a:t>**Transición:** Preguntar qué cambia cuando el haz se deflecta.</a:t>
            </a:r>
          </a:p>
          <a:p>
            <a:endParaRPr/>
          </a:p>
          <a:p>
            <a:r>
              <a:t>[Alt text]</a:t>
            </a:r>
          </a:p>
          <a:p>
            <a:r>
              <a:t>Comparación entre el potencial de reposo basal de una célula ciliada y la variación graduada del potencial receptor durante la estimulación.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Fettiplace 2017, DOI 10.1002/cphy.c160049;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“graduado” frente a “todo o nada” con cautela y sin convertir la slide en curso de neurofisiología. Desarrollar la idea con esta conclusión: La célula ciliada genera una respuesta graduada; los impulsos aparecen en fibras aferentes.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¿En qué estructura aparecen los potenciales de acción?</a:t>
            </a:r>
          </a:p>
          <a:p>
            <a:r>
              <a:t>**Respuesta esperada:** En las fibras aferentes, después de la transmisión sináptica.</a:t>
            </a:r>
          </a:p>
          <a:p>
            <a:r>
              <a:t>**Error frecuente:** Ubicar el potencial de acción dentro de la célula ciliada.</a:t>
            </a:r>
          </a:p>
          <a:p>
            <a:r>
              <a:t>**Transición:** Volver al enlace mecánico que abre los canales.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«Potencial receptor no es potencial de acción»; organiza comparación por célula/estructura, forma de variación, umbral y función.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163–164; REF fettiplace2017; GLO.</a:t>
            </a:r>
          </a:p>
          <a:p>
            <a:r>
              <a:t>- Asset propio aprobado: U06-DG-051.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microdetalle molecular innecesario y traducción ambigua; registrar término en cursiva. Desarrollar la idea con esta conclusión: Son enlaces mecánicos del haz; no “cables nerviosos” ni canales por sí mismos.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**Error frecuente:** Llamar canal iónico al *tip link*.</a:t>
            </a:r>
          </a:p>
          <a:p>
            <a:r>
              <a:t>**Transición:** Mostrar qué cambia con la deflexión excitatoria.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«Los tip links vinculan mecánicamente estereocilios vecinos»; organiza ubicación en el haz y relación con tensión; límite de la simplificación.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capraraPeng2022; GLO.</a:t>
            </a:r>
          </a:p>
          <a:p>
            <a:r>
              <a:t>- Asset propio aprobado: U06-DG-052.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Decir “probabilidad de apertura”, no interruptor binario; definir corriente convencional sin sobrecarga. Desarrollar la idea con esta conclusión: La tensión del haz modifica la probabilidad de apertura y permite una corriente predominantemente de K⁺ desde la endolinfa.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cambia primero con la deflexión excitatoria?</a:t>
            </a:r>
          </a:p>
          <a:p>
            <a:r>
              <a:t>**Respuesta esperada:** Aumenta la probabilidad de apertura de canales de transducción.</a:t>
            </a:r>
          </a:p>
          <a:p>
            <a:r>
              <a:t>**Error frecuente:** Representar la apertura de canales como interruptor mecánico todo-o-nada.</a:t>
            </a:r>
          </a:p>
          <a:p>
            <a:r>
              <a:t>**Transición:** Seguir la señal hasta la base celular.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deflexión excitatoria aumenta la apertura de canales»; organiza reposo relativo → deflexión → apertura → entrada iónica → despolarización; dirección opuesta como contraste.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capraraPeng2022, fettiplace2017.</a:t>
            </a:r>
          </a:p>
          <a:p>
            <a:r>
              <a:t>- Asset propio aprobado: U06-DG-053.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convertirlo en una clase de sinapsis; aclarar que el potencial de acción se propaga en la fibra. Desarrollar la idea con esta conclusión: La despolarización favorece entrada de Ca²⁺ y liberación de neurotransmisor hacia fibras aferentes.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Integrar el mecanismo completo en dos tramos.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«Ca²⁺ y glutamato conectan la respuesta celular con la aferencia»; organiza tres pasos en la base de una cci; cce se retoma solo como contraste funcional.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6.8.2–6.8.3; PDF pp. 162–164; REF fettiplace2017.</a:t>
            </a:r>
          </a:p>
          <a:p>
            <a:r>
              <a:t>- Asset propio aprobado: U06-DG-054.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Narrar la causalidad y pedir que el estudiantado identifique la transformación en cada flecha. Desarrollar la idea con esta conclusión: Movimiento relativo → deflexión → cambio de canales → corriente → potencial receptor.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Desde esa salida celular, abrir el tramo sináptico.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«Tramo 1: del movimiento al potencial receptor»; organiza cinco etapas con entrada, transformación, salida y qué no permite concluir.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6.8.1–6.8.3; PDF pp. 161–164; BR.</a:t>
            </a:r>
          </a:p>
          <a:p>
            <a:r>
              <a:t>- Asset propio aprobado: U06-DG-055.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Marcar dónde cambia la naturaleza de la señal; no afirmar codificación central. Desarrollar la idea con esta conclusión: Potencial receptor → Ca²⁺ → glutamato → respuesta de fibra → potenciales de acción.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¿Dónde cambia la señal de celular a neural?</a:t>
            </a:r>
          </a:p>
          <a:p>
            <a:r>
              <a:t>**Respuesta esperada:** Potencial receptor → Ca²⁺ → glutamato → respuesta de fibra → potenciales de acción.</a:t>
            </a:r>
          </a:p>
          <a:p>
            <a:r>
              <a:t>**Transición:** Comprobar el orden sin mostrar etiquetas.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«Tramo 2: del potencial receptor a la señal neural»; organiza cinco etapas; ubicación explícita de célula y fibra aferente.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6.8.2–6.8.3; PDF pp. 162–164; CM U6→U7.</a:t>
            </a:r>
          </a:p>
          <a:p>
            <a:r>
              <a:t>- Asset propio aprobado: U06-DG-056.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dos justificaciones y detectar el salto directo “estereocilio → impulso”. Desarrollar la idea con esta conclusión: Una secuencia correcta debe explicar por qué cada salida puede ser entrada de la etapa siguiente.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Ordená la transducción y justificá dos enlaces</a:t>
            </a:r>
          </a:p>
          <a:p>
            <a:r>
              <a:t>**Respuesta esperada:** Deflexión → cambio de apertura/corriente iónica → potencial receptor → liberación de neurotransmisor → respuesta de la fibra.</a:t>
            </a:r>
          </a:p>
          <a:p>
            <a:r>
              <a:t>**Transición:** Resolver y condensar vocabulario.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«Ordená la transducción y justificá dos enlaces»; organiza tarjetas desordenadas: deflexión, corriente, receptor, neurotransmisor, fibra.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I6/D5; PDF pp. 167, 170/174.</a:t>
            </a:r>
          </a:p>
          <a:p>
            <a:r>
              <a:t>- Asset propio aprobado: U06-DG-055.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el vocabulario dentro de una nueva tarea de ubicación; no reiterar definiciones completas. Desarrollar la idea con esta conclusión: Mecánica, respuesta celular, sinapsis e impulsos son etapas conectadas, no sinónimos.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Mecánica, respuesta celular, sinapsis e impulsos son etapas conectadas, no sinónimos.</a:t>
            </a:r>
          </a:p>
          <a:p>
            <a:r>
              <a:t>**Transición:** La pregunta por la información abre B09.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cuatro formas de señal, una sola cadena causal»; organiza tabla mínima de potenciales + cadena completa + pregunta “¿dónde se conserva información?”.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163–164; BR.</a:t>
            </a:r>
          </a:p>
          <a:p>
            <a:r>
              <a:t>- Asset propio aprobado: U06-DG-057.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Distinguir señal física, respuesta periférica y experiencia perceptual. Desarrollar la idea con esta conclusión: La periferia representa frecuencia y nivel mediante patrones espaciales y temporales/neuronales.</a:t>
            </a:r>
          </a:p>
          <a:p>
            <a:r>
              <a:t>**Transición:** Comenzar por el código espacial ya observable.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¿qué rasgos del estímulo conserva la salida periférica?; destaca que la periferia representa frecuencia y nivel mediante patrones espaciales y temporales/neuronales.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6.9; PDF p. 164; CM U6→U7.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U06-064 y añadir ahora la salida; no volver a enseñar tonotopía desde cero. Desarrollar la idea con esta conclusión: El lugar de máxima respuesta contribuye a codificar frecuencia, con extensión y solapamiento.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¿Un máximo espacial representa una sola fibra?</a:t>
            </a:r>
          </a:p>
          <a:p>
            <a:r>
              <a:t>**Respuesta esperada:** No; representa una población distribuida con extensión y solapamiento.</a:t>
            </a:r>
          </a:p>
          <a:p>
            <a:r>
              <a:t>**Transición:** Añadir el patrón temporal como complemento.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frecuencia deja una firma espacial»; organiza dos tonos, dos máximos y poblaciones aferentes asociadas; no correspondencia uno-a-uno.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6.9.1; PDF pp. 160, 164; REF fettiplace2017.</a:t>
            </a:r>
          </a:p>
          <a:p>
            <a:r>
              <a:t>- Asset propio aprobado: U06-CH-004.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La sincronización temporal es probabilística: ciertas fases de la onda aumentan la probabilidad de descarga. Esto no significa que cada fibra descargue una vez por ciclo. Su utilidad depende de la frecuencia y de las propiedades de la vía, por eso la slide evita fijar un límite único.</a:t>
            </a:r>
          </a:p>
          <a:p>
            <a:r>
              <a:t>**Guía del diagrama:** Seguir estímulo, eventos neurales, agrupamiento por fase y límite dependiente de condiciones. Comparar repetición de fase con ausencia de una correspondencia uno a uno.</a:t>
            </a:r>
          </a:p>
          <a:p>
            <a:r>
              <a:t>**Pregunta al curso:** Si falta una descarga en un ciclo, ¿desaparece necesariamente la información temporal?</a:t>
            </a:r>
          </a:p>
          <a:p>
            <a:r>
              <a:t>**Respuesta esperada:** No; el patrón estadístico de muchas descargas todavía puede conservar una preferencia de fase.</a:t>
            </a:r>
          </a:p>
          <a:p>
            <a:r>
              <a:t>**Error frecuente:** Suponer un impulso por ciclo o fijar un límite frecuencial universal.</a:t>
            </a:r>
          </a:p>
          <a:p>
            <a:r>
              <a:t>**Transición:** Comparar código y percepto.</a:t>
            </a:r>
          </a:p>
          <a:p>
            <a:endParaRPr/>
          </a:p>
          <a:p>
            <a:r>
              <a:t>[Alt text]</a:t>
            </a:r>
          </a:p>
          <a:p>
            <a:r>
              <a:t>Diagrama cualitativo que relaciona la estructura temporal del estímulo con descargas neurales probabilísticas y una sincronización parcial dependiente de la frecuencia.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6.9.1; PDF p. 164; Fettiplace 2017; Caprara y Peng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desarrollar escalas perceptuales; anunciar que se trabajarán en U7. Desarrollar la idea con esta conclusión: La frecuencia es una magnitud física; el *pitch* es una experiencia que depende del procesamiento.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frecuencia es una magnitud física; el *pitch* es una experiencia que depende del procesamiento.</a:t>
            </a:r>
          </a:p>
          <a:p>
            <a:r>
              <a:t>**Error frecuente:** Usar frecuencia y altura tonal como sinónimos.</a:t>
            </a:r>
          </a:p>
          <a:p>
            <a:r>
              <a:t>**Transición:** Repetir el criterio para nivel.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«Frecuencia no es altura tonal»; organiza par físico/perceptual con ejemplos que muestran relación, no identidad.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6.9.1 y errores 6.11; PDF pp. 164–165; CM U6→U7; GLO.</a:t>
            </a:r>
          </a:p>
          <a:p>
            <a:r>
              <a:t>- Asset propio aprobado: U06-DG-058B.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saturación como regla única y tasas numéricas sin datos; destacar compresión. Desarrollar la idea con esta conclusión: Mayor nivel puede reclutar una región más amplia y modificar tasas, sin traducirse linealmente en sonoridad.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se mantiene y qué cambia entre ambos niveles?</a:t>
            </a:r>
          </a:p>
          <a:p>
            <a:r>
              <a:t>**Respuesta esperada:** Se mantiene la frecuencia; cambian amplitud, extensión y patrón poblacional.</a:t>
            </a:r>
          </a:p>
          <a:p>
            <a:r>
              <a:t>**Transición:** Separar magnitud y percepto.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nivel modifica extensión y patrón de descarga»; organiza dos niveles a igual frecuencia: envolvente coclear y respuesta neural conceptual.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 y 6.9.2; PDF pp. 161–164; REF fettiplace2017.</a:t>
            </a:r>
          </a:p>
          <a:p>
            <a:r>
              <a:t>- Asset propio aprobado: U06-CH-006.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U4 sin introducir fonios o sonios todavía. Desarrollar la idea con esta conclusión: dB SPL describe una medición física; sonoridad describe experiencia perceptual.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Usar dB SPL y sonoridad como sinónimos.</a:t>
            </a:r>
          </a:p>
          <a:p>
            <a:r>
              <a:t>**Transición:** Llevar la distinción a mediciones clínicas.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«Nivel de presión sonora no es sonoridad»; organiza dos definiciones breves, relación no lineal y puente a u7.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6.9.2 y errores 6.11; PDF pp. 164–165; CM U4→U6→U7; GLO.</a:t>
            </a:r>
          </a:p>
          <a:p>
            <a:r>
              <a:t>- Asset propio aprobado: U06-DG-059B.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lenguaje funcional y reservar interpretación diagnóstica para U8. Desarrollar la idea con esta conclusión: Un resultado depende de la entrada, la estructura sensible, la vía de salida y la medición.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factores previos condicionan una OEA registrada en el CAE?</a:t>
            </a:r>
          </a:p>
          <a:p>
            <a:r>
              <a:t>**Respuesta esperada:** Un resultado depende de la entrada, la estructura sensible, la vía de salida y la medición.</a:t>
            </a:r>
          </a:p>
          <a:p>
            <a:r>
              <a:t>**Error frecuente:** Convertir una medición aislada en diagnóstico o localización única.</a:t>
            </a:r>
          </a:p>
          <a:p>
            <a:r>
              <a:t>**Transición:** Profundizar una medición eléctrica como ejemplo.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«Toda prueba observa una parte de la cadena»; organiza matriz: prueba conceptual → tramo predominante → factores previos → qué no concluye sola.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6.10; PDF pp. 164–165; CM U6→U8; BR.</a:t>
            </a:r>
          </a:p>
          <a:p>
            <a:r>
              <a:t>- Asset propio aprobado: U06-DG-060.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asignar ondas clínicas ni latencias específicas sin fuente; reforzar referencia eléctrica. Desarrollar la idea con esta conclusión: La señal registrada no es “el potencial del oído”: combina generadores, conducción y sistema de medida.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señal registrada no es “el potencial del oído”: combina generadores, conducción y sistema de medida.</a:t>
            </a:r>
          </a:p>
          <a:p>
            <a:r>
              <a:t>**Transición:** Proponer un caso que obligue a recorrer toda la cadena.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potencial evocado también depende de referencia y montaje»; organiza esquema de estímulo, electrodos, referencia, señal y límites inferenciales.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6.8.3/6.10; PDF pp. 163–165; CM U6→U8.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que los valores son condiciones, no predicción cuantitativa de respuesta. Desarrollar la idea con esta conclusión: La frecuencia mantiene aproximadamente el lugar característico; el nivel cambia amplitud, extensión y patrón de salida.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Mismo tono, dos niveles: ¿qué cambia y qué no?</a:t>
            </a:r>
          </a:p>
          <a:p>
            <a:r>
              <a:t>**Respuesta esperada:** Cambian amplitud y extensión; la región característica general se mantiene porque la frecuencia no cambia. No cambia la frecuencia física ni puede inferirse una razón universal de sonoridad.</a:t>
            </a:r>
          </a:p>
          <a:p>
            <a:r>
              <a:t>**Transición:** Resolver recorriendo bloques, no por intuición perceptual.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«Mismo tono, dos niveles: ¿qué cambia y qué no?»; organiza caso 2 khz a 40/70 db spl; cinco afirmaciones para seleccionar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6.7.2–6.9.2; PDF pp. 160–164; BR.</a:t>
            </a:r>
          </a:p>
          <a:p>
            <a:r>
              <a:t>- Asset propio aprobado: U06-DG-062.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visibles supuestos y evitar diagnosticar una persona a partir del modelo. Desarrollar la idea con esta conclusión: Una buena respuesta declara entrada, transformación por etapa, salida y lo que no puede inferirse.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afirmación del caso pertenece a percepción y no puede cerrarse aquí?</a:t>
            </a:r>
          </a:p>
          <a:p>
            <a:r>
              <a:t>**Respuesta esperada:** No puede cerrarse una razón universal de sonoridad ni un diagnóstico.</a:t>
            </a:r>
          </a:p>
          <a:p>
            <a:r>
              <a:t>**Transición:** Reducir la resolución a un mapa de cierre.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estímulo a la salida: resolución del caso»; organiza recorrido cae → medio → cóclea → cci/cce → fibra; diferencias entre 40/70 db spl.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6.2–6.10; PDF pp. 151–165; BR.</a:t>
            </a:r>
          </a:p>
          <a:p>
            <a:r>
              <a:t>- Asset propio aprobado: U06-DG-063.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al curso que complete conexiones; señalar cuatro ideas que volverán en U7/U8. Desarrollar la idea con esta conclusión: La cadena conserva y transforma información mediante etapas físicas, mecánicas, celulares y neurales.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**Pregunta al curso:** ¿Qué permite afirmar esta slide y qué no permite concluir?</a:t>
            </a:r>
          </a:p>
          <a:p>
            <a:r>
              <a:t>**Respuesta esperada:** La cadena conserva y transforma información mediante etapas físicas, mecánicas, celulares y neurales.</a:t>
            </a:r>
          </a:p>
          <a:p>
            <a:r>
              <a:t>**Transición:** Terminar con una salida hacia la próxima unidad.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«Diez ideas que sostienen el mecanismo periférico»; organiza diez enunciados agrupados por oído externo, medio, interno y salida; dos errores frecuentes.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6.2–6.10; PDF pp. 151–165; BR; CM.</a:t>
            </a:r>
          </a:p>
          <a:p>
            <a:r>
              <a:t>- Asset propio aprobado: U06-DG-064.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Cerrar la pregunta inicial y anticipar próximos usos sin tono publicitario. Desarrollar la idea con esta conclusión: U6 explica mecanismos periféricos; U7 estudiará atributos subjetivos y U8 sus mediciones/aplicaciones.</a:t>
            </a:r>
          </a:p>
          <a:p>
            <a:r>
              <a:t>**Transición:** Fin de recorrido central; ofrecer respaldo solo si hace falta.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periferia condiciona la percepción, pero no la agota; destaca que u6 explica mecanismos periféricos; u7 estudiará atributos subjetivos y u8 sus mediciones/aplicaciones.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CM U6→U7/U8; CDM;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Elegir una slide de respaldo por necesidad real, no proyectar todo al final. Desarrollar la idea con esta conclusión: El respaldo amplía vocabulario, cálculos, mecanismos y fuentes; no constituye un bloque obligatorio.</a:t>
            </a:r>
          </a:p>
          <a:p>
            <a:r>
              <a:t>**Transición:** Abrir solo el detalle requerido.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cómo usar las slides de respaldo; destaca que el respaldo amplía vocabulario, cálculos, mecanismos y fuentes; no constituye un bloque obligatorio.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Registrar decisión final en glosario antes de producción. Desarrollar la idea con esta conclusión: Términos equivalentes deben definirse una vez y usarse con consistencia.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Si la duda es simbólica, pasar al cruce de notación.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«Terminología anatómica: equivalencias controladas»; organiza tabla de conducto/meato; rampa/escala; ventana oval/vestibular; cae y oea.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GLO; NG; OD-U06-06; TEX;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esta slide como registro de la convención ya adoptada y remitir al glosario de notación. Desarrollar la idea con esta conclusión: `S` se reserva para área y el cociente ideal del oído medio usa un símbolo no confundible con reflexión.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Aplicar la convención a los ejercicios.</a:t>
            </a:r>
          </a:p>
          <a:p>
            <a:endParaRPr/>
          </a:p>
          <a:p>
            <a:r>
              <a:t>[Alt text]</a:t>
            </a:r>
          </a:p>
          <a:p>
            <a:r>
              <a:t>Tabla que relaciona la notación del libro con la convención del curso para áreas y razón ideal de presiones.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6.5; PDF p. 156; NG; OD-U06-07/08.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Resolver con `L=27 mm` como ejemplo didáctico, no valor universal. Desarrollar la idea con esta conclusión: El modelo de cuarto de onda exige declarar longitud efectiva, velocidad y condición de contorno.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Variar una condición para comprobar el modelo.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«G1: resonancia aproximada del CAE»; organiza datos, ecuación, sustitución, unidades, resultado e interpretación limitada.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6.4.3–6.4.4 y ejercicio G1; PDF pp. 153–154, 166, 169/172; NG.</a:t>
            </a:r>
          </a:p>
          <a:p>
            <a:r>
              <a:t>- Asset propio aprobado: U06-DG-009B.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un área efectiva declarada y distinguir Pa de N. Desarrollar la idea con esta conclusión: `F≈Δp·S` es una aproximación que conecta presión y fuerza sin describir el movimiento.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Pasar del tímpano al modelo de adaptación.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«G2: presión a fuerza sobre el tímpano»; organiza conversión de unidades, sustitución, resultado, chequeo y pregunta “¿qué falta?”.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 y ejercicio G2; PDF pp. 154–155, 166, 169/172; 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separados cociente de presiones, reflexión y nivel en dB. Desarrollar la idea con esta conclusión: El resultado depende de definiciones y pérdidas; la notación del curso ya está declarada.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Comparar con variantes sin recalcular en vivo.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«G3: modelo combinado del oído medio»; organiza cálculo paramétrico con razón de áreas y brazos; interpretación energética.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6.5.2–6.5.3 y ejercicio G3; PDF pp. 155–158, 166, 169/172; NG; OD-U06-07/08.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soluciones separadas del enunciado durante la actividad. Desarrollar la idea con esta conclusión: Cambiar datos no basta: cada variante debe pedir interpretación y límites.</a:t>
            </a:r>
          </a:p>
          <a:p>
            <a:r>
              <a:t>**Transición:** Volver a mecanismos si aparece una duda conceptual.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variantes numéricas y preguntas de transferencia; destaca que cambiar datos no basta: cada variante debe pedir interpretación y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6.12; PDF pp. 165–174;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inferir predominio clínico general desde el esquema. Desarrollar la idea con esta conclusión: La contribución relativa depende de frecuencia, transductor y condiciones; no hay una única ruta.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Usar solo para responder dudas de mecanismo.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«Cinco mecanismos propuestos para conducción ósea»; organiza definición ampliada, condiciones y cautelas por mecanismo.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6.6.1–6.6.5; PDF pp. 158–159; REF Stenfelt2011; BR.</a:t>
            </a:r>
          </a:p>
          <a:p>
            <a:r>
              <a:t>- Asset propio aprobado: U06-DG-026B.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toda cifra y canal específico; no mostrar si no aporta a la clase. Desarrollar la idea con esta conclusión: La dirección de corrientes depende de gradientes electroquímicos y compartimentos, no solo de “carga positiva”.</a:t>
            </a:r>
          </a:p>
          <a:p>
            <a:r>
              <a:t>**Guía del diagrama:** Nombrar la idea central fuera del diagrama; recorrer nodos y conectores en el orden propuesto; terminar con la relación funcional, sin repetir todo el texto de las cajas.</a:t>
            </a:r>
          </a:p>
          <a:p>
            <a:r>
              <a:t>**Transición:** Volver a la cadena funcional tras aclarar el detalle.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«Detalle electroquímico de la transducción»; organiza k⁺ apical, ca²⁺ basal, repolarización y neurotransmisión con referencias.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fettiplace2017, capraraPeng2022.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Tratar umbral y latencia como magnitudes dependientes de las condiciones de medición. El reflejo modifica la transferencia del oído medio, pero su latencia impide considerarlo una defensa instantánea y su efecto no equivale a una protección total.</a:t>
            </a:r>
          </a:p>
          <a:p>
            <a:r>
              <a:t>**Guía del diagrama:** Leer los cuatro criterios: qué inicia la respuesta, cuándo aparece, qué cambia mecánicamente y qué no puede concluirse.</a:t>
            </a:r>
          </a:p>
          <a:p>
            <a:r>
              <a:t>**Pregunta al curso:** ¿Por qué un único valor de umbral o latencia, sin describir el estímulo y el método, es incompleto?</a:t>
            </a:r>
          </a:p>
          <a:p>
            <a:r>
              <a:t>**Respuesta esperada:** Porque ambos dependen de las condiciones experimentales y de la población medida.</a:t>
            </a:r>
          </a:p>
          <a:p>
            <a:r>
              <a:t>**Transición:** Cerrar la duda y regresar a la función protectora limitada.</a:t>
            </a:r>
          </a:p>
          <a:p>
            <a:endParaRPr/>
          </a:p>
          <a:p>
            <a:r>
              <a:t>[Alt text]</a:t>
            </a:r>
          </a:p>
          <a:p>
            <a:r>
              <a:t>Matriz cualitativa sobre umbral, latencia, efecto mecánico y límites del reflejo acústico, sin presentar valores universales.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6.5.4; PDF pp. 157–158.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esta slide para auditar esquemas anatómicos. Un dibujo puede ser estilizado, pero debe mantener pilares, base y relación con el resto del órgano de Corti. La etiqueta del túnel debe terminar dentro del espacio triangular sin cubrir otras etiquetas.</a:t>
            </a:r>
          </a:p>
          <a:p>
            <a:r>
              <a:t>**Guía del diagrama:** Verificar en orden ubicación general, pilar interno, pilar externo, base sobre la membrana basilar y posición de la etiqueta.</a:t>
            </a:r>
          </a:p>
          <a:p>
            <a:r>
              <a:t>**Error frecuente:** Rotular “túnel” sobre una célula pilar o dibujarlo fuera del órgano de Corti.</a:t>
            </a:r>
          </a:p>
          <a:p>
            <a:r>
              <a:t>**Transición:** Volver al mapa del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Guía de rotulado del túnel de Corti con pilares interno y externo, membrana basilar y ubicación dentro del órgano de Corti.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PMC1852340; PMC4310856;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créditos legibles y actualizar estados antes de slide-writing. Desarrollar la idea con esta conclusión: Cada ampliación, visual y decisión debe poder rastrearse.</a:t>
            </a:r>
          </a:p>
          <a:p>
            <a:r>
              <a:t>**Transición:** Fin del respaldo.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fuentes, glosario y decisiones de alcance; destaca que cada ampliación, visual y decisión debe poder rastrearse.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TEX; PDF; CM; CDM; GLO; NG; OD; SA; inventarios iniciales.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ver-eyebrow">
            <a:extLst>
              <a:ext uri="{FF2B5EF4-FFF2-40B4-BE49-F238E27FC236}">
                <a16:creationId xmlns:a16="http://schemas.microsoft.com/office/drawing/2014/main" id="{996773C7-3A91-4216-8F87-D64C66941E3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6 · FÍSICA ACÚSTICA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5D8B92CB-300B-480B-BB2E-2389B0ADBD5B}"/>
              </a:ext>
            </a:extLst>
          </p:cNvPr>
          <p:cNvSpPr>
            <a:spLocks noGrp="1"/>
          </p:cNvSpPr>
          <p:nvPr/>
        </p:nvSpPr>
        <p:spPr>
          <a:xfrm>
            <a:off x="742950" y="1190625"/>
            <a:ext cx="6191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6 · El mecanismo periférico de la percepción auditiva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E0F8246C-4619-477F-93A7-42FF8172411F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609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Del aire a la actividad del nervio auditivo</a:t>
            </a:r>
          </a:p>
        </p:txBody>
      </p:sp>
      <p:sp>
        <p:nvSpPr>
          <p:cNvPr id="4" name="cover-step-1-anchor">
            <a:extLst>
              <a:ext uri="{FF2B5EF4-FFF2-40B4-BE49-F238E27FC236}">
                <a16:creationId xmlns:a16="http://schemas.microsoft.com/office/drawing/2014/main" id="{EA5A4F68-3FBA-4726-8B95-E1069542EC1F}"/>
              </a:ext>
            </a:extLst>
          </p:cNvPr>
          <p:cNvSpPr>
            <a:spLocks noGrp="1"/>
          </p:cNvSpPr>
          <p:nvPr/>
        </p:nvSpPr>
        <p:spPr>
          <a:xfrm>
            <a:off x="7429500" y="176212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5" name="cover-step-2-anchor">
            <a:extLst>
              <a:ext uri="{FF2B5EF4-FFF2-40B4-BE49-F238E27FC236}">
                <a16:creationId xmlns:a16="http://schemas.microsoft.com/office/drawing/2014/main" id="{5B034F34-5359-4383-A19C-BA5DC2DDD71B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6" name="cover-step-3-anchor">
            <a:extLst>
              <a:ext uri="{FF2B5EF4-FFF2-40B4-BE49-F238E27FC236}">
                <a16:creationId xmlns:a16="http://schemas.microsoft.com/office/drawing/2014/main" id="{8A855A0A-DA61-4604-B41A-F7A271E7A99E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7" name="cover-step-4-anchor">
            <a:extLst>
              <a:ext uri="{FF2B5EF4-FFF2-40B4-BE49-F238E27FC236}">
                <a16:creationId xmlns:a16="http://schemas.microsoft.com/office/drawing/2014/main" id="{1551D437-6BC4-4218-B00D-86D114DB5830}"/>
              </a:ext>
            </a:extLst>
          </p:cNvPr>
          <p:cNvSpPr>
            <a:spLocks noGrp="1"/>
          </p:cNvSpPr>
          <p:nvPr/>
        </p:nvSpPr>
        <p:spPr>
          <a:xfrm>
            <a:off x="9382125" y="338137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cxnSp>
        <p:nvCxnSpPr>
          <p:cNvPr id="26" name="Conector recto de flecha 25"/>
          <p:cNvCxnSpPr>
            <a:stCxn id="4" idx="3"/>
            <a:endCxn id="5" idx="1"/>
          </p:cNvCxnSpPr>
          <p:nvPr/>
        </p:nvCxnSpPr>
        <p:spPr>
          <a:xfrm>
            <a:off x="9048750" y="2286000"/>
            <a:ext cx="333375" cy="0"/>
          </a:xfrm>
          <a:prstGeom prst="straightConnector1">
            <a:avLst/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7" name="Conector: angular 26"/>
          <p:cNvCxnSpPr>
            <a:stCxn id="5" idx="2"/>
            <a:endCxn id="6" idx="0"/>
          </p:cNvCxnSpPr>
          <p:nvPr/>
        </p:nvCxnSpPr>
        <p:spPr>
          <a:xfrm flipH="1">
            <a:off x="8239125" y="2809875"/>
            <a:ext cx="1952625" cy="571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8" name="Conector recto de flecha 27"/>
          <p:cNvCxnSpPr>
            <a:stCxn id="6" idx="3"/>
            <a:endCxn id="7" idx="1"/>
          </p:cNvCxnSpPr>
          <p:nvPr/>
        </p:nvCxnSpPr>
        <p:spPr>
          <a:xfrm>
            <a:off x="9048750" y="3905250"/>
            <a:ext cx="333375" cy="0"/>
          </a:xfrm>
          <a:prstGeom prst="straightConnector1">
            <a:avLst/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sp>
        <p:nvSpPr>
          <p:cNvPr id="11" name="cover-step-1">
            <a:extLst>
              <a:ext uri="{FF2B5EF4-FFF2-40B4-BE49-F238E27FC236}">
                <a16:creationId xmlns:a16="http://schemas.microsoft.com/office/drawing/2014/main" id="{34C7A5A4-4DB7-4361-96EC-0EC81ECB889C}"/>
              </a:ext>
            </a:extLst>
          </p:cNvPr>
          <p:cNvSpPr>
            <a:spLocks noGrp="1"/>
          </p:cNvSpPr>
          <p:nvPr/>
        </p:nvSpPr>
        <p:spPr>
          <a:xfrm>
            <a:off x="7429500" y="176212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6A2447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2" name="cover-step-1-text">
            <a:extLst>
              <a:ext uri="{FF2B5EF4-FFF2-40B4-BE49-F238E27FC236}">
                <a16:creationId xmlns:a16="http://schemas.microsoft.com/office/drawing/2014/main" id="{23261D85-5B6C-49E4-BD71-70F8F998F300}"/>
              </a:ext>
            </a:extLst>
          </p:cNvPr>
          <p:cNvSpPr>
            <a:spLocks noGrp="1"/>
          </p:cNvSpPr>
          <p:nvPr/>
        </p:nvSpPr>
        <p:spPr>
          <a:xfrm>
            <a:off x="7572375" y="20478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13" name="cover-step-2">
            <a:extLst>
              <a:ext uri="{FF2B5EF4-FFF2-40B4-BE49-F238E27FC236}">
                <a16:creationId xmlns:a16="http://schemas.microsoft.com/office/drawing/2014/main" id="{B2DE4E99-31DB-4ED3-828D-0AD0E4D4CAB3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6A2447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4" name="cover-step-2-text">
            <a:extLst>
              <a:ext uri="{FF2B5EF4-FFF2-40B4-BE49-F238E27FC236}">
                <a16:creationId xmlns:a16="http://schemas.microsoft.com/office/drawing/2014/main" id="{F94FB5A4-8AF3-4809-87D3-3B5252D49EC7}"/>
              </a:ext>
            </a:extLst>
          </p:cNvPr>
          <p:cNvSpPr>
            <a:spLocks noGrp="1"/>
          </p:cNvSpPr>
          <p:nvPr/>
        </p:nvSpPr>
        <p:spPr>
          <a:xfrm>
            <a:off x="9525000" y="20478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15" name="cover-step-3">
            <a:extLst>
              <a:ext uri="{FF2B5EF4-FFF2-40B4-BE49-F238E27FC236}">
                <a16:creationId xmlns:a16="http://schemas.microsoft.com/office/drawing/2014/main" id="{6F865BF7-8056-4149-AC29-C9C4EE538B69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77384F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6" name="cover-step-3-text">
            <a:extLst>
              <a:ext uri="{FF2B5EF4-FFF2-40B4-BE49-F238E27FC236}">
                <a16:creationId xmlns:a16="http://schemas.microsoft.com/office/drawing/2014/main" id="{069926DC-7B5C-4CD5-A543-85C2E88AB9C3}"/>
              </a:ext>
            </a:extLst>
          </p:cNvPr>
          <p:cNvSpPr>
            <a:spLocks noGrp="1"/>
          </p:cNvSpPr>
          <p:nvPr/>
        </p:nvSpPr>
        <p:spPr>
          <a:xfrm>
            <a:off x="7572375" y="36671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7" name="cover-step-4">
            <a:extLst>
              <a:ext uri="{FF2B5EF4-FFF2-40B4-BE49-F238E27FC236}">
                <a16:creationId xmlns:a16="http://schemas.microsoft.com/office/drawing/2014/main" id="{BEA9904A-60FA-4D75-BE45-310381071383}"/>
              </a:ext>
            </a:extLst>
          </p:cNvPr>
          <p:cNvSpPr>
            <a:spLocks noGrp="1"/>
          </p:cNvSpPr>
          <p:nvPr/>
        </p:nvSpPr>
        <p:spPr>
          <a:xfrm>
            <a:off x="9382125" y="338137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77384F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8" name="cover-step-4-text">
            <a:extLst>
              <a:ext uri="{FF2B5EF4-FFF2-40B4-BE49-F238E27FC236}">
                <a16:creationId xmlns:a16="http://schemas.microsoft.com/office/drawing/2014/main" id="{454A05CF-4A0E-4B35-90B8-A6839B2B920E}"/>
              </a:ext>
            </a:extLst>
          </p:cNvPr>
          <p:cNvSpPr>
            <a:spLocks noGrp="1"/>
          </p:cNvSpPr>
          <p:nvPr/>
        </p:nvSpPr>
        <p:spPr>
          <a:xfrm>
            <a:off x="9525000" y="36671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032EA0FA-DC91-47F5-8687-43C126308D7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aire al nervio: ¿qué etapas faltan?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5073915-6099-47DC-AABC-560C157E535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No se pasa directamente de presión a percepción.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291DBED-31E6-4C48-B204-F3879F02594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002</a:t>
            </a:r>
          </a:p>
        </p:txBody>
      </p:sp>
      <p:sp>
        <p:nvSpPr>
          <p:cNvPr id="4" name="U06-DG-001-stage_1-anchor">
            <a:extLst>
              <a:ext uri="{FF2B5EF4-FFF2-40B4-BE49-F238E27FC236}">
                <a16:creationId xmlns:a16="http://schemas.microsoft.com/office/drawing/2014/main" id="{3711C360-4F72-4E99-994C-45487D5DC326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2-anchor">
            <a:extLst>
              <a:ext uri="{FF2B5EF4-FFF2-40B4-BE49-F238E27FC236}">
                <a16:creationId xmlns:a16="http://schemas.microsoft.com/office/drawing/2014/main" id="{05955538-CBBC-49F2-A197-7C9B52901382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3-anchor">
            <a:extLst>
              <a:ext uri="{FF2B5EF4-FFF2-40B4-BE49-F238E27FC236}">
                <a16:creationId xmlns:a16="http://schemas.microsoft.com/office/drawing/2014/main" id="{828E2AE2-060B-4C7A-83F7-03C135E4DB1E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4-anchor">
            <a:extLst>
              <a:ext uri="{FF2B5EF4-FFF2-40B4-BE49-F238E27FC236}">
                <a16:creationId xmlns:a16="http://schemas.microsoft.com/office/drawing/2014/main" id="{AB9F0836-3780-4B48-8800-55CF7F796196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5-anchor">
            <a:extLst>
              <a:ext uri="{FF2B5EF4-FFF2-40B4-BE49-F238E27FC236}">
                <a16:creationId xmlns:a16="http://schemas.microsoft.com/office/drawing/2014/main" id="{36DED1B3-7E7E-4EE8-BA4E-FFD26601EBC3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01-stage_6-anchor">
            <a:extLst>
              <a:ext uri="{FF2B5EF4-FFF2-40B4-BE49-F238E27FC236}">
                <a16:creationId xmlns:a16="http://schemas.microsoft.com/office/drawing/2014/main" id="{13688A0F-F0A4-4B29-B8E1-26D26854F3FA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6" idx="2"/>
            <a:endCxn id="7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7" idx="1"/>
            <a:endCxn id="8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8" idx="1"/>
            <a:endCxn id="9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01-stage_1-box" descr="Diagrama sobre «Del aire al nervio: ¿qué etapas faltan?»; organiza cadena incompleta para ordenar: presión, tímpano, huesecillos, cóclea, células y nervio." title="Texto alternativo U06-002">
            <a:extLst>
              <a:ext uri="{FF2B5EF4-FFF2-40B4-BE49-F238E27FC236}">
                <a16:creationId xmlns:a16="http://schemas.microsoft.com/office/drawing/2014/main" id="{039D2B83-09A4-43EA-B09E-D2C419F88414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01-stage_1-title">
            <a:extLst>
              <a:ext uri="{FF2B5EF4-FFF2-40B4-BE49-F238E27FC236}">
                <a16:creationId xmlns:a16="http://schemas.microsoft.com/office/drawing/2014/main" id="{70473788-BCC3-4F2F-9615-5AB7E257DD59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7" name="U06-DG-001-stage_1-body">
            <a:extLst>
              <a:ext uri="{FF2B5EF4-FFF2-40B4-BE49-F238E27FC236}">
                <a16:creationId xmlns:a16="http://schemas.microsoft.com/office/drawing/2014/main" id="{A467267F-051C-448B-B4ED-D12E7391C849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8" name="U06-DG-001-stage_2-box">
            <a:extLst>
              <a:ext uri="{FF2B5EF4-FFF2-40B4-BE49-F238E27FC236}">
                <a16:creationId xmlns:a16="http://schemas.microsoft.com/office/drawing/2014/main" id="{E3EBCA78-B59E-433C-B337-43CFC31F87CB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01-stage_2-title">
            <a:extLst>
              <a:ext uri="{FF2B5EF4-FFF2-40B4-BE49-F238E27FC236}">
                <a16:creationId xmlns:a16="http://schemas.microsoft.com/office/drawing/2014/main" id="{EE73002A-A51C-4C47-978A-81A53F4A8EDC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0" name="U06-DG-001-stage_2-body">
            <a:extLst>
              <a:ext uri="{FF2B5EF4-FFF2-40B4-BE49-F238E27FC236}">
                <a16:creationId xmlns:a16="http://schemas.microsoft.com/office/drawing/2014/main" id="{702EA6E5-B731-497D-9EC7-32366BD28F33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1" name="U06-DG-001-stage_3-box">
            <a:extLst>
              <a:ext uri="{FF2B5EF4-FFF2-40B4-BE49-F238E27FC236}">
                <a16:creationId xmlns:a16="http://schemas.microsoft.com/office/drawing/2014/main" id="{242B774F-AE6E-4FF0-B6D4-FFCB1F89E128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2" name="U06-DG-001-stage_3-title">
            <a:extLst>
              <a:ext uri="{FF2B5EF4-FFF2-40B4-BE49-F238E27FC236}">
                <a16:creationId xmlns:a16="http://schemas.microsoft.com/office/drawing/2014/main" id="{66E957AB-793F-4490-B835-E20B03E7DF12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3" name="U06-DG-001-stage_3-body">
            <a:extLst>
              <a:ext uri="{FF2B5EF4-FFF2-40B4-BE49-F238E27FC236}">
                <a16:creationId xmlns:a16="http://schemas.microsoft.com/office/drawing/2014/main" id="{4FA3433C-DDBD-4CAB-B187-E41D3106728F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4" name="U06-DG-001-stage_4-box">
            <a:extLst>
              <a:ext uri="{FF2B5EF4-FFF2-40B4-BE49-F238E27FC236}">
                <a16:creationId xmlns:a16="http://schemas.microsoft.com/office/drawing/2014/main" id="{398CE3C2-C244-44E6-9347-6F14F0F29C46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5" name="U06-DG-001-stage_4-title">
            <a:extLst>
              <a:ext uri="{FF2B5EF4-FFF2-40B4-BE49-F238E27FC236}">
                <a16:creationId xmlns:a16="http://schemas.microsoft.com/office/drawing/2014/main" id="{65F69C90-7B45-4B51-944A-D978284B5550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6" name="U06-DG-001-stage_4-body">
            <a:extLst>
              <a:ext uri="{FF2B5EF4-FFF2-40B4-BE49-F238E27FC236}">
                <a16:creationId xmlns:a16="http://schemas.microsoft.com/office/drawing/2014/main" id="{91F82738-1070-4812-B71B-25F6904D1FF3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7" name="U06-DG-001-stage_5-box">
            <a:extLst>
              <a:ext uri="{FF2B5EF4-FFF2-40B4-BE49-F238E27FC236}">
                <a16:creationId xmlns:a16="http://schemas.microsoft.com/office/drawing/2014/main" id="{EAE5DE55-D2ED-4D37-8D98-79FF870CA9FB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8" name="U06-DG-001-stage_5-title">
            <a:extLst>
              <a:ext uri="{FF2B5EF4-FFF2-40B4-BE49-F238E27FC236}">
                <a16:creationId xmlns:a16="http://schemas.microsoft.com/office/drawing/2014/main" id="{EAF51F4A-BA11-421B-8D76-321E40C03299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9" name="U06-DG-001-stage_5-body">
            <a:extLst>
              <a:ext uri="{FF2B5EF4-FFF2-40B4-BE49-F238E27FC236}">
                <a16:creationId xmlns:a16="http://schemas.microsoft.com/office/drawing/2014/main" id="{4E3EE70A-4F60-4B42-B5BF-1247D1DB9AA8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30" name="U06-DG-001-stage_6-box">
            <a:extLst>
              <a:ext uri="{FF2B5EF4-FFF2-40B4-BE49-F238E27FC236}">
                <a16:creationId xmlns:a16="http://schemas.microsoft.com/office/drawing/2014/main" id="{5C99CF60-6C59-49C7-9580-D4CCC7982406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01-stage_6-title">
            <a:extLst>
              <a:ext uri="{FF2B5EF4-FFF2-40B4-BE49-F238E27FC236}">
                <a16:creationId xmlns:a16="http://schemas.microsoft.com/office/drawing/2014/main" id="{842360AA-9424-4890-A351-322852BE4256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2" name="U06-DG-001-stage_6-body">
            <a:extLst>
              <a:ext uri="{FF2B5EF4-FFF2-40B4-BE49-F238E27FC236}">
                <a16:creationId xmlns:a16="http://schemas.microsoft.com/office/drawing/2014/main" id="{8B56BC3C-584B-463B-8474-8A30E8160E4F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B42179F2-9CC3-44DF-A115-2C48AF6FB56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No se pasa directamente de presión a percepción.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F6AB721F-429B-4013-BCB6-DF13768B0643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9FE38F7-C7B2-4197-ABF2-A10FC0BF91E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recuperamos de U2 a U5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DEDB89C-82AA-4C3B-9D1B-6E59C576BEF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Fuerza, onda, presión, impedancia y respuesta en frecuencia convergen en U6.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0DA7B22-2933-4B60-B10A-4FFBF8B29CB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003</a:t>
            </a:r>
          </a:p>
        </p:txBody>
      </p:sp>
      <p:sp>
        <p:nvSpPr>
          <p:cNvPr id="4" name="U06-DG-002-central-anchor">
            <a:extLst>
              <a:ext uri="{FF2B5EF4-FFF2-40B4-BE49-F238E27FC236}">
                <a16:creationId xmlns:a16="http://schemas.microsoft.com/office/drawing/2014/main" id="{90717260-36AA-4AA5-8731-EC825E34394C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2-branch_1-anchor">
            <a:extLst>
              <a:ext uri="{FF2B5EF4-FFF2-40B4-BE49-F238E27FC236}">
                <a16:creationId xmlns:a16="http://schemas.microsoft.com/office/drawing/2014/main" id="{AC24DDDB-CE3B-4390-BCE9-795775C3CC7F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2-branch_2-anchor">
            <a:extLst>
              <a:ext uri="{FF2B5EF4-FFF2-40B4-BE49-F238E27FC236}">
                <a16:creationId xmlns:a16="http://schemas.microsoft.com/office/drawing/2014/main" id="{BE7484B0-AE39-4179-9788-5CDC9F959CAF}"/>
              </a:ext>
            </a:extLst>
          </p:cNvPr>
          <p:cNvSpPr>
            <a:spLocks noGrp="1"/>
          </p:cNvSpPr>
          <p:nvPr/>
        </p:nvSpPr>
        <p:spPr>
          <a:xfrm>
            <a:off x="3490913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2-branch_3-anchor">
            <a:extLst>
              <a:ext uri="{FF2B5EF4-FFF2-40B4-BE49-F238E27FC236}">
                <a16:creationId xmlns:a16="http://schemas.microsoft.com/office/drawing/2014/main" id="{5DF39FC3-E064-44A0-9057-616B1276B35C}"/>
              </a:ext>
            </a:extLst>
          </p:cNvPr>
          <p:cNvSpPr>
            <a:spLocks noGrp="1"/>
          </p:cNvSpPr>
          <p:nvPr/>
        </p:nvSpPr>
        <p:spPr>
          <a:xfrm>
            <a:off x="6200775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2-branch_4-anchor">
            <a:extLst>
              <a:ext uri="{FF2B5EF4-FFF2-40B4-BE49-F238E27FC236}">
                <a16:creationId xmlns:a16="http://schemas.microsoft.com/office/drawing/2014/main" id="{1539A016-1AD9-45D5-9CC9-39B98A3562B3}"/>
              </a:ext>
            </a:extLst>
          </p:cNvPr>
          <p:cNvSpPr>
            <a:spLocks noGrp="1"/>
          </p:cNvSpPr>
          <p:nvPr/>
        </p:nvSpPr>
        <p:spPr>
          <a:xfrm>
            <a:off x="8910638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02-branch_edge_1"/>
          <p:cNvCxnSpPr>
            <a:stCxn id="5" idx="3"/>
            <a:endCxn id="4" idx="1"/>
          </p:cNvCxnSpPr>
          <p:nvPr/>
        </p:nvCxnSpPr>
        <p:spPr>
          <a:xfrm flipV="1">
            <a:off x="3281363" y="2024063"/>
            <a:ext cx="433387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02-branch_edge_2"/>
          <p:cNvCxnSpPr>
            <a:stCxn id="6" idx="0"/>
            <a:endCxn id="4" idx="2"/>
          </p:cNvCxnSpPr>
          <p:nvPr/>
        </p:nvCxnSpPr>
        <p:spPr>
          <a:xfrm flipV="1">
            <a:off x="4741070" y="2667000"/>
            <a:ext cx="135493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02-branch_edge_3"/>
          <p:cNvCxnSpPr>
            <a:stCxn id="7" idx="0"/>
            <a:endCxn id="4" idx="2"/>
          </p:cNvCxnSpPr>
          <p:nvPr/>
        </p:nvCxnSpPr>
        <p:spPr>
          <a:xfrm flipH="1" flipV="1">
            <a:off x="6096000" y="2667000"/>
            <a:ext cx="1354931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02-branch_edge_4"/>
          <p:cNvCxnSpPr>
            <a:stCxn id="8" idx="1"/>
            <a:endCxn id="4" idx="3"/>
          </p:cNvCxnSpPr>
          <p:nvPr/>
        </p:nvCxnSpPr>
        <p:spPr>
          <a:xfrm flipH="1" flipV="1">
            <a:off x="8477250" y="2024063"/>
            <a:ext cx="433388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02-central-box" descr="Diagrama sobre «Lo que recuperamos de U2 a U5»; organiza cuatro aportes: mecánica, ondas, magnitudes acústicas y señal/sistema." title="Texto alternativo U06-003">
            <a:extLst>
              <a:ext uri="{FF2B5EF4-FFF2-40B4-BE49-F238E27FC236}">
                <a16:creationId xmlns:a16="http://schemas.microsoft.com/office/drawing/2014/main" id="{60EC4D51-B9EA-4482-B2DE-522E73E9AF8D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02-central-title">
            <a:extLst>
              <a:ext uri="{FF2B5EF4-FFF2-40B4-BE49-F238E27FC236}">
                <a16:creationId xmlns:a16="http://schemas.microsoft.com/office/drawing/2014/main" id="{C7DC9A7F-039B-4335-B07A-03F697AA0F3D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Mecanismo auditivo</a:t>
            </a:r>
          </a:p>
        </p:txBody>
      </p:sp>
      <p:sp>
        <p:nvSpPr>
          <p:cNvPr id="15" name="U06-DG-002-central-body">
            <a:extLst>
              <a:ext uri="{FF2B5EF4-FFF2-40B4-BE49-F238E27FC236}">
                <a16:creationId xmlns:a16="http://schemas.microsoft.com/office/drawing/2014/main" id="{1164F333-08E3-4F2E-8B3F-D4F595FD2A4A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 U2–U5</a:t>
            </a:r>
          </a:p>
        </p:txBody>
      </p:sp>
      <p:sp>
        <p:nvSpPr>
          <p:cNvPr id="16" name="U06-DG-002-branch_1-box">
            <a:extLst>
              <a:ext uri="{FF2B5EF4-FFF2-40B4-BE49-F238E27FC236}">
                <a16:creationId xmlns:a16="http://schemas.microsoft.com/office/drawing/2014/main" id="{0C832029-1806-4711-9CFA-690BCA23462D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02-branch_1-title">
            <a:extLst>
              <a:ext uri="{FF2B5EF4-FFF2-40B4-BE49-F238E27FC236}">
                <a16:creationId xmlns:a16="http://schemas.microsoft.com/office/drawing/2014/main" id="{CFFB68EA-A434-40E2-A0AA-65B34EAB0EFC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p</a:t>
            </a:r>
          </a:p>
        </p:txBody>
      </p:sp>
      <p:sp>
        <p:nvSpPr>
          <p:cNvPr id="18" name="U06-DG-002-branch_1-body">
            <a:extLst>
              <a:ext uri="{FF2B5EF4-FFF2-40B4-BE49-F238E27FC236}">
                <a16:creationId xmlns:a16="http://schemas.microsoft.com/office/drawing/2014/main" id="{CC5CED2E-82ED-4335-A70A-BCAAF3E12460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cambia?</a:t>
            </a:r>
          </a:p>
        </p:txBody>
      </p:sp>
      <p:sp>
        <p:nvSpPr>
          <p:cNvPr id="19" name="U06-DG-002-branch_2-box">
            <a:extLst>
              <a:ext uri="{FF2B5EF4-FFF2-40B4-BE49-F238E27FC236}">
                <a16:creationId xmlns:a16="http://schemas.microsoft.com/office/drawing/2014/main" id="{A38C5712-5090-4626-BCD4-78A89EC9DD16}"/>
              </a:ext>
            </a:extLst>
          </p:cNvPr>
          <p:cNvSpPr>
            <a:spLocks noGrp="1"/>
          </p:cNvSpPr>
          <p:nvPr/>
        </p:nvSpPr>
        <p:spPr>
          <a:xfrm>
            <a:off x="3490913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0" name="U06-DG-002-branch_2-title">
            <a:extLst>
              <a:ext uri="{FF2B5EF4-FFF2-40B4-BE49-F238E27FC236}">
                <a16:creationId xmlns:a16="http://schemas.microsoft.com/office/drawing/2014/main" id="{B53DF658-88E3-46BF-A316-14E05A1F6ECA}"/>
              </a:ext>
            </a:extLst>
          </p:cNvPr>
          <p:cNvSpPr>
            <a:spLocks noGrp="1"/>
          </p:cNvSpPr>
          <p:nvPr/>
        </p:nvSpPr>
        <p:spPr>
          <a:xfrm>
            <a:off x="3681413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 F</a:t>
            </a:r>
          </a:p>
        </p:txBody>
      </p:sp>
      <p:sp>
        <p:nvSpPr>
          <p:cNvPr id="21" name="U06-DG-002-branch_2-body">
            <a:extLst>
              <a:ext uri="{FF2B5EF4-FFF2-40B4-BE49-F238E27FC236}">
                <a16:creationId xmlns:a16="http://schemas.microsoft.com/office/drawing/2014/main" id="{20683D49-A1BD-4D06-AED5-7120AA5F0655}"/>
              </a:ext>
            </a:extLst>
          </p:cNvPr>
          <p:cNvSpPr>
            <a:spLocks noGrp="1"/>
          </p:cNvSpPr>
          <p:nvPr/>
        </p:nvSpPr>
        <p:spPr>
          <a:xfrm>
            <a:off x="3681413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mueve?</a:t>
            </a:r>
          </a:p>
        </p:txBody>
      </p:sp>
      <p:sp>
        <p:nvSpPr>
          <p:cNvPr id="22" name="U06-DG-002-branch_3-box">
            <a:extLst>
              <a:ext uri="{FF2B5EF4-FFF2-40B4-BE49-F238E27FC236}">
                <a16:creationId xmlns:a16="http://schemas.microsoft.com/office/drawing/2014/main" id="{478FA2AE-9749-4589-A9D1-6BD69EB44FB2}"/>
              </a:ext>
            </a:extLst>
          </p:cNvPr>
          <p:cNvSpPr>
            <a:spLocks noGrp="1"/>
          </p:cNvSpPr>
          <p:nvPr/>
        </p:nvSpPr>
        <p:spPr>
          <a:xfrm>
            <a:off x="6200775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02-branch_3-title">
            <a:extLst>
              <a:ext uri="{FF2B5EF4-FFF2-40B4-BE49-F238E27FC236}">
                <a16:creationId xmlns:a16="http://schemas.microsoft.com/office/drawing/2014/main" id="{CCAEC7B4-0C36-49E5-913A-DE4328F00F2B}"/>
              </a:ext>
            </a:extLst>
          </p:cNvPr>
          <p:cNvSpPr>
            <a:spLocks noGrp="1"/>
          </p:cNvSpPr>
          <p:nvPr/>
        </p:nvSpPr>
        <p:spPr>
          <a:xfrm>
            <a:off x="6391275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f</a:t>
            </a:r>
          </a:p>
        </p:txBody>
      </p:sp>
      <p:sp>
        <p:nvSpPr>
          <p:cNvPr id="24" name="U06-DG-002-branch_3-body">
            <a:extLst>
              <a:ext uri="{FF2B5EF4-FFF2-40B4-BE49-F238E27FC236}">
                <a16:creationId xmlns:a16="http://schemas.microsoft.com/office/drawing/2014/main" id="{64759E9A-E59D-4CE7-AF8A-14BB841DEEB4}"/>
              </a:ext>
            </a:extLst>
          </p:cNvPr>
          <p:cNvSpPr>
            <a:spLocks noGrp="1"/>
          </p:cNvSpPr>
          <p:nvPr/>
        </p:nvSpPr>
        <p:spPr>
          <a:xfrm>
            <a:off x="6391275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conserva?</a:t>
            </a:r>
          </a:p>
        </p:txBody>
      </p:sp>
      <p:sp>
        <p:nvSpPr>
          <p:cNvPr id="25" name="U06-DG-002-branch_4-box">
            <a:extLst>
              <a:ext uri="{FF2B5EF4-FFF2-40B4-BE49-F238E27FC236}">
                <a16:creationId xmlns:a16="http://schemas.microsoft.com/office/drawing/2014/main" id="{17CD46F7-C8E4-45F8-A71B-5E8D749AC204}"/>
              </a:ext>
            </a:extLst>
          </p:cNvPr>
          <p:cNvSpPr>
            <a:spLocks noGrp="1"/>
          </p:cNvSpPr>
          <p:nvPr/>
        </p:nvSpPr>
        <p:spPr>
          <a:xfrm>
            <a:off x="8910638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02-branch_4-title">
            <a:extLst>
              <a:ext uri="{FF2B5EF4-FFF2-40B4-BE49-F238E27FC236}">
                <a16:creationId xmlns:a16="http://schemas.microsoft.com/office/drawing/2014/main" id="{CB631F36-016F-4083-9957-0A830B444E2F}"/>
              </a:ext>
            </a:extLst>
          </p:cNvPr>
          <p:cNvSpPr>
            <a:spLocks noGrp="1"/>
          </p:cNvSpPr>
          <p:nvPr/>
        </p:nvSpPr>
        <p:spPr>
          <a:xfrm>
            <a:off x="9101138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Nivel en dB</a:t>
            </a:r>
          </a:p>
        </p:txBody>
      </p:sp>
      <p:sp>
        <p:nvSpPr>
          <p:cNvPr id="27" name="U06-DG-002-branch_4-body">
            <a:extLst>
              <a:ext uri="{FF2B5EF4-FFF2-40B4-BE49-F238E27FC236}">
                <a16:creationId xmlns:a16="http://schemas.microsoft.com/office/drawing/2014/main" id="{B76BC3F5-D462-4C68-ABE0-DEE7E67C3176}"/>
              </a:ext>
            </a:extLst>
          </p:cNvPr>
          <p:cNvSpPr>
            <a:spLocks noGrp="1"/>
          </p:cNvSpPr>
          <p:nvPr/>
        </p:nvSpPr>
        <p:spPr>
          <a:xfrm>
            <a:off x="9101138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se expresa?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E9EF38B2-5849-494A-9E61-B08372AC12D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Fuerza, onda, presión, impedancia y respuesta en frecuencia convergen en U6.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9F4B3EA9-DD29-4A23-94A2-50372111F197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C00E3360-8F3B-425B-B84A-977BAAFEEC0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Presión, fuerza, desplazamiento y potencial: ¿qué unidad corresponde?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7C18722E-1396-470C-BA73-6FD954B3BCA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004</a:t>
            </a:r>
          </a:p>
        </p:txBody>
      </p:sp>
      <p:sp>
        <p:nvSpPr>
          <p:cNvPr id="3" name="U06-DG-003-cell_1-anchor">
            <a:extLst>
              <a:ext uri="{FF2B5EF4-FFF2-40B4-BE49-F238E27FC236}">
                <a16:creationId xmlns:a16="http://schemas.microsoft.com/office/drawing/2014/main" id="{FF0084BD-86A3-4394-8459-6FB92201DE1E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3-cell_2-anchor">
            <a:extLst>
              <a:ext uri="{FF2B5EF4-FFF2-40B4-BE49-F238E27FC236}">
                <a16:creationId xmlns:a16="http://schemas.microsoft.com/office/drawing/2014/main" id="{D4B6B712-F0D1-4EED-AC7A-EF822AB4FDBD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3-cell_3-anchor">
            <a:extLst>
              <a:ext uri="{FF2B5EF4-FFF2-40B4-BE49-F238E27FC236}">
                <a16:creationId xmlns:a16="http://schemas.microsoft.com/office/drawing/2014/main" id="{26DF7483-15EF-483E-A003-D2A38A058467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3-cell_4-anchor">
            <a:extLst>
              <a:ext uri="{FF2B5EF4-FFF2-40B4-BE49-F238E27FC236}">
                <a16:creationId xmlns:a16="http://schemas.microsoft.com/office/drawing/2014/main" id="{E49D2666-9733-46A6-9589-83E12247D5B2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3-cell_1-box" descr="Diagrama sobre «Presión, fuerza, desplazamiento y potencial: ¿qué unidad corresponde?»; organiza clasificación breve pa/n/m/v o mv/actividad neural.." title="Texto alternativo U06-004">
            <a:extLst>
              <a:ext uri="{FF2B5EF4-FFF2-40B4-BE49-F238E27FC236}">
                <a16:creationId xmlns:a16="http://schemas.microsoft.com/office/drawing/2014/main" id="{4D3F0067-2252-4ADD-913A-BC3C18924D7C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03-cell_1-title">
            <a:extLst>
              <a:ext uri="{FF2B5EF4-FFF2-40B4-BE49-F238E27FC236}">
                <a16:creationId xmlns:a16="http://schemas.microsoft.com/office/drawing/2014/main" id="{0792BC5A-3C57-49F8-B881-7F64C986FA81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9" name="U06-DG-003-cell_1-body">
            <a:extLst>
              <a:ext uri="{FF2B5EF4-FFF2-40B4-BE49-F238E27FC236}">
                <a16:creationId xmlns:a16="http://schemas.microsoft.com/office/drawing/2014/main" id="{BACCCA92-760C-47BB-8DE9-F99F3F9672DF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10" name="U06-DG-003-cell_2-box">
            <a:extLst>
              <a:ext uri="{FF2B5EF4-FFF2-40B4-BE49-F238E27FC236}">
                <a16:creationId xmlns:a16="http://schemas.microsoft.com/office/drawing/2014/main" id="{DE8C6BB9-C355-451C-8838-6D18762078BB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03-cell_2-title">
            <a:extLst>
              <a:ext uri="{FF2B5EF4-FFF2-40B4-BE49-F238E27FC236}">
                <a16:creationId xmlns:a16="http://schemas.microsoft.com/office/drawing/2014/main" id="{5B4E4A68-1875-4BE4-ADDC-F583FE1583BA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12" name="U06-DG-003-cell_2-body">
            <a:extLst>
              <a:ext uri="{FF2B5EF4-FFF2-40B4-BE49-F238E27FC236}">
                <a16:creationId xmlns:a16="http://schemas.microsoft.com/office/drawing/2014/main" id="{A2BE5A6A-B32F-44E3-80B3-47F44245B6F8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13" name="U06-DG-003-cell_3-box">
            <a:extLst>
              <a:ext uri="{FF2B5EF4-FFF2-40B4-BE49-F238E27FC236}">
                <a16:creationId xmlns:a16="http://schemas.microsoft.com/office/drawing/2014/main" id="{5E31A29A-BCA8-4FC6-B24B-0957F6696253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03-cell_3-title">
            <a:extLst>
              <a:ext uri="{FF2B5EF4-FFF2-40B4-BE49-F238E27FC236}">
                <a16:creationId xmlns:a16="http://schemas.microsoft.com/office/drawing/2014/main" id="{E274E4C8-27BA-478C-BACA-1A4D2CC6FE70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Desplazamiento</a:t>
            </a:r>
          </a:p>
        </p:txBody>
      </p:sp>
      <p:sp>
        <p:nvSpPr>
          <p:cNvPr id="15" name="U06-DG-003-cell_3-body">
            <a:extLst>
              <a:ext uri="{FF2B5EF4-FFF2-40B4-BE49-F238E27FC236}">
                <a16:creationId xmlns:a16="http://schemas.microsoft.com/office/drawing/2014/main" id="{86FAD826-636E-427A-B10F-0132C0B703C5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6" name="U06-DG-003-cell_4-box">
            <a:extLst>
              <a:ext uri="{FF2B5EF4-FFF2-40B4-BE49-F238E27FC236}">
                <a16:creationId xmlns:a16="http://schemas.microsoft.com/office/drawing/2014/main" id="{62FF7091-72E6-428B-AA45-301B1BE4A8AC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03-cell_4-title">
            <a:extLst>
              <a:ext uri="{FF2B5EF4-FFF2-40B4-BE49-F238E27FC236}">
                <a16:creationId xmlns:a16="http://schemas.microsoft.com/office/drawing/2014/main" id="{0491B5DA-D7E5-4A25-928A-096311E530CE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</a:t>
            </a:r>
          </a:p>
        </p:txBody>
      </p:sp>
      <p:sp>
        <p:nvSpPr>
          <p:cNvPr id="18" name="U06-DG-003-cell_4-body">
            <a:extLst>
              <a:ext uri="{FF2B5EF4-FFF2-40B4-BE49-F238E27FC236}">
                <a16:creationId xmlns:a16="http://schemas.microsoft.com/office/drawing/2014/main" id="{5C049234-2C5E-49FF-AA29-811FE79D999C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o mV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B495162F-F44C-4D82-AD1D-5A41239DB1B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Cada etapa exige una magnitud y una unidad diferentes.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5046FC93-26F0-4B8A-A7C4-1DF7A3434DA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805C7CA3-7839-497B-A4C5-8DCEB571C5B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reconstruir y explicar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1A10459-BF26-40F5-B2DB-5226A059053B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evaluación se centrará en relaciones, no en memorizar una lista anatómica.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AC02981-320B-48BC-B6E1-AABD202269B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005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EDEDBD84-CDF1-4E23-94F5-E9E75A2EEA4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Ordenar la cadena.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oído externo y transferencia.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presión–fuerza.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vía aérea y conducción ósea.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7D3EC790-2E9B-481E-8644-C83E91B2169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evaluación se centrará en relaciones, no en memorizar una lista anatómica.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4F13CBF0-9449-4531-A8DB-F4DAAA680BD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BR objetivos 1–4; CM.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A715E2C1-253C-4714-A5FA-A7D0E0C6701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 dentro de la cóclea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D5EFFB1-EA6F-4744-8496-A27B7B599A8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fisiología periférica prepara percepción y clínica, pero no las reemplaza.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133767B-04A2-4229-BE34-9BC7BD02610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006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6C5DC7C3-D731-4D4B-9A97-172407B6D4E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la arquitectura coclear.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frecuencia y nivel.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Diferenciar CCI/CCE y transducción.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Delimitar percepción y diagnóstico.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67861510-96D8-4C57-B98F-EAE63FD3F1D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fisiología periférica prepara percepción y clínica, pero no las reemplaza.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A4024818-8C5F-427B-91DE-1AD6DAB25D0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BR objetivos 5–8; CM U6→U7/U8.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CB087F39-9ECC-4E9E-B727-4A5FAD4316C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Mapa de la unidad: entrada, transferencia, cóclea y señal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12E21E6-BA36-49C6-B48F-C80DBBE18DC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Cuatro tramos reúnen diez bloques y una misma cadena acumulativa.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7B4EC80-5865-4282-A676-5CC725497C9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007</a:t>
            </a:r>
          </a:p>
        </p:txBody>
      </p:sp>
      <p:sp>
        <p:nvSpPr>
          <p:cNvPr id="4" name="U06-DG-004-stage_1-anchor">
            <a:extLst>
              <a:ext uri="{FF2B5EF4-FFF2-40B4-BE49-F238E27FC236}">
                <a16:creationId xmlns:a16="http://schemas.microsoft.com/office/drawing/2014/main" id="{8062190F-267B-49E0-B602-9DDD1F8BC3BE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4-stage_2-anchor">
            <a:extLst>
              <a:ext uri="{FF2B5EF4-FFF2-40B4-BE49-F238E27FC236}">
                <a16:creationId xmlns:a16="http://schemas.microsoft.com/office/drawing/2014/main" id="{5CB33DDD-B75D-4D0D-A428-3DF142F05BBF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4-stage_3-anchor">
            <a:extLst>
              <a:ext uri="{FF2B5EF4-FFF2-40B4-BE49-F238E27FC236}">
                <a16:creationId xmlns:a16="http://schemas.microsoft.com/office/drawing/2014/main" id="{33FBC947-C7BC-4B21-9DB0-CC142DAA1DC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4-stage_4-anchor">
            <a:extLst>
              <a:ext uri="{FF2B5EF4-FFF2-40B4-BE49-F238E27FC236}">
                <a16:creationId xmlns:a16="http://schemas.microsoft.com/office/drawing/2014/main" id="{9BC654BB-81BD-4E82-AC6D-EBFF9F2EF591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4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4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4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04-stage_1-box" descr="Diagrama sobre «Mapa de la unidad: entrada, transferencia, cóclea y señal»; organiza entrada externa → oído medio/vía ósea → mecánica coclear → transducción/codificación." title="Texto alternativo U06-007">
            <a:extLst>
              <a:ext uri="{FF2B5EF4-FFF2-40B4-BE49-F238E27FC236}">
                <a16:creationId xmlns:a16="http://schemas.microsoft.com/office/drawing/2014/main" id="{101B425F-D06C-4991-9293-CF3FC37DA432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04-stage_1-title">
            <a:extLst>
              <a:ext uri="{FF2B5EF4-FFF2-40B4-BE49-F238E27FC236}">
                <a16:creationId xmlns:a16="http://schemas.microsoft.com/office/drawing/2014/main" id="{9A2B65FA-82F3-4335-860E-8E001AF1A15C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externo</a:t>
            </a:r>
          </a:p>
        </p:txBody>
      </p:sp>
      <p:sp>
        <p:nvSpPr>
          <p:cNvPr id="13" name="U06-DG-004-stage_1-body">
            <a:extLst>
              <a:ext uri="{FF2B5EF4-FFF2-40B4-BE49-F238E27FC236}">
                <a16:creationId xmlns:a16="http://schemas.microsoft.com/office/drawing/2014/main" id="{AC2079BB-D7C8-49B7-94A7-E58575F7D35C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 · CAE</a:t>
            </a:r>
          </a:p>
        </p:txBody>
      </p:sp>
      <p:sp>
        <p:nvSpPr>
          <p:cNvPr id="14" name="U06-DG-004-stage_2-box">
            <a:extLst>
              <a:ext uri="{FF2B5EF4-FFF2-40B4-BE49-F238E27FC236}">
                <a16:creationId xmlns:a16="http://schemas.microsoft.com/office/drawing/2014/main" id="{8BD26C42-B488-4D20-B575-40DC1A351FF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04-stage_2-title">
            <a:extLst>
              <a:ext uri="{FF2B5EF4-FFF2-40B4-BE49-F238E27FC236}">
                <a16:creationId xmlns:a16="http://schemas.microsoft.com/office/drawing/2014/main" id="{4555A0BF-F049-4986-A21D-59FB00F1B4C6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6" name="U06-DG-004-stage_2-body">
            <a:extLst>
              <a:ext uri="{FF2B5EF4-FFF2-40B4-BE49-F238E27FC236}">
                <a16:creationId xmlns:a16="http://schemas.microsoft.com/office/drawing/2014/main" id="{30094C7C-9168-4FD1-9C69-D40143463E6A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transferencia</a:t>
            </a:r>
          </a:p>
        </p:txBody>
      </p:sp>
      <p:sp>
        <p:nvSpPr>
          <p:cNvPr id="17" name="U06-DG-004-stage_3-box">
            <a:extLst>
              <a:ext uri="{FF2B5EF4-FFF2-40B4-BE49-F238E27FC236}">
                <a16:creationId xmlns:a16="http://schemas.microsoft.com/office/drawing/2014/main" id="{91C8D22A-496C-4424-AA9F-58918A84B78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04-stage_3-title">
            <a:extLst>
              <a:ext uri="{FF2B5EF4-FFF2-40B4-BE49-F238E27FC236}">
                <a16:creationId xmlns:a16="http://schemas.microsoft.com/office/drawing/2014/main" id="{68B0A915-8D64-42F2-93A8-73793D39902D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9" name="U06-DG-004-stage_3-body">
            <a:extLst>
              <a:ext uri="{FF2B5EF4-FFF2-40B4-BE49-F238E27FC236}">
                <a16:creationId xmlns:a16="http://schemas.microsoft.com/office/drawing/2014/main" id="{7A3DB130-B71F-4839-9A9E-6D9E9F69F245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fluidos · tonotopía</a:t>
            </a:r>
          </a:p>
        </p:txBody>
      </p:sp>
      <p:sp>
        <p:nvSpPr>
          <p:cNvPr id="20" name="U06-DG-004-stage_4-box">
            <a:extLst>
              <a:ext uri="{FF2B5EF4-FFF2-40B4-BE49-F238E27FC236}">
                <a16:creationId xmlns:a16="http://schemas.microsoft.com/office/drawing/2014/main" id="{E3D3EB86-C69D-4753-9BC3-D78B8FEAC4B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04-stage_4-title">
            <a:extLst>
              <a:ext uri="{FF2B5EF4-FFF2-40B4-BE49-F238E27FC236}">
                <a16:creationId xmlns:a16="http://schemas.microsoft.com/office/drawing/2014/main" id="{05B3DD4B-B791-4218-8935-219F5B148D46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Transducción</a:t>
            </a:r>
          </a:p>
        </p:txBody>
      </p:sp>
      <p:sp>
        <p:nvSpPr>
          <p:cNvPr id="22" name="U06-DG-004-stage_4-body">
            <a:extLst>
              <a:ext uri="{FF2B5EF4-FFF2-40B4-BE49-F238E27FC236}">
                <a16:creationId xmlns:a16="http://schemas.microsoft.com/office/drawing/2014/main" id="{703DA6EC-7B14-45D7-BDAA-C753493C7BDA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células · nervio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335D2A3D-7112-4794-B9DF-658C5017091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Cuatro tramos reúnen diez bloques y una misma cadena acumulativa.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59824B8E-EED8-4840-B63C-B52850371FC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F004D72A-DA1D-45BC-8870-249281CCECFF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008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297908EC-3A28-4EEF-9F16-FC67371CCB02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oído externo no es solo una entrada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6001F277-9E99-42F6-BBEA-63D3413DA173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modifica y conduce el oído externo la presión hasta el tímpano?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81D9039-7092-4DFE-8F62-BBF4D905167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pabellón modifica el espectro según la dirección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9D21D76-BB85-4ED6-8357-B8EE69203BD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Reforzar o atenuar componentes es un cambio físico, no sonoridad fija.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32B2F3A-A095-4512-A560-5B454592D35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009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0576519-EF88-43DC-8EA9-55FCB59594E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Reforzar o atenuar componentes es un cambio físico, no sonoridad fija.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Pabellón, cabeza, dirección y cambios espectrales individuales.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7703A4AD-B38B-4C7A-9C40-69306AF27E39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64B0DAED-8D2F-40F3-9B7D-747FE7EABE00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0E93E434-DD99-411B-87EB-AD7BC22AF6A8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direccional: cambio dependiente de frecuencia producido por la dirección de llegada y la geometría del pabellón/cabeza.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4941C6E1-CAC9-4773-A4F5-7331221A3B6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Reforzar o atenuar componentes es un cambio físico, no sonoridad fija.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A6DF21D3-B45E-4F25-8F6D-8864BB82CF6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6.4.1; PDF p. 153; REF carlini2024; GLO.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CA01BD45-04F1-4DE3-97A9-9BF01269A19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¿La dirección cambia todas las frecuencias por igual?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29FEDDF-5537-4FE2-BBA3-E05FBF8D156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misma geometría no modifica por igual cada componente.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A530D0D-D0D6-48C2-97AF-C6BD0C003CB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010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50AFE236-639C-4DA2-806D-92C135CFD0B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6AACCA9A-A38D-47CF-BCCF-4DA48392F9FA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5E2A62CB-E069-4C3D-BA80-683C76008176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Predicción cualitativa con tres componentes y dos direcciones. Justificá la respuesta con una relación física o funcional.</a:t>
            </a:r>
          </a:p>
        </p:txBody>
      </p:sp>
      <p:sp>
        <p:nvSpPr>
          <p:cNvPr id="7" name="answer-guide-box">
            <a:extLst>
              <a:ext uri="{FF2B5EF4-FFF2-40B4-BE49-F238E27FC236}">
                <a16:creationId xmlns:a16="http://schemas.microsoft.com/office/drawing/2014/main" id="{BCAD37B6-52EF-4333-8FB7-DDD96DA7A22D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answer-guide-title">
            <a:extLst>
              <a:ext uri="{FF2B5EF4-FFF2-40B4-BE49-F238E27FC236}">
                <a16:creationId xmlns:a16="http://schemas.microsoft.com/office/drawing/2014/main" id="{16E93BA4-27F1-4E3A-8BEB-4C670EADB7A7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9" name="answer-guide-body">
            <a:extLst>
              <a:ext uri="{FF2B5EF4-FFF2-40B4-BE49-F238E27FC236}">
                <a16:creationId xmlns:a16="http://schemas.microsoft.com/office/drawing/2014/main" id="{F335D7AC-7DA0-4841-96EC-170BB87E19C8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objeto, identificá las magnitudes y justificá la relación causal.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1F27C146-2914-4BCA-95EC-DA0D9026CE58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misma geometría no modifica por igual cada componente.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AAE82710-61B3-4E62-948F-2C40932B1128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6.4.1; REF carlini2024; EP.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B58B217E-A0D6-4B8B-856A-BB27F9C8313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no es idéntica en todos los puntos del 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0330E5C-37D1-4629-81FC-64BE0B88CFC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CAE real es curvo, variable y termina en una impedancia finita.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6A6BC30-9443-4E75-BBCA-E7C37CF330B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011</a:t>
            </a:r>
          </a:p>
        </p:txBody>
      </p:sp>
      <p:sp>
        <p:nvSpPr>
          <p:cNvPr id="4" name="U06-DG-006-stage_1-anchor">
            <a:extLst>
              <a:ext uri="{FF2B5EF4-FFF2-40B4-BE49-F238E27FC236}">
                <a16:creationId xmlns:a16="http://schemas.microsoft.com/office/drawing/2014/main" id="{6603A62E-461C-42AA-A4FA-2F878392D1F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6-stage_2-anchor">
            <a:extLst>
              <a:ext uri="{FF2B5EF4-FFF2-40B4-BE49-F238E27FC236}">
                <a16:creationId xmlns:a16="http://schemas.microsoft.com/office/drawing/2014/main" id="{47D8D1DC-290E-4DFF-AB4C-A429C65E40C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6-stage_3-anchor">
            <a:extLst>
              <a:ext uri="{FF2B5EF4-FFF2-40B4-BE49-F238E27FC236}">
                <a16:creationId xmlns:a16="http://schemas.microsoft.com/office/drawing/2014/main" id="{5D1D555C-3A54-4E56-8880-9DB5A43B6DCC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6-stage_4-anchor">
            <a:extLst>
              <a:ext uri="{FF2B5EF4-FFF2-40B4-BE49-F238E27FC236}">
                <a16:creationId xmlns:a16="http://schemas.microsoft.com/office/drawing/2014/main" id="{58621495-B30D-448E-8FE6-2B7C4C5DB30D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6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6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6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06-stage_1-box" descr="Diagrama sobre «La presión no es idéntica en todos los puntos del CAE»; organiza geometría real, superposición y posición de observación." title="Texto alternativo U06-011">
            <a:extLst>
              <a:ext uri="{FF2B5EF4-FFF2-40B4-BE49-F238E27FC236}">
                <a16:creationId xmlns:a16="http://schemas.microsoft.com/office/drawing/2014/main" id="{99F1C3BD-27F9-4A26-9E9C-CFC13DBB48AC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06-stage_1-title">
            <a:extLst>
              <a:ext uri="{FF2B5EF4-FFF2-40B4-BE49-F238E27FC236}">
                <a16:creationId xmlns:a16="http://schemas.microsoft.com/office/drawing/2014/main" id="{DC1F30E7-133E-498C-AFFE-8EC71B24FAE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3" name="U06-DG-006-stage_1-body">
            <a:extLst>
              <a:ext uri="{FF2B5EF4-FFF2-40B4-BE49-F238E27FC236}">
                <a16:creationId xmlns:a16="http://schemas.microsoft.com/office/drawing/2014/main" id="{5243172E-DF99-4F26-9F65-E1AA9DA4302A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onda incidente</a:t>
            </a:r>
          </a:p>
        </p:txBody>
      </p:sp>
      <p:sp>
        <p:nvSpPr>
          <p:cNvPr id="14" name="U06-DG-006-stage_2-box">
            <a:extLst>
              <a:ext uri="{FF2B5EF4-FFF2-40B4-BE49-F238E27FC236}">
                <a16:creationId xmlns:a16="http://schemas.microsoft.com/office/drawing/2014/main" id="{76E52758-1E45-49F7-8DE5-C4F6F31ADC60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5" name="U06-DG-006-stage_2-title">
            <a:extLst>
              <a:ext uri="{FF2B5EF4-FFF2-40B4-BE49-F238E27FC236}">
                <a16:creationId xmlns:a16="http://schemas.microsoft.com/office/drawing/2014/main" id="{46B35ACA-26D2-4550-82AE-1960A55ABD15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</a:t>
            </a:r>
          </a:p>
        </p:txBody>
      </p:sp>
      <p:sp>
        <p:nvSpPr>
          <p:cNvPr id="16" name="U06-DG-006-stage_2-body">
            <a:extLst>
              <a:ext uri="{FF2B5EF4-FFF2-40B4-BE49-F238E27FC236}">
                <a16:creationId xmlns:a16="http://schemas.microsoft.com/office/drawing/2014/main" id="{3D4F1A34-B7DE-40CE-B601-879E3DBC0B73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superposición</a:t>
            </a:r>
          </a:p>
        </p:txBody>
      </p:sp>
      <p:sp>
        <p:nvSpPr>
          <p:cNvPr id="17" name="U06-DG-006-stage_3-box">
            <a:extLst>
              <a:ext uri="{FF2B5EF4-FFF2-40B4-BE49-F238E27FC236}">
                <a16:creationId xmlns:a16="http://schemas.microsoft.com/office/drawing/2014/main" id="{AB984945-D3F3-491F-8C69-FC56E2491236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06-stage_3-title">
            <a:extLst>
              <a:ext uri="{FF2B5EF4-FFF2-40B4-BE49-F238E27FC236}">
                <a16:creationId xmlns:a16="http://schemas.microsoft.com/office/drawing/2014/main" id="{55B55A78-8809-40FA-A1CC-E7DC948A9F90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Puntos A–B–C</a:t>
            </a:r>
          </a:p>
        </p:txBody>
      </p:sp>
      <p:sp>
        <p:nvSpPr>
          <p:cNvPr id="19" name="U06-DG-006-stage_3-body">
            <a:extLst>
              <a:ext uri="{FF2B5EF4-FFF2-40B4-BE49-F238E27FC236}">
                <a16:creationId xmlns:a16="http://schemas.microsoft.com/office/drawing/2014/main" id="{108412D5-F13F-4773-8CAC-2CD3F630B3D1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presiones distintas</a:t>
            </a:r>
          </a:p>
        </p:txBody>
      </p:sp>
      <p:sp>
        <p:nvSpPr>
          <p:cNvPr id="20" name="U06-DG-006-stage_4-box">
            <a:extLst>
              <a:ext uri="{FF2B5EF4-FFF2-40B4-BE49-F238E27FC236}">
                <a16:creationId xmlns:a16="http://schemas.microsoft.com/office/drawing/2014/main" id="{BEC7B9CF-5F46-4801-A7BF-D97285D1E907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06-stage_4-title">
            <a:extLst>
              <a:ext uri="{FF2B5EF4-FFF2-40B4-BE49-F238E27FC236}">
                <a16:creationId xmlns:a16="http://schemas.microsoft.com/office/drawing/2014/main" id="{85818F66-9594-4931-9A0C-34EE2285C9F0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06-stage_4-body">
            <a:extLst>
              <a:ext uri="{FF2B5EF4-FFF2-40B4-BE49-F238E27FC236}">
                <a16:creationId xmlns:a16="http://schemas.microsoft.com/office/drawing/2014/main" id="{BD866187-DF29-40CC-9FCF-BAB7CB433563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del modelo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856089D1-FF4B-4304-B13D-FC6EC0741A2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CAE real es curvo, variable y termina en una impedancia finita.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4C5471E7-AE8A-4C44-9454-F0AD7B686AF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230EFAC0-D78D-48D3-BA76-FA7FCC6D8B0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en la entrada no equivale a medir cerca del tímpano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670695C-04E5-41B4-B55A-CA36C70804D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Geometría, reflexiones, terminaciones y sonda alteran la presión local.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ACDC8BC-F7FA-4ED5-8E53-033DCAD7919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012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667AA23-0889-4201-9E99-0D97BC042E9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Geometría, reflexiones, terminaciones y sonda alteran la presión local.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Dos posiciones de sonda y cuatro causas físicas posibles..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C366443C-790E-432B-B425-F77F9D11B8F0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F842AA27-C7E2-4191-928F-F12CF974E60A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43CE8E5C-ED32-40AB-97B1-09B96C1DB123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posiciones de sonda pueden registrar presiones diferentes aunque el estímulo externo sea el mismo.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8E4DDBA9-FC97-47C4-BF5E-4EFDA940EA1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Geometría, reflexiones, terminaciones y sonda alteran la presión local.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18B17260-E426-42E5-8D2B-8B4F0BB9F616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6.4.2 y aplicación A1; PDF pp. 153, 168/173; REF ugarteburu2022.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95DAF4FB-29A3-464C-915A-16AF7EBAC53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frente ideal al conducto real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8A047EE-2847-49B5-8EE9-006D558C9A4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“Esférica a cilíndrica” es una idealización; el CAE real exige transferencia dependiente de frecuencia y posición.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9B31B7D-DA3B-482B-9003-1398A7D7C99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013</a:t>
            </a:r>
          </a:p>
        </p:txBody>
      </p:sp>
      <p:sp>
        <p:nvSpPr>
          <p:cNvPr id="4" name="compare-a-box">
            <a:extLst>
              <a:ext uri="{FF2B5EF4-FFF2-40B4-BE49-F238E27FC236}">
                <a16:creationId xmlns:a16="http://schemas.microsoft.com/office/drawing/2014/main" id="{06720160-572F-48F9-A92A-9E46F25C9632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5191125" cy="3762375"/>
          </a:xfrm>
          <a:prstGeom prst="roundRect">
            <a:avLst>
              <a:gd name="adj" fmla="val 303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>
              <a:ext uri="{FF2B5EF4-FFF2-40B4-BE49-F238E27FC236}">
                <a16:creationId xmlns:a16="http://schemas.microsoft.com/office/drawing/2014/main" id="{325E9BFC-2F97-49B6-844B-6EC834209F63}"/>
              </a:ext>
            </a:extLst>
          </p:cNvPr>
          <p:cNvSpPr>
            <a:spLocks noGrp="1"/>
          </p:cNvSpPr>
          <p:nvPr/>
        </p:nvSpPr>
        <p:spPr>
          <a:xfrm>
            <a:off x="790575" y="1657350"/>
            <a:ext cx="4848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Modelo ideal</a:t>
            </a:r>
          </a:p>
        </p:txBody>
      </p:sp>
      <p:sp>
        <p:nvSpPr>
          <p:cNvPr id="6" name="compare-a-body">
            <a:extLst>
              <a:ext uri="{FF2B5EF4-FFF2-40B4-BE49-F238E27FC236}">
                <a16:creationId xmlns:a16="http://schemas.microsoft.com/office/drawing/2014/main" id="{2A096AFE-8B2C-4454-B963-68D47E9683CA}"/>
              </a:ext>
            </a:extLst>
          </p:cNvPr>
          <p:cNvSpPr>
            <a:spLocks noGrp="1"/>
          </p:cNvSpPr>
          <p:nvPr/>
        </p:nvSpPr>
        <p:spPr>
          <a:xfrm>
            <a:off x="790575" y="2057400"/>
            <a:ext cx="4848225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Modelos ideales: frentes simples y condiciones declaradas. CAE real: curvatura, sección variable, terminaciones, pérdidas y dependencia de frecuencia/posición.</a:t>
            </a:r>
          </a:p>
        </p:txBody>
      </p:sp>
      <p:sp>
        <p:nvSpPr>
          <p:cNvPr id="7" name="compare-b-box">
            <a:extLst>
              <a:ext uri="{FF2B5EF4-FFF2-40B4-BE49-F238E27FC236}">
                <a16:creationId xmlns:a16="http://schemas.microsoft.com/office/drawing/2014/main" id="{0D1C18FA-B4C2-479F-A3EB-5A4342558B8C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5191125" cy="3762375"/>
          </a:xfrm>
          <a:prstGeom prst="roundRect">
            <a:avLst>
              <a:gd name="adj" fmla="val 3038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>
              <a:ext uri="{FF2B5EF4-FFF2-40B4-BE49-F238E27FC236}">
                <a16:creationId xmlns:a16="http://schemas.microsoft.com/office/drawing/2014/main" id="{265B207D-8943-4CB7-B77D-7EC125D9A19E}"/>
              </a:ext>
            </a:extLst>
          </p:cNvPr>
          <p:cNvSpPr>
            <a:spLocks noGrp="1"/>
          </p:cNvSpPr>
          <p:nvPr/>
        </p:nvSpPr>
        <p:spPr>
          <a:xfrm>
            <a:off x="6553200" y="1657350"/>
            <a:ext cx="4848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auditivo real</a:t>
            </a:r>
          </a:p>
        </p:txBody>
      </p:sp>
      <p:sp>
        <p:nvSpPr>
          <p:cNvPr id="9" name="compare-b-body">
            <a:extLst>
              <a:ext uri="{FF2B5EF4-FFF2-40B4-BE49-F238E27FC236}">
                <a16:creationId xmlns:a16="http://schemas.microsoft.com/office/drawing/2014/main" id="{40F73FE2-4ADF-4B6B-A6AC-3AFCCC78848C}"/>
              </a:ext>
            </a:extLst>
          </p:cNvPr>
          <p:cNvSpPr>
            <a:spLocks noGrp="1"/>
          </p:cNvSpPr>
          <p:nvPr/>
        </p:nvSpPr>
        <p:spPr>
          <a:xfrm>
            <a:off x="6553200" y="2057400"/>
            <a:ext cx="4848225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existe una conversión geométrica universal.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2AFFA229-9DD5-4005-9718-2048DEB9597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“Esférica a cilíndrica” es una idealización; el CAE real exige transferencia dep…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C65FF33A-18DD-47B3-A397-C3756E0D237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6.4.2–6.4.3; PDF pp. 153–154; SA tensión 2; OD-U06-03.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899A62A8-7B9C-4D9D-91A3-6F0F852852E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modelo de cuarto de onda aproxima la primera resonancia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A520A80-71DE-410B-AB47-5E7E02AFE03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 tubo abierto–aproximadamente cerrado es útil si se declara qué omite.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B324790-0AAB-4BF6-821C-CA79B0D0CAB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014</a:t>
            </a:r>
          </a:p>
        </p:txBody>
      </p:sp>
      <p:sp>
        <p:nvSpPr>
          <p:cNvPr id="4" name="U06-DG-008-equation-anchor">
            <a:extLst>
              <a:ext uri="{FF2B5EF4-FFF2-40B4-BE49-F238E27FC236}">
                <a16:creationId xmlns:a16="http://schemas.microsoft.com/office/drawing/2014/main" id="{B5B87E8E-9B43-42DF-BCFE-0E614808134D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8-callout_1-anchor">
            <a:extLst>
              <a:ext uri="{FF2B5EF4-FFF2-40B4-BE49-F238E27FC236}">
                <a16:creationId xmlns:a16="http://schemas.microsoft.com/office/drawing/2014/main" id="{B56E6E90-66D8-49B4-95F7-931640AA32FF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8-callout_2-anchor">
            <a:extLst>
              <a:ext uri="{FF2B5EF4-FFF2-40B4-BE49-F238E27FC236}">
                <a16:creationId xmlns:a16="http://schemas.microsoft.com/office/drawing/2014/main" id="{81EB6F37-2EAE-4981-A02C-31DCD32A0FFE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8-callout_3-anchor">
            <a:extLst>
              <a:ext uri="{FF2B5EF4-FFF2-40B4-BE49-F238E27FC236}">
                <a16:creationId xmlns:a16="http://schemas.microsoft.com/office/drawing/2014/main" id="{9119D606-1C16-43BE-B74C-6B65412704D4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8-leader_1"/>
          <p:cNvCxnSpPr>
            <a:stCxn id="5" idx="3"/>
            <a:endCxn id="4" idx="1"/>
          </p:cNvCxnSpPr>
          <p:nvPr/>
        </p:nvCxnSpPr>
        <p:spPr>
          <a:xfrm flipH="1">
            <a:off x="31432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8-leader_2"/>
          <p:cNvCxnSpPr>
            <a:stCxn id="6" idx="1"/>
            <a:endCxn id="4" idx="3"/>
          </p:cNvCxnSpPr>
          <p:nvPr/>
        </p:nvCxnSpPr>
        <p:spPr>
          <a:xfrm>
            <a:off x="89344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8-leader_3"/>
          <p:cNvCxnSpPr>
            <a:stCxn id="7" idx="3"/>
            <a:endCxn id="4" idx="1"/>
          </p:cNvCxnSpPr>
          <p:nvPr/>
        </p:nvCxnSpPr>
        <p:spPr>
          <a:xfrm flipH="1" flipV="1">
            <a:off x="314325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08-equation-box" descr="Diagrama sobre «Un modelo de cuarto de onda aproxima la primera resonancia»; organiza extremos, longitud efectiva y condición `λ≈4ℓ`; lista breve de límites." title="Texto alternativo U06-014">
            <a:extLst>
              <a:ext uri="{FF2B5EF4-FFF2-40B4-BE49-F238E27FC236}">
                <a16:creationId xmlns:a16="http://schemas.microsoft.com/office/drawing/2014/main" id="{741F7268-55B8-49E0-99CB-1DD2AE898E84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2" name="U06-DG-008-equation-title">
            <a:extLst>
              <a:ext uri="{FF2B5EF4-FFF2-40B4-BE49-F238E27FC236}">
                <a16:creationId xmlns:a16="http://schemas.microsoft.com/office/drawing/2014/main" id="{731C699B-5BA6-413F-90D2-BAA47B818A8B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λ ≈ 4ℓ</a:t>
            </a:r>
          </a:p>
        </p:txBody>
      </p:sp>
      <p:sp>
        <p:nvSpPr>
          <p:cNvPr id="13" name="U06-DG-008-equation-body">
            <a:extLst>
              <a:ext uri="{FF2B5EF4-FFF2-40B4-BE49-F238E27FC236}">
                <a16:creationId xmlns:a16="http://schemas.microsoft.com/office/drawing/2014/main" id="{502DB942-0AA5-49B4-A85B-816456D65C11}"/>
              </a:ext>
            </a:extLst>
          </p:cNvPr>
          <p:cNvSpPr>
            <a:spLocks noGrp="1"/>
          </p:cNvSpPr>
          <p:nvPr/>
        </p:nvSpPr>
        <p:spPr>
          <a:xfrm>
            <a:off x="3333750" y="3305175"/>
            <a:ext cx="552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modelo de cuarto de onda</a:t>
            </a:r>
          </a:p>
        </p:txBody>
      </p:sp>
      <p:sp>
        <p:nvSpPr>
          <p:cNvPr id="14" name="U06-DG-008-callout_1-box">
            <a:extLst>
              <a:ext uri="{FF2B5EF4-FFF2-40B4-BE49-F238E27FC236}">
                <a16:creationId xmlns:a16="http://schemas.microsoft.com/office/drawing/2014/main" id="{1286DCB4-AFB3-4940-9F86-60B28B3EEEEC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8-callout_1-title">
            <a:extLst>
              <a:ext uri="{FF2B5EF4-FFF2-40B4-BE49-F238E27FC236}">
                <a16:creationId xmlns:a16="http://schemas.microsoft.com/office/drawing/2014/main" id="{A9C383E0-43CC-443E-8FDE-C0F4E013DB0F}"/>
              </a:ext>
            </a:extLst>
          </p:cNvPr>
          <p:cNvSpPr>
            <a:spLocks noGrp="1"/>
          </p:cNvSpPr>
          <p:nvPr/>
        </p:nvSpPr>
        <p:spPr>
          <a:xfrm>
            <a:off x="971550" y="1333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6" name="U06-DG-008-callout_1-body">
            <a:extLst>
              <a:ext uri="{FF2B5EF4-FFF2-40B4-BE49-F238E27FC236}">
                <a16:creationId xmlns:a16="http://schemas.microsoft.com/office/drawing/2014/main" id="{D4843587-0FB0-4C54-ACAA-E2AC3295F1AD}"/>
              </a:ext>
            </a:extLst>
          </p:cNvPr>
          <p:cNvSpPr>
            <a:spLocks noGrp="1"/>
          </p:cNvSpPr>
          <p:nvPr/>
        </p:nvSpPr>
        <p:spPr>
          <a:xfrm>
            <a:off x="971550" y="1781175"/>
            <a:ext cx="2095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antinodo de presión</a:t>
            </a:r>
          </a:p>
        </p:txBody>
      </p:sp>
      <p:sp>
        <p:nvSpPr>
          <p:cNvPr id="17" name="U06-DG-008-callout_2-box">
            <a:extLst>
              <a:ext uri="{FF2B5EF4-FFF2-40B4-BE49-F238E27FC236}">
                <a16:creationId xmlns:a16="http://schemas.microsoft.com/office/drawing/2014/main" id="{BDAE6930-C4EF-43CD-81EB-80E945E0DF1A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08-callout_2-title">
            <a:extLst>
              <a:ext uri="{FF2B5EF4-FFF2-40B4-BE49-F238E27FC236}">
                <a16:creationId xmlns:a16="http://schemas.microsoft.com/office/drawing/2014/main" id="{7B16D488-2D31-4100-BFB5-5CC2916CCA43}"/>
              </a:ext>
            </a:extLst>
          </p:cNvPr>
          <p:cNvSpPr>
            <a:spLocks noGrp="1"/>
          </p:cNvSpPr>
          <p:nvPr/>
        </p:nvSpPr>
        <p:spPr>
          <a:xfrm>
            <a:off x="9124950" y="13335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Fondo ideal</a:t>
            </a:r>
          </a:p>
        </p:txBody>
      </p:sp>
      <p:sp>
        <p:nvSpPr>
          <p:cNvPr id="19" name="U06-DG-008-callout_2-body">
            <a:extLst>
              <a:ext uri="{FF2B5EF4-FFF2-40B4-BE49-F238E27FC236}">
                <a16:creationId xmlns:a16="http://schemas.microsoft.com/office/drawing/2014/main" id="{42F43956-2DAE-4E69-B8C0-2FA765C88710}"/>
              </a:ext>
            </a:extLst>
          </p:cNvPr>
          <p:cNvSpPr>
            <a:spLocks noGrp="1"/>
          </p:cNvSpPr>
          <p:nvPr/>
        </p:nvSpPr>
        <p:spPr>
          <a:xfrm>
            <a:off x="9124950" y="1781175"/>
            <a:ext cx="2190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nodo de velocidad</a:t>
            </a:r>
          </a:p>
        </p:txBody>
      </p:sp>
      <p:sp>
        <p:nvSpPr>
          <p:cNvPr id="20" name="U06-DG-008-callout_3-box">
            <a:extLst>
              <a:ext uri="{FF2B5EF4-FFF2-40B4-BE49-F238E27FC236}">
                <a16:creationId xmlns:a16="http://schemas.microsoft.com/office/drawing/2014/main" id="{F64AA798-03CE-4D3D-A3BC-F751D4EABACD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08-callout_3-title">
            <a:extLst>
              <a:ext uri="{FF2B5EF4-FFF2-40B4-BE49-F238E27FC236}">
                <a16:creationId xmlns:a16="http://schemas.microsoft.com/office/drawing/2014/main" id="{DDFE1723-91B8-4C5D-A7A6-7D3A450A541B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</a:t>
            </a:r>
          </a:p>
        </p:txBody>
      </p:sp>
      <p:sp>
        <p:nvSpPr>
          <p:cNvPr id="22" name="U06-DG-008-callout_3-body">
            <a:extLst>
              <a:ext uri="{FF2B5EF4-FFF2-40B4-BE49-F238E27FC236}">
                <a16:creationId xmlns:a16="http://schemas.microsoft.com/office/drawing/2014/main" id="{E406D4D6-B727-454D-B84D-4B28ED3D2B18}"/>
              </a:ext>
            </a:extLst>
          </p:cNvPr>
          <p:cNvSpPr>
            <a:spLocks noGrp="1"/>
          </p:cNvSpPr>
          <p:nvPr/>
        </p:nvSpPr>
        <p:spPr>
          <a:xfrm>
            <a:off x="971550" y="4829175"/>
            <a:ext cx="2381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 del conducto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32A8E577-1E5F-4DE4-A5C8-430F5E4F6CA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 tubo abierto–aproximadamente cerrado es útil si se declara qué omite.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E6BDFC6E-8739-424F-BAB1-4F5DC20CDF9A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358085CE-3D92-4963-AB8F-422B8B7231E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resonancia del modelo depende de c y ℓ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9BCF42F-884E-42EE-BF79-60EB699CEAE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Mayor longitud efectiva implica menor primera frecuencia de resonancia.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6BC23A5-9F6A-4101-8626-6DC29DF2CEB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015</a:t>
            </a:r>
          </a:p>
        </p:txBody>
      </p:sp>
      <p:sp>
        <p:nvSpPr>
          <p:cNvPr id="4" name="U06-DG-009-equation-anchor">
            <a:extLst>
              <a:ext uri="{FF2B5EF4-FFF2-40B4-BE49-F238E27FC236}">
                <a16:creationId xmlns:a16="http://schemas.microsoft.com/office/drawing/2014/main" id="{FDDCC662-E603-43F0-B672-403348A9B204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-callout_1-anchor">
            <a:extLst>
              <a:ext uri="{FF2B5EF4-FFF2-40B4-BE49-F238E27FC236}">
                <a16:creationId xmlns:a16="http://schemas.microsoft.com/office/drawing/2014/main" id="{8DAB9267-4CB8-4608-803F-DBEB052AF83B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-callout_2-anchor">
            <a:extLst>
              <a:ext uri="{FF2B5EF4-FFF2-40B4-BE49-F238E27FC236}">
                <a16:creationId xmlns:a16="http://schemas.microsoft.com/office/drawing/2014/main" id="{42A357B2-1DD5-44DB-973A-6DE59130FBC4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9-callout_3-anchor">
            <a:extLst>
              <a:ext uri="{FF2B5EF4-FFF2-40B4-BE49-F238E27FC236}">
                <a16:creationId xmlns:a16="http://schemas.microsoft.com/office/drawing/2014/main" id="{1977CF83-E0EE-4CE2-8BAE-1524F4217488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9-callout_4-anchor">
            <a:extLst>
              <a:ext uri="{FF2B5EF4-FFF2-40B4-BE49-F238E27FC236}">
                <a16:creationId xmlns:a16="http://schemas.microsoft.com/office/drawing/2014/main" id="{49889D59-B394-4509-8A97-E1A22A144FCE}"/>
              </a:ext>
            </a:extLst>
          </p:cNvPr>
          <p:cNvSpPr>
            <a:spLocks noGrp="1"/>
          </p:cNvSpPr>
          <p:nvPr/>
        </p:nvSpPr>
        <p:spPr>
          <a:xfrm>
            <a:off x="8648700" y="4238625"/>
            <a:ext cx="2857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09-leader_1"/>
          <p:cNvCxnSpPr>
            <a:stCxn id="5" idx="3"/>
            <a:endCxn id="4" idx="1"/>
          </p:cNvCxnSpPr>
          <p:nvPr/>
        </p:nvCxnSpPr>
        <p:spPr>
          <a:xfrm flipH="1">
            <a:off x="31432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09-leader_2"/>
          <p:cNvCxnSpPr>
            <a:stCxn id="6" idx="1"/>
            <a:endCxn id="4" idx="3"/>
          </p:cNvCxnSpPr>
          <p:nvPr/>
        </p:nvCxnSpPr>
        <p:spPr>
          <a:xfrm>
            <a:off x="89344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09-leader_3"/>
          <p:cNvCxnSpPr>
            <a:stCxn id="7" idx="3"/>
            <a:endCxn id="4" idx="1"/>
          </p:cNvCxnSpPr>
          <p:nvPr/>
        </p:nvCxnSpPr>
        <p:spPr>
          <a:xfrm flipH="1" flipV="1">
            <a:off x="314325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09-leader_4"/>
          <p:cNvCxnSpPr>
            <a:stCxn id="8" idx="1"/>
            <a:endCxn id="4" idx="3"/>
          </p:cNvCxnSpPr>
          <p:nvPr/>
        </p:nvCxnSpPr>
        <p:spPr>
          <a:xfrm flipV="1">
            <a:off x="864870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09-equation-box" descr="Diagrama sobre «La resonancia del modelo depende de `c` y `ℓ`»; organiza `f_res≈c/(4ℓ)` con definiciones y control dimensional." title="Texto alternativo U06-015">
            <a:extLst>
              <a:ext uri="{FF2B5EF4-FFF2-40B4-BE49-F238E27FC236}">
                <a16:creationId xmlns:a16="http://schemas.microsoft.com/office/drawing/2014/main" id="{7A92A31E-3A93-4AEE-8D45-23FE3A8CF71F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4" name="U06-DG-009-equation-title">
            <a:extLst>
              <a:ext uri="{FF2B5EF4-FFF2-40B4-BE49-F238E27FC236}">
                <a16:creationId xmlns:a16="http://schemas.microsoft.com/office/drawing/2014/main" id="{F4927EEC-6ED4-49B4-B789-75736FE1B089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fᵣₑₛ ≈ c / 4ℓ</a:t>
            </a:r>
          </a:p>
        </p:txBody>
      </p:sp>
      <p:sp>
        <p:nvSpPr>
          <p:cNvPr id="15" name="U06-DG-009-equation-body">
            <a:extLst>
              <a:ext uri="{FF2B5EF4-FFF2-40B4-BE49-F238E27FC236}">
                <a16:creationId xmlns:a16="http://schemas.microsoft.com/office/drawing/2014/main" id="{C00AB445-E5B4-4E6F-AC90-65D32E290858}"/>
              </a:ext>
            </a:extLst>
          </p:cNvPr>
          <p:cNvSpPr>
            <a:spLocks noGrp="1"/>
          </p:cNvSpPr>
          <p:nvPr/>
        </p:nvSpPr>
        <p:spPr>
          <a:xfrm>
            <a:off x="3333750" y="3305175"/>
            <a:ext cx="552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modelo ideal</a:t>
            </a:r>
          </a:p>
        </p:txBody>
      </p:sp>
      <p:sp>
        <p:nvSpPr>
          <p:cNvPr id="16" name="U06-DG-009-callout_1-box">
            <a:extLst>
              <a:ext uri="{FF2B5EF4-FFF2-40B4-BE49-F238E27FC236}">
                <a16:creationId xmlns:a16="http://schemas.microsoft.com/office/drawing/2014/main" id="{35E30EC4-F34E-4BC3-B1F8-5EF21C332E92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09-callout_1-title">
            <a:extLst>
              <a:ext uri="{FF2B5EF4-FFF2-40B4-BE49-F238E27FC236}">
                <a16:creationId xmlns:a16="http://schemas.microsoft.com/office/drawing/2014/main" id="{6E5542E8-6028-4F79-9334-6B8075576571}"/>
              </a:ext>
            </a:extLst>
          </p:cNvPr>
          <p:cNvSpPr>
            <a:spLocks noGrp="1"/>
          </p:cNvSpPr>
          <p:nvPr/>
        </p:nvSpPr>
        <p:spPr>
          <a:xfrm>
            <a:off x="971550" y="1333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fᵣₑₛ</a:t>
            </a:r>
          </a:p>
        </p:txBody>
      </p:sp>
      <p:sp>
        <p:nvSpPr>
          <p:cNvPr id="18" name="U06-DG-009-callout_1-body">
            <a:extLst>
              <a:ext uri="{FF2B5EF4-FFF2-40B4-BE49-F238E27FC236}">
                <a16:creationId xmlns:a16="http://schemas.microsoft.com/office/drawing/2014/main" id="{50D9050E-2EF2-4277-B78B-71D368CE8062}"/>
              </a:ext>
            </a:extLst>
          </p:cNvPr>
          <p:cNvSpPr>
            <a:spLocks noGrp="1"/>
          </p:cNvSpPr>
          <p:nvPr/>
        </p:nvSpPr>
        <p:spPr>
          <a:xfrm>
            <a:off x="971550" y="1781175"/>
            <a:ext cx="2095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· Hz</a:t>
            </a:r>
          </a:p>
        </p:txBody>
      </p:sp>
      <p:sp>
        <p:nvSpPr>
          <p:cNvPr id="19" name="U06-DG-009-callout_2-box">
            <a:extLst>
              <a:ext uri="{FF2B5EF4-FFF2-40B4-BE49-F238E27FC236}">
                <a16:creationId xmlns:a16="http://schemas.microsoft.com/office/drawing/2014/main" id="{69638F3C-5AF8-4EDB-977E-74CE26E75930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0" name="U06-DG-009-callout_2-title">
            <a:extLst>
              <a:ext uri="{FF2B5EF4-FFF2-40B4-BE49-F238E27FC236}">
                <a16:creationId xmlns:a16="http://schemas.microsoft.com/office/drawing/2014/main" id="{14B834C7-7760-4FC9-9557-EDA73371DC7B}"/>
              </a:ext>
            </a:extLst>
          </p:cNvPr>
          <p:cNvSpPr>
            <a:spLocks noGrp="1"/>
          </p:cNvSpPr>
          <p:nvPr/>
        </p:nvSpPr>
        <p:spPr>
          <a:xfrm>
            <a:off x="9124950" y="13335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1" name="U06-DG-009-callout_2-body">
            <a:extLst>
              <a:ext uri="{FF2B5EF4-FFF2-40B4-BE49-F238E27FC236}">
                <a16:creationId xmlns:a16="http://schemas.microsoft.com/office/drawing/2014/main" id="{650C1926-E1B8-426E-8D1D-4F7F35810489}"/>
              </a:ext>
            </a:extLst>
          </p:cNvPr>
          <p:cNvSpPr>
            <a:spLocks noGrp="1"/>
          </p:cNvSpPr>
          <p:nvPr/>
        </p:nvSpPr>
        <p:spPr>
          <a:xfrm>
            <a:off x="9124950" y="1781175"/>
            <a:ext cx="2190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· m/s</a:t>
            </a:r>
          </a:p>
        </p:txBody>
      </p:sp>
      <p:sp>
        <p:nvSpPr>
          <p:cNvPr id="22" name="U06-DG-009-callout_3-box">
            <a:extLst>
              <a:ext uri="{FF2B5EF4-FFF2-40B4-BE49-F238E27FC236}">
                <a16:creationId xmlns:a16="http://schemas.microsoft.com/office/drawing/2014/main" id="{8962E04F-88BE-4A04-84FF-AEE3F530451F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09-callout_3-title">
            <a:extLst>
              <a:ext uri="{FF2B5EF4-FFF2-40B4-BE49-F238E27FC236}">
                <a16:creationId xmlns:a16="http://schemas.microsoft.com/office/drawing/2014/main" id="{266B80EE-756D-42EE-842C-AB04E974A3B7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</a:t>
            </a:r>
          </a:p>
        </p:txBody>
      </p:sp>
      <p:sp>
        <p:nvSpPr>
          <p:cNvPr id="24" name="U06-DG-009-callout_3-body">
            <a:extLst>
              <a:ext uri="{FF2B5EF4-FFF2-40B4-BE49-F238E27FC236}">
                <a16:creationId xmlns:a16="http://schemas.microsoft.com/office/drawing/2014/main" id="{D29DA0DC-5BD5-46FA-BE00-1B5A4CF7A39D}"/>
              </a:ext>
            </a:extLst>
          </p:cNvPr>
          <p:cNvSpPr>
            <a:spLocks noGrp="1"/>
          </p:cNvSpPr>
          <p:nvPr/>
        </p:nvSpPr>
        <p:spPr>
          <a:xfrm>
            <a:off x="971550" y="4829175"/>
            <a:ext cx="2381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 · m</a:t>
            </a:r>
          </a:p>
        </p:txBody>
      </p:sp>
      <p:sp>
        <p:nvSpPr>
          <p:cNvPr id="25" name="U06-DG-009-callout_4-box">
            <a:extLst>
              <a:ext uri="{FF2B5EF4-FFF2-40B4-BE49-F238E27FC236}">
                <a16:creationId xmlns:a16="http://schemas.microsoft.com/office/drawing/2014/main" id="{69974286-FC78-40C4-8DFC-6209B2670040}"/>
              </a:ext>
            </a:extLst>
          </p:cNvPr>
          <p:cNvSpPr>
            <a:spLocks noGrp="1"/>
          </p:cNvSpPr>
          <p:nvPr/>
        </p:nvSpPr>
        <p:spPr>
          <a:xfrm>
            <a:off x="8648700" y="4238625"/>
            <a:ext cx="2857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09-callout_4-title">
            <a:extLst>
              <a:ext uri="{FF2B5EF4-FFF2-40B4-BE49-F238E27FC236}">
                <a16:creationId xmlns:a16="http://schemas.microsoft.com/office/drawing/2014/main" id="{084C81C2-AA59-429E-B0C7-5E31EEF655C8}"/>
              </a:ext>
            </a:extLst>
          </p:cNvPr>
          <p:cNvSpPr>
            <a:spLocks noGrp="1"/>
          </p:cNvSpPr>
          <p:nvPr/>
        </p:nvSpPr>
        <p:spPr>
          <a:xfrm>
            <a:off x="8839200" y="43815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≈</a:t>
            </a:r>
          </a:p>
        </p:txBody>
      </p:sp>
      <p:sp>
        <p:nvSpPr>
          <p:cNvPr id="27" name="U06-DG-009-callout_4-body">
            <a:extLst>
              <a:ext uri="{FF2B5EF4-FFF2-40B4-BE49-F238E27FC236}">
                <a16:creationId xmlns:a16="http://schemas.microsoft.com/office/drawing/2014/main" id="{7BB11A38-9D21-4058-90F4-619C5373F235}"/>
              </a:ext>
            </a:extLst>
          </p:cNvPr>
          <p:cNvSpPr>
            <a:spLocks noGrp="1"/>
          </p:cNvSpPr>
          <p:nvPr/>
        </p:nvSpPr>
        <p:spPr>
          <a:xfrm>
            <a:off x="8839200" y="4829175"/>
            <a:ext cx="2476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aproximación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8C4F1DB4-3E36-4662-A7FB-002EE55985F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Mayor longitud efectiva implica menor primera frecuencia de resonancia.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670AB9A0-23BF-49A3-9942-5FFAD36A56C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6D08AE6D-BF46-45A0-BEAC-F5F91F50D73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CAE ideal de 27 mm resuena cerca de 3,18 kHz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F677B03-BEC7-4AEC-AB0E-8DC6461D37E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resultado pertenece al modelo, no a todas las personas.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9899FB3-1B9C-491A-A49D-AA54F130507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016</a:t>
            </a:r>
          </a:p>
        </p:txBody>
      </p:sp>
      <p:sp>
        <p:nvSpPr>
          <p:cNvPr id="4" name="U06-DG-009B-stage_1-anchor">
            <a:extLst>
              <a:ext uri="{FF2B5EF4-FFF2-40B4-BE49-F238E27FC236}">
                <a16:creationId xmlns:a16="http://schemas.microsoft.com/office/drawing/2014/main" id="{460E481A-6400-4DC6-8462-F34C7335765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B-stage_2-anchor">
            <a:extLst>
              <a:ext uri="{FF2B5EF4-FFF2-40B4-BE49-F238E27FC236}">
                <a16:creationId xmlns:a16="http://schemas.microsoft.com/office/drawing/2014/main" id="{3DF55C7E-5F3C-4710-9B66-65DB7680120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B-stage_3-anchor">
            <a:extLst>
              <a:ext uri="{FF2B5EF4-FFF2-40B4-BE49-F238E27FC236}">
                <a16:creationId xmlns:a16="http://schemas.microsoft.com/office/drawing/2014/main" id="{BD8FB04D-7782-4D3D-845C-34F8F150D0A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9B-stage_4-anchor">
            <a:extLst>
              <a:ext uri="{FF2B5EF4-FFF2-40B4-BE49-F238E27FC236}">
                <a16:creationId xmlns:a16="http://schemas.microsoft.com/office/drawing/2014/main" id="{3808D9ED-F771-4A7D-88E1-0E0CFFBA852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9B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9B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9B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09B-stage_1-box" descr="Diagrama sobre «Un CAE ideal de `27 mm` resuena cerca de `3,18 kHz`»; organiza datos → conversión → sustitución → unidad → limitaciones." title="Texto alternativo U06-016">
            <a:extLst>
              <a:ext uri="{FF2B5EF4-FFF2-40B4-BE49-F238E27FC236}">
                <a16:creationId xmlns:a16="http://schemas.microsoft.com/office/drawing/2014/main" id="{3B080CD7-A9B8-440C-BB68-1E53FACD701A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09B-stage_1-title">
            <a:extLst>
              <a:ext uri="{FF2B5EF4-FFF2-40B4-BE49-F238E27FC236}">
                <a16:creationId xmlns:a16="http://schemas.microsoft.com/office/drawing/2014/main" id="{858AA0D2-6894-4CEB-A34A-60327827411C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· Longitud</a:t>
            </a:r>
          </a:p>
        </p:txBody>
      </p:sp>
      <p:sp>
        <p:nvSpPr>
          <p:cNvPr id="13" name="U06-DG-009B-stage_1-body">
            <a:extLst>
              <a:ext uri="{FF2B5EF4-FFF2-40B4-BE49-F238E27FC236}">
                <a16:creationId xmlns:a16="http://schemas.microsoft.com/office/drawing/2014/main" id="{A5DEDBC7-7797-46C6-B00A-2710E03BB279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 = 27 mm</a:t>
            </a:r>
          </a:p>
        </p:txBody>
      </p:sp>
      <p:sp>
        <p:nvSpPr>
          <p:cNvPr id="14" name="U06-DG-009B-stage_2-box">
            <a:extLst>
              <a:ext uri="{FF2B5EF4-FFF2-40B4-BE49-F238E27FC236}">
                <a16:creationId xmlns:a16="http://schemas.microsoft.com/office/drawing/2014/main" id="{BF8D6830-BB86-4CF8-A9DB-CDE02285BFC4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9B-stage_2-title">
            <a:extLst>
              <a:ext uri="{FF2B5EF4-FFF2-40B4-BE49-F238E27FC236}">
                <a16:creationId xmlns:a16="http://schemas.microsoft.com/office/drawing/2014/main" id="{4AE9B8F4-AE0C-4097-BB73-72D4CF540D28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 · Convertir</a:t>
            </a:r>
          </a:p>
        </p:txBody>
      </p:sp>
      <p:sp>
        <p:nvSpPr>
          <p:cNvPr id="16" name="U06-DG-009B-stage_2-body">
            <a:extLst>
              <a:ext uri="{FF2B5EF4-FFF2-40B4-BE49-F238E27FC236}">
                <a16:creationId xmlns:a16="http://schemas.microsoft.com/office/drawing/2014/main" id="{1E749EE1-4AD0-4A7D-91C0-8D5201365311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0,027 m</a:t>
            </a:r>
          </a:p>
        </p:txBody>
      </p:sp>
      <p:sp>
        <p:nvSpPr>
          <p:cNvPr id="17" name="U06-DG-009B-stage_3-box">
            <a:extLst>
              <a:ext uri="{FF2B5EF4-FFF2-40B4-BE49-F238E27FC236}">
                <a16:creationId xmlns:a16="http://schemas.microsoft.com/office/drawing/2014/main" id="{09EA0652-E3AC-4259-B8F6-C45FFCEC449C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09B-stage_3-title">
            <a:extLst>
              <a:ext uri="{FF2B5EF4-FFF2-40B4-BE49-F238E27FC236}">
                <a16:creationId xmlns:a16="http://schemas.microsoft.com/office/drawing/2014/main" id="{C84E55FD-A934-4E8E-BE74-5801D2B1C2DE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 · Sustituir</a:t>
            </a:r>
          </a:p>
        </p:txBody>
      </p:sp>
      <p:sp>
        <p:nvSpPr>
          <p:cNvPr id="19" name="U06-DG-009B-stage_3-body">
            <a:extLst>
              <a:ext uri="{FF2B5EF4-FFF2-40B4-BE49-F238E27FC236}">
                <a16:creationId xmlns:a16="http://schemas.microsoft.com/office/drawing/2014/main" id="{910C7883-17C3-470B-8A19-23A3013A30C1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343/(4·0,027)</a:t>
            </a:r>
          </a:p>
        </p:txBody>
      </p:sp>
      <p:sp>
        <p:nvSpPr>
          <p:cNvPr id="20" name="U06-DG-009B-stage_4-box">
            <a:extLst>
              <a:ext uri="{FF2B5EF4-FFF2-40B4-BE49-F238E27FC236}">
                <a16:creationId xmlns:a16="http://schemas.microsoft.com/office/drawing/2014/main" id="{6BAA6C42-E07F-401E-BAE6-7233CB30BC2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09B-stage_4-title">
            <a:extLst>
              <a:ext uri="{FF2B5EF4-FFF2-40B4-BE49-F238E27FC236}">
                <a16:creationId xmlns:a16="http://schemas.microsoft.com/office/drawing/2014/main" id="{02FF7622-B838-4860-AB22-874AC7EF04E4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Resultado</a:t>
            </a:r>
          </a:p>
        </p:txBody>
      </p:sp>
      <p:sp>
        <p:nvSpPr>
          <p:cNvPr id="22" name="U06-DG-009B-stage_4-body">
            <a:extLst>
              <a:ext uri="{FF2B5EF4-FFF2-40B4-BE49-F238E27FC236}">
                <a16:creationId xmlns:a16="http://schemas.microsoft.com/office/drawing/2014/main" id="{F31950EF-3AF7-4550-933A-CD55F740F4A6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≈ 3,18 kHz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8B0EE592-6481-4868-94CB-FD541165096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resultado pertenece al modelo, no a todas las personas.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3707E3FA-5256-4103-8601-B2598EEF883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A6BDEC42-4C96-4DFF-B507-22D07A14083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dirección, posición, modelo y límite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BB7813E-B29B-45CD-A5B9-8A64B9C854E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oído externo modifica y conduce; el modelo explica una parte, no todo el sistema.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CE4D7A1-88D9-4748-9856-3F20AFA77BC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017</a:t>
            </a:r>
          </a:p>
        </p:txBody>
      </p:sp>
      <p:sp>
        <p:nvSpPr>
          <p:cNvPr id="4" name="U06-DG-001-stage_1-anchor">
            <a:extLst>
              <a:ext uri="{FF2B5EF4-FFF2-40B4-BE49-F238E27FC236}">
                <a16:creationId xmlns:a16="http://schemas.microsoft.com/office/drawing/2014/main" id="{1E7830F4-7B55-4D04-8490-E4C86521AB8A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2-anchor">
            <a:extLst>
              <a:ext uri="{FF2B5EF4-FFF2-40B4-BE49-F238E27FC236}">
                <a16:creationId xmlns:a16="http://schemas.microsoft.com/office/drawing/2014/main" id="{CFED3987-4535-4CBB-8BD3-7FC3D3EEDB9E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3-anchor">
            <a:extLst>
              <a:ext uri="{FF2B5EF4-FFF2-40B4-BE49-F238E27FC236}">
                <a16:creationId xmlns:a16="http://schemas.microsoft.com/office/drawing/2014/main" id="{AA45D7F6-6AF6-48F5-96E1-88C86D0F7E3B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4-anchor">
            <a:extLst>
              <a:ext uri="{FF2B5EF4-FFF2-40B4-BE49-F238E27FC236}">
                <a16:creationId xmlns:a16="http://schemas.microsoft.com/office/drawing/2014/main" id="{5B102D9B-E123-4AE0-833D-CC0AA2E003B8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5-anchor">
            <a:extLst>
              <a:ext uri="{FF2B5EF4-FFF2-40B4-BE49-F238E27FC236}">
                <a16:creationId xmlns:a16="http://schemas.microsoft.com/office/drawing/2014/main" id="{31E6B9F1-70D3-4830-9AEE-762A4C47E435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01-stage_6-anchor">
            <a:extLst>
              <a:ext uri="{FF2B5EF4-FFF2-40B4-BE49-F238E27FC236}">
                <a16:creationId xmlns:a16="http://schemas.microsoft.com/office/drawing/2014/main" id="{989C4436-5C60-4FF7-9242-84B9F0EB3A9D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6" idx="2"/>
            <a:endCxn id="7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7" idx="1"/>
            <a:endCxn id="8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8" idx="1"/>
            <a:endCxn id="9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01-stage_1-box" descr="Diagrama sobre «Hasta acá: dirección, posición, modelo y límite»; organiza tres afirmaciones + pregunta “¿qué llega finalmente al tímpano?”." title="Texto alternativo U06-017">
            <a:extLst>
              <a:ext uri="{FF2B5EF4-FFF2-40B4-BE49-F238E27FC236}">
                <a16:creationId xmlns:a16="http://schemas.microsoft.com/office/drawing/2014/main" id="{0528C579-C832-4543-A291-103609898B71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01-stage_1-title">
            <a:extLst>
              <a:ext uri="{FF2B5EF4-FFF2-40B4-BE49-F238E27FC236}">
                <a16:creationId xmlns:a16="http://schemas.microsoft.com/office/drawing/2014/main" id="{41635C28-579C-46D4-BEA7-97D6A5A9D4CB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7" name="U06-DG-001-stage_1-body">
            <a:extLst>
              <a:ext uri="{FF2B5EF4-FFF2-40B4-BE49-F238E27FC236}">
                <a16:creationId xmlns:a16="http://schemas.microsoft.com/office/drawing/2014/main" id="{2633D9BC-FF72-4D6B-A5F4-F4453BA9303B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8" name="U06-DG-001-stage_2-box">
            <a:extLst>
              <a:ext uri="{FF2B5EF4-FFF2-40B4-BE49-F238E27FC236}">
                <a16:creationId xmlns:a16="http://schemas.microsoft.com/office/drawing/2014/main" id="{37A013C9-424F-4C5D-9F31-F8EBE065A110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01-stage_2-title">
            <a:extLst>
              <a:ext uri="{FF2B5EF4-FFF2-40B4-BE49-F238E27FC236}">
                <a16:creationId xmlns:a16="http://schemas.microsoft.com/office/drawing/2014/main" id="{CBF311F1-F87E-426C-A190-D464C5A58F9E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0" name="U06-DG-001-stage_2-body">
            <a:extLst>
              <a:ext uri="{FF2B5EF4-FFF2-40B4-BE49-F238E27FC236}">
                <a16:creationId xmlns:a16="http://schemas.microsoft.com/office/drawing/2014/main" id="{D4A8BDFE-F7BE-4359-AC89-AD83EE9DDA4E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1" name="U06-DG-001-stage_3-box">
            <a:extLst>
              <a:ext uri="{FF2B5EF4-FFF2-40B4-BE49-F238E27FC236}">
                <a16:creationId xmlns:a16="http://schemas.microsoft.com/office/drawing/2014/main" id="{71104C05-89FB-4AC2-981E-25C867EB3B1F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2" name="U06-DG-001-stage_3-title">
            <a:extLst>
              <a:ext uri="{FF2B5EF4-FFF2-40B4-BE49-F238E27FC236}">
                <a16:creationId xmlns:a16="http://schemas.microsoft.com/office/drawing/2014/main" id="{589EE8E8-CD8C-4CB0-8A13-0746D343A123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3" name="U06-DG-001-stage_3-body">
            <a:extLst>
              <a:ext uri="{FF2B5EF4-FFF2-40B4-BE49-F238E27FC236}">
                <a16:creationId xmlns:a16="http://schemas.microsoft.com/office/drawing/2014/main" id="{283816B5-79E3-4BF7-8932-EA5A7D626467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4" name="U06-DG-001-stage_4-box">
            <a:extLst>
              <a:ext uri="{FF2B5EF4-FFF2-40B4-BE49-F238E27FC236}">
                <a16:creationId xmlns:a16="http://schemas.microsoft.com/office/drawing/2014/main" id="{921A359C-4637-47B8-9107-A3DC96A03207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5" name="U06-DG-001-stage_4-title">
            <a:extLst>
              <a:ext uri="{FF2B5EF4-FFF2-40B4-BE49-F238E27FC236}">
                <a16:creationId xmlns:a16="http://schemas.microsoft.com/office/drawing/2014/main" id="{AEFAD8E5-20C2-46FC-8157-ED0932EE19A5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6" name="U06-DG-001-stage_4-body">
            <a:extLst>
              <a:ext uri="{FF2B5EF4-FFF2-40B4-BE49-F238E27FC236}">
                <a16:creationId xmlns:a16="http://schemas.microsoft.com/office/drawing/2014/main" id="{13F17EBE-ABA7-4880-BC06-38DDAA766600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7" name="U06-DG-001-stage_5-box">
            <a:extLst>
              <a:ext uri="{FF2B5EF4-FFF2-40B4-BE49-F238E27FC236}">
                <a16:creationId xmlns:a16="http://schemas.microsoft.com/office/drawing/2014/main" id="{F9F7A2FA-4F8E-45AF-8858-96D95F986243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8" name="U06-DG-001-stage_5-title">
            <a:extLst>
              <a:ext uri="{FF2B5EF4-FFF2-40B4-BE49-F238E27FC236}">
                <a16:creationId xmlns:a16="http://schemas.microsoft.com/office/drawing/2014/main" id="{22CFB456-0122-4A30-AE35-162EEE224522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9" name="U06-DG-001-stage_5-body">
            <a:extLst>
              <a:ext uri="{FF2B5EF4-FFF2-40B4-BE49-F238E27FC236}">
                <a16:creationId xmlns:a16="http://schemas.microsoft.com/office/drawing/2014/main" id="{731AD9EA-7452-4432-8DF5-AFC5EA0F52B7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30" name="U06-DG-001-stage_6-box">
            <a:extLst>
              <a:ext uri="{FF2B5EF4-FFF2-40B4-BE49-F238E27FC236}">
                <a16:creationId xmlns:a16="http://schemas.microsoft.com/office/drawing/2014/main" id="{FC6652DF-3F1E-4F0C-92CE-9A9123A47453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01-stage_6-title">
            <a:extLst>
              <a:ext uri="{FF2B5EF4-FFF2-40B4-BE49-F238E27FC236}">
                <a16:creationId xmlns:a16="http://schemas.microsoft.com/office/drawing/2014/main" id="{702AEDB0-994C-4261-860A-3FBA02E4C62F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2" name="U06-DG-001-stage_6-body">
            <a:extLst>
              <a:ext uri="{FF2B5EF4-FFF2-40B4-BE49-F238E27FC236}">
                <a16:creationId xmlns:a16="http://schemas.microsoft.com/office/drawing/2014/main" id="{8F57144D-CC07-4279-B2D6-469E6D07B28C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C8119DC2-0F28-4E12-AB3F-F772752117A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oído externo modifica y conduce; el modelo explica una parte, no todo el sist…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19728AE8-5751-43B1-91BF-1D600F91126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FBAEF198-6436-44CF-B701-D1B8172D3DDD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018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0BED7B3A-BE99-4185-9CCB-CE1EAFC003C1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diferencia de presión pone en movimiento una membrana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B04DF7F-AD22-45A3-A6E2-DB47EA52117D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se convierte una diferencia de presión en fuerza y qué falta para predecir movimiento?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EA07D778-2F94-4C56-8986-E828F4A4915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tímpano separa el CAE de la caja timpánica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F82B7B2-16FB-4995-B108-1175081A5C2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fuerza surge de una diferencia de presión entre las dos caras.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0E8983A5-7A14-479F-BE9E-9195BD8E1F7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019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8C3D0514-BDFF-4247-A732-3B8C0B2EBC7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fuerza surge de una diferencia de presión entre las dos caras.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Vista anatómica simple con CAE, tímpano, caja y mango del martillo.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45674B58-E83F-439C-98D8-2B3561E7CF6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fuerza surge de una diferencia de presión entre las dos caras.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212A9547-383F-4BE5-91D1-86042B185E3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6.4.5; PDF pp. 154–155; REF ugarteburu2022.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6CB0EBA8-BE96-4767-9E4D-A60E2265F86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presiones producen una fuerza resultante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BA69877-3CE6-4FCC-9CC3-D093A356E84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Importa la diferencia entre caras, no una presión aislada.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0771D40E-F3F8-4C17-B6FA-D3D87EA94C0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020</a:t>
            </a:r>
          </a:p>
        </p:txBody>
      </p:sp>
      <p:sp>
        <p:nvSpPr>
          <p:cNvPr id="4" name="U06-DG-010-stage_1-anchor">
            <a:extLst>
              <a:ext uri="{FF2B5EF4-FFF2-40B4-BE49-F238E27FC236}">
                <a16:creationId xmlns:a16="http://schemas.microsoft.com/office/drawing/2014/main" id="{1B297851-718C-4B2A-86E3-57D509D3D04A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0-stage_2-anchor">
            <a:extLst>
              <a:ext uri="{FF2B5EF4-FFF2-40B4-BE49-F238E27FC236}">
                <a16:creationId xmlns:a16="http://schemas.microsoft.com/office/drawing/2014/main" id="{77B2154C-BE87-4353-B5D9-EB280C42990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0-stage_3-anchor">
            <a:extLst>
              <a:ext uri="{FF2B5EF4-FFF2-40B4-BE49-F238E27FC236}">
                <a16:creationId xmlns:a16="http://schemas.microsoft.com/office/drawing/2014/main" id="{7BB79FB1-2E7C-4829-8C8E-66951BD1D6E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10-stage_4-anchor">
            <a:extLst>
              <a:ext uri="{FF2B5EF4-FFF2-40B4-BE49-F238E27FC236}">
                <a16:creationId xmlns:a16="http://schemas.microsoft.com/office/drawing/2014/main" id="{B167C8B0-65E2-48B8-A104-DC20351A928D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10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10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10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10-stage_1-box" descr="Diagrama sobre «Dos presiones producen una fuerza resultante»; organiza presión del cae, presión de caja, resta y fuerza distribuida." title="Texto alternativo U06-020">
            <a:extLst>
              <a:ext uri="{FF2B5EF4-FFF2-40B4-BE49-F238E27FC236}">
                <a16:creationId xmlns:a16="http://schemas.microsoft.com/office/drawing/2014/main" id="{6B0D23BD-39B5-4BB4-B550-9CE37E41F59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10-stage_1-title">
            <a:extLst>
              <a:ext uri="{FF2B5EF4-FFF2-40B4-BE49-F238E27FC236}">
                <a16:creationId xmlns:a16="http://schemas.microsoft.com/office/drawing/2014/main" id="{F5748A3D-74E3-48C4-9D2F-E52B81478291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p(CAE)</a:t>
            </a:r>
          </a:p>
        </p:txBody>
      </p:sp>
      <p:sp>
        <p:nvSpPr>
          <p:cNvPr id="13" name="U06-DG-010-stage_1-body">
            <a:extLst>
              <a:ext uri="{FF2B5EF4-FFF2-40B4-BE49-F238E27FC236}">
                <a16:creationId xmlns:a16="http://schemas.microsoft.com/office/drawing/2014/main" id="{1308FABA-EAE7-44B7-83AA-98FCAF6060BA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 externa</a:t>
            </a:r>
          </a:p>
        </p:txBody>
      </p:sp>
      <p:sp>
        <p:nvSpPr>
          <p:cNvPr id="14" name="U06-DG-010-stage_2-box">
            <a:extLst>
              <a:ext uri="{FF2B5EF4-FFF2-40B4-BE49-F238E27FC236}">
                <a16:creationId xmlns:a16="http://schemas.microsoft.com/office/drawing/2014/main" id="{C5B1AE3F-6BC7-4C25-AF80-BDCEB37DD20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10-stage_2-title">
            <a:extLst>
              <a:ext uri="{FF2B5EF4-FFF2-40B4-BE49-F238E27FC236}">
                <a16:creationId xmlns:a16="http://schemas.microsoft.com/office/drawing/2014/main" id="{9CADD5E1-57B1-4598-8317-5E5B51E102C1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p(OM)</a:t>
            </a:r>
          </a:p>
        </p:txBody>
      </p:sp>
      <p:sp>
        <p:nvSpPr>
          <p:cNvPr id="16" name="U06-DG-010-stage_2-body">
            <a:extLst>
              <a:ext uri="{FF2B5EF4-FFF2-40B4-BE49-F238E27FC236}">
                <a16:creationId xmlns:a16="http://schemas.microsoft.com/office/drawing/2014/main" id="{B8EF51A8-34B6-4913-837F-84A7BC308ECC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 interna</a:t>
            </a:r>
          </a:p>
        </p:txBody>
      </p:sp>
      <p:sp>
        <p:nvSpPr>
          <p:cNvPr id="17" name="U06-DG-010-stage_3-box">
            <a:extLst>
              <a:ext uri="{FF2B5EF4-FFF2-40B4-BE49-F238E27FC236}">
                <a16:creationId xmlns:a16="http://schemas.microsoft.com/office/drawing/2014/main" id="{DA38D46A-754D-4D9C-A9B6-7E69382E1D4F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10-stage_3-title">
            <a:extLst>
              <a:ext uri="{FF2B5EF4-FFF2-40B4-BE49-F238E27FC236}">
                <a16:creationId xmlns:a16="http://schemas.microsoft.com/office/drawing/2014/main" id="{F283F3BA-E660-4B66-88AF-A50F3353483B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Δp</a:t>
            </a:r>
          </a:p>
        </p:txBody>
      </p:sp>
      <p:sp>
        <p:nvSpPr>
          <p:cNvPr id="19" name="U06-DG-010-stage_3-body">
            <a:extLst>
              <a:ext uri="{FF2B5EF4-FFF2-40B4-BE49-F238E27FC236}">
                <a16:creationId xmlns:a16="http://schemas.microsoft.com/office/drawing/2014/main" id="{57338A4F-B3EC-43F7-AC90-2B4E471CFD93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p(CAE) − p(OM)</a:t>
            </a:r>
          </a:p>
        </p:txBody>
      </p:sp>
      <p:sp>
        <p:nvSpPr>
          <p:cNvPr id="20" name="U06-DG-010-stage_4-box">
            <a:extLst>
              <a:ext uri="{FF2B5EF4-FFF2-40B4-BE49-F238E27FC236}">
                <a16:creationId xmlns:a16="http://schemas.microsoft.com/office/drawing/2014/main" id="{A03043DD-A199-4CF5-A36B-D5D4C7C8DB49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10-stage_4-title">
            <a:extLst>
              <a:ext uri="{FF2B5EF4-FFF2-40B4-BE49-F238E27FC236}">
                <a16:creationId xmlns:a16="http://schemas.microsoft.com/office/drawing/2014/main" id="{6A65A34B-E6D5-4E5E-BCEA-0A7AF6D4F3C9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Membrana</a:t>
            </a:r>
          </a:p>
        </p:txBody>
      </p:sp>
      <p:sp>
        <p:nvSpPr>
          <p:cNvPr id="22" name="U06-DG-010-stage_4-body">
            <a:extLst>
              <a:ext uri="{FF2B5EF4-FFF2-40B4-BE49-F238E27FC236}">
                <a16:creationId xmlns:a16="http://schemas.microsoft.com/office/drawing/2014/main" id="{B3CBD6B3-EE8C-414A-8071-B6351883736F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recibe fuerza neta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097E8355-4F2E-431A-9C84-CC30A9D8020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Importa la diferencia entre caras, no una presión aislada.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4F23560A-B3C1-464A-A1EA-A9F1AB4FA88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BEE2EA58-9E67-4B7C-A71F-9F68F3DCB91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por área estima la fuerza resultante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71431F7-774A-48D2-ACE4-25AFD837A28B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ecuación estima fuerza; no predice por sí sola el desplazamiento.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5F07FBB-D862-4EC9-A3F6-7326BD3FA15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021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72E351EA-8C62-4898-BB6D-9A1EBBC7C36E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D23185A3-2CE9-4F2D-83B0-3FACAD24C35A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 ≈ Δp·S; control dimensional: Pa·m² = N.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B705696B-60D1-447A-A061-A19E2E806CBB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5AD54726-9D6E-44A7-A8E4-7CD1FA16DECB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155D0561-4E43-474F-B5F4-E8470D7F3DD4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fuerza resultante (N); Δp: diferencia de presión (Pa); S: área efectiva (m²).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7DCC9A13-1444-42B9-8282-11E2C72E7521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CF1C1448-3693-4ECB-8FEA-3B16CDA04C55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C5FC5702-4B46-458C-A151-E8A9D00C4EF9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de presión actúa sobre un área efectiva y permite estimar una fuerza. El resultado queda en newtons; todavía no describe el desplazamiento del tímpano.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D54046ED-86A3-42D6-89B9-616B7B8B5EF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ecuación estima fuerza; no predice por sí sola el desplazamiento.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07D6C0E0-0930-4A20-8FF0-CD57C44E4C3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ec. 6.2; PDF p. 154; NOT área; OD-U06-07.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3EB86C20-5D02-43E1-93EA-8B218D95D82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0,20 Pa a una fuerza del orden de 10⁻⁵ 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FAAC6B7-5A08-4D2A-AF2A-6B3E96B2AB0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fuerza pequeña puede ser físicamente significativa en una estructura pequeña.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F33CE50-6EB2-4CB7-B723-6973370BE20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022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0C019C22-258C-4A60-9B75-3AA6E14F2974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9F82908E-BEAE-4A70-B86B-6937C234C675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 = 50 mm² = 5,0×10⁻⁵ m²; F ≈ (0,20 Pa)(5,0×10⁻⁵ m²) = 1,0×10⁻⁵ N.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A5281A5E-90EF-4135-8987-62D6F9453CAE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F02745E4-9F22-4135-AC81-ECF16576DFBE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898876FD-E309-44C4-9910-57748BC1F2D5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Convertir 50 mm² a 5,0×10⁻⁵ m². 2. Multiplicar por 0,20 Pa. 3. Obtener 1,0×10⁻⁵ N. 4. Preguntar qué falta para predecir movimiento.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438E8CC8-FD79-468A-9DA1-CC5106CF6928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DD56EEF0-A241-41DA-923B-334DF8863A42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8567B672-B2D2-4F7D-B23B-42A859781739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 elemental con Δp = 0,20 Pa y S = 50 mm².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4D7EBEB6-784C-44F5-8D8E-913F0B9B130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fuerza pequeña puede ser físicamente significativa en una estructura pequeña.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8430CBA9-34F2-4436-AD0A-FA5F84E5DE38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ejercicio G2 y solución; PDF pp. 168, 172.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5015F51-DA23-48DC-BBD2-4EC4C884DFF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magnitud describe cada frase?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19BF8C0-7498-43A1-9683-BF7EFE9D9A81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Magnitudes relacionadas no son intercambiables.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D79CFAB-9F9E-4EF2-AE0F-0CA184695D5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023</a:t>
            </a:r>
          </a:p>
        </p:txBody>
      </p:sp>
      <p:sp>
        <p:nvSpPr>
          <p:cNvPr id="4" name="U06-DG-003-cell_1-anchor">
            <a:extLst>
              <a:ext uri="{FF2B5EF4-FFF2-40B4-BE49-F238E27FC236}">
                <a16:creationId xmlns:a16="http://schemas.microsoft.com/office/drawing/2014/main" id="{81720E86-A7D2-4724-941E-B61EE8C46803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3-cell_2-anchor">
            <a:extLst>
              <a:ext uri="{FF2B5EF4-FFF2-40B4-BE49-F238E27FC236}">
                <a16:creationId xmlns:a16="http://schemas.microsoft.com/office/drawing/2014/main" id="{144CAADE-2045-4B63-8610-E6B5972832AB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3-cell_3-anchor">
            <a:extLst>
              <a:ext uri="{FF2B5EF4-FFF2-40B4-BE49-F238E27FC236}">
                <a16:creationId xmlns:a16="http://schemas.microsoft.com/office/drawing/2014/main" id="{0A51029A-2C23-4B31-B7BC-7743F4C705CE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3-cell_4-anchor">
            <a:extLst>
              <a:ext uri="{FF2B5EF4-FFF2-40B4-BE49-F238E27FC236}">
                <a16:creationId xmlns:a16="http://schemas.microsoft.com/office/drawing/2014/main" id="{1933E2A3-90DF-43AD-AE4E-6D8460BE46BC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3-cell_1-box" descr="Diagrama sobre «¿Qué magnitud describe cada frase?»; organiza tres situaciones; asignar símbolo/unidad y justificar." title="Texto alternativo U06-023">
            <a:extLst>
              <a:ext uri="{FF2B5EF4-FFF2-40B4-BE49-F238E27FC236}">
                <a16:creationId xmlns:a16="http://schemas.microsoft.com/office/drawing/2014/main" id="{2BD5ACEB-957F-482F-A485-156FFD027904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03-cell_1-title">
            <a:extLst>
              <a:ext uri="{FF2B5EF4-FFF2-40B4-BE49-F238E27FC236}">
                <a16:creationId xmlns:a16="http://schemas.microsoft.com/office/drawing/2014/main" id="{D375D07B-9A58-4373-B06A-0D502AF5B9B3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10" name="U06-DG-003-cell_1-body">
            <a:extLst>
              <a:ext uri="{FF2B5EF4-FFF2-40B4-BE49-F238E27FC236}">
                <a16:creationId xmlns:a16="http://schemas.microsoft.com/office/drawing/2014/main" id="{6E24DA15-E0D3-4D16-B694-2A8D9DA07B1F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11" name="U06-DG-003-cell_2-box">
            <a:extLst>
              <a:ext uri="{FF2B5EF4-FFF2-40B4-BE49-F238E27FC236}">
                <a16:creationId xmlns:a16="http://schemas.microsoft.com/office/drawing/2014/main" id="{C7062A86-D16C-47E5-AEA4-253F7ADE79F0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03-cell_2-title">
            <a:extLst>
              <a:ext uri="{FF2B5EF4-FFF2-40B4-BE49-F238E27FC236}">
                <a16:creationId xmlns:a16="http://schemas.microsoft.com/office/drawing/2014/main" id="{2CBBECEF-1945-42C7-B1BB-493D6DA5314E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13" name="U06-DG-003-cell_2-body">
            <a:extLst>
              <a:ext uri="{FF2B5EF4-FFF2-40B4-BE49-F238E27FC236}">
                <a16:creationId xmlns:a16="http://schemas.microsoft.com/office/drawing/2014/main" id="{640FEE16-43CC-4507-8A4E-A16513E9459F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14" name="U06-DG-003-cell_3-box">
            <a:extLst>
              <a:ext uri="{FF2B5EF4-FFF2-40B4-BE49-F238E27FC236}">
                <a16:creationId xmlns:a16="http://schemas.microsoft.com/office/drawing/2014/main" id="{B385B8E1-7D03-4470-91F1-688F9F6208FB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5" name="U06-DG-003-cell_3-title">
            <a:extLst>
              <a:ext uri="{FF2B5EF4-FFF2-40B4-BE49-F238E27FC236}">
                <a16:creationId xmlns:a16="http://schemas.microsoft.com/office/drawing/2014/main" id="{03567DAC-D46F-4AE9-992D-8AD1D6125E99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Desplazamiento</a:t>
            </a:r>
          </a:p>
        </p:txBody>
      </p:sp>
      <p:sp>
        <p:nvSpPr>
          <p:cNvPr id="16" name="U06-DG-003-cell_3-body">
            <a:extLst>
              <a:ext uri="{FF2B5EF4-FFF2-40B4-BE49-F238E27FC236}">
                <a16:creationId xmlns:a16="http://schemas.microsoft.com/office/drawing/2014/main" id="{7968042C-170F-4AAC-91B9-A01BB2D5DEF0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7" name="U06-DG-003-cell_4-box">
            <a:extLst>
              <a:ext uri="{FF2B5EF4-FFF2-40B4-BE49-F238E27FC236}">
                <a16:creationId xmlns:a16="http://schemas.microsoft.com/office/drawing/2014/main" id="{E2AB8DAD-6CD0-459B-9C59-D57BC89EE91A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03-cell_4-title">
            <a:extLst>
              <a:ext uri="{FF2B5EF4-FFF2-40B4-BE49-F238E27FC236}">
                <a16:creationId xmlns:a16="http://schemas.microsoft.com/office/drawing/2014/main" id="{92F8B22D-4A6C-4F20-8F6C-F834E7BE3028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</a:t>
            </a:r>
          </a:p>
        </p:txBody>
      </p:sp>
      <p:sp>
        <p:nvSpPr>
          <p:cNvPr id="19" name="U06-DG-003-cell_4-body">
            <a:extLst>
              <a:ext uri="{FF2B5EF4-FFF2-40B4-BE49-F238E27FC236}">
                <a16:creationId xmlns:a16="http://schemas.microsoft.com/office/drawing/2014/main" id="{BF70343B-D5E0-4C0F-A4DB-B8163BCD89E4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o mV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6BE83006-DC95-42C1-8BDE-0A797551ED13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Magnitudes relacionadas no son intercambiables.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1853403E-8C2E-4797-A17F-F4B72B227BE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E5BA2F4C-8216-4C43-9B43-F455136C635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Conocer la fuerza no alcanza para conocer el movimiento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0E4841C-6DC5-419E-9CE7-692B6200CFC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tímpano real tiene una respuesta mecánica dependiente de frecuencia.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A97EAD5-85BA-42EF-9F18-A79008C6598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024</a:t>
            </a:r>
          </a:p>
        </p:txBody>
      </p:sp>
      <p:sp>
        <p:nvSpPr>
          <p:cNvPr id="4" name="U06-DG-012-central-anchor">
            <a:extLst>
              <a:ext uri="{FF2B5EF4-FFF2-40B4-BE49-F238E27FC236}">
                <a16:creationId xmlns:a16="http://schemas.microsoft.com/office/drawing/2014/main" id="{A9B5CF88-26BA-42ED-9EC2-6550D7ABBA4B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2-branch_1-anchor">
            <a:extLst>
              <a:ext uri="{FF2B5EF4-FFF2-40B4-BE49-F238E27FC236}">
                <a16:creationId xmlns:a16="http://schemas.microsoft.com/office/drawing/2014/main" id="{A6A649F6-7B6F-4FAD-9FE6-B7710FF05321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2-branch_2-anchor">
            <a:extLst>
              <a:ext uri="{FF2B5EF4-FFF2-40B4-BE49-F238E27FC236}">
                <a16:creationId xmlns:a16="http://schemas.microsoft.com/office/drawing/2014/main" id="{536D02A7-A489-4E32-858F-35528205F4DE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12-branch_3-anchor">
            <a:extLst>
              <a:ext uri="{FF2B5EF4-FFF2-40B4-BE49-F238E27FC236}">
                <a16:creationId xmlns:a16="http://schemas.microsoft.com/office/drawing/2014/main" id="{4D8A642F-7F5C-42AC-9F7A-60DED9F7750A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12-branch_4-anchor">
            <a:extLst>
              <a:ext uri="{FF2B5EF4-FFF2-40B4-BE49-F238E27FC236}">
                <a16:creationId xmlns:a16="http://schemas.microsoft.com/office/drawing/2014/main" id="{F8E020E5-07C3-46BE-B3FB-2BA13AF9D045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12-branch_5-anchor">
            <a:extLst>
              <a:ext uri="{FF2B5EF4-FFF2-40B4-BE49-F238E27FC236}">
                <a16:creationId xmlns:a16="http://schemas.microsoft.com/office/drawing/2014/main" id="{D5F6FEB5-45F7-4E07-AA3B-9A67B3247745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12-branch_edge_1"/>
          <p:cNvCxnSpPr>
            <a:stCxn id="5" idx="3"/>
            <a:endCxn id="4" idx="1"/>
          </p:cNvCxnSpPr>
          <p:nvPr/>
        </p:nvCxnSpPr>
        <p:spPr>
          <a:xfrm flipV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12-branch_edge_2"/>
          <p:cNvCxnSpPr>
            <a:stCxn id="6" idx="0"/>
            <a:endCxn id="4" idx="2"/>
          </p:cNvCxnSpPr>
          <p:nvPr/>
        </p:nvCxnSpPr>
        <p:spPr>
          <a:xfrm flipV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12-branch_edge_3"/>
          <p:cNvCxnSpPr>
            <a:stCxn id="7" idx="0"/>
            <a:endCxn id="4" idx="2"/>
          </p:cNvCxnSpPr>
          <p:nvPr/>
        </p:nvCxnSpPr>
        <p:spPr>
          <a:xfrm flipV="1"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12-branch_edge_4"/>
          <p:cNvCxnSpPr>
            <a:stCxn id="8" idx="0"/>
            <a:endCxn id="4" idx="2"/>
          </p:cNvCxnSpPr>
          <p:nvPr/>
        </p:nvCxnSpPr>
        <p:spPr>
          <a:xfrm flipH="1" flipV="1"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12-branch_edge_5"/>
          <p:cNvCxnSpPr>
            <a:stCxn id="9" idx="1"/>
            <a:endCxn id="4" idx="3"/>
          </p:cNvCxnSpPr>
          <p:nvPr/>
        </p:nvCxnSpPr>
        <p:spPr>
          <a:xfrm flipH="1" flipV="1"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12-central-box" descr="Diagrama sobre «Conocer la fuerza no alcanza para conocer el movimiento»; organiza fuerza de entrada → sistema mecánico → desplazamiento; variables que condicionan." title="Texto alternativo U06-024">
            <a:extLst>
              <a:ext uri="{FF2B5EF4-FFF2-40B4-BE49-F238E27FC236}">
                <a16:creationId xmlns:a16="http://schemas.microsoft.com/office/drawing/2014/main" id="{AE99CADC-3494-4F99-A827-1B3C9483FFF0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12-central-title">
            <a:extLst>
              <a:ext uri="{FF2B5EF4-FFF2-40B4-BE49-F238E27FC236}">
                <a16:creationId xmlns:a16="http://schemas.microsoft.com/office/drawing/2014/main" id="{2C96477F-0CC9-4DD4-BDF0-22DB3247935D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Sistema mecánico</a:t>
            </a:r>
          </a:p>
        </p:txBody>
      </p:sp>
      <p:sp>
        <p:nvSpPr>
          <p:cNvPr id="17" name="U06-DG-012-central-body">
            <a:extLst>
              <a:ext uri="{FF2B5EF4-FFF2-40B4-BE49-F238E27FC236}">
                <a16:creationId xmlns:a16="http://schemas.microsoft.com/office/drawing/2014/main" id="{771858C7-1971-4C64-93C1-FC56387AAEE4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determina la salida</a:t>
            </a:r>
          </a:p>
        </p:txBody>
      </p:sp>
      <p:sp>
        <p:nvSpPr>
          <p:cNvPr id="18" name="U06-DG-012-branch_1-box">
            <a:extLst>
              <a:ext uri="{FF2B5EF4-FFF2-40B4-BE49-F238E27FC236}">
                <a16:creationId xmlns:a16="http://schemas.microsoft.com/office/drawing/2014/main" id="{B7613E4E-59B7-4A54-A865-8518A8EAD484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12-branch_1-title">
            <a:extLst>
              <a:ext uri="{FF2B5EF4-FFF2-40B4-BE49-F238E27FC236}">
                <a16:creationId xmlns:a16="http://schemas.microsoft.com/office/drawing/2014/main" id="{B9D0DE42-22CD-4088-85BA-5CBA15BFF1C2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6-DG-012-branch_1-body">
            <a:extLst>
              <a:ext uri="{FF2B5EF4-FFF2-40B4-BE49-F238E27FC236}">
                <a16:creationId xmlns:a16="http://schemas.microsoft.com/office/drawing/2014/main" id="{953CCBB2-5010-46B3-8B6C-CD6E129E47F7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1" name="U06-DG-012-branch_2-box">
            <a:extLst>
              <a:ext uri="{FF2B5EF4-FFF2-40B4-BE49-F238E27FC236}">
                <a16:creationId xmlns:a16="http://schemas.microsoft.com/office/drawing/2014/main" id="{23637481-9D9B-43B6-8586-BDC0E9288502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12-branch_2-title">
            <a:extLst>
              <a:ext uri="{FF2B5EF4-FFF2-40B4-BE49-F238E27FC236}">
                <a16:creationId xmlns:a16="http://schemas.microsoft.com/office/drawing/2014/main" id="{950D4F79-12DF-4679-AD08-9238828DF358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3" name="U06-DG-012-branch_2-body">
            <a:extLst>
              <a:ext uri="{FF2B5EF4-FFF2-40B4-BE49-F238E27FC236}">
                <a16:creationId xmlns:a16="http://schemas.microsoft.com/office/drawing/2014/main" id="{6258FFBB-3F70-4608-A378-CB506DFCF328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4" name="U06-DG-012-branch_3-box">
            <a:extLst>
              <a:ext uri="{FF2B5EF4-FFF2-40B4-BE49-F238E27FC236}">
                <a16:creationId xmlns:a16="http://schemas.microsoft.com/office/drawing/2014/main" id="{1EDB614F-62AA-4585-8500-B38DC9054532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5" name="U06-DG-012-branch_3-title">
            <a:extLst>
              <a:ext uri="{FF2B5EF4-FFF2-40B4-BE49-F238E27FC236}">
                <a16:creationId xmlns:a16="http://schemas.microsoft.com/office/drawing/2014/main" id="{F07D1B8B-97C3-4686-8BA3-679DFC13918A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Rigidez</a:t>
            </a:r>
          </a:p>
        </p:txBody>
      </p:sp>
      <p:sp>
        <p:nvSpPr>
          <p:cNvPr id="26" name="U06-DG-012-branch_3-body">
            <a:extLst>
              <a:ext uri="{FF2B5EF4-FFF2-40B4-BE49-F238E27FC236}">
                <a16:creationId xmlns:a16="http://schemas.microsoft.com/office/drawing/2014/main" id="{D6D0BD83-9B16-413D-9179-22B7ED79ED33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opone</a:t>
            </a:r>
          </a:p>
        </p:txBody>
      </p:sp>
      <p:sp>
        <p:nvSpPr>
          <p:cNvPr id="27" name="U06-DG-012-branch_4-box">
            <a:extLst>
              <a:ext uri="{FF2B5EF4-FFF2-40B4-BE49-F238E27FC236}">
                <a16:creationId xmlns:a16="http://schemas.microsoft.com/office/drawing/2014/main" id="{EADFB48F-F8EE-4893-B06D-B4D1C3208776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8" name="U06-DG-012-branch_4-title">
            <a:extLst>
              <a:ext uri="{FF2B5EF4-FFF2-40B4-BE49-F238E27FC236}">
                <a16:creationId xmlns:a16="http://schemas.microsoft.com/office/drawing/2014/main" id="{1DE7BC35-AC2A-4CD2-B371-2B900E95459D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Pérdidas</a:t>
            </a:r>
          </a:p>
        </p:txBody>
      </p:sp>
      <p:sp>
        <p:nvSpPr>
          <p:cNvPr id="29" name="U06-DG-012-branch_4-body">
            <a:extLst>
              <a:ext uri="{FF2B5EF4-FFF2-40B4-BE49-F238E27FC236}">
                <a16:creationId xmlns:a16="http://schemas.microsoft.com/office/drawing/2014/main" id="{126171CE-21E9-4D1F-9C91-03B05DAB35BE}"/>
              </a:ext>
            </a:extLst>
          </p:cNvPr>
          <p:cNvSpPr>
            <a:spLocks noGrp="1"/>
          </p:cNvSpPr>
          <p:nvPr/>
        </p:nvSpPr>
        <p:spPr>
          <a:xfrm>
            <a:off x="747522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</a:t>
            </a:r>
          </a:p>
        </p:txBody>
      </p:sp>
      <p:sp>
        <p:nvSpPr>
          <p:cNvPr id="30" name="U06-DG-012-branch_5-box">
            <a:extLst>
              <a:ext uri="{FF2B5EF4-FFF2-40B4-BE49-F238E27FC236}">
                <a16:creationId xmlns:a16="http://schemas.microsoft.com/office/drawing/2014/main" id="{BD69F6E1-2A78-4E94-B95F-9DA34194FA65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12-branch_5-title">
            <a:extLst>
              <a:ext uri="{FF2B5EF4-FFF2-40B4-BE49-F238E27FC236}">
                <a16:creationId xmlns:a16="http://schemas.microsoft.com/office/drawing/2014/main" id="{2A9D9035-E982-4465-852F-91D920323210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Frec.</a:t>
            </a:r>
          </a:p>
        </p:txBody>
      </p:sp>
      <p:sp>
        <p:nvSpPr>
          <p:cNvPr id="32" name="U06-DG-012-branch_5-body">
            <a:extLst>
              <a:ext uri="{FF2B5EF4-FFF2-40B4-BE49-F238E27FC236}">
                <a16:creationId xmlns:a16="http://schemas.microsoft.com/office/drawing/2014/main" id="{0755C6BA-59F7-4C67-AA2F-7C984DBF5E36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condiciona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9D1CCB56-B1F9-4F59-B963-EA9E64E8648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tímpano real tiene una respuesta mecánica dependiente de frecuencia.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8449E11D-065F-446D-B82E-C0A418813B0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B20BD7CD-9B08-452D-89D5-47109CE7CE1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acústica y presión estática actúan en tiempos distintos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E8B25697-F0F2-4B46-B2F1-53B0FAFE990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025</a:t>
            </a:r>
          </a:p>
        </p:txBody>
      </p:sp>
      <p:sp>
        <p:nvSpPr>
          <p:cNvPr id="3" name="U06-DG-013-panel_left-anchor">
            <a:extLst>
              <a:ext uri="{FF2B5EF4-FFF2-40B4-BE49-F238E27FC236}">
                <a16:creationId xmlns:a16="http://schemas.microsoft.com/office/drawing/2014/main" id="{DD437D54-3817-41A2-81AE-FAE75AEE1265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3-panel_right-anchor">
            <a:extLst>
              <a:ext uri="{FF2B5EF4-FFF2-40B4-BE49-F238E27FC236}">
                <a16:creationId xmlns:a16="http://schemas.microsoft.com/office/drawing/2014/main" id="{8889203C-EECB-4BE9-B317-ED497BCB752E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3-panel_left-box" descr="Diagrama sobre «Presión acústica y presión estática actúan en tiempos distintos»; organiza criterios comunes: escala temporal, origen, efecto y mecanismo de compensación." title="Texto alternativo U06-025">
            <a:extLst>
              <a:ext uri="{FF2B5EF4-FFF2-40B4-BE49-F238E27FC236}">
                <a16:creationId xmlns:a16="http://schemas.microsoft.com/office/drawing/2014/main" id="{CA32C348-B19A-4C20-85E8-16C477D6B751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U06-DG-013-panel_left-title">
            <a:extLst>
              <a:ext uri="{FF2B5EF4-FFF2-40B4-BE49-F238E27FC236}">
                <a16:creationId xmlns:a16="http://schemas.microsoft.com/office/drawing/2014/main" id="{52C3C82E-B985-403A-81AD-F8A986AF7D96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acústica</a:t>
            </a:r>
          </a:p>
        </p:txBody>
      </p:sp>
      <p:sp>
        <p:nvSpPr>
          <p:cNvPr id="7" name="U06-DG-013-panel_left-body">
            <a:extLst>
              <a:ext uri="{FF2B5EF4-FFF2-40B4-BE49-F238E27FC236}">
                <a16:creationId xmlns:a16="http://schemas.microsoft.com/office/drawing/2014/main" id="{DB6B4240-27B2-4D98-996F-01AA8EADAF9F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oscila alrededor del equilibrio variación rápida</a:t>
            </a:r>
          </a:p>
        </p:txBody>
      </p:sp>
      <p:sp>
        <p:nvSpPr>
          <p:cNvPr id="8" name="U06-DG-013-panel_right-box">
            <a:extLst>
              <a:ext uri="{FF2B5EF4-FFF2-40B4-BE49-F238E27FC236}">
                <a16:creationId xmlns:a16="http://schemas.microsoft.com/office/drawing/2014/main" id="{656F56E9-B4E0-46BE-9420-49D7207F80EB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U06-DG-013-panel_right-title">
            <a:extLst>
              <a:ext uri="{FF2B5EF4-FFF2-40B4-BE49-F238E27FC236}">
                <a16:creationId xmlns:a16="http://schemas.microsoft.com/office/drawing/2014/main" id="{9ED9FE70-3DB2-42A1-9CE1-42776E13F872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Presión estática</a:t>
            </a:r>
          </a:p>
        </p:txBody>
      </p:sp>
      <p:sp>
        <p:nvSpPr>
          <p:cNvPr id="10" name="U06-DG-013-panel_right-body">
            <a:extLst>
              <a:ext uri="{FF2B5EF4-FFF2-40B4-BE49-F238E27FC236}">
                <a16:creationId xmlns:a16="http://schemas.microsoft.com/office/drawing/2014/main" id="{320CD3D5-14F4-4B29-B8D7-DF5946AAE62A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 el equilibrio variación lenta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9A2BCEE8-2B54-4CAF-AD3A-3EC7088B8F4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acústica alterna y produce vibración; la estática cambia la posición de equil…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2199F9E3-F7CB-4DCE-BEFB-683A0127565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91C8A741-37DB-41CC-AB2F-25C38CF11E4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trompa contribuye a equilibrar presión, ventilar y drenar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EBE1F5A-0374-4919-913C-F41710081A9B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apertura es intermitente y modifica condiciones del oído medio.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9D15232-EF29-46F8-9F7E-B23848341BA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026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8EDD17FB-E708-46F5-B7F3-29608D27F93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apertura es intermitente y modifica condiciones del oído medio.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Caja timpánica ↔ nasofaringe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funciones y límite no diagnóstico.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B732F11E-74FB-4C1B-A270-B22FA52FB20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apertura es intermitente y modifica condiciones del oído medio.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E63BB9C0-5462-4862-AC22-B5DBAEB0F4C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6.5.1; PDF p. 155; REF schilder2015; PO.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-title">
            <a:extLst>
              <a:ext uri="{FF2B5EF4-FFF2-40B4-BE49-F238E27FC236}">
                <a16:creationId xmlns:a16="http://schemas.microsoft.com/office/drawing/2014/main" id="{33AF0451-FBA1-452A-A588-E93C3CE55D3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Δp produce fuerza, el sistema determina movimiento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22221F3-273A-4ABE-86E3-F82EF8F43FF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027</a:t>
            </a:r>
          </a:p>
        </p:txBody>
      </p:sp>
      <p:sp>
        <p:nvSpPr>
          <p:cNvPr id="3" name="U06-DG-001-stage_1-anchor">
            <a:extLst>
              <a:ext uri="{FF2B5EF4-FFF2-40B4-BE49-F238E27FC236}">
                <a16:creationId xmlns:a16="http://schemas.microsoft.com/office/drawing/2014/main" id="{A6E8ACAD-F5DA-4388-9BCA-55AF74D89582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1-stage_2-anchor">
            <a:extLst>
              <a:ext uri="{FF2B5EF4-FFF2-40B4-BE49-F238E27FC236}">
                <a16:creationId xmlns:a16="http://schemas.microsoft.com/office/drawing/2014/main" id="{D5F269D4-EFED-45CC-83A8-F2698E6D3DA4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3-anchor">
            <a:extLst>
              <a:ext uri="{FF2B5EF4-FFF2-40B4-BE49-F238E27FC236}">
                <a16:creationId xmlns:a16="http://schemas.microsoft.com/office/drawing/2014/main" id="{8C4F3786-01AE-441C-8CDF-008B847EF22D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4-anchor">
            <a:extLst>
              <a:ext uri="{FF2B5EF4-FFF2-40B4-BE49-F238E27FC236}">
                <a16:creationId xmlns:a16="http://schemas.microsoft.com/office/drawing/2014/main" id="{BE37EDC4-B096-4E7A-BECE-CF77CF0B3625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5-anchor">
            <a:extLst>
              <a:ext uri="{FF2B5EF4-FFF2-40B4-BE49-F238E27FC236}">
                <a16:creationId xmlns:a16="http://schemas.microsoft.com/office/drawing/2014/main" id="{6710573F-CCAB-4524-AF57-F000051ADB93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6-anchor">
            <a:extLst>
              <a:ext uri="{FF2B5EF4-FFF2-40B4-BE49-F238E27FC236}">
                <a16:creationId xmlns:a16="http://schemas.microsoft.com/office/drawing/2014/main" id="{FFDE3D48-B009-43C5-9DCF-852BF19C6A04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2" name="U06-DG-001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6-DG-001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06-DG-001-flow_3"/>
          <p:cNvCxnSpPr>
            <a:stCxn id="5" idx="2"/>
            <a:endCxn id="6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4"/>
          <p:cNvCxnSpPr>
            <a:stCxn id="6" idx="1"/>
            <a:endCxn id="7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5"/>
          <p:cNvCxnSpPr>
            <a:stCxn id="7" idx="1"/>
            <a:endCxn id="8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01-stage_1-box" descr="Diagrama sobre «Hasta acá: `Δp` produce fuerza, el sistema determina movimiento»; organiza tres relaciones + pregunta “¿cómo se transfiere al fluido?”." title="Texto alternativo U06-027">
            <a:extLst>
              <a:ext uri="{FF2B5EF4-FFF2-40B4-BE49-F238E27FC236}">
                <a16:creationId xmlns:a16="http://schemas.microsoft.com/office/drawing/2014/main" id="{185160B5-1A79-4B2E-A210-FAAF1A68540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1-stage_1-title">
            <a:extLst>
              <a:ext uri="{FF2B5EF4-FFF2-40B4-BE49-F238E27FC236}">
                <a16:creationId xmlns:a16="http://schemas.microsoft.com/office/drawing/2014/main" id="{FB553E9D-52C8-4216-B5F4-F660A3101CCC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6" name="U06-DG-001-stage_1-body">
            <a:extLst>
              <a:ext uri="{FF2B5EF4-FFF2-40B4-BE49-F238E27FC236}">
                <a16:creationId xmlns:a16="http://schemas.microsoft.com/office/drawing/2014/main" id="{8BB264DD-7247-4F8C-A0EC-191C4AD615CC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7" name="U06-DG-001-stage_2-box">
            <a:extLst>
              <a:ext uri="{FF2B5EF4-FFF2-40B4-BE49-F238E27FC236}">
                <a16:creationId xmlns:a16="http://schemas.microsoft.com/office/drawing/2014/main" id="{A9DA2507-0B4F-4AAB-B3AA-2FD2729E2046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01-stage_2-title">
            <a:extLst>
              <a:ext uri="{FF2B5EF4-FFF2-40B4-BE49-F238E27FC236}">
                <a16:creationId xmlns:a16="http://schemas.microsoft.com/office/drawing/2014/main" id="{455F76FF-0B64-4175-BBB3-F6E3F2D67C7B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19" name="U06-DG-001-stage_2-body">
            <a:extLst>
              <a:ext uri="{FF2B5EF4-FFF2-40B4-BE49-F238E27FC236}">
                <a16:creationId xmlns:a16="http://schemas.microsoft.com/office/drawing/2014/main" id="{BD3A1AD8-BB85-425E-A0D7-014CF99A6EEE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0" name="U06-DG-001-stage_3-box">
            <a:extLst>
              <a:ext uri="{FF2B5EF4-FFF2-40B4-BE49-F238E27FC236}">
                <a16:creationId xmlns:a16="http://schemas.microsoft.com/office/drawing/2014/main" id="{C85FFFDE-AEF2-4BEC-AF47-E1B83C21DB7F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1" name="U06-DG-001-stage_3-title">
            <a:extLst>
              <a:ext uri="{FF2B5EF4-FFF2-40B4-BE49-F238E27FC236}">
                <a16:creationId xmlns:a16="http://schemas.microsoft.com/office/drawing/2014/main" id="{49A1B757-A883-41E1-9BD3-36A4B71E8492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01-stage_3-body">
            <a:extLst>
              <a:ext uri="{FF2B5EF4-FFF2-40B4-BE49-F238E27FC236}">
                <a16:creationId xmlns:a16="http://schemas.microsoft.com/office/drawing/2014/main" id="{57416C75-86C3-4F48-B243-F7DDF5DEE106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3" name="U06-DG-001-stage_4-box">
            <a:extLst>
              <a:ext uri="{FF2B5EF4-FFF2-40B4-BE49-F238E27FC236}">
                <a16:creationId xmlns:a16="http://schemas.microsoft.com/office/drawing/2014/main" id="{61379367-DE21-479C-B635-99CCAF9BE1C5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4" name="U06-DG-001-stage_4-title">
            <a:extLst>
              <a:ext uri="{FF2B5EF4-FFF2-40B4-BE49-F238E27FC236}">
                <a16:creationId xmlns:a16="http://schemas.microsoft.com/office/drawing/2014/main" id="{5CBC3A94-DBD6-4B93-AA34-959A1C34F8D1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5" name="U06-DG-001-stage_4-body">
            <a:extLst>
              <a:ext uri="{FF2B5EF4-FFF2-40B4-BE49-F238E27FC236}">
                <a16:creationId xmlns:a16="http://schemas.microsoft.com/office/drawing/2014/main" id="{F8337622-16F6-4322-BE0F-36BB2EB233C4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6" name="U06-DG-001-stage_5-box">
            <a:extLst>
              <a:ext uri="{FF2B5EF4-FFF2-40B4-BE49-F238E27FC236}">
                <a16:creationId xmlns:a16="http://schemas.microsoft.com/office/drawing/2014/main" id="{C5AB2F2C-FE9C-448B-B66E-5CB1264DECCC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7" name="U06-DG-001-stage_5-title">
            <a:extLst>
              <a:ext uri="{FF2B5EF4-FFF2-40B4-BE49-F238E27FC236}">
                <a16:creationId xmlns:a16="http://schemas.microsoft.com/office/drawing/2014/main" id="{4F14F0D6-E339-4D06-A6F4-C5A193A26D20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8" name="U06-DG-001-stage_5-body">
            <a:extLst>
              <a:ext uri="{FF2B5EF4-FFF2-40B4-BE49-F238E27FC236}">
                <a16:creationId xmlns:a16="http://schemas.microsoft.com/office/drawing/2014/main" id="{B1A5A3E1-4A11-4229-8A94-4DD59C28BF98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29" name="U06-DG-001-stage_6-box">
            <a:extLst>
              <a:ext uri="{FF2B5EF4-FFF2-40B4-BE49-F238E27FC236}">
                <a16:creationId xmlns:a16="http://schemas.microsoft.com/office/drawing/2014/main" id="{406E13F3-E7EE-4B92-9EA5-107999FDED44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01-stage_6-title">
            <a:extLst>
              <a:ext uri="{FF2B5EF4-FFF2-40B4-BE49-F238E27FC236}">
                <a16:creationId xmlns:a16="http://schemas.microsoft.com/office/drawing/2014/main" id="{F275385F-4E38-4AF5-A770-7B4E54D16909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1" name="U06-DG-001-stage_6-body">
            <a:extLst>
              <a:ext uri="{FF2B5EF4-FFF2-40B4-BE49-F238E27FC236}">
                <a16:creationId xmlns:a16="http://schemas.microsoft.com/office/drawing/2014/main" id="{F5C5FBCC-B493-43F1-B959-B6BE176582F9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6E2812A1-A576-4369-B364-B038B0A25F4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Presión, fuerza y desplazamiento están conectados, pero exigen modelos distintos.</a:t>
            </a:r>
          </a:p>
        </p:txBody>
      </p:sp>
      <p:sp>
        <p:nvSpPr>
          <p:cNvPr id="33" name="credit">
            <a:extLst>
              <a:ext uri="{FF2B5EF4-FFF2-40B4-BE49-F238E27FC236}">
                <a16:creationId xmlns:a16="http://schemas.microsoft.com/office/drawing/2014/main" id="{E57B6CB7-54FB-461D-B903-2F2D12337AF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391C0FE7-2FDC-4313-B562-52D4F2C44AE5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028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A7475F6D-56BD-4575-8D82-BA4299A91B90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Transferir hacia un fluido exige transformar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E95C8BA2-F243-4DD3-A2FC-B9293EF66E54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mejora el oído medio la transferencia hacia la cóclea sin crear energía?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8373B1A7-3464-48ED-9C43-C7DF2BF7765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Martillo, yunque y estribo forman una cadena funcional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54997CC-5CDB-485B-B2DD-3EDF7931597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martillo recibe; el yunque transmite; el estribo actúa en la ventana oval.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CFE13A7-20E8-4793-8000-F67080D8D64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029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D77FED9D-B7CF-4C11-8C99-6A24694010BC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martillo recibe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yunque transmite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estribo actúa en la ventana oval.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Caja, huesecillos, ventana oval/redonda y trompa en una ruta funcional.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0016DD0F-803A-4008-85ED-F0D21B03B3C1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martillo recibe; el yunque transmite; el estribo actúa en la ventana oval.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3593B7B8-F4CB-44A1-AE7A-0921853B671A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6.5.1; PDF p. 155, fig. 6.2.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73ED178F-B15A-4225-AD9D-30A3E0CF915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Aire y fluidos presentan cargas mecánicas diferentes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48EA960-D278-4A35-B5B9-545FC65A386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Sin transformación, una fracción importante de energía se refleja.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C051B0B-4D6C-4FFD-9BE3-EDD2E7EB88A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030</a:t>
            </a:r>
          </a:p>
        </p:txBody>
      </p:sp>
      <p:sp>
        <p:nvSpPr>
          <p:cNvPr id="4" name="U06-DG-016-central-anchor">
            <a:extLst>
              <a:ext uri="{FF2B5EF4-FFF2-40B4-BE49-F238E27FC236}">
                <a16:creationId xmlns:a16="http://schemas.microsoft.com/office/drawing/2014/main" id="{70B6215A-7C4B-4C1D-829F-76EFA8531956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6-branch_1-anchor">
            <a:extLst>
              <a:ext uri="{FF2B5EF4-FFF2-40B4-BE49-F238E27FC236}">
                <a16:creationId xmlns:a16="http://schemas.microsoft.com/office/drawing/2014/main" id="{03605C8B-D0AE-4A56-A19C-27F39963EA6E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6-branch_2-anchor">
            <a:extLst>
              <a:ext uri="{FF2B5EF4-FFF2-40B4-BE49-F238E27FC236}">
                <a16:creationId xmlns:a16="http://schemas.microsoft.com/office/drawing/2014/main" id="{AFAE6883-11F9-491C-B99D-FECD93E547A2}"/>
              </a:ext>
            </a:extLst>
          </p:cNvPr>
          <p:cNvSpPr>
            <a:spLocks noGrp="1"/>
          </p:cNvSpPr>
          <p:nvPr/>
        </p:nvSpPr>
        <p:spPr>
          <a:xfrm>
            <a:off x="439420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16-branch_3-anchor">
            <a:extLst>
              <a:ext uri="{FF2B5EF4-FFF2-40B4-BE49-F238E27FC236}">
                <a16:creationId xmlns:a16="http://schemas.microsoft.com/office/drawing/2014/main" id="{FF9DDE4C-CFA9-4F35-85F5-06B301797D7A}"/>
              </a:ext>
            </a:extLst>
          </p:cNvPr>
          <p:cNvSpPr>
            <a:spLocks noGrp="1"/>
          </p:cNvSpPr>
          <p:nvPr/>
        </p:nvSpPr>
        <p:spPr>
          <a:xfrm>
            <a:off x="800735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16-branch_edge_1"/>
          <p:cNvCxnSpPr>
            <a:stCxn id="4" idx="1"/>
            <a:endCxn id="5" idx="3"/>
          </p:cNvCxnSpPr>
          <p:nvPr/>
        </p:nvCxnSpPr>
        <p:spPr>
          <a:xfrm>
            <a:off x="3714750" y="2024063"/>
            <a:ext cx="46990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16-branch_edge_2"/>
          <p:cNvCxnSpPr>
            <a:stCxn id="4" idx="2"/>
            <a:endCxn id="6" idx="0"/>
          </p:cNvCxnSpPr>
          <p:nvPr/>
        </p:nvCxnSpPr>
        <p:spPr>
          <a:xfrm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16-branch_edge_3"/>
          <p:cNvCxnSpPr>
            <a:stCxn id="4" idx="3"/>
            <a:endCxn id="7" idx="1"/>
          </p:cNvCxnSpPr>
          <p:nvPr/>
        </p:nvCxnSpPr>
        <p:spPr>
          <a:xfrm flipH="1">
            <a:off x="8007350" y="2024063"/>
            <a:ext cx="46990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16-central-box" descr="Diagrama sobre «Aire y fluidos presentan cargas mecánicas diferentes»; organiza dos medios, interfaz y destinos: reflexión/transferencia; sin coeficientes numéricos." title="Texto alternativo U06-030">
            <a:extLst>
              <a:ext uri="{FF2B5EF4-FFF2-40B4-BE49-F238E27FC236}">
                <a16:creationId xmlns:a16="http://schemas.microsoft.com/office/drawing/2014/main" id="{1D7FD487-67E6-4C9A-8572-5B0B754967FF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16-central-title">
            <a:extLst>
              <a:ext uri="{FF2B5EF4-FFF2-40B4-BE49-F238E27FC236}">
                <a16:creationId xmlns:a16="http://schemas.microsoft.com/office/drawing/2014/main" id="{933A64D7-EDC7-4858-9A66-1403E8ED26A1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Interfaz aire–fluido</a:t>
            </a:r>
          </a:p>
        </p:txBody>
      </p:sp>
      <p:sp>
        <p:nvSpPr>
          <p:cNvPr id="13" name="U06-DG-016-central-body">
            <a:extLst>
              <a:ext uri="{FF2B5EF4-FFF2-40B4-BE49-F238E27FC236}">
                <a16:creationId xmlns:a16="http://schemas.microsoft.com/office/drawing/2014/main" id="{68455A95-D298-4474-A365-F8C3272BD563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desadaptación</a:t>
            </a:r>
          </a:p>
        </p:txBody>
      </p:sp>
      <p:sp>
        <p:nvSpPr>
          <p:cNvPr id="14" name="U06-DG-016-branch_1-box">
            <a:extLst>
              <a:ext uri="{FF2B5EF4-FFF2-40B4-BE49-F238E27FC236}">
                <a16:creationId xmlns:a16="http://schemas.microsoft.com/office/drawing/2014/main" id="{A7AE29FF-0CE1-4424-8374-283F008EA070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16-branch_1-title">
            <a:extLst>
              <a:ext uri="{FF2B5EF4-FFF2-40B4-BE49-F238E27FC236}">
                <a16:creationId xmlns:a16="http://schemas.microsoft.com/office/drawing/2014/main" id="{1F535EB1-8B89-4B62-B888-60E28B754B37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en aire</a:t>
            </a:r>
          </a:p>
        </p:txBody>
      </p:sp>
      <p:sp>
        <p:nvSpPr>
          <p:cNvPr id="16" name="U06-DG-016-branch_1-body">
            <a:extLst>
              <a:ext uri="{FF2B5EF4-FFF2-40B4-BE49-F238E27FC236}">
                <a16:creationId xmlns:a16="http://schemas.microsoft.com/office/drawing/2014/main" id="{C2094C58-949D-4459-90FB-E53E8C3D3565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7" name="U06-DG-016-branch_2-box">
            <a:extLst>
              <a:ext uri="{FF2B5EF4-FFF2-40B4-BE49-F238E27FC236}">
                <a16:creationId xmlns:a16="http://schemas.microsoft.com/office/drawing/2014/main" id="{F5EAB7F0-45C9-4DD9-ADBA-4F4F3E5D5DFF}"/>
              </a:ext>
            </a:extLst>
          </p:cNvPr>
          <p:cNvSpPr>
            <a:spLocks noGrp="1"/>
          </p:cNvSpPr>
          <p:nvPr/>
        </p:nvSpPr>
        <p:spPr>
          <a:xfrm>
            <a:off x="439420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16-branch_2-title">
            <a:extLst>
              <a:ext uri="{FF2B5EF4-FFF2-40B4-BE49-F238E27FC236}">
                <a16:creationId xmlns:a16="http://schemas.microsoft.com/office/drawing/2014/main" id="{227D9533-79B0-4CA4-9C81-71DA22D46C7D}"/>
              </a:ext>
            </a:extLst>
          </p:cNvPr>
          <p:cNvSpPr>
            <a:spLocks noGrp="1"/>
          </p:cNvSpPr>
          <p:nvPr/>
        </p:nvSpPr>
        <p:spPr>
          <a:xfrm>
            <a:off x="458470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Transferencia</a:t>
            </a:r>
          </a:p>
        </p:txBody>
      </p:sp>
      <p:sp>
        <p:nvSpPr>
          <p:cNvPr id="19" name="U06-DG-016-branch_2-body">
            <a:extLst>
              <a:ext uri="{FF2B5EF4-FFF2-40B4-BE49-F238E27FC236}">
                <a16:creationId xmlns:a16="http://schemas.microsoft.com/office/drawing/2014/main" id="{FFE7DFE0-908E-4290-8BD1-7CD17BF5D446}"/>
              </a:ext>
            </a:extLst>
          </p:cNvPr>
          <p:cNvSpPr>
            <a:spLocks noGrp="1"/>
          </p:cNvSpPr>
          <p:nvPr/>
        </p:nvSpPr>
        <p:spPr>
          <a:xfrm>
            <a:off x="458470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fluido</a:t>
            </a:r>
          </a:p>
        </p:txBody>
      </p:sp>
      <p:sp>
        <p:nvSpPr>
          <p:cNvPr id="20" name="U06-DG-016-branch_3-box">
            <a:extLst>
              <a:ext uri="{FF2B5EF4-FFF2-40B4-BE49-F238E27FC236}">
                <a16:creationId xmlns:a16="http://schemas.microsoft.com/office/drawing/2014/main" id="{0EEB70C1-FD73-4645-89CD-9C65050B88F0}"/>
              </a:ext>
            </a:extLst>
          </p:cNvPr>
          <p:cNvSpPr>
            <a:spLocks noGrp="1"/>
          </p:cNvSpPr>
          <p:nvPr/>
        </p:nvSpPr>
        <p:spPr>
          <a:xfrm>
            <a:off x="800735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16-branch_3-title">
            <a:extLst>
              <a:ext uri="{FF2B5EF4-FFF2-40B4-BE49-F238E27FC236}">
                <a16:creationId xmlns:a16="http://schemas.microsoft.com/office/drawing/2014/main" id="{C24BF48E-3B25-4C68-A1E2-8B27EC482574}"/>
              </a:ext>
            </a:extLst>
          </p:cNvPr>
          <p:cNvSpPr>
            <a:spLocks noGrp="1"/>
          </p:cNvSpPr>
          <p:nvPr/>
        </p:nvSpPr>
        <p:spPr>
          <a:xfrm>
            <a:off x="819785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2" name="U06-DG-016-branch_3-body">
            <a:extLst>
              <a:ext uri="{FF2B5EF4-FFF2-40B4-BE49-F238E27FC236}">
                <a16:creationId xmlns:a16="http://schemas.microsoft.com/office/drawing/2014/main" id="{603F4003-C801-414F-B0A2-425C51FBD38E}"/>
              </a:ext>
            </a:extLst>
          </p:cNvPr>
          <p:cNvSpPr>
            <a:spLocks noGrp="1"/>
          </p:cNvSpPr>
          <p:nvPr/>
        </p:nvSpPr>
        <p:spPr>
          <a:xfrm>
            <a:off x="819785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aire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A1FC273A-0A45-402B-B3E1-2B2C0A7277E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Sin transformación, una fracción importante de energía se refleja.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3B081B07-5364-4811-85FB-D79549C91F88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FB223F65-438E-406E-892C-91A8C1ACB0E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recursos colaboran en la transformación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9C6A22C-E69D-4B1A-B5B7-207D716A781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Área menor y acción de palanca cambian fuerza, presión y desplazamiento.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5BEBB09-9BD6-4D96-B3EA-746D71C3366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031</a:t>
            </a:r>
          </a:p>
        </p:txBody>
      </p:sp>
      <p:sp>
        <p:nvSpPr>
          <p:cNvPr id="4" name="U06-DG-017-stage_1-anchor">
            <a:extLst>
              <a:ext uri="{FF2B5EF4-FFF2-40B4-BE49-F238E27FC236}">
                <a16:creationId xmlns:a16="http://schemas.microsoft.com/office/drawing/2014/main" id="{A2395CCE-8B3F-42D7-8C29-65F951ADC02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7-stage_2-anchor">
            <a:extLst>
              <a:ext uri="{FF2B5EF4-FFF2-40B4-BE49-F238E27FC236}">
                <a16:creationId xmlns:a16="http://schemas.microsoft.com/office/drawing/2014/main" id="{275107FA-7D85-401D-BBE3-20690E4ACC06}"/>
              </a:ext>
            </a:extLst>
          </p:cNvPr>
          <p:cNvSpPr>
            <a:spLocks noGrp="1"/>
          </p:cNvSpPr>
          <p:nvPr/>
        </p:nvSpPr>
        <p:spPr>
          <a:xfrm>
            <a:off x="44259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7-stage_3-anchor">
            <a:extLst>
              <a:ext uri="{FF2B5EF4-FFF2-40B4-BE49-F238E27FC236}">
                <a16:creationId xmlns:a16="http://schemas.microsoft.com/office/drawing/2014/main" id="{F8B78297-43D5-46F1-BB25-A9993148368F}"/>
              </a:ext>
            </a:extLst>
          </p:cNvPr>
          <p:cNvSpPr>
            <a:spLocks noGrp="1"/>
          </p:cNvSpPr>
          <p:nvPr/>
        </p:nvSpPr>
        <p:spPr>
          <a:xfrm>
            <a:off x="80708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26" name="U06-DG-017-flow_1"/>
          <p:cNvCxnSpPr>
            <a:stCxn id="4" idx="3"/>
            <a:endCxn id="5" idx="1"/>
          </p:cNvCxnSpPr>
          <p:nvPr/>
        </p:nvCxnSpPr>
        <p:spPr>
          <a:xfrm>
            <a:off x="412115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U06-DG-017-flow_2"/>
          <p:cNvCxnSpPr>
            <a:stCxn id="5" idx="3"/>
            <a:endCxn id="6" idx="1"/>
          </p:cNvCxnSpPr>
          <p:nvPr/>
        </p:nvCxnSpPr>
        <p:spPr>
          <a:xfrm>
            <a:off x="776605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17-stage_1-box" descr="Diagrama sobre «Dos recursos colaboran en la transformación»; organiza 1) diferencia de áreas; 2) geometría martillo–yunque; 3) carga coclear." title="Texto alternativo U06-031">
            <a:extLst>
              <a:ext uri="{FF2B5EF4-FFF2-40B4-BE49-F238E27FC236}">
                <a16:creationId xmlns:a16="http://schemas.microsoft.com/office/drawing/2014/main" id="{1D2FED33-259C-4229-86F6-5E1A23FF76C4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U06-DG-017-stage_1-title">
            <a:extLst>
              <a:ext uri="{FF2B5EF4-FFF2-40B4-BE49-F238E27FC236}">
                <a16:creationId xmlns:a16="http://schemas.microsoft.com/office/drawing/2014/main" id="{4EDFBD38-ED09-496B-98E6-F0BF20ACAE41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Relación de áreas</a:t>
            </a:r>
          </a:p>
        </p:txBody>
      </p:sp>
      <p:sp>
        <p:nvSpPr>
          <p:cNvPr id="11" name="U06-DG-017-stage_1-body">
            <a:extLst>
              <a:ext uri="{FF2B5EF4-FFF2-40B4-BE49-F238E27FC236}">
                <a16:creationId xmlns:a16="http://schemas.microsoft.com/office/drawing/2014/main" id="{DDDD1A9A-CFD1-4217-B842-16C41A81D5AF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concentra presión</a:t>
            </a:r>
          </a:p>
        </p:txBody>
      </p:sp>
      <p:sp>
        <p:nvSpPr>
          <p:cNvPr id="12" name="U06-DG-017-stage_2-box">
            <a:extLst>
              <a:ext uri="{FF2B5EF4-FFF2-40B4-BE49-F238E27FC236}">
                <a16:creationId xmlns:a16="http://schemas.microsoft.com/office/drawing/2014/main" id="{5F0A92AD-EE2F-423C-A9A7-4C1A8337CA86}"/>
              </a:ext>
            </a:extLst>
          </p:cNvPr>
          <p:cNvSpPr>
            <a:spLocks noGrp="1"/>
          </p:cNvSpPr>
          <p:nvPr/>
        </p:nvSpPr>
        <p:spPr>
          <a:xfrm>
            <a:off x="44259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U06-DG-017-stage_2-title">
            <a:extLst>
              <a:ext uri="{FF2B5EF4-FFF2-40B4-BE49-F238E27FC236}">
                <a16:creationId xmlns:a16="http://schemas.microsoft.com/office/drawing/2014/main" id="{46F0C7FD-5B67-41D8-B280-3AB829449817}"/>
              </a:ext>
            </a:extLst>
          </p:cNvPr>
          <p:cNvSpPr>
            <a:spLocks noGrp="1"/>
          </p:cNvSpPr>
          <p:nvPr/>
        </p:nvSpPr>
        <p:spPr>
          <a:xfrm>
            <a:off x="46164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Palanca osicular</a:t>
            </a:r>
          </a:p>
        </p:txBody>
      </p:sp>
      <p:sp>
        <p:nvSpPr>
          <p:cNvPr id="14" name="U06-DG-017-stage_2-body">
            <a:extLst>
              <a:ext uri="{FF2B5EF4-FFF2-40B4-BE49-F238E27FC236}">
                <a16:creationId xmlns:a16="http://schemas.microsoft.com/office/drawing/2014/main" id="{277456F8-3CDB-4CF0-AF5B-FE7CD68AEF8C}"/>
              </a:ext>
            </a:extLst>
          </p:cNvPr>
          <p:cNvSpPr>
            <a:spLocks noGrp="1"/>
          </p:cNvSpPr>
          <p:nvPr/>
        </p:nvSpPr>
        <p:spPr>
          <a:xfrm>
            <a:off x="46164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intercambia fuerza y movimiento</a:t>
            </a:r>
          </a:p>
        </p:txBody>
      </p:sp>
      <p:sp>
        <p:nvSpPr>
          <p:cNvPr id="15" name="U06-DG-017-stage_3-box">
            <a:extLst>
              <a:ext uri="{FF2B5EF4-FFF2-40B4-BE49-F238E27FC236}">
                <a16:creationId xmlns:a16="http://schemas.microsoft.com/office/drawing/2014/main" id="{315BC166-DB22-4773-B88A-B03A050CE70D}"/>
              </a:ext>
            </a:extLst>
          </p:cNvPr>
          <p:cNvSpPr>
            <a:spLocks noGrp="1"/>
          </p:cNvSpPr>
          <p:nvPr/>
        </p:nvSpPr>
        <p:spPr>
          <a:xfrm>
            <a:off x="80708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17-stage_3-title">
            <a:extLst>
              <a:ext uri="{FF2B5EF4-FFF2-40B4-BE49-F238E27FC236}">
                <a16:creationId xmlns:a16="http://schemas.microsoft.com/office/drawing/2014/main" id="{43791F26-57AD-4D83-9ED2-604190537F47}"/>
              </a:ext>
            </a:extLst>
          </p:cNvPr>
          <p:cNvSpPr>
            <a:spLocks noGrp="1"/>
          </p:cNvSpPr>
          <p:nvPr/>
        </p:nvSpPr>
        <p:spPr>
          <a:xfrm>
            <a:off x="82613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 oval</a:t>
            </a:r>
          </a:p>
        </p:txBody>
      </p:sp>
      <p:sp>
        <p:nvSpPr>
          <p:cNvPr id="17" name="U06-DG-017-stage_3-body">
            <a:extLst>
              <a:ext uri="{FF2B5EF4-FFF2-40B4-BE49-F238E27FC236}">
                <a16:creationId xmlns:a16="http://schemas.microsoft.com/office/drawing/2014/main" id="{7F030924-AE33-4DC1-BFEA-0919D516ED43}"/>
              </a:ext>
            </a:extLst>
          </p:cNvPr>
          <p:cNvSpPr>
            <a:spLocks noGrp="1"/>
          </p:cNvSpPr>
          <p:nvPr/>
        </p:nvSpPr>
        <p:spPr>
          <a:xfrm>
            <a:off x="82613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al fluido</a:t>
            </a:r>
          </a:p>
        </p:txBody>
      </p:sp>
      <p:sp>
        <p:nvSpPr>
          <p:cNvPr id="18" name="caption">
            <a:extLst>
              <a:ext uri="{FF2B5EF4-FFF2-40B4-BE49-F238E27FC236}">
                <a16:creationId xmlns:a16="http://schemas.microsoft.com/office/drawing/2014/main" id="{417F813C-7167-448A-88C1-4F1B4A28519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Área menor y acción de palanca cambian fuerza, presión y desplazamiento.</a:t>
            </a:r>
          </a:p>
        </p:txBody>
      </p:sp>
      <p:sp>
        <p:nvSpPr>
          <p:cNvPr id="19" name="credit">
            <a:extLst>
              <a:ext uri="{FF2B5EF4-FFF2-40B4-BE49-F238E27FC236}">
                <a16:creationId xmlns:a16="http://schemas.microsoft.com/office/drawing/2014/main" id="{27E0BB15-1E9B-4FDF-8E06-0A9A9401208A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1D4681E7-147D-485F-844F-62E47B4A105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razón de áreas compara superficies efectivas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EA530B6-EC23-404D-8084-F47A0E5BF77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misma fuerza sobre menor área produce mayor presión ideal.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D793311-C23C-401F-9A54-6EE2216D138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032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EAE104CB-910E-4E59-AD12-34695F66361B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F3964BE7-F5B9-4014-9430-325C2C12689C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Rₛ = Sₜₘ/Sₑ; razón adimensional.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6F7CD42B-B8CB-4AAA-9F62-E8A35AE3BED1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A703253E-1773-4EA0-A6E5-9C0845CE69CF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8C7BF06C-E5FC-47BB-B422-97032A1E9F5C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Razón de áreas: cociente entre superficies efectivas; no tiene unidad.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90A63D03-DFD9-46BD-8E26-46C7CD06EB59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DB0913DF-B348-42CD-8756-FE9E1C14EBEC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57C41519-CDDB-452C-93A0-FC3E200EDE85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Rₛ = Sₜₘ/Sₑ. Las dos áreas se expresan en la misma unidad, por lo que el cociente es adimensional. No representa dimensiones anatómicas universales.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140E6805-31D5-4075-A4C2-76DCB1C151B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misma fuerza sobre menor área produce mayor presión ideal.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73F8A8E4-4095-48AB-A0DF-F584FE3AB686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ec. 6.3; PDF p. 156; NOT; OD-U06-07.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86ACD4FE-5CA7-4405-AC5D-A95D9F531BE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palanca cambia fuerza y desplazamiento en sentidos opuestos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91E1F411-901D-41A9-A58D-B4EC90FE2E2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033</a:t>
            </a:r>
          </a:p>
        </p:txBody>
      </p:sp>
      <p:sp>
        <p:nvSpPr>
          <p:cNvPr id="3" name="U06-DG-019-panel_left-anchor">
            <a:extLst>
              <a:ext uri="{FF2B5EF4-FFF2-40B4-BE49-F238E27FC236}">
                <a16:creationId xmlns:a16="http://schemas.microsoft.com/office/drawing/2014/main" id="{B89DC702-1BC3-481F-9A97-DC1D9878E2B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9-panel_right-anchor">
            <a:extLst>
              <a:ext uri="{FF2B5EF4-FFF2-40B4-BE49-F238E27FC236}">
                <a16:creationId xmlns:a16="http://schemas.microsoft.com/office/drawing/2014/main" id="{A8483B56-C839-44C4-B011-1AFB5A9DCF18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9-panel_left-box" descr="Diagrama sobre «La palanca cambia fuerza y desplazamiento en sentidos opuestos»; organiza brazos efectivos, fuerza de entrada/salida y sentido del intercambio." title="Texto alternativo U06-033">
            <a:extLst>
              <a:ext uri="{FF2B5EF4-FFF2-40B4-BE49-F238E27FC236}">
                <a16:creationId xmlns:a16="http://schemas.microsoft.com/office/drawing/2014/main" id="{BBFF5418-E38A-4D65-9499-E33F49F13F61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U06-DG-019-panel_left-title">
            <a:extLst>
              <a:ext uri="{FF2B5EF4-FFF2-40B4-BE49-F238E27FC236}">
                <a16:creationId xmlns:a16="http://schemas.microsoft.com/office/drawing/2014/main" id="{EB56962A-C6A1-49AB-A7D3-AB278FF28839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Brazo de entrada</a:t>
            </a:r>
          </a:p>
        </p:txBody>
      </p:sp>
      <p:sp>
        <p:nvSpPr>
          <p:cNvPr id="7" name="U06-DG-019-panel_left-body">
            <a:extLst>
              <a:ext uri="{FF2B5EF4-FFF2-40B4-BE49-F238E27FC236}">
                <a16:creationId xmlns:a16="http://schemas.microsoft.com/office/drawing/2014/main" id="{9654891A-202C-4494-8AF5-DD98BF983D3B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mayor desplazamiento menor fuerza</a:t>
            </a:r>
          </a:p>
        </p:txBody>
      </p:sp>
      <p:sp>
        <p:nvSpPr>
          <p:cNvPr id="8" name="U06-DG-019-panel_right-box">
            <a:extLst>
              <a:ext uri="{FF2B5EF4-FFF2-40B4-BE49-F238E27FC236}">
                <a16:creationId xmlns:a16="http://schemas.microsoft.com/office/drawing/2014/main" id="{58F32699-493B-4F87-9C52-3B186618A466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U06-DG-019-panel_right-title">
            <a:extLst>
              <a:ext uri="{FF2B5EF4-FFF2-40B4-BE49-F238E27FC236}">
                <a16:creationId xmlns:a16="http://schemas.microsoft.com/office/drawing/2014/main" id="{7D73D518-B4FE-460B-9516-B944D4CBBDB4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Brazo de salida</a:t>
            </a:r>
          </a:p>
        </p:txBody>
      </p:sp>
      <p:sp>
        <p:nvSpPr>
          <p:cNvPr id="10" name="U06-DG-019-panel_right-body">
            <a:extLst>
              <a:ext uri="{FF2B5EF4-FFF2-40B4-BE49-F238E27FC236}">
                <a16:creationId xmlns:a16="http://schemas.microsoft.com/office/drawing/2014/main" id="{378D49D4-F44A-40C5-879C-29B1C3ADFC67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desplazamiento mayor fuerza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D4E9A7A6-8B61-4EB4-B674-51EAEE7A2B9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Mayor fuerza ideal de salida se acompaña por menor desplazamiento o velocidad.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552B2D94-B449-4929-8C50-7ABC34835790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C1874E34-4642-4791-AD04-62772DE9FA4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transformación ideal combina áreas y palanca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FAD197B-3908-4BAB-A4DB-8BD89A48459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razón de presiones del modelo no debe llamarse como el coeficiente Rₚ de U4.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5C15FCC-FDEF-4824-A5CE-4D276C3F17F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034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48FE5BCC-953B-454E-96FB-07D01B0801AB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096CBE6E-E980-4545-B4F5-FAD391C2B5A7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Mₚ ≈ Rₛ·Rₗ; Mₚ, Rₛ y Rₗ son adimensionales.</a:t>
            </a:r>
          </a:p>
        </p:txBody>
      </p:sp>
      <p:sp>
        <p:nvSpPr>
          <p:cNvPr id="6" name="equation-interpretation-box">
            <a:extLst>
              <a:ext uri="{FF2B5EF4-FFF2-40B4-BE49-F238E27FC236}">
                <a16:creationId xmlns:a16="http://schemas.microsoft.com/office/drawing/2014/main" id="{DE68141A-633C-482E-A2C4-CEF868C0C099}"/>
              </a:ext>
            </a:extLst>
          </p:cNvPr>
          <p:cNvSpPr>
            <a:spLocks noGrp="1"/>
          </p:cNvSpPr>
          <p:nvPr/>
        </p:nvSpPr>
        <p:spPr>
          <a:xfrm>
            <a:off x="1619250" y="3095625"/>
            <a:ext cx="89535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equation-interpretation-title">
            <a:extLst>
              <a:ext uri="{FF2B5EF4-FFF2-40B4-BE49-F238E27FC236}">
                <a16:creationId xmlns:a16="http://schemas.microsoft.com/office/drawing/2014/main" id="{DA4A78E6-7262-407C-A09A-7B72508C064C}"/>
              </a:ext>
            </a:extLst>
          </p:cNvPr>
          <p:cNvSpPr>
            <a:spLocks noGrp="1"/>
          </p:cNvSpPr>
          <p:nvPr/>
        </p:nvSpPr>
        <p:spPr>
          <a:xfrm>
            <a:off x="1790700" y="3228975"/>
            <a:ext cx="861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8" name="equation-interpretation-body">
            <a:extLst>
              <a:ext uri="{FF2B5EF4-FFF2-40B4-BE49-F238E27FC236}">
                <a16:creationId xmlns:a16="http://schemas.microsoft.com/office/drawing/2014/main" id="{D585B529-0073-45F6-B832-C8008B7BB701}"/>
              </a:ext>
            </a:extLst>
          </p:cNvPr>
          <p:cNvSpPr>
            <a:spLocks noGrp="1"/>
          </p:cNvSpPr>
          <p:nvPr/>
        </p:nvSpPr>
        <p:spPr>
          <a:xfrm>
            <a:off x="1790700" y="3629025"/>
            <a:ext cx="86106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razón de áreas y la razón de palanca se combinan en una razón ideal de presiones. El símbolo Mₚ evita confundir esta transformación con el coeficiente de reflexión Rₚ de U4.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EDD65A4D-FA66-427F-8B47-E5587F963073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razón de presiones del modelo no debe llamarse como el coeficiente Rₚ de U4.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010640D0-BD5C-40CF-BD35-2BB1EF362F2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ec. 6.4; PDF p. 156; NOT; OD-U06-08/09.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600D0682-D3FA-45CC-8472-E7FD628A8C6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Mayor presión no significa mayor energía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588D166-132D-4632-BBF2-633D1EBAAF2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Fuerza/presión aumentan a cambio de velocidad/desplazamiento; el oído real además pierde energía.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0C4CDCB-EA2F-4649-AE05-FF58B1A4D0C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035</a:t>
            </a:r>
          </a:p>
        </p:txBody>
      </p:sp>
      <p:sp>
        <p:nvSpPr>
          <p:cNvPr id="4" name="U06-DG-021-stage_1-anchor">
            <a:extLst>
              <a:ext uri="{FF2B5EF4-FFF2-40B4-BE49-F238E27FC236}">
                <a16:creationId xmlns:a16="http://schemas.microsoft.com/office/drawing/2014/main" id="{988EF572-E82A-4ECC-A696-FCD10F76676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1-stage_2-anchor">
            <a:extLst>
              <a:ext uri="{FF2B5EF4-FFF2-40B4-BE49-F238E27FC236}">
                <a16:creationId xmlns:a16="http://schemas.microsoft.com/office/drawing/2014/main" id="{9822CCF0-94D3-4ED7-9AD4-BA23DA286BF5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1-stage_3-anchor">
            <a:extLst>
              <a:ext uri="{FF2B5EF4-FFF2-40B4-BE49-F238E27FC236}">
                <a16:creationId xmlns:a16="http://schemas.microsoft.com/office/drawing/2014/main" id="{5CAF347B-80B8-49E9-AFA7-F6C63489B35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1-stage_4-anchor">
            <a:extLst>
              <a:ext uri="{FF2B5EF4-FFF2-40B4-BE49-F238E27FC236}">
                <a16:creationId xmlns:a16="http://schemas.microsoft.com/office/drawing/2014/main" id="{D4478CA6-8B22-49F3-96B0-C6C7BAD9B8E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21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21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21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21-stage_1-box" descr="Diagrama sobre «Mayor presión no significa mayor energía»; organiza balance cualitativo entrada–transformación–salida–pérdidas." title="Texto alternativo U06-035">
            <a:extLst>
              <a:ext uri="{FF2B5EF4-FFF2-40B4-BE49-F238E27FC236}">
                <a16:creationId xmlns:a16="http://schemas.microsoft.com/office/drawing/2014/main" id="{E7A69817-8DEE-4D5D-863B-EEF4345B6614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21-stage_1-title">
            <a:extLst>
              <a:ext uri="{FF2B5EF4-FFF2-40B4-BE49-F238E27FC236}">
                <a16:creationId xmlns:a16="http://schemas.microsoft.com/office/drawing/2014/main" id="{070CE1E3-73BA-4044-8F43-43B0BB513F7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3" name="U06-DG-021-stage_1-body">
            <a:extLst>
              <a:ext uri="{FF2B5EF4-FFF2-40B4-BE49-F238E27FC236}">
                <a16:creationId xmlns:a16="http://schemas.microsoft.com/office/drawing/2014/main" id="{E5C4F266-15CA-4F2B-8230-7A031FB72702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4" name="U06-DG-021-stage_2-box">
            <a:extLst>
              <a:ext uri="{FF2B5EF4-FFF2-40B4-BE49-F238E27FC236}">
                <a16:creationId xmlns:a16="http://schemas.microsoft.com/office/drawing/2014/main" id="{A9CDCF39-4CA1-47CC-BF92-1373FDA9EA91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21-stage_2-title">
            <a:extLst>
              <a:ext uri="{FF2B5EF4-FFF2-40B4-BE49-F238E27FC236}">
                <a16:creationId xmlns:a16="http://schemas.microsoft.com/office/drawing/2014/main" id="{D0A9C61A-8978-41F3-81BE-BB9F251248E1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6" name="U06-DG-021-stage_2-body">
            <a:extLst>
              <a:ext uri="{FF2B5EF4-FFF2-40B4-BE49-F238E27FC236}">
                <a16:creationId xmlns:a16="http://schemas.microsoft.com/office/drawing/2014/main" id="{CBCC0C5D-ACA3-4C31-A09C-E668D38134E0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transforma</a:t>
            </a:r>
          </a:p>
        </p:txBody>
      </p:sp>
      <p:sp>
        <p:nvSpPr>
          <p:cNvPr id="17" name="U06-DG-021-stage_3-box">
            <a:extLst>
              <a:ext uri="{FF2B5EF4-FFF2-40B4-BE49-F238E27FC236}">
                <a16:creationId xmlns:a16="http://schemas.microsoft.com/office/drawing/2014/main" id="{E48E2B6B-AD18-493C-8CE0-D49900CD67E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21-stage_3-title">
            <a:extLst>
              <a:ext uri="{FF2B5EF4-FFF2-40B4-BE49-F238E27FC236}">
                <a16:creationId xmlns:a16="http://schemas.microsoft.com/office/drawing/2014/main" id="{1625A536-6B76-44CF-B0C4-110CA6881C91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Entrada coclear</a:t>
            </a:r>
          </a:p>
        </p:txBody>
      </p:sp>
      <p:sp>
        <p:nvSpPr>
          <p:cNvPr id="19" name="U06-DG-021-stage_3-body">
            <a:extLst>
              <a:ext uri="{FF2B5EF4-FFF2-40B4-BE49-F238E27FC236}">
                <a16:creationId xmlns:a16="http://schemas.microsoft.com/office/drawing/2014/main" id="{8BEF690F-E369-4BD9-8392-FA1C656FAC26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transferida</a:t>
            </a:r>
          </a:p>
        </p:txBody>
      </p:sp>
      <p:sp>
        <p:nvSpPr>
          <p:cNvPr id="20" name="U06-DG-021-stage_4-box">
            <a:extLst>
              <a:ext uri="{FF2B5EF4-FFF2-40B4-BE49-F238E27FC236}">
                <a16:creationId xmlns:a16="http://schemas.microsoft.com/office/drawing/2014/main" id="{153A7509-E689-4F52-A048-38A0FBBDA69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21-stage_4-title">
            <a:extLst>
              <a:ext uri="{FF2B5EF4-FFF2-40B4-BE49-F238E27FC236}">
                <a16:creationId xmlns:a16="http://schemas.microsoft.com/office/drawing/2014/main" id="{AD0D4317-AC1E-4221-9104-70A71675DF68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Pérdidas</a:t>
            </a:r>
          </a:p>
        </p:txBody>
      </p:sp>
      <p:sp>
        <p:nvSpPr>
          <p:cNvPr id="22" name="U06-DG-021-stage_4-body">
            <a:extLst>
              <a:ext uri="{FF2B5EF4-FFF2-40B4-BE49-F238E27FC236}">
                <a16:creationId xmlns:a16="http://schemas.microsoft.com/office/drawing/2014/main" id="{34D77D34-41C3-44B9-B9FB-FECB37573802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· disipación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1321B935-AC40-4070-9C1F-5B0EE2B17F2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Fuerza/presión aumentan a cambio de velocidad/desplazamiento; el oído real ademá…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D887C784-150C-4275-8E16-3AF6FAC49D0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A848F2B6-21B5-4085-BFDB-3A990A22165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modelo ideal puede multiplicar la presión por 24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4F7B1F4-9963-4E04-95D5-B7E7525D093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20×1,2=24; expresarlo en dB no lo convierte en dB SPL ni energía.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27F1C1-9701-476E-A96E-CE841D94E1F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036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8074F67C-8806-449B-8CAA-F48BE7737F46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04C8F71F-A828-4B55-B1B2-AEE6735D3AAD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Mₚ ≈ 20×1,2 = 24; Gₚ = 20 log₁₀(24) ≈ 27,6 dB.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BBAF6161-6F26-4120-B114-B70FFDA9659B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021EBE72-CDB6-4047-96B3-CAC818FC455E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60E80B85-D8D5-4D3F-8B53-AAEFB95714A2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Mₚ ≈ 20×1,2 = 24. 2. Gₚ = 20 log₁₀(24) ≈ 27,6 dB. Interpretación: razón ideal de amplitudes; no dB SPL, no ganancia de energía, no respuesta universal.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BEDBD16D-2C9D-4CEC-B3D5-EFD61FC2DA35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9F1F1428-D75F-4074-9F12-E0796E39C4E2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E9CE4281-FABD-489E-B3D9-DCB04D9406DD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Razón de áreas 20 y razón de palanca 1,2: razón ideal de presión 24.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8B14A1DB-253C-435B-AFB7-2B7EE1F553CA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20×1,2=24; expresarlo en dB no lo convierte en dB SPL ni energía.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70ED68FA-50ED-4666-9070-D49DC132C380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6.5.3; PDF pp. 156–157; OD-U06-08/09.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AAF63AB-511A-4FE8-88D5-B7EB4D6B85A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en dB no es automáticamente dB SPL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0E5F85A-D753-4DA7-ABD7-21FA9B3C510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Faltan referencia y definición de magnitud para informar SPL.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C141781-81CD-4A08-9252-32AB153093B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037</a:t>
            </a:r>
          </a:p>
        </p:txBody>
      </p:sp>
      <p:sp>
        <p:nvSpPr>
          <p:cNvPr id="4" name="U06-DG-022-panel_left-anchor">
            <a:extLst>
              <a:ext uri="{FF2B5EF4-FFF2-40B4-BE49-F238E27FC236}">
                <a16:creationId xmlns:a16="http://schemas.microsoft.com/office/drawing/2014/main" id="{7373EDB4-C913-4620-BFB0-D059387A0777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2-panel_right-anchor">
            <a:extLst>
              <a:ext uri="{FF2B5EF4-FFF2-40B4-BE49-F238E27FC236}">
                <a16:creationId xmlns:a16="http://schemas.microsoft.com/office/drawing/2014/main" id="{42D04084-2C3C-44F4-988F-2F7E77D333A5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2-panel_left-box" descr="Diagrama sobre «Una razón en dB no es automáticamente dB SPL»; organiza comparación `20 log10(p2/p1)` frente a `20 log10(p_rms/p_ref)`." title="Texto alternativo U06-037">
            <a:extLst>
              <a:ext uri="{FF2B5EF4-FFF2-40B4-BE49-F238E27FC236}">
                <a16:creationId xmlns:a16="http://schemas.microsoft.com/office/drawing/2014/main" id="{1D70E390-E844-451E-872C-AFE0A8897A68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U06-DG-022-panel_left-title">
            <a:extLst>
              <a:ext uri="{FF2B5EF4-FFF2-40B4-BE49-F238E27FC236}">
                <a16:creationId xmlns:a16="http://schemas.microsoft.com/office/drawing/2014/main" id="{11C1EFA2-7FF7-4DB2-82D9-5628DF538615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Razón entre presiones</a:t>
            </a:r>
          </a:p>
        </p:txBody>
      </p:sp>
      <p:sp>
        <p:nvSpPr>
          <p:cNvPr id="8" name="U06-DG-022-panel_left-body">
            <a:extLst>
              <a:ext uri="{FF2B5EF4-FFF2-40B4-BE49-F238E27FC236}">
                <a16:creationId xmlns:a16="http://schemas.microsoft.com/office/drawing/2014/main" id="{1507E35E-A300-4586-AF32-727732D06782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log₁₀(p₂/p₁) referencia: p₁</a:t>
            </a:r>
          </a:p>
        </p:txBody>
      </p:sp>
      <p:sp>
        <p:nvSpPr>
          <p:cNvPr id="9" name="U06-DG-022-panel_right-box">
            <a:extLst>
              <a:ext uri="{FF2B5EF4-FFF2-40B4-BE49-F238E27FC236}">
                <a16:creationId xmlns:a16="http://schemas.microsoft.com/office/drawing/2014/main" id="{D936B188-5D20-48DC-B4BE-B2636C58AF96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22-panel_right-title">
            <a:extLst>
              <a:ext uri="{FF2B5EF4-FFF2-40B4-BE49-F238E27FC236}">
                <a16:creationId xmlns:a16="http://schemas.microsoft.com/office/drawing/2014/main" id="{E7957D4E-68E0-4569-8866-1F11E50247A6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de presión sonora</a:t>
            </a:r>
          </a:p>
        </p:txBody>
      </p:sp>
      <p:sp>
        <p:nvSpPr>
          <p:cNvPr id="11" name="U06-DG-022-panel_right-body">
            <a:extLst>
              <a:ext uri="{FF2B5EF4-FFF2-40B4-BE49-F238E27FC236}">
                <a16:creationId xmlns:a16="http://schemas.microsoft.com/office/drawing/2014/main" id="{18EE96AC-FE56-44C2-A329-989C29931C40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log₁₀(pᵣₘₛ/p(ref)) p(ref) declarado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68B28404-7BAC-4D5A-82E9-BBC9730D0CC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Faltan referencia y definición de magnitud para informar SPL.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6A787A46-ABAD-4FBC-B29C-51A50E0A4FA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30CA68F7-3B7D-4614-82A8-8B83E689A07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reflejo acústico modifica la rigidez después de una latencia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2A7BCBD7-0EC9-4FF6-B211-DF82395ADA1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038</a:t>
            </a:r>
          </a:p>
        </p:txBody>
      </p:sp>
      <p:sp>
        <p:nvSpPr>
          <p:cNvPr id="3" name="U06-DG-023-stage_1-anchor">
            <a:extLst>
              <a:ext uri="{FF2B5EF4-FFF2-40B4-BE49-F238E27FC236}">
                <a16:creationId xmlns:a16="http://schemas.microsoft.com/office/drawing/2014/main" id="{7336A0EE-4DC9-4F22-BC4D-14A3673C52D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3-stage_2-anchor">
            <a:extLst>
              <a:ext uri="{FF2B5EF4-FFF2-40B4-BE49-F238E27FC236}">
                <a16:creationId xmlns:a16="http://schemas.microsoft.com/office/drawing/2014/main" id="{08EFDA1F-1DC1-40C4-961C-8D330B052329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3-stage_3-anchor">
            <a:extLst>
              <a:ext uri="{FF2B5EF4-FFF2-40B4-BE49-F238E27FC236}">
                <a16:creationId xmlns:a16="http://schemas.microsoft.com/office/drawing/2014/main" id="{08D1429F-7E82-44F8-A56B-D626573D9C7E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3-stage_4-anchor">
            <a:extLst>
              <a:ext uri="{FF2B5EF4-FFF2-40B4-BE49-F238E27FC236}">
                <a16:creationId xmlns:a16="http://schemas.microsoft.com/office/drawing/2014/main" id="{A5B521CC-21CA-4822-A14A-6A6A870C344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23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23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23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23-stage_1-box" descr="Diagrama sobre «El reflejo acústico modifica la rigidez después de una latencia»; organiza estímulo → vía refleja → contracción → cambio de rigidez/transferencia." title="Texto alternativo U06-038">
            <a:extLst>
              <a:ext uri="{FF2B5EF4-FFF2-40B4-BE49-F238E27FC236}">
                <a16:creationId xmlns:a16="http://schemas.microsoft.com/office/drawing/2014/main" id="{4C133DDA-BB6E-4EF6-86F6-F309136CBD83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23-stage_1-title">
            <a:extLst>
              <a:ext uri="{FF2B5EF4-FFF2-40B4-BE49-F238E27FC236}">
                <a16:creationId xmlns:a16="http://schemas.microsoft.com/office/drawing/2014/main" id="{3214C0E8-05A6-469F-A548-6987DE03856C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2" name="U06-DG-023-stage_1-body">
            <a:extLst>
              <a:ext uri="{FF2B5EF4-FFF2-40B4-BE49-F238E27FC236}">
                <a16:creationId xmlns:a16="http://schemas.microsoft.com/office/drawing/2014/main" id="{5CB11297-F8C9-490C-9ED9-E85787E7DCDA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3" name="U06-DG-023-stage_2-box">
            <a:extLst>
              <a:ext uri="{FF2B5EF4-FFF2-40B4-BE49-F238E27FC236}">
                <a16:creationId xmlns:a16="http://schemas.microsoft.com/office/drawing/2014/main" id="{A9C7B2A7-3FEB-4741-917A-08F03123619A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23-stage_2-title">
            <a:extLst>
              <a:ext uri="{FF2B5EF4-FFF2-40B4-BE49-F238E27FC236}">
                <a16:creationId xmlns:a16="http://schemas.microsoft.com/office/drawing/2014/main" id="{09A9412C-E84B-4A66-9BF1-52F3A46EAA53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Vía refleja</a:t>
            </a:r>
          </a:p>
        </p:txBody>
      </p:sp>
      <p:sp>
        <p:nvSpPr>
          <p:cNvPr id="15" name="U06-DG-023-stage_2-body">
            <a:extLst>
              <a:ext uri="{FF2B5EF4-FFF2-40B4-BE49-F238E27FC236}">
                <a16:creationId xmlns:a16="http://schemas.microsoft.com/office/drawing/2014/main" id="{12256FCA-608E-43AE-80A9-DCA7906F5F57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detección y control</a:t>
            </a:r>
          </a:p>
        </p:txBody>
      </p:sp>
      <p:sp>
        <p:nvSpPr>
          <p:cNvPr id="16" name="U06-DG-023-stage_3-box">
            <a:extLst>
              <a:ext uri="{FF2B5EF4-FFF2-40B4-BE49-F238E27FC236}">
                <a16:creationId xmlns:a16="http://schemas.microsoft.com/office/drawing/2014/main" id="{6F6E1B4E-9950-426E-BE09-27E58A18013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23-stage_3-title">
            <a:extLst>
              <a:ext uri="{FF2B5EF4-FFF2-40B4-BE49-F238E27FC236}">
                <a16:creationId xmlns:a16="http://schemas.microsoft.com/office/drawing/2014/main" id="{09DB4CF8-E2F2-4AF3-9AAF-815DD28DF54E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Músculos</a:t>
            </a:r>
          </a:p>
        </p:txBody>
      </p:sp>
      <p:sp>
        <p:nvSpPr>
          <p:cNvPr id="18" name="U06-DG-023-stage_3-body">
            <a:extLst>
              <a:ext uri="{FF2B5EF4-FFF2-40B4-BE49-F238E27FC236}">
                <a16:creationId xmlns:a16="http://schemas.microsoft.com/office/drawing/2014/main" id="{A6212D6E-7760-4D30-8F82-C20EE4DFA867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contracción</a:t>
            </a:r>
          </a:p>
        </p:txBody>
      </p:sp>
      <p:sp>
        <p:nvSpPr>
          <p:cNvPr id="19" name="U06-DG-023-stage_4-box">
            <a:extLst>
              <a:ext uri="{FF2B5EF4-FFF2-40B4-BE49-F238E27FC236}">
                <a16:creationId xmlns:a16="http://schemas.microsoft.com/office/drawing/2014/main" id="{3241D6E3-3DA4-42E7-AF0A-2FA96DF0FEC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23-stage_4-title">
            <a:extLst>
              <a:ext uri="{FF2B5EF4-FFF2-40B4-BE49-F238E27FC236}">
                <a16:creationId xmlns:a16="http://schemas.microsoft.com/office/drawing/2014/main" id="{3AFBD9A1-77DF-46B4-B763-1C3D6D7CACC4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1" name="U06-DG-023-stage_4-body">
            <a:extLst>
              <a:ext uri="{FF2B5EF4-FFF2-40B4-BE49-F238E27FC236}">
                <a16:creationId xmlns:a16="http://schemas.microsoft.com/office/drawing/2014/main" id="{A46E15A9-D798-44AA-97E2-845B5D51E98E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cambia</a:t>
            </a:r>
          </a:p>
        </p:txBody>
      </p:sp>
      <p:sp>
        <p:nvSpPr>
          <p:cNvPr id="22" name="caption">
            <a:extLst>
              <a:ext uri="{FF2B5EF4-FFF2-40B4-BE49-F238E27FC236}">
                <a16:creationId xmlns:a16="http://schemas.microsoft.com/office/drawing/2014/main" id="{ED047301-4A31-48F9-9B31-502DC221638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contracción del estapedio atenúa de forma dependiente de frecuencia y no es i…</a:t>
            </a:r>
          </a:p>
        </p:txBody>
      </p:sp>
      <p:sp>
        <p:nvSpPr>
          <p:cNvPr id="23" name="credit">
            <a:extLst>
              <a:ext uri="{FF2B5EF4-FFF2-40B4-BE49-F238E27FC236}">
                <a16:creationId xmlns:a16="http://schemas.microsoft.com/office/drawing/2014/main" id="{F318A6C9-DFD3-4B52-A40B-E171D214B77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B1F615AF-1EF1-420E-9658-74644792809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transferir, transformar y limitar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81A91BA-F7DD-4C5D-B7D8-891A9EBCF4A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oído medio adapta con pérdidas; el reflejo llega tarde para el inicio de un impulso.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776CC58-FC1A-4D37-814A-8529641572B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039</a:t>
            </a:r>
          </a:p>
        </p:txBody>
      </p:sp>
      <p:sp>
        <p:nvSpPr>
          <p:cNvPr id="4" name="U06-DG-001-stage_1-anchor">
            <a:extLst>
              <a:ext uri="{FF2B5EF4-FFF2-40B4-BE49-F238E27FC236}">
                <a16:creationId xmlns:a16="http://schemas.microsoft.com/office/drawing/2014/main" id="{0489031F-DD5C-4FA6-8D01-9B57D7435AC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2-anchor">
            <a:extLst>
              <a:ext uri="{FF2B5EF4-FFF2-40B4-BE49-F238E27FC236}">
                <a16:creationId xmlns:a16="http://schemas.microsoft.com/office/drawing/2014/main" id="{2D15513B-9A9A-4D4F-95C4-BEDEB8CAA8F4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3-anchor">
            <a:extLst>
              <a:ext uri="{FF2B5EF4-FFF2-40B4-BE49-F238E27FC236}">
                <a16:creationId xmlns:a16="http://schemas.microsoft.com/office/drawing/2014/main" id="{9ABB80C6-B717-4450-9D80-022B7B1CF4A4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4-anchor">
            <a:extLst>
              <a:ext uri="{FF2B5EF4-FFF2-40B4-BE49-F238E27FC236}">
                <a16:creationId xmlns:a16="http://schemas.microsoft.com/office/drawing/2014/main" id="{185DE711-DA31-48A9-9B37-9EE3292E2EF9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5-anchor">
            <a:extLst>
              <a:ext uri="{FF2B5EF4-FFF2-40B4-BE49-F238E27FC236}">
                <a16:creationId xmlns:a16="http://schemas.microsoft.com/office/drawing/2014/main" id="{66481EC8-E961-430E-A2F1-B1D4D42CE450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01-stage_6-anchor">
            <a:extLst>
              <a:ext uri="{FF2B5EF4-FFF2-40B4-BE49-F238E27FC236}">
                <a16:creationId xmlns:a16="http://schemas.microsoft.com/office/drawing/2014/main" id="{F11F607C-9EFD-4DBB-B62C-6556525949E7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6" idx="2"/>
            <a:endCxn id="7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7" idx="1"/>
            <a:endCxn id="8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8" idx="1"/>
            <a:endCxn id="9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01-stage_1-box" descr="Diagrama sobre «Hasta acá: transferir, transformar y limitar»; organiza tres ideas + pregunta de control sobre energía y latencia." title="Texto alternativo U06-039">
            <a:extLst>
              <a:ext uri="{FF2B5EF4-FFF2-40B4-BE49-F238E27FC236}">
                <a16:creationId xmlns:a16="http://schemas.microsoft.com/office/drawing/2014/main" id="{177FDCE2-0AA4-40EB-81C7-3F1063109621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01-stage_1-title">
            <a:extLst>
              <a:ext uri="{FF2B5EF4-FFF2-40B4-BE49-F238E27FC236}">
                <a16:creationId xmlns:a16="http://schemas.microsoft.com/office/drawing/2014/main" id="{EE9B12C8-5F5F-4EE9-8ACC-C2818379D2AD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7" name="U06-DG-001-stage_1-body">
            <a:extLst>
              <a:ext uri="{FF2B5EF4-FFF2-40B4-BE49-F238E27FC236}">
                <a16:creationId xmlns:a16="http://schemas.microsoft.com/office/drawing/2014/main" id="{4205A083-54DE-41E3-BD92-1C3F0D84341C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8" name="U06-DG-001-stage_2-box">
            <a:extLst>
              <a:ext uri="{FF2B5EF4-FFF2-40B4-BE49-F238E27FC236}">
                <a16:creationId xmlns:a16="http://schemas.microsoft.com/office/drawing/2014/main" id="{F5C7BB49-2FF2-4E4B-BE6C-3923B56BECE2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01-stage_2-title">
            <a:extLst>
              <a:ext uri="{FF2B5EF4-FFF2-40B4-BE49-F238E27FC236}">
                <a16:creationId xmlns:a16="http://schemas.microsoft.com/office/drawing/2014/main" id="{BA036EF8-BF60-4A71-AA0C-3499560A32C9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0" name="U06-DG-001-stage_2-body">
            <a:extLst>
              <a:ext uri="{FF2B5EF4-FFF2-40B4-BE49-F238E27FC236}">
                <a16:creationId xmlns:a16="http://schemas.microsoft.com/office/drawing/2014/main" id="{30A54E60-BB5F-4616-950A-B106D001ED76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1" name="U06-DG-001-stage_3-box">
            <a:extLst>
              <a:ext uri="{FF2B5EF4-FFF2-40B4-BE49-F238E27FC236}">
                <a16:creationId xmlns:a16="http://schemas.microsoft.com/office/drawing/2014/main" id="{A9281D80-418D-46F8-BD59-A817300F2BD3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2" name="U06-DG-001-stage_3-title">
            <a:extLst>
              <a:ext uri="{FF2B5EF4-FFF2-40B4-BE49-F238E27FC236}">
                <a16:creationId xmlns:a16="http://schemas.microsoft.com/office/drawing/2014/main" id="{A344A3CC-0522-4A12-BE39-1001BFFBE129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3" name="U06-DG-001-stage_3-body">
            <a:extLst>
              <a:ext uri="{FF2B5EF4-FFF2-40B4-BE49-F238E27FC236}">
                <a16:creationId xmlns:a16="http://schemas.microsoft.com/office/drawing/2014/main" id="{2F150C8B-0A26-4FE4-AEB9-FABEC6FE1252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4" name="U06-DG-001-stage_4-box">
            <a:extLst>
              <a:ext uri="{FF2B5EF4-FFF2-40B4-BE49-F238E27FC236}">
                <a16:creationId xmlns:a16="http://schemas.microsoft.com/office/drawing/2014/main" id="{9A3C9987-40D1-414A-9432-0607DA4ADE34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5" name="U06-DG-001-stage_4-title">
            <a:extLst>
              <a:ext uri="{FF2B5EF4-FFF2-40B4-BE49-F238E27FC236}">
                <a16:creationId xmlns:a16="http://schemas.microsoft.com/office/drawing/2014/main" id="{F403F156-041E-406A-865D-5DAB5801DCCD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6" name="U06-DG-001-stage_4-body">
            <a:extLst>
              <a:ext uri="{FF2B5EF4-FFF2-40B4-BE49-F238E27FC236}">
                <a16:creationId xmlns:a16="http://schemas.microsoft.com/office/drawing/2014/main" id="{92AFE688-0A65-4678-B3D2-428ADF0D736E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7" name="U06-DG-001-stage_5-box">
            <a:extLst>
              <a:ext uri="{FF2B5EF4-FFF2-40B4-BE49-F238E27FC236}">
                <a16:creationId xmlns:a16="http://schemas.microsoft.com/office/drawing/2014/main" id="{E41CCF99-9DCD-49D0-85E3-FDAE18F718BA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8" name="U06-DG-001-stage_5-title">
            <a:extLst>
              <a:ext uri="{FF2B5EF4-FFF2-40B4-BE49-F238E27FC236}">
                <a16:creationId xmlns:a16="http://schemas.microsoft.com/office/drawing/2014/main" id="{F49D9335-0A08-4CE3-BE12-074E9899C385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9" name="U06-DG-001-stage_5-body">
            <a:extLst>
              <a:ext uri="{FF2B5EF4-FFF2-40B4-BE49-F238E27FC236}">
                <a16:creationId xmlns:a16="http://schemas.microsoft.com/office/drawing/2014/main" id="{459DADD8-DA50-4901-9CC0-A423E41C544C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30" name="U06-DG-001-stage_6-box">
            <a:extLst>
              <a:ext uri="{FF2B5EF4-FFF2-40B4-BE49-F238E27FC236}">
                <a16:creationId xmlns:a16="http://schemas.microsoft.com/office/drawing/2014/main" id="{6D2792B3-097C-4045-9C95-76AEDBC5D8A3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01-stage_6-title">
            <a:extLst>
              <a:ext uri="{FF2B5EF4-FFF2-40B4-BE49-F238E27FC236}">
                <a16:creationId xmlns:a16="http://schemas.microsoft.com/office/drawing/2014/main" id="{4B97DA04-5932-4AEC-A1DB-4162F012EB41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2" name="U06-DG-001-stage_6-body">
            <a:extLst>
              <a:ext uri="{FF2B5EF4-FFF2-40B4-BE49-F238E27FC236}">
                <a16:creationId xmlns:a16="http://schemas.microsoft.com/office/drawing/2014/main" id="{11484134-BAED-40A2-A9AC-8CC5B7826772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070EED1C-3EE0-4591-8CFA-B7BAB0D4AE7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oído medio adapta con pérdidas; el reflejo llega tarde para el inicio de un i…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1FC1305A-C267-4F27-9B45-7D247B05F8A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C2F02B78-4F62-40B1-9D01-D4B81033FE99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040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B9943E91-320A-4849-B7F7-8BBA0BF74590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vía ósea es una convergencia, no un atajo único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979F128-E15C-4586-A8A5-B2BE3268B9D5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¿Por qué la conducción ósea no es una ruta única que evita el oído externo y medio?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title">
            <a:extLst>
              <a:ext uri="{FF2B5EF4-FFF2-40B4-BE49-F238E27FC236}">
                <a16:creationId xmlns:a16="http://schemas.microsoft.com/office/drawing/2014/main" id="{661C5E56-10F4-4B08-BC3C-536F5F23C1D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Vía aérea y vía ósea cambian la entrada, no la cóclea final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4AEBFE9-88C8-448A-812F-1F02E88E6F62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Ambas pueden generar diferencias de presión y movimiento en la partición coclear.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B3B306-A7C7-40F0-9902-E8B8C5A8472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041</a:t>
            </a:r>
          </a:p>
        </p:txBody>
      </p:sp>
      <p:sp>
        <p:nvSpPr>
          <p:cNvPr id="4" name="U06-DG-024-target-anchor">
            <a:extLst>
              <a:ext uri="{FF2B5EF4-FFF2-40B4-BE49-F238E27FC236}">
                <a16:creationId xmlns:a16="http://schemas.microsoft.com/office/drawing/2014/main" id="{D093FA8E-6C33-4828-86DD-8461BB8827CD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1-anchor">
            <a:extLst>
              <a:ext uri="{FF2B5EF4-FFF2-40B4-BE49-F238E27FC236}">
                <a16:creationId xmlns:a16="http://schemas.microsoft.com/office/drawing/2014/main" id="{D6CE65F0-2D19-46F4-A3D5-D077BD2BA6B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2-anchor">
            <a:extLst>
              <a:ext uri="{FF2B5EF4-FFF2-40B4-BE49-F238E27FC236}">
                <a16:creationId xmlns:a16="http://schemas.microsoft.com/office/drawing/2014/main" id="{9BDBC13D-5C14-4D81-BCE6-6423FE6861FB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air_3-anchor">
            <a:extLst>
              <a:ext uri="{FF2B5EF4-FFF2-40B4-BE49-F238E27FC236}">
                <a16:creationId xmlns:a16="http://schemas.microsoft.com/office/drawing/2014/main" id="{4B5A9CC5-9081-4FEC-927F-7B7DF114FF36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air_4-anchor">
            <a:extLst>
              <a:ext uri="{FF2B5EF4-FFF2-40B4-BE49-F238E27FC236}">
                <a16:creationId xmlns:a16="http://schemas.microsoft.com/office/drawing/2014/main" id="{B29ADC63-D8A9-4607-8ECC-48CEE4BF08D9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1-anchor">
            <a:extLst>
              <a:ext uri="{FF2B5EF4-FFF2-40B4-BE49-F238E27FC236}">
                <a16:creationId xmlns:a16="http://schemas.microsoft.com/office/drawing/2014/main" id="{075C046C-DC79-4E4C-B091-0AC299CA3EEE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24-bone_2-anchor">
            <a:extLst>
              <a:ext uri="{FF2B5EF4-FFF2-40B4-BE49-F238E27FC236}">
                <a16:creationId xmlns:a16="http://schemas.microsoft.com/office/drawing/2014/main" id="{174FC453-6A1F-430D-B7E8-4F00CF097A0E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1" name="U06-DG-024-bone_3-anchor">
            <a:extLst>
              <a:ext uri="{FF2B5EF4-FFF2-40B4-BE49-F238E27FC236}">
                <a16:creationId xmlns:a16="http://schemas.microsoft.com/office/drawing/2014/main" id="{BD9EE876-801D-4006-864B-91656055BECC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6" name="U06-DG-024-air_edge_1"/>
          <p:cNvCxnSpPr>
            <a:stCxn id="5" idx="3"/>
            <a:endCxn id="6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edge_2"/>
          <p:cNvCxnSpPr>
            <a:stCxn id="6" idx="3"/>
            <a:endCxn id="7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air_edge_3"/>
          <p:cNvCxnSpPr>
            <a:stCxn id="7" idx="3"/>
            <a:endCxn id="8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air_target"/>
          <p:cNvCxnSpPr>
            <a:stCxn id="8" idx="3"/>
            <a:endCxn id="4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edge_1"/>
          <p:cNvCxnSpPr>
            <a:stCxn id="9" idx="3"/>
            <a:endCxn id="10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1" name="U06-DG-024-bone_edge_2"/>
          <p:cNvCxnSpPr>
            <a:stCxn id="10" idx="3"/>
            <a:endCxn id="11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6-DG-024-bone_target"/>
          <p:cNvCxnSpPr>
            <a:stCxn id="11" idx="3"/>
            <a:endCxn id="4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9" name="U06-DG-024-target-box" descr="Diagrama sobre «Vía aérea y vía ósea cambian la entrada, no la cóclea final»; organiza entrada, estructuras participantes y punto de convergencia; mismos criterios en dos columnas." title="Texto alternativo U06-041">
            <a:extLst>
              <a:ext uri="{FF2B5EF4-FFF2-40B4-BE49-F238E27FC236}">
                <a16:creationId xmlns:a16="http://schemas.microsoft.com/office/drawing/2014/main" id="{24404598-6719-4D85-8DB3-85CDFA3197A1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24-target-title">
            <a:extLst>
              <a:ext uri="{FF2B5EF4-FFF2-40B4-BE49-F238E27FC236}">
                <a16:creationId xmlns:a16="http://schemas.microsoft.com/office/drawing/2014/main" id="{EC61F16E-27E4-42CD-8E64-2C60D12B3F83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1" name="U06-DG-024-target-body">
            <a:extLst>
              <a:ext uri="{FF2B5EF4-FFF2-40B4-BE49-F238E27FC236}">
                <a16:creationId xmlns:a16="http://schemas.microsoft.com/office/drawing/2014/main" id="{30F761AA-D5C9-4F7A-9B01-DB4A51998169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2" name="U06-DG-024-air_1-box">
            <a:extLst>
              <a:ext uri="{FF2B5EF4-FFF2-40B4-BE49-F238E27FC236}">
                <a16:creationId xmlns:a16="http://schemas.microsoft.com/office/drawing/2014/main" id="{36425B00-5281-4D22-BD50-CB38B66F45FA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3" name="U06-DG-024-air_1-title">
            <a:extLst>
              <a:ext uri="{FF2B5EF4-FFF2-40B4-BE49-F238E27FC236}">
                <a16:creationId xmlns:a16="http://schemas.microsoft.com/office/drawing/2014/main" id="{2452EE47-2DA3-4A9D-A4E3-47D000DBFFA4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4" name="U06-DG-024-air_1-body">
            <a:extLst>
              <a:ext uri="{FF2B5EF4-FFF2-40B4-BE49-F238E27FC236}">
                <a16:creationId xmlns:a16="http://schemas.microsoft.com/office/drawing/2014/main" id="{8B209491-0C3F-4ADC-8836-6A9A48493EDA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5" name="U06-DG-024-air_2-box">
            <a:extLst>
              <a:ext uri="{FF2B5EF4-FFF2-40B4-BE49-F238E27FC236}">
                <a16:creationId xmlns:a16="http://schemas.microsoft.com/office/drawing/2014/main" id="{15D74B0F-9F25-4A8A-B622-6602FDE5DCCA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6" name="U06-DG-024-air_2-title">
            <a:extLst>
              <a:ext uri="{FF2B5EF4-FFF2-40B4-BE49-F238E27FC236}">
                <a16:creationId xmlns:a16="http://schemas.microsoft.com/office/drawing/2014/main" id="{7335C34B-BE80-4E38-BD48-BD228EEE5190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7" name="U06-DG-024-air_2-body">
            <a:extLst>
              <a:ext uri="{FF2B5EF4-FFF2-40B4-BE49-F238E27FC236}">
                <a16:creationId xmlns:a16="http://schemas.microsoft.com/office/drawing/2014/main" id="{F13395CD-1D7B-4605-BBD7-1A7016B85AA4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8" name="U06-DG-024-air_3-box">
            <a:extLst>
              <a:ext uri="{FF2B5EF4-FFF2-40B4-BE49-F238E27FC236}">
                <a16:creationId xmlns:a16="http://schemas.microsoft.com/office/drawing/2014/main" id="{431CCF32-6D8A-4DE8-9E85-56CEC6BBFA70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9" name="U06-DG-024-air_3-title">
            <a:extLst>
              <a:ext uri="{FF2B5EF4-FFF2-40B4-BE49-F238E27FC236}">
                <a16:creationId xmlns:a16="http://schemas.microsoft.com/office/drawing/2014/main" id="{D98D0C2C-752F-4831-ADE1-B7C5F9B3594C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30" name="U06-DG-024-air_3-body">
            <a:extLst>
              <a:ext uri="{FF2B5EF4-FFF2-40B4-BE49-F238E27FC236}">
                <a16:creationId xmlns:a16="http://schemas.microsoft.com/office/drawing/2014/main" id="{539DA3BA-828D-4B59-8C89-6A17BC7636B0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1" name="U06-DG-024-air_4-box">
            <a:extLst>
              <a:ext uri="{FF2B5EF4-FFF2-40B4-BE49-F238E27FC236}">
                <a16:creationId xmlns:a16="http://schemas.microsoft.com/office/drawing/2014/main" id="{C98EBA25-3CD3-4DC4-A20D-2E75C5DFE633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2" name="U06-DG-024-air_4-title">
            <a:extLst>
              <a:ext uri="{FF2B5EF4-FFF2-40B4-BE49-F238E27FC236}">
                <a16:creationId xmlns:a16="http://schemas.microsoft.com/office/drawing/2014/main" id="{C1861BB1-59A7-47F3-B32F-E55BF2EBAA40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3" name="U06-DG-024-air_4-body">
            <a:extLst>
              <a:ext uri="{FF2B5EF4-FFF2-40B4-BE49-F238E27FC236}">
                <a16:creationId xmlns:a16="http://schemas.microsoft.com/office/drawing/2014/main" id="{E6545664-A977-415A-951E-585617F0A9D3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4" name="U06-DG-024-bone_1-box">
            <a:extLst>
              <a:ext uri="{FF2B5EF4-FFF2-40B4-BE49-F238E27FC236}">
                <a16:creationId xmlns:a16="http://schemas.microsoft.com/office/drawing/2014/main" id="{172F7AD7-C76E-4015-BED8-B9D7DA44B4DF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5" name="U06-DG-024-bone_1-title">
            <a:extLst>
              <a:ext uri="{FF2B5EF4-FFF2-40B4-BE49-F238E27FC236}">
                <a16:creationId xmlns:a16="http://schemas.microsoft.com/office/drawing/2014/main" id="{CC81F887-E9BD-4BF3-AB91-D121B83852F3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6" name="U06-DG-024-bone_1-body">
            <a:extLst>
              <a:ext uri="{FF2B5EF4-FFF2-40B4-BE49-F238E27FC236}">
                <a16:creationId xmlns:a16="http://schemas.microsoft.com/office/drawing/2014/main" id="{E987FEB8-BF73-4CA4-8B7F-761F9C91E260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7" name="U06-DG-024-bone_2-box">
            <a:extLst>
              <a:ext uri="{FF2B5EF4-FFF2-40B4-BE49-F238E27FC236}">
                <a16:creationId xmlns:a16="http://schemas.microsoft.com/office/drawing/2014/main" id="{D1EB4948-5BE4-4107-A16C-3EBE36201C66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8" name="U06-DG-024-bone_2-title">
            <a:extLst>
              <a:ext uri="{FF2B5EF4-FFF2-40B4-BE49-F238E27FC236}">
                <a16:creationId xmlns:a16="http://schemas.microsoft.com/office/drawing/2014/main" id="{E25B6572-0AAE-4970-8ED3-393CB23CB72C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9" name="U06-DG-024-bone_2-body">
            <a:extLst>
              <a:ext uri="{FF2B5EF4-FFF2-40B4-BE49-F238E27FC236}">
                <a16:creationId xmlns:a16="http://schemas.microsoft.com/office/drawing/2014/main" id="{26441310-F4AC-4922-80CD-316BC1965F0A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40" name="U06-DG-024-bone_3-box">
            <a:extLst>
              <a:ext uri="{FF2B5EF4-FFF2-40B4-BE49-F238E27FC236}">
                <a16:creationId xmlns:a16="http://schemas.microsoft.com/office/drawing/2014/main" id="{1E091A46-CDA9-483B-A193-D3C2FCC5AA6A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41" name="U06-DG-024-bone_3-title">
            <a:extLst>
              <a:ext uri="{FF2B5EF4-FFF2-40B4-BE49-F238E27FC236}">
                <a16:creationId xmlns:a16="http://schemas.microsoft.com/office/drawing/2014/main" id="{D39B729A-FE5A-46FB-B080-D2AAC30B006A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2" name="U06-DG-024-bone_3-body">
            <a:extLst>
              <a:ext uri="{FF2B5EF4-FFF2-40B4-BE49-F238E27FC236}">
                <a16:creationId xmlns:a16="http://schemas.microsoft.com/office/drawing/2014/main" id="{C89E85D7-7113-4E01-A655-B72AE3988B82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3" name="caption">
            <a:extLst>
              <a:ext uri="{FF2B5EF4-FFF2-40B4-BE49-F238E27FC236}">
                <a16:creationId xmlns:a16="http://schemas.microsoft.com/office/drawing/2014/main" id="{4B2A8356-EE96-40D6-87AE-294920CDD751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Ambas pueden generar diferencias de presión y movimiento en la partición coclear.</a:t>
            </a:r>
          </a:p>
        </p:txBody>
      </p:sp>
      <p:sp>
        <p:nvSpPr>
          <p:cNvPr id="44" name="credit">
            <a:extLst>
              <a:ext uri="{FF2B5EF4-FFF2-40B4-BE49-F238E27FC236}">
                <a16:creationId xmlns:a16="http://schemas.microsoft.com/office/drawing/2014/main" id="{9A608D6B-C260-4927-A0A4-0B94ED6C3CF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title">
            <a:extLst>
              <a:ext uri="{FF2B5EF4-FFF2-40B4-BE49-F238E27FC236}">
                <a16:creationId xmlns:a16="http://schemas.microsoft.com/office/drawing/2014/main" id="{DA383793-A7FA-49B4-962A-67B3A37ACD7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“La vía ósea evita el oído externo y medio”: ¿verdadero o falso?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88526949-A42B-47BB-AE3A-3371B074FB0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042</a:t>
            </a:r>
          </a:p>
        </p:txBody>
      </p:sp>
      <p:sp>
        <p:nvSpPr>
          <p:cNvPr id="3" name="U06-DG-024-target-anchor">
            <a:extLst>
              <a:ext uri="{FF2B5EF4-FFF2-40B4-BE49-F238E27FC236}">
                <a16:creationId xmlns:a16="http://schemas.microsoft.com/office/drawing/2014/main" id="{8817AF10-1026-467C-A547-C47F08550DC0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4-air_1-anchor">
            <a:extLst>
              <a:ext uri="{FF2B5EF4-FFF2-40B4-BE49-F238E27FC236}">
                <a16:creationId xmlns:a16="http://schemas.microsoft.com/office/drawing/2014/main" id="{EC2BD54E-D10A-47B4-9AA3-19EF44E0F56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2-anchor">
            <a:extLst>
              <a:ext uri="{FF2B5EF4-FFF2-40B4-BE49-F238E27FC236}">
                <a16:creationId xmlns:a16="http://schemas.microsoft.com/office/drawing/2014/main" id="{9125FDF5-0ED8-490A-80D6-24418A4AD252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3-anchor">
            <a:extLst>
              <a:ext uri="{FF2B5EF4-FFF2-40B4-BE49-F238E27FC236}">
                <a16:creationId xmlns:a16="http://schemas.microsoft.com/office/drawing/2014/main" id="{661458BE-4CC5-47D7-B7A1-6D1585AE9FD0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air_4-anchor">
            <a:extLst>
              <a:ext uri="{FF2B5EF4-FFF2-40B4-BE49-F238E27FC236}">
                <a16:creationId xmlns:a16="http://schemas.microsoft.com/office/drawing/2014/main" id="{4010B578-382F-4F10-91AF-9CA28AA51C05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bone_1-anchor">
            <a:extLst>
              <a:ext uri="{FF2B5EF4-FFF2-40B4-BE49-F238E27FC236}">
                <a16:creationId xmlns:a16="http://schemas.microsoft.com/office/drawing/2014/main" id="{DF89CCB3-E9AA-4E8B-A4B1-5744FD717538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2-anchor">
            <a:extLst>
              <a:ext uri="{FF2B5EF4-FFF2-40B4-BE49-F238E27FC236}">
                <a16:creationId xmlns:a16="http://schemas.microsoft.com/office/drawing/2014/main" id="{6525B0DE-2F88-4C0A-B49D-AA8060C8CC06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24-bone_3-anchor">
            <a:extLst>
              <a:ext uri="{FF2B5EF4-FFF2-40B4-BE49-F238E27FC236}">
                <a16:creationId xmlns:a16="http://schemas.microsoft.com/office/drawing/2014/main" id="{1924C474-64FE-4F29-A3E8-F3A7BA698879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4" name="U06-DG-024-air_edge_1"/>
          <p:cNvCxnSpPr>
            <a:stCxn id="4" idx="3"/>
            <a:endCxn id="5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6-DG-024-air_edge_2"/>
          <p:cNvCxnSpPr>
            <a:stCxn id="5" idx="3"/>
            <a:endCxn id="6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6-DG-024-air_edge_3"/>
          <p:cNvCxnSpPr>
            <a:stCxn id="6" idx="3"/>
            <a:endCxn id="7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target"/>
          <p:cNvCxnSpPr>
            <a:stCxn id="7" idx="3"/>
            <a:endCxn id="3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bone_edge_1"/>
          <p:cNvCxnSpPr>
            <a:stCxn id="8" idx="3"/>
            <a:endCxn id="9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bone_edge_2"/>
          <p:cNvCxnSpPr>
            <a:stCxn id="9" idx="3"/>
            <a:endCxn id="10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target"/>
          <p:cNvCxnSpPr>
            <a:stCxn id="10" idx="3"/>
            <a:endCxn id="3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6-DG-024-target-box" descr="Diagrama sobre «“La vía ósea evita el oído externo y medio”: ¿verdadero o falso?»; organiza consigna con espacio para justificar mediante mecanismos." title="Texto alternativo U06-042">
            <a:extLst>
              <a:ext uri="{FF2B5EF4-FFF2-40B4-BE49-F238E27FC236}">
                <a16:creationId xmlns:a16="http://schemas.microsoft.com/office/drawing/2014/main" id="{943446F8-A4D1-4170-8548-BDDAD483101C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24-target-title">
            <a:extLst>
              <a:ext uri="{FF2B5EF4-FFF2-40B4-BE49-F238E27FC236}">
                <a16:creationId xmlns:a16="http://schemas.microsoft.com/office/drawing/2014/main" id="{AC48CF8B-D2F9-413A-9782-84C80FBAF338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0" name="U06-DG-024-target-body">
            <a:extLst>
              <a:ext uri="{FF2B5EF4-FFF2-40B4-BE49-F238E27FC236}">
                <a16:creationId xmlns:a16="http://schemas.microsoft.com/office/drawing/2014/main" id="{17EE3B01-9EA9-4F7C-BC26-2E6D9515F996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1" name="U06-DG-024-air_1-box">
            <a:extLst>
              <a:ext uri="{FF2B5EF4-FFF2-40B4-BE49-F238E27FC236}">
                <a16:creationId xmlns:a16="http://schemas.microsoft.com/office/drawing/2014/main" id="{8CE18554-ADFC-484E-89E8-B49326AD6DF3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2" name="U06-DG-024-air_1-title">
            <a:extLst>
              <a:ext uri="{FF2B5EF4-FFF2-40B4-BE49-F238E27FC236}">
                <a16:creationId xmlns:a16="http://schemas.microsoft.com/office/drawing/2014/main" id="{EDABE34C-AC4A-4A1B-9991-DC02DAF211C4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3" name="U06-DG-024-air_1-body">
            <a:extLst>
              <a:ext uri="{FF2B5EF4-FFF2-40B4-BE49-F238E27FC236}">
                <a16:creationId xmlns:a16="http://schemas.microsoft.com/office/drawing/2014/main" id="{11D2E181-8221-408F-AFEE-22199EF037F6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4" name="U06-DG-024-air_2-box">
            <a:extLst>
              <a:ext uri="{FF2B5EF4-FFF2-40B4-BE49-F238E27FC236}">
                <a16:creationId xmlns:a16="http://schemas.microsoft.com/office/drawing/2014/main" id="{1F61E910-296E-4E21-834A-6C314DDB3422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5" name="U06-DG-024-air_2-title">
            <a:extLst>
              <a:ext uri="{FF2B5EF4-FFF2-40B4-BE49-F238E27FC236}">
                <a16:creationId xmlns:a16="http://schemas.microsoft.com/office/drawing/2014/main" id="{814E9811-51B1-4DD0-A23D-1CEA7EADF97B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6" name="U06-DG-024-air_2-body">
            <a:extLst>
              <a:ext uri="{FF2B5EF4-FFF2-40B4-BE49-F238E27FC236}">
                <a16:creationId xmlns:a16="http://schemas.microsoft.com/office/drawing/2014/main" id="{60D70CA6-6BDF-4751-952F-35F2513935B3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7" name="U06-DG-024-air_3-box">
            <a:extLst>
              <a:ext uri="{FF2B5EF4-FFF2-40B4-BE49-F238E27FC236}">
                <a16:creationId xmlns:a16="http://schemas.microsoft.com/office/drawing/2014/main" id="{48DAF14B-CB71-46A7-B39D-8419075619F7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8" name="U06-DG-024-air_3-title">
            <a:extLst>
              <a:ext uri="{FF2B5EF4-FFF2-40B4-BE49-F238E27FC236}">
                <a16:creationId xmlns:a16="http://schemas.microsoft.com/office/drawing/2014/main" id="{1BA9E432-3B5C-44AA-A804-69F746425A87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9" name="U06-DG-024-air_3-body">
            <a:extLst>
              <a:ext uri="{FF2B5EF4-FFF2-40B4-BE49-F238E27FC236}">
                <a16:creationId xmlns:a16="http://schemas.microsoft.com/office/drawing/2014/main" id="{B3042818-E2DF-478E-BD7E-71D86B81AE14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0" name="U06-DG-024-air_4-box">
            <a:extLst>
              <a:ext uri="{FF2B5EF4-FFF2-40B4-BE49-F238E27FC236}">
                <a16:creationId xmlns:a16="http://schemas.microsoft.com/office/drawing/2014/main" id="{FDE4900C-EADD-4409-B190-5D39D2986436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1" name="U06-DG-024-air_4-title">
            <a:extLst>
              <a:ext uri="{FF2B5EF4-FFF2-40B4-BE49-F238E27FC236}">
                <a16:creationId xmlns:a16="http://schemas.microsoft.com/office/drawing/2014/main" id="{0A87441D-FCD8-4985-A21C-164D0A498857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2" name="U06-DG-024-air_4-body">
            <a:extLst>
              <a:ext uri="{FF2B5EF4-FFF2-40B4-BE49-F238E27FC236}">
                <a16:creationId xmlns:a16="http://schemas.microsoft.com/office/drawing/2014/main" id="{4B19FCE3-F897-4917-94BE-5213BCC3C688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3" name="U06-DG-024-bone_1-box">
            <a:extLst>
              <a:ext uri="{FF2B5EF4-FFF2-40B4-BE49-F238E27FC236}">
                <a16:creationId xmlns:a16="http://schemas.microsoft.com/office/drawing/2014/main" id="{719169F5-9DED-481B-A357-672BDC7CCC0F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4" name="U06-DG-024-bone_1-title">
            <a:extLst>
              <a:ext uri="{FF2B5EF4-FFF2-40B4-BE49-F238E27FC236}">
                <a16:creationId xmlns:a16="http://schemas.microsoft.com/office/drawing/2014/main" id="{C4BA4E62-6964-469F-9AEF-AD054925EA16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5" name="U06-DG-024-bone_1-body">
            <a:extLst>
              <a:ext uri="{FF2B5EF4-FFF2-40B4-BE49-F238E27FC236}">
                <a16:creationId xmlns:a16="http://schemas.microsoft.com/office/drawing/2014/main" id="{1A0FBF04-F7C7-4B7F-B7C3-C857DEFA86C3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6" name="U06-DG-024-bone_2-box">
            <a:extLst>
              <a:ext uri="{FF2B5EF4-FFF2-40B4-BE49-F238E27FC236}">
                <a16:creationId xmlns:a16="http://schemas.microsoft.com/office/drawing/2014/main" id="{C02C5E06-3206-4357-B20D-7BFBEF593F60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7" name="U06-DG-024-bone_2-title">
            <a:extLst>
              <a:ext uri="{FF2B5EF4-FFF2-40B4-BE49-F238E27FC236}">
                <a16:creationId xmlns:a16="http://schemas.microsoft.com/office/drawing/2014/main" id="{E00ECD44-1A92-4E95-A800-2AEE6D00AC9C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8" name="U06-DG-024-bone_2-body">
            <a:extLst>
              <a:ext uri="{FF2B5EF4-FFF2-40B4-BE49-F238E27FC236}">
                <a16:creationId xmlns:a16="http://schemas.microsoft.com/office/drawing/2014/main" id="{C0754BDA-9115-4B74-A29C-80FCF4AEFBA1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39" name="U06-DG-024-bone_3-box">
            <a:extLst>
              <a:ext uri="{FF2B5EF4-FFF2-40B4-BE49-F238E27FC236}">
                <a16:creationId xmlns:a16="http://schemas.microsoft.com/office/drawing/2014/main" id="{791AC9C3-7CA8-4F20-8FF3-EBE68668B1CA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40" name="U06-DG-024-bone_3-title">
            <a:extLst>
              <a:ext uri="{FF2B5EF4-FFF2-40B4-BE49-F238E27FC236}">
                <a16:creationId xmlns:a16="http://schemas.microsoft.com/office/drawing/2014/main" id="{03DCED4E-95CD-47F9-84A8-24016BBEF651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1" name="U06-DG-024-bone_3-body">
            <a:extLst>
              <a:ext uri="{FF2B5EF4-FFF2-40B4-BE49-F238E27FC236}">
                <a16:creationId xmlns:a16="http://schemas.microsoft.com/office/drawing/2014/main" id="{094EF93E-A9BD-431E-94EB-E3B9C8BE19BD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2" name="caption">
            <a:extLst>
              <a:ext uri="{FF2B5EF4-FFF2-40B4-BE49-F238E27FC236}">
                <a16:creationId xmlns:a16="http://schemas.microsoft.com/office/drawing/2014/main" id="{9AAB0956-0CF2-4FBF-8064-9C5300F4280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afirmación absoluta es falsa porque algunas contribuciones involucran CAE y h…</a:t>
            </a:r>
          </a:p>
        </p:txBody>
      </p:sp>
      <p:sp>
        <p:nvSpPr>
          <p:cNvPr id="43" name="credit">
            <a:extLst>
              <a:ext uri="{FF2B5EF4-FFF2-40B4-BE49-F238E27FC236}">
                <a16:creationId xmlns:a16="http://schemas.microsoft.com/office/drawing/2014/main" id="{6CD42410-E352-4396-9507-1D35804F07D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A0F60A99-6706-44F3-B34A-E6F5FF55596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contribuciones pueden actuar al mismo tiempo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7367E36-9601-45A1-8BE3-F4353BC9E302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importancia relativa cambia con frecuencia, acoplamiento y punto de estimulación.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6DF4E8A-E295-4DFE-B863-3829C37998E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043</a:t>
            </a:r>
          </a:p>
        </p:txBody>
      </p:sp>
      <p:sp>
        <p:nvSpPr>
          <p:cNvPr id="4" name="U06-DG-025-central-anchor">
            <a:extLst>
              <a:ext uri="{FF2B5EF4-FFF2-40B4-BE49-F238E27FC236}">
                <a16:creationId xmlns:a16="http://schemas.microsoft.com/office/drawing/2014/main" id="{1294B83D-8EFA-4CD9-8CCE-330B76A9F70C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5-branch_1-anchor">
            <a:extLst>
              <a:ext uri="{FF2B5EF4-FFF2-40B4-BE49-F238E27FC236}">
                <a16:creationId xmlns:a16="http://schemas.microsoft.com/office/drawing/2014/main" id="{4B9EE4DB-CD47-4A19-ACC5-AAD7690C40E7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5-branch_2-anchor">
            <a:extLst>
              <a:ext uri="{FF2B5EF4-FFF2-40B4-BE49-F238E27FC236}">
                <a16:creationId xmlns:a16="http://schemas.microsoft.com/office/drawing/2014/main" id="{9C8A3D05-5D22-445D-B520-6768B76C91D6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5-branch_3-anchor">
            <a:extLst>
              <a:ext uri="{FF2B5EF4-FFF2-40B4-BE49-F238E27FC236}">
                <a16:creationId xmlns:a16="http://schemas.microsoft.com/office/drawing/2014/main" id="{531A179E-EFDD-446A-924A-5DCB6BBA4160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5-branch_4-anchor">
            <a:extLst>
              <a:ext uri="{FF2B5EF4-FFF2-40B4-BE49-F238E27FC236}">
                <a16:creationId xmlns:a16="http://schemas.microsoft.com/office/drawing/2014/main" id="{FFB73D3F-B564-4562-859A-5B6A1C6266F3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5-branch_5-anchor">
            <a:extLst>
              <a:ext uri="{FF2B5EF4-FFF2-40B4-BE49-F238E27FC236}">
                <a16:creationId xmlns:a16="http://schemas.microsoft.com/office/drawing/2014/main" id="{30E23AE8-61D5-4822-9148-905C079C8CB4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25-branch_edge_1"/>
          <p:cNvCxnSpPr>
            <a:stCxn id="5" idx="3"/>
            <a:endCxn id="4" idx="1"/>
          </p:cNvCxnSpPr>
          <p:nvPr/>
        </p:nvCxnSpPr>
        <p:spPr>
          <a:xfrm flipV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25-branch_edge_2"/>
          <p:cNvCxnSpPr>
            <a:stCxn id="6" idx="0"/>
            <a:endCxn id="4" idx="2"/>
          </p:cNvCxnSpPr>
          <p:nvPr/>
        </p:nvCxnSpPr>
        <p:spPr>
          <a:xfrm flipV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25-branch_edge_3"/>
          <p:cNvCxnSpPr>
            <a:stCxn id="7" idx="0"/>
            <a:endCxn id="4" idx="2"/>
          </p:cNvCxnSpPr>
          <p:nvPr/>
        </p:nvCxnSpPr>
        <p:spPr>
          <a:xfrm flipV="1"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25-branch_edge_4"/>
          <p:cNvCxnSpPr>
            <a:stCxn id="8" idx="0"/>
            <a:endCxn id="4" idx="2"/>
          </p:cNvCxnSpPr>
          <p:nvPr/>
        </p:nvCxnSpPr>
        <p:spPr>
          <a:xfrm flipH="1" flipV="1"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25-branch_edge_5"/>
          <p:cNvCxnSpPr>
            <a:stCxn id="9" idx="1"/>
            <a:endCxn id="4" idx="3"/>
          </p:cNvCxnSpPr>
          <p:nvPr/>
        </p:nvCxnSpPr>
        <p:spPr>
          <a:xfrm flipH="1" flipV="1"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25-central-box" descr="Diagrama sobre «Cinco contribuciones pueden actuar al mismo tiempo»; organiza radiación cae, inercia osicular, inercia de fluidos, deformación capsular y tejidos/cavidades." title="Texto alternativo U06-043">
            <a:extLst>
              <a:ext uri="{FF2B5EF4-FFF2-40B4-BE49-F238E27FC236}">
                <a16:creationId xmlns:a16="http://schemas.microsoft.com/office/drawing/2014/main" id="{4DB784A5-8836-44F7-A7C9-66B8AEA23A63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25-central-title">
            <a:extLst>
              <a:ext uri="{FF2B5EF4-FFF2-40B4-BE49-F238E27FC236}">
                <a16:creationId xmlns:a16="http://schemas.microsoft.com/office/drawing/2014/main" id="{5D87BD46-EFCB-49D4-BEBD-EC43F49B71A8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 coclear</a:t>
            </a:r>
          </a:p>
        </p:txBody>
      </p:sp>
      <p:sp>
        <p:nvSpPr>
          <p:cNvPr id="17" name="U06-DG-025-central-body">
            <a:extLst>
              <a:ext uri="{FF2B5EF4-FFF2-40B4-BE49-F238E27FC236}">
                <a16:creationId xmlns:a16="http://schemas.microsoft.com/office/drawing/2014/main" id="{D3F04E35-9CCF-49C6-8F69-8F0CC288A6E1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combinado</a:t>
            </a:r>
          </a:p>
        </p:txBody>
      </p:sp>
      <p:sp>
        <p:nvSpPr>
          <p:cNvPr id="18" name="U06-DG-025-branch_1-box">
            <a:extLst>
              <a:ext uri="{FF2B5EF4-FFF2-40B4-BE49-F238E27FC236}">
                <a16:creationId xmlns:a16="http://schemas.microsoft.com/office/drawing/2014/main" id="{9D2AF843-BB8E-4DA8-8C19-25E05A33548E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25-branch_1-title">
            <a:extLst>
              <a:ext uri="{FF2B5EF4-FFF2-40B4-BE49-F238E27FC236}">
                <a16:creationId xmlns:a16="http://schemas.microsoft.com/office/drawing/2014/main" id="{ED9318BA-163A-4BF9-A370-BCE2AA61D2E6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Radiación</a:t>
            </a:r>
          </a:p>
        </p:txBody>
      </p:sp>
      <p:sp>
        <p:nvSpPr>
          <p:cNvPr id="20" name="U06-DG-025-branch_1-body">
            <a:extLst>
              <a:ext uri="{FF2B5EF4-FFF2-40B4-BE49-F238E27FC236}">
                <a16:creationId xmlns:a16="http://schemas.microsoft.com/office/drawing/2014/main" id="{DFB48AB2-A579-4D8A-80FE-ABC11F91D248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CAE</a:t>
            </a:r>
          </a:p>
        </p:txBody>
      </p:sp>
      <p:sp>
        <p:nvSpPr>
          <p:cNvPr id="21" name="U06-DG-025-branch_2-box">
            <a:extLst>
              <a:ext uri="{FF2B5EF4-FFF2-40B4-BE49-F238E27FC236}">
                <a16:creationId xmlns:a16="http://schemas.microsoft.com/office/drawing/2014/main" id="{899BB6D5-8EA3-401B-8A4B-F65059F3A48D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25-branch_2-title">
            <a:extLst>
              <a:ext uri="{FF2B5EF4-FFF2-40B4-BE49-F238E27FC236}">
                <a16:creationId xmlns:a16="http://schemas.microsoft.com/office/drawing/2014/main" id="{4FEFD075-1EE2-474D-A611-802D5F0C906E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3" name="U06-DG-025-branch_2-body">
            <a:extLst>
              <a:ext uri="{FF2B5EF4-FFF2-40B4-BE49-F238E27FC236}">
                <a16:creationId xmlns:a16="http://schemas.microsoft.com/office/drawing/2014/main" id="{EAFDE156-70F1-49D7-B614-803AFD07554E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osicular</a:t>
            </a:r>
          </a:p>
        </p:txBody>
      </p:sp>
      <p:sp>
        <p:nvSpPr>
          <p:cNvPr id="24" name="U06-DG-025-branch_3-box">
            <a:extLst>
              <a:ext uri="{FF2B5EF4-FFF2-40B4-BE49-F238E27FC236}">
                <a16:creationId xmlns:a16="http://schemas.microsoft.com/office/drawing/2014/main" id="{9CFD674C-CDC3-4639-8E10-805722F67E0D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5" name="U06-DG-025-branch_3-title">
            <a:extLst>
              <a:ext uri="{FF2B5EF4-FFF2-40B4-BE49-F238E27FC236}">
                <a16:creationId xmlns:a16="http://schemas.microsoft.com/office/drawing/2014/main" id="{B14D886B-2717-46AF-9283-FAD5691874C7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6" name="U06-DG-025-branch_3-body">
            <a:extLst>
              <a:ext uri="{FF2B5EF4-FFF2-40B4-BE49-F238E27FC236}">
                <a16:creationId xmlns:a16="http://schemas.microsoft.com/office/drawing/2014/main" id="{462BAFD6-67E4-45DC-9E60-D9043283E187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 fluidos</a:t>
            </a:r>
          </a:p>
        </p:txBody>
      </p:sp>
      <p:sp>
        <p:nvSpPr>
          <p:cNvPr id="27" name="U06-DG-025-branch_4-box">
            <a:extLst>
              <a:ext uri="{FF2B5EF4-FFF2-40B4-BE49-F238E27FC236}">
                <a16:creationId xmlns:a16="http://schemas.microsoft.com/office/drawing/2014/main" id="{D6A5A64D-2D25-4050-AAA8-BDD479B0FFC6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8" name="U06-DG-025-branch_4-title">
            <a:extLst>
              <a:ext uri="{FF2B5EF4-FFF2-40B4-BE49-F238E27FC236}">
                <a16:creationId xmlns:a16="http://schemas.microsoft.com/office/drawing/2014/main" id="{29577F10-741F-4A16-8412-9F8EE438494B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Cambio de forma</a:t>
            </a:r>
          </a:p>
        </p:txBody>
      </p:sp>
      <p:sp>
        <p:nvSpPr>
          <p:cNvPr id="29" name="U06-DG-025-branch_4-body">
            <a:extLst>
              <a:ext uri="{FF2B5EF4-FFF2-40B4-BE49-F238E27FC236}">
                <a16:creationId xmlns:a16="http://schemas.microsoft.com/office/drawing/2014/main" id="{0DBE0B42-36CD-4ED7-996F-6B6FFA9E094E}"/>
              </a:ext>
            </a:extLst>
          </p:cNvPr>
          <p:cNvSpPr>
            <a:spLocks noGrp="1"/>
          </p:cNvSpPr>
          <p:nvPr/>
        </p:nvSpPr>
        <p:spPr>
          <a:xfrm>
            <a:off x="7475220" y="4533900"/>
            <a:ext cx="157734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coclear</a:t>
            </a:r>
          </a:p>
        </p:txBody>
      </p:sp>
      <p:sp>
        <p:nvSpPr>
          <p:cNvPr id="30" name="U06-DG-025-branch_5-box">
            <a:extLst>
              <a:ext uri="{FF2B5EF4-FFF2-40B4-BE49-F238E27FC236}">
                <a16:creationId xmlns:a16="http://schemas.microsoft.com/office/drawing/2014/main" id="{3EBE6EA1-2ED2-457D-B6C5-9BC62B069144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31" name="U06-DG-025-branch_5-title">
            <a:extLst>
              <a:ext uri="{FF2B5EF4-FFF2-40B4-BE49-F238E27FC236}">
                <a16:creationId xmlns:a16="http://schemas.microsoft.com/office/drawing/2014/main" id="{9CB9344E-50E1-4DD4-8D95-9590D4A8B481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</a:t>
            </a:r>
          </a:p>
        </p:txBody>
      </p:sp>
      <p:sp>
        <p:nvSpPr>
          <p:cNvPr id="32" name="U06-DG-025-branch_5-body">
            <a:extLst>
              <a:ext uri="{FF2B5EF4-FFF2-40B4-BE49-F238E27FC236}">
                <a16:creationId xmlns:a16="http://schemas.microsoft.com/office/drawing/2014/main" id="{2924F48B-7462-4760-A7F2-227F7BBA5647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blandos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2DD35248-1F74-481C-B521-7E24D67FC27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importancia relativa cambia con frecuencia, acoplamiento y punto de estimulac…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F57DCABF-5658-4F91-B391-1D20064688E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06FBECD9-776C-4C80-970A-3C37B903543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pared del CAE también puede generar presión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9F4CC36-286B-43EF-8B34-3234BD38660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vibración del canal puede reintroducir una contribución aérea local.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08ED896-45DA-4D5A-A810-9FD0FCEAB41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044</a:t>
            </a:r>
          </a:p>
        </p:txBody>
      </p:sp>
      <p:sp>
        <p:nvSpPr>
          <p:cNvPr id="4" name="U06-DG-026-stage_1-anchor">
            <a:extLst>
              <a:ext uri="{FF2B5EF4-FFF2-40B4-BE49-F238E27FC236}">
                <a16:creationId xmlns:a16="http://schemas.microsoft.com/office/drawing/2014/main" id="{ADECDA38-0C0C-4CEA-858E-07513E6C61C3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6-stage_2-anchor">
            <a:extLst>
              <a:ext uri="{FF2B5EF4-FFF2-40B4-BE49-F238E27FC236}">
                <a16:creationId xmlns:a16="http://schemas.microsoft.com/office/drawing/2014/main" id="{98815237-AA17-4D8B-A97F-2CB4CAA5088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6-stage_3-anchor">
            <a:extLst>
              <a:ext uri="{FF2B5EF4-FFF2-40B4-BE49-F238E27FC236}">
                <a16:creationId xmlns:a16="http://schemas.microsoft.com/office/drawing/2014/main" id="{096E4AC3-B6F2-445A-8CF8-24B92D9A8AF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6-stage_4-anchor">
            <a:extLst>
              <a:ext uri="{FF2B5EF4-FFF2-40B4-BE49-F238E27FC236}">
                <a16:creationId xmlns:a16="http://schemas.microsoft.com/office/drawing/2014/main" id="{534DE0EF-CEC9-4B72-885A-3116E0FB1DD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26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26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26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26-stage_1-box" descr="Diagrama sobre «La pared del CAE también puede generar presión»; organiza pared del cae → presión interna; oclusión como modificador, sin procedimiento clínico." title="Texto alternativo U06-044">
            <a:extLst>
              <a:ext uri="{FF2B5EF4-FFF2-40B4-BE49-F238E27FC236}">
                <a16:creationId xmlns:a16="http://schemas.microsoft.com/office/drawing/2014/main" id="{1FECA75E-95D9-4A60-B9A7-6B17C718180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26-stage_1-title">
            <a:extLst>
              <a:ext uri="{FF2B5EF4-FFF2-40B4-BE49-F238E27FC236}">
                <a16:creationId xmlns:a16="http://schemas.microsoft.com/office/drawing/2014/main" id="{95AFD3FD-33E9-4E2F-B39F-53116519C46D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Cráneo vibra</a:t>
            </a:r>
          </a:p>
        </p:txBody>
      </p:sp>
      <p:sp>
        <p:nvSpPr>
          <p:cNvPr id="13" name="U06-DG-026-stage_1-body">
            <a:extLst>
              <a:ext uri="{FF2B5EF4-FFF2-40B4-BE49-F238E27FC236}">
                <a16:creationId xmlns:a16="http://schemas.microsoft.com/office/drawing/2014/main" id="{777D7035-4F7D-46FA-936F-2392751D25D6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</a:t>
            </a:r>
          </a:p>
        </p:txBody>
      </p:sp>
      <p:sp>
        <p:nvSpPr>
          <p:cNvPr id="14" name="U06-DG-026-stage_2-box">
            <a:extLst>
              <a:ext uri="{FF2B5EF4-FFF2-40B4-BE49-F238E27FC236}">
                <a16:creationId xmlns:a16="http://schemas.microsoft.com/office/drawing/2014/main" id="{419BE4F2-E577-49D7-9394-1CA4777625A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5" name="U06-DG-026-stage_2-title">
            <a:extLst>
              <a:ext uri="{FF2B5EF4-FFF2-40B4-BE49-F238E27FC236}">
                <a16:creationId xmlns:a16="http://schemas.microsoft.com/office/drawing/2014/main" id="{93EE975F-78A2-4748-A040-0A4124B91316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Pared del CAE</a:t>
            </a:r>
          </a:p>
        </p:txBody>
      </p:sp>
      <p:sp>
        <p:nvSpPr>
          <p:cNvPr id="16" name="U06-DG-026-stage_2-body">
            <a:extLst>
              <a:ext uri="{FF2B5EF4-FFF2-40B4-BE49-F238E27FC236}">
                <a16:creationId xmlns:a16="http://schemas.microsoft.com/office/drawing/2014/main" id="{0A8754C7-E196-4C41-90A3-BCCCA1EA4AC2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7" name="U06-DG-026-stage_3-box">
            <a:extLst>
              <a:ext uri="{FF2B5EF4-FFF2-40B4-BE49-F238E27FC236}">
                <a16:creationId xmlns:a16="http://schemas.microsoft.com/office/drawing/2014/main" id="{C09C36CB-84D6-4D20-B83D-88A8F3798D2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26-stage_3-title">
            <a:extLst>
              <a:ext uri="{FF2B5EF4-FFF2-40B4-BE49-F238E27FC236}">
                <a16:creationId xmlns:a16="http://schemas.microsoft.com/office/drawing/2014/main" id="{C27992CA-D70D-4B8A-BDC9-983329BCA1AE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Aire del CAE</a:t>
            </a:r>
          </a:p>
        </p:txBody>
      </p:sp>
      <p:sp>
        <p:nvSpPr>
          <p:cNvPr id="19" name="U06-DG-026-stage_3-body">
            <a:extLst>
              <a:ext uri="{FF2B5EF4-FFF2-40B4-BE49-F238E27FC236}">
                <a16:creationId xmlns:a16="http://schemas.microsoft.com/office/drawing/2014/main" id="{96ED630A-CD32-45F1-9EBA-466DF07E921C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radiada</a:t>
            </a:r>
          </a:p>
        </p:txBody>
      </p:sp>
      <p:sp>
        <p:nvSpPr>
          <p:cNvPr id="20" name="U06-DG-026-stage_4-box">
            <a:extLst>
              <a:ext uri="{FF2B5EF4-FFF2-40B4-BE49-F238E27FC236}">
                <a16:creationId xmlns:a16="http://schemas.microsoft.com/office/drawing/2014/main" id="{942267CC-20F4-4674-B6E0-71A6D56F4CA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26-stage_4-title">
            <a:extLst>
              <a:ext uri="{FF2B5EF4-FFF2-40B4-BE49-F238E27FC236}">
                <a16:creationId xmlns:a16="http://schemas.microsoft.com/office/drawing/2014/main" id="{5C1E9DCF-7E02-43B2-91B9-557AB06E40FC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26-stage_4-body">
            <a:extLst>
              <a:ext uri="{FF2B5EF4-FFF2-40B4-BE49-F238E27FC236}">
                <a16:creationId xmlns:a16="http://schemas.microsoft.com/office/drawing/2014/main" id="{C1DDAC7C-6D99-4B08-9B7D-AEA56E447E76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recibe esa presión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D06A2B64-613E-40A7-8810-855AF5E166A8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vibración del canal puede reintroducir una contribución aérea local.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73B658AF-2237-4AE3-ACA3-CDFD96067176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DB12CDF-0FD9-4E31-AC48-1C6E80917A7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Huesecillos y fluidos responden por inercia relativa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1427E64-78B3-4E9C-9385-50107CEFB70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Lo relevante es movimiento relativo respecto de la cavidad o cápsula.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FB9993E-12DA-474F-B8C2-AFD21D8AA8F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045</a:t>
            </a:r>
          </a:p>
        </p:txBody>
      </p:sp>
      <p:sp>
        <p:nvSpPr>
          <p:cNvPr id="4" name="U06-DG-027-panel_left-anchor">
            <a:extLst>
              <a:ext uri="{FF2B5EF4-FFF2-40B4-BE49-F238E27FC236}">
                <a16:creationId xmlns:a16="http://schemas.microsoft.com/office/drawing/2014/main" id="{CA6EAEC5-8E15-4020-8171-CA6D015A86A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7-panel_right-anchor">
            <a:extLst>
              <a:ext uri="{FF2B5EF4-FFF2-40B4-BE49-F238E27FC236}">
                <a16:creationId xmlns:a16="http://schemas.microsoft.com/office/drawing/2014/main" id="{876BFA15-6647-4AFF-A029-DF8F2468411B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7-panel_left-box" descr="Diagrama sobre «Huesecillos y fluidos responden por inercia relativa»; organiza inercia osicular / inercia de fluidos con entrada, estructura y efecto." title="Texto alternativo U06-045">
            <a:extLst>
              <a:ext uri="{FF2B5EF4-FFF2-40B4-BE49-F238E27FC236}">
                <a16:creationId xmlns:a16="http://schemas.microsoft.com/office/drawing/2014/main" id="{2A0055A7-F22C-4A5F-971B-9B6BC0E2581F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U06-DG-027-panel_left-title">
            <a:extLst>
              <a:ext uri="{FF2B5EF4-FFF2-40B4-BE49-F238E27FC236}">
                <a16:creationId xmlns:a16="http://schemas.microsoft.com/office/drawing/2014/main" id="{3966267A-2001-4D5C-8403-93CC2E337CE2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Cadena osicular</a:t>
            </a:r>
          </a:p>
        </p:txBody>
      </p:sp>
      <p:sp>
        <p:nvSpPr>
          <p:cNvPr id="8" name="U06-DG-027-panel_left-body">
            <a:extLst>
              <a:ext uri="{FF2B5EF4-FFF2-40B4-BE49-F238E27FC236}">
                <a16:creationId xmlns:a16="http://schemas.microsoft.com/office/drawing/2014/main" id="{D415E503-2EE2-46A3-8AEC-CC98B24E592E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retrasa respecto del cráneo movimiento relativo</a:t>
            </a:r>
          </a:p>
        </p:txBody>
      </p:sp>
      <p:sp>
        <p:nvSpPr>
          <p:cNvPr id="9" name="U06-DG-027-panel_right-box">
            <a:extLst>
              <a:ext uri="{FF2B5EF4-FFF2-40B4-BE49-F238E27FC236}">
                <a16:creationId xmlns:a16="http://schemas.microsoft.com/office/drawing/2014/main" id="{1F36D1B8-1C90-43CE-8C1C-0A01E35AF149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27-panel_right-title">
            <a:extLst>
              <a:ext uri="{FF2B5EF4-FFF2-40B4-BE49-F238E27FC236}">
                <a16:creationId xmlns:a16="http://schemas.microsoft.com/office/drawing/2014/main" id="{4949CAC0-95BC-40D0-9DE7-9D3F312A8B0F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Fluidos cocleares</a:t>
            </a:r>
          </a:p>
        </p:txBody>
      </p:sp>
      <p:sp>
        <p:nvSpPr>
          <p:cNvPr id="11" name="U06-DG-027-panel_right-body">
            <a:extLst>
              <a:ext uri="{FF2B5EF4-FFF2-40B4-BE49-F238E27FC236}">
                <a16:creationId xmlns:a16="http://schemas.microsoft.com/office/drawing/2014/main" id="{2E1D9DDC-E1D4-4EE9-98FB-0CA348D70DCC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retrasan respecto de la cápsula diferencia de presión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AE5F0D16-97AC-4CE3-A948-3F1E48F5A87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Lo relevante es movimiento relativo respecto de la cavidad o cápsula.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D8DC153A-D751-4D0E-BE6D-E2EFBCE5E0D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05B71501-B9F2-4FE3-BDB5-13E0CC0C738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cápsula y los tejidos aportan otras diferencias de presión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E7403DBF-5CFF-4C1F-8377-E92A79ABD1C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046</a:t>
            </a:r>
          </a:p>
        </p:txBody>
      </p:sp>
      <p:sp>
        <p:nvSpPr>
          <p:cNvPr id="3" name="U06-DG-028-panel_left-anchor">
            <a:extLst>
              <a:ext uri="{FF2B5EF4-FFF2-40B4-BE49-F238E27FC236}">
                <a16:creationId xmlns:a16="http://schemas.microsoft.com/office/drawing/2014/main" id="{2FDB1B21-E0A6-4EAC-B1A0-BCA8F1677EE8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8-panel_right-anchor">
            <a:extLst>
              <a:ext uri="{FF2B5EF4-FFF2-40B4-BE49-F238E27FC236}">
                <a16:creationId xmlns:a16="http://schemas.microsoft.com/office/drawing/2014/main" id="{FC8CB1A4-F39F-49A0-8640-B70FEF357C82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8-panel_left-box" descr="Diagrama sobre «La cápsula y los tejidos aportan otras diferencias de presión»; organiza dos mecanismos restantes y advertencia de dependencia contextual." title="Texto alternativo U06-046">
            <a:extLst>
              <a:ext uri="{FF2B5EF4-FFF2-40B4-BE49-F238E27FC236}">
                <a16:creationId xmlns:a16="http://schemas.microsoft.com/office/drawing/2014/main" id="{0933843C-3563-4DA8-9118-2A41935EC79E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6" name="U06-DG-028-panel_left-title">
            <a:extLst>
              <a:ext uri="{FF2B5EF4-FFF2-40B4-BE49-F238E27FC236}">
                <a16:creationId xmlns:a16="http://schemas.microsoft.com/office/drawing/2014/main" id="{D65E1B91-5343-4E64-AC3D-646E5A092CCD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Cápsula coclear</a:t>
            </a:r>
          </a:p>
        </p:txBody>
      </p:sp>
      <p:sp>
        <p:nvSpPr>
          <p:cNvPr id="7" name="U06-DG-028-panel_left-body">
            <a:extLst>
              <a:ext uri="{FF2B5EF4-FFF2-40B4-BE49-F238E27FC236}">
                <a16:creationId xmlns:a16="http://schemas.microsoft.com/office/drawing/2014/main" id="{225F1735-C115-4EAE-8717-453FF070CCB7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deformación presiones diferenciales</a:t>
            </a:r>
          </a:p>
        </p:txBody>
      </p:sp>
      <p:sp>
        <p:nvSpPr>
          <p:cNvPr id="8" name="U06-DG-028-panel_right-box">
            <a:extLst>
              <a:ext uri="{FF2B5EF4-FFF2-40B4-BE49-F238E27FC236}">
                <a16:creationId xmlns:a16="http://schemas.microsoft.com/office/drawing/2014/main" id="{D363AFB9-2EB2-4070-88E2-1DE57160A6B2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28-panel_right-title">
            <a:extLst>
              <a:ext uri="{FF2B5EF4-FFF2-40B4-BE49-F238E27FC236}">
                <a16:creationId xmlns:a16="http://schemas.microsoft.com/office/drawing/2014/main" id="{3C00E42A-F12A-44D7-9E3F-FB7DFB305FCC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 blandos</a:t>
            </a:r>
          </a:p>
        </p:txBody>
      </p:sp>
      <p:sp>
        <p:nvSpPr>
          <p:cNvPr id="10" name="U06-DG-028-panel_right-body">
            <a:extLst>
              <a:ext uri="{FF2B5EF4-FFF2-40B4-BE49-F238E27FC236}">
                <a16:creationId xmlns:a16="http://schemas.microsoft.com/office/drawing/2014/main" id="{93021C15-CC4F-4BBF-A509-F3A080314F82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transmiten vibración ruta complementaria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0EAF410C-2FCC-4D34-A309-BC2DF610066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Deformación y transmisión por cavidades pueden contribuir al resultado coclear.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13A9C526-BEC4-4661-B5B4-025114927C3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247127D6-4EFC-44D7-8533-E7D0536794A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vibrador óseo activa más de un mecanismo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7A41702-9B49-498B-9C3D-F7E5161D413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Acoplamiento, ubicación y frecuencia cambian las contribuciones.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E337C8F-8638-4085-986D-226420EE928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047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4F87D52-89D9-48BB-B0FF-CD37BE717CD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Acoplamiento, ubicación y frecuencia cambian las contribuciones.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Transductor, punto de apoyo y rutas físicas posibles..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0F272788-B615-4F81-A2CA-BB76F2F6B31D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D6D83AFC-05DB-497F-819F-F92E93809A52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8D0EDDC2-4FCE-4AF5-80DD-8A5CAAD49112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vibrador apoyado en el cráneo puede activar simultáneamente radiación al CAE, inercias y deformación.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A69DF4E6-8F99-466E-B0FC-9D714B49D5A3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Acoplamiento, ubicación y frecuencia cambian las contribuciones.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898528FA-6252-4AB4-B16A-227268844C6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6.6 y aplicación A3; CM U6→U8; OD-U06-17/19.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title">
            <a:extLst>
              <a:ext uri="{FF2B5EF4-FFF2-40B4-BE49-F238E27FC236}">
                <a16:creationId xmlns:a16="http://schemas.microsoft.com/office/drawing/2014/main" id="{521E901F-DC6B-4FC8-98AB-4938AF7DBC1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varias entradas, una partición coclear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84A294B-8E07-458A-97D0-9150D65949B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“Vía ósea” nombra el estímulo, no una sola ruta interna.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4982937-F072-4798-AC09-9369E7C1B29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048</a:t>
            </a:r>
          </a:p>
        </p:txBody>
      </p:sp>
      <p:sp>
        <p:nvSpPr>
          <p:cNvPr id="4" name="U06-DG-024-target-anchor">
            <a:extLst>
              <a:ext uri="{FF2B5EF4-FFF2-40B4-BE49-F238E27FC236}">
                <a16:creationId xmlns:a16="http://schemas.microsoft.com/office/drawing/2014/main" id="{0EA89127-E28B-4990-BB78-CDC0368A8C4D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1-anchor">
            <a:extLst>
              <a:ext uri="{FF2B5EF4-FFF2-40B4-BE49-F238E27FC236}">
                <a16:creationId xmlns:a16="http://schemas.microsoft.com/office/drawing/2014/main" id="{DA62620C-CCA6-4C0B-8503-681605989549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2-anchor">
            <a:extLst>
              <a:ext uri="{FF2B5EF4-FFF2-40B4-BE49-F238E27FC236}">
                <a16:creationId xmlns:a16="http://schemas.microsoft.com/office/drawing/2014/main" id="{F897F0B9-44D5-4C4D-8C1D-0C18B20260DD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air_3-anchor">
            <a:extLst>
              <a:ext uri="{FF2B5EF4-FFF2-40B4-BE49-F238E27FC236}">
                <a16:creationId xmlns:a16="http://schemas.microsoft.com/office/drawing/2014/main" id="{821AECDE-AC3F-4518-87F2-BC64C73F8A54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air_4-anchor">
            <a:extLst>
              <a:ext uri="{FF2B5EF4-FFF2-40B4-BE49-F238E27FC236}">
                <a16:creationId xmlns:a16="http://schemas.microsoft.com/office/drawing/2014/main" id="{08323AA4-ADC5-45E0-8CA8-9FCC6419D451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1-anchor">
            <a:extLst>
              <a:ext uri="{FF2B5EF4-FFF2-40B4-BE49-F238E27FC236}">
                <a16:creationId xmlns:a16="http://schemas.microsoft.com/office/drawing/2014/main" id="{4BB69F50-E1FA-4B10-9D51-452381CF2C1C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24-bone_2-anchor">
            <a:extLst>
              <a:ext uri="{FF2B5EF4-FFF2-40B4-BE49-F238E27FC236}">
                <a16:creationId xmlns:a16="http://schemas.microsoft.com/office/drawing/2014/main" id="{11C32E23-6D48-4902-908B-9337BCBAFD01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1" name="U06-DG-024-bone_3-anchor">
            <a:extLst>
              <a:ext uri="{FF2B5EF4-FFF2-40B4-BE49-F238E27FC236}">
                <a16:creationId xmlns:a16="http://schemas.microsoft.com/office/drawing/2014/main" id="{2BE2B70C-D4AF-4268-BF23-6A4E4494B987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6" name="U06-DG-024-air_edge_1"/>
          <p:cNvCxnSpPr>
            <a:stCxn id="5" idx="3"/>
            <a:endCxn id="6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edge_2"/>
          <p:cNvCxnSpPr>
            <a:stCxn id="6" idx="3"/>
            <a:endCxn id="7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air_edge_3"/>
          <p:cNvCxnSpPr>
            <a:stCxn id="7" idx="3"/>
            <a:endCxn id="8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air_target"/>
          <p:cNvCxnSpPr>
            <a:stCxn id="8" idx="3"/>
            <a:endCxn id="4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edge_1"/>
          <p:cNvCxnSpPr>
            <a:stCxn id="9" idx="3"/>
            <a:endCxn id="10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1" name="U06-DG-024-bone_edge_2"/>
          <p:cNvCxnSpPr>
            <a:stCxn id="10" idx="3"/>
            <a:endCxn id="11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6-DG-024-bone_target"/>
          <p:cNvCxnSpPr>
            <a:stCxn id="11" idx="3"/>
            <a:endCxn id="4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9" name="U06-DG-024-target-box" descr="Diagrama sobre «Hasta acá: varias entradas, una partición coclear»; organiza tres ideas + respuesta corregida a u06-042." title="Texto alternativo U06-048">
            <a:extLst>
              <a:ext uri="{FF2B5EF4-FFF2-40B4-BE49-F238E27FC236}">
                <a16:creationId xmlns:a16="http://schemas.microsoft.com/office/drawing/2014/main" id="{057E40D7-B035-4431-8810-BD01F20E2C26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24-target-title">
            <a:extLst>
              <a:ext uri="{FF2B5EF4-FFF2-40B4-BE49-F238E27FC236}">
                <a16:creationId xmlns:a16="http://schemas.microsoft.com/office/drawing/2014/main" id="{49397C03-2256-49DD-9285-93F78DCEEF2B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1" name="U06-DG-024-target-body">
            <a:extLst>
              <a:ext uri="{FF2B5EF4-FFF2-40B4-BE49-F238E27FC236}">
                <a16:creationId xmlns:a16="http://schemas.microsoft.com/office/drawing/2014/main" id="{7ED49EB1-294E-4747-8DC5-B8A0BAE8755D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2" name="U06-DG-024-air_1-box">
            <a:extLst>
              <a:ext uri="{FF2B5EF4-FFF2-40B4-BE49-F238E27FC236}">
                <a16:creationId xmlns:a16="http://schemas.microsoft.com/office/drawing/2014/main" id="{5C6E0A01-1B1A-4062-AEF9-A2F16C8C77A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3" name="U06-DG-024-air_1-title">
            <a:extLst>
              <a:ext uri="{FF2B5EF4-FFF2-40B4-BE49-F238E27FC236}">
                <a16:creationId xmlns:a16="http://schemas.microsoft.com/office/drawing/2014/main" id="{3D30B029-75B7-482F-A68E-F55CD7345EA4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4" name="U06-DG-024-air_1-body">
            <a:extLst>
              <a:ext uri="{FF2B5EF4-FFF2-40B4-BE49-F238E27FC236}">
                <a16:creationId xmlns:a16="http://schemas.microsoft.com/office/drawing/2014/main" id="{532F5280-BF61-4BF3-B518-14EA1C9D8179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5" name="U06-DG-024-air_2-box">
            <a:extLst>
              <a:ext uri="{FF2B5EF4-FFF2-40B4-BE49-F238E27FC236}">
                <a16:creationId xmlns:a16="http://schemas.microsoft.com/office/drawing/2014/main" id="{80600219-0CDD-42C8-88A4-9DBDFB8D1B17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6" name="U06-DG-024-air_2-title">
            <a:extLst>
              <a:ext uri="{FF2B5EF4-FFF2-40B4-BE49-F238E27FC236}">
                <a16:creationId xmlns:a16="http://schemas.microsoft.com/office/drawing/2014/main" id="{67DB8FE2-531E-405C-A020-CA702B2B2C13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7" name="U06-DG-024-air_2-body">
            <a:extLst>
              <a:ext uri="{FF2B5EF4-FFF2-40B4-BE49-F238E27FC236}">
                <a16:creationId xmlns:a16="http://schemas.microsoft.com/office/drawing/2014/main" id="{D2459526-9F27-4B42-930E-D56FBE2406C2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8" name="U06-DG-024-air_3-box">
            <a:extLst>
              <a:ext uri="{FF2B5EF4-FFF2-40B4-BE49-F238E27FC236}">
                <a16:creationId xmlns:a16="http://schemas.microsoft.com/office/drawing/2014/main" id="{B722BB1C-A187-421E-8531-4762B8DE8601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9" name="U06-DG-024-air_3-title">
            <a:extLst>
              <a:ext uri="{FF2B5EF4-FFF2-40B4-BE49-F238E27FC236}">
                <a16:creationId xmlns:a16="http://schemas.microsoft.com/office/drawing/2014/main" id="{F67892CE-218D-4452-A88B-7411C59FF14C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30" name="U06-DG-024-air_3-body">
            <a:extLst>
              <a:ext uri="{FF2B5EF4-FFF2-40B4-BE49-F238E27FC236}">
                <a16:creationId xmlns:a16="http://schemas.microsoft.com/office/drawing/2014/main" id="{793AFC64-E815-477A-AE16-ABA1B8C66019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1" name="U06-DG-024-air_4-box">
            <a:extLst>
              <a:ext uri="{FF2B5EF4-FFF2-40B4-BE49-F238E27FC236}">
                <a16:creationId xmlns:a16="http://schemas.microsoft.com/office/drawing/2014/main" id="{231F2B44-1C90-4461-BF7D-B7D8E7197887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2" name="U06-DG-024-air_4-title">
            <a:extLst>
              <a:ext uri="{FF2B5EF4-FFF2-40B4-BE49-F238E27FC236}">
                <a16:creationId xmlns:a16="http://schemas.microsoft.com/office/drawing/2014/main" id="{BA5C4280-D664-4D7F-A235-0C2949AB6A72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3" name="U06-DG-024-air_4-body">
            <a:extLst>
              <a:ext uri="{FF2B5EF4-FFF2-40B4-BE49-F238E27FC236}">
                <a16:creationId xmlns:a16="http://schemas.microsoft.com/office/drawing/2014/main" id="{971BED0C-FED8-4739-8BE5-A2168AFB4794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4" name="U06-DG-024-bone_1-box">
            <a:extLst>
              <a:ext uri="{FF2B5EF4-FFF2-40B4-BE49-F238E27FC236}">
                <a16:creationId xmlns:a16="http://schemas.microsoft.com/office/drawing/2014/main" id="{F5526F66-0970-4FF7-96A9-778B0E06F11B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5" name="U06-DG-024-bone_1-title">
            <a:extLst>
              <a:ext uri="{FF2B5EF4-FFF2-40B4-BE49-F238E27FC236}">
                <a16:creationId xmlns:a16="http://schemas.microsoft.com/office/drawing/2014/main" id="{592F89AF-1A86-4FC8-A299-FC1E053CBA39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6" name="U06-DG-024-bone_1-body">
            <a:extLst>
              <a:ext uri="{FF2B5EF4-FFF2-40B4-BE49-F238E27FC236}">
                <a16:creationId xmlns:a16="http://schemas.microsoft.com/office/drawing/2014/main" id="{C6CDF6CC-37F0-4373-BC9D-AEBE6E2157BC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7" name="U06-DG-024-bone_2-box">
            <a:extLst>
              <a:ext uri="{FF2B5EF4-FFF2-40B4-BE49-F238E27FC236}">
                <a16:creationId xmlns:a16="http://schemas.microsoft.com/office/drawing/2014/main" id="{BA81D711-37ED-490A-89A8-F14584ECDD84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8" name="U06-DG-024-bone_2-title">
            <a:extLst>
              <a:ext uri="{FF2B5EF4-FFF2-40B4-BE49-F238E27FC236}">
                <a16:creationId xmlns:a16="http://schemas.microsoft.com/office/drawing/2014/main" id="{2CB7221D-BAC3-4581-9B4D-06F0FFC52FB3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9" name="U06-DG-024-bone_2-body">
            <a:extLst>
              <a:ext uri="{FF2B5EF4-FFF2-40B4-BE49-F238E27FC236}">
                <a16:creationId xmlns:a16="http://schemas.microsoft.com/office/drawing/2014/main" id="{5A0BAAF6-B341-483E-9BE5-532E4FFC7A35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40" name="U06-DG-024-bone_3-box">
            <a:extLst>
              <a:ext uri="{FF2B5EF4-FFF2-40B4-BE49-F238E27FC236}">
                <a16:creationId xmlns:a16="http://schemas.microsoft.com/office/drawing/2014/main" id="{EF1EC13F-79AC-49BB-AC1A-5936F7A354D7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41" name="U06-DG-024-bone_3-title">
            <a:extLst>
              <a:ext uri="{FF2B5EF4-FFF2-40B4-BE49-F238E27FC236}">
                <a16:creationId xmlns:a16="http://schemas.microsoft.com/office/drawing/2014/main" id="{783902BD-DB43-4BA3-8590-C81362EA9D46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2" name="U06-DG-024-bone_3-body">
            <a:extLst>
              <a:ext uri="{FF2B5EF4-FFF2-40B4-BE49-F238E27FC236}">
                <a16:creationId xmlns:a16="http://schemas.microsoft.com/office/drawing/2014/main" id="{FAA4A964-A944-4974-9AFE-93F9CAE843D3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3" name="caption">
            <a:extLst>
              <a:ext uri="{FF2B5EF4-FFF2-40B4-BE49-F238E27FC236}">
                <a16:creationId xmlns:a16="http://schemas.microsoft.com/office/drawing/2014/main" id="{D218D540-DFEC-4E32-B61D-5FD647BD781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“Vía ósea” nombra el estímulo, no una sola ruta interna.</a:t>
            </a:r>
          </a:p>
        </p:txBody>
      </p:sp>
      <p:sp>
        <p:nvSpPr>
          <p:cNvPr id="44" name="credit">
            <a:extLst>
              <a:ext uri="{FF2B5EF4-FFF2-40B4-BE49-F238E27FC236}">
                <a16:creationId xmlns:a16="http://schemas.microsoft.com/office/drawing/2014/main" id="{0BDDF5C7-FE18-4E3E-BCE1-CDAD900495F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2EE36B77-B84E-4FAE-961B-3D11A44C2A14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049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AF4E6A37-2E58-4983-B178-75521F20CE7F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cóclea necesita dos vistas para entenderse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2422A98-57A2-4839-A995-AA2E67D1A3FD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aporta la vista longitudinal y qué aporta el corte transversal de la cóclea?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CEE40940-27A2-4964-BDB5-DDFC90500CD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Ventana oval y ventana redonda permiten movimiento complementario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7B9940BA-71CB-4B41-9F8F-956C23CBADC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050</a:t>
            </a:r>
          </a:p>
        </p:txBody>
      </p:sp>
      <p:sp>
        <p:nvSpPr>
          <p:cNvPr id="3" name="U06-DG-030-stage_1-anchor">
            <a:extLst>
              <a:ext uri="{FF2B5EF4-FFF2-40B4-BE49-F238E27FC236}">
                <a16:creationId xmlns:a16="http://schemas.microsoft.com/office/drawing/2014/main" id="{BA4A44B1-6556-4CF8-9A74-99B5EA8877A1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0-stage_2-anchor">
            <a:extLst>
              <a:ext uri="{FF2B5EF4-FFF2-40B4-BE49-F238E27FC236}">
                <a16:creationId xmlns:a16="http://schemas.microsoft.com/office/drawing/2014/main" id="{02E039E9-CE41-46F8-9D07-A19F7D52F44B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0-stage_3-anchor">
            <a:extLst>
              <a:ext uri="{FF2B5EF4-FFF2-40B4-BE49-F238E27FC236}">
                <a16:creationId xmlns:a16="http://schemas.microsoft.com/office/drawing/2014/main" id="{E427F62A-C880-464C-92DB-41E296462715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0-stage_4-anchor">
            <a:extLst>
              <a:ext uri="{FF2B5EF4-FFF2-40B4-BE49-F238E27FC236}">
                <a16:creationId xmlns:a16="http://schemas.microsoft.com/office/drawing/2014/main" id="{FC97F55C-9D22-49A9-9765-330B923B0D45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30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30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30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30-stage_1-box" descr="Diagrama sobre «Ventana oval y ventana redonda permiten movimiento complementario»; organiza estribo → presión en fluido → partición → ventana redonda." title="Texto alternativo U06-050">
            <a:extLst>
              <a:ext uri="{FF2B5EF4-FFF2-40B4-BE49-F238E27FC236}">
                <a16:creationId xmlns:a16="http://schemas.microsoft.com/office/drawing/2014/main" id="{22470B47-111C-4B88-A654-93323D17C3A7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30-stage_1-title">
            <a:extLst>
              <a:ext uri="{FF2B5EF4-FFF2-40B4-BE49-F238E27FC236}">
                <a16:creationId xmlns:a16="http://schemas.microsoft.com/office/drawing/2014/main" id="{C67B38B5-D723-44C3-9F28-38A1C0519BB2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Estribo</a:t>
            </a:r>
          </a:p>
        </p:txBody>
      </p:sp>
      <p:sp>
        <p:nvSpPr>
          <p:cNvPr id="12" name="U06-DG-030-stage_1-body">
            <a:extLst>
              <a:ext uri="{FF2B5EF4-FFF2-40B4-BE49-F238E27FC236}">
                <a16:creationId xmlns:a16="http://schemas.microsoft.com/office/drawing/2014/main" id="{0FAB93FD-84AF-40F3-98BE-D50284CAEB84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empuja ventana oval</a:t>
            </a:r>
          </a:p>
        </p:txBody>
      </p:sp>
      <p:sp>
        <p:nvSpPr>
          <p:cNvPr id="13" name="U06-DG-030-stage_2-box">
            <a:extLst>
              <a:ext uri="{FF2B5EF4-FFF2-40B4-BE49-F238E27FC236}">
                <a16:creationId xmlns:a16="http://schemas.microsoft.com/office/drawing/2014/main" id="{F5BE003C-FB7C-4D80-9C70-A7611542D72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30-stage_2-title">
            <a:extLst>
              <a:ext uri="{FF2B5EF4-FFF2-40B4-BE49-F238E27FC236}">
                <a16:creationId xmlns:a16="http://schemas.microsoft.com/office/drawing/2014/main" id="{F683BC2F-7640-45EB-8968-65E352BB7374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 coclear</a:t>
            </a:r>
          </a:p>
        </p:txBody>
      </p:sp>
      <p:sp>
        <p:nvSpPr>
          <p:cNvPr id="15" name="U06-DG-030-stage_2-body">
            <a:extLst>
              <a:ext uri="{FF2B5EF4-FFF2-40B4-BE49-F238E27FC236}">
                <a16:creationId xmlns:a16="http://schemas.microsoft.com/office/drawing/2014/main" id="{E11A77BD-9371-4BB7-AE8D-BBDCD5FD10BF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6" name="U06-DG-030-stage_3-box">
            <a:extLst>
              <a:ext uri="{FF2B5EF4-FFF2-40B4-BE49-F238E27FC236}">
                <a16:creationId xmlns:a16="http://schemas.microsoft.com/office/drawing/2014/main" id="{19930E6D-981D-4FBE-AEEF-95E8747907FF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30-stage_3-title">
            <a:extLst>
              <a:ext uri="{FF2B5EF4-FFF2-40B4-BE49-F238E27FC236}">
                <a16:creationId xmlns:a16="http://schemas.microsoft.com/office/drawing/2014/main" id="{B4D6F323-94AA-4F40-8585-D25592ACABA9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8" name="U06-DG-030-stage_3-body">
            <a:extLst>
              <a:ext uri="{FF2B5EF4-FFF2-40B4-BE49-F238E27FC236}">
                <a16:creationId xmlns:a16="http://schemas.microsoft.com/office/drawing/2014/main" id="{AAD416D2-5CD0-477E-A084-35EEBF4C7A35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redonda · opuesta</a:t>
            </a:r>
          </a:p>
        </p:txBody>
      </p:sp>
      <p:sp>
        <p:nvSpPr>
          <p:cNvPr id="19" name="U06-DG-030-stage_4-box">
            <a:extLst>
              <a:ext uri="{FF2B5EF4-FFF2-40B4-BE49-F238E27FC236}">
                <a16:creationId xmlns:a16="http://schemas.microsoft.com/office/drawing/2014/main" id="{5BC65067-D855-4D33-8AAF-7A0F5784D282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30-stage_4-title">
            <a:extLst>
              <a:ext uri="{FF2B5EF4-FFF2-40B4-BE49-F238E27FC236}">
                <a16:creationId xmlns:a16="http://schemas.microsoft.com/office/drawing/2014/main" id="{57D0CDDE-5B87-47DC-B317-DCA1B8C9A7F2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Frontera</a:t>
            </a:r>
          </a:p>
        </p:txBody>
      </p:sp>
      <p:sp>
        <p:nvSpPr>
          <p:cNvPr id="21" name="U06-DG-030-stage_4-body">
            <a:extLst>
              <a:ext uri="{FF2B5EF4-FFF2-40B4-BE49-F238E27FC236}">
                <a16:creationId xmlns:a16="http://schemas.microsoft.com/office/drawing/2014/main" id="{EFC9DBAC-A560-41D1-AA36-25EA1E652243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respuesta</a:t>
            </a:r>
          </a:p>
        </p:txBody>
      </p:sp>
      <p:sp>
        <p:nvSpPr>
          <p:cNvPr id="22" name="caption">
            <a:extLst>
              <a:ext uri="{FF2B5EF4-FFF2-40B4-BE49-F238E27FC236}">
                <a16:creationId xmlns:a16="http://schemas.microsoft.com/office/drawing/2014/main" id="{C4BCEEA0-7955-4E1C-B9A2-4A0D9025CE7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estribo impulsa en la oval; la redonda permite desplazamiento complementario…</a:t>
            </a:r>
          </a:p>
        </p:txBody>
      </p:sp>
      <p:sp>
        <p:nvSpPr>
          <p:cNvPr id="23" name="credit">
            <a:extLst>
              <a:ext uri="{FF2B5EF4-FFF2-40B4-BE49-F238E27FC236}">
                <a16:creationId xmlns:a16="http://schemas.microsoft.com/office/drawing/2014/main" id="{D1E9FDD9-FB90-4180-BB25-D0C836ABC787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14259206-B59A-4892-9C74-2007365720D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vista longitudinal conecta base, ápex y helicotrema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3B9A596-50CC-47B5-9C06-9FF7E9E21BF8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Rampa vestibular y timpánica se comunican apicalmente mediante helicotrema.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23BD36E-83C6-44B0-8706-F5E7603D18E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051</a:t>
            </a:r>
          </a:p>
        </p:txBody>
      </p:sp>
      <p:sp>
        <p:nvSpPr>
          <p:cNvPr id="4" name="U06-DG-031-stage_1-anchor">
            <a:extLst>
              <a:ext uri="{FF2B5EF4-FFF2-40B4-BE49-F238E27FC236}">
                <a16:creationId xmlns:a16="http://schemas.microsoft.com/office/drawing/2014/main" id="{9848E469-BD98-4368-BBC0-6E50003E38D4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1-stage_2-anchor">
            <a:extLst>
              <a:ext uri="{FF2B5EF4-FFF2-40B4-BE49-F238E27FC236}">
                <a16:creationId xmlns:a16="http://schemas.microsoft.com/office/drawing/2014/main" id="{499D030F-6F67-42CB-BE75-58795E761341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1-stage_3-anchor">
            <a:extLst>
              <a:ext uri="{FF2B5EF4-FFF2-40B4-BE49-F238E27FC236}">
                <a16:creationId xmlns:a16="http://schemas.microsoft.com/office/drawing/2014/main" id="{BAD54CFD-75B6-49E5-95B6-FAC62DD82FF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31-stage_4-anchor">
            <a:extLst>
              <a:ext uri="{FF2B5EF4-FFF2-40B4-BE49-F238E27FC236}">
                <a16:creationId xmlns:a16="http://schemas.microsoft.com/office/drawing/2014/main" id="{5221688C-6210-479E-BC64-F28E49EF5D1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1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1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1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31-stage_1-box" descr="Diagrama sobre «La vista longitudinal conecta base, ápex y helicotrema»; organiza ventanas, base, ápex, dos rampas y helicotrema." title="Texto alternativo U06-051">
            <a:extLst>
              <a:ext uri="{FF2B5EF4-FFF2-40B4-BE49-F238E27FC236}">
                <a16:creationId xmlns:a16="http://schemas.microsoft.com/office/drawing/2014/main" id="{0F02AEE1-9D58-452C-AC88-28DD8CE7700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31-stage_1-title">
            <a:extLst>
              <a:ext uri="{FF2B5EF4-FFF2-40B4-BE49-F238E27FC236}">
                <a16:creationId xmlns:a16="http://schemas.microsoft.com/office/drawing/2014/main" id="{88E3F021-71E9-491D-89CD-AD76EF487A3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13" name="U06-DG-031-stage_1-body">
            <a:extLst>
              <a:ext uri="{FF2B5EF4-FFF2-40B4-BE49-F238E27FC236}">
                <a16:creationId xmlns:a16="http://schemas.microsoft.com/office/drawing/2014/main" id="{32860273-9C14-4DC7-B68C-3C498F2C154B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ventanas</a:t>
            </a:r>
          </a:p>
        </p:txBody>
      </p:sp>
      <p:sp>
        <p:nvSpPr>
          <p:cNvPr id="14" name="U06-DG-031-stage_2-box">
            <a:extLst>
              <a:ext uri="{FF2B5EF4-FFF2-40B4-BE49-F238E27FC236}">
                <a16:creationId xmlns:a16="http://schemas.microsoft.com/office/drawing/2014/main" id="{1FA89832-5903-46DD-860C-862AFB9A2AF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31-stage_2-title">
            <a:extLst>
              <a:ext uri="{FF2B5EF4-FFF2-40B4-BE49-F238E27FC236}">
                <a16:creationId xmlns:a16="http://schemas.microsoft.com/office/drawing/2014/main" id="{1071BF71-0B14-444C-ABF8-9F7FEF125FF6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vuelta</a:t>
            </a:r>
          </a:p>
        </p:txBody>
      </p:sp>
      <p:sp>
        <p:nvSpPr>
          <p:cNvPr id="16" name="U06-DG-031-stage_2-body">
            <a:extLst>
              <a:ext uri="{FF2B5EF4-FFF2-40B4-BE49-F238E27FC236}">
                <a16:creationId xmlns:a16="http://schemas.microsoft.com/office/drawing/2014/main" id="{FEA603EB-F27B-4ADB-A2AF-806F888D373E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7" name="U06-DG-031-stage_3-box">
            <a:extLst>
              <a:ext uri="{FF2B5EF4-FFF2-40B4-BE49-F238E27FC236}">
                <a16:creationId xmlns:a16="http://schemas.microsoft.com/office/drawing/2014/main" id="{5A8726EF-A32E-4123-875E-427EAC725201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31-stage_3-title">
            <a:extLst>
              <a:ext uri="{FF2B5EF4-FFF2-40B4-BE49-F238E27FC236}">
                <a16:creationId xmlns:a16="http://schemas.microsoft.com/office/drawing/2014/main" id="{62C7212D-B376-4CAD-8CAC-1A8EF553B1F4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Vueltas apicales</a:t>
            </a:r>
          </a:p>
        </p:txBody>
      </p:sp>
      <p:sp>
        <p:nvSpPr>
          <p:cNvPr id="19" name="U06-DG-031-stage_3-body">
            <a:extLst>
              <a:ext uri="{FF2B5EF4-FFF2-40B4-BE49-F238E27FC236}">
                <a16:creationId xmlns:a16="http://schemas.microsoft.com/office/drawing/2014/main" id="{E5C1FA09-5DF7-493C-A10C-2681365E1F0E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continúan</a:t>
            </a:r>
          </a:p>
        </p:txBody>
      </p:sp>
      <p:sp>
        <p:nvSpPr>
          <p:cNvPr id="20" name="U06-DG-031-stage_4-box">
            <a:extLst>
              <a:ext uri="{FF2B5EF4-FFF2-40B4-BE49-F238E27FC236}">
                <a16:creationId xmlns:a16="http://schemas.microsoft.com/office/drawing/2014/main" id="{E859EEEA-E0D9-42D8-87FE-AE064AFF542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31-stage_4-title">
            <a:extLst>
              <a:ext uri="{FF2B5EF4-FFF2-40B4-BE49-F238E27FC236}">
                <a16:creationId xmlns:a16="http://schemas.microsoft.com/office/drawing/2014/main" id="{F1420E21-C2A7-4125-9F8B-5AA0249F768B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Ápex</a:t>
            </a:r>
          </a:p>
        </p:txBody>
      </p:sp>
      <p:sp>
        <p:nvSpPr>
          <p:cNvPr id="22" name="U06-DG-031-stage_4-body">
            <a:extLst>
              <a:ext uri="{FF2B5EF4-FFF2-40B4-BE49-F238E27FC236}">
                <a16:creationId xmlns:a16="http://schemas.microsoft.com/office/drawing/2014/main" id="{E512B316-2A9B-46CD-9B90-6ECC318A096C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helicotrema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7D3801E5-4D13-4D4D-A4E8-9E183BD1A3D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Rampa vestibular y timpánica se comunican apicalmente mediante helicotrema.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82E1CD7E-9F48-4207-8C5B-F6EBE7851D6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8AB24276-2269-4C40-AACF-78E2BB4D438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corte transversal muestra tres compartimentos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CD71A1D-4871-41B3-83FC-A923C6F0E9C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Rampa vestibular, conducto coclear/rampa media y rampa timpánica ocupan posiciones distintas.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13DB4AA-7372-4FD9-91B8-2E3E3D0BDA0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052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45B4C79F-B53C-4638-8093-9EFB0B8EE72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Rampa vestibular, conducto coclear/rampa media y rampa timpánica ocupan posiciones distintas.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Tres compartimentos con orientación superior/media/inferior.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824BF67B-A2DD-458B-A739-F2345C2B5E3D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504775C3-1A77-41AC-A4E6-27BA6B8D6F37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143D5E3A-565B-44B4-9E70-458F9C12C510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Rampa vestibular, conducto coclear (rampa media) y rampa timpánica.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D7E9A1D3-A7E0-46B3-8DBE-7434BDF5697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Rampa vestibular, conducto coclear/rampa media y rampa timpánica ocupan posicion…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8D1A864-B18A-4DB5-A0DF-8A299F4C109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6.7.1; PDF p. 160; OD-U06-06.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EB7CF0FA-1ABB-49D6-BD5D-CE5F70BF600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Perilinfa y endolinfa no ocupan los mismos espacios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D240BB1-FC8A-4DD1-BE26-2EE26243A24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Perilinfa: rampas vestibular/timpánica; endolinfa: rampa media.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46901B4-ED68-40B9-9657-EBC713B41F3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053</a:t>
            </a:r>
          </a:p>
        </p:txBody>
      </p:sp>
      <p:sp>
        <p:nvSpPr>
          <p:cNvPr id="4" name="U06-DG-033-layer_1-anchor">
            <a:extLst>
              <a:ext uri="{FF2B5EF4-FFF2-40B4-BE49-F238E27FC236}">
                <a16:creationId xmlns:a16="http://schemas.microsoft.com/office/drawing/2014/main" id="{7D61D386-1E76-4CEA-B940-B7748147779F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3-layer_2-anchor">
            <a:extLst>
              <a:ext uri="{FF2B5EF4-FFF2-40B4-BE49-F238E27FC236}">
                <a16:creationId xmlns:a16="http://schemas.microsoft.com/office/drawing/2014/main" id="{49220262-ECA5-4152-9040-3BED89DCB51B}"/>
              </a:ext>
            </a:extLst>
          </p:cNvPr>
          <p:cNvSpPr>
            <a:spLocks noGrp="1"/>
          </p:cNvSpPr>
          <p:nvPr/>
        </p:nvSpPr>
        <p:spPr>
          <a:xfrm>
            <a:off x="1714500" y="275590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3-layer_3-anchor">
            <a:extLst>
              <a:ext uri="{FF2B5EF4-FFF2-40B4-BE49-F238E27FC236}">
                <a16:creationId xmlns:a16="http://schemas.microsoft.com/office/drawing/2014/main" id="{D9FA12A7-FC8D-4C95-9233-F8698F160CF0}"/>
              </a:ext>
            </a:extLst>
          </p:cNvPr>
          <p:cNvSpPr>
            <a:spLocks noGrp="1"/>
          </p:cNvSpPr>
          <p:nvPr/>
        </p:nvSpPr>
        <p:spPr>
          <a:xfrm>
            <a:off x="1714500" y="423545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33-layer_1-box" descr="Diagrama sobre «Perilinfa y endolinfa no ocupan los mismos espacios»; organiza comparación por ubicación y función en esta unidad; sin composición iónica detallada." title="Texto alternativo U06-053">
            <a:extLst>
              <a:ext uri="{FF2B5EF4-FFF2-40B4-BE49-F238E27FC236}">
                <a16:creationId xmlns:a16="http://schemas.microsoft.com/office/drawing/2014/main" id="{8CEC9A18-4148-4B3F-865B-02F2FA7EE778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33-layer_1-title">
            <a:extLst>
              <a:ext uri="{FF2B5EF4-FFF2-40B4-BE49-F238E27FC236}">
                <a16:creationId xmlns:a16="http://schemas.microsoft.com/office/drawing/2014/main" id="{5A939E71-61F7-4A99-A467-7658D61A7A26}"/>
              </a:ext>
            </a:extLst>
          </p:cNvPr>
          <p:cNvSpPr>
            <a:spLocks noGrp="1"/>
          </p:cNvSpPr>
          <p:nvPr/>
        </p:nvSpPr>
        <p:spPr>
          <a:xfrm>
            <a:off x="1905000" y="14192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</a:t>
            </a:r>
          </a:p>
        </p:txBody>
      </p:sp>
      <p:sp>
        <p:nvSpPr>
          <p:cNvPr id="9" name="U06-DG-033-layer_1-body">
            <a:extLst>
              <a:ext uri="{FF2B5EF4-FFF2-40B4-BE49-F238E27FC236}">
                <a16:creationId xmlns:a16="http://schemas.microsoft.com/office/drawing/2014/main" id="{5A7B0562-834E-4796-888D-549FE076FB36}"/>
              </a:ext>
            </a:extLst>
          </p:cNvPr>
          <p:cNvSpPr>
            <a:spLocks noGrp="1"/>
          </p:cNvSpPr>
          <p:nvPr/>
        </p:nvSpPr>
        <p:spPr>
          <a:xfrm>
            <a:off x="1905000" y="186690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perilinfa</a:t>
            </a:r>
          </a:p>
        </p:txBody>
      </p:sp>
      <p:sp>
        <p:nvSpPr>
          <p:cNvPr id="10" name="U06-DG-033-layer_2-box">
            <a:extLst>
              <a:ext uri="{FF2B5EF4-FFF2-40B4-BE49-F238E27FC236}">
                <a16:creationId xmlns:a16="http://schemas.microsoft.com/office/drawing/2014/main" id="{70F87E19-1757-4A6F-A17A-71C1F03BEA36}"/>
              </a:ext>
            </a:extLst>
          </p:cNvPr>
          <p:cNvSpPr>
            <a:spLocks noGrp="1"/>
          </p:cNvSpPr>
          <p:nvPr/>
        </p:nvSpPr>
        <p:spPr>
          <a:xfrm>
            <a:off x="1714500" y="275590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1" name="U06-DG-033-layer_2-title">
            <a:extLst>
              <a:ext uri="{FF2B5EF4-FFF2-40B4-BE49-F238E27FC236}">
                <a16:creationId xmlns:a16="http://schemas.microsoft.com/office/drawing/2014/main" id="{908316DB-C04A-415E-8E90-CE63C9338E92}"/>
              </a:ext>
            </a:extLst>
          </p:cNvPr>
          <p:cNvSpPr>
            <a:spLocks noGrp="1"/>
          </p:cNvSpPr>
          <p:nvPr/>
        </p:nvSpPr>
        <p:spPr>
          <a:xfrm>
            <a:off x="1905000" y="289877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</a:t>
            </a:r>
          </a:p>
        </p:txBody>
      </p:sp>
      <p:sp>
        <p:nvSpPr>
          <p:cNvPr id="12" name="U06-DG-033-layer_2-body">
            <a:extLst>
              <a:ext uri="{FF2B5EF4-FFF2-40B4-BE49-F238E27FC236}">
                <a16:creationId xmlns:a16="http://schemas.microsoft.com/office/drawing/2014/main" id="{AA253D9C-383B-4D58-B785-7D198B1A09C9}"/>
              </a:ext>
            </a:extLst>
          </p:cNvPr>
          <p:cNvSpPr>
            <a:spLocks noGrp="1"/>
          </p:cNvSpPr>
          <p:nvPr/>
        </p:nvSpPr>
        <p:spPr>
          <a:xfrm>
            <a:off x="1905000" y="334645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endolinfa</a:t>
            </a:r>
          </a:p>
        </p:txBody>
      </p:sp>
      <p:sp>
        <p:nvSpPr>
          <p:cNvPr id="13" name="U06-DG-033-layer_3-box">
            <a:extLst>
              <a:ext uri="{FF2B5EF4-FFF2-40B4-BE49-F238E27FC236}">
                <a16:creationId xmlns:a16="http://schemas.microsoft.com/office/drawing/2014/main" id="{12E5C45D-5D27-4C2D-89E1-8E93175B6E78}"/>
              </a:ext>
            </a:extLst>
          </p:cNvPr>
          <p:cNvSpPr>
            <a:spLocks noGrp="1"/>
          </p:cNvSpPr>
          <p:nvPr/>
        </p:nvSpPr>
        <p:spPr>
          <a:xfrm>
            <a:off x="1714500" y="423545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33-layer_3-title">
            <a:extLst>
              <a:ext uri="{FF2B5EF4-FFF2-40B4-BE49-F238E27FC236}">
                <a16:creationId xmlns:a16="http://schemas.microsoft.com/office/drawing/2014/main" id="{EE26E4C4-670D-4399-AF83-170B0282A5DA}"/>
              </a:ext>
            </a:extLst>
          </p:cNvPr>
          <p:cNvSpPr>
            <a:spLocks noGrp="1"/>
          </p:cNvSpPr>
          <p:nvPr/>
        </p:nvSpPr>
        <p:spPr>
          <a:xfrm>
            <a:off x="1905000" y="43783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timpánica</a:t>
            </a:r>
          </a:p>
        </p:txBody>
      </p:sp>
      <p:sp>
        <p:nvSpPr>
          <p:cNvPr id="15" name="U06-DG-033-layer_3-body">
            <a:extLst>
              <a:ext uri="{FF2B5EF4-FFF2-40B4-BE49-F238E27FC236}">
                <a16:creationId xmlns:a16="http://schemas.microsoft.com/office/drawing/2014/main" id="{756FA33D-E3DA-44C3-906E-BF28DF3B313B}"/>
              </a:ext>
            </a:extLst>
          </p:cNvPr>
          <p:cNvSpPr>
            <a:spLocks noGrp="1"/>
          </p:cNvSpPr>
          <p:nvPr/>
        </p:nvSpPr>
        <p:spPr>
          <a:xfrm>
            <a:off x="1905000" y="482600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perilinfa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33D3AA16-EC69-4C7A-87FB-3A0409676D0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Perilinfa: rampas vestibular/timpánica; endolinfa: rampa media.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CEA0C797-2F1D-4112-B63F-B6E936E357D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96BF5F90-FBE2-41C7-ACD1-2E93B205339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Reissner y basilar delimitan la rampa media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DCD9596-E281-4411-BC00-F56BAB413B7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Las membranas separan compartimentos y sostienen la micromecánica.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64C0084-9045-4F82-B840-E70E92CC088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054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8E01C320-CFFE-4B65-AE99-BD300532BBA3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membranas separan compartimentos y sostienen la micromecánica.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Reissner arriba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basilar abajo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 apoyado en basilar.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3761E998-11C0-44C3-86FB-735759476CF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Las membranas separan compartimentos y sostienen la micromecánica.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B03C18E0-4E65-4E03-AD45-4E7304F49383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6.7.1; PDF p. 160.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FC78E28E-5647-4306-A37A-8A96EE4D1A5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membrana tectorial se relaciona con los haces de estereocilios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15D58303-2A9B-4353-B2C2-8CE36C48DD75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055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0A7A1FC4-E641-46FA-B7B7-1AB071A823D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estímulo celular depende de movimiento relativo dentro de la partición.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Basilar, órgano de Corti, tectorial y estereocilios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relación espacial básica.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ABCD490B-5A63-43A2-AABD-51DC671A4F3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estímulo celular depende de movimiento relativo dentro de la partición.</a:t>
            </a:r>
          </a:p>
        </p:txBody>
      </p:sp>
      <p:sp>
        <p:nvSpPr>
          <p:cNvPr id="5" name="credit">
            <a:extLst>
              <a:ext uri="{FF2B5EF4-FFF2-40B4-BE49-F238E27FC236}">
                <a16:creationId xmlns:a16="http://schemas.microsoft.com/office/drawing/2014/main" id="{8B5072F2-8841-4209-8C57-04E90E940EB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6.7.1 y 6.8.1; PDF pp. 160–161; REF fettiplace2017.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8EFE0E3-4FC2-46A7-9C9B-0CEFEA54EEB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órgano de Corti integra soporte y células sensoriales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B7EE8A1-BD18-4F02-A8FA-53ECEC78B30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No es una célula ni una membrana: es una organización sobre la basilar.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B127AAA-C1C8-48E0-AECD-14E3F7D00BD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056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349919AE-6D02-4FF4-98DC-FC2C4269090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es una célula ni una membrana: es una organización sobre la basilar.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Definición, ubicación y componentes que se desarrollarán en B07.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C60B220F-F1FE-4C49-B816-5FE7FD02458F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F3BD314E-15CB-4B53-847C-1D8AAA9C1B3F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88DBC98C-D2CB-431B-8A3F-A5F0981DA0EB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Corti: organización sensorial y de sostén ubicada sobre la membrana basilar.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8FF27FE3-B291-4770-B6BC-FBF170E9D13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No es una célula ni una membrana: es una organización sobre la basilar.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16A9A8D-56F8-4055-B270-0E919ECF9CC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6.8.1; PDF p. 161; REF fettiplace2017.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9798D92D-7E12-465F-B293-1DF0096E754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Túnel de Corti: ubicación y delimitación anatómica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91B8914-E691-4BEA-B788-7D33A7646EB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 un espacio triangular delimitado por los pilares interno y externo sobre la membrana basilar.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6B70B0E-E9F6-40F3-A5BA-A10591BE4A1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057</a:t>
            </a:r>
          </a:p>
        </p:txBody>
      </p:sp>
      <p:sp>
        <p:nvSpPr>
          <p:cNvPr id="4" name="tunnel-inner-box">
            <a:extLst>
              <a:ext uri="{FF2B5EF4-FFF2-40B4-BE49-F238E27FC236}">
                <a16:creationId xmlns:a16="http://schemas.microsoft.com/office/drawing/2014/main" id="{314AE33A-5017-4163-987A-82430B479D46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2714625" cy="1952625"/>
          </a:xfrm>
          <a:prstGeom prst="roundRect">
            <a:avLst>
              <a:gd name="adj" fmla="val 585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tunnel-inner-title">
            <a:extLst>
              <a:ext uri="{FF2B5EF4-FFF2-40B4-BE49-F238E27FC236}">
                <a16:creationId xmlns:a16="http://schemas.microsoft.com/office/drawing/2014/main" id="{E624A6A0-2DD7-43C2-91C7-3E42F524D105}"/>
              </a:ext>
            </a:extLst>
          </p:cNvPr>
          <p:cNvSpPr>
            <a:spLocks noGrp="1"/>
          </p:cNvSpPr>
          <p:nvPr/>
        </p:nvSpPr>
        <p:spPr>
          <a:xfrm>
            <a:off x="933450" y="2181225"/>
            <a:ext cx="2371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Pilar interno</a:t>
            </a:r>
          </a:p>
        </p:txBody>
      </p:sp>
      <p:sp>
        <p:nvSpPr>
          <p:cNvPr id="6" name="tunnel-inner-body">
            <a:extLst>
              <a:ext uri="{FF2B5EF4-FFF2-40B4-BE49-F238E27FC236}">
                <a16:creationId xmlns:a16="http://schemas.microsoft.com/office/drawing/2014/main" id="{543D3AE0-8156-499D-9D79-C25A5A12A782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23717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medial</a:t>
            </a:r>
          </a:p>
        </p:txBody>
      </p:sp>
      <p:sp>
        <p:nvSpPr>
          <p:cNvPr id="7" name="tunnel-space-box">
            <a:extLst>
              <a:ext uri="{FF2B5EF4-FFF2-40B4-BE49-F238E27FC236}">
                <a16:creationId xmlns:a16="http://schemas.microsoft.com/office/drawing/2014/main" id="{9B580DCE-487A-4E2D-86F4-028839678132}"/>
              </a:ext>
            </a:extLst>
          </p:cNvPr>
          <p:cNvSpPr>
            <a:spLocks noGrp="1"/>
          </p:cNvSpPr>
          <p:nvPr/>
        </p:nvSpPr>
        <p:spPr>
          <a:xfrm>
            <a:off x="3905250" y="1762125"/>
            <a:ext cx="4381500" cy="2524125"/>
          </a:xfrm>
          <a:prstGeom prst="roundRect">
            <a:avLst>
              <a:gd name="adj" fmla="val 452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8" name="tunnel-space-title">
            <a:extLst>
              <a:ext uri="{FF2B5EF4-FFF2-40B4-BE49-F238E27FC236}">
                <a16:creationId xmlns:a16="http://schemas.microsoft.com/office/drawing/2014/main" id="{BC877B71-E70C-43E2-B8F5-C4B3DD6DA826}"/>
              </a:ext>
            </a:extLst>
          </p:cNvPr>
          <p:cNvSpPr>
            <a:spLocks noGrp="1"/>
          </p:cNvSpPr>
          <p:nvPr/>
        </p:nvSpPr>
        <p:spPr>
          <a:xfrm>
            <a:off x="4076700" y="1895475"/>
            <a:ext cx="403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Túnel de Corti</a:t>
            </a:r>
          </a:p>
        </p:txBody>
      </p:sp>
      <p:sp>
        <p:nvSpPr>
          <p:cNvPr id="9" name="tunnel-space-body">
            <a:extLst>
              <a:ext uri="{FF2B5EF4-FFF2-40B4-BE49-F238E27FC236}">
                <a16:creationId xmlns:a16="http://schemas.microsoft.com/office/drawing/2014/main" id="{98AFB507-7B51-43F3-AEFD-B805E6DA3E10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40386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Espacio triangular lleno de fluido</a:t>
            </a:r>
          </a:p>
        </p:txBody>
      </p:sp>
      <p:sp>
        <p:nvSpPr>
          <p:cNvPr id="10" name="tunnel-outer-box">
            <a:extLst>
              <a:ext uri="{FF2B5EF4-FFF2-40B4-BE49-F238E27FC236}">
                <a16:creationId xmlns:a16="http://schemas.microsoft.com/office/drawing/2014/main" id="{F6F828C1-351C-4E28-93A4-F5DA61F07BDD}"/>
              </a:ext>
            </a:extLst>
          </p:cNvPr>
          <p:cNvSpPr>
            <a:spLocks noGrp="1"/>
          </p:cNvSpPr>
          <p:nvPr/>
        </p:nvSpPr>
        <p:spPr>
          <a:xfrm>
            <a:off x="8715375" y="2047875"/>
            <a:ext cx="2714625" cy="1952625"/>
          </a:xfrm>
          <a:prstGeom prst="roundRect">
            <a:avLst>
              <a:gd name="adj" fmla="val 585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1" name="tunnel-outer-title">
            <a:extLst>
              <a:ext uri="{FF2B5EF4-FFF2-40B4-BE49-F238E27FC236}">
                <a16:creationId xmlns:a16="http://schemas.microsoft.com/office/drawing/2014/main" id="{A7A47520-DC0A-49B7-8D55-1D2FFEC2C3DB}"/>
              </a:ext>
            </a:extLst>
          </p:cNvPr>
          <p:cNvSpPr>
            <a:spLocks noGrp="1"/>
          </p:cNvSpPr>
          <p:nvPr/>
        </p:nvSpPr>
        <p:spPr>
          <a:xfrm>
            <a:off x="8886825" y="2181225"/>
            <a:ext cx="2371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Pilar externo</a:t>
            </a:r>
          </a:p>
        </p:txBody>
      </p:sp>
      <p:sp>
        <p:nvSpPr>
          <p:cNvPr id="12" name="tunnel-outer-body">
            <a:extLst>
              <a:ext uri="{FF2B5EF4-FFF2-40B4-BE49-F238E27FC236}">
                <a16:creationId xmlns:a16="http://schemas.microsoft.com/office/drawing/2014/main" id="{7F0339EE-C8D4-49D0-A7F7-A96ABE2D7985}"/>
              </a:ext>
            </a:extLst>
          </p:cNvPr>
          <p:cNvSpPr>
            <a:spLocks noGrp="1"/>
          </p:cNvSpPr>
          <p:nvPr/>
        </p:nvSpPr>
        <p:spPr>
          <a:xfrm>
            <a:off x="8886825" y="2581275"/>
            <a:ext cx="23717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lateral</a:t>
            </a:r>
          </a:p>
        </p:txBody>
      </p:sp>
      <p:sp>
        <p:nvSpPr>
          <p:cNvPr id="13" name="tunnel-base-box">
            <a:extLst>
              <a:ext uri="{FF2B5EF4-FFF2-40B4-BE49-F238E27FC236}">
                <a16:creationId xmlns:a16="http://schemas.microsoft.com/office/drawing/2014/main" id="{BFD2E95B-6AC5-4ECA-BA39-F0891AB10E5E}"/>
              </a:ext>
            </a:extLst>
          </p:cNvPr>
          <p:cNvSpPr>
            <a:spLocks noGrp="1"/>
          </p:cNvSpPr>
          <p:nvPr/>
        </p:nvSpPr>
        <p:spPr>
          <a:xfrm>
            <a:off x="2381250" y="4619625"/>
            <a:ext cx="7429500" cy="952500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tunnel-base-title">
            <a:extLst>
              <a:ext uri="{FF2B5EF4-FFF2-40B4-BE49-F238E27FC236}">
                <a16:creationId xmlns:a16="http://schemas.microsoft.com/office/drawing/2014/main" id="{1AB52ACB-7DD4-476E-B128-BA6CED38B4E2}"/>
              </a:ext>
            </a:extLst>
          </p:cNvPr>
          <p:cNvSpPr>
            <a:spLocks noGrp="1"/>
          </p:cNvSpPr>
          <p:nvPr/>
        </p:nvSpPr>
        <p:spPr>
          <a:xfrm>
            <a:off x="2552700" y="4752975"/>
            <a:ext cx="708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 basilar</a:t>
            </a:r>
          </a:p>
        </p:txBody>
      </p:sp>
      <p:sp>
        <p:nvSpPr>
          <p:cNvPr id="15" name="tunnel-base-body">
            <a:extLst>
              <a:ext uri="{FF2B5EF4-FFF2-40B4-BE49-F238E27FC236}">
                <a16:creationId xmlns:a16="http://schemas.microsoft.com/office/drawing/2014/main" id="{4D8BE30A-F8CA-450B-94E9-016B85275F8E}"/>
              </a:ext>
            </a:extLst>
          </p:cNvPr>
          <p:cNvSpPr>
            <a:spLocks noGrp="1"/>
          </p:cNvSpPr>
          <p:nvPr/>
        </p:nvSpPr>
        <p:spPr>
          <a:xfrm>
            <a:off x="2552700" y="5153025"/>
            <a:ext cx="708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zona arcuata completa el límite inferior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8E91DB9B-5F59-4CCA-AE9A-A82627A916A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Esquema anatómico conceptual, no a escala; el rotulado muestra límites y no pretende reproducir histología.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43D4B7FA-0A56-4485-9B10-06CCF92C3B1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PMC1852340; PMC4310856; consulta 2026-08-10.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3DD0671B-B9A4-43B9-983F-EC43770D921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entre la vista longitudinal y el corte?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FC6E5CC-C937-4657-AA47-F6930E1C8E8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vista responde una pregunta distinta y ambas son necesarias.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D93B33D-B87D-428A-97BC-8B8D027E01D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058</a:t>
            </a:r>
          </a:p>
        </p:txBody>
      </p:sp>
      <p:sp>
        <p:nvSpPr>
          <p:cNvPr id="4" name="U06-DG-031-stage_1-anchor">
            <a:extLst>
              <a:ext uri="{FF2B5EF4-FFF2-40B4-BE49-F238E27FC236}">
                <a16:creationId xmlns:a16="http://schemas.microsoft.com/office/drawing/2014/main" id="{38479910-C691-403F-9B05-72F8F40DEC7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1-stage_2-anchor">
            <a:extLst>
              <a:ext uri="{FF2B5EF4-FFF2-40B4-BE49-F238E27FC236}">
                <a16:creationId xmlns:a16="http://schemas.microsoft.com/office/drawing/2014/main" id="{A5D64641-4A01-4936-B18A-5E90B3A5C9A5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1-stage_3-anchor">
            <a:extLst>
              <a:ext uri="{FF2B5EF4-FFF2-40B4-BE49-F238E27FC236}">
                <a16:creationId xmlns:a16="http://schemas.microsoft.com/office/drawing/2014/main" id="{E9306281-3092-4640-95B2-612E35E3631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31-stage_4-anchor">
            <a:extLst>
              <a:ext uri="{FF2B5EF4-FFF2-40B4-BE49-F238E27FC236}">
                <a16:creationId xmlns:a16="http://schemas.microsoft.com/office/drawing/2014/main" id="{891A225E-B07F-4BF3-AD96-05F4EA763AE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1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1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1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31-stage_1-box" descr="Diagrama sobre «¿Qué cambia entre la vista longitudinal y el corte?»; organiza emparejar estructuras visibles en una vista, en ambas o solo en el corte." title="Texto alternativo U06-058">
            <a:extLst>
              <a:ext uri="{FF2B5EF4-FFF2-40B4-BE49-F238E27FC236}">
                <a16:creationId xmlns:a16="http://schemas.microsoft.com/office/drawing/2014/main" id="{C8D96A80-284C-4FFD-A3D3-8CC375F530A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31-stage_1-title">
            <a:extLst>
              <a:ext uri="{FF2B5EF4-FFF2-40B4-BE49-F238E27FC236}">
                <a16:creationId xmlns:a16="http://schemas.microsoft.com/office/drawing/2014/main" id="{1A16E5B2-C5BD-4FC0-8532-E79C28FD3618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13" name="U06-DG-031-stage_1-body">
            <a:extLst>
              <a:ext uri="{FF2B5EF4-FFF2-40B4-BE49-F238E27FC236}">
                <a16:creationId xmlns:a16="http://schemas.microsoft.com/office/drawing/2014/main" id="{CA6A0A0A-AF64-4132-9091-6DA0EFF22C4E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ventanas</a:t>
            </a:r>
          </a:p>
        </p:txBody>
      </p:sp>
      <p:sp>
        <p:nvSpPr>
          <p:cNvPr id="14" name="U06-DG-031-stage_2-box">
            <a:extLst>
              <a:ext uri="{FF2B5EF4-FFF2-40B4-BE49-F238E27FC236}">
                <a16:creationId xmlns:a16="http://schemas.microsoft.com/office/drawing/2014/main" id="{AA6BCE2E-0BF6-43C2-90B5-97500211683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31-stage_2-title">
            <a:extLst>
              <a:ext uri="{FF2B5EF4-FFF2-40B4-BE49-F238E27FC236}">
                <a16:creationId xmlns:a16="http://schemas.microsoft.com/office/drawing/2014/main" id="{846EFD8C-A708-4F3B-9474-D06F0F3D005C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vuelta</a:t>
            </a:r>
          </a:p>
        </p:txBody>
      </p:sp>
      <p:sp>
        <p:nvSpPr>
          <p:cNvPr id="16" name="U06-DG-031-stage_2-body">
            <a:extLst>
              <a:ext uri="{FF2B5EF4-FFF2-40B4-BE49-F238E27FC236}">
                <a16:creationId xmlns:a16="http://schemas.microsoft.com/office/drawing/2014/main" id="{84F1F002-E764-41A1-AB55-1A82CA28CE1A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7" name="U06-DG-031-stage_3-box">
            <a:extLst>
              <a:ext uri="{FF2B5EF4-FFF2-40B4-BE49-F238E27FC236}">
                <a16:creationId xmlns:a16="http://schemas.microsoft.com/office/drawing/2014/main" id="{D74049C1-C281-4913-9BAC-FF822B41821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31-stage_3-title">
            <a:extLst>
              <a:ext uri="{FF2B5EF4-FFF2-40B4-BE49-F238E27FC236}">
                <a16:creationId xmlns:a16="http://schemas.microsoft.com/office/drawing/2014/main" id="{125BA917-4F44-4B57-819E-B2F32F2BDC48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Vueltas apicales</a:t>
            </a:r>
          </a:p>
        </p:txBody>
      </p:sp>
      <p:sp>
        <p:nvSpPr>
          <p:cNvPr id="19" name="U06-DG-031-stage_3-body">
            <a:extLst>
              <a:ext uri="{FF2B5EF4-FFF2-40B4-BE49-F238E27FC236}">
                <a16:creationId xmlns:a16="http://schemas.microsoft.com/office/drawing/2014/main" id="{8B43DE18-D71C-4441-9BAA-54AA16B7C7F0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continúan</a:t>
            </a:r>
          </a:p>
        </p:txBody>
      </p:sp>
      <p:sp>
        <p:nvSpPr>
          <p:cNvPr id="20" name="U06-DG-031-stage_4-box">
            <a:extLst>
              <a:ext uri="{FF2B5EF4-FFF2-40B4-BE49-F238E27FC236}">
                <a16:creationId xmlns:a16="http://schemas.microsoft.com/office/drawing/2014/main" id="{4EFDCC42-76E3-4B85-A572-8E20FCDB1F82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31-stage_4-title">
            <a:extLst>
              <a:ext uri="{FF2B5EF4-FFF2-40B4-BE49-F238E27FC236}">
                <a16:creationId xmlns:a16="http://schemas.microsoft.com/office/drawing/2014/main" id="{98A30715-2C89-48F2-AFFD-E6D5065ED303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Ápex</a:t>
            </a:r>
          </a:p>
        </p:txBody>
      </p:sp>
      <p:sp>
        <p:nvSpPr>
          <p:cNvPr id="22" name="U06-DG-031-stage_4-body">
            <a:extLst>
              <a:ext uri="{FF2B5EF4-FFF2-40B4-BE49-F238E27FC236}">
                <a16:creationId xmlns:a16="http://schemas.microsoft.com/office/drawing/2014/main" id="{368AEDD2-AD49-45BC-B3D5-23DA3881F028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helicotrema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D34A65D2-2AE8-447F-8743-FA583394E1A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Cada vista responde una pregunta distinta y ambas son necesarias.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DFFBE7C6-A171-4778-AF07-4E8D8575011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41392D4-7392-41B0-9683-C761B40B8FE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frontera móvil altera toda la cadena hidromecánica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638CDFF-B20B-4C05-A1CE-FCE1499C546B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estructura aislada no explica por sí sola la respuesta registrada.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56E239D-964E-4A5B-9250-CFD174B2C49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059</a:t>
            </a:r>
          </a:p>
        </p:txBody>
      </p:sp>
      <p:sp>
        <p:nvSpPr>
          <p:cNvPr id="4" name="U06-DG-030-stage_1-anchor">
            <a:extLst>
              <a:ext uri="{FF2B5EF4-FFF2-40B4-BE49-F238E27FC236}">
                <a16:creationId xmlns:a16="http://schemas.microsoft.com/office/drawing/2014/main" id="{A23C62E1-D0E1-43C3-9481-E39F0704D721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0-stage_2-anchor">
            <a:extLst>
              <a:ext uri="{FF2B5EF4-FFF2-40B4-BE49-F238E27FC236}">
                <a16:creationId xmlns:a16="http://schemas.microsoft.com/office/drawing/2014/main" id="{77BCF912-7DC9-4A34-AE94-1784857372D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0-stage_3-anchor">
            <a:extLst>
              <a:ext uri="{FF2B5EF4-FFF2-40B4-BE49-F238E27FC236}">
                <a16:creationId xmlns:a16="http://schemas.microsoft.com/office/drawing/2014/main" id="{90D46540-9CF7-41B1-A253-6978BB388DA3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30-stage_4-anchor">
            <a:extLst>
              <a:ext uri="{FF2B5EF4-FFF2-40B4-BE49-F238E27FC236}">
                <a16:creationId xmlns:a16="http://schemas.microsoft.com/office/drawing/2014/main" id="{1813B70F-FC14-4AD6-AB06-ED46CB3A1B32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0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0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0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30-stage_1-box" descr="Diagrama sobre «Una frontera móvil altera toda la cadena hidromecánica»; organiza caso conceptual: movilidad de ventana/partición y consecuencias posibles." title="Texto alternativo U06-059">
            <a:extLst>
              <a:ext uri="{FF2B5EF4-FFF2-40B4-BE49-F238E27FC236}">
                <a16:creationId xmlns:a16="http://schemas.microsoft.com/office/drawing/2014/main" id="{56ECC61E-291A-49B1-8685-D41B8123DCD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30-stage_1-title">
            <a:extLst>
              <a:ext uri="{FF2B5EF4-FFF2-40B4-BE49-F238E27FC236}">
                <a16:creationId xmlns:a16="http://schemas.microsoft.com/office/drawing/2014/main" id="{961B983E-42FB-4C57-A9A3-522E331BEA98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Estribo</a:t>
            </a:r>
          </a:p>
        </p:txBody>
      </p:sp>
      <p:sp>
        <p:nvSpPr>
          <p:cNvPr id="13" name="U06-DG-030-stage_1-body">
            <a:extLst>
              <a:ext uri="{FF2B5EF4-FFF2-40B4-BE49-F238E27FC236}">
                <a16:creationId xmlns:a16="http://schemas.microsoft.com/office/drawing/2014/main" id="{2E633C2B-7223-4A3C-9BF7-22D1CE1DEC82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empuja ventana oval</a:t>
            </a:r>
          </a:p>
        </p:txBody>
      </p:sp>
      <p:sp>
        <p:nvSpPr>
          <p:cNvPr id="14" name="U06-DG-030-stage_2-box">
            <a:extLst>
              <a:ext uri="{FF2B5EF4-FFF2-40B4-BE49-F238E27FC236}">
                <a16:creationId xmlns:a16="http://schemas.microsoft.com/office/drawing/2014/main" id="{98FE2A73-4E5B-470E-80E6-D40C8B022C5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30-stage_2-title">
            <a:extLst>
              <a:ext uri="{FF2B5EF4-FFF2-40B4-BE49-F238E27FC236}">
                <a16:creationId xmlns:a16="http://schemas.microsoft.com/office/drawing/2014/main" id="{088A5EB7-DD96-4888-BA35-BEEF7AE743A7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 coclear</a:t>
            </a:r>
          </a:p>
        </p:txBody>
      </p:sp>
      <p:sp>
        <p:nvSpPr>
          <p:cNvPr id="16" name="U06-DG-030-stage_2-body">
            <a:extLst>
              <a:ext uri="{FF2B5EF4-FFF2-40B4-BE49-F238E27FC236}">
                <a16:creationId xmlns:a16="http://schemas.microsoft.com/office/drawing/2014/main" id="{DAA4FC01-FD29-45A6-8229-632701F4C71A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7" name="U06-DG-030-stage_3-box">
            <a:extLst>
              <a:ext uri="{FF2B5EF4-FFF2-40B4-BE49-F238E27FC236}">
                <a16:creationId xmlns:a16="http://schemas.microsoft.com/office/drawing/2014/main" id="{E6265ED2-37CD-466C-98D0-D211A207CAA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30-stage_3-title">
            <a:extLst>
              <a:ext uri="{FF2B5EF4-FFF2-40B4-BE49-F238E27FC236}">
                <a16:creationId xmlns:a16="http://schemas.microsoft.com/office/drawing/2014/main" id="{DBD2EEAF-9731-4689-A7C4-4D8DF43E2888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9" name="U06-DG-030-stage_3-body">
            <a:extLst>
              <a:ext uri="{FF2B5EF4-FFF2-40B4-BE49-F238E27FC236}">
                <a16:creationId xmlns:a16="http://schemas.microsoft.com/office/drawing/2014/main" id="{B0185E64-8A2B-4999-BD43-E6DB31B5C125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redonda · opuesta</a:t>
            </a:r>
          </a:p>
        </p:txBody>
      </p:sp>
      <p:sp>
        <p:nvSpPr>
          <p:cNvPr id="20" name="U06-DG-030-stage_4-box">
            <a:extLst>
              <a:ext uri="{FF2B5EF4-FFF2-40B4-BE49-F238E27FC236}">
                <a16:creationId xmlns:a16="http://schemas.microsoft.com/office/drawing/2014/main" id="{2C093A46-6713-457C-B88F-94894F5717EB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30-stage_4-title">
            <a:extLst>
              <a:ext uri="{FF2B5EF4-FFF2-40B4-BE49-F238E27FC236}">
                <a16:creationId xmlns:a16="http://schemas.microsoft.com/office/drawing/2014/main" id="{3CF0074B-5F0B-47BF-9C90-B00B709B27DF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Frontera</a:t>
            </a:r>
          </a:p>
        </p:txBody>
      </p:sp>
      <p:sp>
        <p:nvSpPr>
          <p:cNvPr id="22" name="U06-DG-030-stage_4-body">
            <a:extLst>
              <a:ext uri="{FF2B5EF4-FFF2-40B4-BE49-F238E27FC236}">
                <a16:creationId xmlns:a16="http://schemas.microsoft.com/office/drawing/2014/main" id="{B652B9B0-4E8F-49F1-878E-5476967355E2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respuesta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647BE514-6E0B-4825-BA6C-5903FBB5461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estructura aislada no explica por sí sola la respuesta registrada.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1E402632-745E-44E6-A7DD-C2502533BD1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800F265F-D495-45ED-9294-DBBC5315060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ventanas, compartimentos, fluidos y membranas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7272087-CB8E-41F4-8F26-72FE407FEEF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cóclea combina fronteras móviles y estructuras distribuidas.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DF07617-36F6-4A56-B985-E4A87D41F8C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060</a:t>
            </a:r>
          </a:p>
        </p:txBody>
      </p:sp>
      <p:sp>
        <p:nvSpPr>
          <p:cNvPr id="4" name="U06-DG-037-panel_left-anchor">
            <a:extLst>
              <a:ext uri="{FF2B5EF4-FFF2-40B4-BE49-F238E27FC236}">
                <a16:creationId xmlns:a16="http://schemas.microsoft.com/office/drawing/2014/main" id="{A4E0FC1A-D687-415B-B9BA-7EE98603963F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7-panel_right-anchor">
            <a:extLst>
              <a:ext uri="{FF2B5EF4-FFF2-40B4-BE49-F238E27FC236}">
                <a16:creationId xmlns:a16="http://schemas.microsoft.com/office/drawing/2014/main" id="{A145DD48-3F1A-462C-A610-8805753017B9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7-panel_left-box" descr="Diagrama sobre «Hasta acá: ventanas, compartimentos, fluidos y membranas»; organiza recorrido longitudinal + corte reducido + pregunta “¿dónde se moverá más cada frecuencia?”." title="Texto alternativo U06-060">
            <a:extLst>
              <a:ext uri="{FF2B5EF4-FFF2-40B4-BE49-F238E27FC236}">
                <a16:creationId xmlns:a16="http://schemas.microsoft.com/office/drawing/2014/main" id="{DE3591D3-B86C-4DFA-8C24-45252AB47CAD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U06-DG-037-panel_left-title">
            <a:extLst>
              <a:ext uri="{FF2B5EF4-FFF2-40B4-BE49-F238E27FC236}">
                <a16:creationId xmlns:a16="http://schemas.microsoft.com/office/drawing/2014/main" id="{9C3CE3C3-2EE3-4237-B800-E9C22AD9C163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Vista longitudinal</a:t>
            </a:r>
          </a:p>
        </p:txBody>
      </p:sp>
      <p:sp>
        <p:nvSpPr>
          <p:cNvPr id="8" name="U06-DG-037-panel_left-body">
            <a:extLst>
              <a:ext uri="{FF2B5EF4-FFF2-40B4-BE49-F238E27FC236}">
                <a16:creationId xmlns:a16="http://schemas.microsoft.com/office/drawing/2014/main" id="{7A5F3C18-C280-41B0-92BD-8E825D31C80A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base → ápex lugar característico</a:t>
            </a:r>
          </a:p>
        </p:txBody>
      </p:sp>
      <p:sp>
        <p:nvSpPr>
          <p:cNvPr id="9" name="U06-DG-037-panel_right-box">
            <a:extLst>
              <a:ext uri="{FF2B5EF4-FFF2-40B4-BE49-F238E27FC236}">
                <a16:creationId xmlns:a16="http://schemas.microsoft.com/office/drawing/2014/main" id="{548F6A61-F48E-41EF-AA32-6E338C1989D9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U06-DG-037-panel_right-title">
            <a:extLst>
              <a:ext uri="{FF2B5EF4-FFF2-40B4-BE49-F238E27FC236}">
                <a16:creationId xmlns:a16="http://schemas.microsoft.com/office/drawing/2014/main" id="{C38C68AF-6940-4EA6-9407-259346F065D1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Corte transversal</a:t>
            </a:r>
          </a:p>
        </p:txBody>
      </p:sp>
      <p:sp>
        <p:nvSpPr>
          <p:cNvPr id="11" name="U06-DG-037-panel_right-body">
            <a:extLst>
              <a:ext uri="{FF2B5EF4-FFF2-40B4-BE49-F238E27FC236}">
                <a16:creationId xmlns:a16="http://schemas.microsoft.com/office/drawing/2014/main" id="{3C5A8F66-D893-459B-83F0-113D188CF4A9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compartimentos órgano de Corti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22B06911-6CC0-487D-B93F-CDCE4DB7789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cóclea combina fronteras móviles y estructuras distribuidas.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DCAEE866-C638-4DDD-8463-EB99BB0EC48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79AE3CA2-6BDA-402B-AC04-1781095C3244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061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2D47E0EA-0710-45CE-B682-5F623FDA6C03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respuesta coclear se distribuye a lo largo de la partición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8E7C1CD-4F51-480F-A333-2C1719A4ED89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dependen de la frecuencia y del nivel el lugar y la extensión de la respuesta coclear?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207AC5EB-4FA1-44A2-80CE-4B61EE5FC24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fluidos oscilan; no circulan una vez alrededor de la cóclea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801EE242-C9AF-4522-8A3D-CA15534DD1C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062</a:t>
            </a:r>
          </a:p>
        </p:txBody>
      </p:sp>
      <p:sp>
        <p:nvSpPr>
          <p:cNvPr id="3" name="U06-DG-038-frame_1-anchor">
            <a:extLst>
              <a:ext uri="{FF2B5EF4-FFF2-40B4-BE49-F238E27FC236}">
                <a16:creationId xmlns:a16="http://schemas.microsoft.com/office/drawing/2014/main" id="{91976236-4223-4DA0-AAC5-60E49CFF316D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8-frame_2-anchor">
            <a:extLst>
              <a:ext uri="{FF2B5EF4-FFF2-40B4-BE49-F238E27FC236}">
                <a16:creationId xmlns:a16="http://schemas.microsoft.com/office/drawing/2014/main" id="{95CE3220-EAB0-4B43-BC45-EB9841644414}"/>
              </a:ext>
            </a:extLst>
          </p:cNvPr>
          <p:cNvSpPr>
            <a:spLocks noGrp="1"/>
          </p:cNvSpPr>
          <p:nvPr/>
        </p:nvSpPr>
        <p:spPr>
          <a:xfrm>
            <a:off x="3498056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8-frame_3-anchor">
            <a:extLst>
              <a:ext uri="{FF2B5EF4-FFF2-40B4-BE49-F238E27FC236}">
                <a16:creationId xmlns:a16="http://schemas.microsoft.com/office/drawing/2014/main" id="{DB5418CA-27FF-4965-A1E6-70AD6F5A20A8}"/>
              </a:ext>
            </a:extLst>
          </p:cNvPr>
          <p:cNvSpPr>
            <a:spLocks noGrp="1"/>
          </p:cNvSpPr>
          <p:nvPr/>
        </p:nvSpPr>
        <p:spPr>
          <a:xfrm>
            <a:off x="6215063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8-frame_4-anchor">
            <a:extLst>
              <a:ext uri="{FF2B5EF4-FFF2-40B4-BE49-F238E27FC236}">
                <a16:creationId xmlns:a16="http://schemas.microsoft.com/office/drawing/2014/main" id="{56E579C2-6DE0-44FD-BBF3-C3AB86DFAE94}"/>
              </a:ext>
            </a:extLst>
          </p:cNvPr>
          <p:cNvSpPr>
            <a:spLocks noGrp="1"/>
          </p:cNvSpPr>
          <p:nvPr/>
        </p:nvSpPr>
        <p:spPr>
          <a:xfrm>
            <a:off x="8932069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38-time_1"/>
          <p:cNvCxnSpPr>
            <a:stCxn id="3" idx="3"/>
            <a:endCxn id="4" idx="1"/>
          </p:cNvCxnSpPr>
          <p:nvPr/>
        </p:nvCxnSpPr>
        <p:spPr>
          <a:xfrm>
            <a:off x="3259931" y="3333750"/>
            <a:ext cx="238125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38-time_2"/>
          <p:cNvCxnSpPr>
            <a:stCxn id="4" idx="3"/>
            <a:endCxn id="5" idx="1"/>
          </p:cNvCxnSpPr>
          <p:nvPr/>
        </p:nvCxnSpPr>
        <p:spPr>
          <a:xfrm>
            <a:off x="5976937" y="3333750"/>
            <a:ext cx="238126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38-time_3"/>
          <p:cNvCxnSpPr>
            <a:stCxn id="5" idx="3"/>
            <a:endCxn id="6" idx="1"/>
          </p:cNvCxnSpPr>
          <p:nvPr/>
        </p:nvCxnSpPr>
        <p:spPr>
          <a:xfrm>
            <a:off x="8693944" y="3333750"/>
            <a:ext cx="238125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38-frame_1-box" descr="Diagrama sobre «Los fluidos oscilan; no circulan una vez alrededor de la cóclea»; organiza oscilación local frente a avance de la envolvente." title="Texto alternativo U06-062">
            <a:extLst>
              <a:ext uri="{FF2B5EF4-FFF2-40B4-BE49-F238E27FC236}">
                <a16:creationId xmlns:a16="http://schemas.microsoft.com/office/drawing/2014/main" id="{50E0210E-B293-4614-8FD7-EB573FF30DF5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38-frame_1-title">
            <a:extLst>
              <a:ext uri="{FF2B5EF4-FFF2-40B4-BE49-F238E27FC236}">
                <a16:creationId xmlns:a16="http://schemas.microsoft.com/office/drawing/2014/main" id="{73634109-E8FF-4E42-A700-52C9B0EF6927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t₁</a:t>
            </a:r>
          </a:p>
        </p:txBody>
      </p:sp>
      <p:sp>
        <p:nvSpPr>
          <p:cNvPr id="12" name="U06-DG-038-frame_1-body">
            <a:extLst>
              <a:ext uri="{FF2B5EF4-FFF2-40B4-BE49-F238E27FC236}">
                <a16:creationId xmlns:a16="http://schemas.microsoft.com/office/drawing/2014/main" id="{D2F65D77-EAEC-44F0-9ED7-BAF93ADC2404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inicio en base</a:t>
            </a:r>
          </a:p>
        </p:txBody>
      </p:sp>
      <p:sp>
        <p:nvSpPr>
          <p:cNvPr id="13" name="U06-DG-038-frame_2-box">
            <a:extLst>
              <a:ext uri="{FF2B5EF4-FFF2-40B4-BE49-F238E27FC236}">
                <a16:creationId xmlns:a16="http://schemas.microsoft.com/office/drawing/2014/main" id="{0B93DC8D-DFC1-4456-A9B2-EE170820280E}"/>
              </a:ext>
            </a:extLst>
          </p:cNvPr>
          <p:cNvSpPr>
            <a:spLocks noGrp="1"/>
          </p:cNvSpPr>
          <p:nvPr/>
        </p:nvSpPr>
        <p:spPr>
          <a:xfrm>
            <a:off x="3498056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38-frame_2-title">
            <a:extLst>
              <a:ext uri="{FF2B5EF4-FFF2-40B4-BE49-F238E27FC236}">
                <a16:creationId xmlns:a16="http://schemas.microsoft.com/office/drawing/2014/main" id="{2F432A1C-D97C-4D93-AA01-5D4981F5A814}"/>
              </a:ext>
            </a:extLst>
          </p:cNvPr>
          <p:cNvSpPr>
            <a:spLocks noGrp="1"/>
          </p:cNvSpPr>
          <p:nvPr/>
        </p:nvSpPr>
        <p:spPr>
          <a:xfrm>
            <a:off x="3688556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t₂</a:t>
            </a:r>
          </a:p>
        </p:txBody>
      </p:sp>
      <p:sp>
        <p:nvSpPr>
          <p:cNvPr id="15" name="U06-DG-038-frame_2-body">
            <a:extLst>
              <a:ext uri="{FF2B5EF4-FFF2-40B4-BE49-F238E27FC236}">
                <a16:creationId xmlns:a16="http://schemas.microsoft.com/office/drawing/2014/main" id="{3BB9C540-5613-4BCE-8865-BA04799BD09C}"/>
              </a:ext>
            </a:extLst>
          </p:cNvPr>
          <p:cNvSpPr>
            <a:spLocks noGrp="1"/>
          </p:cNvSpPr>
          <p:nvPr/>
        </p:nvSpPr>
        <p:spPr>
          <a:xfrm>
            <a:off x="3688556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envolvente crece</a:t>
            </a:r>
          </a:p>
        </p:txBody>
      </p:sp>
      <p:sp>
        <p:nvSpPr>
          <p:cNvPr id="16" name="U06-DG-038-frame_3-box">
            <a:extLst>
              <a:ext uri="{FF2B5EF4-FFF2-40B4-BE49-F238E27FC236}">
                <a16:creationId xmlns:a16="http://schemas.microsoft.com/office/drawing/2014/main" id="{46C43E44-6BC5-453C-9BF6-03F78CC1367F}"/>
              </a:ext>
            </a:extLst>
          </p:cNvPr>
          <p:cNvSpPr>
            <a:spLocks noGrp="1"/>
          </p:cNvSpPr>
          <p:nvPr/>
        </p:nvSpPr>
        <p:spPr>
          <a:xfrm>
            <a:off x="6215063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38-frame_3-title">
            <a:extLst>
              <a:ext uri="{FF2B5EF4-FFF2-40B4-BE49-F238E27FC236}">
                <a16:creationId xmlns:a16="http://schemas.microsoft.com/office/drawing/2014/main" id="{00F8119E-46D8-42FE-8E6C-61D8D12B9DCA}"/>
              </a:ext>
            </a:extLst>
          </p:cNvPr>
          <p:cNvSpPr>
            <a:spLocks noGrp="1"/>
          </p:cNvSpPr>
          <p:nvPr/>
        </p:nvSpPr>
        <p:spPr>
          <a:xfrm>
            <a:off x="6405563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t₃</a:t>
            </a:r>
          </a:p>
        </p:txBody>
      </p:sp>
      <p:sp>
        <p:nvSpPr>
          <p:cNvPr id="18" name="U06-DG-038-frame_3-body">
            <a:extLst>
              <a:ext uri="{FF2B5EF4-FFF2-40B4-BE49-F238E27FC236}">
                <a16:creationId xmlns:a16="http://schemas.microsoft.com/office/drawing/2014/main" id="{E58CADD1-BB78-48D0-8985-3DC5A7518551}"/>
              </a:ext>
            </a:extLst>
          </p:cNvPr>
          <p:cNvSpPr>
            <a:spLocks noGrp="1"/>
          </p:cNvSpPr>
          <p:nvPr/>
        </p:nvSpPr>
        <p:spPr>
          <a:xfrm>
            <a:off x="6405563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máximo se desplaza</a:t>
            </a:r>
          </a:p>
        </p:txBody>
      </p:sp>
      <p:sp>
        <p:nvSpPr>
          <p:cNvPr id="19" name="U06-DG-038-frame_4-box">
            <a:extLst>
              <a:ext uri="{FF2B5EF4-FFF2-40B4-BE49-F238E27FC236}">
                <a16:creationId xmlns:a16="http://schemas.microsoft.com/office/drawing/2014/main" id="{5428B136-180D-4BEF-ABC5-D893198262A8}"/>
              </a:ext>
            </a:extLst>
          </p:cNvPr>
          <p:cNvSpPr>
            <a:spLocks noGrp="1"/>
          </p:cNvSpPr>
          <p:nvPr/>
        </p:nvSpPr>
        <p:spPr>
          <a:xfrm>
            <a:off x="8932069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38-frame_4-title">
            <a:extLst>
              <a:ext uri="{FF2B5EF4-FFF2-40B4-BE49-F238E27FC236}">
                <a16:creationId xmlns:a16="http://schemas.microsoft.com/office/drawing/2014/main" id="{A14D04DC-7222-4A31-BEF5-B6013CC07EFC}"/>
              </a:ext>
            </a:extLst>
          </p:cNvPr>
          <p:cNvSpPr>
            <a:spLocks noGrp="1"/>
          </p:cNvSpPr>
          <p:nvPr/>
        </p:nvSpPr>
        <p:spPr>
          <a:xfrm>
            <a:off x="9122569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t₄</a:t>
            </a:r>
          </a:p>
        </p:txBody>
      </p:sp>
      <p:sp>
        <p:nvSpPr>
          <p:cNvPr id="21" name="U06-DG-038-frame_4-body">
            <a:extLst>
              <a:ext uri="{FF2B5EF4-FFF2-40B4-BE49-F238E27FC236}">
                <a16:creationId xmlns:a16="http://schemas.microsoft.com/office/drawing/2014/main" id="{9C7860D4-132F-462F-9288-D4186BDB890B}"/>
              </a:ext>
            </a:extLst>
          </p:cNvPr>
          <p:cNvSpPr>
            <a:spLocks noGrp="1"/>
          </p:cNvSpPr>
          <p:nvPr/>
        </p:nvSpPr>
        <p:spPr>
          <a:xfrm>
            <a:off x="9122569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decae hacia ápex</a:t>
            </a:r>
          </a:p>
        </p:txBody>
      </p:sp>
      <p:sp>
        <p:nvSpPr>
          <p:cNvPr id="22" name="caption">
            <a:extLst>
              <a:ext uri="{FF2B5EF4-FFF2-40B4-BE49-F238E27FC236}">
                <a16:creationId xmlns:a16="http://schemas.microsoft.com/office/drawing/2014/main" id="{B1C96AB1-4B12-4DA9-95FC-E91D1AD97B4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Las partículas se desplazan alrededor de equilibrio mientras el patrón progresa.</a:t>
            </a:r>
          </a:p>
        </p:txBody>
      </p:sp>
      <p:sp>
        <p:nvSpPr>
          <p:cNvPr id="23" name="credit">
            <a:extLst>
              <a:ext uri="{FF2B5EF4-FFF2-40B4-BE49-F238E27FC236}">
                <a16:creationId xmlns:a16="http://schemas.microsoft.com/office/drawing/2014/main" id="{0532870A-612D-4754-9C5D-3A5710E6C7D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C122435B-43F3-4A02-990C-405FEE450FF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crece, alcanza un máximo y decae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E8F82D1-1C20-46C9-BB11-413A58D16B2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máximo no aparece instantáneamente en un punto aislado.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E02B283-C85B-40DC-AD1B-054EF06E542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063</a:t>
            </a:r>
          </a:p>
        </p:txBody>
      </p:sp>
      <p:sp>
        <p:nvSpPr>
          <p:cNvPr id="4" name="U06-DG-039-stage_1-anchor">
            <a:extLst>
              <a:ext uri="{FF2B5EF4-FFF2-40B4-BE49-F238E27FC236}">
                <a16:creationId xmlns:a16="http://schemas.microsoft.com/office/drawing/2014/main" id="{2A5AF981-6F58-46FE-9B88-C59CABB2B02F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9-stage_2-anchor">
            <a:extLst>
              <a:ext uri="{FF2B5EF4-FFF2-40B4-BE49-F238E27FC236}">
                <a16:creationId xmlns:a16="http://schemas.microsoft.com/office/drawing/2014/main" id="{56C5ADDB-DA01-4ECD-BE70-E5C2E442E13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9-stage_3-anchor">
            <a:extLst>
              <a:ext uri="{FF2B5EF4-FFF2-40B4-BE49-F238E27FC236}">
                <a16:creationId xmlns:a16="http://schemas.microsoft.com/office/drawing/2014/main" id="{6FE17625-3AB5-4824-B609-DB96402840E7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39-stage_4-anchor">
            <a:extLst>
              <a:ext uri="{FF2B5EF4-FFF2-40B4-BE49-F238E27FC236}">
                <a16:creationId xmlns:a16="http://schemas.microsoft.com/office/drawing/2014/main" id="{118DA06F-017A-401A-B3DB-F00C4B2726CC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9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9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9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39-stage_1-box" descr="Diagrama sobre «La onda crece, alcanza un máximo y decae»; organiza inicio basal → crecimiento → máximo → decaimiento." title="Texto alternativo U06-063">
            <a:extLst>
              <a:ext uri="{FF2B5EF4-FFF2-40B4-BE49-F238E27FC236}">
                <a16:creationId xmlns:a16="http://schemas.microsoft.com/office/drawing/2014/main" id="{F43B84D8-A779-4CA3-826E-E38EDA84641C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39-stage_1-title">
            <a:extLst>
              <a:ext uri="{FF2B5EF4-FFF2-40B4-BE49-F238E27FC236}">
                <a16:creationId xmlns:a16="http://schemas.microsoft.com/office/drawing/2014/main" id="{EE6320A4-5FB7-4064-A0B7-F1C8A1E4897B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13" name="U06-DG-039-stage_1-body">
            <a:extLst>
              <a:ext uri="{FF2B5EF4-FFF2-40B4-BE49-F238E27FC236}">
                <a16:creationId xmlns:a16="http://schemas.microsoft.com/office/drawing/2014/main" id="{D58D81C4-7CBC-4BD1-B87C-26EE354B5B20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inicia</a:t>
            </a:r>
          </a:p>
        </p:txBody>
      </p:sp>
      <p:sp>
        <p:nvSpPr>
          <p:cNvPr id="14" name="U06-DG-039-stage_2-box">
            <a:extLst>
              <a:ext uri="{FF2B5EF4-FFF2-40B4-BE49-F238E27FC236}">
                <a16:creationId xmlns:a16="http://schemas.microsoft.com/office/drawing/2014/main" id="{6503CFE5-29F3-4B6E-90B3-50FA6D94459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39-stage_2-title">
            <a:extLst>
              <a:ext uri="{FF2B5EF4-FFF2-40B4-BE49-F238E27FC236}">
                <a16:creationId xmlns:a16="http://schemas.microsoft.com/office/drawing/2014/main" id="{73CC3561-6F74-43B4-8900-B95F1C92296E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Crecimiento</a:t>
            </a:r>
          </a:p>
        </p:txBody>
      </p:sp>
      <p:sp>
        <p:nvSpPr>
          <p:cNvPr id="16" name="U06-DG-039-stage_2-body">
            <a:extLst>
              <a:ext uri="{FF2B5EF4-FFF2-40B4-BE49-F238E27FC236}">
                <a16:creationId xmlns:a16="http://schemas.microsoft.com/office/drawing/2014/main" id="{F43B4B6C-ABB9-4A2A-8834-2EA780E6C299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 aumenta</a:t>
            </a:r>
          </a:p>
        </p:txBody>
      </p:sp>
      <p:sp>
        <p:nvSpPr>
          <p:cNvPr id="17" name="U06-DG-039-stage_3-box">
            <a:extLst>
              <a:ext uri="{FF2B5EF4-FFF2-40B4-BE49-F238E27FC236}">
                <a16:creationId xmlns:a16="http://schemas.microsoft.com/office/drawing/2014/main" id="{23417DFB-2411-48FA-898B-48735C23F90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39-stage_3-title">
            <a:extLst>
              <a:ext uri="{FF2B5EF4-FFF2-40B4-BE49-F238E27FC236}">
                <a16:creationId xmlns:a16="http://schemas.microsoft.com/office/drawing/2014/main" id="{0F53A5EF-3B5D-4555-B2BC-7002F678359E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Máximo</a:t>
            </a:r>
          </a:p>
        </p:txBody>
      </p:sp>
      <p:sp>
        <p:nvSpPr>
          <p:cNvPr id="19" name="U06-DG-039-stage_3-body">
            <a:extLst>
              <a:ext uri="{FF2B5EF4-FFF2-40B4-BE49-F238E27FC236}">
                <a16:creationId xmlns:a16="http://schemas.microsoft.com/office/drawing/2014/main" id="{7067FF59-14BB-40DA-BBF2-FFD4A3D92926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20" name="U06-DG-039-stage_4-box">
            <a:extLst>
              <a:ext uri="{FF2B5EF4-FFF2-40B4-BE49-F238E27FC236}">
                <a16:creationId xmlns:a16="http://schemas.microsoft.com/office/drawing/2014/main" id="{DD1773D3-E95E-4156-BAEB-C8294B4FD33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39-stage_4-title">
            <a:extLst>
              <a:ext uri="{FF2B5EF4-FFF2-40B4-BE49-F238E27FC236}">
                <a16:creationId xmlns:a16="http://schemas.microsoft.com/office/drawing/2014/main" id="{370A01AC-9E7D-4DD9-81E9-76260CF983AE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Decaimiento</a:t>
            </a:r>
          </a:p>
        </p:txBody>
      </p:sp>
      <p:sp>
        <p:nvSpPr>
          <p:cNvPr id="22" name="U06-DG-039-stage_4-body">
            <a:extLst>
              <a:ext uri="{FF2B5EF4-FFF2-40B4-BE49-F238E27FC236}">
                <a16:creationId xmlns:a16="http://schemas.microsoft.com/office/drawing/2014/main" id="{D6200565-3A75-478D-AB94-8C4A9BB56C2C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ápex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524702D1-0E94-4B6A-A8FD-D1CED01D2A1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máximo no aparece instantáneamente en un punto aislado.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700E5650-70F9-477D-89D0-A809B62A4D9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B7E5C08C-F18F-4DDE-BFC4-88D76BBA40F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Frecuencias altas y bajas alcanzan máximos en regiones distintas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C4F7CFC-940C-4E23-A4E5-6D95C99223B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064</a:t>
            </a:r>
          </a:p>
        </p:txBody>
      </p:sp>
      <p:pic>
        <p:nvPicPr>
          <p:cNvPr id="8" name="U06-064-U06-CH-001" descr="Gráfico que muestra altas: base; bajas: ápex; las curvas tienen ancho y solapamiento. Ejes, escala y normalización se describen en el propio recurso." title="Texto alternativo U06-0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70F96CF2-83EB-4B04-A1C3-D69CCCF29BC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conceptual: Altas: base; bajas: ápex; las curvas tienen ancho y solapamiento. Las curvas no son d…</a:t>
            </a:r>
          </a:p>
        </p:txBody>
      </p:sp>
      <p:sp>
        <p:nvSpPr>
          <p:cNvPr id="5" name="credit">
            <a:extLst>
              <a:ext uri="{FF2B5EF4-FFF2-40B4-BE49-F238E27FC236}">
                <a16:creationId xmlns:a16="http://schemas.microsoft.com/office/drawing/2014/main" id="{97186387-78EF-4ECF-BD24-466EBAA0A203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222F3B8E-5D6B-4500-A114-2B721E7292D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Lugar característico y tonotopía describen relaciones distintas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3E5BFA9A-560F-4A90-8C42-947145FFF18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065</a:t>
            </a:r>
          </a:p>
        </p:txBody>
      </p:sp>
      <p:sp>
        <p:nvSpPr>
          <p:cNvPr id="3" name="U06-DG-040-panel_left-anchor">
            <a:extLst>
              <a:ext uri="{FF2B5EF4-FFF2-40B4-BE49-F238E27FC236}">
                <a16:creationId xmlns:a16="http://schemas.microsoft.com/office/drawing/2014/main" id="{3700E009-63A5-42B9-8C23-825673DD63CC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0-panel_right-anchor">
            <a:extLst>
              <a:ext uri="{FF2B5EF4-FFF2-40B4-BE49-F238E27FC236}">
                <a16:creationId xmlns:a16="http://schemas.microsoft.com/office/drawing/2014/main" id="{C057C367-9B41-4E3E-BEE5-464A00FB0BC0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0-panel_left-box" descr="Diagrama sobre «Lugar característico y tonotopía describen relaciones distintas»; organiza dos definiciones y ejemplo base/ápex." title="Texto alternativo U06-065">
            <a:extLst>
              <a:ext uri="{FF2B5EF4-FFF2-40B4-BE49-F238E27FC236}">
                <a16:creationId xmlns:a16="http://schemas.microsoft.com/office/drawing/2014/main" id="{41661885-6CED-46C5-B945-2E2254A58D3C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6" name="U06-DG-040-panel_left-title">
            <a:extLst>
              <a:ext uri="{FF2B5EF4-FFF2-40B4-BE49-F238E27FC236}">
                <a16:creationId xmlns:a16="http://schemas.microsoft.com/office/drawing/2014/main" id="{A93FD418-96E5-4ABE-8F37-32F6163319D1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7" name="U06-DG-040-panel_left-body">
            <a:extLst>
              <a:ext uri="{FF2B5EF4-FFF2-40B4-BE49-F238E27FC236}">
                <a16:creationId xmlns:a16="http://schemas.microsoft.com/office/drawing/2014/main" id="{8E28289F-C2B3-4C14-8EB1-B0664F09060C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máxima respuesta para una condición</a:t>
            </a:r>
          </a:p>
        </p:txBody>
      </p:sp>
      <p:sp>
        <p:nvSpPr>
          <p:cNvPr id="8" name="U06-DG-040-panel_right-box">
            <a:extLst>
              <a:ext uri="{FF2B5EF4-FFF2-40B4-BE49-F238E27FC236}">
                <a16:creationId xmlns:a16="http://schemas.microsoft.com/office/drawing/2014/main" id="{3B549A0A-6BD9-43B0-8EE6-3E4B3CF0A545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40-panel_right-title">
            <a:extLst>
              <a:ext uri="{FF2B5EF4-FFF2-40B4-BE49-F238E27FC236}">
                <a16:creationId xmlns:a16="http://schemas.microsoft.com/office/drawing/2014/main" id="{A6641DB2-1AFB-413A-8CA1-F8A14F636050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Tonotopía</a:t>
            </a:r>
          </a:p>
        </p:txBody>
      </p:sp>
      <p:sp>
        <p:nvSpPr>
          <p:cNvPr id="10" name="U06-DG-040-panel_right-body">
            <a:extLst>
              <a:ext uri="{FF2B5EF4-FFF2-40B4-BE49-F238E27FC236}">
                <a16:creationId xmlns:a16="http://schemas.microsoft.com/office/drawing/2014/main" id="{2CA00B38-E8A3-40E5-BC45-3F3D7B9766CB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muchos lugares ordenados continuo espacial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16D2F76B-3EB8-4AEA-A963-19CE6056D11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Lugar característico es una región; tonotopía es la organización ordenada de muc…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C0AB62EE-9DA5-405F-9794-AA5D82ED33C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6B8F8D9E-114C-42C8-8C7F-F4AC2384A39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¿Dónde esperás el máximo de un tono más agudo?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4FACC7F-DD09-4FF1-82B9-E36285960C1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debe justificarse desde el mapa tonotópico.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BE1F168-4BCC-4E6F-92C1-4116245319F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066</a:t>
            </a:r>
          </a:p>
        </p:txBody>
      </p:sp>
      <p:pic>
        <p:nvPicPr>
          <p:cNvPr id="10" name="U06-066-U06-CH-001" descr="Gráfico que muestra la respuesta debe justificarse desde el mapa tonotópico. Ejes, escala y normalización se describen en el propio recurso." title="Texto alternativo U06-0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62AE7891-B0A1-4213-8689-E94DC659EBCA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conceptual: La respuesta debe justificarse desde el mapa tonotópico. Las curvas no son datos clín…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4FE1C767-A721-41D8-9A20-B5AC13BC795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6FC4A278-E689-4525-94FA-D01A736B63D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frecuencia no ocupa una celda coclear fija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17BFBE4-9FEE-4F19-9300-55DFA135252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excitación posee extensión, solapamiento y dependencia del nivel.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52E466B-5DB4-4751-8DA2-A5FB21C363D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067</a:t>
            </a:r>
          </a:p>
        </p:txBody>
      </p:sp>
      <p:pic>
        <p:nvPicPr>
          <p:cNvPr id="10" name="U06-067-U06-CH-001" descr="Gráfico que muestra la excitación posee extensión, solapamiento y dependencia del nivel. Ejes, escala y normalización se describen en el propio recurso." title="Texto alternativo U06-0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3D6B09E1-6EBE-4F8E-A5D0-F8AF6C0E399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conceptual: La excitación posee extensión, solapamiento y dependencia del nivel. Las curvas no so…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2A41AC0A-D2CF-4B2A-BDE2-A0F065745C7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C50FC62E-21EB-4C5D-B716-224F38208DD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débil produce una respuesta más selectiva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37803C7-571A-47D6-AFD8-D6EF0D38FC1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contribución de CCE aumenta sensibilidad y agudiza el máximo.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EE7999C-93E1-49BB-BF2E-F0CAC2ACD13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068</a:t>
            </a:r>
          </a:p>
        </p:txBody>
      </p:sp>
      <p:pic>
        <p:nvPicPr>
          <p:cNvPr id="10" name="U06-068-U06-CH-002A" descr="Gráfico que muestra la contribución de cce aumenta sensibilidad y agudiza el máximo. Ejes, escala y normalización se describen en el propio recurso." title="Texto alternativo U06-0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6B8680EA-BABC-4825-B4B9-E9DF86BC6A0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conceptual: La contribución de CCE aumenta sensibilidad y agudiza el máximo. Las curvas no son da…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EEE9263A-F28C-4AE0-AED9-8CDF085987A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B65CD12F-BBDA-4C9F-90DA-51B2636D31F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intensa extiende la región excitada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3A33081-1162-4057-9532-27D9242C2578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crece de forma compresiva y se ensancha.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2287172-B2F6-4C14-9C69-65E8DA75F0B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069</a:t>
            </a:r>
          </a:p>
        </p:txBody>
      </p:sp>
      <p:pic>
        <p:nvPicPr>
          <p:cNvPr id="10" name="U06-069-U06-CH-002B" descr="Gráfico que muestra la respuesta crece de forma compresiva y se ensancha. Ejes, escala y normalización se describen en el propio recurso." title="Texto alternativo U06-0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44B508E7-DF96-4A8E-9EFE-0A593110E52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conceptual: La respuesta crece de forma compresiva y se ensancha. Las curvas no son datos clínicos.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19698E94-F7E5-401F-8FB3-F576FDEDBE3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7DEFF8DD-4BAF-46AA-86EC-4CA124282A2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proceso activo coclear es compresivo, no una ganancia fija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49222BAB-BC3B-43C5-BE20-3165D632F13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070</a:t>
            </a:r>
          </a:p>
        </p:txBody>
      </p:sp>
      <p:pic>
        <p:nvPicPr>
          <p:cNvPr id="8" name="U06-070-U06-CH-003" descr="Diagrama sobre «El proceso activo coclear es compresivo, no una ganancia fija»; organiza entrada física → respuesta pasiva/activa → compresión; sin modelo electrónico literal." title="Texto alternativo U06-0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CD61B339-0EE0-4279-ACB3-442383608FA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“Amplificador coclear” nombra un proceso dependiente de frecuencia y nivel.</a:t>
            </a:r>
          </a:p>
        </p:txBody>
      </p:sp>
      <p:sp>
        <p:nvSpPr>
          <p:cNvPr id="5" name="credit">
            <a:extLst>
              <a:ext uri="{FF2B5EF4-FFF2-40B4-BE49-F238E27FC236}">
                <a16:creationId xmlns:a16="http://schemas.microsoft.com/office/drawing/2014/main" id="{3C177679-B835-48AF-8417-0E273A1ACAF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82F5DA2E-65DA-428C-8E17-B6615A0B30E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frecuencia cambia el lugar; nivel cambia la extensión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BD6361B5-521D-46AE-A074-307C6CCED13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071</a:t>
            </a:r>
          </a:p>
        </p:txBody>
      </p:sp>
      <p:pic>
        <p:nvPicPr>
          <p:cNvPr id="8" name="U06-071-U06-CH-001" descr="Diagrama sobre «Hasta acá: frecuencia cambia el lugar; nivel cambia la extensión»; organiza tres ideas + pregunta sobre tono de 2 khz a dos niveles." title="Texto alternativo U06-0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382C56F4-524A-47D1-8E6A-9EA8D7F755C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Tonotopía y compresión son respuestas periféricas; pitch y sonoridad vendrán des…</a:t>
            </a:r>
          </a:p>
        </p:txBody>
      </p:sp>
      <p:sp>
        <p:nvSpPr>
          <p:cNvPr id="5" name="credit">
            <a:extLst>
              <a:ext uri="{FF2B5EF4-FFF2-40B4-BE49-F238E27FC236}">
                <a16:creationId xmlns:a16="http://schemas.microsoft.com/office/drawing/2014/main" id="{AE7D7216-1A7D-44C3-AC52-1BE6E4870B93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7D8634DD-D8CF-40F6-9F19-190E0DC13E72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072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12C879CE-C01C-4E21-8AF8-8F950C92BC2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estímulo celular nace del movimiento relativo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7AEC6CB0-6C63-4293-8E0E-91F9FE6E2876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movimiento relativo estimula las células ciliadas?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A94CCB25-891B-435E-80BB-02FD7A47652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órgano de Corti se apoya sobre la membrana basilar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8C13405-2617-41BA-99B0-34F65C5E3E4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organización espacial permite convertir movimiento en deflexión de haces.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41E36D7-905F-4E20-9B69-3180BC8A3A8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073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5605FF5-043F-43EE-848D-C543551B1EE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organización espacial permite convertir movimiento en deflexión de haces.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el corte se distinguen una fila de células ciliadas internas, varias filas de células ciliadas externas, los pilares y el túnel de Corti.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4BFF436B-B7EB-4997-A8CF-6BFA3B941583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organización espacial permite convertir movimiento en deflexión de haces.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45049D70-4276-4B4D-891F-3A251DCBB01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6.8.1; PDF p. 161; REF fettiplace2017; OD-U06-04/14.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8746275C-44E0-4BF4-99F1-5AE9BE418D8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Basilar, tectorial y partición se mueven de manera relativa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D43CB0A-F947-4AE8-B0FD-AA7D290D544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cizallamiento/relación de movimiento deflecta estereocilios.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344C08B-0B3F-44F0-863F-074B4D984C1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074</a:t>
            </a:r>
          </a:p>
        </p:txBody>
      </p:sp>
      <p:sp>
        <p:nvSpPr>
          <p:cNvPr id="4" name="U06-DG-042-panel_left-anchor">
            <a:extLst>
              <a:ext uri="{FF2B5EF4-FFF2-40B4-BE49-F238E27FC236}">
                <a16:creationId xmlns:a16="http://schemas.microsoft.com/office/drawing/2014/main" id="{E7FF4481-6149-43BC-B6A0-FFFBDCFE0127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2-panel_right-anchor">
            <a:extLst>
              <a:ext uri="{FF2B5EF4-FFF2-40B4-BE49-F238E27FC236}">
                <a16:creationId xmlns:a16="http://schemas.microsoft.com/office/drawing/2014/main" id="{7EC3B78D-95B8-4ABD-A369-35F7C8C4DA5F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2-panel_left-box" descr="Diagrama sobre «Basilar, tectorial y partición se mueven de manera relativa»; organiza estado 1/estado 2 y dirección de movimiento; sin afirmar desplazamientos universales." title="Texto alternativo U06-074">
            <a:extLst>
              <a:ext uri="{FF2B5EF4-FFF2-40B4-BE49-F238E27FC236}">
                <a16:creationId xmlns:a16="http://schemas.microsoft.com/office/drawing/2014/main" id="{5489C273-5C79-4AC7-ACA2-E6FC067B6B6C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U06-DG-042-panel_left-title">
            <a:extLst>
              <a:ext uri="{FF2B5EF4-FFF2-40B4-BE49-F238E27FC236}">
                <a16:creationId xmlns:a16="http://schemas.microsoft.com/office/drawing/2014/main" id="{A0030876-6973-4E1A-A76F-D852D5F1B4F3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Estado A</a:t>
            </a:r>
          </a:p>
        </p:txBody>
      </p:sp>
      <p:sp>
        <p:nvSpPr>
          <p:cNvPr id="8" name="U06-DG-042-panel_left-body">
            <a:extLst>
              <a:ext uri="{FF2B5EF4-FFF2-40B4-BE49-F238E27FC236}">
                <a16:creationId xmlns:a16="http://schemas.microsoft.com/office/drawing/2014/main" id="{9AB85103-D380-46F4-884D-00C1B8B28D1B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basilar arriba tectorial relativa</a:t>
            </a:r>
          </a:p>
        </p:txBody>
      </p:sp>
      <p:sp>
        <p:nvSpPr>
          <p:cNvPr id="9" name="U06-DG-042-panel_right-box">
            <a:extLst>
              <a:ext uri="{FF2B5EF4-FFF2-40B4-BE49-F238E27FC236}">
                <a16:creationId xmlns:a16="http://schemas.microsoft.com/office/drawing/2014/main" id="{2F114BE0-3879-4036-B3E7-005B444FAC5C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U06-DG-042-panel_right-title">
            <a:extLst>
              <a:ext uri="{FF2B5EF4-FFF2-40B4-BE49-F238E27FC236}">
                <a16:creationId xmlns:a16="http://schemas.microsoft.com/office/drawing/2014/main" id="{92587A9D-6430-4D46-8F8E-26747740FB13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Estado B</a:t>
            </a:r>
          </a:p>
        </p:txBody>
      </p:sp>
      <p:sp>
        <p:nvSpPr>
          <p:cNvPr id="11" name="U06-DG-042-panel_right-body">
            <a:extLst>
              <a:ext uri="{FF2B5EF4-FFF2-40B4-BE49-F238E27FC236}">
                <a16:creationId xmlns:a16="http://schemas.microsoft.com/office/drawing/2014/main" id="{4D83769E-F63E-4E10-8800-0B706C3D769B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basilar abajo tectorial relativa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4B32BDEA-E0D9-4568-AB23-5496D09E3AC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cizallamiento/relación de movimiento deflecta estereocilios.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34B3AB7A-9085-4CBB-ABAB-81C8ED25B37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69EC153A-3879-4F21-9D0C-610DE3E5F6A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dirección de deflexión cambia la respuesta del haz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C2704F6-A25A-4E8A-A945-CAB7C42905A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no depende solo de “cuánto”, sino también de hacia dónde se deflecta.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13CD27B-959F-4304-9AE8-C02C01F514D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075</a:t>
            </a:r>
          </a:p>
        </p:txBody>
      </p:sp>
      <p:sp>
        <p:nvSpPr>
          <p:cNvPr id="4" name="U06-DG-043-frame_1-anchor">
            <a:extLst>
              <a:ext uri="{FF2B5EF4-FFF2-40B4-BE49-F238E27FC236}">
                <a16:creationId xmlns:a16="http://schemas.microsoft.com/office/drawing/2014/main" id="{83CD4C9F-E3DE-4E56-A1D0-B21C3F42D797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384550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3-frame_2-anchor">
            <a:extLst>
              <a:ext uri="{FF2B5EF4-FFF2-40B4-BE49-F238E27FC236}">
                <a16:creationId xmlns:a16="http://schemas.microsoft.com/office/drawing/2014/main" id="{4EC0093E-3E2D-4915-A578-BE51C7EE24C6}"/>
              </a:ext>
            </a:extLst>
          </p:cNvPr>
          <p:cNvSpPr>
            <a:spLocks noGrp="1"/>
          </p:cNvSpPr>
          <p:nvPr/>
        </p:nvSpPr>
        <p:spPr>
          <a:xfrm>
            <a:off x="4403725" y="2095500"/>
            <a:ext cx="3384550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3-frame_3-anchor">
            <a:extLst>
              <a:ext uri="{FF2B5EF4-FFF2-40B4-BE49-F238E27FC236}">
                <a16:creationId xmlns:a16="http://schemas.microsoft.com/office/drawing/2014/main" id="{CE9C308B-6AC6-47DF-96AE-F3A345C924DB}"/>
              </a:ext>
            </a:extLst>
          </p:cNvPr>
          <p:cNvSpPr>
            <a:spLocks noGrp="1"/>
          </p:cNvSpPr>
          <p:nvPr/>
        </p:nvSpPr>
        <p:spPr>
          <a:xfrm>
            <a:off x="8026400" y="2095500"/>
            <a:ext cx="3384550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3-frame_1-box" descr="Diagrama sobre «La dirección de deflexión cambia la respuesta del haz»; organiza haz en reposo, deflexión excitatoria y opuesta; sin canales todavía." title="Texto alternativo U06-075">
            <a:extLst>
              <a:ext uri="{FF2B5EF4-FFF2-40B4-BE49-F238E27FC236}">
                <a16:creationId xmlns:a16="http://schemas.microsoft.com/office/drawing/2014/main" id="{0866B418-DA02-4874-9433-3A0A576F2A1A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384550" cy="2476500"/>
          </a:xfrm>
          <a:prstGeom prst="roundRect">
            <a:avLst>
              <a:gd name="adj" fmla="val 384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8" name="U06-DG-043-frame_1-title">
            <a:extLst>
              <a:ext uri="{FF2B5EF4-FFF2-40B4-BE49-F238E27FC236}">
                <a16:creationId xmlns:a16="http://schemas.microsoft.com/office/drawing/2014/main" id="{FD2C3D9C-1C51-47C2-94A4-CA681B07F546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300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Reposo</a:t>
            </a:r>
          </a:p>
        </p:txBody>
      </p:sp>
      <p:sp>
        <p:nvSpPr>
          <p:cNvPr id="9" name="U06-DG-043-frame_1-body">
            <a:extLst>
              <a:ext uri="{FF2B5EF4-FFF2-40B4-BE49-F238E27FC236}">
                <a16:creationId xmlns:a16="http://schemas.microsoft.com/office/drawing/2014/main" id="{BB664D1A-C79C-4FC8-B73C-50A2C1C7528C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0035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basal</a:t>
            </a:r>
          </a:p>
        </p:txBody>
      </p:sp>
      <p:sp>
        <p:nvSpPr>
          <p:cNvPr id="10" name="U06-DG-043-frame_2-box">
            <a:extLst>
              <a:ext uri="{FF2B5EF4-FFF2-40B4-BE49-F238E27FC236}">
                <a16:creationId xmlns:a16="http://schemas.microsoft.com/office/drawing/2014/main" id="{7CBB6451-9C18-4675-839F-0FAAE19F7F57}"/>
              </a:ext>
            </a:extLst>
          </p:cNvPr>
          <p:cNvSpPr>
            <a:spLocks noGrp="1"/>
          </p:cNvSpPr>
          <p:nvPr/>
        </p:nvSpPr>
        <p:spPr>
          <a:xfrm>
            <a:off x="4403725" y="2095500"/>
            <a:ext cx="3384550" cy="2476500"/>
          </a:xfrm>
          <a:prstGeom prst="roundRect">
            <a:avLst>
              <a:gd name="adj" fmla="val 384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43-frame_2-title">
            <a:extLst>
              <a:ext uri="{FF2B5EF4-FFF2-40B4-BE49-F238E27FC236}">
                <a16:creationId xmlns:a16="http://schemas.microsoft.com/office/drawing/2014/main" id="{3A96E91F-6B04-4592-A0C0-D766850C671B}"/>
              </a:ext>
            </a:extLst>
          </p:cNvPr>
          <p:cNvSpPr>
            <a:spLocks noGrp="1"/>
          </p:cNvSpPr>
          <p:nvPr/>
        </p:nvSpPr>
        <p:spPr>
          <a:xfrm>
            <a:off x="4594225" y="2238375"/>
            <a:ext cx="3003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Dirección excitatoria</a:t>
            </a:r>
          </a:p>
        </p:txBody>
      </p:sp>
      <p:sp>
        <p:nvSpPr>
          <p:cNvPr id="12" name="U06-DG-043-frame_2-body">
            <a:extLst>
              <a:ext uri="{FF2B5EF4-FFF2-40B4-BE49-F238E27FC236}">
                <a16:creationId xmlns:a16="http://schemas.microsoft.com/office/drawing/2014/main" id="{7799E983-D856-4E5F-8770-C8282E91F78A}"/>
              </a:ext>
            </a:extLst>
          </p:cNvPr>
          <p:cNvSpPr>
            <a:spLocks noGrp="1"/>
          </p:cNvSpPr>
          <p:nvPr/>
        </p:nvSpPr>
        <p:spPr>
          <a:xfrm>
            <a:off x="4594225" y="3009900"/>
            <a:ext cx="30035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apertura aumenta</a:t>
            </a:r>
          </a:p>
        </p:txBody>
      </p:sp>
      <p:sp>
        <p:nvSpPr>
          <p:cNvPr id="13" name="U06-DG-043-frame_3-box">
            <a:extLst>
              <a:ext uri="{FF2B5EF4-FFF2-40B4-BE49-F238E27FC236}">
                <a16:creationId xmlns:a16="http://schemas.microsoft.com/office/drawing/2014/main" id="{8345B8FE-710D-410E-8C77-BEF3C9C34415}"/>
              </a:ext>
            </a:extLst>
          </p:cNvPr>
          <p:cNvSpPr>
            <a:spLocks noGrp="1"/>
          </p:cNvSpPr>
          <p:nvPr/>
        </p:nvSpPr>
        <p:spPr>
          <a:xfrm>
            <a:off x="8026400" y="2095500"/>
            <a:ext cx="3384550" cy="2476500"/>
          </a:xfrm>
          <a:prstGeom prst="roundRect">
            <a:avLst>
              <a:gd name="adj" fmla="val 3846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4" name="U06-DG-043-frame_3-title">
            <a:extLst>
              <a:ext uri="{FF2B5EF4-FFF2-40B4-BE49-F238E27FC236}">
                <a16:creationId xmlns:a16="http://schemas.microsoft.com/office/drawing/2014/main" id="{081048D8-8C67-4238-A4B2-84BCA7E6F453}"/>
              </a:ext>
            </a:extLst>
          </p:cNvPr>
          <p:cNvSpPr>
            <a:spLocks noGrp="1"/>
          </p:cNvSpPr>
          <p:nvPr/>
        </p:nvSpPr>
        <p:spPr>
          <a:xfrm>
            <a:off x="8216900" y="2238375"/>
            <a:ext cx="300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Dirección opuesta</a:t>
            </a:r>
          </a:p>
        </p:txBody>
      </p:sp>
      <p:sp>
        <p:nvSpPr>
          <p:cNvPr id="15" name="U06-DG-043-frame_3-body">
            <a:extLst>
              <a:ext uri="{FF2B5EF4-FFF2-40B4-BE49-F238E27FC236}">
                <a16:creationId xmlns:a16="http://schemas.microsoft.com/office/drawing/2014/main" id="{6968A91A-0089-45F8-8409-9799423D8B6B}"/>
              </a:ext>
            </a:extLst>
          </p:cNvPr>
          <p:cNvSpPr>
            <a:spLocks noGrp="1"/>
          </p:cNvSpPr>
          <p:nvPr/>
        </p:nvSpPr>
        <p:spPr>
          <a:xfrm>
            <a:off x="8216900" y="2686050"/>
            <a:ext cx="30035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apertura disminuye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E93E09A8-D959-4084-ABB1-688CB5826BEF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respuesta no depende solo de “cuánto”, sino también de hacia dónde se deflecta.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4106C6AD-3EFD-4990-A6C6-1556227639A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D2E1FA1C-7049-4F4E-A768-13B3F61D3D4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CCI y CCE comparten transducción, pero no función global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18CCC50-2ACB-484E-857C-908410EFB29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CCI: aferencia principal; CCE: realimentación mecánica activa.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515A3CA-0EFC-4168-B137-1BD22299F7A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076</a:t>
            </a:r>
          </a:p>
        </p:txBody>
      </p:sp>
      <p:sp>
        <p:nvSpPr>
          <p:cNvPr id="4" name="U06-DG-044-central-anchor">
            <a:extLst>
              <a:ext uri="{FF2B5EF4-FFF2-40B4-BE49-F238E27FC236}">
                <a16:creationId xmlns:a16="http://schemas.microsoft.com/office/drawing/2014/main" id="{6EBEDDEA-236F-47A2-8374-D02C70B04F3F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4-branch_1-anchor">
            <a:extLst>
              <a:ext uri="{FF2B5EF4-FFF2-40B4-BE49-F238E27FC236}">
                <a16:creationId xmlns:a16="http://schemas.microsoft.com/office/drawing/2014/main" id="{C5171403-722C-48C2-B284-53FE1831EF7A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4-branch_2-anchor">
            <a:extLst>
              <a:ext uri="{FF2B5EF4-FFF2-40B4-BE49-F238E27FC236}">
                <a16:creationId xmlns:a16="http://schemas.microsoft.com/office/drawing/2014/main" id="{262FA237-CA19-4FC7-9CDF-75E395A44318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4-branch_3-anchor">
            <a:extLst>
              <a:ext uri="{FF2B5EF4-FFF2-40B4-BE49-F238E27FC236}">
                <a16:creationId xmlns:a16="http://schemas.microsoft.com/office/drawing/2014/main" id="{6B94E309-EB82-48AD-BEA1-A4EDA42EC9AB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4-branch_4-anchor">
            <a:extLst>
              <a:ext uri="{FF2B5EF4-FFF2-40B4-BE49-F238E27FC236}">
                <a16:creationId xmlns:a16="http://schemas.microsoft.com/office/drawing/2014/main" id="{CC6AC60C-9F19-48AA-AC95-9B143880761E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44-branch_5-anchor">
            <a:extLst>
              <a:ext uri="{FF2B5EF4-FFF2-40B4-BE49-F238E27FC236}">
                <a16:creationId xmlns:a16="http://schemas.microsoft.com/office/drawing/2014/main" id="{627B54A5-9056-4E84-AE7D-999675BCB573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44-branch_edge_1"/>
          <p:cNvCxnSpPr>
            <a:stCxn id="4" idx="1"/>
            <a:endCxn id="5" idx="3"/>
          </p:cNvCxnSpPr>
          <p:nvPr/>
        </p:nvCxnSpPr>
        <p:spPr>
          <a:xfrm flipH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44-branch_edge_2"/>
          <p:cNvCxnSpPr>
            <a:stCxn id="4" idx="2"/>
            <a:endCxn id="6" idx="0"/>
          </p:cNvCxnSpPr>
          <p:nvPr/>
        </p:nvCxnSpPr>
        <p:spPr>
          <a:xfrm flipH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44-branch_edge_3"/>
          <p:cNvCxnSpPr>
            <a:stCxn id="4" idx="2"/>
            <a:endCxn id="7" idx="0"/>
          </p:cNvCxnSpPr>
          <p:nvPr/>
        </p:nvCxnSpPr>
        <p:spPr>
          <a:xfrm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44-branch_edge_4"/>
          <p:cNvCxnSpPr>
            <a:stCxn id="4" idx="2"/>
            <a:endCxn id="8" idx="0"/>
          </p:cNvCxnSpPr>
          <p:nvPr/>
        </p:nvCxnSpPr>
        <p:spPr>
          <a:xfrm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44-branch_edge_5"/>
          <p:cNvCxnSpPr>
            <a:stCxn id="4" idx="3"/>
            <a:endCxn id="9" idx="1"/>
          </p:cNvCxnSpPr>
          <p:nvPr/>
        </p:nvCxnSpPr>
        <p:spPr>
          <a:xfrm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44-central-box" descr="Diagrama sobre «CCI y CCE comparten transducción, pero no función global»; organiza comparación por entrada, salida inmediata, conexión y consecuencia." title="Texto alternativo U06-076">
            <a:extLst>
              <a:ext uri="{FF2B5EF4-FFF2-40B4-BE49-F238E27FC236}">
                <a16:creationId xmlns:a16="http://schemas.microsoft.com/office/drawing/2014/main" id="{30440C7D-579D-451A-BA85-DF91C43B7FC0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44-central-title">
            <a:extLst>
              <a:ext uri="{FF2B5EF4-FFF2-40B4-BE49-F238E27FC236}">
                <a16:creationId xmlns:a16="http://schemas.microsoft.com/office/drawing/2014/main" id="{37F3EA85-DB7E-45DF-AB39-EA5FC7E035D0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7" name="U06-DG-044-central-body">
            <a:extLst>
              <a:ext uri="{FF2B5EF4-FFF2-40B4-BE49-F238E27FC236}">
                <a16:creationId xmlns:a16="http://schemas.microsoft.com/office/drawing/2014/main" id="{3870B765-DD41-4D3D-844C-18DCCC0EE003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tramo común</a:t>
            </a:r>
          </a:p>
        </p:txBody>
      </p:sp>
      <p:sp>
        <p:nvSpPr>
          <p:cNvPr id="18" name="U06-DG-044-branch_1-box">
            <a:extLst>
              <a:ext uri="{FF2B5EF4-FFF2-40B4-BE49-F238E27FC236}">
                <a16:creationId xmlns:a16="http://schemas.microsoft.com/office/drawing/2014/main" id="{76CBA04C-7ACF-473D-B7D4-116487BA0D98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44-branch_1-title">
            <a:extLst>
              <a:ext uri="{FF2B5EF4-FFF2-40B4-BE49-F238E27FC236}">
                <a16:creationId xmlns:a16="http://schemas.microsoft.com/office/drawing/2014/main" id="{0E3CB035-0821-4C9B-BD6D-036836D41B31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0" name="U06-DG-044-branch_1-body">
            <a:extLst>
              <a:ext uri="{FF2B5EF4-FFF2-40B4-BE49-F238E27FC236}">
                <a16:creationId xmlns:a16="http://schemas.microsoft.com/office/drawing/2014/main" id="{25DFDA80-2667-4B0B-A259-5FCD18899315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transducen</a:t>
            </a:r>
          </a:p>
        </p:txBody>
      </p:sp>
      <p:sp>
        <p:nvSpPr>
          <p:cNvPr id="21" name="U06-DG-044-branch_2-box">
            <a:extLst>
              <a:ext uri="{FF2B5EF4-FFF2-40B4-BE49-F238E27FC236}">
                <a16:creationId xmlns:a16="http://schemas.microsoft.com/office/drawing/2014/main" id="{F6E1C0E8-0615-436A-BF9F-F4E8A5DD4591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2" name="U06-DG-044-branch_2-title">
            <a:extLst>
              <a:ext uri="{FF2B5EF4-FFF2-40B4-BE49-F238E27FC236}">
                <a16:creationId xmlns:a16="http://schemas.microsoft.com/office/drawing/2014/main" id="{D448522C-4758-4E8E-9A11-7D0D3547BF3C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3" name="U06-DG-044-branch_2-body">
            <a:extLst>
              <a:ext uri="{FF2B5EF4-FFF2-40B4-BE49-F238E27FC236}">
                <a16:creationId xmlns:a16="http://schemas.microsoft.com/office/drawing/2014/main" id="{91D396C4-462A-4523-AB81-BBC3A4921B9B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aferencia</a:t>
            </a:r>
          </a:p>
        </p:txBody>
      </p:sp>
      <p:sp>
        <p:nvSpPr>
          <p:cNvPr id="24" name="U06-DG-044-branch_3-box">
            <a:extLst>
              <a:ext uri="{FF2B5EF4-FFF2-40B4-BE49-F238E27FC236}">
                <a16:creationId xmlns:a16="http://schemas.microsoft.com/office/drawing/2014/main" id="{960F7BA3-F01F-44D4-9917-7852FCC119B5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44-branch_3-title">
            <a:extLst>
              <a:ext uri="{FF2B5EF4-FFF2-40B4-BE49-F238E27FC236}">
                <a16:creationId xmlns:a16="http://schemas.microsoft.com/office/drawing/2014/main" id="{C8DDD111-3B4D-45DF-B529-77A493968D8B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</a:t>
            </a:r>
          </a:p>
        </p:txBody>
      </p:sp>
      <p:sp>
        <p:nvSpPr>
          <p:cNvPr id="26" name="U06-DG-044-branch_3-body">
            <a:extLst>
              <a:ext uri="{FF2B5EF4-FFF2-40B4-BE49-F238E27FC236}">
                <a16:creationId xmlns:a16="http://schemas.microsoft.com/office/drawing/2014/main" id="{5431BBE3-C677-4E44-9545-001A012B6E32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impulsos</a:t>
            </a:r>
          </a:p>
        </p:txBody>
      </p:sp>
      <p:sp>
        <p:nvSpPr>
          <p:cNvPr id="27" name="U06-DG-044-branch_4-box">
            <a:extLst>
              <a:ext uri="{FF2B5EF4-FFF2-40B4-BE49-F238E27FC236}">
                <a16:creationId xmlns:a16="http://schemas.microsoft.com/office/drawing/2014/main" id="{B38E7882-3BBB-4F8C-9F2B-18C5F34FE2A5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8" name="U06-DG-044-branch_4-title">
            <a:extLst>
              <a:ext uri="{FF2B5EF4-FFF2-40B4-BE49-F238E27FC236}">
                <a16:creationId xmlns:a16="http://schemas.microsoft.com/office/drawing/2014/main" id="{44163557-79E0-476D-BACB-F3921B217A43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9" name="U06-DG-044-branch_4-body">
            <a:extLst>
              <a:ext uri="{FF2B5EF4-FFF2-40B4-BE49-F238E27FC236}">
                <a16:creationId xmlns:a16="http://schemas.microsoft.com/office/drawing/2014/main" id="{C8F9C9D1-8352-4CA3-8BC3-EF61EB8018D9}"/>
              </a:ext>
            </a:extLst>
          </p:cNvPr>
          <p:cNvSpPr>
            <a:spLocks noGrp="1"/>
          </p:cNvSpPr>
          <p:nvPr/>
        </p:nvSpPr>
        <p:spPr>
          <a:xfrm>
            <a:off x="747522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</a:t>
            </a:r>
          </a:p>
        </p:txBody>
      </p:sp>
      <p:sp>
        <p:nvSpPr>
          <p:cNvPr id="30" name="U06-DG-044-branch_5-box">
            <a:extLst>
              <a:ext uri="{FF2B5EF4-FFF2-40B4-BE49-F238E27FC236}">
                <a16:creationId xmlns:a16="http://schemas.microsoft.com/office/drawing/2014/main" id="{65CBCE79-16EE-44CB-87CA-093CFD0F72DC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31" name="U06-DG-044-branch_5-title">
            <a:extLst>
              <a:ext uri="{FF2B5EF4-FFF2-40B4-BE49-F238E27FC236}">
                <a16:creationId xmlns:a16="http://schemas.microsoft.com/office/drawing/2014/main" id="{3ADA0A33-7090-460A-9CBC-6641A49CD497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32" name="U06-DG-044-branch_5-body">
            <a:extLst>
              <a:ext uri="{FF2B5EF4-FFF2-40B4-BE49-F238E27FC236}">
                <a16:creationId xmlns:a16="http://schemas.microsoft.com/office/drawing/2014/main" id="{90416D94-A47D-4D3F-84FB-8AB24994E5E3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retorno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85684375-2D11-476A-AB9F-8E50A10B6AB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CCI: aferencia principal; CCE: realimentación mecánica activa.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9596C2D4-806B-47F0-A6DC-0F2EA7F4698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E418C7D-40B0-4049-9BCE-D5FFF957535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CCI constituyen la vía aferente principal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509162D-230E-4057-B374-5D5AEAE30A6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señal neural principal comienza después de una transmisión sináptica.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A8DF54D-6B2C-4943-BF3E-6A33318B566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077</a:t>
            </a:r>
          </a:p>
        </p:txBody>
      </p:sp>
      <p:sp>
        <p:nvSpPr>
          <p:cNvPr id="4" name="U06-DG-045-stage_1-anchor">
            <a:extLst>
              <a:ext uri="{FF2B5EF4-FFF2-40B4-BE49-F238E27FC236}">
                <a16:creationId xmlns:a16="http://schemas.microsoft.com/office/drawing/2014/main" id="{6B004E64-FCBE-4A2F-9243-DB145E974E7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5-stage_2-anchor">
            <a:extLst>
              <a:ext uri="{FF2B5EF4-FFF2-40B4-BE49-F238E27FC236}">
                <a16:creationId xmlns:a16="http://schemas.microsoft.com/office/drawing/2014/main" id="{590BCDF0-394B-4E1E-97BF-5340657D70E1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5-stage_3-anchor">
            <a:extLst>
              <a:ext uri="{FF2B5EF4-FFF2-40B4-BE49-F238E27FC236}">
                <a16:creationId xmlns:a16="http://schemas.microsoft.com/office/drawing/2014/main" id="{FCBEB401-D18A-4445-869A-2B7D3B4A2490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5-stage_4-anchor">
            <a:extLst>
              <a:ext uri="{FF2B5EF4-FFF2-40B4-BE49-F238E27FC236}">
                <a16:creationId xmlns:a16="http://schemas.microsoft.com/office/drawing/2014/main" id="{CC2F8D78-DF0E-416B-B076-3A6A83EE410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45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45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45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45-stage_1-box" descr="Diagrama sobre «Las CCI constituyen la vía aferente principal»; organiza cci → potencial receptor → glutamato → fibra aferente; detalle reducido." title="Texto alternativo U06-077">
            <a:extLst>
              <a:ext uri="{FF2B5EF4-FFF2-40B4-BE49-F238E27FC236}">
                <a16:creationId xmlns:a16="http://schemas.microsoft.com/office/drawing/2014/main" id="{FABBF9AF-D31C-46B5-9C0A-A543EF514501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45-stage_1-title">
            <a:extLst>
              <a:ext uri="{FF2B5EF4-FFF2-40B4-BE49-F238E27FC236}">
                <a16:creationId xmlns:a16="http://schemas.microsoft.com/office/drawing/2014/main" id="{6097E60D-79C1-4274-A36F-2EFFB943F1D5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Haz de CCI</a:t>
            </a:r>
          </a:p>
        </p:txBody>
      </p:sp>
      <p:sp>
        <p:nvSpPr>
          <p:cNvPr id="13" name="U06-DG-045-stage_1-body">
            <a:extLst>
              <a:ext uri="{FF2B5EF4-FFF2-40B4-BE49-F238E27FC236}">
                <a16:creationId xmlns:a16="http://schemas.microsoft.com/office/drawing/2014/main" id="{D3F297BE-FEC1-4CD4-A36C-197AF0B20351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deflecta</a:t>
            </a:r>
          </a:p>
        </p:txBody>
      </p:sp>
      <p:sp>
        <p:nvSpPr>
          <p:cNvPr id="14" name="U06-DG-045-stage_2-box">
            <a:extLst>
              <a:ext uri="{FF2B5EF4-FFF2-40B4-BE49-F238E27FC236}">
                <a16:creationId xmlns:a16="http://schemas.microsoft.com/office/drawing/2014/main" id="{C9452794-5E0C-48FC-B265-2D3522C437B9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45-stage_2-title">
            <a:extLst>
              <a:ext uri="{FF2B5EF4-FFF2-40B4-BE49-F238E27FC236}">
                <a16:creationId xmlns:a16="http://schemas.microsoft.com/office/drawing/2014/main" id="{8F09A99B-4AE4-46B8-9FF2-F4C48C5B6C44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6" name="U06-DG-045-stage_2-body">
            <a:extLst>
              <a:ext uri="{FF2B5EF4-FFF2-40B4-BE49-F238E27FC236}">
                <a16:creationId xmlns:a16="http://schemas.microsoft.com/office/drawing/2014/main" id="{D39B7974-5BA8-4A15-992B-A920508F8D84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17" name="U06-DG-045-stage_3-box">
            <a:extLst>
              <a:ext uri="{FF2B5EF4-FFF2-40B4-BE49-F238E27FC236}">
                <a16:creationId xmlns:a16="http://schemas.microsoft.com/office/drawing/2014/main" id="{34F35484-1FD0-4D7D-8889-6AE677D5072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45-stage_3-title">
            <a:extLst>
              <a:ext uri="{FF2B5EF4-FFF2-40B4-BE49-F238E27FC236}">
                <a16:creationId xmlns:a16="http://schemas.microsoft.com/office/drawing/2014/main" id="{5B33D7D8-3F34-4164-95AB-FA3786093B97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19" name="U06-DG-045-stage_3-body">
            <a:extLst>
              <a:ext uri="{FF2B5EF4-FFF2-40B4-BE49-F238E27FC236}">
                <a16:creationId xmlns:a16="http://schemas.microsoft.com/office/drawing/2014/main" id="{742CA0E9-9A54-42CB-9B4B-7684FB8F6EB3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20" name="U06-DG-045-stage_4-box">
            <a:extLst>
              <a:ext uri="{FF2B5EF4-FFF2-40B4-BE49-F238E27FC236}">
                <a16:creationId xmlns:a16="http://schemas.microsoft.com/office/drawing/2014/main" id="{30F1AF07-EB46-4F0F-A7D8-06EB3156A54B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45-stage_4-title">
            <a:extLst>
              <a:ext uri="{FF2B5EF4-FFF2-40B4-BE49-F238E27FC236}">
                <a16:creationId xmlns:a16="http://schemas.microsoft.com/office/drawing/2014/main" id="{ACBEE5C1-DDC4-4A1B-84EB-E69D49E0967A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2" name="U06-DG-045-stage_4-body">
            <a:extLst>
              <a:ext uri="{FF2B5EF4-FFF2-40B4-BE49-F238E27FC236}">
                <a16:creationId xmlns:a16="http://schemas.microsoft.com/office/drawing/2014/main" id="{8D675134-7163-4E39-8C05-FBBD86DEB29D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B12A357B-8DD4-4410-944F-547AAD22B718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señal neural principal comienza después de una transmisión sináptica.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AE6E6D4E-A98D-4821-BAC5-A54EE2FD49B8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A3749BC6-9D66-444A-99CD-B19C8E52B62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CCE realimentan la mecánica coclear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A8A45CE-0EF4-409A-907D-B0F7DC8872E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Cambios de longitud asociados con prestina modifican la partición, especialmente para señales débiles.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1FB728F-5A3E-4078-B989-81A0B51BCDE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078</a:t>
            </a:r>
          </a:p>
        </p:txBody>
      </p:sp>
      <p:sp>
        <p:nvSpPr>
          <p:cNvPr id="4" name="U06-DG-046-stage_1-anchor">
            <a:extLst>
              <a:ext uri="{FF2B5EF4-FFF2-40B4-BE49-F238E27FC236}">
                <a16:creationId xmlns:a16="http://schemas.microsoft.com/office/drawing/2014/main" id="{C5686C65-7C27-403F-ABD6-9E6F4127C3B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6-stage_2-anchor">
            <a:extLst>
              <a:ext uri="{FF2B5EF4-FFF2-40B4-BE49-F238E27FC236}">
                <a16:creationId xmlns:a16="http://schemas.microsoft.com/office/drawing/2014/main" id="{41D62C6C-69DE-47A3-8369-3AA3CD11CD0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6-stage_3-anchor">
            <a:extLst>
              <a:ext uri="{FF2B5EF4-FFF2-40B4-BE49-F238E27FC236}">
                <a16:creationId xmlns:a16="http://schemas.microsoft.com/office/drawing/2014/main" id="{0C878DC8-3954-4110-A81D-90A221B53231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6-stage_4-anchor">
            <a:extLst>
              <a:ext uri="{FF2B5EF4-FFF2-40B4-BE49-F238E27FC236}">
                <a16:creationId xmlns:a16="http://schemas.microsoft.com/office/drawing/2014/main" id="{BB022E47-59E3-4641-BAA1-12EE6159546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3" name="U06-DG-046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46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U06-DG-046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6-DG-046-feedback"/>
          <p:cNvCxnSpPr>
            <a:stCxn id="7" idx="1"/>
            <a:endCxn id="4" idx="3"/>
          </p:cNvCxnSpPr>
          <p:nvPr/>
        </p:nvCxnSpPr>
        <p:spPr>
          <a:xfrm flipH="1">
            <a:off x="3209925" y="3262313"/>
            <a:ext cx="577215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46-stage_1-box" descr="Diagrama sobre «Las CCE realimentan la mecánica coclear»; organiza cce → cambio de longitud → realimentación → sensibilidad/selectividad/compresión." title="Texto alternativo U06-078">
            <a:extLst>
              <a:ext uri="{FF2B5EF4-FFF2-40B4-BE49-F238E27FC236}">
                <a16:creationId xmlns:a16="http://schemas.microsoft.com/office/drawing/2014/main" id="{DF80548A-CBB0-428A-99A5-6713FDC53818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46-stage_1-title">
            <a:extLst>
              <a:ext uri="{FF2B5EF4-FFF2-40B4-BE49-F238E27FC236}">
                <a16:creationId xmlns:a16="http://schemas.microsoft.com/office/drawing/2014/main" id="{B4C869A4-1869-4B61-8959-4BF709E88E45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coclear</a:t>
            </a:r>
          </a:p>
        </p:txBody>
      </p:sp>
      <p:sp>
        <p:nvSpPr>
          <p:cNvPr id="14" name="U06-DG-046-stage_1-body">
            <a:extLst>
              <a:ext uri="{FF2B5EF4-FFF2-40B4-BE49-F238E27FC236}">
                <a16:creationId xmlns:a16="http://schemas.microsoft.com/office/drawing/2014/main" id="{6A5415C6-65C1-4E6A-BD71-345BE32AAEB2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5" name="U06-DG-046-stage_2-box">
            <a:extLst>
              <a:ext uri="{FF2B5EF4-FFF2-40B4-BE49-F238E27FC236}">
                <a16:creationId xmlns:a16="http://schemas.microsoft.com/office/drawing/2014/main" id="{140E3159-740F-4D96-9F0B-E4B1FC75C20B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46-stage_2-title">
            <a:extLst>
              <a:ext uri="{FF2B5EF4-FFF2-40B4-BE49-F238E27FC236}">
                <a16:creationId xmlns:a16="http://schemas.microsoft.com/office/drawing/2014/main" id="{AFAB51A3-01F7-4DDE-B7CF-4E9E67BE0967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Haz de CCE</a:t>
            </a:r>
          </a:p>
        </p:txBody>
      </p:sp>
      <p:sp>
        <p:nvSpPr>
          <p:cNvPr id="17" name="U06-DG-046-stage_2-body">
            <a:extLst>
              <a:ext uri="{FF2B5EF4-FFF2-40B4-BE49-F238E27FC236}">
                <a16:creationId xmlns:a16="http://schemas.microsoft.com/office/drawing/2014/main" id="{066C516D-15A8-498B-86CB-0B9C63A67E5B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deflecta</a:t>
            </a:r>
          </a:p>
        </p:txBody>
      </p:sp>
      <p:sp>
        <p:nvSpPr>
          <p:cNvPr id="18" name="U06-DG-046-stage_3-box">
            <a:extLst>
              <a:ext uri="{FF2B5EF4-FFF2-40B4-BE49-F238E27FC236}">
                <a16:creationId xmlns:a16="http://schemas.microsoft.com/office/drawing/2014/main" id="{26888258-018A-4D4F-9172-25117BBBECAC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9" name="U06-DG-046-stage_3-title">
            <a:extLst>
              <a:ext uri="{FF2B5EF4-FFF2-40B4-BE49-F238E27FC236}">
                <a16:creationId xmlns:a16="http://schemas.microsoft.com/office/drawing/2014/main" id="{195CF4B5-6173-48A0-9EDD-8F748950EBF9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0" name="U06-DG-046-stage_3-body">
            <a:extLst>
              <a:ext uri="{FF2B5EF4-FFF2-40B4-BE49-F238E27FC236}">
                <a16:creationId xmlns:a16="http://schemas.microsoft.com/office/drawing/2014/main" id="{E7C472E4-5B7E-4852-8E59-43995575C5B9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electromóvil</a:t>
            </a:r>
          </a:p>
        </p:txBody>
      </p:sp>
      <p:sp>
        <p:nvSpPr>
          <p:cNvPr id="21" name="U06-DG-046-stage_4-box">
            <a:extLst>
              <a:ext uri="{FF2B5EF4-FFF2-40B4-BE49-F238E27FC236}">
                <a16:creationId xmlns:a16="http://schemas.microsoft.com/office/drawing/2014/main" id="{98A9992A-9BA9-4414-97AF-A940A898531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2" name="U06-DG-046-stage_4-title">
            <a:extLst>
              <a:ext uri="{FF2B5EF4-FFF2-40B4-BE49-F238E27FC236}">
                <a16:creationId xmlns:a16="http://schemas.microsoft.com/office/drawing/2014/main" id="{6C265F5E-5867-456E-A50F-3D64960E5A72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Mecánica local</a:t>
            </a:r>
          </a:p>
        </p:txBody>
      </p:sp>
      <p:sp>
        <p:nvSpPr>
          <p:cNvPr id="23" name="U06-DG-046-stage_4-body">
            <a:extLst>
              <a:ext uri="{FF2B5EF4-FFF2-40B4-BE49-F238E27FC236}">
                <a16:creationId xmlns:a16="http://schemas.microsoft.com/office/drawing/2014/main" id="{06EF0171-E2D3-4398-951A-F8B14F3AC60D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modifica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3B2B46C6-DCB4-4BD1-9EAC-7A93CC4BC0F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Cambios de longitud asociados con prestina modifican la partición, especialmente…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2D967AE2-642D-4CDB-9F81-D3AFB3BF278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BD809DE6-8CF3-4FBD-B4BF-FF284C30CA0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rama explica cada consecuencia?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753855E-38A2-4B44-9493-C8ED17C7FD8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Aferencia, OEA, selectividad y neurotransmisión no pertenecen a la misma rama.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568747E-7CFA-4D26-ACF8-4B388455B89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079</a:t>
            </a:r>
          </a:p>
        </p:txBody>
      </p:sp>
      <p:sp>
        <p:nvSpPr>
          <p:cNvPr id="4" name="U06-DG-044-central-anchor">
            <a:extLst>
              <a:ext uri="{FF2B5EF4-FFF2-40B4-BE49-F238E27FC236}">
                <a16:creationId xmlns:a16="http://schemas.microsoft.com/office/drawing/2014/main" id="{CA17B93F-129A-45AE-958E-F079DA5B4CB7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4-branch_1-anchor">
            <a:extLst>
              <a:ext uri="{FF2B5EF4-FFF2-40B4-BE49-F238E27FC236}">
                <a16:creationId xmlns:a16="http://schemas.microsoft.com/office/drawing/2014/main" id="{97F0CEAB-EB2E-42BC-8A33-5E8A883D3325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4-branch_2-anchor">
            <a:extLst>
              <a:ext uri="{FF2B5EF4-FFF2-40B4-BE49-F238E27FC236}">
                <a16:creationId xmlns:a16="http://schemas.microsoft.com/office/drawing/2014/main" id="{DC13B270-AC6E-4219-8F02-CC8D7C2DE98E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4-branch_3-anchor">
            <a:extLst>
              <a:ext uri="{FF2B5EF4-FFF2-40B4-BE49-F238E27FC236}">
                <a16:creationId xmlns:a16="http://schemas.microsoft.com/office/drawing/2014/main" id="{9F642133-1066-48FC-B282-F34E2ED421EB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4-branch_4-anchor">
            <a:extLst>
              <a:ext uri="{FF2B5EF4-FFF2-40B4-BE49-F238E27FC236}">
                <a16:creationId xmlns:a16="http://schemas.microsoft.com/office/drawing/2014/main" id="{D8F67090-73AF-463F-A378-B81C21FBE67B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44-branch_5-anchor">
            <a:extLst>
              <a:ext uri="{FF2B5EF4-FFF2-40B4-BE49-F238E27FC236}">
                <a16:creationId xmlns:a16="http://schemas.microsoft.com/office/drawing/2014/main" id="{C54599C1-7172-4EF6-BC2B-0253FED786E7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44-branch_edge_1"/>
          <p:cNvCxnSpPr>
            <a:stCxn id="4" idx="1"/>
            <a:endCxn id="5" idx="3"/>
          </p:cNvCxnSpPr>
          <p:nvPr/>
        </p:nvCxnSpPr>
        <p:spPr>
          <a:xfrm flipH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44-branch_edge_2"/>
          <p:cNvCxnSpPr>
            <a:stCxn id="4" idx="2"/>
            <a:endCxn id="6" idx="0"/>
          </p:cNvCxnSpPr>
          <p:nvPr/>
        </p:nvCxnSpPr>
        <p:spPr>
          <a:xfrm flipH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44-branch_edge_3"/>
          <p:cNvCxnSpPr>
            <a:stCxn id="4" idx="2"/>
            <a:endCxn id="7" idx="0"/>
          </p:cNvCxnSpPr>
          <p:nvPr/>
        </p:nvCxnSpPr>
        <p:spPr>
          <a:xfrm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44-branch_edge_4"/>
          <p:cNvCxnSpPr>
            <a:stCxn id="4" idx="2"/>
            <a:endCxn id="8" idx="0"/>
          </p:cNvCxnSpPr>
          <p:nvPr/>
        </p:nvCxnSpPr>
        <p:spPr>
          <a:xfrm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44-branch_edge_5"/>
          <p:cNvCxnSpPr>
            <a:stCxn id="4" idx="3"/>
            <a:endCxn id="9" idx="1"/>
          </p:cNvCxnSpPr>
          <p:nvPr/>
        </p:nvCxnSpPr>
        <p:spPr>
          <a:xfrm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44-central-box" descr="Diagrama sobre «¿Qué rama explica cada consecuencia?»; organiza cuatro consecuencias para clasificar y justificar." title="Texto alternativo U06-079">
            <a:extLst>
              <a:ext uri="{FF2B5EF4-FFF2-40B4-BE49-F238E27FC236}">
                <a16:creationId xmlns:a16="http://schemas.microsoft.com/office/drawing/2014/main" id="{331C504E-AA13-4058-A0A2-A9874483E36D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44-central-title">
            <a:extLst>
              <a:ext uri="{FF2B5EF4-FFF2-40B4-BE49-F238E27FC236}">
                <a16:creationId xmlns:a16="http://schemas.microsoft.com/office/drawing/2014/main" id="{7015627C-80CC-4BE3-9B1A-89AE802E5F9D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7" name="U06-DG-044-central-body">
            <a:extLst>
              <a:ext uri="{FF2B5EF4-FFF2-40B4-BE49-F238E27FC236}">
                <a16:creationId xmlns:a16="http://schemas.microsoft.com/office/drawing/2014/main" id="{02EB9282-B43D-499E-8A32-90F6007B82B4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tramo común</a:t>
            </a:r>
          </a:p>
        </p:txBody>
      </p:sp>
      <p:sp>
        <p:nvSpPr>
          <p:cNvPr id="18" name="U06-DG-044-branch_1-box">
            <a:extLst>
              <a:ext uri="{FF2B5EF4-FFF2-40B4-BE49-F238E27FC236}">
                <a16:creationId xmlns:a16="http://schemas.microsoft.com/office/drawing/2014/main" id="{4D79156D-6340-4307-802A-B27D3C01B2ED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44-branch_1-title">
            <a:extLst>
              <a:ext uri="{FF2B5EF4-FFF2-40B4-BE49-F238E27FC236}">
                <a16:creationId xmlns:a16="http://schemas.microsoft.com/office/drawing/2014/main" id="{2C1D493F-37A3-4994-936B-BA9AE9E49ACC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0" name="U06-DG-044-branch_1-body">
            <a:extLst>
              <a:ext uri="{FF2B5EF4-FFF2-40B4-BE49-F238E27FC236}">
                <a16:creationId xmlns:a16="http://schemas.microsoft.com/office/drawing/2014/main" id="{D4E5AC78-3CB0-4F0F-BB39-0ED7162EA1C1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transducen</a:t>
            </a:r>
          </a:p>
        </p:txBody>
      </p:sp>
      <p:sp>
        <p:nvSpPr>
          <p:cNvPr id="21" name="U06-DG-044-branch_2-box">
            <a:extLst>
              <a:ext uri="{FF2B5EF4-FFF2-40B4-BE49-F238E27FC236}">
                <a16:creationId xmlns:a16="http://schemas.microsoft.com/office/drawing/2014/main" id="{AF8438FD-4B8A-4E05-9CCA-42B61DF05F2C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2" name="U06-DG-044-branch_2-title">
            <a:extLst>
              <a:ext uri="{FF2B5EF4-FFF2-40B4-BE49-F238E27FC236}">
                <a16:creationId xmlns:a16="http://schemas.microsoft.com/office/drawing/2014/main" id="{9CE5C300-2E80-4659-B260-AA4002C7B48E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3" name="U06-DG-044-branch_2-body">
            <a:extLst>
              <a:ext uri="{FF2B5EF4-FFF2-40B4-BE49-F238E27FC236}">
                <a16:creationId xmlns:a16="http://schemas.microsoft.com/office/drawing/2014/main" id="{91DA9EAA-25E0-4340-8C72-1A0A724B57AA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aferencia</a:t>
            </a:r>
          </a:p>
        </p:txBody>
      </p:sp>
      <p:sp>
        <p:nvSpPr>
          <p:cNvPr id="24" name="U06-DG-044-branch_3-box">
            <a:extLst>
              <a:ext uri="{FF2B5EF4-FFF2-40B4-BE49-F238E27FC236}">
                <a16:creationId xmlns:a16="http://schemas.microsoft.com/office/drawing/2014/main" id="{7F91E066-AE28-4C24-ACC9-F917D9E8DEE0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44-branch_3-title">
            <a:extLst>
              <a:ext uri="{FF2B5EF4-FFF2-40B4-BE49-F238E27FC236}">
                <a16:creationId xmlns:a16="http://schemas.microsoft.com/office/drawing/2014/main" id="{BDFEC48A-555E-499D-A66E-EC5A524B601B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</a:t>
            </a:r>
          </a:p>
        </p:txBody>
      </p:sp>
      <p:sp>
        <p:nvSpPr>
          <p:cNvPr id="26" name="U06-DG-044-branch_3-body">
            <a:extLst>
              <a:ext uri="{FF2B5EF4-FFF2-40B4-BE49-F238E27FC236}">
                <a16:creationId xmlns:a16="http://schemas.microsoft.com/office/drawing/2014/main" id="{6FA794FF-7AD1-46E5-8A7C-C70C840589C5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impulsos</a:t>
            </a:r>
          </a:p>
        </p:txBody>
      </p:sp>
      <p:sp>
        <p:nvSpPr>
          <p:cNvPr id="27" name="U06-DG-044-branch_4-box">
            <a:extLst>
              <a:ext uri="{FF2B5EF4-FFF2-40B4-BE49-F238E27FC236}">
                <a16:creationId xmlns:a16="http://schemas.microsoft.com/office/drawing/2014/main" id="{42C74266-7F3F-4E0D-8917-0FADFF85C80B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8" name="U06-DG-044-branch_4-title">
            <a:extLst>
              <a:ext uri="{FF2B5EF4-FFF2-40B4-BE49-F238E27FC236}">
                <a16:creationId xmlns:a16="http://schemas.microsoft.com/office/drawing/2014/main" id="{8C9DE7E7-1642-464F-8C66-1E7768D315CA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9" name="U06-DG-044-branch_4-body">
            <a:extLst>
              <a:ext uri="{FF2B5EF4-FFF2-40B4-BE49-F238E27FC236}">
                <a16:creationId xmlns:a16="http://schemas.microsoft.com/office/drawing/2014/main" id="{843F1047-96FB-4050-AFEC-A72518795A0F}"/>
              </a:ext>
            </a:extLst>
          </p:cNvPr>
          <p:cNvSpPr>
            <a:spLocks noGrp="1"/>
          </p:cNvSpPr>
          <p:nvPr/>
        </p:nvSpPr>
        <p:spPr>
          <a:xfrm>
            <a:off x="747522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</a:t>
            </a:r>
          </a:p>
        </p:txBody>
      </p:sp>
      <p:sp>
        <p:nvSpPr>
          <p:cNvPr id="30" name="U06-DG-044-branch_5-box">
            <a:extLst>
              <a:ext uri="{FF2B5EF4-FFF2-40B4-BE49-F238E27FC236}">
                <a16:creationId xmlns:a16="http://schemas.microsoft.com/office/drawing/2014/main" id="{343CD9DF-27C5-4A22-9BDB-58060F99010D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31" name="U06-DG-044-branch_5-title">
            <a:extLst>
              <a:ext uri="{FF2B5EF4-FFF2-40B4-BE49-F238E27FC236}">
                <a16:creationId xmlns:a16="http://schemas.microsoft.com/office/drawing/2014/main" id="{8DA19D94-8B43-46EA-A25E-E06EC25DFFBE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32" name="U06-DG-044-branch_5-body">
            <a:extLst>
              <a:ext uri="{FF2B5EF4-FFF2-40B4-BE49-F238E27FC236}">
                <a16:creationId xmlns:a16="http://schemas.microsoft.com/office/drawing/2014/main" id="{2B882347-FC01-456D-AE08-FCB85974266D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retorno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7DCABEA5-1F29-46C2-8FAD-FD3A329AFE4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Aferencia, OEA, selectividad y neurotransmisión no pertenecen a la misma rama.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EA50982B-3778-471D-91D4-8924F51E01A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0E083D0F-C85E-44E9-9D7C-C857B226F68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OEA depende de CCE y también de la cadena de salida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3C1E4CD-F3BD-4E0C-9411-BD5ADB58A53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energía debe atravesar cóclea, oído medio y CAE para registrarse.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2192B70-90EC-4F91-B858-54171512EE4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080</a:t>
            </a:r>
          </a:p>
        </p:txBody>
      </p:sp>
      <p:sp>
        <p:nvSpPr>
          <p:cNvPr id="4" name="U06-DG-047-stage_1-anchor">
            <a:extLst>
              <a:ext uri="{FF2B5EF4-FFF2-40B4-BE49-F238E27FC236}">
                <a16:creationId xmlns:a16="http://schemas.microsoft.com/office/drawing/2014/main" id="{3C79589D-130D-446C-9951-CD43824EE16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7-stage_2-anchor">
            <a:extLst>
              <a:ext uri="{FF2B5EF4-FFF2-40B4-BE49-F238E27FC236}">
                <a16:creationId xmlns:a16="http://schemas.microsoft.com/office/drawing/2014/main" id="{693E01AC-60C5-400F-A01A-890AF40F69EB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7-stage_3-anchor">
            <a:extLst>
              <a:ext uri="{FF2B5EF4-FFF2-40B4-BE49-F238E27FC236}">
                <a16:creationId xmlns:a16="http://schemas.microsoft.com/office/drawing/2014/main" id="{D29C592B-6F44-438A-AF0B-8D8546E714B8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7-stage_4-anchor">
            <a:extLst>
              <a:ext uri="{FF2B5EF4-FFF2-40B4-BE49-F238E27FC236}">
                <a16:creationId xmlns:a16="http://schemas.microsoft.com/office/drawing/2014/main" id="{5CDB72DB-A218-4AFB-B4C2-F9C8B679DDF0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7-stage_5-anchor">
            <a:extLst>
              <a:ext uri="{FF2B5EF4-FFF2-40B4-BE49-F238E27FC236}">
                <a16:creationId xmlns:a16="http://schemas.microsoft.com/office/drawing/2014/main" id="{3879F8A9-D8E4-4215-BBAC-CE3507DAE755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47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47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47-flow_3"/>
          <p:cNvCxnSpPr>
            <a:stCxn id="6" idx="2"/>
            <a:endCxn id="7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47-flow_4"/>
          <p:cNvCxnSpPr>
            <a:stCxn id="7" idx="1"/>
            <a:endCxn id="8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47-stage_1-box" descr="Diagrama sobre «Una OEA depende de CCE y también de la cadena de salida»; organiza proceso activo → transmisión inversa → micrófono; “qué permite/no permite”." title="Texto alternativo U06-080">
            <a:extLst>
              <a:ext uri="{FF2B5EF4-FFF2-40B4-BE49-F238E27FC236}">
                <a16:creationId xmlns:a16="http://schemas.microsoft.com/office/drawing/2014/main" id="{77D93395-C38F-4B4B-945E-4B2324A585C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47-stage_1-title">
            <a:extLst>
              <a:ext uri="{FF2B5EF4-FFF2-40B4-BE49-F238E27FC236}">
                <a16:creationId xmlns:a16="http://schemas.microsoft.com/office/drawing/2014/main" id="{CA34244F-3989-4A91-A6DD-9F19B27B8A6E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15" name="U06-DG-047-stage_1-body">
            <a:extLst>
              <a:ext uri="{FF2B5EF4-FFF2-40B4-BE49-F238E27FC236}">
                <a16:creationId xmlns:a16="http://schemas.microsoft.com/office/drawing/2014/main" id="{7AC7D699-A16D-4A4D-985D-FFA24CD7EA01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genera energía mecánica</a:t>
            </a:r>
          </a:p>
        </p:txBody>
      </p:sp>
      <p:sp>
        <p:nvSpPr>
          <p:cNvPr id="16" name="U06-DG-047-stage_2-box">
            <a:extLst>
              <a:ext uri="{FF2B5EF4-FFF2-40B4-BE49-F238E27FC236}">
                <a16:creationId xmlns:a16="http://schemas.microsoft.com/office/drawing/2014/main" id="{1CD9BF1E-5678-43A4-8156-CD06BE4DF366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47-stage_2-title">
            <a:extLst>
              <a:ext uri="{FF2B5EF4-FFF2-40B4-BE49-F238E27FC236}">
                <a16:creationId xmlns:a16="http://schemas.microsoft.com/office/drawing/2014/main" id="{9DAE0D5B-9612-4C3B-B746-ACC27F7E34C1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8" name="U06-DG-047-stage_2-body">
            <a:extLst>
              <a:ext uri="{FF2B5EF4-FFF2-40B4-BE49-F238E27FC236}">
                <a16:creationId xmlns:a16="http://schemas.microsoft.com/office/drawing/2014/main" id="{DE9C1B4E-1EF3-4C0D-88B1-831011E28F84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 hacia atrás</a:t>
            </a:r>
          </a:p>
        </p:txBody>
      </p:sp>
      <p:sp>
        <p:nvSpPr>
          <p:cNvPr id="19" name="U06-DG-047-stage_3-box">
            <a:extLst>
              <a:ext uri="{FF2B5EF4-FFF2-40B4-BE49-F238E27FC236}">
                <a16:creationId xmlns:a16="http://schemas.microsoft.com/office/drawing/2014/main" id="{65955224-2B05-4941-8CF9-266A1F007860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47-stage_3-title">
            <a:extLst>
              <a:ext uri="{FF2B5EF4-FFF2-40B4-BE49-F238E27FC236}">
                <a16:creationId xmlns:a16="http://schemas.microsoft.com/office/drawing/2014/main" id="{66369564-7895-4793-9813-F9629CAE08CE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1" name="U06-DG-047-stage_3-body">
            <a:extLst>
              <a:ext uri="{FF2B5EF4-FFF2-40B4-BE49-F238E27FC236}">
                <a16:creationId xmlns:a16="http://schemas.microsoft.com/office/drawing/2014/main" id="{1D6FE726-2F54-40EE-A74E-61BB98492C2D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transmite</a:t>
            </a:r>
          </a:p>
        </p:txBody>
      </p:sp>
      <p:sp>
        <p:nvSpPr>
          <p:cNvPr id="22" name="U06-DG-047-stage_4-box">
            <a:extLst>
              <a:ext uri="{FF2B5EF4-FFF2-40B4-BE49-F238E27FC236}">
                <a16:creationId xmlns:a16="http://schemas.microsoft.com/office/drawing/2014/main" id="{FBB9907D-D359-4009-8428-FDEE44B14B46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3" name="U06-DG-047-stage_4-title">
            <a:extLst>
              <a:ext uri="{FF2B5EF4-FFF2-40B4-BE49-F238E27FC236}">
                <a16:creationId xmlns:a16="http://schemas.microsoft.com/office/drawing/2014/main" id="{D9748FC3-4F80-45BB-A274-2ACCC5AE133A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4" name="U06-DG-047-stage_4-body">
            <a:extLst>
              <a:ext uri="{FF2B5EF4-FFF2-40B4-BE49-F238E27FC236}">
                <a16:creationId xmlns:a16="http://schemas.microsoft.com/office/drawing/2014/main" id="{67744405-5055-4416-9A08-EF6C2E9D5B0B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acústica</a:t>
            </a:r>
          </a:p>
        </p:txBody>
      </p:sp>
      <p:sp>
        <p:nvSpPr>
          <p:cNvPr id="25" name="U06-DG-047-stage_5-box">
            <a:extLst>
              <a:ext uri="{FF2B5EF4-FFF2-40B4-BE49-F238E27FC236}">
                <a16:creationId xmlns:a16="http://schemas.microsoft.com/office/drawing/2014/main" id="{1F115C7E-C7E9-444E-9737-3F9CEABFD59F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47-stage_5-title">
            <a:extLst>
              <a:ext uri="{FF2B5EF4-FFF2-40B4-BE49-F238E27FC236}">
                <a16:creationId xmlns:a16="http://schemas.microsoft.com/office/drawing/2014/main" id="{7B949BB0-FBF8-4EDB-A2EB-6463B3008C6D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27" name="U06-DG-047-stage_5-body">
            <a:extLst>
              <a:ext uri="{FF2B5EF4-FFF2-40B4-BE49-F238E27FC236}">
                <a16:creationId xmlns:a16="http://schemas.microsoft.com/office/drawing/2014/main" id="{F7EC28CE-CF09-4E5D-A7A7-5FEC1D270A7F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9A7AA816-84D4-4EE1-8349-B6CB80F6056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energía debe atravesar cóclea, oído medio y CAE para registrarse.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4B2635B9-FD0E-4A80-8CE7-6D151FC03113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89274128-740B-483C-B359-640EC3512B2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movimiento común, funciones diferentes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19CE2E3-9633-41EE-AE3F-26BAFAB1DA8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misma deflexión inicia transducción; las consecuencias globales divergen.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5287869-89EB-45BA-A411-AA20CB8123D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081</a:t>
            </a:r>
          </a:p>
        </p:txBody>
      </p:sp>
      <p:sp>
        <p:nvSpPr>
          <p:cNvPr id="4" name="U06-DG-044-central-anchor">
            <a:extLst>
              <a:ext uri="{FF2B5EF4-FFF2-40B4-BE49-F238E27FC236}">
                <a16:creationId xmlns:a16="http://schemas.microsoft.com/office/drawing/2014/main" id="{1C539289-04BB-4009-8A06-1536A24A0B9B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4-branch_1-anchor">
            <a:extLst>
              <a:ext uri="{FF2B5EF4-FFF2-40B4-BE49-F238E27FC236}">
                <a16:creationId xmlns:a16="http://schemas.microsoft.com/office/drawing/2014/main" id="{88CC41E4-BD72-4A3A-A788-0F17A879373E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4-branch_2-anchor">
            <a:extLst>
              <a:ext uri="{FF2B5EF4-FFF2-40B4-BE49-F238E27FC236}">
                <a16:creationId xmlns:a16="http://schemas.microsoft.com/office/drawing/2014/main" id="{26E6AED6-0E7E-4A7A-9525-764D46739FE6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4-branch_3-anchor">
            <a:extLst>
              <a:ext uri="{FF2B5EF4-FFF2-40B4-BE49-F238E27FC236}">
                <a16:creationId xmlns:a16="http://schemas.microsoft.com/office/drawing/2014/main" id="{D4EB2802-58CB-4872-9056-338249A8AFDB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4-branch_4-anchor">
            <a:extLst>
              <a:ext uri="{FF2B5EF4-FFF2-40B4-BE49-F238E27FC236}">
                <a16:creationId xmlns:a16="http://schemas.microsoft.com/office/drawing/2014/main" id="{5A4AEA27-FA40-438F-A41A-3780AA54F7DA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44-branch_5-anchor">
            <a:extLst>
              <a:ext uri="{FF2B5EF4-FFF2-40B4-BE49-F238E27FC236}">
                <a16:creationId xmlns:a16="http://schemas.microsoft.com/office/drawing/2014/main" id="{4065D9E2-8601-46EF-95CA-75075396B16A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44-branch_edge_1"/>
          <p:cNvCxnSpPr>
            <a:stCxn id="4" idx="1"/>
            <a:endCxn id="5" idx="3"/>
          </p:cNvCxnSpPr>
          <p:nvPr/>
        </p:nvCxnSpPr>
        <p:spPr>
          <a:xfrm flipH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44-branch_edge_2"/>
          <p:cNvCxnSpPr>
            <a:stCxn id="4" idx="2"/>
            <a:endCxn id="6" idx="0"/>
          </p:cNvCxnSpPr>
          <p:nvPr/>
        </p:nvCxnSpPr>
        <p:spPr>
          <a:xfrm flipH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44-branch_edge_3"/>
          <p:cNvCxnSpPr>
            <a:stCxn id="4" idx="2"/>
            <a:endCxn id="7" idx="0"/>
          </p:cNvCxnSpPr>
          <p:nvPr/>
        </p:nvCxnSpPr>
        <p:spPr>
          <a:xfrm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44-branch_edge_4"/>
          <p:cNvCxnSpPr>
            <a:stCxn id="4" idx="2"/>
            <a:endCxn id="8" idx="0"/>
          </p:cNvCxnSpPr>
          <p:nvPr/>
        </p:nvCxnSpPr>
        <p:spPr>
          <a:xfrm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44-branch_edge_5"/>
          <p:cNvCxnSpPr>
            <a:stCxn id="4" idx="3"/>
            <a:endCxn id="9" idx="1"/>
          </p:cNvCxnSpPr>
          <p:nvPr/>
        </p:nvCxnSpPr>
        <p:spPr>
          <a:xfrm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44-central-box" descr="Diagrama sobre «Hasta acá: movimiento común, funciones diferentes»; organiza tramo común + dos ramas + pregunta “¿dónde aparece lo eléctrico?”." title="Texto alternativo U06-081">
            <a:extLst>
              <a:ext uri="{FF2B5EF4-FFF2-40B4-BE49-F238E27FC236}">
                <a16:creationId xmlns:a16="http://schemas.microsoft.com/office/drawing/2014/main" id="{5C342AD0-CAB3-40B3-A7FE-182040CB1CE6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44-central-title">
            <a:extLst>
              <a:ext uri="{FF2B5EF4-FFF2-40B4-BE49-F238E27FC236}">
                <a16:creationId xmlns:a16="http://schemas.microsoft.com/office/drawing/2014/main" id="{6CD3599E-9D56-4C89-897D-96F9407D02D0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7" name="U06-DG-044-central-body">
            <a:extLst>
              <a:ext uri="{FF2B5EF4-FFF2-40B4-BE49-F238E27FC236}">
                <a16:creationId xmlns:a16="http://schemas.microsoft.com/office/drawing/2014/main" id="{F65A7136-A884-4343-9264-5F9E42514E28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tramo común</a:t>
            </a:r>
          </a:p>
        </p:txBody>
      </p:sp>
      <p:sp>
        <p:nvSpPr>
          <p:cNvPr id="18" name="U06-DG-044-branch_1-box">
            <a:extLst>
              <a:ext uri="{FF2B5EF4-FFF2-40B4-BE49-F238E27FC236}">
                <a16:creationId xmlns:a16="http://schemas.microsoft.com/office/drawing/2014/main" id="{414C7A1F-A7F2-4FBD-908F-101EFAECFFCB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44-branch_1-title">
            <a:extLst>
              <a:ext uri="{FF2B5EF4-FFF2-40B4-BE49-F238E27FC236}">
                <a16:creationId xmlns:a16="http://schemas.microsoft.com/office/drawing/2014/main" id="{824B9C25-D52B-4472-8220-18050A3268D4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0" name="U06-DG-044-branch_1-body">
            <a:extLst>
              <a:ext uri="{FF2B5EF4-FFF2-40B4-BE49-F238E27FC236}">
                <a16:creationId xmlns:a16="http://schemas.microsoft.com/office/drawing/2014/main" id="{1DD4B3EC-E7E9-42EC-95E7-FCEA919E5F38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transducen</a:t>
            </a:r>
          </a:p>
        </p:txBody>
      </p:sp>
      <p:sp>
        <p:nvSpPr>
          <p:cNvPr id="21" name="U06-DG-044-branch_2-box">
            <a:extLst>
              <a:ext uri="{FF2B5EF4-FFF2-40B4-BE49-F238E27FC236}">
                <a16:creationId xmlns:a16="http://schemas.microsoft.com/office/drawing/2014/main" id="{46F34DDD-8DE7-4DEF-B3F4-364F9BF729A1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2" name="U06-DG-044-branch_2-title">
            <a:extLst>
              <a:ext uri="{FF2B5EF4-FFF2-40B4-BE49-F238E27FC236}">
                <a16:creationId xmlns:a16="http://schemas.microsoft.com/office/drawing/2014/main" id="{3AA3F6D4-C31D-40E3-B08D-1A3C86C828F7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3" name="U06-DG-044-branch_2-body">
            <a:extLst>
              <a:ext uri="{FF2B5EF4-FFF2-40B4-BE49-F238E27FC236}">
                <a16:creationId xmlns:a16="http://schemas.microsoft.com/office/drawing/2014/main" id="{4EEB59A0-4E68-4D29-B60D-E811F49D3DEB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aferencia</a:t>
            </a:r>
          </a:p>
        </p:txBody>
      </p:sp>
      <p:sp>
        <p:nvSpPr>
          <p:cNvPr id="24" name="U06-DG-044-branch_3-box">
            <a:extLst>
              <a:ext uri="{FF2B5EF4-FFF2-40B4-BE49-F238E27FC236}">
                <a16:creationId xmlns:a16="http://schemas.microsoft.com/office/drawing/2014/main" id="{13B34F31-C853-493B-87B2-0F0F6C2E7262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44-branch_3-title">
            <a:extLst>
              <a:ext uri="{FF2B5EF4-FFF2-40B4-BE49-F238E27FC236}">
                <a16:creationId xmlns:a16="http://schemas.microsoft.com/office/drawing/2014/main" id="{59C4BE54-692C-409D-925A-DF8633F9D030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</a:t>
            </a:r>
          </a:p>
        </p:txBody>
      </p:sp>
      <p:sp>
        <p:nvSpPr>
          <p:cNvPr id="26" name="U06-DG-044-branch_3-body">
            <a:extLst>
              <a:ext uri="{FF2B5EF4-FFF2-40B4-BE49-F238E27FC236}">
                <a16:creationId xmlns:a16="http://schemas.microsoft.com/office/drawing/2014/main" id="{811587D5-75CF-4016-A962-CA3785695093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impulsos</a:t>
            </a:r>
          </a:p>
        </p:txBody>
      </p:sp>
      <p:sp>
        <p:nvSpPr>
          <p:cNvPr id="27" name="U06-DG-044-branch_4-box">
            <a:extLst>
              <a:ext uri="{FF2B5EF4-FFF2-40B4-BE49-F238E27FC236}">
                <a16:creationId xmlns:a16="http://schemas.microsoft.com/office/drawing/2014/main" id="{FCA04D16-E381-4E9F-8451-D48D02DE3E67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8" name="U06-DG-044-branch_4-title">
            <a:extLst>
              <a:ext uri="{FF2B5EF4-FFF2-40B4-BE49-F238E27FC236}">
                <a16:creationId xmlns:a16="http://schemas.microsoft.com/office/drawing/2014/main" id="{C6A49257-B904-407D-9D73-B9F1A9C6C91F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9" name="U06-DG-044-branch_4-body">
            <a:extLst>
              <a:ext uri="{FF2B5EF4-FFF2-40B4-BE49-F238E27FC236}">
                <a16:creationId xmlns:a16="http://schemas.microsoft.com/office/drawing/2014/main" id="{E28C33E1-2D8A-46C0-8446-4967A4ABFE5D}"/>
              </a:ext>
            </a:extLst>
          </p:cNvPr>
          <p:cNvSpPr>
            <a:spLocks noGrp="1"/>
          </p:cNvSpPr>
          <p:nvPr/>
        </p:nvSpPr>
        <p:spPr>
          <a:xfrm>
            <a:off x="747522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</a:t>
            </a:r>
          </a:p>
        </p:txBody>
      </p:sp>
      <p:sp>
        <p:nvSpPr>
          <p:cNvPr id="30" name="U06-DG-044-branch_5-box">
            <a:extLst>
              <a:ext uri="{FF2B5EF4-FFF2-40B4-BE49-F238E27FC236}">
                <a16:creationId xmlns:a16="http://schemas.microsoft.com/office/drawing/2014/main" id="{E042A3E4-2C14-4E2B-B937-752E43529691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31" name="U06-DG-044-branch_5-title">
            <a:extLst>
              <a:ext uri="{FF2B5EF4-FFF2-40B4-BE49-F238E27FC236}">
                <a16:creationId xmlns:a16="http://schemas.microsoft.com/office/drawing/2014/main" id="{DAF013E1-3439-4752-811F-F688D5077D77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32" name="U06-DG-044-branch_5-body">
            <a:extLst>
              <a:ext uri="{FF2B5EF4-FFF2-40B4-BE49-F238E27FC236}">
                <a16:creationId xmlns:a16="http://schemas.microsoft.com/office/drawing/2014/main" id="{ABF0E6CB-164B-4102-BA6D-ADB07C4A5666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retorno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4C3C3ADD-6BC7-44EA-9D94-6C6DA70AB6E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misma deflexión inicia transducción; las consecuencias globales divergen.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6F914FA6-A6DF-413E-B875-8FCA3D5C03F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EDB421A4-286D-4381-9341-362E80FF2116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082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52A46F96-825E-422F-A1A6-B7D33F552BD9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convierte una deflexión en señal celular?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440E3EDB-AD47-47EF-BB0E-B6DC62EB592B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pasa una deflexión mecánica a una respuesta celular y neural?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9CC9BF83-840B-4C38-A154-EBD45C99177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potenciales no significan lo mismo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1B10E8F-EADD-499A-BDA5-567DB7D95BC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Endococlear, reposo, receptor y acción se distinguen por ubicación, causa y función.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08AA3CB-BBF5-40EE-9FCA-323AA0F2CFB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083</a:t>
            </a:r>
          </a:p>
        </p:txBody>
      </p:sp>
      <p:sp>
        <p:nvSpPr>
          <p:cNvPr id="4" name="U06-DG-048-cell_1-anchor">
            <a:extLst>
              <a:ext uri="{FF2B5EF4-FFF2-40B4-BE49-F238E27FC236}">
                <a16:creationId xmlns:a16="http://schemas.microsoft.com/office/drawing/2014/main" id="{D00A7546-5449-4712-8E55-93E059C3B3F3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8-cell_2-anchor">
            <a:extLst>
              <a:ext uri="{FF2B5EF4-FFF2-40B4-BE49-F238E27FC236}">
                <a16:creationId xmlns:a16="http://schemas.microsoft.com/office/drawing/2014/main" id="{4050E915-36E1-4004-A82E-36FD9496F1C1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8-cell_3-anchor">
            <a:extLst>
              <a:ext uri="{FF2B5EF4-FFF2-40B4-BE49-F238E27FC236}">
                <a16:creationId xmlns:a16="http://schemas.microsoft.com/office/drawing/2014/main" id="{1F9AB01A-3DC8-4FDD-B3A8-554E25E942E2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8-cell_4-anchor">
            <a:extLst>
              <a:ext uri="{FF2B5EF4-FFF2-40B4-BE49-F238E27FC236}">
                <a16:creationId xmlns:a16="http://schemas.microsoft.com/office/drawing/2014/main" id="{392DB596-5D24-4D36-90BC-4C60E75A3646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8-cell_1-box" descr="Diagrama sobre «Cuatro potenciales no significan lo mismo»; organiza mapa de términos con “dónde ocurre / qué lo genera / qué representa”." title="Texto alternativo U06-083">
            <a:extLst>
              <a:ext uri="{FF2B5EF4-FFF2-40B4-BE49-F238E27FC236}">
                <a16:creationId xmlns:a16="http://schemas.microsoft.com/office/drawing/2014/main" id="{5F26832E-0B4D-4A46-AADF-F9660D8E8A1B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48-cell_1-title">
            <a:extLst>
              <a:ext uri="{FF2B5EF4-FFF2-40B4-BE49-F238E27FC236}">
                <a16:creationId xmlns:a16="http://schemas.microsoft.com/office/drawing/2014/main" id="{D4DDF2D4-206E-4228-9EB2-BDD905099289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Endococlear</a:t>
            </a:r>
          </a:p>
        </p:txBody>
      </p:sp>
      <p:sp>
        <p:nvSpPr>
          <p:cNvPr id="10" name="U06-DG-048-cell_1-body">
            <a:extLst>
              <a:ext uri="{FF2B5EF4-FFF2-40B4-BE49-F238E27FC236}">
                <a16:creationId xmlns:a16="http://schemas.microsoft.com/office/drawing/2014/main" id="{87845305-A684-4523-8441-FCB2E02CC558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endolinfa gradiente</a:t>
            </a:r>
          </a:p>
        </p:txBody>
      </p:sp>
      <p:sp>
        <p:nvSpPr>
          <p:cNvPr id="11" name="U06-DG-048-cell_2-box">
            <a:extLst>
              <a:ext uri="{FF2B5EF4-FFF2-40B4-BE49-F238E27FC236}">
                <a16:creationId xmlns:a16="http://schemas.microsoft.com/office/drawing/2014/main" id="{7572E83A-C8B3-4B8C-A177-23AEE4F97A2B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48-cell_2-title">
            <a:extLst>
              <a:ext uri="{FF2B5EF4-FFF2-40B4-BE49-F238E27FC236}">
                <a16:creationId xmlns:a16="http://schemas.microsoft.com/office/drawing/2014/main" id="{7CF8F649-1BC0-426D-B625-E95C1390E36B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 reposo</a:t>
            </a:r>
          </a:p>
        </p:txBody>
      </p:sp>
      <p:sp>
        <p:nvSpPr>
          <p:cNvPr id="13" name="U06-DG-048-cell_2-body">
            <a:extLst>
              <a:ext uri="{FF2B5EF4-FFF2-40B4-BE49-F238E27FC236}">
                <a16:creationId xmlns:a16="http://schemas.microsoft.com/office/drawing/2014/main" id="{258DB052-EEAA-4E81-930B-EE2F7144DED5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interior celular referido afuera</a:t>
            </a:r>
          </a:p>
        </p:txBody>
      </p:sp>
      <p:sp>
        <p:nvSpPr>
          <p:cNvPr id="14" name="U06-DG-048-cell_3-box">
            <a:extLst>
              <a:ext uri="{FF2B5EF4-FFF2-40B4-BE49-F238E27FC236}">
                <a16:creationId xmlns:a16="http://schemas.microsoft.com/office/drawing/2014/main" id="{86A0EEAA-C09F-4481-BD46-DB3BFF6E45A8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48-cell_3-title">
            <a:extLst>
              <a:ext uri="{FF2B5EF4-FFF2-40B4-BE49-F238E27FC236}">
                <a16:creationId xmlns:a16="http://schemas.microsoft.com/office/drawing/2014/main" id="{A5822F70-61F7-4C4F-BD5C-44CDCFF846B0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6" name="U06-DG-048-cell_3-body">
            <a:extLst>
              <a:ext uri="{FF2B5EF4-FFF2-40B4-BE49-F238E27FC236}">
                <a16:creationId xmlns:a16="http://schemas.microsoft.com/office/drawing/2014/main" id="{28989D80-EA36-4F30-8349-5C4112329CCB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célula ciliada graduado</a:t>
            </a:r>
          </a:p>
        </p:txBody>
      </p:sp>
      <p:sp>
        <p:nvSpPr>
          <p:cNvPr id="17" name="U06-DG-048-cell_4-box">
            <a:extLst>
              <a:ext uri="{FF2B5EF4-FFF2-40B4-BE49-F238E27FC236}">
                <a16:creationId xmlns:a16="http://schemas.microsoft.com/office/drawing/2014/main" id="{C012EDA7-2055-4CA3-877D-BA12D0793DD7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48-cell_4-title">
            <a:extLst>
              <a:ext uri="{FF2B5EF4-FFF2-40B4-BE49-F238E27FC236}">
                <a16:creationId xmlns:a16="http://schemas.microsoft.com/office/drawing/2014/main" id="{47156778-1C3B-4B87-B6B7-3FCBDF54EC0C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 acción</a:t>
            </a:r>
          </a:p>
        </p:txBody>
      </p:sp>
      <p:sp>
        <p:nvSpPr>
          <p:cNvPr id="19" name="U06-DG-048-cell_4-body">
            <a:extLst>
              <a:ext uri="{FF2B5EF4-FFF2-40B4-BE49-F238E27FC236}">
                <a16:creationId xmlns:a16="http://schemas.microsoft.com/office/drawing/2014/main" id="{9FEC41BC-4DC5-499F-B32F-5E233C9085F8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fibra aferente impulsos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30C251C8-9FAC-4025-8B0D-754E88CE6548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Endococlear, reposo, receptor y acción se distinguen por ubicación, causa y func…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95CFF75C-A44B-4D15-8F19-816CEFE6F93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305D37AF-A02D-4C8B-B15B-B2864C586E2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potencial endococlear sostiene un gradiente en la rampa media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EE01911F-77D7-40A5-BFE5-1275BCB026A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084</a:t>
            </a:r>
          </a:p>
        </p:txBody>
      </p:sp>
      <p:sp>
        <p:nvSpPr>
          <p:cNvPr id="3" name="U06-DG-049-layer_1-anchor">
            <a:extLst>
              <a:ext uri="{FF2B5EF4-FFF2-40B4-BE49-F238E27FC236}">
                <a16:creationId xmlns:a16="http://schemas.microsoft.com/office/drawing/2014/main" id="{CD426D83-C393-4A69-B995-C232E4EB2CC3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9-layer_2-anchor">
            <a:extLst>
              <a:ext uri="{FF2B5EF4-FFF2-40B4-BE49-F238E27FC236}">
                <a16:creationId xmlns:a16="http://schemas.microsoft.com/office/drawing/2014/main" id="{70F38885-B69F-48BA-9C73-B08FEB57F1FC}"/>
              </a:ext>
            </a:extLst>
          </p:cNvPr>
          <p:cNvSpPr>
            <a:spLocks noGrp="1"/>
          </p:cNvSpPr>
          <p:nvPr/>
        </p:nvSpPr>
        <p:spPr>
          <a:xfrm>
            <a:off x="1714500" y="275590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9-layer_3-anchor">
            <a:extLst>
              <a:ext uri="{FF2B5EF4-FFF2-40B4-BE49-F238E27FC236}">
                <a16:creationId xmlns:a16="http://schemas.microsoft.com/office/drawing/2014/main" id="{E51F38A0-62BD-481A-AC4D-615582AC1A2B}"/>
              </a:ext>
            </a:extLst>
          </p:cNvPr>
          <p:cNvSpPr>
            <a:spLocks noGrp="1"/>
          </p:cNvSpPr>
          <p:nvPr/>
        </p:nvSpPr>
        <p:spPr>
          <a:xfrm>
            <a:off x="1714500" y="4235450"/>
            <a:ext cx="8763000" cy="1384300"/>
          </a:xfrm>
          <a:prstGeom prst="roundRect">
            <a:avLst>
              <a:gd name="adj" fmla="val 6881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9-layer_1-box" descr="Diagrama sobre «El potencial endococlear sostiene un gradiente en la rampa media»; organiza ubicación, polaridad relativa, función y advertencia sobre referencia de medida." title="Texto alternativo U06-084">
            <a:extLst>
              <a:ext uri="{FF2B5EF4-FFF2-40B4-BE49-F238E27FC236}">
                <a16:creationId xmlns:a16="http://schemas.microsoft.com/office/drawing/2014/main" id="{C1FDEC01-B8AB-4F11-8A42-C97DB2109E09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U06-DG-049-layer_1-title">
            <a:extLst>
              <a:ext uri="{FF2B5EF4-FFF2-40B4-BE49-F238E27FC236}">
                <a16:creationId xmlns:a16="http://schemas.microsoft.com/office/drawing/2014/main" id="{CB5B8C1A-294C-4210-8A88-51031693E552}"/>
              </a:ext>
            </a:extLst>
          </p:cNvPr>
          <p:cNvSpPr>
            <a:spLocks noGrp="1"/>
          </p:cNvSpPr>
          <p:nvPr/>
        </p:nvSpPr>
        <p:spPr>
          <a:xfrm>
            <a:off x="1905000" y="14192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Endolinfa</a:t>
            </a:r>
          </a:p>
        </p:txBody>
      </p:sp>
      <p:sp>
        <p:nvSpPr>
          <p:cNvPr id="8" name="U06-DG-049-layer_1-body">
            <a:extLst>
              <a:ext uri="{FF2B5EF4-FFF2-40B4-BE49-F238E27FC236}">
                <a16:creationId xmlns:a16="http://schemas.microsoft.com/office/drawing/2014/main" id="{BEA2E09A-FA2F-402E-96FF-D7C821EAA2DA}"/>
              </a:ext>
            </a:extLst>
          </p:cNvPr>
          <p:cNvSpPr>
            <a:spLocks noGrp="1"/>
          </p:cNvSpPr>
          <p:nvPr/>
        </p:nvSpPr>
        <p:spPr>
          <a:xfrm>
            <a:off x="1905000" y="186690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positiva respecto de V(ref)</a:t>
            </a:r>
          </a:p>
        </p:txBody>
      </p:sp>
      <p:sp>
        <p:nvSpPr>
          <p:cNvPr id="9" name="U06-DG-049-layer_2-box">
            <a:extLst>
              <a:ext uri="{FF2B5EF4-FFF2-40B4-BE49-F238E27FC236}">
                <a16:creationId xmlns:a16="http://schemas.microsoft.com/office/drawing/2014/main" id="{5F7F6D9D-49ED-49CE-B564-FD63226BE8E1}"/>
              </a:ext>
            </a:extLst>
          </p:cNvPr>
          <p:cNvSpPr>
            <a:spLocks noGrp="1"/>
          </p:cNvSpPr>
          <p:nvPr/>
        </p:nvSpPr>
        <p:spPr>
          <a:xfrm>
            <a:off x="1714500" y="275590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U06-DG-049-layer_2-title">
            <a:extLst>
              <a:ext uri="{FF2B5EF4-FFF2-40B4-BE49-F238E27FC236}">
                <a16:creationId xmlns:a16="http://schemas.microsoft.com/office/drawing/2014/main" id="{13CA13DC-2CC0-4128-A47F-77F144B947B9}"/>
              </a:ext>
            </a:extLst>
          </p:cNvPr>
          <p:cNvSpPr>
            <a:spLocks noGrp="1"/>
          </p:cNvSpPr>
          <p:nvPr/>
        </p:nvSpPr>
        <p:spPr>
          <a:xfrm>
            <a:off x="1905000" y="289877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11" name="U06-DG-049-layer_2-body">
            <a:extLst>
              <a:ext uri="{FF2B5EF4-FFF2-40B4-BE49-F238E27FC236}">
                <a16:creationId xmlns:a16="http://schemas.microsoft.com/office/drawing/2014/main" id="{7F5B8CF7-69F4-409F-9E3F-7874EB5457A8}"/>
              </a:ext>
            </a:extLst>
          </p:cNvPr>
          <p:cNvSpPr>
            <a:spLocks noGrp="1"/>
          </p:cNvSpPr>
          <p:nvPr/>
        </p:nvSpPr>
        <p:spPr>
          <a:xfrm>
            <a:off x="1905000" y="334645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interior celular</a:t>
            </a:r>
          </a:p>
        </p:txBody>
      </p:sp>
      <p:sp>
        <p:nvSpPr>
          <p:cNvPr id="12" name="U06-DG-049-layer_3-box">
            <a:extLst>
              <a:ext uri="{FF2B5EF4-FFF2-40B4-BE49-F238E27FC236}">
                <a16:creationId xmlns:a16="http://schemas.microsoft.com/office/drawing/2014/main" id="{62121BB3-2453-49F2-8084-969B741A38F7}"/>
              </a:ext>
            </a:extLst>
          </p:cNvPr>
          <p:cNvSpPr>
            <a:spLocks noGrp="1"/>
          </p:cNvSpPr>
          <p:nvPr/>
        </p:nvSpPr>
        <p:spPr>
          <a:xfrm>
            <a:off x="1714500" y="4235450"/>
            <a:ext cx="8763000" cy="1384300"/>
          </a:xfrm>
          <a:prstGeom prst="roundRect">
            <a:avLst>
              <a:gd name="adj" fmla="val 688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49-layer_3-title">
            <a:extLst>
              <a:ext uri="{FF2B5EF4-FFF2-40B4-BE49-F238E27FC236}">
                <a16:creationId xmlns:a16="http://schemas.microsoft.com/office/drawing/2014/main" id="{D2283694-EBF6-445C-8E56-5132F66846D1}"/>
              </a:ext>
            </a:extLst>
          </p:cNvPr>
          <p:cNvSpPr>
            <a:spLocks noGrp="1"/>
          </p:cNvSpPr>
          <p:nvPr/>
        </p:nvSpPr>
        <p:spPr>
          <a:xfrm>
            <a:off x="1905000" y="43783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Perilinfa / referencia</a:t>
            </a:r>
          </a:p>
        </p:txBody>
      </p:sp>
      <p:sp>
        <p:nvSpPr>
          <p:cNvPr id="14" name="U06-DG-049-layer_3-body">
            <a:extLst>
              <a:ext uri="{FF2B5EF4-FFF2-40B4-BE49-F238E27FC236}">
                <a16:creationId xmlns:a16="http://schemas.microsoft.com/office/drawing/2014/main" id="{5DE510E7-68CB-47E0-89CD-8F88E345B654}"/>
              </a:ext>
            </a:extLst>
          </p:cNvPr>
          <p:cNvSpPr>
            <a:spLocks noGrp="1"/>
          </p:cNvSpPr>
          <p:nvPr/>
        </p:nvSpPr>
        <p:spPr>
          <a:xfrm>
            <a:off x="1905000" y="4826000"/>
            <a:ext cx="83820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V(ref)</a:t>
            </a:r>
          </a:p>
        </p:txBody>
      </p:sp>
      <p:sp>
        <p:nvSpPr>
          <p:cNvPr id="15" name="caption">
            <a:extLst>
              <a:ext uri="{FF2B5EF4-FFF2-40B4-BE49-F238E27FC236}">
                <a16:creationId xmlns:a16="http://schemas.microsoft.com/office/drawing/2014/main" id="{5A684636-8408-4C20-BFA8-F3A757C1A3BA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endolinfa posee un potencial positivo respecto de referencias extracocleares…</a:t>
            </a:r>
          </a:p>
        </p:txBody>
      </p:sp>
      <p:sp>
        <p:nvSpPr>
          <p:cNvPr id="16" name="credit">
            <a:extLst>
              <a:ext uri="{FF2B5EF4-FFF2-40B4-BE49-F238E27FC236}">
                <a16:creationId xmlns:a16="http://schemas.microsoft.com/office/drawing/2014/main" id="{F618186A-6BD3-4099-A35B-522C6B15886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E54D3701-BB60-4C1E-BA89-C56034D368A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Potencial de reposo: estado basal de la célula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D1403A1-611D-4DA1-8DA8-929270CAFDF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Debe definirse como condición eléctrica basal, distinta del potencial endococlear y del potencial receptor.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8990378-CF88-4814-A6AB-2468F55A613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085</a:t>
            </a:r>
          </a:p>
        </p:txBody>
      </p:sp>
      <p:sp>
        <p:nvSpPr>
          <p:cNvPr id="4" name="resting-box">
            <a:extLst>
              <a:ext uri="{FF2B5EF4-FFF2-40B4-BE49-F238E27FC236}">
                <a16:creationId xmlns:a16="http://schemas.microsoft.com/office/drawing/2014/main" id="{722274D5-98C6-415C-9B32-A0A5D3BC9322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5" name="resting-title">
            <a:extLst>
              <a:ext uri="{FF2B5EF4-FFF2-40B4-BE49-F238E27FC236}">
                <a16:creationId xmlns:a16="http://schemas.microsoft.com/office/drawing/2014/main" id="{F33BC8A7-2A94-422E-9441-5A8476274486}"/>
              </a:ext>
            </a:extLst>
          </p:cNvPr>
          <p:cNvSpPr>
            <a:spLocks noGrp="1"/>
          </p:cNvSpPr>
          <p:nvPr/>
        </p:nvSpPr>
        <p:spPr>
          <a:xfrm>
            <a:off x="933450" y="180022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reposo</a:t>
            </a:r>
          </a:p>
        </p:txBody>
      </p:sp>
      <p:sp>
        <p:nvSpPr>
          <p:cNvPr id="6" name="resting-body">
            <a:extLst>
              <a:ext uri="{FF2B5EF4-FFF2-40B4-BE49-F238E27FC236}">
                <a16:creationId xmlns:a16="http://schemas.microsoft.com/office/drawing/2014/main" id="{668E1827-7C94-41DA-A021-EB0829B63B43}"/>
              </a:ext>
            </a:extLst>
          </p:cNvPr>
          <p:cNvSpPr>
            <a:spLocks noGrp="1"/>
          </p:cNvSpPr>
          <p:nvPr/>
        </p:nvSpPr>
        <p:spPr>
          <a:xfrm>
            <a:off x="933450" y="2200275"/>
            <a:ext cx="4610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 eléctrica basal de la membrana, medida respecto de una referencia extracelular declarada.</a:t>
            </a:r>
          </a:p>
        </p:txBody>
      </p:sp>
      <p:sp>
        <p:nvSpPr>
          <p:cNvPr id="7" name="receptor-box">
            <a:extLst>
              <a:ext uri="{FF2B5EF4-FFF2-40B4-BE49-F238E27FC236}">
                <a16:creationId xmlns:a16="http://schemas.microsoft.com/office/drawing/2014/main" id="{F5EBE908-546B-4447-82BD-5B1D0E528B23}"/>
              </a:ext>
            </a:extLst>
          </p:cNvPr>
          <p:cNvSpPr>
            <a:spLocks noGrp="1"/>
          </p:cNvSpPr>
          <p:nvPr/>
        </p:nvSpPr>
        <p:spPr>
          <a:xfrm>
            <a:off x="6477000" y="166687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8" name="receptor-title">
            <a:extLst>
              <a:ext uri="{FF2B5EF4-FFF2-40B4-BE49-F238E27FC236}">
                <a16:creationId xmlns:a16="http://schemas.microsoft.com/office/drawing/2014/main" id="{7FA84B15-4D81-4391-9CD8-09D903A561D9}"/>
              </a:ext>
            </a:extLst>
          </p:cNvPr>
          <p:cNvSpPr>
            <a:spLocks noGrp="1"/>
          </p:cNvSpPr>
          <p:nvPr/>
        </p:nvSpPr>
        <p:spPr>
          <a:xfrm>
            <a:off x="6648450" y="180022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9" name="receptor-body">
            <a:extLst>
              <a:ext uri="{FF2B5EF4-FFF2-40B4-BE49-F238E27FC236}">
                <a16:creationId xmlns:a16="http://schemas.microsoft.com/office/drawing/2014/main" id="{6388F506-1E92-4524-A7B9-1CDDE728B8EB}"/>
              </a:ext>
            </a:extLst>
          </p:cNvPr>
          <p:cNvSpPr>
            <a:spLocks noGrp="1"/>
          </p:cNvSpPr>
          <p:nvPr/>
        </p:nvSpPr>
        <p:spPr>
          <a:xfrm>
            <a:off x="6648450" y="2200275"/>
            <a:ext cx="4610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 graduado respecto del estado basal cuando la deflexión modifica la corriente iónica.</a:t>
            </a:r>
          </a:p>
        </p:txBody>
      </p:sp>
      <p:sp>
        <p:nvSpPr>
          <p:cNvPr id="10" name="resting-caution">
            <a:extLst>
              <a:ext uri="{FF2B5EF4-FFF2-40B4-BE49-F238E27FC236}">
                <a16:creationId xmlns:a16="http://schemas.microsoft.com/office/drawing/2014/main" id="{CB9BD526-AD4D-4EBD-B948-EF4CDA4D2445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referencia de medida importa; aquí no se fija un valor universal.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6CC209A2-BC82-494D-ADF0-DFD45295911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Comparación conceptual sin fijar un valor universal: toda medición depende de compartimentos y referencia.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1067FF5D-4DF0-442D-86E0-E39AAD40C81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Fettiplace 2017, DOI 10.1002/cphy.c160049; consulta 2026-08-10.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EA0F724B-2001-4DAF-98F3-572676550EC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Potencial receptor no es potencial de acción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A0FF7FB-268E-4C27-99F4-CD50EF9438F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célula ciliada genera una respuesta graduada; los impulsos aparecen en fibras aferentes.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5A6FCEC-B752-4AE4-8351-224C4C43B9F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086</a:t>
            </a:r>
          </a:p>
        </p:txBody>
      </p:sp>
      <p:sp>
        <p:nvSpPr>
          <p:cNvPr id="4" name="U06-DG-051-panel_left-anchor">
            <a:extLst>
              <a:ext uri="{FF2B5EF4-FFF2-40B4-BE49-F238E27FC236}">
                <a16:creationId xmlns:a16="http://schemas.microsoft.com/office/drawing/2014/main" id="{FC74F987-3463-4EE7-A9B0-2785DD03FED5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1-panel_right-anchor">
            <a:extLst>
              <a:ext uri="{FF2B5EF4-FFF2-40B4-BE49-F238E27FC236}">
                <a16:creationId xmlns:a16="http://schemas.microsoft.com/office/drawing/2014/main" id="{A77B3744-D9AB-4862-B9AB-98DD8472037F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1-panel_left-box" descr="Diagrama sobre «Potencial receptor no es potencial de acción»; organiza comparación por célula/estructura, forma de variación, umbral y función." title="Texto alternativo U06-086">
            <a:extLst>
              <a:ext uri="{FF2B5EF4-FFF2-40B4-BE49-F238E27FC236}">
                <a16:creationId xmlns:a16="http://schemas.microsoft.com/office/drawing/2014/main" id="{411BADBE-D4B2-4756-8801-0DA9C1462575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U06-DG-051-panel_left-title">
            <a:extLst>
              <a:ext uri="{FF2B5EF4-FFF2-40B4-BE49-F238E27FC236}">
                <a16:creationId xmlns:a16="http://schemas.microsoft.com/office/drawing/2014/main" id="{886670FF-1C01-4612-BAF2-43E322428196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8" name="U06-DG-051-panel_left-body">
            <a:extLst>
              <a:ext uri="{FF2B5EF4-FFF2-40B4-BE49-F238E27FC236}">
                <a16:creationId xmlns:a16="http://schemas.microsoft.com/office/drawing/2014/main" id="{51C16E84-A3AA-4B3F-870A-EB0FCEAA1A38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receptor graduado y continuo</a:t>
            </a:r>
          </a:p>
        </p:txBody>
      </p:sp>
      <p:sp>
        <p:nvSpPr>
          <p:cNvPr id="9" name="U06-DG-051-panel_right-box">
            <a:extLst>
              <a:ext uri="{FF2B5EF4-FFF2-40B4-BE49-F238E27FC236}">
                <a16:creationId xmlns:a16="http://schemas.microsoft.com/office/drawing/2014/main" id="{823DAAAE-CDB9-491B-A74E-AF08652B716B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U06-DG-051-panel_right-title">
            <a:extLst>
              <a:ext uri="{FF2B5EF4-FFF2-40B4-BE49-F238E27FC236}">
                <a16:creationId xmlns:a16="http://schemas.microsoft.com/office/drawing/2014/main" id="{3BC5BDA2-1B4B-4AA5-992C-C3F35B2E64F8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11" name="U06-DG-051-panel_right-body">
            <a:extLst>
              <a:ext uri="{FF2B5EF4-FFF2-40B4-BE49-F238E27FC236}">
                <a16:creationId xmlns:a16="http://schemas.microsoft.com/office/drawing/2014/main" id="{9E5167F8-55BD-46A7-BCB2-CC03204E155E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de acción eventos discretos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2B866991-953E-4CBA-9EA5-564ABB75D33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célula ciliada genera una respuesta graduada; los impulsos aparecen en fibras…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6489AB8E-6BF5-4AA3-A016-0149A9F6D65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8ED26052-06A2-4520-821B-C3AD6DDA394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tip links vinculan mecánicamente estereocilios vecinos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36289F0-044A-4D61-A73D-7143ABEB653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Son enlaces mecánicos del haz; no “cables nerviosos” ni canales por sí mismos.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ED878B6-DBB1-41A1-A751-34161C0DA52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087</a:t>
            </a:r>
          </a:p>
        </p:txBody>
      </p:sp>
      <p:sp>
        <p:nvSpPr>
          <p:cNvPr id="4" name="U06-DG-052-stage_1-anchor">
            <a:extLst>
              <a:ext uri="{FF2B5EF4-FFF2-40B4-BE49-F238E27FC236}">
                <a16:creationId xmlns:a16="http://schemas.microsoft.com/office/drawing/2014/main" id="{8330D85D-B113-4520-B943-5AF017A0A274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2-stage_2-anchor">
            <a:extLst>
              <a:ext uri="{FF2B5EF4-FFF2-40B4-BE49-F238E27FC236}">
                <a16:creationId xmlns:a16="http://schemas.microsoft.com/office/drawing/2014/main" id="{6DC52858-D745-4D71-986D-10D000936DE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2-stage_3-anchor">
            <a:extLst>
              <a:ext uri="{FF2B5EF4-FFF2-40B4-BE49-F238E27FC236}">
                <a16:creationId xmlns:a16="http://schemas.microsoft.com/office/drawing/2014/main" id="{DD4C696F-85C1-4E93-8328-007F6F06EBB9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2-stage_4-anchor">
            <a:extLst>
              <a:ext uri="{FF2B5EF4-FFF2-40B4-BE49-F238E27FC236}">
                <a16:creationId xmlns:a16="http://schemas.microsoft.com/office/drawing/2014/main" id="{7B637BB6-559F-4723-B4DE-7856123B3E9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52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52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52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52-stage_1-box" descr="Diagrama sobre «Los *tip links* vinculan mecánicamente estereocilios vecinos»; organiza ubicación en el haz y relación con tensión; límite de la simplificación." title="Texto alternativo U06-087">
            <a:extLst>
              <a:ext uri="{FF2B5EF4-FFF2-40B4-BE49-F238E27FC236}">
                <a16:creationId xmlns:a16="http://schemas.microsoft.com/office/drawing/2014/main" id="{A09BB3C5-B32C-4B11-B9CA-642F11878CD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52-stage_1-title">
            <a:extLst>
              <a:ext uri="{FF2B5EF4-FFF2-40B4-BE49-F238E27FC236}">
                <a16:creationId xmlns:a16="http://schemas.microsoft.com/office/drawing/2014/main" id="{225A79D7-0D98-47D6-8341-6B5C41EB6E49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Estereocilio bajo</a:t>
            </a:r>
          </a:p>
        </p:txBody>
      </p:sp>
      <p:sp>
        <p:nvSpPr>
          <p:cNvPr id="13" name="U06-DG-052-stage_1-body">
            <a:extLst>
              <a:ext uri="{FF2B5EF4-FFF2-40B4-BE49-F238E27FC236}">
                <a16:creationId xmlns:a16="http://schemas.microsoft.com/office/drawing/2014/main" id="{7B24BC1F-E992-4DB7-8700-93F5A14C3C34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inferior</a:t>
            </a:r>
          </a:p>
        </p:txBody>
      </p:sp>
      <p:sp>
        <p:nvSpPr>
          <p:cNvPr id="14" name="U06-DG-052-stage_2-box">
            <a:extLst>
              <a:ext uri="{FF2B5EF4-FFF2-40B4-BE49-F238E27FC236}">
                <a16:creationId xmlns:a16="http://schemas.microsoft.com/office/drawing/2014/main" id="{0B2D3229-6495-41DB-9AEF-8E9E0AA9208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52-stage_2-title">
            <a:extLst>
              <a:ext uri="{FF2B5EF4-FFF2-40B4-BE49-F238E27FC236}">
                <a16:creationId xmlns:a16="http://schemas.microsoft.com/office/drawing/2014/main" id="{809D4F35-A62C-4A34-92F5-BAF96ED352CB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Tip link</a:t>
            </a:r>
          </a:p>
        </p:txBody>
      </p:sp>
      <p:sp>
        <p:nvSpPr>
          <p:cNvPr id="16" name="U06-DG-052-stage_2-body">
            <a:extLst>
              <a:ext uri="{FF2B5EF4-FFF2-40B4-BE49-F238E27FC236}">
                <a16:creationId xmlns:a16="http://schemas.microsoft.com/office/drawing/2014/main" id="{60BC1C70-7B0A-479E-8450-62653C5CC966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enlace oblicuo</a:t>
            </a:r>
          </a:p>
        </p:txBody>
      </p:sp>
      <p:sp>
        <p:nvSpPr>
          <p:cNvPr id="17" name="U06-DG-052-stage_3-box">
            <a:extLst>
              <a:ext uri="{FF2B5EF4-FFF2-40B4-BE49-F238E27FC236}">
                <a16:creationId xmlns:a16="http://schemas.microsoft.com/office/drawing/2014/main" id="{B9749C06-83E8-469B-96E3-3125601054B6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52-stage_3-title">
            <a:extLst>
              <a:ext uri="{FF2B5EF4-FFF2-40B4-BE49-F238E27FC236}">
                <a16:creationId xmlns:a16="http://schemas.microsoft.com/office/drawing/2014/main" id="{75AB1104-0D29-4826-AEF0-DE62C7A93641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Estereocilio alto</a:t>
            </a:r>
          </a:p>
        </p:txBody>
      </p:sp>
      <p:sp>
        <p:nvSpPr>
          <p:cNvPr id="19" name="U06-DG-052-stage_3-body">
            <a:extLst>
              <a:ext uri="{FF2B5EF4-FFF2-40B4-BE49-F238E27FC236}">
                <a16:creationId xmlns:a16="http://schemas.microsoft.com/office/drawing/2014/main" id="{722D7C68-80E4-49DA-A242-DF0A14F63C46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superior</a:t>
            </a:r>
          </a:p>
        </p:txBody>
      </p:sp>
      <p:sp>
        <p:nvSpPr>
          <p:cNvPr id="20" name="U06-DG-052-stage_4-box">
            <a:extLst>
              <a:ext uri="{FF2B5EF4-FFF2-40B4-BE49-F238E27FC236}">
                <a16:creationId xmlns:a16="http://schemas.microsoft.com/office/drawing/2014/main" id="{CA7CE163-0AD4-4445-BD5C-AD2B3AAE042C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52-stage_4-title">
            <a:extLst>
              <a:ext uri="{FF2B5EF4-FFF2-40B4-BE49-F238E27FC236}">
                <a16:creationId xmlns:a16="http://schemas.microsoft.com/office/drawing/2014/main" id="{01C5D840-BBA2-4F80-9E1C-A98075EF39B8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Tensión</a:t>
            </a:r>
          </a:p>
        </p:txBody>
      </p:sp>
      <p:sp>
        <p:nvSpPr>
          <p:cNvPr id="22" name="U06-DG-052-stage_4-body">
            <a:extLst>
              <a:ext uri="{FF2B5EF4-FFF2-40B4-BE49-F238E27FC236}">
                <a16:creationId xmlns:a16="http://schemas.microsoft.com/office/drawing/2014/main" id="{66BB107B-E281-405A-9C91-4EA19B6D8B52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modula apertura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70D0B32F-87AB-47C1-BE33-5A8D443074C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Son enlaces mecánicos del haz; no “cables nerviosos” ni canales por sí mismos.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BD2EDA82-E90E-4F7C-84D1-A6EB5878EDC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0CCADF9E-D3C1-484B-AEEC-F04BC01118B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deflexión excitatoria aumenta la apertura de canales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702253C-FFEB-4FDD-A5D0-709FA6CB790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tensión del haz modifica la probabilidad de apertura y permite una corriente predominantemente de K⁺ desde la endolinfa.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4E6EA48-DB70-41D9-AFBE-2D078FDFECA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088</a:t>
            </a:r>
          </a:p>
        </p:txBody>
      </p:sp>
      <p:sp>
        <p:nvSpPr>
          <p:cNvPr id="4" name="U06-DG-053-panel_left-anchor">
            <a:extLst>
              <a:ext uri="{FF2B5EF4-FFF2-40B4-BE49-F238E27FC236}">
                <a16:creationId xmlns:a16="http://schemas.microsoft.com/office/drawing/2014/main" id="{9AC077A6-D948-474E-AC0C-FD732FF2EFF4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3-panel_right-anchor">
            <a:extLst>
              <a:ext uri="{FF2B5EF4-FFF2-40B4-BE49-F238E27FC236}">
                <a16:creationId xmlns:a16="http://schemas.microsoft.com/office/drawing/2014/main" id="{1702E172-977A-4AB6-8FB1-DDA798DBB00A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3-panel_left-box" descr="Diagrama sobre «La deflexión excitatoria aumenta la apertura de canales»; organiza reposo relativo → deflexión → apertura → entrada iónica → despolarización; dirección opuesta como contraste." title="Texto alternativo U06-088">
            <a:extLst>
              <a:ext uri="{FF2B5EF4-FFF2-40B4-BE49-F238E27FC236}">
                <a16:creationId xmlns:a16="http://schemas.microsoft.com/office/drawing/2014/main" id="{839398EC-CDF9-4991-A65D-F114AEEDBF58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7" name="U06-DG-053-panel_left-title">
            <a:extLst>
              <a:ext uri="{FF2B5EF4-FFF2-40B4-BE49-F238E27FC236}">
                <a16:creationId xmlns:a16="http://schemas.microsoft.com/office/drawing/2014/main" id="{EAFEAE6B-F96B-4674-B188-5804C93F8AB8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tensión</a:t>
            </a:r>
          </a:p>
        </p:txBody>
      </p:sp>
      <p:sp>
        <p:nvSpPr>
          <p:cNvPr id="8" name="U06-DG-053-panel_left-body">
            <a:extLst>
              <a:ext uri="{FF2B5EF4-FFF2-40B4-BE49-F238E27FC236}">
                <a16:creationId xmlns:a16="http://schemas.microsoft.com/office/drawing/2014/main" id="{0C391DE8-17C4-4212-8142-78E3BDF71219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menor corriente K⁺ menor</a:t>
            </a:r>
          </a:p>
        </p:txBody>
      </p:sp>
      <p:sp>
        <p:nvSpPr>
          <p:cNvPr id="9" name="U06-DG-053-panel_right-box">
            <a:extLst>
              <a:ext uri="{FF2B5EF4-FFF2-40B4-BE49-F238E27FC236}">
                <a16:creationId xmlns:a16="http://schemas.microsoft.com/office/drawing/2014/main" id="{0AA21D28-88FE-4C02-BEFA-6AEB6B390865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U06-DG-053-panel_right-title">
            <a:extLst>
              <a:ext uri="{FF2B5EF4-FFF2-40B4-BE49-F238E27FC236}">
                <a16:creationId xmlns:a16="http://schemas.microsoft.com/office/drawing/2014/main" id="{F6326C97-3310-4372-95F8-60E474DDD628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Mayor tensión</a:t>
            </a:r>
          </a:p>
        </p:txBody>
      </p:sp>
      <p:sp>
        <p:nvSpPr>
          <p:cNvPr id="11" name="U06-DG-053-panel_right-body">
            <a:extLst>
              <a:ext uri="{FF2B5EF4-FFF2-40B4-BE49-F238E27FC236}">
                <a16:creationId xmlns:a16="http://schemas.microsoft.com/office/drawing/2014/main" id="{A4E853C6-4CEC-4830-A65E-CF7CC7B45135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mayor entrada de K⁺ mayor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0B4E6BE0-C4E8-40F1-889B-68E7F22C7E7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tensión del haz modifica la probabilidad de apertura y permite una corriente…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8DCED74E-CD9C-45C5-95BA-7482BD2566F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0B759C4C-BE86-4FE2-83AA-8A3CC917CD0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Ca²⁺ y glutamato conectan la respuesta celular con la aferencia</a:t>
            </a: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8D3E266A-F365-4D50-ABAE-FDF0ED99704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089</a:t>
            </a:r>
          </a:p>
        </p:txBody>
      </p:sp>
      <p:sp>
        <p:nvSpPr>
          <p:cNvPr id="3" name="U06-DG-054-stage_1-anchor">
            <a:extLst>
              <a:ext uri="{FF2B5EF4-FFF2-40B4-BE49-F238E27FC236}">
                <a16:creationId xmlns:a16="http://schemas.microsoft.com/office/drawing/2014/main" id="{56B31EF5-8A9B-4A96-96E6-1F614DCEBFEC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4-stage_2-anchor">
            <a:extLst>
              <a:ext uri="{FF2B5EF4-FFF2-40B4-BE49-F238E27FC236}">
                <a16:creationId xmlns:a16="http://schemas.microsoft.com/office/drawing/2014/main" id="{A8E4DE3A-2D48-4C4A-8460-838B67BC9F15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4-stage_3-anchor">
            <a:extLst>
              <a:ext uri="{FF2B5EF4-FFF2-40B4-BE49-F238E27FC236}">
                <a16:creationId xmlns:a16="http://schemas.microsoft.com/office/drawing/2014/main" id="{E41F53AB-08BF-46D6-B32E-FC2B90AB0CC9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4-stage_4-anchor">
            <a:extLst>
              <a:ext uri="{FF2B5EF4-FFF2-40B4-BE49-F238E27FC236}">
                <a16:creationId xmlns:a16="http://schemas.microsoft.com/office/drawing/2014/main" id="{B76DA561-B00D-4D82-9238-086BEBB0E86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54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54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54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54-stage_1-box" descr="Diagrama sobre «Ca²⁺ y glutamato conectan la respuesta celular con la aferencia»; organiza tres pasos en la base de una cci; cce se retoma solo como contraste funcional." title="Texto alternativo U06-089">
            <a:extLst>
              <a:ext uri="{FF2B5EF4-FFF2-40B4-BE49-F238E27FC236}">
                <a16:creationId xmlns:a16="http://schemas.microsoft.com/office/drawing/2014/main" id="{88BEFE1F-8CDE-4509-9110-2B0E9B4BEB7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54-stage_1-title">
            <a:extLst>
              <a:ext uri="{FF2B5EF4-FFF2-40B4-BE49-F238E27FC236}">
                <a16:creationId xmlns:a16="http://schemas.microsoft.com/office/drawing/2014/main" id="{D5052493-583F-4CCF-9013-60A418467FA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</a:t>
            </a:r>
          </a:p>
        </p:txBody>
      </p:sp>
      <p:sp>
        <p:nvSpPr>
          <p:cNvPr id="12" name="U06-DG-054-stage_1-body">
            <a:extLst>
              <a:ext uri="{FF2B5EF4-FFF2-40B4-BE49-F238E27FC236}">
                <a16:creationId xmlns:a16="http://schemas.microsoft.com/office/drawing/2014/main" id="{583D8E00-EAEF-4D2E-A8DF-D7E834705B23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despolariza</a:t>
            </a:r>
          </a:p>
        </p:txBody>
      </p:sp>
      <p:sp>
        <p:nvSpPr>
          <p:cNvPr id="13" name="U06-DG-054-stage_2-box">
            <a:extLst>
              <a:ext uri="{FF2B5EF4-FFF2-40B4-BE49-F238E27FC236}">
                <a16:creationId xmlns:a16="http://schemas.microsoft.com/office/drawing/2014/main" id="{20618F13-379C-48C5-8C08-B539E54C9A3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54-stage_2-title">
            <a:extLst>
              <a:ext uri="{FF2B5EF4-FFF2-40B4-BE49-F238E27FC236}">
                <a16:creationId xmlns:a16="http://schemas.microsoft.com/office/drawing/2014/main" id="{37CF608C-BFB0-4143-8D58-753471630434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de Ca²⁺</a:t>
            </a:r>
          </a:p>
        </p:txBody>
      </p:sp>
      <p:sp>
        <p:nvSpPr>
          <p:cNvPr id="15" name="U06-DG-054-stage_2-body">
            <a:extLst>
              <a:ext uri="{FF2B5EF4-FFF2-40B4-BE49-F238E27FC236}">
                <a16:creationId xmlns:a16="http://schemas.microsoft.com/office/drawing/2014/main" id="{E6064164-F1A4-44E5-BF2F-3D4FCB3C1751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zona basal</a:t>
            </a:r>
          </a:p>
        </p:txBody>
      </p:sp>
      <p:sp>
        <p:nvSpPr>
          <p:cNvPr id="16" name="U06-DG-054-stage_3-box">
            <a:extLst>
              <a:ext uri="{FF2B5EF4-FFF2-40B4-BE49-F238E27FC236}">
                <a16:creationId xmlns:a16="http://schemas.microsoft.com/office/drawing/2014/main" id="{0C6BA38B-1C11-4B7C-900B-B55F6B662C24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54-stage_3-title">
            <a:extLst>
              <a:ext uri="{FF2B5EF4-FFF2-40B4-BE49-F238E27FC236}">
                <a16:creationId xmlns:a16="http://schemas.microsoft.com/office/drawing/2014/main" id="{7382454E-8173-4C1C-8F40-66DC1EC8CF64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18" name="U06-DG-054-stage_3-body">
            <a:extLst>
              <a:ext uri="{FF2B5EF4-FFF2-40B4-BE49-F238E27FC236}">
                <a16:creationId xmlns:a16="http://schemas.microsoft.com/office/drawing/2014/main" id="{70E8A841-4645-4821-8CD4-2F2E19208873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liberación</a:t>
            </a:r>
          </a:p>
        </p:txBody>
      </p:sp>
      <p:sp>
        <p:nvSpPr>
          <p:cNvPr id="19" name="U06-DG-054-stage_4-box">
            <a:extLst>
              <a:ext uri="{FF2B5EF4-FFF2-40B4-BE49-F238E27FC236}">
                <a16:creationId xmlns:a16="http://schemas.microsoft.com/office/drawing/2014/main" id="{D0DCC440-1208-4077-BF6C-8BEA6A040858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54-stage_4-title">
            <a:extLst>
              <a:ext uri="{FF2B5EF4-FFF2-40B4-BE49-F238E27FC236}">
                <a16:creationId xmlns:a16="http://schemas.microsoft.com/office/drawing/2014/main" id="{F9A75173-7278-4D36-A93C-79DE1001BDDC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1" name="U06-DG-054-stage_4-body">
            <a:extLst>
              <a:ext uri="{FF2B5EF4-FFF2-40B4-BE49-F238E27FC236}">
                <a16:creationId xmlns:a16="http://schemas.microsoft.com/office/drawing/2014/main" id="{8E167164-E85F-4BCE-8FCA-AC6F4EF63B40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neural</a:t>
            </a:r>
          </a:p>
        </p:txBody>
      </p:sp>
      <p:sp>
        <p:nvSpPr>
          <p:cNvPr id="22" name="caption">
            <a:extLst>
              <a:ext uri="{FF2B5EF4-FFF2-40B4-BE49-F238E27FC236}">
                <a16:creationId xmlns:a16="http://schemas.microsoft.com/office/drawing/2014/main" id="{6EBD0F7B-01CA-47EB-AE6F-744EC486201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despolarización favorece entrada de Ca²⁺ y liberación de neurotransmisor haci…</a:t>
            </a:r>
          </a:p>
        </p:txBody>
      </p:sp>
      <p:sp>
        <p:nvSpPr>
          <p:cNvPr id="23" name="credit">
            <a:extLst>
              <a:ext uri="{FF2B5EF4-FFF2-40B4-BE49-F238E27FC236}">
                <a16:creationId xmlns:a16="http://schemas.microsoft.com/office/drawing/2014/main" id="{3E1F61C9-A8D2-4F75-B688-F1AAEC232CD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B29B41B8-53D3-4EF7-B195-D499602648B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Tramo 1: del movimiento al potencial receptor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C76296B-8074-4EB0-B8A2-C95778C5CF5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Movimiento relativo → deflexión → cambio de canales → corriente → potencial receptor.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F0EF80A-7255-47DF-8D6D-54E7674AB7A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090</a:t>
            </a:r>
          </a:p>
        </p:txBody>
      </p:sp>
      <p:sp>
        <p:nvSpPr>
          <p:cNvPr id="4" name="U06-DG-055-stage_1-anchor">
            <a:extLst>
              <a:ext uri="{FF2B5EF4-FFF2-40B4-BE49-F238E27FC236}">
                <a16:creationId xmlns:a16="http://schemas.microsoft.com/office/drawing/2014/main" id="{E3429E22-D1F4-4B22-946F-B82AFB30F533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5-stage_2-anchor">
            <a:extLst>
              <a:ext uri="{FF2B5EF4-FFF2-40B4-BE49-F238E27FC236}">
                <a16:creationId xmlns:a16="http://schemas.microsoft.com/office/drawing/2014/main" id="{C19034B8-5E82-421D-AB56-2AD63742C15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5-stage_3-anchor">
            <a:extLst>
              <a:ext uri="{FF2B5EF4-FFF2-40B4-BE49-F238E27FC236}">
                <a16:creationId xmlns:a16="http://schemas.microsoft.com/office/drawing/2014/main" id="{E2D62FE5-4678-4A66-8F01-5E39256473AB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5-stage_4-anchor">
            <a:extLst>
              <a:ext uri="{FF2B5EF4-FFF2-40B4-BE49-F238E27FC236}">
                <a16:creationId xmlns:a16="http://schemas.microsoft.com/office/drawing/2014/main" id="{610450D3-4FFD-4519-BC6A-D88810582072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55-stage_5-anchor">
            <a:extLst>
              <a:ext uri="{FF2B5EF4-FFF2-40B4-BE49-F238E27FC236}">
                <a16:creationId xmlns:a16="http://schemas.microsoft.com/office/drawing/2014/main" id="{B4B7B6AD-2037-4625-911B-CEE4EACD5EE6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5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5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5-flow_3"/>
          <p:cNvCxnSpPr>
            <a:stCxn id="6" idx="2"/>
            <a:endCxn id="7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5-flow_4"/>
          <p:cNvCxnSpPr>
            <a:stCxn id="7" idx="1"/>
            <a:endCxn id="8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55-stage_1-box" descr="Diagrama sobre «Tramo 1: del movimiento al potencial receptor»; organiza cinco etapas con entrada, transformación, salida y qué no permite concluir." title="Texto alternativo U06-090">
            <a:extLst>
              <a:ext uri="{FF2B5EF4-FFF2-40B4-BE49-F238E27FC236}">
                <a16:creationId xmlns:a16="http://schemas.microsoft.com/office/drawing/2014/main" id="{7AAEFFF1-6EFE-46C6-9226-9A6144C5085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55-stage_1-title">
            <a:extLst>
              <a:ext uri="{FF2B5EF4-FFF2-40B4-BE49-F238E27FC236}">
                <a16:creationId xmlns:a16="http://schemas.microsoft.com/office/drawing/2014/main" id="{0280081E-817E-43B8-89FD-BD556192EED5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5" name="U06-DG-055-stage_1-body">
            <a:extLst>
              <a:ext uri="{FF2B5EF4-FFF2-40B4-BE49-F238E27FC236}">
                <a16:creationId xmlns:a16="http://schemas.microsoft.com/office/drawing/2014/main" id="{332084C0-863A-4B3F-BC5B-0D169AAF240B}"/>
              </a:ext>
            </a:extLst>
          </p:cNvPr>
          <p:cNvSpPr>
            <a:spLocks noGrp="1"/>
          </p:cNvSpPr>
          <p:nvPr/>
        </p:nvSpPr>
        <p:spPr>
          <a:xfrm>
            <a:off x="9715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membranas</a:t>
            </a:r>
          </a:p>
        </p:txBody>
      </p:sp>
      <p:sp>
        <p:nvSpPr>
          <p:cNvPr id="16" name="U06-DG-055-stage_2-box">
            <a:extLst>
              <a:ext uri="{FF2B5EF4-FFF2-40B4-BE49-F238E27FC236}">
                <a16:creationId xmlns:a16="http://schemas.microsoft.com/office/drawing/2014/main" id="{B7B7846E-0BC6-43A0-8AA7-3FA6D9511719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55-stage_2-title">
            <a:extLst>
              <a:ext uri="{FF2B5EF4-FFF2-40B4-BE49-F238E27FC236}">
                <a16:creationId xmlns:a16="http://schemas.microsoft.com/office/drawing/2014/main" id="{4F603428-E727-41C2-966B-6191C12560DE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8" name="U06-DG-055-stage_2-body">
            <a:extLst>
              <a:ext uri="{FF2B5EF4-FFF2-40B4-BE49-F238E27FC236}">
                <a16:creationId xmlns:a16="http://schemas.microsoft.com/office/drawing/2014/main" id="{1C0877E0-656A-4728-B573-13FA752966B6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19" name="U06-DG-055-stage_3-box">
            <a:extLst>
              <a:ext uri="{FF2B5EF4-FFF2-40B4-BE49-F238E27FC236}">
                <a16:creationId xmlns:a16="http://schemas.microsoft.com/office/drawing/2014/main" id="{D3E42AEF-4A0B-43BF-88CD-1CDB263CC178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0" name="U06-DG-055-stage_3-title">
            <a:extLst>
              <a:ext uri="{FF2B5EF4-FFF2-40B4-BE49-F238E27FC236}">
                <a16:creationId xmlns:a16="http://schemas.microsoft.com/office/drawing/2014/main" id="{E93CF56C-3806-4887-B231-2E9B21D82D4D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1" name="U06-DG-055-stage_3-body">
            <a:extLst>
              <a:ext uri="{FF2B5EF4-FFF2-40B4-BE49-F238E27FC236}">
                <a16:creationId xmlns:a16="http://schemas.microsoft.com/office/drawing/2014/main" id="{6E3844F0-BE88-44DE-9B38-A7C69CA54550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cambia</a:t>
            </a:r>
          </a:p>
        </p:txBody>
      </p:sp>
      <p:sp>
        <p:nvSpPr>
          <p:cNvPr id="22" name="U06-DG-055-stage_4-box">
            <a:extLst>
              <a:ext uri="{FF2B5EF4-FFF2-40B4-BE49-F238E27FC236}">
                <a16:creationId xmlns:a16="http://schemas.microsoft.com/office/drawing/2014/main" id="{F75CE3AE-D74B-499A-8147-468DAC501D4B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55-stage_4-title">
            <a:extLst>
              <a:ext uri="{FF2B5EF4-FFF2-40B4-BE49-F238E27FC236}">
                <a16:creationId xmlns:a16="http://schemas.microsoft.com/office/drawing/2014/main" id="{423F2270-577D-46F9-958A-47EC93CEACB8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Corriente iónica</a:t>
            </a:r>
          </a:p>
        </p:txBody>
      </p:sp>
      <p:sp>
        <p:nvSpPr>
          <p:cNvPr id="24" name="U06-DG-055-stage_4-body">
            <a:extLst>
              <a:ext uri="{FF2B5EF4-FFF2-40B4-BE49-F238E27FC236}">
                <a16:creationId xmlns:a16="http://schemas.microsoft.com/office/drawing/2014/main" id="{B717957D-FA68-491D-9F50-2B423B15AA10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</a:t>
            </a:r>
          </a:p>
        </p:txBody>
      </p:sp>
      <p:sp>
        <p:nvSpPr>
          <p:cNvPr id="25" name="U06-DG-055-stage_5-box">
            <a:extLst>
              <a:ext uri="{FF2B5EF4-FFF2-40B4-BE49-F238E27FC236}">
                <a16:creationId xmlns:a16="http://schemas.microsoft.com/office/drawing/2014/main" id="{5077C91A-390C-4690-8221-EEA40B810541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55-stage_5-title">
            <a:extLst>
              <a:ext uri="{FF2B5EF4-FFF2-40B4-BE49-F238E27FC236}">
                <a16:creationId xmlns:a16="http://schemas.microsoft.com/office/drawing/2014/main" id="{B66810E7-DC11-4330-B4DD-CD4139B81895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27" name="U06-DG-055-stage_5-body">
            <a:extLst>
              <a:ext uri="{FF2B5EF4-FFF2-40B4-BE49-F238E27FC236}">
                <a16:creationId xmlns:a16="http://schemas.microsoft.com/office/drawing/2014/main" id="{FFE5C078-966B-451D-AA20-2B3C6B3894D5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C9BE901A-7A73-4D78-99CC-FAD28264D3F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Movimiento relativo → deflexión → cambio de canales → corriente → potencial rece…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58797086-7AFE-436A-9E47-0DDBAC1D94E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F42759CD-272F-4A7A-9565-76C941BEB71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Tramo 2: del potencial receptor a la señal neural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2D4CF8C-0720-4768-BE30-03C4CC3D24B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Potencial receptor → Ca²⁺ → glutamato → respuesta de fibra → potenciales de acción.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B4610EB-31B6-41FE-94E6-BBB313B5F5F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091</a:t>
            </a:r>
          </a:p>
        </p:txBody>
      </p:sp>
      <p:sp>
        <p:nvSpPr>
          <p:cNvPr id="4" name="U06-DG-056-stage_1-anchor">
            <a:extLst>
              <a:ext uri="{FF2B5EF4-FFF2-40B4-BE49-F238E27FC236}">
                <a16:creationId xmlns:a16="http://schemas.microsoft.com/office/drawing/2014/main" id="{B35A5A54-989D-4E1B-BF48-6C0B3021C812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6-stage_2-anchor">
            <a:extLst>
              <a:ext uri="{FF2B5EF4-FFF2-40B4-BE49-F238E27FC236}">
                <a16:creationId xmlns:a16="http://schemas.microsoft.com/office/drawing/2014/main" id="{7CBB284B-1657-4102-8CC1-A6CC559AFC7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6-stage_3-anchor">
            <a:extLst>
              <a:ext uri="{FF2B5EF4-FFF2-40B4-BE49-F238E27FC236}">
                <a16:creationId xmlns:a16="http://schemas.microsoft.com/office/drawing/2014/main" id="{B25FDD5D-C5B3-4972-9D3C-6EE8E70F00B3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6-stage_4-anchor">
            <a:extLst>
              <a:ext uri="{FF2B5EF4-FFF2-40B4-BE49-F238E27FC236}">
                <a16:creationId xmlns:a16="http://schemas.microsoft.com/office/drawing/2014/main" id="{31FAEB7D-8D50-41A9-9057-65EA1E82CFBD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56-stage_5-anchor">
            <a:extLst>
              <a:ext uri="{FF2B5EF4-FFF2-40B4-BE49-F238E27FC236}">
                <a16:creationId xmlns:a16="http://schemas.microsoft.com/office/drawing/2014/main" id="{199E6149-D33F-465F-B63C-1E8418A4D150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6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6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6-flow_3"/>
          <p:cNvCxnSpPr>
            <a:stCxn id="6" idx="2"/>
            <a:endCxn id="7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6-flow_4"/>
          <p:cNvCxnSpPr>
            <a:stCxn id="7" idx="1"/>
            <a:endCxn id="8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56-stage_1-box" descr="Diagrama sobre «Tramo 2: del potencial receptor a la señal neural»; organiza cinco etapas; ubicación explícita de célula y fibra aferente." title="Texto alternativo U06-091">
            <a:extLst>
              <a:ext uri="{FF2B5EF4-FFF2-40B4-BE49-F238E27FC236}">
                <a16:creationId xmlns:a16="http://schemas.microsoft.com/office/drawing/2014/main" id="{2BB4BB75-3636-4C3A-874F-4B04E520022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56-stage_1-title">
            <a:extLst>
              <a:ext uri="{FF2B5EF4-FFF2-40B4-BE49-F238E27FC236}">
                <a16:creationId xmlns:a16="http://schemas.microsoft.com/office/drawing/2014/main" id="{5F0D78C5-E246-45C7-AAA5-F89BE920E83C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5" name="U06-DG-056-stage_1-body">
            <a:extLst>
              <a:ext uri="{FF2B5EF4-FFF2-40B4-BE49-F238E27FC236}">
                <a16:creationId xmlns:a16="http://schemas.microsoft.com/office/drawing/2014/main" id="{A1E86E2B-5D7D-4436-B8CE-ED3B9AF7F7D6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16" name="U06-DG-056-stage_2-box">
            <a:extLst>
              <a:ext uri="{FF2B5EF4-FFF2-40B4-BE49-F238E27FC236}">
                <a16:creationId xmlns:a16="http://schemas.microsoft.com/office/drawing/2014/main" id="{DEA77D9F-F2EF-4D34-A099-E636EB127479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56-stage_2-title">
            <a:extLst>
              <a:ext uri="{FF2B5EF4-FFF2-40B4-BE49-F238E27FC236}">
                <a16:creationId xmlns:a16="http://schemas.microsoft.com/office/drawing/2014/main" id="{C5DC22C1-8552-4D73-8555-AF2862FA1C90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Canales de Ca²⁺</a:t>
            </a:r>
          </a:p>
        </p:txBody>
      </p:sp>
      <p:sp>
        <p:nvSpPr>
          <p:cNvPr id="18" name="U06-DG-056-stage_2-body">
            <a:extLst>
              <a:ext uri="{FF2B5EF4-FFF2-40B4-BE49-F238E27FC236}">
                <a16:creationId xmlns:a16="http://schemas.microsoft.com/office/drawing/2014/main" id="{3827A8CD-FFCC-4D85-BDCE-3BC4531B1E02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zona basal</a:t>
            </a:r>
          </a:p>
        </p:txBody>
      </p:sp>
      <p:sp>
        <p:nvSpPr>
          <p:cNvPr id="19" name="U06-DG-056-stage_3-box">
            <a:extLst>
              <a:ext uri="{FF2B5EF4-FFF2-40B4-BE49-F238E27FC236}">
                <a16:creationId xmlns:a16="http://schemas.microsoft.com/office/drawing/2014/main" id="{BFA66B60-7ACB-4231-B9C4-4A2A30E87669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56-stage_3-title">
            <a:extLst>
              <a:ext uri="{FF2B5EF4-FFF2-40B4-BE49-F238E27FC236}">
                <a16:creationId xmlns:a16="http://schemas.microsoft.com/office/drawing/2014/main" id="{2D46E7BE-B846-474F-B2F8-992F847610CD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21" name="U06-DG-056-stage_3-body">
            <a:extLst>
              <a:ext uri="{FF2B5EF4-FFF2-40B4-BE49-F238E27FC236}">
                <a16:creationId xmlns:a16="http://schemas.microsoft.com/office/drawing/2014/main" id="{22A507D3-9C49-4728-83EA-8A38144D438E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22" name="U06-DG-056-stage_4-box">
            <a:extLst>
              <a:ext uri="{FF2B5EF4-FFF2-40B4-BE49-F238E27FC236}">
                <a16:creationId xmlns:a16="http://schemas.microsoft.com/office/drawing/2014/main" id="{4BADAF2E-71C9-4F07-AA33-EE46189CC674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56-stage_4-title">
            <a:extLst>
              <a:ext uri="{FF2B5EF4-FFF2-40B4-BE49-F238E27FC236}">
                <a16:creationId xmlns:a16="http://schemas.microsoft.com/office/drawing/2014/main" id="{4204A891-3FDA-42D2-BA65-A64A71731F5F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4" name="U06-DG-056-stage_4-body">
            <a:extLst>
              <a:ext uri="{FF2B5EF4-FFF2-40B4-BE49-F238E27FC236}">
                <a16:creationId xmlns:a16="http://schemas.microsoft.com/office/drawing/2014/main" id="{96A5C5F0-AFDC-48F8-91CC-FDFF85A51139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 señal</a:t>
            </a:r>
          </a:p>
        </p:txBody>
      </p:sp>
      <p:sp>
        <p:nvSpPr>
          <p:cNvPr id="25" name="U06-DG-056-stage_5-box">
            <a:extLst>
              <a:ext uri="{FF2B5EF4-FFF2-40B4-BE49-F238E27FC236}">
                <a16:creationId xmlns:a16="http://schemas.microsoft.com/office/drawing/2014/main" id="{5000F21A-3C57-4EC7-841D-DBBD0BF08E4D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56-stage_5-title">
            <a:extLst>
              <a:ext uri="{FF2B5EF4-FFF2-40B4-BE49-F238E27FC236}">
                <a16:creationId xmlns:a16="http://schemas.microsoft.com/office/drawing/2014/main" id="{FAB75B11-A119-43C4-B0FF-3FC3D1CCD5F4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27" name="U06-DG-056-stage_5-body">
            <a:extLst>
              <a:ext uri="{FF2B5EF4-FFF2-40B4-BE49-F238E27FC236}">
                <a16:creationId xmlns:a16="http://schemas.microsoft.com/office/drawing/2014/main" id="{DA98DFD5-9F2B-4571-89EB-787952618DD9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eventos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B1F159B4-A9D0-45A1-B19F-029758943DC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Potencial receptor → Ca²⁺ → glutamato → respuesta de fibra → potenciales de acción.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2B4B8081-5312-4D9B-946E-97FF7203069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4568A037-E239-423C-BE01-D5F684E68FC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Ordená la transducción y justificá dos enlaces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89AE9B7-4B6F-462C-AFAC-60F17148D44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secuencia correcta debe explicar por qué cada salida puede ser entrada de la etapa siguiente.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2567B05-CDE8-48D1-99D1-C5A3F815ED1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092</a:t>
            </a:r>
          </a:p>
        </p:txBody>
      </p:sp>
      <p:sp>
        <p:nvSpPr>
          <p:cNvPr id="4" name="U06-DG-055-stage_1-anchor">
            <a:extLst>
              <a:ext uri="{FF2B5EF4-FFF2-40B4-BE49-F238E27FC236}">
                <a16:creationId xmlns:a16="http://schemas.microsoft.com/office/drawing/2014/main" id="{9AAFAE49-4E15-4D64-81BC-B5FBEC2FAD0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5-stage_2-anchor">
            <a:extLst>
              <a:ext uri="{FF2B5EF4-FFF2-40B4-BE49-F238E27FC236}">
                <a16:creationId xmlns:a16="http://schemas.microsoft.com/office/drawing/2014/main" id="{662B2EBB-AD79-47B9-BF01-8C580A3472CB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5-stage_3-anchor">
            <a:extLst>
              <a:ext uri="{FF2B5EF4-FFF2-40B4-BE49-F238E27FC236}">
                <a16:creationId xmlns:a16="http://schemas.microsoft.com/office/drawing/2014/main" id="{1EB6BDB9-10B8-40AE-B24E-B0637ACB4F43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5-stage_4-anchor">
            <a:extLst>
              <a:ext uri="{FF2B5EF4-FFF2-40B4-BE49-F238E27FC236}">
                <a16:creationId xmlns:a16="http://schemas.microsoft.com/office/drawing/2014/main" id="{26D167CC-13F4-4B10-B36C-B4F13C8386AF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55-stage_5-anchor">
            <a:extLst>
              <a:ext uri="{FF2B5EF4-FFF2-40B4-BE49-F238E27FC236}">
                <a16:creationId xmlns:a16="http://schemas.microsoft.com/office/drawing/2014/main" id="{EE9168EE-DBBF-45DE-A92A-68407696AD26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5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5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5-flow_3"/>
          <p:cNvCxnSpPr>
            <a:stCxn id="6" idx="2"/>
            <a:endCxn id="7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5-flow_4"/>
          <p:cNvCxnSpPr>
            <a:stCxn id="7" idx="1"/>
            <a:endCxn id="8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55-stage_1-box" descr="Diagrama sobre «Ordená la transducción y justificá dos enlaces»; organiza tarjetas desordenadas: deflexión, corriente, receptor, neurotransmisor, fibra." title="Texto alternativo U06-092">
            <a:extLst>
              <a:ext uri="{FF2B5EF4-FFF2-40B4-BE49-F238E27FC236}">
                <a16:creationId xmlns:a16="http://schemas.microsoft.com/office/drawing/2014/main" id="{6283C666-4E69-414E-87AE-DAA8F321EC5A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55-stage_1-title">
            <a:extLst>
              <a:ext uri="{FF2B5EF4-FFF2-40B4-BE49-F238E27FC236}">
                <a16:creationId xmlns:a16="http://schemas.microsoft.com/office/drawing/2014/main" id="{8549677E-C291-4DD6-A6EC-E2F163392CD4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5" name="U06-DG-055-stage_1-body">
            <a:extLst>
              <a:ext uri="{FF2B5EF4-FFF2-40B4-BE49-F238E27FC236}">
                <a16:creationId xmlns:a16="http://schemas.microsoft.com/office/drawing/2014/main" id="{8FDC02EB-5159-4322-A2A7-63133731AB01}"/>
              </a:ext>
            </a:extLst>
          </p:cNvPr>
          <p:cNvSpPr>
            <a:spLocks noGrp="1"/>
          </p:cNvSpPr>
          <p:nvPr/>
        </p:nvSpPr>
        <p:spPr>
          <a:xfrm>
            <a:off x="9715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membranas</a:t>
            </a:r>
          </a:p>
        </p:txBody>
      </p:sp>
      <p:sp>
        <p:nvSpPr>
          <p:cNvPr id="16" name="U06-DG-055-stage_2-box">
            <a:extLst>
              <a:ext uri="{FF2B5EF4-FFF2-40B4-BE49-F238E27FC236}">
                <a16:creationId xmlns:a16="http://schemas.microsoft.com/office/drawing/2014/main" id="{6E555501-1440-4B44-A0F4-1FB2B6272C3A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55-stage_2-title">
            <a:extLst>
              <a:ext uri="{FF2B5EF4-FFF2-40B4-BE49-F238E27FC236}">
                <a16:creationId xmlns:a16="http://schemas.microsoft.com/office/drawing/2014/main" id="{C4580E5B-DF5C-47C8-B063-F9B4E5657234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8" name="U06-DG-055-stage_2-body">
            <a:extLst>
              <a:ext uri="{FF2B5EF4-FFF2-40B4-BE49-F238E27FC236}">
                <a16:creationId xmlns:a16="http://schemas.microsoft.com/office/drawing/2014/main" id="{4D2252BA-A5ED-4527-9349-46CF9FB7F659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19" name="U06-DG-055-stage_3-box">
            <a:extLst>
              <a:ext uri="{FF2B5EF4-FFF2-40B4-BE49-F238E27FC236}">
                <a16:creationId xmlns:a16="http://schemas.microsoft.com/office/drawing/2014/main" id="{BDF217C8-D7A4-45B4-B7CA-0B4475970B99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0" name="U06-DG-055-stage_3-title">
            <a:extLst>
              <a:ext uri="{FF2B5EF4-FFF2-40B4-BE49-F238E27FC236}">
                <a16:creationId xmlns:a16="http://schemas.microsoft.com/office/drawing/2014/main" id="{D7B2F13E-2133-4825-A821-E83F7C22D6F2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1" name="U06-DG-055-stage_3-body">
            <a:extLst>
              <a:ext uri="{FF2B5EF4-FFF2-40B4-BE49-F238E27FC236}">
                <a16:creationId xmlns:a16="http://schemas.microsoft.com/office/drawing/2014/main" id="{706E6BD6-2B0A-4050-ACFF-3AE79DF10CD6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cambia</a:t>
            </a:r>
          </a:p>
        </p:txBody>
      </p:sp>
      <p:sp>
        <p:nvSpPr>
          <p:cNvPr id="22" name="U06-DG-055-stage_4-box">
            <a:extLst>
              <a:ext uri="{FF2B5EF4-FFF2-40B4-BE49-F238E27FC236}">
                <a16:creationId xmlns:a16="http://schemas.microsoft.com/office/drawing/2014/main" id="{CBB0C41A-3386-4BB9-8078-770351DDC281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55-stage_4-title">
            <a:extLst>
              <a:ext uri="{FF2B5EF4-FFF2-40B4-BE49-F238E27FC236}">
                <a16:creationId xmlns:a16="http://schemas.microsoft.com/office/drawing/2014/main" id="{D6B70D72-8F7E-448E-A29F-E3368B9D9FD3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Corriente iónica</a:t>
            </a:r>
          </a:p>
        </p:txBody>
      </p:sp>
      <p:sp>
        <p:nvSpPr>
          <p:cNvPr id="24" name="U06-DG-055-stage_4-body">
            <a:extLst>
              <a:ext uri="{FF2B5EF4-FFF2-40B4-BE49-F238E27FC236}">
                <a16:creationId xmlns:a16="http://schemas.microsoft.com/office/drawing/2014/main" id="{EDA827E9-75CF-4E08-9070-975325729B4D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</a:t>
            </a:r>
          </a:p>
        </p:txBody>
      </p:sp>
      <p:sp>
        <p:nvSpPr>
          <p:cNvPr id="25" name="U06-DG-055-stage_5-box">
            <a:extLst>
              <a:ext uri="{FF2B5EF4-FFF2-40B4-BE49-F238E27FC236}">
                <a16:creationId xmlns:a16="http://schemas.microsoft.com/office/drawing/2014/main" id="{EDA65C5D-B570-4BFC-BF31-4A35E5E92E63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55-stage_5-title">
            <a:extLst>
              <a:ext uri="{FF2B5EF4-FFF2-40B4-BE49-F238E27FC236}">
                <a16:creationId xmlns:a16="http://schemas.microsoft.com/office/drawing/2014/main" id="{1181BCCA-23F1-4A5B-B804-64227B183C5A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27" name="U06-DG-055-stage_5-body">
            <a:extLst>
              <a:ext uri="{FF2B5EF4-FFF2-40B4-BE49-F238E27FC236}">
                <a16:creationId xmlns:a16="http://schemas.microsoft.com/office/drawing/2014/main" id="{1071E8BE-3F11-4062-9772-23B33C793BB7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0E3EC10E-A5F8-4B42-804F-F827C6C78BEA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secuencia correcta debe explicar por qué cada salida puede ser entrada de la…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D774CFF6-D00A-427D-AA20-79E5636C54E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9449B9F-A3EF-479D-B216-EDC355B0EAD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cuatro formas de señal, una sola cadena causal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E908832-2FF8-48B8-BD25-195755CCD01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Mecánica, respuesta celular, sinapsis e impulsos son etapas conectadas, no sinónimos.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5213200-0407-49CD-983B-6E95943CEF6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093</a:t>
            </a:r>
          </a:p>
        </p:txBody>
      </p:sp>
      <p:sp>
        <p:nvSpPr>
          <p:cNvPr id="4" name="U06-DG-057-layer_1-anchor">
            <a:extLst>
              <a:ext uri="{FF2B5EF4-FFF2-40B4-BE49-F238E27FC236}">
                <a16:creationId xmlns:a16="http://schemas.microsoft.com/office/drawing/2014/main" id="{2595DBA8-141E-4E4A-B117-BE23933CC269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7-layer_2-anchor">
            <a:extLst>
              <a:ext uri="{FF2B5EF4-FFF2-40B4-BE49-F238E27FC236}">
                <a16:creationId xmlns:a16="http://schemas.microsoft.com/office/drawing/2014/main" id="{DA3A5C01-1199-4900-8E49-13BD18C080AA}"/>
              </a:ext>
            </a:extLst>
          </p:cNvPr>
          <p:cNvSpPr>
            <a:spLocks noGrp="1"/>
          </p:cNvSpPr>
          <p:nvPr/>
        </p:nvSpPr>
        <p:spPr>
          <a:xfrm>
            <a:off x="1714500" y="2386013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7-layer_3-anchor">
            <a:extLst>
              <a:ext uri="{FF2B5EF4-FFF2-40B4-BE49-F238E27FC236}">
                <a16:creationId xmlns:a16="http://schemas.microsoft.com/office/drawing/2014/main" id="{737CB7B7-F04E-4918-A969-F372235AB7C9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7-layer_4-anchor">
            <a:extLst>
              <a:ext uri="{FF2B5EF4-FFF2-40B4-BE49-F238E27FC236}">
                <a16:creationId xmlns:a16="http://schemas.microsoft.com/office/drawing/2014/main" id="{D229963D-48FE-43D3-B491-12764F833DD6}"/>
              </a:ext>
            </a:extLst>
          </p:cNvPr>
          <p:cNvSpPr>
            <a:spLocks noGrp="1"/>
          </p:cNvSpPr>
          <p:nvPr/>
        </p:nvSpPr>
        <p:spPr>
          <a:xfrm>
            <a:off x="1714500" y="4605338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57-layer_1-box" descr="Diagrama sobre «Hasta acá: cuatro formas de señal, una sola cadena causal»; organiza tabla mínima de potenciales + cadena completa + pregunta “¿dónde se conserva información?”." title="Texto alternativo U06-093">
            <a:extLst>
              <a:ext uri="{FF2B5EF4-FFF2-40B4-BE49-F238E27FC236}">
                <a16:creationId xmlns:a16="http://schemas.microsoft.com/office/drawing/2014/main" id="{2EFFC9FA-3DEF-450A-934B-20CAE108FC64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57-layer_1-title">
            <a:extLst>
              <a:ext uri="{FF2B5EF4-FFF2-40B4-BE49-F238E27FC236}">
                <a16:creationId xmlns:a16="http://schemas.microsoft.com/office/drawing/2014/main" id="{C28194A3-5FAB-493F-941D-FF9CACE36B11}"/>
              </a:ext>
            </a:extLst>
          </p:cNvPr>
          <p:cNvSpPr>
            <a:spLocks noGrp="1"/>
          </p:cNvSpPr>
          <p:nvPr/>
        </p:nvSpPr>
        <p:spPr>
          <a:xfrm>
            <a:off x="1905000" y="14192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10" name="U06-DG-057-layer_1-body">
            <a:extLst>
              <a:ext uri="{FF2B5EF4-FFF2-40B4-BE49-F238E27FC236}">
                <a16:creationId xmlns:a16="http://schemas.microsoft.com/office/drawing/2014/main" id="{F4F1A751-DC33-4084-953E-283CCC603F75}"/>
              </a:ext>
            </a:extLst>
          </p:cNvPr>
          <p:cNvSpPr>
            <a:spLocks noGrp="1"/>
          </p:cNvSpPr>
          <p:nvPr/>
        </p:nvSpPr>
        <p:spPr>
          <a:xfrm>
            <a:off x="1905000" y="1866900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11" name="U06-DG-057-layer_2-box">
            <a:extLst>
              <a:ext uri="{FF2B5EF4-FFF2-40B4-BE49-F238E27FC236}">
                <a16:creationId xmlns:a16="http://schemas.microsoft.com/office/drawing/2014/main" id="{2F730296-2F1A-4422-9A78-48CD6EB99DA7}"/>
              </a:ext>
            </a:extLst>
          </p:cNvPr>
          <p:cNvSpPr>
            <a:spLocks noGrp="1"/>
          </p:cNvSpPr>
          <p:nvPr/>
        </p:nvSpPr>
        <p:spPr>
          <a:xfrm>
            <a:off x="1714500" y="2386013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57-layer_2-title">
            <a:extLst>
              <a:ext uri="{FF2B5EF4-FFF2-40B4-BE49-F238E27FC236}">
                <a16:creationId xmlns:a16="http://schemas.microsoft.com/office/drawing/2014/main" id="{A957F7F9-C771-41A5-A785-2E661B4144E8}"/>
              </a:ext>
            </a:extLst>
          </p:cNvPr>
          <p:cNvSpPr>
            <a:spLocks noGrp="1"/>
          </p:cNvSpPr>
          <p:nvPr/>
        </p:nvSpPr>
        <p:spPr>
          <a:xfrm>
            <a:off x="1905000" y="2528888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cocleares</a:t>
            </a:r>
          </a:p>
        </p:txBody>
      </p:sp>
      <p:sp>
        <p:nvSpPr>
          <p:cNvPr id="13" name="U06-DG-057-layer_2-body">
            <a:extLst>
              <a:ext uri="{FF2B5EF4-FFF2-40B4-BE49-F238E27FC236}">
                <a16:creationId xmlns:a16="http://schemas.microsoft.com/office/drawing/2014/main" id="{8CCEDA39-9D0B-4100-A697-57390CD6EAEF}"/>
              </a:ext>
            </a:extLst>
          </p:cNvPr>
          <p:cNvSpPr>
            <a:spLocks noGrp="1"/>
          </p:cNvSpPr>
          <p:nvPr/>
        </p:nvSpPr>
        <p:spPr>
          <a:xfrm>
            <a:off x="1905000" y="2976563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endococlear · reposo</a:t>
            </a:r>
          </a:p>
        </p:txBody>
      </p:sp>
      <p:sp>
        <p:nvSpPr>
          <p:cNvPr id="14" name="U06-DG-057-layer_3-box">
            <a:extLst>
              <a:ext uri="{FF2B5EF4-FFF2-40B4-BE49-F238E27FC236}">
                <a16:creationId xmlns:a16="http://schemas.microsoft.com/office/drawing/2014/main" id="{B3D20399-A8FB-438E-96DB-BAABA79C6A64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57-layer_3-title">
            <a:extLst>
              <a:ext uri="{FF2B5EF4-FFF2-40B4-BE49-F238E27FC236}">
                <a16:creationId xmlns:a16="http://schemas.microsoft.com/office/drawing/2014/main" id="{ABD7BBF7-C1B0-4A81-8AAD-DF830DA81B1A}"/>
              </a:ext>
            </a:extLst>
          </p:cNvPr>
          <p:cNvSpPr>
            <a:spLocks noGrp="1"/>
          </p:cNvSpPr>
          <p:nvPr/>
        </p:nvSpPr>
        <p:spPr>
          <a:xfrm>
            <a:off x="1905000" y="363855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16" name="U06-DG-057-layer_3-body">
            <a:extLst>
              <a:ext uri="{FF2B5EF4-FFF2-40B4-BE49-F238E27FC236}">
                <a16:creationId xmlns:a16="http://schemas.microsoft.com/office/drawing/2014/main" id="{C8F8E231-77CC-4ECF-A6E6-80779BCD50EA}"/>
              </a:ext>
            </a:extLst>
          </p:cNvPr>
          <p:cNvSpPr>
            <a:spLocks noGrp="1"/>
          </p:cNvSpPr>
          <p:nvPr/>
        </p:nvSpPr>
        <p:spPr>
          <a:xfrm>
            <a:off x="1905000" y="4086225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7" name="U06-DG-057-layer_4-box">
            <a:extLst>
              <a:ext uri="{FF2B5EF4-FFF2-40B4-BE49-F238E27FC236}">
                <a16:creationId xmlns:a16="http://schemas.microsoft.com/office/drawing/2014/main" id="{345A8643-908A-4A7F-8E50-E31FDFE43277}"/>
              </a:ext>
            </a:extLst>
          </p:cNvPr>
          <p:cNvSpPr>
            <a:spLocks noGrp="1"/>
          </p:cNvSpPr>
          <p:nvPr/>
        </p:nvSpPr>
        <p:spPr>
          <a:xfrm>
            <a:off x="1714500" y="4605338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57-layer_4-title">
            <a:extLst>
              <a:ext uri="{FF2B5EF4-FFF2-40B4-BE49-F238E27FC236}">
                <a16:creationId xmlns:a16="http://schemas.microsoft.com/office/drawing/2014/main" id="{8DA8C786-CFDA-4971-BF91-AF4BE2938983}"/>
              </a:ext>
            </a:extLst>
          </p:cNvPr>
          <p:cNvSpPr>
            <a:spLocks noGrp="1"/>
          </p:cNvSpPr>
          <p:nvPr/>
        </p:nvSpPr>
        <p:spPr>
          <a:xfrm>
            <a:off x="1905000" y="4748213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19" name="U06-DG-057-layer_4-body">
            <a:extLst>
              <a:ext uri="{FF2B5EF4-FFF2-40B4-BE49-F238E27FC236}">
                <a16:creationId xmlns:a16="http://schemas.microsoft.com/office/drawing/2014/main" id="{6A41BBC4-A20A-499C-89A3-1060EAAD90B1}"/>
              </a:ext>
            </a:extLst>
          </p:cNvPr>
          <p:cNvSpPr>
            <a:spLocks noGrp="1"/>
          </p:cNvSpPr>
          <p:nvPr/>
        </p:nvSpPr>
        <p:spPr>
          <a:xfrm>
            <a:off x="1905000" y="5195888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F5A8FB9B-91AC-41A6-B072-152C8AD6138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Mecánica, respuesta celular, sinapsis e impulsos son etapas conectadas, no sinón…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59A7AD57-E752-499C-833F-1FDE6169868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1A75AE16-C70D-4311-9B2A-8A65844CB12E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094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BEA0377E-11F0-4516-8487-9CBAD0D74EEC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rasgos del estímulo conserva la salida periférica?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E3F0BF15-4B99-4078-85C0-A1B0B5058920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información de frecuencia y nivel conserva la salida periférica?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E9AEA524-62B8-478B-8765-A0BB584D496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deja una firma espacial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3EEEE49-C42E-43DE-A8DB-072804D434D2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lugar de máxima respuesta contribuye a codificar frecuencia, con extensión y solapamiento.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BD5EDC8-3112-4F1E-87AB-D63A35A4989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095</a:t>
            </a:r>
          </a:p>
        </p:txBody>
      </p:sp>
      <p:pic>
        <p:nvPicPr>
          <p:cNvPr id="10" name="U06-095-U06-CH-004" descr="Diagrama sobre «La frecuencia deja una firma espacial»; organiza dos tonos, dos máximos y poblaciones aferentes asociadas; no correspondencia uno-a-uno." title="Texto alternativo U06-0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A7D88E5E-8EA4-449B-A236-E3C41A202CBE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lugar de máxima respuesta contribuye a codificar frecuencia, con extensión y…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6C8C7B94-7067-46A3-879C-4A2382CA90F9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D4424ED0-9F43-4207-A425-BE3401C7126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sincronización temporal aporta otra pista de frecuencia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41E4F1E-6E32-4C7B-9FB7-660A3112A12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patrón de descargas puede guardar relación temporal con la onda, pero su validez depende de frecuencia y fuente.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B2DFDD6-D65A-4B3E-BC0C-A08C09BA9EE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096</a:t>
            </a:r>
          </a:p>
        </p:txBody>
      </p:sp>
      <p:sp>
        <p:nvSpPr>
          <p:cNvPr id="4" name="phase-1-anchor">
            <a:extLst>
              <a:ext uri="{FF2B5EF4-FFF2-40B4-BE49-F238E27FC236}">
                <a16:creationId xmlns:a16="http://schemas.microsoft.com/office/drawing/2014/main" id="{8448DF5F-8923-41CD-8F42-CEE44A6E0D8A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5" name="phase-2-anchor">
            <a:extLst>
              <a:ext uri="{FF2B5EF4-FFF2-40B4-BE49-F238E27FC236}">
                <a16:creationId xmlns:a16="http://schemas.microsoft.com/office/drawing/2014/main" id="{CB2C8844-934B-4205-858E-516E4DFA68F8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6" name="phase-3-anchor">
            <a:extLst>
              <a:ext uri="{FF2B5EF4-FFF2-40B4-BE49-F238E27FC236}">
                <a16:creationId xmlns:a16="http://schemas.microsoft.com/office/drawing/2014/main" id="{CCA68E34-DA5B-4070-8267-BA416368BD84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7" name="phase-4-anchor">
            <a:extLst>
              <a:ext uri="{FF2B5EF4-FFF2-40B4-BE49-F238E27FC236}">
                <a16:creationId xmlns:a16="http://schemas.microsoft.com/office/drawing/2014/main" id="{2BA67510-ADE0-4E44-B1FF-A167022DDF98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cxnSp>
        <p:nvCxnSpPr>
          <p:cNvPr id="32" name="Conector recto de flecha 31"/>
          <p:cNvCxnSpPr>
            <a:stCxn id="4" idx="3"/>
            <a:endCxn id="5" idx="1"/>
          </p:cNvCxnSpPr>
          <p:nvPr/>
        </p:nvCxnSpPr>
        <p:spPr>
          <a:xfrm>
            <a:off x="3048000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3" name="Conector recto de flecha 32"/>
          <p:cNvCxnSpPr>
            <a:stCxn id="5" idx="3"/>
            <a:endCxn id="6" idx="1"/>
          </p:cNvCxnSpPr>
          <p:nvPr/>
        </p:nvCxnSpPr>
        <p:spPr>
          <a:xfrm>
            <a:off x="5953125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4" name="Conector recto de flecha 33"/>
          <p:cNvCxnSpPr>
            <a:stCxn id="6" idx="3"/>
            <a:endCxn id="7" idx="1"/>
          </p:cNvCxnSpPr>
          <p:nvPr/>
        </p:nvCxnSpPr>
        <p:spPr>
          <a:xfrm>
            <a:off x="8858250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1" name="phase-1-box">
            <a:extLst>
              <a:ext uri="{FF2B5EF4-FFF2-40B4-BE49-F238E27FC236}">
                <a16:creationId xmlns:a16="http://schemas.microsoft.com/office/drawing/2014/main" id="{B3A62C78-C42F-483C-8F5E-F7437FE0D6A6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phase-1-title">
            <a:extLst>
              <a:ext uri="{FF2B5EF4-FFF2-40B4-BE49-F238E27FC236}">
                <a16:creationId xmlns:a16="http://schemas.microsoft.com/office/drawing/2014/main" id="{A7E9CA71-B95C-45B3-ACC9-F1791B15950C}"/>
              </a:ext>
            </a:extLst>
          </p:cNvPr>
          <p:cNvSpPr>
            <a:spLocks noGrp="1"/>
          </p:cNvSpPr>
          <p:nvPr/>
        </p:nvSpPr>
        <p:spPr>
          <a:xfrm>
            <a:off x="695325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Onda</a:t>
            </a:r>
          </a:p>
        </p:txBody>
      </p:sp>
      <p:sp>
        <p:nvSpPr>
          <p:cNvPr id="13" name="phase-1-body">
            <a:extLst>
              <a:ext uri="{FF2B5EF4-FFF2-40B4-BE49-F238E27FC236}">
                <a16:creationId xmlns:a16="http://schemas.microsoft.com/office/drawing/2014/main" id="{7A261AD8-3B28-42A2-9A66-FBAAAEBB3645}"/>
              </a:ext>
            </a:extLst>
          </p:cNvPr>
          <p:cNvSpPr>
            <a:spLocks noGrp="1"/>
          </p:cNvSpPr>
          <p:nvPr/>
        </p:nvSpPr>
        <p:spPr>
          <a:xfrm>
            <a:off x="695325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señal presenta ciclos y fases.</a:t>
            </a:r>
          </a:p>
        </p:txBody>
      </p:sp>
      <p:sp>
        <p:nvSpPr>
          <p:cNvPr id="14" name="phase-2-box">
            <a:extLst>
              <a:ext uri="{FF2B5EF4-FFF2-40B4-BE49-F238E27FC236}">
                <a16:creationId xmlns:a16="http://schemas.microsoft.com/office/drawing/2014/main" id="{309AAF4F-E463-4304-84FD-FD9D5DF0C545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5" name="phase-2-title">
            <a:extLst>
              <a:ext uri="{FF2B5EF4-FFF2-40B4-BE49-F238E27FC236}">
                <a16:creationId xmlns:a16="http://schemas.microsoft.com/office/drawing/2014/main" id="{A24528B4-9C03-48C0-9B58-012772DE6D62}"/>
              </a:ext>
            </a:extLst>
          </p:cNvPr>
          <p:cNvSpPr>
            <a:spLocks noGrp="1"/>
          </p:cNvSpPr>
          <p:nvPr/>
        </p:nvSpPr>
        <p:spPr>
          <a:xfrm>
            <a:off x="3600450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Descargas</a:t>
            </a:r>
          </a:p>
        </p:txBody>
      </p:sp>
      <p:sp>
        <p:nvSpPr>
          <p:cNvPr id="16" name="phase-2-body">
            <a:extLst>
              <a:ext uri="{FF2B5EF4-FFF2-40B4-BE49-F238E27FC236}">
                <a16:creationId xmlns:a16="http://schemas.microsoft.com/office/drawing/2014/main" id="{362C76BB-9E0D-4EDD-A86C-E68A10C4F9A6}"/>
              </a:ext>
            </a:extLst>
          </p:cNvPr>
          <p:cNvSpPr>
            <a:spLocks noGrp="1"/>
          </p:cNvSpPr>
          <p:nvPr/>
        </p:nvSpPr>
        <p:spPr>
          <a:xfrm>
            <a:off x="3600450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eventos pueden concentrarse en fases preferidas.</a:t>
            </a:r>
          </a:p>
        </p:txBody>
      </p:sp>
      <p:sp>
        <p:nvSpPr>
          <p:cNvPr id="17" name="phase-3-box">
            <a:extLst>
              <a:ext uri="{FF2B5EF4-FFF2-40B4-BE49-F238E27FC236}">
                <a16:creationId xmlns:a16="http://schemas.microsoft.com/office/drawing/2014/main" id="{024B7442-AB3D-4B5C-A668-F653BC9C3796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phase-3-title">
            <a:extLst>
              <a:ext uri="{FF2B5EF4-FFF2-40B4-BE49-F238E27FC236}">
                <a16:creationId xmlns:a16="http://schemas.microsoft.com/office/drawing/2014/main" id="{C3092D33-DEBD-4B80-81C8-66B0C3A3D3E4}"/>
              </a:ext>
            </a:extLst>
          </p:cNvPr>
          <p:cNvSpPr>
            <a:spLocks noGrp="1"/>
          </p:cNvSpPr>
          <p:nvPr/>
        </p:nvSpPr>
        <p:spPr>
          <a:xfrm>
            <a:off x="6505575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Sincronía</a:t>
            </a:r>
          </a:p>
        </p:txBody>
      </p:sp>
      <p:sp>
        <p:nvSpPr>
          <p:cNvPr id="19" name="phase-3-body">
            <a:extLst>
              <a:ext uri="{FF2B5EF4-FFF2-40B4-BE49-F238E27FC236}">
                <a16:creationId xmlns:a16="http://schemas.microsoft.com/office/drawing/2014/main" id="{D3076FE1-43E5-4095-AA02-D66BB4F1A615}"/>
              </a:ext>
            </a:extLst>
          </p:cNvPr>
          <p:cNvSpPr>
            <a:spLocks noGrp="1"/>
          </p:cNvSpPr>
          <p:nvPr/>
        </p:nvSpPr>
        <p:spPr>
          <a:xfrm>
            <a:off x="6505575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implica un impulso por cada ciclo.</a:t>
            </a:r>
          </a:p>
        </p:txBody>
      </p:sp>
      <p:sp>
        <p:nvSpPr>
          <p:cNvPr id="20" name="phase-4-box">
            <a:extLst>
              <a:ext uri="{FF2B5EF4-FFF2-40B4-BE49-F238E27FC236}">
                <a16:creationId xmlns:a16="http://schemas.microsoft.com/office/drawing/2014/main" id="{55C2AB4C-5286-41B6-A6FC-54660953E8A5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phase-4-title">
            <a:extLst>
              <a:ext uri="{FF2B5EF4-FFF2-40B4-BE49-F238E27FC236}">
                <a16:creationId xmlns:a16="http://schemas.microsoft.com/office/drawing/2014/main" id="{DC773F35-C368-4AF8-9B5C-E1A55A96C43B}"/>
              </a:ext>
            </a:extLst>
          </p:cNvPr>
          <p:cNvSpPr>
            <a:spLocks noGrp="1"/>
          </p:cNvSpPr>
          <p:nvPr/>
        </p:nvSpPr>
        <p:spPr>
          <a:xfrm>
            <a:off x="9410700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Dependencia</a:t>
            </a:r>
          </a:p>
        </p:txBody>
      </p:sp>
      <p:sp>
        <p:nvSpPr>
          <p:cNvPr id="22" name="phase-4-body">
            <a:extLst>
              <a:ext uri="{FF2B5EF4-FFF2-40B4-BE49-F238E27FC236}">
                <a16:creationId xmlns:a16="http://schemas.microsoft.com/office/drawing/2014/main" id="{DF578116-370B-4F01-A356-20B0522681B9}"/>
              </a:ext>
            </a:extLst>
          </p:cNvPr>
          <p:cNvSpPr>
            <a:spLocks noGrp="1"/>
          </p:cNvSpPr>
          <p:nvPr/>
        </p:nvSpPr>
        <p:spPr>
          <a:xfrm>
            <a:off x="9410700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Varía con frecuencia y tipo de información.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2058197F-B42A-45BF-990B-0694692D2C1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Esquema cualitativo: los eventos se agrupan en fases preferidas, pero no aparece necesariamente un evento…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7DFBE6C9-077A-4CB5-9134-91DE4C1235C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6.9.1; PDF p. 164; Fettiplace 2017; Caprara y Peng 2022.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8E0FCCFF-C42F-41EE-BD93-D4F28030ACF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no es altura tonal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56FAB81-2B52-49CC-BD8C-1B7A4CE4186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frecuencia es una magnitud física; el pitch es una experiencia que depende del procesamiento.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B141A43-3FF4-42B9-8F35-E2A9C3C76EC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097</a:t>
            </a:r>
          </a:p>
        </p:txBody>
      </p:sp>
      <p:sp>
        <p:nvSpPr>
          <p:cNvPr id="4" name="U06-DG-058B-stage_1-anchor">
            <a:extLst>
              <a:ext uri="{FF2B5EF4-FFF2-40B4-BE49-F238E27FC236}">
                <a16:creationId xmlns:a16="http://schemas.microsoft.com/office/drawing/2014/main" id="{9AB41269-268E-49DA-8F42-3F976B3445DB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8B-stage_2-anchor">
            <a:extLst>
              <a:ext uri="{FF2B5EF4-FFF2-40B4-BE49-F238E27FC236}">
                <a16:creationId xmlns:a16="http://schemas.microsoft.com/office/drawing/2014/main" id="{3CE7E932-177D-4C16-884F-BAC3DBFF456C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8B-stage_3-anchor">
            <a:extLst>
              <a:ext uri="{FF2B5EF4-FFF2-40B4-BE49-F238E27FC236}">
                <a16:creationId xmlns:a16="http://schemas.microsoft.com/office/drawing/2014/main" id="{A29A3554-A925-4189-8784-503AB8ABA234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8B-stage_4-anchor">
            <a:extLst>
              <a:ext uri="{FF2B5EF4-FFF2-40B4-BE49-F238E27FC236}">
                <a16:creationId xmlns:a16="http://schemas.microsoft.com/office/drawing/2014/main" id="{7268DCF6-A124-45B8-B842-C2416EB8E739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58B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58B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58B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58B-stage_1-box" descr="Diagrama sobre «Frecuencia no es altura tonal»; organiza par físico/perceptual con ejemplos que muestran relación, no identidad." title="Texto alternativo U06-097">
            <a:extLst>
              <a:ext uri="{FF2B5EF4-FFF2-40B4-BE49-F238E27FC236}">
                <a16:creationId xmlns:a16="http://schemas.microsoft.com/office/drawing/2014/main" id="{9D49A6E0-C239-4EAA-9CCB-13398C13377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58B-stage_1-title">
            <a:extLst>
              <a:ext uri="{FF2B5EF4-FFF2-40B4-BE49-F238E27FC236}">
                <a16:creationId xmlns:a16="http://schemas.microsoft.com/office/drawing/2014/main" id="{1602F38A-815F-4B92-886B-E778552DAFDF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13" name="U06-DG-058B-stage_1-body">
            <a:extLst>
              <a:ext uri="{FF2B5EF4-FFF2-40B4-BE49-F238E27FC236}">
                <a16:creationId xmlns:a16="http://schemas.microsoft.com/office/drawing/2014/main" id="{C446D823-78AB-4119-A8E1-204437036978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física · Hz</a:t>
            </a:r>
          </a:p>
        </p:txBody>
      </p:sp>
      <p:sp>
        <p:nvSpPr>
          <p:cNvPr id="14" name="U06-DG-058B-stage_2-box">
            <a:extLst>
              <a:ext uri="{FF2B5EF4-FFF2-40B4-BE49-F238E27FC236}">
                <a16:creationId xmlns:a16="http://schemas.microsoft.com/office/drawing/2014/main" id="{8FAE80D5-1556-4B9A-89CA-54D39B7B329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58B-stage_2-title">
            <a:extLst>
              <a:ext uri="{FF2B5EF4-FFF2-40B4-BE49-F238E27FC236}">
                <a16:creationId xmlns:a16="http://schemas.microsoft.com/office/drawing/2014/main" id="{5F9B0115-8B7A-4D1B-A823-E952650D5719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Código</a:t>
            </a:r>
          </a:p>
        </p:txBody>
      </p:sp>
      <p:sp>
        <p:nvSpPr>
          <p:cNvPr id="16" name="U06-DG-058B-stage_2-body">
            <a:extLst>
              <a:ext uri="{FF2B5EF4-FFF2-40B4-BE49-F238E27FC236}">
                <a16:creationId xmlns:a16="http://schemas.microsoft.com/office/drawing/2014/main" id="{6D500EEF-E403-434E-A9AE-EAF028B21FD4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+ tiempo</a:t>
            </a:r>
          </a:p>
        </p:txBody>
      </p:sp>
      <p:sp>
        <p:nvSpPr>
          <p:cNvPr id="17" name="U06-DG-058B-stage_3-box">
            <a:extLst>
              <a:ext uri="{FF2B5EF4-FFF2-40B4-BE49-F238E27FC236}">
                <a16:creationId xmlns:a16="http://schemas.microsoft.com/office/drawing/2014/main" id="{E67DA2B0-6FAF-4507-87AC-ACFD498CDCAB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8" name="U06-DG-058B-stage_3-title">
            <a:extLst>
              <a:ext uri="{FF2B5EF4-FFF2-40B4-BE49-F238E27FC236}">
                <a16:creationId xmlns:a16="http://schemas.microsoft.com/office/drawing/2014/main" id="{B68F1420-70F7-4074-8E3D-6EC4A57EC08B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9" name="U06-DG-058B-stage_3-body">
            <a:extLst>
              <a:ext uri="{FF2B5EF4-FFF2-40B4-BE49-F238E27FC236}">
                <a16:creationId xmlns:a16="http://schemas.microsoft.com/office/drawing/2014/main" id="{43EF6D52-313A-407C-8EF3-9239F4123A16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claves neurales</a:t>
            </a:r>
          </a:p>
        </p:txBody>
      </p:sp>
      <p:sp>
        <p:nvSpPr>
          <p:cNvPr id="20" name="U06-DG-058B-stage_4-box">
            <a:extLst>
              <a:ext uri="{FF2B5EF4-FFF2-40B4-BE49-F238E27FC236}">
                <a16:creationId xmlns:a16="http://schemas.microsoft.com/office/drawing/2014/main" id="{D5F287A4-0C65-4207-B190-057CE374BA8C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58B-stage_4-title">
            <a:extLst>
              <a:ext uri="{FF2B5EF4-FFF2-40B4-BE49-F238E27FC236}">
                <a16:creationId xmlns:a16="http://schemas.microsoft.com/office/drawing/2014/main" id="{85B5F397-DACA-4B0F-B585-2E340CC11C8A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22" name="U06-DG-058B-stage_4-body">
            <a:extLst>
              <a:ext uri="{FF2B5EF4-FFF2-40B4-BE49-F238E27FC236}">
                <a16:creationId xmlns:a16="http://schemas.microsoft.com/office/drawing/2014/main" id="{0521AACA-8846-4F22-AE7B-C9291C1DDE2C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percepto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0666E829-3A95-4483-9082-F55DDEE16C9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frecuencia es una magnitud física; el pitch es una experiencia que depende de…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9BA599C2-A347-4C70-B848-547E77D256E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F04EFA6B-EECE-40CC-9EFA-7DD701AD2A3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nivel modifica extensión y patrón de descarga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BB392AD-C14A-4E27-AEEF-84C056FB533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Mayor nivel puede reclutar una región más amplia y modificar tasas, sin traducirse linealmente en sonoridad.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699FF7B-2F2D-468E-8381-2D7A7092706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098</a:t>
            </a:r>
          </a:p>
        </p:txBody>
      </p:sp>
      <p:pic>
        <p:nvPicPr>
          <p:cNvPr id="10" name="U06-098-U06-CH-006" descr="Diagrama sobre «El nivel modifica extensión y patrón de descarga»; organiza dos niveles a igual frecuencia: envolvente coclear y respuesta neural conceptual." title="Texto alternativo U06-0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70B01271-2B0C-4486-85C8-9B3B8341AD5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Mayor nivel puede reclutar una región más amplia y modificar tasas, sin traducir…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CFECD5CD-FD33-440C-A727-FBBD2122D8F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F3A35B18-DAFA-4047-819C-543214C9933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Nivel de presión sonora no es sonoridad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8103348-2AAB-4E8A-ACF6-4E818F9312C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dB SPL describe una medición física; sonoridad describe experiencia perceptual.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1278FBE-5BC3-48E9-8EAB-33881FB9985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099</a:t>
            </a:r>
          </a:p>
        </p:txBody>
      </p:sp>
      <p:sp>
        <p:nvSpPr>
          <p:cNvPr id="4" name="U06-DG-059B-panel_left-anchor">
            <a:extLst>
              <a:ext uri="{FF2B5EF4-FFF2-40B4-BE49-F238E27FC236}">
                <a16:creationId xmlns:a16="http://schemas.microsoft.com/office/drawing/2014/main" id="{EF80D0E5-FF28-420F-886D-83B82CD0186D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9B-panel_right-anchor">
            <a:extLst>
              <a:ext uri="{FF2B5EF4-FFF2-40B4-BE49-F238E27FC236}">
                <a16:creationId xmlns:a16="http://schemas.microsoft.com/office/drawing/2014/main" id="{8B206984-D2F8-4920-8D00-1B502EAAF338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9B-panel_left-box" descr="Diagrama sobre «Nivel de presión sonora no es sonoridad»; organiza dos definiciones breves, relación no lineal y puente a u7." title="Texto alternativo U06-099">
            <a:extLst>
              <a:ext uri="{FF2B5EF4-FFF2-40B4-BE49-F238E27FC236}">
                <a16:creationId xmlns:a16="http://schemas.microsoft.com/office/drawing/2014/main" id="{7BE8EC6B-1A34-436B-A809-3DA55E6C7BAB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U06-DG-059B-panel_left-title">
            <a:extLst>
              <a:ext uri="{FF2B5EF4-FFF2-40B4-BE49-F238E27FC236}">
                <a16:creationId xmlns:a16="http://schemas.microsoft.com/office/drawing/2014/main" id="{F8F30680-C1C4-4546-BAFA-A64574EF46CD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sonoro</a:t>
            </a:r>
          </a:p>
        </p:txBody>
      </p:sp>
      <p:sp>
        <p:nvSpPr>
          <p:cNvPr id="8" name="U06-DG-059B-panel_left-body">
            <a:extLst>
              <a:ext uri="{FF2B5EF4-FFF2-40B4-BE49-F238E27FC236}">
                <a16:creationId xmlns:a16="http://schemas.microsoft.com/office/drawing/2014/main" id="{1AE6B598-27F5-4002-ABAA-93E022A5993A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 magnitud física</a:t>
            </a:r>
          </a:p>
        </p:txBody>
      </p:sp>
      <p:sp>
        <p:nvSpPr>
          <p:cNvPr id="9" name="U06-DG-059B-panel_right-box">
            <a:extLst>
              <a:ext uri="{FF2B5EF4-FFF2-40B4-BE49-F238E27FC236}">
                <a16:creationId xmlns:a16="http://schemas.microsoft.com/office/drawing/2014/main" id="{B6E72FE7-6C11-4582-8E54-16159F1433CB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U06-DG-059B-panel_right-title">
            <a:extLst>
              <a:ext uri="{FF2B5EF4-FFF2-40B4-BE49-F238E27FC236}">
                <a16:creationId xmlns:a16="http://schemas.microsoft.com/office/drawing/2014/main" id="{B0316CC5-3626-4ACA-849A-DCF34FDD4522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11" name="U06-DG-059B-panel_right-body">
            <a:extLst>
              <a:ext uri="{FF2B5EF4-FFF2-40B4-BE49-F238E27FC236}">
                <a16:creationId xmlns:a16="http://schemas.microsoft.com/office/drawing/2014/main" id="{13B541A8-8B28-465B-8C3F-3910E9FE1069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percepto condicionado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8E675889-64B8-41DC-A264-861CAA8393B5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dB SPL describe una medición física; sonoridad describe experiencia perceptual.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69F887BE-9B7C-4EE0-B81A-9F0CCD954F9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title">
            <a:extLst>
              <a:ext uri="{FF2B5EF4-FFF2-40B4-BE49-F238E27FC236}">
                <a16:creationId xmlns:a16="http://schemas.microsoft.com/office/drawing/2014/main" id="{61DCC5F0-E86E-41D9-8693-ED500036AEB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Toda prueba observa una parte de la cadena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F930A39-88C8-46C9-8DCD-B2295E29DB3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 resultado depende de la entrada, la estructura sensible, la vía de salida y la medición.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607875E-FB45-402D-B76D-A6347A33D71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100</a:t>
            </a:r>
          </a:p>
        </p:txBody>
      </p:sp>
      <p:sp>
        <p:nvSpPr>
          <p:cNvPr id="4" name="U06-DG-060-chain_1-anchor">
            <a:extLst>
              <a:ext uri="{FF2B5EF4-FFF2-40B4-BE49-F238E27FC236}">
                <a16:creationId xmlns:a16="http://schemas.microsoft.com/office/drawing/2014/main" id="{DD3AC848-1BE4-44F6-8851-3CDED27CC8A3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0-chain_2-anchor">
            <a:extLst>
              <a:ext uri="{FF2B5EF4-FFF2-40B4-BE49-F238E27FC236}">
                <a16:creationId xmlns:a16="http://schemas.microsoft.com/office/drawing/2014/main" id="{80307A9F-4A9F-44E2-8E81-7A3B1D65665E}"/>
              </a:ext>
            </a:extLst>
          </p:cNvPr>
          <p:cNvSpPr>
            <a:spLocks noGrp="1"/>
          </p:cNvSpPr>
          <p:nvPr/>
        </p:nvSpPr>
        <p:spPr>
          <a:xfrm>
            <a:off x="2945130" y="2762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0-chain_3-anchor">
            <a:extLst>
              <a:ext uri="{FF2B5EF4-FFF2-40B4-BE49-F238E27FC236}">
                <a16:creationId xmlns:a16="http://schemas.microsoft.com/office/drawing/2014/main" id="{F1348C05-F2D4-42A9-A1B1-75AB33FE3C22}"/>
              </a:ext>
            </a:extLst>
          </p:cNvPr>
          <p:cNvSpPr>
            <a:spLocks noGrp="1"/>
          </p:cNvSpPr>
          <p:nvPr/>
        </p:nvSpPr>
        <p:spPr>
          <a:xfrm>
            <a:off x="5109210" y="2762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0-chain_4-anchor">
            <a:extLst>
              <a:ext uri="{FF2B5EF4-FFF2-40B4-BE49-F238E27FC236}">
                <a16:creationId xmlns:a16="http://schemas.microsoft.com/office/drawing/2014/main" id="{4658A1A6-1CB9-4064-A569-54D2E2EE87BF}"/>
              </a:ext>
            </a:extLst>
          </p:cNvPr>
          <p:cNvSpPr>
            <a:spLocks noGrp="1"/>
          </p:cNvSpPr>
          <p:nvPr/>
        </p:nvSpPr>
        <p:spPr>
          <a:xfrm>
            <a:off x="7273290" y="2762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0-chain_5-anchor">
            <a:extLst>
              <a:ext uri="{FF2B5EF4-FFF2-40B4-BE49-F238E27FC236}">
                <a16:creationId xmlns:a16="http://schemas.microsoft.com/office/drawing/2014/main" id="{49A6EBE0-CAE7-4374-8875-9141CCFD9AB7}"/>
              </a:ext>
            </a:extLst>
          </p:cNvPr>
          <p:cNvSpPr>
            <a:spLocks noGrp="1"/>
          </p:cNvSpPr>
          <p:nvPr/>
        </p:nvSpPr>
        <p:spPr>
          <a:xfrm>
            <a:off x="9437370" y="2762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60-window_1-anchor">
            <a:extLst>
              <a:ext uri="{FF2B5EF4-FFF2-40B4-BE49-F238E27FC236}">
                <a16:creationId xmlns:a16="http://schemas.microsoft.com/office/drawing/2014/main" id="{DC33F8C4-D1BB-4671-8302-B7D304495313}"/>
              </a:ext>
            </a:extLst>
          </p:cNvPr>
          <p:cNvSpPr>
            <a:spLocks noGrp="1"/>
          </p:cNvSpPr>
          <p:nvPr/>
        </p:nvSpPr>
        <p:spPr>
          <a:xfrm>
            <a:off x="1000125" y="1285875"/>
            <a:ext cx="2857500" cy="1143000"/>
          </a:xfrm>
          <a:prstGeom prst="roundRect">
            <a:avLst>
              <a:gd name="adj" fmla="val 8333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60-window_2-anchor">
            <a:extLst>
              <a:ext uri="{FF2B5EF4-FFF2-40B4-BE49-F238E27FC236}">
                <a16:creationId xmlns:a16="http://schemas.microsoft.com/office/drawing/2014/main" id="{0E3C004E-D239-4B63-8B13-7820CD85F9E9}"/>
              </a:ext>
            </a:extLst>
          </p:cNvPr>
          <p:cNvSpPr>
            <a:spLocks noGrp="1"/>
          </p:cNvSpPr>
          <p:nvPr/>
        </p:nvSpPr>
        <p:spPr>
          <a:xfrm>
            <a:off x="4667250" y="1285875"/>
            <a:ext cx="2857500" cy="1143000"/>
          </a:xfrm>
          <a:prstGeom prst="roundRect">
            <a:avLst>
              <a:gd name="adj" fmla="val 8333"/>
            </a:avLst>
          </a:prstGeom>
          <a:noFill/>
          <a:ln w="0">
            <a:noFill/>
            <a:prstDash val="solid"/>
          </a:ln>
        </p:spPr>
      </p:sp>
      <p:sp>
        <p:nvSpPr>
          <p:cNvPr id="11" name="U06-DG-060-window_3-anchor">
            <a:extLst>
              <a:ext uri="{FF2B5EF4-FFF2-40B4-BE49-F238E27FC236}">
                <a16:creationId xmlns:a16="http://schemas.microsoft.com/office/drawing/2014/main" id="{6EB20370-5B1F-4C24-8CCA-E26D0CC965CD}"/>
              </a:ext>
            </a:extLst>
          </p:cNvPr>
          <p:cNvSpPr>
            <a:spLocks noGrp="1"/>
          </p:cNvSpPr>
          <p:nvPr/>
        </p:nvSpPr>
        <p:spPr>
          <a:xfrm>
            <a:off x="8334375" y="1285875"/>
            <a:ext cx="2857500" cy="1143000"/>
          </a:xfrm>
          <a:prstGeom prst="roundRect">
            <a:avLst>
              <a:gd name="adj" fmla="val 8333"/>
            </a:avLst>
          </a:prstGeom>
          <a:noFill/>
          <a:ln w="0">
            <a:noFill/>
            <a:prstDash val="solid"/>
          </a:ln>
        </p:spPr>
      </p:sp>
      <p:cxnSp>
        <p:nvCxnSpPr>
          <p:cNvPr id="56" name="U06-DG-060-chain_edge_1"/>
          <p:cNvCxnSpPr>
            <a:stCxn id="4" idx="3"/>
            <a:endCxn id="5" idx="1"/>
          </p:cNvCxnSpPr>
          <p:nvPr/>
        </p:nvCxnSpPr>
        <p:spPr>
          <a:xfrm>
            <a:off x="2754630" y="3524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60-chain_edge_2"/>
          <p:cNvCxnSpPr>
            <a:stCxn id="5" idx="3"/>
            <a:endCxn id="6" idx="1"/>
          </p:cNvCxnSpPr>
          <p:nvPr/>
        </p:nvCxnSpPr>
        <p:spPr>
          <a:xfrm>
            <a:off x="4918710" y="3524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60-chain_edge_3"/>
          <p:cNvCxnSpPr>
            <a:stCxn id="6" idx="3"/>
            <a:endCxn id="7" idx="1"/>
          </p:cNvCxnSpPr>
          <p:nvPr/>
        </p:nvCxnSpPr>
        <p:spPr>
          <a:xfrm>
            <a:off x="7082790" y="3524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60-chain_edge_4"/>
          <p:cNvCxnSpPr>
            <a:stCxn id="7" idx="3"/>
            <a:endCxn id="8" idx="1"/>
          </p:cNvCxnSpPr>
          <p:nvPr/>
        </p:nvCxnSpPr>
        <p:spPr>
          <a:xfrm>
            <a:off x="9246870" y="3524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60-window_edge_1"/>
          <p:cNvCxnSpPr>
            <a:stCxn id="9" idx="2"/>
            <a:endCxn id="5" idx="0"/>
          </p:cNvCxnSpPr>
          <p:nvPr/>
        </p:nvCxnSpPr>
        <p:spPr>
          <a:xfrm>
            <a:off x="2428875" y="2428875"/>
            <a:ext cx="1503045" cy="3333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1" name="U06-DG-060-window_edge_2"/>
          <p:cNvCxnSpPr>
            <a:stCxn id="10" idx="2"/>
            <a:endCxn id="6" idx="0"/>
          </p:cNvCxnSpPr>
          <p:nvPr/>
        </p:nvCxnSpPr>
        <p:spPr>
          <a:xfrm>
            <a:off x="6096000" y="2428875"/>
            <a:ext cx="0" cy="3333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6-DG-060-window_edge_3"/>
          <p:cNvCxnSpPr>
            <a:stCxn id="11" idx="2"/>
            <a:endCxn id="8" idx="0"/>
          </p:cNvCxnSpPr>
          <p:nvPr/>
        </p:nvCxnSpPr>
        <p:spPr>
          <a:xfrm>
            <a:off x="9763125" y="2428875"/>
            <a:ext cx="661035" cy="3333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9" name="U06-DG-060-chain_1-box" descr="Diagrama sobre «Toda prueba observa una parte de la cadena»; organiza matriz: prueba conceptual → tramo predominante → factores previos → qué no concluye sola." title="Texto alternativo U06-100">
            <a:extLst>
              <a:ext uri="{FF2B5EF4-FFF2-40B4-BE49-F238E27FC236}">
                <a16:creationId xmlns:a16="http://schemas.microsoft.com/office/drawing/2014/main" id="{279C5DB5-CB93-4837-B59E-685CC78651B4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0" name="U06-DG-060-chain_1-title">
            <a:extLst>
              <a:ext uri="{FF2B5EF4-FFF2-40B4-BE49-F238E27FC236}">
                <a16:creationId xmlns:a16="http://schemas.microsoft.com/office/drawing/2014/main" id="{B4AE8EA7-57FA-46B5-82F4-9CBA5F578DB5}"/>
              </a:ext>
            </a:extLst>
          </p:cNvPr>
          <p:cNvSpPr>
            <a:spLocks noGrp="1"/>
          </p:cNvSpPr>
          <p:nvPr/>
        </p:nvSpPr>
        <p:spPr>
          <a:xfrm>
            <a:off x="971550" y="2905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1" name="U06-DG-060-chain_1-body">
            <a:extLst>
              <a:ext uri="{FF2B5EF4-FFF2-40B4-BE49-F238E27FC236}">
                <a16:creationId xmlns:a16="http://schemas.microsoft.com/office/drawing/2014/main" id="{8C64D5FC-33EB-4F78-B795-F12EDBA28EB9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2" name="U06-DG-060-chain_2-box">
            <a:extLst>
              <a:ext uri="{FF2B5EF4-FFF2-40B4-BE49-F238E27FC236}">
                <a16:creationId xmlns:a16="http://schemas.microsoft.com/office/drawing/2014/main" id="{461A2897-671C-4885-BDAF-B085C6C2E3D8}"/>
              </a:ext>
            </a:extLst>
          </p:cNvPr>
          <p:cNvSpPr>
            <a:spLocks noGrp="1"/>
          </p:cNvSpPr>
          <p:nvPr/>
        </p:nvSpPr>
        <p:spPr>
          <a:xfrm>
            <a:off x="2945130" y="2762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3" name="U06-DG-060-chain_2-title">
            <a:extLst>
              <a:ext uri="{FF2B5EF4-FFF2-40B4-BE49-F238E27FC236}">
                <a16:creationId xmlns:a16="http://schemas.microsoft.com/office/drawing/2014/main" id="{1D1D0EBA-2130-49BE-9C4A-76676046A374}"/>
              </a:ext>
            </a:extLst>
          </p:cNvPr>
          <p:cNvSpPr>
            <a:spLocks noGrp="1"/>
          </p:cNvSpPr>
          <p:nvPr/>
        </p:nvSpPr>
        <p:spPr>
          <a:xfrm>
            <a:off x="3135630" y="2905125"/>
            <a:ext cx="15925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4" name="U06-DG-060-chain_2-body">
            <a:extLst>
              <a:ext uri="{FF2B5EF4-FFF2-40B4-BE49-F238E27FC236}">
                <a16:creationId xmlns:a16="http://schemas.microsoft.com/office/drawing/2014/main" id="{7B531D6D-E88C-418A-BABA-12AFB60E2F3C}"/>
              </a:ext>
            </a:extLst>
          </p:cNvPr>
          <p:cNvSpPr>
            <a:spLocks noGrp="1"/>
          </p:cNvSpPr>
          <p:nvPr/>
        </p:nvSpPr>
        <p:spPr>
          <a:xfrm>
            <a:off x="3135630" y="3676650"/>
            <a:ext cx="15925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25" name="U06-DG-060-chain_3-box">
            <a:extLst>
              <a:ext uri="{FF2B5EF4-FFF2-40B4-BE49-F238E27FC236}">
                <a16:creationId xmlns:a16="http://schemas.microsoft.com/office/drawing/2014/main" id="{FBC15A49-D2C6-4204-8AA1-7D42D47DCF34}"/>
              </a:ext>
            </a:extLst>
          </p:cNvPr>
          <p:cNvSpPr>
            <a:spLocks noGrp="1"/>
          </p:cNvSpPr>
          <p:nvPr/>
        </p:nvSpPr>
        <p:spPr>
          <a:xfrm>
            <a:off x="5109210" y="2762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6" name="U06-DG-060-chain_3-title">
            <a:extLst>
              <a:ext uri="{FF2B5EF4-FFF2-40B4-BE49-F238E27FC236}">
                <a16:creationId xmlns:a16="http://schemas.microsoft.com/office/drawing/2014/main" id="{DE072FE6-8CD8-4B16-859F-05DF684439AE}"/>
              </a:ext>
            </a:extLst>
          </p:cNvPr>
          <p:cNvSpPr>
            <a:spLocks noGrp="1"/>
          </p:cNvSpPr>
          <p:nvPr/>
        </p:nvSpPr>
        <p:spPr>
          <a:xfrm>
            <a:off x="5299710" y="2905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7" name="U06-DG-060-chain_3-body">
            <a:extLst>
              <a:ext uri="{FF2B5EF4-FFF2-40B4-BE49-F238E27FC236}">
                <a16:creationId xmlns:a16="http://schemas.microsoft.com/office/drawing/2014/main" id="{10E5FDAE-823D-4E60-8029-74B88E91E8A7}"/>
              </a:ext>
            </a:extLst>
          </p:cNvPr>
          <p:cNvSpPr>
            <a:spLocks noGrp="1"/>
          </p:cNvSpPr>
          <p:nvPr/>
        </p:nvSpPr>
        <p:spPr>
          <a:xfrm>
            <a:off x="5299710" y="3352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activa</a:t>
            </a:r>
          </a:p>
        </p:txBody>
      </p:sp>
      <p:sp>
        <p:nvSpPr>
          <p:cNvPr id="28" name="U06-DG-060-chain_4-box">
            <a:extLst>
              <a:ext uri="{FF2B5EF4-FFF2-40B4-BE49-F238E27FC236}">
                <a16:creationId xmlns:a16="http://schemas.microsoft.com/office/drawing/2014/main" id="{0F8F269F-5E12-401A-A670-EACE4F0DC15E}"/>
              </a:ext>
            </a:extLst>
          </p:cNvPr>
          <p:cNvSpPr>
            <a:spLocks noGrp="1"/>
          </p:cNvSpPr>
          <p:nvPr/>
        </p:nvSpPr>
        <p:spPr>
          <a:xfrm>
            <a:off x="7273290" y="2762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9" name="U06-DG-060-chain_4-title">
            <a:extLst>
              <a:ext uri="{FF2B5EF4-FFF2-40B4-BE49-F238E27FC236}">
                <a16:creationId xmlns:a16="http://schemas.microsoft.com/office/drawing/2014/main" id="{7599423E-0720-4454-899A-73C9EFD0E1E3}"/>
              </a:ext>
            </a:extLst>
          </p:cNvPr>
          <p:cNvSpPr>
            <a:spLocks noGrp="1"/>
          </p:cNvSpPr>
          <p:nvPr/>
        </p:nvSpPr>
        <p:spPr>
          <a:xfrm>
            <a:off x="7463790" y="2905125"/>
            <a:ext cx="15925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 / sinapsis</a:t>
            </a:r>
          </a:p>
        </p:txBody>
      </p:sp>
      <p:sp>
        <p:nvSpPr>
          <p:cNvPr id="30" name="U06-DG-060-chain_4-body">
            <a:extLst>
              <a:ext uri="{FF2B5EF4-FFF2-40B4-BE49-F238E27FC236}">
                <a16:creationId xmlns:a16="http://schemas.microsoft.com/office/drawing/2014/main" id="{23C34923-50ED-4ABA-9858-F16921BE71EC}"/>
              </a:ext>
            </a:extLst>
          </p:cNvPr>
          <p:cNvSpPr>
            <a:spLocks noGrp="1"/>
          </p:cNvSpPr>
          <p:nvPr/>
        </p:nvSpPr>
        <p:spPr>
          <a:xfrm>
            <a:off x="7463790" y="3676650"/>
            <a:ext cx="15925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aferencia</a:t>
            </a:r>
          </a:p>
        </p:txBody>
      </p:sp>
      <p:sp>
        <p:nvSpPr>
          <p:cNvPr id="31" name="U06-DG-060-chain_5-box">
            <a:extLst>
              <a:ext uri="{FF2B5EF4-FFF2-40B4-BE49-F238E27FC236}">
                <a16:creationId xmlns:a16="http://schemas.microsoft.com/office/drawing/2014/main" id="{811E196D-BD4C-4E3F-981B-4F7F5977A351}"/>
              </a:ext>
            </a:extLst>
          </p:cNvPr>
          <p:cNvSpPr>
            <a:spLocks noGrp="1"/>
          </p:cNvSpPr>
          <p:nvPr/>
        </p:nvSpPr>
        <p:spPr>
          <a:xfrm>
            <a:off x="9437370" y="2762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2" name="U06-DG-060-chain_5-title">
            <a:extLst>
              <a:ext uri="{FF2B5EF4-FFF2-40B4-BE49-F238E27FC236}">
                <a16:creationId xmlns:a16="http://schemas.microsoft.com/office/drawing/2014/main" id="{D0839913-D76B-4F03-8035-BE209A7A2D30}"/>
              </a:ext>
            </a:extLst>
          </p:cNvPr>
          <p:cNvSpPr>
            <a:spLocks noGrp="1"/>
          </p:cNvSpPr>
          <p:nvPr/>
        </p:nvSpPr>
        <p:spPr>
          <a:xfrm>
            <a:off x="9627870" y="2905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3" name="U06-DG-060-chain_5-body">
            <a:extLst>
              <a:ext uri="{FF2B5EF4-FFF2-40B4-BE49-F238E27FC236}">
                <a16:creationId xmlns:a16="http://schemas.microsoft.com/office/drawing/2014/main" id="{2F28F951-D214-4EDC-AC9C-8D519A262F41}"/>
              </a:ext>
            </a:extLst>
          </p:cNvPr>
          <p:cNvSpPr>
            <a:spLocks noGrp="1"/>
          </p:cNvSpPr>
          <p:nvPr/>
        </p:nvSpPr>
        <p:spPr>
          <a:xfrm>
            <a:off x="9627870" y="3352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tronco</a:t>
            </a:r>
          </a:p>
        </p:txBody>
      </p:sp>
      <p:sp>
        <p:nvSpPr>
          <p:cNvPr id="34" name="U06-DG-060-window_1-box">
            <a:extLst>
              <a:ext uri="{FF2B5EF4-FFF2-40B4-BE49-F238E27FC236}">
                <a16:creationId xmlns:a16="http://schemas.microsoft.com/office/drawing/2014/main" id="{A2EC388F-97E9-4F5F-908D-F1F411A6C1D8}"/>
              </a:ext>
            </a:extLst>
          </p:cNvPr>
          <p:cNvSpPr>
            <a:spLocks noGrp="1"/>
          </p:cNvSpPr>
          <p:nvPr/>
        </p:nvSpPr>
        <p:spPr>
          <a:xfrm>
            <a:off x="1000125" y="1285875"/>
            <a:ext cx="2857500" cy="1143000"/>
          </a:xfrm>
          <a:prstGeom prst="roundRect">
            <a:avLst>
              <a:gd name="adj" fmla="val 833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5" name="U06-DG-060-window_1-title">
            <a:extLst>
              <a:ext uri="{FF2B5EF4-FFF2-40B4-BE49-F238E27FC236}">
                <a16:creationId xmlns:a16="http://schemas.microsoft.com/office/drawing/2014/main" id="{D0D642C8-64F3-4AF9-B962-63C22ADC3A3B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Timpanometría</a:t>
            </a:r>
          </a:p>
        </p:txBody>
      </p:sp>
      <p:sp>
        <p:nvSpPr>
          <p:cNvPr id="36" name="U06-DG-060-window_1-body">
            <a:extLst>
              <a:ext uri="{FF2B5EF4-FFF2-40B4-BE49-F238E27FC236}">
                <a16:creationId xmlns:a16="http://schemas.microsoft.com/office/drawing/2014/main" id="{EE7442C9-1E3D-4BC4-9F50-F3B3AE1A0C9C}"/>
              </a:ext>
            </a:extLst>
          </p:cNvPr>
          <p:cNvSpPr>
            <a:spLocks noGrp="1"/>
          </p:cNvSpPr>
          <p:nvPr/>
        </p:nvSpPr>
        <p:spPr>
          <a:xfrm>
            <a:off x="1190625" y="18764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37" name="U06-DG-060-window_2-box">
            <a:extLst>
              <a:ext uri="{FF2B5EF4-FFF2-40B4-BE49-F238E27FC236}">
                <a16:creationId xmlns:a16="http://schemas.microsoft.com/office/drawing/2014/main" id="{69D62B8A-3095-4343-9953-A510220DB0CD}"/>
              </a:ext>
            </a:extLst>
          </p:cNvPr>
          <p:cNvSpPr>
            <a:spLocks noGrp="1"/>
          </p:cNvSpPr>
          <p:nvPr/>
        </p:nvSpPr>
        <p:spPr>
          <a:xfrm>
            <a:off x="4667250" y="1285875"/>
            <a:ext cx="2857500" cy="1143000"/>
          </a:xfrm>
          <a:prstGeom prst="roundRect">
            <a:avLst>
              <a:gd name="adj" fmla="val 833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8" name="U06-DG-060-window_2-title">
            <a:extLst>
              <a:ext uri="{FF2B5EF4-FFF2-40B4-BE49-F238E27FC236}">
                <a16:creationId xmlns:a16="http://schemas.microsoft.com/office/drawing/2014/main" id="{2A085BD8-AE8A-4457-9AC7-D5B32DFB5287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</a:t>
            </a:r>
          </a:p>
        </p:txBody>
      </p:sp>
      <p:sp>
        <p:nvSpPr>
          <p:cNvPr id="39" name="U06-DG-060-window_2-body">
            <a:extLst>
              <a:ext uri="{FF2B5EF4-FFF2-40B4-BE49-F238E27FC236}">
                <a16:creationId xmlns:a16="http://schemas.microsoft.com/office/drawing/2014/main" id="{CD149BFA-3209-41E4-878E-5F5CA00682E1}"/>
              </a:ext>
            </a:extLst>
          </p:cNvPr>
          <p:cNvSpPr>
            <a:spLocks noGrp="1"/>
          </p:cNvSpPr>
          <p:nvPr/>
        </p:nvSpPr>
        <p:spPr>
          <a:xfrm>
            <a:off x="4857750" y="18764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CCE + retorno</a:t>
            </a:r>
          </a:p>
        </p:txBody>
      </p:sp>
      <p:sp>
        <p:nvSpPr>
          <p:cNvPr id="40" name="U06-DG-060-window_3-box">
            <a:extLst>
              <a:ext uri="{FF2B5EF4-FFF2-40B4-BE49-F238E27FC236}">
                <a16:creationId xmlns:a16="http://schemas.microsoft.com/office/drawing/2014/main" id="{4A02B83D-6164-4F01-89D4-B78CB5E63CD7}"/>
              </a:ext>
            </a:extLst>
          </p:cNvPr>
          <p:cNvSpPr>
            <a:spLocks noGrp="1"/>
          </p:cNvSpPr>
          <p:nvPr/>
        </p:nvSpPr>
        <p:spPr>
          <a:xfrm>
            <a:off x="8334375" y="1285875"/>
            <a:ext cx="2857500" cy="1143000"/>
          </a:xfrm>
          <a:prstGeom prst="roundRect">
            <a:avLst>
              <a:gd name="adj" fmla="val 833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41" name="U06-DG-060-window_3-title">
            <a:extLst>
              <a:ext uri="{FF2B5EF4-FFF2-40B4-BE49-F238E27FC236}">
                <a16:creationId xmlns:a16="http://schemas.microsoft.com/office/drawing/2014/main" id="{86E4EA85-ABC0-4A36-9AB4-AC68DC439F36}"/>
              </a:ext>
            </a:extLst>
          </p:cNvPr>
          <p:cNvSpPr>
            <a:spLocks noGrp="1"/>
          </p:cNvSpPr>
          <p:nvPr/>
        </p:nvSpPr>
        <p:spPr>
          <a:xfrm>
            <a:off x="8524875" y="14287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PEATC</a:t>
            </a:r>
          </a:p>
        </p:txBody>
      </p:sp>
      <p:sp>
        <p:nvSpPr>
          <p:cNvPr id="42" name="U06-DG-060-window_3-body">
            <a:extLst>
              <a:ext uri="{FF2B5EF4-FFF2-40B4-BE49-F238E27FC236}">
                <a16:creationId xmlns:a16="http://schemas.microsoft.com/office/drawing/2014/main" id="{20AD1EBE-585C-4B2A-AC9D-051625AAD085}"/>
              </a:ext>
            </a:extLst>
          </p:cNvPr>
          <p:cNvSpPr>
            <a:spLocks noGrp="1"/>
          </p:cNvSpPr>
          <p:nvPr/>
        </p:nvSpPr>
        <p:spPr>
          <a:xfrm>
            <a:off x="8524875" y="18764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vía neural</a:t>
            </a:r>
          </a:p>
        </p:txBody>
      </p:sp>
      <p:sp>
        <p:nvSpPr>
          <p:cNvPr id="43" name="caption">
            <a:extLst>
              <a:ext uri="{FF2B5EF4-FFF2-40B4-BE49-F238E27FC236}">
                <a16:creationId xmlns:a16="http://schemas.microsoft.com/office/drawing/2014/main" id="{50E3A94A-048F-4865-A12D-7D42D3EE155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 resultado depende de la entrada, la estructura sensible, la vía de salida y l…</a:t>
            </a:r>
          </a:p>
        </p:txBody>
      </p:sp>
      <p:sp>
        <p:nvSpPr>
          <p:cNvPr id="44" name="credit">
            <a:extLst>
              <a:ext uri="{FF2B5EF4-FFF2-40B4-BE49-F238E27FC236}">
                <a16:creationId xmlns:a16="http://schemas.microsoft.com/office/drawing/2014/main" id="{E5A98E5F-7F37-4BD0-A24F-E88E545E2AC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2C6E2BED-FAE3-42FE-9044-121FFFF0E06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potencial evocado depende de referencia y montaje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D15BB18-1B8A-4429-8E74-2DF949FF56D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señal registrada no es “el potencial del oído”: combina generadores, conducción y sistema de medida.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18CD8C0-4587-40B0-B6FF-821C3136DD2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101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D4EBFCF2-724E-4A21-AA2F-ABF169A1EC7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señal registrada no es “el potencial del oído”: combina generadores, conducción y sistema de medida.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Esquema de estímulo, electrodos, referencia, señal y límites inferenciales.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0017CBD1-08BA-46DA-83E0-28B5182AD6C0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señal registrada no es “el potencial del oído”: combina generadores, conducci…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4456F015-BF45-426B-A940-E91B66879355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6.8.3/6.10; PDF pp. 163–165; CM U6→U8.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7CDB44F7-86B3-4311-A740-C97A08BE09F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Mismo tono, dos niveles: ¿qué cambia y qué no?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E15124F-A9F9-4F26-BCE7-80E6E51B204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frecuencia mantiene aproximadamente el lugar característico; el nivel cambia amplitud, extensión y patrón de salida.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1F65ED3C-1D4A-4805-8720-66855B94CD2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102</a:t>
            </a:r>
          </a:p>
        </p:txBody>
      </p:sp>
      <p:sp>
        <p:nvSpPr>
          <p:cNvPr id="4" name="U06-DG-062-cell_1-anchor">
            <a:extLst>
              <a:ext uri="{FF2B5EF4-FFF2-40B4-BE49-F238E27FC236}">
                <a16:creationId xmlns:a16="http://schemas.microsoft.com/office/drawing/2014/main" id="{0BEA1765-988B-4853-91F4-B25D857A8ACA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2-cell_2-anchor">
            <a:extLst>
              <a:ext uri="{FF2B5EF4-FFF2-40B4-BE49-F238E27FC236}">
                <a16:creationId xmlns:a16="http://schemas.microsoft.com/office/drawing/2014/main" id="{84397197-0858-4847-8A99-BB2A2F9DF80F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2-cell_3-anchor">
            <a:extLst>
              <a:ext uri="{FF2B5EF4-FFF2-40B4-BE49-F238E27FC236}">
                <a16:creationId xmlns:a16="http://schemas.microsoft.com/office/drawing/2014/main" id="{8F2A04B3-9F14-43C7-8E99-AB5C7068F66F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2-cell_4-anchor">
            <a:extLst>
              <a:ext uri="{FF2B5EF4-FFF2-40B4-BE49-F238E27FC236}">
                <a16:creationId xmlns:a16="http://schemas.microsoft.com/office/drawing/2014/main" id="{FA9EADBC-8BB1-45D6-85F2-29FCDCA27B5F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2-cell_5-anchor">
            <a:extLst>
              <a:ext uri="{FF2B5EF4-FFF2-40B4-BE49-F238E27FC236}">
                <a16:creationId xmlns:a16="http://schemas.microsoft.com/office/drawing/2014/main" id="{E7489124-6AF8-40C2-BCA9-BC492A7D6B22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62-cell_6-anchor">
            <a:extLst>
              <a:ext uri="{FF2B5EF4-FFF2-40B4-BE49-F238E27FC236}">
                <a16:creationId xmlns:a16="http://schemas.microsoft.com/office/drawing/2014/main" id="{96BBEA3D-3027-42CE-97B3-57D6A5BDFDC0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62-cell_1-box" descr="Diagrama sobre «Mismo tono, dos niveles: ¿qué cambia y qué no?»; organiza caso 2 khz a 40/70 db spl; cinco afirmaciones para seleccionar y justificar." title="Texto alternativo U06-102">
            <a:extLst>
              <a:ext uri="{FF2B5EF4-FFF2-40B4-BE49-F238E27FC236}">
                <a16:creationId xmlns:a16="http://schemas.microsoft.com/office/drawing/2014/main" id="{F7576829-6447-4EE4-9BAC-0EC8783E1EC8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62-cell_1-title">
            <a:extLst>
              <a:ext uri="{FF2B5EF4-FFF2-40B4-BE49-F238E27FC236}">
                <a16:creationId xmlns:a16="http://schemas.microsoft.com/office/drawing/2014/main" id="{92595F25-8147-4DC7-A3F1-1829656CD023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Condición A</a:t>
            </a:r>
          </a:p>
        </p:txBody>
      </p:sp>
      <p:sp>
        <p:nvSpPr>
          <p:cNvPr id="12" name="U06-DG-062-cell_1-body">
            <a:extLst>
              <a:ext uri="{FF2B5EF4-FFF2-40B4-BE49-F238E27FC236}">
                <a16:creationId xmlns:a16="http://schemas.microsoft.com/office/drawing/2014/main" id="{055F543E-AAB2-416C-A3F1-2AA1243AFCDD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kHz · 40 dB SPL</a:t>
            </a:r>
          </a:p>
        </p:txBody>
      </p:sp>
      <p:sp>
        <p:nvSpPr>
          <p:cNvPr id="13" name="U06-DG-062-cell_2-box">
            <a:extLst>
              <a:ext uri="{FF2B5EF4-FFF2-40B4-BE49-F238E27FC236}">
                <a16:creationId xmlns:a16="http://schemas.microsoft.com/office/drawing/2014/main" id="{1F5D0F4E-782E-4A58-B5B1-093D1B0E66F1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62-cell_2-title">
            <a:extLst>
              <a:ext uri="{FF2B5EF4-FFF2-40B4-BE49-F238E27FC236}">
                <a16:creationId xmlns:a16="http://schemas.microsoft.com/office/drawing/2014/main" id="{83924658-BB6B-44F5-BA69-FC9253A89345}"/>
              </a:ext>
            </a:extLst>
          </p:cNvPr>
          <p:cNvSpPr>
            <a:spLocks noGrp="1"/>
          </p:cNvSpPr>
          <p:nvPr/>
        </p:nvSpPr>
        <p:spPr>
          <a:xfrm>
            <a:off x="4625975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Condición B</a:t>
            </a:r>
          </a:p>
        </p:txBody>
      </p:sp>
      <p:sp>
        <p:nvSpPr>
          <p:cNvPr id="15" name="U06-DG-062-cell_2-body">
            <a:extLst>
              <a:ext uri="{FF2B5EF4-FFF2-40B4-BE49-F238E27FC236}">
                <a16:creationId xmlns:a16="http://schemas.microsoft.com/office/drawing/2014/main" id="{6B7D8382-74A9-4C26-91E1-7B6846C94AE8}"/>
              </a:ext>
            </a:extLst>
          </p:cNvPr>
          <p:cNvSpPr>
            <a:spLocks noGrp="1"/>
          </p:cNvSpPr>
          <p:nvPr/>
        </p:nvSpPr>
        <p:spPr>
          <a:xfrm>
            <a:off x="4625975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kHz · 70 dB SPL</a:t>
            </a:r>
          </a:p>
        </p:txBody>
      </p:sp>
      <p:sp>
        <p:nvSpPr>
          <p:cNvPr id="16" name="U06-DG-062-cell_3-box">
            <a:extLst>
              <a:ext uri="{FF2B5EF4-FFF2-40B4-BE49-F238E27FC236}">
                <a16:creationId xmlns:a16="http://schemas.microsoft.com/office/drawing/2014/main" id="{00B7094F-A7B8-46AF-899B-03D100EA9823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7" name="U06-DG-062-cell_3-title">
            <a:extLst>
              <a:ext uri="{FF2B5EF4-FFF2-40B4-BE49-F238E27FC236}">
                <a16:creationId xmlns:a16="http://schemas.microsoft.com/office/drawing/2014/main" id="{81E4A370-718C-4DED-A5B3-AED2581912B5}"/>
              </a:ext>
            </a:extLst>
          </p:cNvPr>
          <p:cNvSpPr>
            <a:spLocks noGrp="1"/>
          </p:cNvSpPr>
          <p:nvPr/>
        </p:nvSpPr>
        <p:spPr>
          <a:xfrm>
            <a:off x="8280400" y="17145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18" name="U06-DG-062-cell_3-body">
            <a:extLst>
              <a:ext uri="{FF2B5EF4-FFF2-40B4-BE49-F238E27FC236}">
                <a16:creationId xmlns:a16="http://schemas.microsoft.com/office/drawing/2014/main" id="{9E6D152D-10BE-4DA1-92F8-D3D721E2B23A}"/>
              </a:ext>
            </a:extLst>
          </p:cNvPr>
          <p:cNvSpPr>
            <a:spLocks noGrp="1"/>
          </p:cNvSpPr>
          <p:nvPr/>
        </p:nvSpPr>
        <p:spPr>
          <a:xfrm>
            <a:off x="8280400" y="24860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¿cambia?</a:t>
            </a:r>
          </a:p>
        </p:txBody>
      </p:sp>
      <p:sp>
        <p:nvSpPr>
          <p:cNvPr id="19" name="U06-DG-062-cell_4-box">
            <a:extLst>
              <a:ext uri="{FF2B5EF4-FFF2-40B4-BE49-F238E27FC236}">
                <a16:creationId xmlns:a16="http://schemas.microsoft.com/office/drawing/2014/main" id="{0182D1E7-0312-473D-9BBB-7DACF1AD7681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62-cell_4-title">
            <a:extLst>
              <a:ext uri="{FF2B5EF4-FFF2-40B4-BE49-F238E27FC236}">
                <a16:creationId xmlns:a16="http://schemas.microsoft.com/office/drawing/2014/main" id="{BA0AA2B8-A2D2-4BFE-8BFE-FF97CE0F0A30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Extensión</a:t>
            </a:r>
          </a:p>
        </p:txBody>
      </p:sp>
      <p:sp>
        <p:nvSpPr>
          <p:cNvPr id="21" name="U06-DG-062-cell_4-body">
            <a:extLst>
              <a:ext uri="{FF2B5EF4-FFF2-40B4-BE49-F238E27FC236}">
                <a16:creationId xmlns:a16="http://schemas.microsoft.com/office/drawing/2014/main" id="{87EA7AAF-7515-4479-A02F-FDA9551915C6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¿cambia?</a:t>
            </a:r>
          </a:p>
        </p:txBody>
      </p:sp>
      <p:sp>
        <p:nvSpPr>
          <p:cNvPr id="22" name="U06-DG-062-cell_5-box">
            <a:extLst>
              <a:ext uri="{FF2B5EF4-FFF2-40B4-BE49-F238E27FC236}">
                <a16:creationId xmlns:a16="http://schemas.microsoft.com/office/drawing/2014/main" id="{D0A0F2A6-7C49-4D8E-BCBB-A87C969324EA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3" name="U06-DG-062-cell_5-title">
            <a:extLst>
              <a:ext uri="{FF2B5EF4-FFF2-40B4-BE49-F238E27FC236}">
                <a16:creationId xmlns:a16="http://schemas.microsoft.com/office/drawing/2014/main" id="{86EC7139-E0E4-480E-BB11-8FEC94E2D4E0}"/>
              </a:ext>
            </a:extLst>
          </p:cNvPr>
          <p:cNvSpPr>
            <a:spLocks noGrp="1"/>
          </p:cNvSpPr>
          <p:nvPr/>
        </p:nvSpPr>
        <p:spPr>
          <a:xfrm>
            <a:off x="4625975" y="38100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periférica</a:t>
            </a:r>
          </a:p>
        </p:txBody>
      </p:sp>
      <p:sp>
        <p:nvSpPr>
          <p:cNvPr id="24" name="U06-DG-062-cell_5-body">
            <a:extLst>
              <a:ext uri="{FF2B5EF4-FFF2-40B4-BE49-F238E27FC236}">
                <a16:creationId xmlns:a16="http://schemas.microsoft.com/office/drawing/2014/main" id="{B313C1C2-E4C2-4D04-AE3D-74BA17536B1A}"/>
              </a:ext>
            </a:extLst>
          </p:cNvPr>
          <p:cNvSpPr>
            <a:spLocks noGrp="1"/>
          </p:cNvSpPr>
          <p:nvPr/>
        </p:nvSpPr>
        <p:spPr>
          <a:xfrm>
            <a:off x="4625975" y="45815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cambia?</a:t>
            </a:r>
          </a:p>
        </p:txBody>
      </p:sp>
      <p:sp>
        <p:nvSpPr>
          <p:cNvPr id="25" name="U06-DG-062-cell_6-box">
            <a:extLst>
              <a:ext uri="{FF2B5EF4-FFF2-40B4-BE49-F238E27FC236}">
                <a16:creationId xmlns:a16="http://schemas.microsoft.com/office/drawing/2014/main" id="{651D6C1C-AE65-4488-8DDC-E79316509B2A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62-cell_6-title">
            <a:extLst>
              <a:ext uri="{FF2B5EF4-FFF2-40B4-BE49-F238E27FC236}">
                <a16:creationId xmlns:a16="http://schemas.microsoft.com/office/drawing/2014/main" id="{F461AE7C-B60B-46F0-8242-B3C16041E246}"/>
              </a:ext>
            </a:extLst>
          </p:cNvPr>
          <p:cNvSpPr>
            <a:spLocks noGrp="1"/>
          </p:cNvSpPr>
          <p:nvPr/>
        </p:nvSpPr>
        <p:spPr>
          <a:xfrm>
            <a:off x="828040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27" name="U06-DG-062-cell_6-body">
            <a:extLst>
              <a:ext uri="{FF2B5EF4-FFF2-40B4-BE49-F238E27FC236}">
                <a16:creationId xmlns:a16="http://schemas.microsoft.com/office/drawing/2014/main" id="{81BEF1A3-81C0-4BCA-86C9-07278C361EAA}"/>
              </a:ext>
            </a:extLst>
          </p:cNvPr>
          <p:cNvSpPr>
            <a:spLocks noGrp="1"/>
          </p:cNvSpPr>
          <p:nvPr/>
        </p:nvSpPr>
        <p:spPr>
          <a:xfrm>
            <a:off x="828040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no concluye?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BC153403-8071-44E5-8B6E-9099E245BAB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frecuencia mantiene aproximadamente el lugar característico; el nivel cambia…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EB707141-6DC0-496C-AB64-5BCC2DA95980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A3424840-A5D3-406A-8D79-982C4AF2D8D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estímulo a la salida: resolución del caso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47A8D3D-298D-47D0-946E-E183E4F5324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buena respuesta declara entrada, transformación por etapa, salida y lo que no puede inferirse.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BC17394-82BE-48E9-B0C0-DFBA760A142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103</a:t>
            </a:r>
          </a:p>
        </p:txBody>
      </p:sp>
      <p:sp>
        <p:nvSpPr>
          <p:cNvPr id="4" name="U06-DG-063-stage_1-anchor">
            <a:extLst>
              <a:ext uri="{FF2B5EF4-FFF2-40B4-BE49-F238E27FC236}">
                <a16:creationId xmlns:a16="http://schemas.microsoft.com/office/drawing/2014/main" id="{07D38CD4-0819-43FE-9839-3498623C55BA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3-stage_2-anchor">
            <a:extLst>
              <a:ext uri="{FF2B5EF4-FFF2-40B4-BE49-F238E27FC236}">
                <a16:creationId xmlns:a16="http://schemas.microsoft.com/office/drawing/2014/main" id="{DF98703F-096B-4A0A-882E-8617C70A75E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3-stage_3-anchor">
            <a:extLst>
              <a:ext uri="{FF2B5EF4-FFF2-40B4-BE49-F238E27FC236}">
                <a16:creationId xmlns:a16="http://schemas.microsoft.com/office/drawing/2014/main" id="{E3C6D7E9-799D-4E63-B72F-D85984016685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3-stage_4-anchor">
            <a:extLst>
              <a:ext uri="{FF2B5EF4-FFF2-40B4-BE49-F238E27FC236}">
                <a16:creationId xmlns:a16="http://schemas.microsoft.com/office/drawing/2014/main" id="{733EC74A-610C-43B1-A450-DABC9303D00A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3-stage_5-anchor">
            <a:extLst>
              <a:ext uri="{FF2B5EF4-FFF2-40B4-BE49-F238E27FC236}">
                <a16:creationId xmlns:a16="http://schemas.microsoft.com/office/drawing/2014/main" id="{FF9D7872-077D-487A-8E8B-CF93763D76CE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63-stage_6-anchor">
            <a:extLst>
              <a:ext uri="{FF2B5EF4-FFF2-40B4-BE49-F238E27FC236}">
                <a16:creationId xmlns:a16="http://schemas.microsoft.com/office/drawing/2014/main" id="{B16BE5B8-BECA-464A-AE07-A0C1B581D224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63-flow_1"/>
          <p:cNvCxnSpPr>
            <a:stCxn id="4" idx="3"/>
            <a:endCxn id="5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63-flow_2"/>
          <p:cNvCxnSpPr>
            <a:stCxn id="5" idx="3"/>
            <a:endCxn id="6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63-flow_3"/>
          <p:cNvCxnSpPr>
            <a:stCxn id="6" idx="2"/>
            <a:endCxn id="7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63-flow_4"/>
          <p:cNvCxnSpPr>
            <a:stCxn id="7" idx="1"/>
            <a:endCxn id="8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63-flow_5"/>
          <p:cNvCxnSpPr>
            <a:stCxn id="8" idx="1"/>
            <a:endCxn id="9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6-DG-063-stage_1-box" descr="Diagrama sobre «Del estímulo a la salida: resolución del caso»; organiza recorrido cae → medio → cóclea → cci/cce → fibra; diferencias entre 40/70 db spl." title="Texto alternativo U06-103">
            <a:extLst>
              <a:ext uri="{FF2B5EF4-FFF2-40B4-BE49-F238E27FC236}">
                <a16:creationId xmlns:a16="http://schemas.microsoft.com/office/drawing/2014/main" id="{AC728FCA-F55A-46B9-9C30-4414B5F73900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63-stage_1-title">
            <a:extLst>
              <a:ext uri="{FF2B5EF4-FFF2-40B4-BE49-F238E27FC236}">
                <a16:creationId xmlns:a16="http://schemas.microsoft.com/office/drawing/2014/main" id="{F92320D8-D956-4B8B-AC77-C47FA773884B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Misma f</a:t>
            </a:r>
          </a:p>
        </p:txBody>
      </p:sp>
      <p:sp>
        <p:nvSpPr>
          <p:cNvPr id="17" name="U06-DG-063-stage_1-body">
            <a:extLst>
              <a:ext uri="{FF2B5EF4-FFF2-40B4-BE49-F238E27FC236}">
                <a16:creationId xmlns:a16="http://schemas.microsoft.com/office/drawing/2014/main" id="{8D416CB4-22BC-4B77-AE23-E2991ADF040E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mismo lugar aprox.</a:t>
            </a:r>
          </a:p>
        </p:txBody>
      </p:sp>
      <p:sp>
        <p:nvSpPr>
          <p:cNvPr id="18" name="U06-DG-063-stage_2-box">
            <a:extLst>
              <a:ext uri="{FF2B5EF4-FFF2-40B4-BE49-F238E27FC236}">
                <a16:creationId xmlns:a16="http://schemas.microsoft.com/office/drawing/2014/main" id="{F89718FA-D3E8-465B-8996-1C9E0C38F50A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9" name="U06-DG-063-stage_2-title">
            <a:extLst>
              <a:ext uri="{FF2B5EF4-FFF2-40B4-BE49-F238E27FC236}">
                <a16:creationId xmlns:a16="http://schemas.microsoft.com/office/drawing/2014/main" id="{B469E3C9-B047-46E9-926C-44E68E11809C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Mayor nivel</a:t>
            </a:r>
          </a:p>
        </p:txBody>
      </p:sp>
      <p:sp>
        <p:nvSpPr>
          <p:cNvPr id="20" name="U06-DG-063-stage_2-body">
            <a:extLst>
              <a:ext uri="{FF2B5EF4-FFF2-40B4-BE49-F238E27FC236}">
                <a16:creationId xmlns:a16="http://schemas.microsoft.com/office/drawing/2014/main" id="{8B25B63A-0DD4-4526-93FF-02FEB238789B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1" name="U06-DG-063-stage_3-box">
            <a:extLst>
              <a:ext uri="{FF2B5EF4-FFF2-40B4-BE49-F238E27FC236}">
                <a16:creationId xmlns:a16="http://schemas.microsoft.com/office/drawing/2014/main" id="{D0BF1316-5DF2-4466-A4EE-AD4C611FB765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2" name="U06-DG-063-stage_3-title">
            <a:extLst>
              <a:ext uri="{FF2B5EF4-FFF2-40B4-BE49-F238E27FC236}">
                <a16:creationId xmlns:a16="http://schemas.microsoft.com/office/drawing/2014/main" id="{B0FBB4C8-CDAE-4D72-9391-7B38547021DA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Respuesta más amplia</a:t>
            </a:r>
          </a:p>
        </p:txBody>
      </p:sp>
      <p:sp>
        <p:nvSpPr>
          <p:cNvPr id="23" name="U06-DG-063-stage_3-body">
            <a:extLst>
              <a:ext uri="{FF2B5EF4-FFF2-40B4-BE49-F238E27FC236}">
                <a16:creationId xmlns:a16="http://schemas.microsoft.com/office/drawing/2014/main" id="{58F2CC5F-CCA2-4C8D-AFF2-30F4C0BEB814}"/>
              </a:ext>
            </a:extLst>
          </p:cNvPr>
          <p:cNvSpPr>
            <a:spLocks noGrp="1"/>
          </p:cNvSpPr>
          <p:nvPr/>
        </p:nvSpPr>
        <p:spPr>
          <a:xfrm>
            <a:off x="82359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24" name="U06-DG-063-stage_4-box">
            <a:extLst>
              <a:ext uri="{FF2B5EF4-FFF2-40B4-BE49-F238E27FC236}">
                <a16:creationId xmlns:a16="http://schemas.microsoft.com/office/drawing/2014/main" id="{87C17B7B-B172-4F45-BF2E-D74C0F05E50C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5" name="U06-DG-063-stage_4-title">
            <a:extLst>
              <a:ext uri="{FF2B5EF4-FFF2-40B4-BE49-F238E27FC236}">
                <a16:creationId xmlns:a16="http://schemas.microsoft.com/office/drawing/2014/main" id="{B1B23D8B-F415-4E12-B263-EA3C04409854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población</a:t>
            </a:r>
          </a:p>
        </p:txBody>
      </p:sp>
      <p:sp>
        <p:nvSpPr>
          <p:cNvPr id="26" name="U06-DG-063-stage_4-body">
            <a:extLst>
              <a:ext uri="{FF2B5EF4-FFF2-40B4-BE49-F238E27FC236}">
                <a16:creationId xmlns:a16="http://schemas.microsoft.com/office/drawing/2014/main" id="{ED4B7756-2BE9-484D-B65F-094B7986C208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reclutamiento</a:t>
            </a:r>
          </a:p>
        </p:txBody>
      </p:sp>
      <p:sp>
        <p:nvSpPr>
          <p:cNvPr id="27" name="U06-DG-063-stage_5-box">
            <a:extLst>
              <a:ext uri="{FF2B5EF4-FFF2-40B4-BE49-F238E27FC236}">
                <a16:creationId xmlns:a16="http://schemas.microsoft.com/office/drawing/2014/main" id="{3606E2EF-6CE4-4F55-BD52-9DAE18D4207A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8" name="U06-DG-063-stage_5-title">
            <a:extLst>
              <a:ext uri="{FF2B5EF4-FFF2-40B4-BE49-F238E27FC236}">
                <a16:creationId xmlns:a16="http://schemas.microsoft.com/office/drawing/2014/main" id="{5F562935-CE71-4533-B5D6-9C9A86BA88AC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Señal neural</a:t>
            </a:r>
          </a:p>
        </p:txBody>
      </p:sp>
      <p:sp>
        <p:nvSpPr>
          <p:cNvPr id="29" name="U06-DG-063-stage_5-body">
            <a:extLst>
              <a:ext uri="{FF2B5EF4-FFF2-40B4-BE49-F238E27FC236}">
                <a16:creationId xmlns:a16="http://schemas.microsoft.com/office/drawing/2014/main" id="{8D380D12-4717-4D74-AE98-1B5451A8067B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</a:t>
            </a:r>
          </a:p>
        </p:txBody>
      </p:sp>
      <p:sp>
        <p:nvSpPr>
          <p:cNvPr id="30" name="U06-DG-063-stage_6-box">
            <a:extLst>
              <a:ext uri="{FF2B5EF4-FFF2-40B4-BE49-F238E27FC236}">
                <a16:creationId xmlns:a16="http://schemas.microsoft.com/office/drawing/2014/main" id="{008F1EFB-4680-4F9C-AC66-A2C494EBF87C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63-stage_6-title">
            <a:extLst>
              <a:ext uri="{FF2B5EF4-FFF2-40B4-BE49-F238E27FC236}">
                <a16:creationId xmlns:a16="http://schemas.microsoft.com/office/drawing/2014/main" id="{ACEC352A-063C-452F-AA7C-621AD3483428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32" name="U06-DG-063-stage_6-body">
            <a:extLst>
              <a:ext uri="{FF2B5EF4-FFF2-40B4-BE49-F238E27FC236}">
                <a16:creationId xmlns:a16="http://schemas.microsoft.com/office/drawing/2014/main" id="{38334F2B-8DCC-4542-83C3-CE2217DE1E31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inferencia limitada</a:t>
            </a:r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A0F5A8D9-DE0A-4A85-A39E-9293CC74A4F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Una buena respuesta declara entrada, transformación por etapa, salida y lo que n…</a:t>
            </a:r>
          </a:p>
        </p:txBody>
      </p:sp>
      <p:sp>
        <p:nvSpPr>
          <p:cNvPr id="34" name="credit">
            <a:extLst>
              <a:ext uri="{FF2B5EF4-FFF2-40B4-BE49-F238E27FC236}">
                <a16:creationId xmlns:a16="http://schemas.microsoft.com/office/drawing/2014/main" id="{1D0C827E-78F9-4C48-AFE6-2CE43758C5AC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AA9F3603-6C4E-4C50-81E6-D9B0A2D157A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Diez ideas que sostienen el mecanismo periférico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F87C4FC-0730-430A-A679-F67506032562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cadena conserva y transforma información mediante etapas físicas, mecánicas, celulares y neurales.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8D7E5-0586-4A57-AD3A-8182B92562A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104</a:t>
            </a:r>
          </a:p>
        </p:txBody>
      </p:sp>
      <p:sp>
        <p:nvSpPr>
          <p:cNvPr id="4" name="U06-DG-064-cell_1-anchor">
            <a:extLst>
              <a:ext uri="{FF2B5EF4-FFF2-40B4-BE49-F238E27FC236}">
                <a16:creationId xmlns:a16="http://schemas.microsoft.com/office/drawing/2014/main" id="{109C5453-81B0-4E2D-8CFE-FA667047F500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4-cell_2-anchor">
            <a:extLst>
              <a:ext uri="{FF2B5EF4-FFF2-40B4-BE49-F238E27FC236}">
                <a16:creationId xmlns:a16="http://schemas.microsoft.com/office/drawing/2014/main" id="{9BC6F35E-38DE-44DB-9C71-9D76A3183773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4-cell_3-anchor">
            <a:extLst>
              <a:ext uri="{FF2B5EF4-FFF2-40B4-BE49-F238E27FC236}">
                <a16:creationId xmlns:a16="http://schemas.microsoft.com/office/drawing/2014/main" id="{3787BE47-CE43-43A6-BD77-8955B96D2E6E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4-cell_4-anchor">
            <a:extLst>
              <a:ext uri="{FF2B5EF4-FFF2-40B4-BE49-F238E27FC236}">
                <a16:creationId xmlns:a16="http://schemas.microsoft.com/office/drawing/2014/main" id="{19766ADA-3762-4FF9-9ABD-AFA410AEC07B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4-cell_1-box" descr="Diagrama sobre «Diez ideas que sostienen el mecanismo periférico»; organiza diez enunciados agrupados por oído externo, medio, interno y salida; dos errores frecuentes." title="Texto alternativo U06-104">
            <a:extLst>
              <a:ext uri="{FF2B5EF4-FFF2-40B4-BE49-F238E27FC236}">
                <a16:creationId xmlns:a16="http://schemas.microsoft.com/office/drawing/2014/main" id="{5EB5EE67-61BC-41DF-A502-E74B4E53FF43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64-cell_1-title">
            <a:extLst>
              <a:ext uri="{FF2B5EF4-FFF2-40B4-BE49-F238E27FC236}">
                <a16:creationId xmlns:a16="http://schemas.microsoft.com/office/drawing/2014/main" id="{662B0AC7-5D68-477D-B1D0-1501C0E92A80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externo</a:t>
            </a:r>
          </a:p>
        </p:txBody>
      </p:sp>
      <p:sp>
        <p:nvSpPr>
          <p:cNvPr id="10" name="U06-DG-064-cell_1-body">
            <a:extLst>
              <a:ext uri="{FF2B5EF4-FFF2-40B4-BE49-F238E27FC236}">
                <a16:creationId xmlns:a16="http://schemas.microsoft.com/office/drawing/2014/main" id="{69EDDA16-2C59-4F89-8B99-93E7FEF86A09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 · CAE presión</a:t>
            </a:r>
          </a:p>
        </p:txBody>
      </p:sp>
      <p:sp>
        <p:nvSpPr>
          <p:cNvPr id="11" name="U06-DG-064-cell_2-box">
            <a:extLst>
              <a:ext uri="{FF2B5EF4-FFF2-40B4-BE49-F238E27FC236}">
                <a16:creationId xmlns:a16="http://schemas.microsoft.com/office/drawing/2014/main" id="{5D841DE7-6F10-48A9-B6F4-D129921F4660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2" name="U06-DG-064-cell_2-title">
            <a:extLst>
              <a:ext uri="{FF2B5EF4-FFF2-40B4-BE49-F238E27FC236}">
                <a16:creationId xmlns:a16="http://schemas.microsoft.com/office/drawing/2014/main" id="{26FD1E78-D035-4E97-95F3-2EBE9D21E082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3" name="U06-DG-064-cell_2-body">
            <a:extLst>
              <a:ext uri="{FF2B5EF4-FFF2-40B4-BE49-F238E27FC236}">
                <a16:creationId xmlns:a16="http://schemas.microsoft.com/office/drawing/2014/main" id="{233912A8-9E65-4B53-A5C2-4FBDFED74DD0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áreas palanca</a:t>
            </a:r>
          </a:p>
        </p:txBody>
      </p:sp>
      <p:sp>
        <p:nvSpPr>
          <p:cNvPr id="14" name="U06-DG-064-cell_3-box">
            <a:extLst>
              <a:ext uri="{FF2B5EF4-FFF2-40B4-BE49-F238E27FC236}">
                <a16:creationId xmlns:a16="http://schemas.microsoft.com/office/drawing/2014/main" id="{9D41DA47-AEBF-49E5-9EDA-CB13F6A1A410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64-cell_3-title">
            <a:extLst>
              <a:ext uri="{FF2B5EF4-FFF2-40B4-BE49-F238E27FC236}">
                <a16:creationId xmlns:a16="http://schemas.microsoft.com/office/drawing/2014/main" id="{6D85C990-EE8C-4BF6-977D-C06B7AFD832A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6" name="U06-DG-064-cell_3-body">
            <a:extLst>
              <a:ext uri="{FF2B5EF4-FFF2-40B4-BE49-F238E27FC236}">
                <a16:creationId xmlns:a16="http://schemas.microsoft.com/office/drawing/2014/main" id="{E5E63CA9-4D41-490E-9343-DDE0FCAB81EF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fluidos · onda tonotopía</a:t>
            </a:r>
          </a:p>
        </p:txBody>
      </p:sp>
      <p:sp>
        <p:nvSpPr>
          <p:cNvPr id="17" name="U06-DG-064-cell_4-box">
            <a:extLst>
              <a:ext uri="{FF2B5EF4-FFF2-40B4-BE49-F238E27FC236}">
                <a16:creationId xmlns:a16="http://schemas.microsoft.com/office/drawing/2014/main" id="{DB287D85-0CDB-4B2D-8A88-D9E5962E6F23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64-cell_4-title">
            <a:extLst>
              <a:ext uri="{FF2B5EF4-FFF2-40B4-BE49-F238E27FC236}">
                <a16:creationId xmlns:a16="http://schemas.microsoft.com/office/drawing/2014/main" id="{D93B639D-7FA6-4900-A857-F8CBDAE5EC29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Transducción</a:t>
            </a:r>
          </a:p>
        </p:txBody>
      </p:sp>
      <p:sp>
        <p:nvSpPr>
          <p:cNvPr id="19" name="U06-DG-064-cell_4-body">
            <a:extLst>
              <a:ext uri="{FF2B5EF4-FFF2-40B4-BE49-F238E27FC236}">
                <a16:creationId xmlns:a16="http://schemas.microsoft.com/office/drawing/2014/main" id="{F09E9AD2-3BF4-48DD-A84B-2F2D061BBD95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CCI · CCE potenciales · nervio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5136D079-10ED-4A17-B5A3-C5E1AEE30D07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cadena conserva y transforma información mediante etapas físicas, mecánicas…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A0A06BB2-5E03-4C8D-943A-673DD9EAB82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rk-eyebrow">
            <a:extLst>
              <a:ext uri="{FF2B5EF4-FFF2-40B4-BE49-F238E27FC236}">
                <a16:creationId xmlns:a16="http://schemas.microsoft.com/office/drawing/2014/main" id="{3784FAF7-0BFA-47F7-982F-D87B5954DEB5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105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96AB43A4-9F2D-4AD3-BDC4-B08DBA2D8701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periferia condiciona la percepción, pero no la agota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F191FA1C-DC88-4DC9-84A1-843A29B02806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U6 explica mecanismos periféricos; U7 estudiará atributos subjetivos y U8 sus mediciones/aplicaciones.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CAE016E5-BC94-4935-A8C2-F0BC0C733586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800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D4BDC8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4BDC8"/>
                </a:solidFill>
                <a:latin typeface="Calibri"/>
                <a:ea typeface="Calibri"/>
                <a:cs typeface="Calibri"/>
              </a:rPr>
              <a:t>Ahora podemos explicar la cadena periférica y sus transformaciones. Todavía no podemos deducir percepción completa ni diagnóstico desde una respuesta aislada. Próximas preguntas: ¿cómo emerge la experiencia?, ¿cómo se mide clínicamente?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5EC2E751-C9E9-47C9-829E-64D58F7BE6E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usar las slides de respaldo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47E8BDB-92EC-4C4B-962F-963BBCD6E41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respaldo amplía vocabulario, cálculos, mecanismos y fuentes; no constituye un bloque obligatorio.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13CF75E-E162-4DB0-8CE5-32E1A4249F3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106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4AFE4FE7-3F88-466F-9CFD-798D003722C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Consultar según la duda: terminología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notación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cálculos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electroquímica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reflejo fuentes anatómicas.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B1537FAF-5FAE-4FA6-8FBB-0B0D472EFE8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respaldo amplía vocabulario, cálculos, mecanismos y fuentes; no constituye un bloque obligatorio.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644AB7E1-9040-4225-AB3A-D98C46DCB4D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BR; US.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846191B5-87BE-4143-B804-E8AD77639C3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Terminología anatómica: equivalencias controladas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B32E897-90B1-4282-AFA5-077FE88B587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Términos equivalentes deben definirse una vez y usarse con consistencia.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850316-A581-473E-9A04-555A8957D0F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107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9624BA0-0C64-4AEE-8F5B-78F99A06E87C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 auditivo externo (CAE)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 coclear o rampa media (scala media en bibliografía internacional)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 oval o vestibular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otoemisión acústica (OEA).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DFA0A057-1545-44FF-8B21-E2E467E37FCA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Términos equivalentes deben definirse una vez y usarse con consistencia.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5E217012-E0A3-454C-9799-5E60E4B15927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GLO; NG; OD-U06-06; TEX; PO.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4A67FB98-78A1-4231-8DB7-D62B50F9C69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Símbolos de área y presión: convención del curso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BD7B6CD-70B5-4ECD-A0CB-29EBA2BC946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 debe reservarse para área y el cociente del oído medio necesita un símbolo no confundible con reflexión.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0F2D00EE-C990-4537-ACA3-C0AA0A8CB5C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108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C0E58A3F-887C-4EAB-8B8D-40FF353C2A7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la fuente se usan A, Aₜₘ, Aₑ y Rₚ.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el curso se adoptan S, Sₜₘ, Sₑ y Mₚ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Rₚ queda reservado para el coeficiente de reflexión de presión.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08F7171F-FE4D-433A-B2F4-5B1214D6DD21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S debe reservarse para área y el cociente del oído medio necesita un símbolo no…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DE72A8EB-65B1-406D-8F2F-D95797B991CB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6.5; PDF p. 156; NG; OD-U06-07/08.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B0CE8230-D1D5-4F92-96EE-E1AE3C3B967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G1: resonancia aproximada del 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ACDBE3B-7D85-4805-B0AD-1CA3CBE627DA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modelo de cuarto de onda exige declarar longitud efectiva, velocidad y condición de contorno.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D9EE3D6-FA75-4386-BCF2-7528ADB722A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109</a:t>
            </a:r>
          </a:p>
        </p:txBody>
      </p:sp>
      <p:sp>
        <p:nvSpPr>
          <p:cNvPr id="4" name="U06-DG-009B-stage_1-anchor">
            <a:extLst>
              <a:ext uri="{FF2B5EF4-FFF2-40B4-BE49-F238E27FC236}">
                <a16:creationId xmlns:a16="http://schemas.microsoft.com/office/drawing/2014/main" id="{FEFCFB00-9B27-4C48-A266-F51E050612C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B-stage_2-anchor">
            <a:extLst>
              <a:ext uri="{FF2B5EF4-FFF2-40B4-BE49-F238E27FC236}">
                <a16:creationId xmlns:a16="http://schemas.microsoft.com/office/drawing/2014/main" id="{48EDE46A-5241-484C-BA9E-01F4A9417BD4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B-stage_3-anchor">
            <a:extLst>
              <a:ext uri="{FF2B5EF4-FFF2-40B4-BE49-F238E27FC236}">
                <a16:creationId xmlns:a16="http://schemas.microsoft.com/office/drawing/2014/main" id="{B9D469A6-9509-46AB-AB3F-4DE8ED71393F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9B-stage_4-anchor">
            <a:extLst>
              <a:ext uri="{FF2B5EF4-FFF2-40B4-BE49-F238E27FC236}">
                <a16:creationId xmlns:a16="http://schemas.microsoft.com/office/drawing/2014/main" id="{BB33B5B5-08DC-4A1D-9813-B6CA683D8AF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9B-flow_1"/>
          <p:cNvCxnSpPr>
            <a:stCxn id="4" idx="3"/>
            <a:endCxn id="5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9B-flow_2"/>
          <p:cNvCxnSpPr>
            <a:stCxn id="5" idx="3"/>
            <a:endCxn id="6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9B-flow_3"/>
          <p:cNvCxnSpPr>
            <a:stCxn id="6" idx="3"/>
            <a:endCxn id="7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09B-stage_1-box" descr="Diagrama sobre «G1: resonancia aproximada del CAE»; organiza datos, ecuación, sustitución, unidades, resultado e interpretación limitada." title="Texto alternativo U06-109">
            <a:extLst>
              <a:ext uri="{FF2B5EF4-FFF2-40B4-BE49-F238E27FC236}">
                <a16:creationId xmlns:a16="http://schemas.microsoft.com/office/drawing/2014/main" id="{01190810-3F68-4469-B109-5BBC03324ECF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09B-stage_1-title">
            <a:extLst>
              <a:ext uri="{FF2B5EF4-FFF2-40B4-BE49-F238E27FC236}">
                <a16:creationId xmlns:a16="http://schemas.microsoft.com/office/drawing/2014/main" id="{F2F39804-531B-4797-B781-C8F9933341A0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· Longitud</a:t>
            </a:r>
          </a:p>
        </p:txBody>
      </p:sp>
      <p:sp>
        <p:nvSpPr>
          <p:cNvPr id="13" name="U06-DG-009B-stage_1-body">
            <a:extLst>
              <a:ext uri="{FF2B5EF4-FFF2-40B4-BE49-F238E27FC236}">
                <a16:creationId xmlns:a16="http://schemas.microsoft.com/office/drawing/2014/main" id="{03FC7EEB-319B-42A8-91A2-49DD33E576D9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 = 27 mm</a:t>
            </a:r>
          </a:p>
        </p:txBody>
      </p:sp>
      <p:sp>
        <p:nvSpPr>
          <p:cNvPr id="14" name="U06-DG-009B-stage_2-box">
            <a:extLst>
              <a:ext uri="{FF2B5EF4-FFF2-40B4-BE49-F238E27FC236}">
                <a16:creationId xmlns:a16="http://schemas.microsoft.com/office/drawing/2014/main" id="{9C8157DC-C6E5-4DA1-AB65-405F50F1F661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9B-stage_2-title">
            <a:extLst>
              <a:ext uri="{FF2B5EF4-FFF2-40B4-BE49-F238E27FC236}">
                <a16:creationId xmlns:a16="http://schemas.microsoft.com/office/drawing/2014/main" id="{BD142C24-FEAE-440D-BDE2-B10185988173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 · Convertir</a:t>
            </a:r>
          </a:p>
        </p:txBody>
      </p:sp>
      <p:sp>
        <p:nvSpPr>
          <p:cNvPr id="16" name="U06-DG-009B-stage_2-body">
            <a:extLst>
              <a:ext uri="{FF2B5EF4-FFF2-40B4-BE49-F238E27FC236}">
                <a16:creationId xmlns:a16="http://schemas.microsoft.com/office/drawing/2014/main" id="{4C8E18CB-FC83-4CDC-B723-284C7A5FC3A9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0,027 m</a:t>
            </a:r>
          </a:p>
        </p:txBody>
      </p:sp>
      <p:sp>
        <p:nvSpPr>
          <p:cNvPr id="17" name="U06-DG-009B-stage_3-box">
            <a:extLst>
              <a:ext uri="{FF2B5EF4-FFF2-40B4-BE49-F238E27FC236}">
                <a16:creationId xmlns:a16="http://schemas.microsoft.com/office/drawing/2014/main" id="{0347FB2B-847E-4685-82E8-67EF44F31C0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09B-stage_3-title">
            <a:extLst>
              <a:ext uri="{FF2B5EF4-FFF2-40B4-BE49-F238E27FC236}">
                <a16:creationId xmlns:a16="http://schemas.microsoft.com/office/drawing/2014/main" id="{791799B4-4CB2-4913-A049-7270748330D3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 · Sustituir</a:t>
            </a:r>
          </a:p>
        </p:txBody>
      </p:sp>
      <p:sp>
        <p:nvSpPr>
          <p:cNvPr id="19" name="U06-DG-009B-stage_3-body">
            <a:extLst>
              <a:ext uri="{FF2B5EF4-FFF2-40B4-BE49-F238E27FC236}">
                <a16:creationId xmlns:a16="http://schemas.microsoft.com/office/drawing/2014/main" id="{11C944CE-3045-4738-B71D-657AEB2CDD96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343/(4·0,027)</a:t>
            </a:r>
          </a:p>
        </p:txBody>
      </p:sp>
      <p:sp>
        <p:nvSpPr>
          <p:cNvPr id="20" name="U06-DG-009B-stage_4-box">
            <a:extLst>
              <a:ext uri="{FF2B5EF4-FFF2-40B4-BE49-F238E27FC236}">
                <a16:creationId xmlns:a16="http://schemas.microsoft.com/office/drawing/2014/main" id="{8D7333B1-96D6-4FBF-9006-DC19BE8ED23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09B-stage_4-title">
            <a:extLst>
              <a:ext uri="{FF2B5EF4-FFF2-40B4-BE49-F238E27FC236}">
                <a16:creationId xmlns:a16="http://schemas.microsoft.com/office/drawing/2014/main" id="{18CAC3B0-0202-4F5B-8FCC-B6044042A576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Resultado</a:t>
            </a:r>
          </a:p>
        </p:txBody>
      </p:sp>
      <p:sp>
        <p:nvSpPr>
          <p:cNvPr id="22" name="U06-DG-009B-stage_4-body">
            <a:extLst>
              <a:ext uri="{FF2B5EF4-FFF2-40B4-BE49-F238E27FC236}">
                <a16:creationId xmlns:a16="http://schemas.microsoft.com/office/drawing/2014/main" id="{C81FF43E-FB21-4E2D-B1D4-96B7A73ADEE8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≈ 3,18 kHz</a:t>
            </a:r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6C0D3BEB-0D79-47A3-9FF0-F22E51B4A974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modelo de cuarto de onda exige declarar longitud efectiva, velocidad y condic…</a:t>
            </a:r>
          </a:p>
        </p:txBody>
      </p:sp>
      <p:sp>
        <p:nvSpPr>
          <p:cNvPr id="24" name="credit">
            <a:extLst>
              <a:ext uri="{FF2B5EF4-FFF2-40B4-BE49-F238E27FC236}">
                <a16:creationId xmlns:a16="http://schemas.microsoft.com/office/drawing/2014/main" id="{C5AF68F4-A100-4401-9BAD-A61C7C4DAF41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67CB5AC9-B3BA-487D-8D2C-8379F7B488C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G2: presión a fuerza sobre el tímpano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C13528F-1334-4906-BDFE-B090D41572F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F≈Δp·S es una aproximación que conecta presión y fuerza sin describir el movimiento.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DF4FF0C-7DD5-4A3E-96A3-3D4C709D369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110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E99E57BB-8018-40E1-9967-6A226BC754F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CCF3CDC7-0AF9-4772-9FF0-0F356650C45B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95747616-8F7D-4C7E-9C66-B234DFC6A3DD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 Δp = 0,20 Pa, S = 50 mm² = 5,0×10⁻⁵ m². Resultado: F ≈ 1,0×10⁻⁵ N. Falta la respuesta mecánica para obtener desplazamiento.</a:t>
            </a:r>
          </a:p>
        </p:txBody>
      </p:sp>
      <p:sp>
        <p:nvSpPr>
          <p:cNvPr id="7" name="answer-guide-box">
            <a:extLst>
              <a:ext uri="{FF2B5EF4-FFF2-40B4-BE49-F238E27FC236}">
                <a16:creationId xmlns:a16="http://schemas.microsoft.com/office/drawing/2014/main" id="{50D19410-A495-431D-BC50-F3721A80950C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answer-guide-title">
            <a:extLst>
              <a:ext uri="{FF2B5EF4-FFF2-40B4-BE49-F238E27FC236}">
                <a16:creationId xmlns:a16="http://schemas.microsoft.com/office/drawing/2014/main" id="{5F96B15E-4B21-4D76-BBC8-55252190C82F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9" name="answer-guide-body">
            <a:extLst>
              <a:ext uri="{FF2B5EF4-FFF2-40B4-BE49-F238E27FC236}">
                <a16:creationId xmlns:a16="http://schemas.microsoft.com/office/drawing/2014/main" id="{DE9863E5-EF3B-4F2E-9D53-58A656E62F53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Conversión de 50 mm² a 5,0×10⁻⁵ m² antes de multiplicar.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6DC7ABC9-AE53-494C-A867-D4FC72B6EE96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F≈Δp·S es una aproximación que conecta presión y fuerza sin describir el movimie…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11A97512-A7E0-4A69-8752-ACEBA2869C47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6.4.5 y ejercicio G2; PDF pp. 154–155, 166, 169/172; NG.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8027CE8A-5C45-4DB2-8207-CFB4FEE918C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G3: modelo combinado del oído medio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10C101B-6E4A-4676-BEB1-479A387E095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resultado depende de las definiciones y de las pérdidas que el modelo ideal no representa.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60F7C25-5EA3-4CF9-ACDA-FF2BB368BCC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111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0B335968-7E14-496F-AE18-B4DF77842FF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62A61122-1B7B-4FB2-A0F8-30E128E38810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824AC18F-9CAF-4BDD-B932-2ECCE21185C4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razón de áreas, razón de palanca y razón ideal de presiones; convertir la razón a dB; cerrar con balance de energía, pérdidas y límites del modelo.</a:t>
            </a:r>
          </a:p>
        </p:txBody>
      </p:sp>
      <p:sp>
        <p:nvSpPr>
          <p:cNvPr id="7" name="answer-guide-box">
            <a:extLst>
              <a:ext uri="{FF2B5EF4-FFF2-40B4-BE49-F238E27FC236}">
                <a16:creationId xmlns:a16="http://schemas.microsoft.com/office/drawing/2014/main" id="{C4A8D27F-5E4C-4944-BF33-2C82511D725D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answer-guide-title">
            <a:extLst>
              <a:ext uri="{FF2B5EF4-FFF2-40B4-BE49-F238E27FC236}">
                <a16:creationId xmlns:a16="http://schemas.microsoft.com/office/drawing/2014/main" id="{5C85A261-36DD-4A9B-87F2-7EA96D09D5F6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9" name="answer-guide-body">
            <a:extLst>
              <a:ext uri="{FF2B5EF4-FFF2-40B4-BE49-F238E27FC236}">
                <a16:creationId xmlns:a16="http://schemas.microsoft.com/office/drawing/2014/main" id="{7B188482-FC1D-4514-91E1-95740D187938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 paramétrico con áreas y brazos efectivos declarados.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B0511564-6199-41B6-B238-0E5C75FBBAA3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El resultado depende de definiciones, pérdidas y símbolo aprobado.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75C803D6-8D11-4DAA-8E52-B9A0228B698D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6.5.2–6.5.3 y ejercicio G3; PDF pp. 155–158, 166, 169/172; NG; OD-U06-07/08.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903DD4B5-1B93-4EC6-97A1-B3C191A7441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Variantes numéricas y preguntas de transferencia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9D31366-4838-4DFB-A07C-8B4D0A7A343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Cambiar datos no basta: cada variante debe pedir interpretación y límites.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4FF096C-2C49-4A54-AEFD-EAF90966261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112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AFC3E991-EC0E-437A-AD1C-40BF89AC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G1: variar longitud del CAE y explicar el efecto.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G2: variar Δp con área fija y comprobar proporcionalidad.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G3: variar áreas/palanca y separar razón, dB y dB SPL.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A2D6B712-B7A8-4C78-8F26-D5E6FE265F0D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Cambiar datos no basta: cada variante debe pedir interpretación y límites.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7242D499-13B8-4390-9AD0-D93B220AEDA2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6.12; PDF pp. 165–174; BR.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1D7F274E-2334-4D4C-AB70-1088BFCF4F1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mecanismos propuestos para conducción ósea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A296E1A-F659-4A21-B13B-E9F7AA31EFB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contribución relativa depende de frecuencia, transductor y condiciones; no hay una única ruta.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675CE8F-57BB-4255-95AD-31139786285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113</a:t>
            </a:r>
          </a:p>
        </p:txBody>
      </p:sp>
      <p:sp>
        <p:nvSpPr>
          <p:cNvPr id="4" name="U06-DG-026B-cell_1-anchor">
            <a:extLst>
              <a:ext uri="{FF2B5EF4-FFF2-40B4-BE49-F238E27FC236}">
                <a16:creationId xmlns:a16="http://schemas.microsoft.com/office/drawing/2014/main" id="{A3FD9AC0-FE5C-4C48-B1B7-B445210AA94A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6B-cell_2-anchor">
            <a:extLst>
              <a:ext uri="{FF2B5EF4-FFF2-40B4-BE49-F238E27FC236}">
                <a16:creationId xmlns:a16="http://schemas.microsoft.com/office/drawing/2014/main" id="{5DF814E7-B7B3-4DB4-A872-FFFD9C46FBDA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6B-cell_3-anchor">
            <a:extLst>
              <a:ext uri="{FF2B5EF4-FFF2-40B4-BE49-F238E27FC236}">
                <a16:creationId xmlns:a16="http://schemas.microsoft.com/office/drawing/2014/main" id="{5EC850BD-6176-4A44-95D7-04D94A71F59D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6B-cell_4-anchor">
            <a:extLst>
              <a:ext uri="{FF2B5EF4-FFF2-40B4-BE49-F238E27FC236}">
                <a16:creationId xmlns:a16="http://schemas.microsoft.com/office/drawing/2014/main" id="{A9820E82-C688-4283-96BF-65474826E676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6B-cell_5-anchor">
            <a:extLst>
              <a:ext uri="{FF2B5EF4-FFF2-40B4-BE49-F238E27FC236}">
                <a16:creationId xmlns:a16="http://schemas.microsoft.com/office/drawing/2014/main" id="{719DC2FB-DFA6-434E-9771-6FCA5B31ED0E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6B-cell_6-anchor">
            <a:extLst>
              <a:ext uri="{FF2B5EF4-FFF2-40B4-BE49-F238E27FC236}">
                <a16:creationId xmlns:a16="http://schemas.microsoft.com/office/drawing/2014/main" id="{D480F2AC-EAE9-4A95-902D-F3B755377C10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26B-cell_1-box" descr="Diagrama sobre «Cinco mecanismos propuestos para conducción ósea»; organiza definición ampliada, condiciones y cautelas por mecanismo." title="Texto alternativo U06-113">
            <a:extLst>
              <a:ext uri="{FF2B5EF4-FFF2-40B4-BE49-F238E27FC236}">
                <a16:creationId xmlns:a16="http://schemas.microsoft.com/office/drawing/2014/main" id="{BA579452-DD52-4E62-929C-BD98A25FC21B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26B-cell_1-title">
            <a:extLst>
              <a:ext uri="{FF2B5EF4-FFF2-40B4-BE49-F238E27FC236}">
                <a16:creationId xmlns:a16="http://schemas.microsoft.com/office/drawing/2014/main" id="{075AF719-3D4F-4E7F-9554-4A2F27270B1F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Radiación al CAE</a:t>
            </a:r>
          </a:p>
        </p:txBody>
      </p:sp>
      <p:sp>
        <p:nvSpPr>
          <p:cNvPr id="12" name="U06-DG-026B-cell_1-body">
            <a:extLst>
              <a:ext uri="{FF2B5EF4-FFF2-40B4-BE49-F238E27FC236}">
                <a16:creationId xmlns:a16="http://schemas.microsoft.com/office/drawing/2014/main" id="{2A7C25FD-B338-4A4B-BC3B-9CDDCE569CE1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pared → aire</a:t>
            </a:r>
          </a:p>
        </p:txBody>
      </p:sp>
      <p:sp>
        <p:nvSpPr>
          <p:cNvPr id="13" name="U06-DG-026B-cell_2-box">
            <a:extLst>
              <a:ext uri="{FF2B5EF4-FFF2-40B4-BE49-F238E27FC236}">
                <a16:creationId xmlns:a16="http://schemas.microsoft.com/office/drawing/2014/main" id="{5BA3A35B-BC1D-4197-A1BE-48A60DFFBFBD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26B-cell_2-title">
            <a:extLst>
              <a:ext uri="{FF2B5EF4-FFF2-40B4-BE49-F238E27FC236}">
                <a16:creationId xmlns:a16="http://schemas.microsoft.com/office/drawing/2014/main" id="{0F1DF756-EF24-4737-B12E-B7EEE8712FB8}"/>
              </a:ext>
            </a:extLst>
          </p:cNvPr>
          <p:cNvSpPr>
            <a:spLocks noGrp="1"/>
          </p:cNvSpPr>
          <p:nvPr/>
        </p:nvSpPr>
        <p:spPr>
          <a:xfrm>
            <a:off x="4625975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 osicular</a:t>
            </a:r>
          </a:p>
        </p:txBody>
      </p:sp>
      <p:sp>
        <p:nvSpPr>
          <p:cNvPr id="15" name="U06-DG-026B-cell_2-body">
            <a:extLst>
              <a:ext uri="{FF2B5EF4-FFF2-40B4-BE49-F238E27FC236}">
                <a16:creationId xmlns:a16="http://schemas.microsoft.com/office/drawing/2014/main" id="{50D11913-7BCC-4C5B-ADB5-7C40A23418F5}"/>
              </a:ext>
            </a:extLst>
          </p:cNvPr>
          <p:cNvSpPr>
            <a:spLocks noGrp="1"/>
          </p:cNvSpPr>
          <p:nvPr/>
        </p:nvSpPr>
        <p:spPr>
          <a:xfrm>
            <a:off x="4625975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6" name="U06-DG-026B-cell_3-box">
            <a:extLst>
              <a:ext uri="{FF2B5EF4-FFF2-40B4-BE49-F238E27FC236}">
                <a16:creationId xmlns:a16="http://schemas.microsoft.com/office/drawing/2014/main" id="{C84DAD38-62D9-4416-B9BC-C8B4246B4255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7" name="U06-DG-026B-cell_3-title">
            <a:extLst>
              <a:ext uri="{FF2B5EF4-FFF2-40B4-BE49-F238E27FC236}">
                <a16:creationId xmlns:a16="http://schemas.microsoft.com/office/drawing/2014/main" id="{5DB1FDB1-901F-471B-83A1-F0A2DD4B50DA}"/>
              </a:ext>
            </a:extLst>
          </p:cNvPr>
          <p:cNvSpPr>
            <a:spLocks noGrp="1"/>
          </p:cNvSpPr>
          <p:nvPr/>
        </p:nvSpPr>
        <p:spPr>
          <a:xfrm>
            <a:off x="8280400" y="17145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 de fluidos</a:t>
            </a:r>
          </a:p>
        </p:txBody>
      </p:sp>
      <p:sp>
        <p:nvSpPr>
          <p:cNvPr id="18" name="U06-DG-026B-cell_3-body">
            <a:extLst>
              <a:ext uri="{FF2B5EF4-FFF2-40B4-BE49-F238E27FC236}">
                <a16:creationId xmlns:a16="http://schemas.microsoft.com/office/drawing/2014/main" id="{84125281-AC10-404D-8C98-66C2F9D0A387}"/>
              </a:ext>
            </a:extLst>
          </p:cNvPr>
          <p:cNvSpPr>
            <a:spLocks noGrp="1"/>
          </p:cNvSpPr>
          <p:nvPr/>
        </p:nvSpPr>
        <p:spPr>
          <a:xfrm>
            <a:off x="8280400" y="24860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9" name="U06-DG-026B-cell_4-box">
            <a:extLst>
              <a:ext uri="{FF2B5EF4-FFF2-40B4-BE49-F238E27FC236}">
                <a16:creationId xmlns:a16="http://schemas.microsoft.com/office/drawing/2014/main" id="{E911C4A7-B0B4-4B38-BCE9-26ABD3B404F3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0" name="U06-DG-026B-cell_4-title">
            <a:extLst>
              <a:ext uri="{FF2B5EF4-FFF2-40B4-BE49-F238E27FC236}">
                <a16:creationId xmlns:a16="http://schemas.microsoft.com/office/drawing/2014/main" id="{BAFD85EE-DF06-498E-9120-3AEC7E8ECF01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Deformación coclear</a:t>
            </a:r>
          </a:p>
        </p:txBody>
      </p:sp>
      <p:sp>
        <p:nvSpPr>
          <p:cNvPr id="21" name="U06-DG-026B-cell_4-body">
            <a:extLst>
              <a:ext uri="{FF2B5EF4-FFF2-40B4-BE49-F238E27FC236}">
                <a16:creationId xmlns:a16="http://schemas.microsoft.com/office/drawing/2014/main" id="{5B21A1B2-BE20-40D4-9B8B-2F7D2E756A76}"/>
              </a:ext>
            </a:extLst>
          </p:cNvPr>
          <p:cNvSpPr>
            <a:spLocks noGrp="1"/>
          </p:cNvSpPr>
          <p:nvPr/>
        </p:nvSpPr>
        <p:spPr>
          <a:xfrm>
            <a:off x="971550" y="45815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 de presión</a:t>
            </a:r>
          </a:p>
        </p:txBody>
      </p:sp>
      <p:sp>
        <p:nvSpPr>
          <p:cNvPr id="22" name="U06-DG-026B-cell_5-box">
            <a:extLst>
              <a:ext uri="{FF2B5EF4-FFF2-40B4-BE49-F238E27FC236}">
                <a16:creationId xmlns:a16="http://schemas.microsoft.com/office/drawing/2014/main" id="{133BF459-709B-42C4-B39F-46A532E8A23A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3" name="U06-DG-026B-cell_5-title">
            <a:extLst>
              <a:ext uri="{FF2B5EF4-FFF2-40B4-BE49-F238E27FC236}">
                <a16:creationId xmlns:a16="http://schemas.microsoft.com/office/drawing/2014/main" id="{A27BFD74-2C83-4B0A-8C07-433EB10FDE57}"/>
              </a:ext>
            </a:extLst>
          </p:cNvPr>
          <p:cNvSpPr>
            <a:spLocks noGrp="1"/>
          </p:cNvSpPr>
          <p:nvPr/>
        </p:nvSpPr>
        <p:spPr>
          <a:xfrm>
            <a:off x="4625975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 blandos</a:t>
            </a:r>
          </a:p>
        </p:txBody>
      </p:sp>
      <p:sp>
        <p:nvSpPr>
          <p:cNvPr id="24" name="U06-DG-026B-cell_5-body">
            <a:extLst>
              <a:ext uri="{FF2B5EF4-FFF2-40B4-BE49-F238E27FC236}">
                <a16:creationId xmlns:a16="http://schemas.microsoft.com/office/drawing/2014/main" id="{0F032E8D-61DE-4C01-8CEC-017F3570AFC3}"/>
              </a:ext>
            </a:extLst>
          </p:cNvPr>
          <p:cNvSpPr>
            <a:spLocks noGrp="1"/>
          </p:cNvSpPr>
          <p:nvPr/>
        </p:nvSpPr>
        <p:spPr>
          <a:xfrm>
            <a:off x="4625975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5" name="U06-DG-026B-cell_6-box">
            <a:extLst>
              <a:ext uri="{FF2B5EF4-FFF2-40B4-BE49-F238E27FC236}">
                <a16:creationId xmlns:a16="http://schemas.microsoft.com/office/drawing/2014/main" id="{B7041442-E36A-41B5-9FD2-A5351B937178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26B-cell_6-title">
            <a:extLst>
              <a:ext uri="{FF2B5EF4-FFF2-40B4-BE49-F238E27FC236}">
                <a16:creationId xmlns:a16="http://schemas.microsoft.com/office/drawing/2014/main" id="{5CD0D9A5-E741-496F-8941-062CB3287038}"/>
              </a:ext>
            </a:extLst>
          </p:cNvPr>
          <p:cNvSpPr>
            <a:spLocks noGrp="1"/>
          </p:cNvSpPr>
          <p:nvPr/>
        </p:nvSpPr>
        <p:spPr>
          <a:xfrm>
            <a:off x="828040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 coclear</a:t>
            </a:r>
          </a:p>
        </p:txBody>
      </p:sp>
      <p:sp>
        <p:nvSpPr>
          <p:cNvPr id="27" name="U06-DG-026B-cell_6-body">
            <a:extLst>
              <a:ext uri="{FF2B5EF4-FFF2-40B4-BE49-F238E27FC236}">
                <a16:creationId xmlns:a16="http://schemas.microsoft.com/office/drawing/2014/main" id="{BA39B8A3-6E85-4DBD-A12A-B2E508C9B7BA}"/>
              </a:ext>
            </a:extLst>
          </p:cNvPr>
          <p:cNvSpPr>
            <a:spLocks noGrp="1"/>
          </p:cNvSpPr>
          <p:nvPr/>
        </p:nvSpPr>
        <p:spPr>
          <a:xfrm>
            <a:off x="828040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condicionada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FECE7458-81EE-4C41-AD08-67A16C219DC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contribución relativa depende de frecuencia, transductor y condiciones; no ha…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BECEE29E-323F-4244-8193-B76FEA0D877E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Producción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728E5BAD-93EF-4EB2-9F60-35B8D1EF4F5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Detalle electroquímico de la transducción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0C8875D-5E35-4395-BA5C-5CD7C6BDB78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dirección de corrientes depende de gradientes electroquímicos y compartimentos, no solo de “carga positiva”.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F635CB1-4636-48E2-A4B3-CF64C9ED096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114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1507457D-23A7-4D8C-AE40-DC077B3F8CA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K⁺: entrada apical y despolarización.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Ca²⁺: acoplamiento basal con liberación.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Repolarización: cierre del ciclo celular.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Glutamato: comunicación con la fibra.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E602A21B-A531-47C9-8970-3411C5EE3A7B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Conceptual; no a escala. La dirección de corrientes depende de gradientes electroquímicos y compartimento…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B69D7318-A7EA-4571-B0E7-F25F155B06F0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TEX 6.8.3; PDF p. 163; REF fettiplace2017, capraraPeng2022.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32FE5647-36ED-41F9-81FC-435FA4A8FBD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Reflejo acústico: latencia, umbral y límites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AA39BA4-2FF8-4263-B827-6E311B6DFC7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Latencia y umbral varían con estímulo y método; no deben presentarse como constantes universales.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59C5131-14B1-49BE-A297-8F66897D9A8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115</a:t>
            </a:r>
          </a:p>
        </p:txBody>
      </p:sp>
      <p:sp>
        <p:nvSpPr>
          <p:cNvPr id="4" name="reflex-threshold-box">
            <a:extLst>
              <a:ext uri="{FF2B5EF4-FFF2-40B4-BE49-F238E27FC236}">
                <a16:creationId xmlns:a16="http://schemas.microsoft.com/office/drawing/2014/main" id="{E9AF3BCC-BA5A-4DEC-9854-0BCC6332194E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reflex-threshold-title">
            <a:extLst>
              <a:ext uri="{FF2B5EF4-FFF2-40B4-BE49-F238E27FC236}">
                <a16:creationId xmlns:a16="http://schemas.microsoft.com/office/drawing/2014/main" id="{189BF9EA-4EF4-40FD-B4A0-496EAC07B533}"/>
              </a:ext>
            </a:extLst>
          </p:cNvPr>
          <p:cNvSpPr>
            <a:spLocks noGrp="1"/>
          </p:cNvSpPr>
          <p:nvPr/>
        </p:nvSpPr>
        <p:spPr>
          <a:xfrm>
            <a:off x="885825" y="16573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Umbral</a:t>
            </a:r>
          </a:p>
        </p:txBody>
      </p:sp>
      <p:sp>
        <p:nvSpPr>
          <p:cNvPr id="6" name="reflex-threshold-body">
            <a:extLst>
              <a:ext uri="{FF2B5EF4-FFF2-40B4-BE49-F238E27FC236}">
                <a16:creationId xmlns:a16="http://schemas.microsoft.com/office/drawing/2014/main" id="{518E1CF3-4870-49D5-8730-08B53C495D89}"/>
              </a:ext>
            </a:extLst>
          </p:cNvPr>
          <p:cNvSpPr>
            <a:spLocks noGrp="1"/>
          </p:cNvSpPr>
          <p:nvPr/>
        </p:nvSpPr>
        <p:spPr>
          <a:xfrm>
            <a:off x="885825" y="20574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Depende del estímulo, el método y la persona; no es una constante universal.</a:t>
            </a:r>
          </a:p>
        </p:txBody>
      </p:sp>
      <p:sp>
        <p:nvSpPr>
          <p:cNvPr id="7" name="reflex-latency-box">
            <a:extLst>
              <a:ext uri="{FF2B5EF4-FFF2-40B4-BE49-F238E27FC236}">
                <a16:creationId xmlns:a16="http://schemas.microsoft.com/office/drawing/2014/main" id="{77035A11-B916-42F6-8B4B-21FB3D00DF1F}"/>
              </a:ext>
            </a:extLst>
          </p:cNvPr>
          <p:cNvSpPr>
            <a:spLocks noGrp="1"/>
          </p:cNvSpPr>
          <p:nvPr/>
        </p:nvSpPr>
        <p:spPr>
          <a:xfrm>
            <a:off x="6429375" y="15240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8" name="reflex-latency-title">
            <a:extLst>
              <a:ext uri="{FF2B5EF4-FFF2-40B4-BE49-F238E27FC236}">
                <a16:creationId xmlns:a16="http://schemas.microsoft.com/office/drawing/2014/main" id="{BFF0ECBE-0EC2-4324-97B8-E361E7C5CD3A}"/>
              </a:ext>
            </a:extLst>
          </p:cNvPr>
          <p:cNvSpPr>
            <a:spLocks noGrp="1"/>
          </p:cNvSpPr>
          <p:nvPr/>
        </p:nvSpPr>
        <p:spPr>
          <a:xfrm>
            <a:off x="6600825" y="16573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Latencia</a:t>
            </a:r>
          </a:p>
        </p:txBody>
      </p:sp>
      <p:sp>
        <p:nvSpPr>
          <p:cNvPr id="9" name="reflex-latency-body">
            <a:extLst>
              <a:ext uri="{FF2B5EF4-FFF2-40B4-BE49-F238E27FC236}">
                <a16:creationId xmlns:a16="http://schemas.microsoft.com/office/drawing/2014/main" id="{A1684C5A-C0BD-46F1-BAA9-B97531B80EC7}"/>
              </a:ext>
            </a:extLst>
          </p:cNvPr>
          <p:cNvSpPr>
            <a:spLocks noGrp="1"/>
          </p:cNvSpPr>
          <p:nvPr/>
        </p:nvSpPr>
        <p:spPr>
          <a:xfrm>
            <a:off x="6600825" y="20574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Disminuye al aumentar el nivel por encima del umbral, pero la respuesta muscular no es instantánea.</a:t>
            </a:r>
          </a:p>
        </p:txBody>
      </p:sp>
      <p:sp>
        <p:nvSpPr>
          <p:cNvPr id="10" name="reflex-impulse-box">
            <a:extLst>
              <a:ext uri="{FF2B5EF4-FFF2-40B4-BE49-F238E27FC236}">
                <a16:creationId xmlns:a16="http://schemas.microsoft.com/office/drawing/2014/main" id="{19E30EA7-7035-4FC1-8DB1-6847285EC058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1" name="reflex-impulse-title">
            <a:extLst>
              <a:ext uri="{FF2B5EF4-FFF2-40B4-BE49-F238E27FC236}">
                <a16:creationId xmlns:a16="http://schemas.microsoft.com/office/drawing/2014/main" id="{D39AFC7E-F212-4CAF-9276-A5A007BB28EA}"/>
              </a:ext>
            </a:extLst>
          </p:cNvPr>
          <p:cNvSpPr>
            <a:spLocks noGrp="1"/>
          </p:cNvSpPr>
          <p:nvPr/>
        </p:nvSpPr>
        <p:spPr>
          <a:xfrm>
            <a:off x="885825" y="37528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Impulsos breves</a:t>
            </a:r>
          </a:p>
        </p:txBody>
      </p:sp>
      <p:sp>
        <p:nvSpPr>
          <p:cNvPr id="12" name="reflex-impulse-body">
            <a:extLst>
              <a:ext uri="{FF2B5EF4-FFF2-40B4-BE49-F238E27FC236}">
                <a16:creationId xmlns:a16="http://schemas.microsoft.com/office/drawing/2014/main" id="{B69A358B-EF52-469D-AFB1-9B8B1C5DFA8C}"/>
              </a:ext>
            </a:extLst>
          </p:cNvPr>
          <p:cNvSpPr>
            <a:spLocks noGrp="1"/>
          </p:cNvSpPr>
          <p:nvPr/>
        </p:nvSpPr>
        <p:spPr>
          <a:xfrm>
            <a:off x="885825" y="41529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comienzo del impulso puede preceder a la contracción: no hay protección inicial garantizada.</a:t>
            </a:r>
          </a:p>
        </p:txBody>
      </p:sp>
      <p:sp>
        <p:nvSpPr>
          <p:cNvPr id="13" name="reflex-interpretation-box">
            <a:extLst>
              <a:ext uri="{FF2B5EF4-FFF2-40B4-BE49-F238E27FC236}">
                <a16:creationId xmlns:a16="http://schemas.microsoft.com/office/drawing/2014/main" id="{92A7FAB9-CC6F-474C-9563-10BB1134DFA4}"/>
              </a:ext>
            </a:extLst>
          </p:cNvPr>
          <p:cNvSpPr>
            <a:spLocks noGrp="1"/>
          </p:cNvSpPr>
          <p:nvPr/>
        </p:nvSpPr>
        <p:spPr>
          <a:xfrm>
            <a:off x="6429375" y="36195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reflex-interpretation-title">
            <a:extLst>
              <a:ext uri="{FF2B5EF4-FFF2-40B4-BE49-F238E27FC236}">
                <a16:creationId xmlns:a16="http://schemas.microsoft.com/office/drawing/2014/main" id="{6200B784-09CF-421A-9CAA-F9BD60996AAD}"/>
              </a:ext>
            </a:extLst>
          </p:cNvPr>
          <p:cNvSpPr>
            <a:spLocks noGrp="1"/>
          </p:cNvSpPr>
          <p:nvPr/>
        </p:nvSpPr>
        <p:spPr>
          <a:xfrm>
            <a:off x="6600825" y="37528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5" name="reflex-interpretation-body">
            <a:extLst>
              <a:ext uri="{FF2B5EF4-FFF2-40B4-BE49-F238E27FC236}">
                <a16:creationId xmlns:a16="http://schemas.microsoft.com/office/drawing/2014/main" id="{BF802D45-B37D-462C-98F5-D62B8C1A07D8}"/>
              </a:ext>
            </a:extLst>
          </p:cNvPr>
          <p:cNvSpPr>
            <a:spLocks noGrp="1"/>
          </p:cNvSpPr>
          <p:nvPr/>
        </p:nvSpPr>
        <p:spPr>
          <a:xfrm>
            <a:off x="6600825" y="41529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medición del reflejo informa sobre varias partes del sistema; no identifica por sí sola una etiología.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ED97C2C0-6209-4FDF-B197-D3FBBB02B01C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Síntesis cualitativa; los valores numéricos requieren especificar estímulo, frecuencia, duración, método…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A9674844-CED8-448C-815C-0E8201C7CF1A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 6.5.4; PDF pp. 157–158.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EA2888DE-5FBF-4430-9F6D-6EA6DE86C2F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Túnel de Corti: criterios de rotulado anatómico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6EC1805-030E-476E-9F52-EBDE7769E99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visual debe mostrar límites anatómicos y relación con pilares sin distorsión.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F13969F-F480-417B-9C29-A4F8B4AC31C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116</a:t>
            </a:r>
          </a:p>
        </p:txBody>
      </p:sp>
      <p:sp>
        <p:nvSpPr>
          <p:cNvPr id="4" name="tunnel-check-1-box">
            <a:extLst>
              <a:ext uri="{FF2B5EF4-FFF2-40B4-BE49-F238E27FC236}">
                <a16:creationId xmlns:a16="http://schemas.microsoft.com/office/drawing/2014/main" id="{B4E33919-73A2-4645-9D52-AD8C89BA7E8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tunnel-check-1-title">
            <a:extLst>
              <a:ext uri="{FF2B5EF4-FFF2-40B4-BE49-F238E27FC236}">
                <a16:creationId xmlns:a16="http://schemas.microsoft.com/office/drawing/2014/main" id="{03999575-984D-45DC-A463-69684B33B1E7}"/>
              </a:ext>
            </a:extLst>
          </p:cNvPr>
          <p:cNvSpPr>
            <a:spLocks noGrp="1"/>
          </p:cNvSpPr>
          <p:nvPr/>
        </p:nvSpPr>
        <p:spPr>
          <a:xfrm>
            <a:off x="838200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Ubicación</a:t>
            </a:r>
          </a:p>
        </p:txBody>
      </p:sp>
      <p:sp>
        <p:nvSpPr>
          <p:cNvPr id="6" name="tunnel-check-1-body">
            <a:extLst>
              <a:ext uri="{FF2B5EF4-FFF2-40B4-BE49-F238E27FC236}">
                <a16:creationId xmlns:a16="http://schemas.microsoft.com/office/drawing/2014/main" id="{B367FB0A-0077-4513-BCBE-2B13CB4AC8B4}"/>
              </a:ext>
            </a:extLst>
          </p:cNvPr>
          <p:cNvSpPr>
            <a:spLocks noGrp="1"/>
          </p:cNvSpPr>
          <p:nvPr/>
        </p:nvSpPr>
        <p:spPr>
          <a:xfrm>
            <a:off x="838200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Corti, sobre la membrana basilar.</a:t>
            </a:r>
          </a:p>
        </p:txBody>
      </p:sp>
      <p:sp>
        <p:nvSpPr>
          <p:cNvPr id="7" name="tunnel-check-2-box">
            <a:extLst>
              <a:ext uri="{FF2B5EF4-FFF2-40B4-BE49-F238E27FC236}">
                <a16:creationId xmlns:a16="http://schemas.microsoft.com/office/drawing/2014/main" id="{72311075-7221-4319-BCF5-1E78FD81D4F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8" name="tunnel-check-2-title">
            <a:extLst>
              <a:ext uri="{FF2B5EF4-FFF2-40B4-BE49-F238E27FC236}">
                <a16:creationId xmlns:a16="http://schemas.microsoft.com/office/drawing/2014/main" id="{EFD2AB3F-C7A4-4736-9ECE-13E8D5FBF9B3}"/>
              </a:ext>
            </a:extLst>
          </p:cNvPr>
          <p:cNvSpPr>
            <a:spLocks noGrp="1"/>
          </p:cNvSpPr>
          <p:nvPr/>
        </p:nvSpPr>
        <p:spPr>
          <a:xfrm>
            <a:off x="4600575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Límites</a:t>
            </a:r>
          </a:p>
        </p:txBody>
      </p:sp>
      <p:sp>
        <p:nvSpPr>
          <p:cNvPr id="9" name="tunnel-check-2-body">
            <a:extLst>
              <a:ext uri="{FF2B5EF4-FFF2-40B4-BE49-F238E27FC236}">
                <a16:creationId xmlns:a16="http://schemas.microsoft.com/office/drawing/2014/main" id="{ECD13B03-6C5C-431D-8791-998F7140D54B}"/>
              </a:ext>
            </a:extLst>
          </p:cNvPr>
          <p:cNvSpPr>
            <a:spLocks noGrp="1"/>
          </p:cNvSpPr>
          <p:nvPr/>
        </p:nvSpPr>
        <p:spPr>
          <a:xfrm>
            <a:off x="4600575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Pilar interno, pilar externo y zona arcuata de la membrana basilar.</a:t>
            </a:r>
          </a:p>
        </p:txBody>
      </p:sp>
      <p:sp>
        <p:nvSpPr>
          <p:cNvPr id="10" name="tunnel-check-3-box">
            <a:extLst>
              <a:ext uri="{FF2B5EF4-FFF2-40B4-BE49-F238E27FC236}">
                <a16:creationId xmlns:a16="http://schemas.microsoft.com/office/drawing/2014/main" id="{C530F6BB-EB6C-40DA-90EF-8A1765361E03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1" name="tunnel-check-3-title">
            <a:extLst>
              <a:ext uri="{FF2B5EF4-FFF2-40B4-BE49-F238E27FC236}">
                <a16:creationId xmlns:a16="http://schemas.microsoft.com/office/drawing/2014/main" id="{19527181-74F1-4FD3-BE9C-B8007FE74E7E}"/>
              </a:ext>
            </a:extLst>
          </p:cNvPr>
          <p:cNvSpPr>
            <a:spLocks noGrp="1"/>
          </p:cNvSpPr>
          <p:nvPr/>
        </p:nvSpPr>
        <p:spPr>
          <a:xfrm>
            <a:off x="8362950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 · Lectura</a:t>
            </a:r>
          </a:p>
        </p:txBody>
      </p:sp>
      <p:sp>
        <p:nvSpPr>
          <p:cNvPr id="12" name="tunnel-check-3-body">
            <a:extLst>
              <a:ext uri="{FF2B5EF4-FFF2-40B4-BE49-F238E27FC236}">
                <a16:creationId xmlns:a16="http://schemas.microsoft.com/office/drawing/2014/main" id="{D65B6D24-8578-490E-889E-1FA6E360AB74}"/>
              </a:ext>
            </a:extLst>
          </p:cNvPr>
          <p:cNvSpPr>
            <a:spLocks noGrp="1"/>
          </p:cNvSpPr>
          <p:nvPr/>
        </p:nvSpPr>
        <p:spPr>
          <a:xfrm>
            <a:off x="8362950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Espacio triangular; esquema conceptual, no escala anatómica.</a:t>
            </a:r>
          </a:p>
        </p:txBody>
      </p:sp>
      <p:sp>
        <p:nvSpPr>
          <p:cNvPr id="13" name="tunnel-check-warning">
            <a:extLst>
              <a:ext uri="{FF2B5EF4-FFF2-40B4-BE49-F238E27FC236}">
                <a16:creationId xmlns:a16="http://schemas.microsoft.com/office/drawing/2014/main" id="{BE328791-C10D-4AF8-BF4E-90600433B7C4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Rotular sin confundir el túnel con una célula, una membrana o el espacio de Nuel.</a:t>
            </a:r>
          </a:p>
        </p:txBody>
      </p:sp>
      <p:sp>
        <p:nvSpPr>
          <p:cNvPr id="14" name="caption">
            <a:extLst>
              <a:ext uri="{FF2B5EF4-FFF2-40B4-BE49-F238E27FC236}">
                <a16:creationId xmlns:a16="http://schemas.microsoft.com/office/drawing/2014/main" id="{06310027-72E3-43E1-B6B0-407BB554578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Criterios para leer o construir un esquema anatómico sin deformar límites ni relaciones.</a:t>
            </a:r>
          </a:p>
        </p:txBody>
      </p:sp>
      <p:sp>
        <p:nvSpPr>
          <p:cNvPr id="15" name="credit">
            <a:extLst>
              <a:ext uri="{FF2B5EF4-FFF2-40B4-BE49-F238E27FC236}">
                <a16:creationId xmlns:a16="http://schemas.microsoft.com/office/drawing/2014/main" id="{0AA4BD04-1923-415B-B099-386E603C8DAF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PMC1852340; PMC4310856; consulta 2026-08-10.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790AAF67-6A9C-41FF-B60F-73EC4C9E87C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Fuentes, glosario y decisiones de alcance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BADD809-43C0-4E8E-B3B6-21DCE546EDE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ampliación, visual y decisión debe poder rastrearse.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65C9221-C6D0-41A2-8B8E-C9C99763F6A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117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01ADCC4B-D87C-4FF0-815A-E933B56A269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capítulo LaTeX/PDF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bibliografía del capítulo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glosario y notación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manifiesto de assets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decisiones de alcance documentadas.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88ADF338-E2F0-4DBD-BBFA-85EEBB0C77C9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ampliación, visual y decisión debe poder rastrearse.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02D3949E-58F2-4F6C-AA7A-230EA728B568}"/>
              </a:ext>
            </a:extLst>
          </p:cNvPr>
          <p:cNvSpPr>
            <a:spLocks noGrp="1"/>
          </p:cNvSpPr>
          <p:nvPr/>
        </p:nvSpPr>
        <p:spPr>
          <a:xfrm>
            <a:off x="8667750" y="6019800"/>
            <a:ext cx="3000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77F87"/>
                </a:solidFill>
                <a:latin typeface="Calibri"/>
                <a:ea typeface="Calibri"/>
                <a:cs typeface="Calibri"/>
              </a:rPr>
              <a:t>Fuente: PO; TEX; PDF; CM; CDM; GLO; NG; OD; SA; inventarios iniciales.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26405</Words>
  <Application>Microsoft Office PowerPoint</Application>
  <DocSecurity>0</DocSecurity>
  <PresentationFormat>Panorámica</PresentationFormat>
  <Paragraphs>2502</Paragraphs>
  <Slides>117</Slides>
  <Notes>117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117</vt:i4>
      </vt:variant>
    </vt:vector>
  </HeadingPairs>
  <TitlesOfParts>
    <vt:vector size="124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2026-08-10T20:48:27Z</dcterms:created>
  <dcterms:modified xsi:type="dcterms:W3CDTF">2026-08-10T20:48:53Z</dcterms:modified>
</cp:coreProperties>
</file>