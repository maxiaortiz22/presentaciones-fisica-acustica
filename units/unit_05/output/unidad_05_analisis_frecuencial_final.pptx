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8aaeee9a0d4a47" /><Relationship Type="http://schemas.openxmlformats.org/officeDocument/2006/relationships/extended-properties" Target="/docProps/app.xml" Id="R224e264f62cf4f88" /><Relationship Type="http://schemas.openxmlformats.org/officeDocument/2006/relationships/officeDocument" Target="/ppt/presentation.xml" Id="R93ade60057a647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83815e281b4c89"/>
    <p:sldMasterId xmlns:r="http://schemas.openxmlformats.org/officeDocument/2006/relationships" id="2147483673" r:id="Ref8f877ae8d04adc"/>
  </p:sldMasterIdLst>
  <p:notesMasterIdLst>
    <p:notesMasterId xmlns:r="http://schemas.openxmlformats.org/officeDocument/2006/relationships" r:id="R748838e766aa4409"/>
  </p:notesMasterIdLst>
  <p:sldIdLst>
    <p:sldId xmlns:r="http://schemas.openxmlformats.org/officeDocument/2006/relationships" id="256" r:id="Rb2cfd7c6e1e54c4d"/>
    <p:sldId xmlns:r="http://schemas.openxmlformats.org/officeDocument/2006/relationships" id="257" r:id="Rb35de68b4f1b4770"/>
    <p:sldId xmlns:r="http://schemas.openxmlformats.org/officeDocument/2006/relationships" id="258" r:id="Rca1765053f424e3e"/>
    <p:sldId xmlns:r="http://schemas.openxmlformats.org/officeDocument/2006/relationships" id="259" r:id="R1c63ce6997e14bc8"/>
    <p:sldId xmlns:r="http://schemas.openxmlformats.org/officeDocument/2006/relationships" id="260" r:id="Rd1c9d42f70f54675"/>
    <p:sldId xmlns:r="http://schemas.openxmlformats.org/officeDocument/2006/relationships" id="261" r:id="R3881487fca7643b1"/>
    <p:sldId xmlns:r="http://schemas.openxmlformats.org/officeDocument/2006/relationships" id="262" r:id="Rc52a31a85a024e60"/>
    <p:sldId xmlns:r="http://schemas.openxmlformats.org/officeDocument/2006/relationships" id="263" r:id="R873c0101e424454f"/>
    <p:sldId xmlns:r="http://schemas.openxmlformats.org/officeDocument/2006/relationships" id="264" r:id="R56ab0cbe80b54039"/>
    <p:sldId xmlns:r="http://schemas.openxmlformats.org/officeDocument/2006/relationships" id="265" r:id="Rf13989dfc9824659"/>
    <p:sldId xmlns:r="http://schemas.openxmlformats.org/officeDocument/2006/relationships" id="266" r:id="R9c23226617094f7d"/>
    <p:sldId xmlns:r="http://schemas.openxmlformats.org/officeDocument/2006/relationships" id="267" r:id="Ra4d85022c2cc4174"/>
    <p:sldId xmlns:r="http://schemas.openxmlformats.org/officeDocument/2006/relationships" id="268" r:id="Re5bca01f5c42417f"/>
    <p:sldId xmlns:r="http://schemas.openxmlformats.org/officeDocument/2006/relationships" id="269" r:id="R71cf4a90ca484bbb"/>
    <p:sldId xmlns:r="http://schemas.openxmlformats.org/officeDocument/2006/relationships" id="270" r:id="Rf65f5d803a5b4ae9"/>
    <p:sldId xmlns:r="http://schemas.openxmlformats.org/officeDocument/2006/relationships" id="271" r:id="R59ba3ebed67c457f"/>
    <p:sldId xmlns:r="http://schemas.openxmlformats.org/officeDocument/2006/relationships" id="272" r:id="R2003ea6a3d1d4911"/>
    <p:sldId xmlns:r="http://schemas.openxmlformats.org/officeDocument/2006/relationships" id="273" r:id="R31485dc620634157"/>
    <p:sldId xmlns:r="http://schemas.openxmlformats.org/officeDocument/2006/relationships" id="274" r:id="R3c3c8119bbd540c4"/>
    <p:sldId xmlns:r="http://schemas.openxmlformats.org/officeDocument/2006/relationships" id="275" r:id="R036ed665f1cf43be"/>
    <p:sldId xmlns:r="http://schemas.openxmlformats.org/officeDocument/2006/relationships" id="276" r:id="R89360baa474948e8"/>
    <p:sldId xmlns:r="http://schemas.openxmlformats.org/officeDocument/2006/relationships" id="277" r:id="R3dd0c710509549d7"/>
    <p:sldId xmlns:r="http://schemas.openxmlformats.org/officeDocument/2006/relationships" id="278" r:id="R8839160ed8e645af"/>
    <p:sldId xmlns:r="http://schemas.openxmlformats.org/officeDocument/2006/relationships" id="279" r:id="R2fe6005b412f4c04"/>
    <p:sldId xmlns:r="http://schemas.openxmlformats.org/officeDocument/2006/relationships" id="280" r:id="Re5bc9886bc514e7c"/>
    <p:sldId xmlns:r="http://schemas.openxmlformats.org/officeDocument/2006/relationships" id="281" r:id="R44d689787087412a"/>
    <p:sldId xmlns:r="http://schemas.openxmlformats.org/officeDocument/2006/relationships" id="282" r:id="R872b666d74a54b59"/>
    <p:sldId xmlns:r="http://schemas.openxmlformats.org/officeDocument/2006/relationships" id="283" r:id="Rb182077790914209"/>
    <p:sldId xmlns:r="http://schemas.openxmlformats.org/officeDocument/2006/relationships" id="284" r:id="Re52cde16f4c74e41"/>
    <p:sldId xmlns:r="http://schemas.openxmlformats.org/officeDocument/2006/relationships" id="285" r:id="R42d894b106a442bd"/>
    <p:sldId xmlns:r="http://schemas.openxmlformats.org/officeDocument/2006/relationships" id="286" r:id="R9bc3975613b747de"/>
    <p:sldId xmlns:r="http://schemas.openxmlformats.org/officeDocument/2006/relationships" id="287" r:id="Rd4dab5fa1a52442f"/>
    <p:sldId xmlns:r="http://schemas.openxmlformats.org/officeDocument/2006/relationships" id="288" r:id="Re2c611e42238453f"/>
    <p:sldId xmlns:r="http://schemas.openxmlformats.org/officeDocument/2006/relationships" id="289" r:id="Rac521abe03904e3c"/>
    <p:sldId xmlns:r="http://schemas.openxmlformats.org/officeDocument/2006/relationships" id="290" r:id="Raae8847c07374236"/>
    <p:sldId xmlns:r="http://schemas.openxmlformats.org/officeDocument/2006/relationships" id="291" r:id="Rf25f0a20604d4d23"/>
    <p:sldId xmlns:r="http://schemas.openxmlformats.org/officeDocument/2006/relationships" id="292" r:id="R5b88394be4934dba"/>
    <p:sldId xmlns:r="http://schemas.openxmlformats.org/officeDocument/2006/relationships" id="293" r:id="R872a12de38b146e1"/>
    <p:sldId xmlns:r="http://schemas.openxmlformats.org/officeDocument/2006/relationships" id="294" r:id="R6bfad9d4d587491b"/>
    <p:sldId xmlns:r="http://schemas.openxmlformats.org/officeDocument/2006/relationships" id="295" r:id="Re0b9b9c9bc224f68"/>
    <p:sldId xmlns:r="http://schemas.openxmlformats.org/officeDocument/2006/relationships" id="296" r:id="R3cd86bb9b8c5457a"/>
    <p:sldId xmlns:r="http://schemas.openxmlformats.org/officeDocument/2006/relationships" id="297" r:id="R991e32f83a9449ad"/>
    <p:sldId xmlns:r="http://schemas.openxmlformats.org/officeDocument/2006/relationships" id="298" r:id="R8457a5237d744cb9"/>
    <p:sldId xmlns:r="http://schemas.openxmlformats.org/officeDocument/2006/relationships" id="299" r:id="Raef5bd23c8964007"/>
    <p:sldId xmlns:r="http://schemas.openxmlformats.org/officeDocument/2006/relationships" id="300" r:id="R75a1f0d7cb5446d2"/>
    <p:sldId xmlns:r="http://schemas.openxmlformats.org/officeDocument/2006/relationships" id="301" r:id="Rc61a564cbf704a01"/>
    <p:sldId xmlns:r="http://schemas.openxmlformats.org/officeDocument/2006/relationships" id="302" r:id="R63f8517b346a4896"/>
    <p:sldId xmlns:r="http://schemas.openxmlformats.org/officeDocument/2006/relationships" id="303" r:id="R3c02db242f774791"/>
    <p:sldId xmlns:r="http://schemas.openxmlformats.org/officeDocument/2006/relationships" id="304" r:id="Rbefaa8e1efdc48c2"/>
    <p:sldId xmlns:r="http://schemas.openxmlformats.org/officeDocument/2006/relationships" id="305" r:id="R0a39515a1c3840d3"/>
    <p:sldId xmlns:r="http://schemas.openxmlformats.org/officeDocument/2006/relationships" id="306" r:id="R1f2bec8d64b64cf6"/>
    <p:sldId xmlns:r="http://schemas.openxmlformats.org/officeDocument/2006/relationships" id="307" r:id="R8dbdee20177b4bf7"/>
    <p:sldId xmlns:r="http://schemas.openxmlformats.org/officeDocument/2006/relationships" id="308" r:id="R437edc5adba749c8"/>
    <p:sldId xmlns:r="http://schemas.openxmlformats.org/officeDocument/2006/relationships" id="309" r:id="Rca1f287a155341e3"/>
    <p:sldId xmlns:r="http://schemas.openxmlformats.org/officeDocument/2006/relationships" id="310" r:id="R0c1637fbb90f42b5"/>
    <p:sldId xmlns:r="http://schemas.openxmlformats.org/officeDocument/2006/relationships" id="311" r:id="R4390b6ea51ca4262"/>
    <p:sldId xmlns:r="http://schemas.openxmlformats.org/officeDocument/2006/relationships" id="312" r:id="Rfe566be1c6954051"/>
    <p:sldId xmlns:r="http://schemas.openxmlformats.org/officeDocument/2006/relationships" id="313" r:id="R25375e52a5844ea8"/>
    <p:sldId xmlns:r="http://schemas.openxmlformats.org/officeDocument/2006/relationships" id="314" r:id="R7fe0d41b260c44d0"/>
    <p:sldId xmlns:r="http://schemas.openxmlformats.org/officeDocument/2006/relationships" id="315" r:id="Rd603aa3c764f4809"/>
    <p:sldId xmlns:r="http://schemas.openxmlformats.org/officeDocument/2006/relationships" id="316" r:id="R750c390ab5cc49a3"/>
    <p:sldId xmlns:r="http://schemas.openxmlformats.org/officeDocument/2006/relationships" id="317" r:id="R11461301087647da"/>
    <p:sldId xmlns:r="http://schemas.openxmlformats.org/officeDocument/2006/relationships" id="318" r:id="Re3a0e981d56b4156"/>
    <p:sldId xmlns:r="http://schemas.openxmlformats.org/officeDocument/2006/relationships" id="319" r:id="Rc119e3d73109431a"/>
    <p:sldId xmlns:r="http://schemas.openxmlformats.org/officeDocument/2006/relationships" id="320" r:id="R59ccd880890c413f"/>
    <p:sldId xmlns:r="http://schemas.openxmlformats.org/officeDocument/2006/relationships" id="321" r:id="Rf4863a812644410d"/>
    <p:sldId xmlns:r="http://schemas.openxmlformats.org/officeDocument/2006/relationships" id="322" r:id="R79ca015c3897456f"/>
    <p:sldId xmlns:r="http://schemas.openxmlformats.org/officeDocument/2006/relationships" id="323" r:id="Rb5b82141d24d43de"/>
    <p:sldId xmlns:r="http://schemas.openxmlformats.org/officeDocument/2006/relationships" id="324" r:id="R2a32d7d70e8c4156"/>
    <p:sldId xmlns:r="http://schemas.openxmlformats.org/officeDocument/2006/relationships" id="325" r:id="Rd0e1089c428c4e73"/>
    <p:sldId xmlns:r="http://schemas.openxmlformats.org/officeDocument/2006/relationships" id="326" r:id="R2b7fccd2348e4aa1"/>
    <p:sldId xmlns:r="http://schemas.openxmlformats.org/officeDocument/2006/relationships" id="327" r:id="Raaadf34d430a49d5"/>
    <p:sldId xmlns:r="http://schemas.openxmlformats.org/officeDocument/2006/relationships" id="328" r:id="R6e01ce6066c44b4d"/>
    <p:sldId xmlns:r="http://schemas.openxmlformats.org/officeDocument/2006/relationships" id="329" r:id="R17c1098f080d4d06"/>
    <p:sldId xmlns:r="http://schemas.openxmlformats.org/officeDocument/2006/relationships" id="330" r:id="Ra8d707662d3b4235"/>
    <p:sldId xmlns:r="http://schemas.openxmlformats.org/officeDocument/2006/relationships" id="331" r:id="Ra320c57281ed4c2e"/>
    <p:sldId xmlns:r="http://schemas.openxmlformats.org/officeDocument/2006/relationships" id="332" r:id="Rfe7713ae83824ccc"/>
    <p:sldId xmlns:r="http://schemas.openxmlformats.org/officeDocument/2006/relationships" id="333" r:id="Ra44af56466384f64"/>
    <p:sldId xmlns:r="http://schemas.openxmlformats.org/officeDocument/2006/relationships" id="334" r:id="R058cf346a2ff4c08"/>
    <p:sldId xmlns:r="http://schemas.openxmlformats.org/officeDocument/2006/relationships" id="335" r:id="R834082c0550c4bbe"/>
    <p:sldId xmlns:r="http://schemas.openxmlformats.org/officeDocument/2006/relationships" id="336" r:id="Ra57c9786ed834265"/>
    <p:sldId xmlns:r="http://schemas.openxmlformats.org/officeDocument/2006/relationships" id="337" r:id="R0da2f8a7016948f0"/>
    <p:sldId xmlns:r="http://schemas.openxmlformats.org/officeDocument/2006/relationships" id="338" r:id="Rd0f6f0b004db436b"/>
    <p:sldId xmlns:r="http://schemas.openxmlformats.org/officeDocument/2006/relationships" id="339" r:id="R1cc3b338b69741f1"/>
    <p:sldId xmlns:r="http://schemas.openxmlformats.org/officeDocument/2006/relationships" id="340" r:id="Rfb9923dcf8dd4147"/>
    <p:sldId xmlns:r="http://schemas.openxmlformats.org/officeDocument/2006/relationships" id="341" r:id="Rdbc453d510bb4cd4"/>
    <p:sldId xmlns:r="http://schemas.openxmlformats.org/officeDocument/2006/relationships" id="342" r:id="R6824ab6dc8264a50"/>
    <p:sldId xmlns:r="http://schemas.openxmlformats.org/officeDocument/2006/relationships" id="343" r:id="Rbf8c2165444d490d"/>
    <p:sldId xmlns:r="http://schemas.openxmlformats.org/officeDocument/2006/relationships" id="344" r:id="R3ffc56ea321c4f0e"/>
    <p:sldId xmlns:r="http://schemas.openxmlformats.org/officeDocument/2006/relationships" id="345" r:id="Ra5d55bc046f3497e"/>
    <p:sldId xmlns:r="http://schemas.openxmlformats.org/officeDocument/2006/relationships" id="346" r:id="Rb6e355bcac2b4508"/>
    <p:sldId xmlns:r="http://schemas.openxmlformats.org/officeDocument/2006/relationships" id="347" r:id="R66443f4ee14540f3"/>
    <p:sldId xmlns:r="http://schemas.openxmlformats.org/officeDocument/2006/relationships" id="348" r:id="R41a029409b5d45cb"/>
    <p:sldId xmlns:r="http://schemas.openxmlformats.org/officeDocument/2006/relationships" id="349" r:id="Re1a9ea8d9d964a96"/>
    <p:sldId xmlns:r="http://schemas.openxmlformats.org/officeDocument/2006/relationships" id="350" r:id="Ra80b8733a57f472b"/>
    <p:sldId xmlns:r="http://schemas.openxmlformats.org/officeDocument/2006/relationships" id="351" r:id="R0fc64b2bc71c470d"/>
    <p:sldId xmlns:r="http://schemas.openxmlformats.org/officeDocument/2006/relationships" id="352" r:id="R531f273bf9ad4b8b"/>
    <p:sldId xmlns:r="http://schemas.openxmlformats.org/officeDocument/2006/relationships" id="353" r:id="R04c478e1e54844a5"/>
    <p:sldId xmlns:r="http://schemas.openxmlformats.org/officeDocument/2006/relationships" id="354" r:id="R2d7cedc86a9a4e0d"/>
    <p:sldId xmlns:r="http://schemas.openxmlformats.org/officeDocument/2006/relationships" id="355" r:id="R910483b1dac24711"/>
    <p:sldId xmlns:r="http://schemas.openxmlformats.org/officeDocument/2006/relationships" id="356" r:id="R7834b9060d1a4fc8"/>
    <p:sldId xmlns:r="http://schemas.openxmlformats.org/officeDocument/2006/relationships" id="357" r:id="R10a66217d39d4147"/>
    <p:sldId xmlns:r="http://schemas.openxmlformats.org/officeDocument/2006/relationships" id="358" r:id="R8310b8dd12fc449e"/>
    <p:sldId xmlns:r="http://schemas.openxmlformats.org/officeDocument/2006/relationships" id="359" r:id="Rcdea5b1f333e484f"/>
    <p:sldId xmlns:r="http://schemas.openxmlformats.org/officeDocument/2006/relationships" id="360" r:id="R934870ce4e634698"/>
    <p:sldId xmlns:r="http://schemas.openxmlformats.org/officeDocument/2006/relationships" id="361" r:id="Re82c88ec03fc458a"/>
    <p:sldId xmlns:r="http://schemas.openxmlformats.org/officeDocument/2006/relationships" id="362" r:id="R48029c93faab4526"/>
    <p:sldId xmlns:r="http://schemas.openxmlformats.org/officeDocument/2006/relationships" id="363" r:id="R7549f745fa0b456c"/>
    <p:sldId xmlns:r="http://schemas.openxmlformats.org/officeDocument/2006/relationships" id="364" r:id="R48780381ac5f42fb"/>
    <p:sldId xmlns:r="http://schemas.openxmlformats.org/officeDocument/2006/relationships" id="365" r:id="R28868854de0f4d58"/>
    <p:sldId xmlns:r="http://schemas.openxmlformats.org/officeDocument/2006/relationships" id="366" r:id="R1a0d755fc8164d57"/>
    <p:sldId xmlns:r="http://schemas.openxmlformats.org/officeDocument/2006/relationships" id="367" r:id="Rc700687f17cd4b54"/>
    <p:sldId xmlns:r="http://schemas.openxmlformats.org/officeDocument/2006/relationships" id="368" r:id="R0ddbb917ebb44018"/>
    <p:sldId xmlns:r="http://schemas.openxmlformats.org/officeDocument/2006/relationships" id="369" r:id="R93cee961cf684739"/>
    <p:sldId xmlns:r="http://schemas.openxmlformats.org/officeDocument/2006/relationships" id="370" r:id="R22d17f222ce54bb7"/>
    <p:sldId xmlns:r="http://schemas.openxmlformats.org/officeDocument/2006/relationships" id="371" r:id="Rc0b54d7bfe144253"/>
    <p:sldId xmlns:r="http://schemas.openxmlformats.org/officeDocument/2006/relationships" id="372" r:id="Rf2dced335d0d4d91"/>
    <p:sldId xmlns:r="http://schemas.openxmlformats.org/officeDocument/2006/relationships" id="373" r:id="Rc3be4516a2f44a33"/>
    <p:sldId xmlns:r="http://schemas.openxmlformats.org/officeDocument/2006/relationships" id="374" r:id="Rabfcb343830342df"/>
    <p:sldId xmlns:r="http://schemas.openxmlformats.org/officeDocument/2006/relationships" id="375" r:id="R2f7255845e924636"/>
    <p:sldId xmlns:r="http://schemas.openxmlformats.org/officeDocument/2006/relationships" id="376" r:id="R6e4df28355a74adc"/>
    <p:sldId xmlns:r="http://schemas.openxmlformats.org/officeDocument/2006/relationships" id="377" r:id="R1defc496e66c447a"/>
    <p:sldId xmlns:r="http://schemas.openxmlformats.org/officeDocument/2006/relationships" id="378" r:id="R2e42e74180a04a41"/>
    <p:sldId xmlns:r="http://schemas.openxmlformats.org/officeDocument/2006/relationships" id="379" r:id="R196d91a6fd53455e"/>
    <p:sldId xmlns:r="http://schemas.openxmlformats.org/officeDocument/2006/relationships" id="380" r:id="Rd261d579962d4085"/>
    <p:sldId xmlns:r="http://schemas.openxmlformats.org/officeDocument/2006/relationships" id="381" r:id="R48a470240f9a4a48"/>
    <p:sldId xmlns:r="http://schemas.openxmlformats.org/officeDocument/2006/relationships" id="382" r:id="R8ec1677a4a8f4e45"/>
    <p:sldId xmlns:r="http://schemas.openxmlformats.org/officeDocument/2006/relationships" id="383" r:id="R30d2c8ec08f74505"/>
    <p:sldId xmlns:r="http://schemas.openxmlformats.org/officeDocument/2006/relationships" id="384" r:id="Rd74f135de8bf4f58"/>
    <p:sldId xmlns:r="http://schemas.openxmlformats.org/officeDocument/2006/relationships" id="385" r:id="Rc301c10c7c5b46f8"/>
    <p:sldId xmlns:r="http://schemas.openxmlformats.org/officeDocument/2006/relationships" id="386" r:id="R82111be9a8e842a3"/>
    <p:sldId xmlns:r="http://schemas.openxmlformats.org/officeDocument/2006/relationships" id="387" r:id="R62bf994d90d749a0"/>
    <p:sldId xmlns:r="http://schemas.openxmlformats.org/officeDocument/2006/relationships" id="388" r:id="Rdd5097ef908348f7"/>
    <p:sldId xmlns:r="http://schemas.openxmlformats.org/officeDocument/2006/relationships" id="389" r:id="Rda86b6296e17470a"/>
    <p:sldId xmlns:r="http://schemas.openxmlformats.org/officeDocument/2006/relationships" id="390" r:id="R4135742ae44f410b"/>
    <p:sldId xmlns:r="http://schemas.openxmlformats.org/officeDocument/2006/relationships" id="391" r:id="Rb0197f28004f4639"/>
    <p:sldId xmlns:r="http://schemas.openxmlformats.org/officeDocument/2006/relationships" id="392" r:id="R3b3ecfe2aec642f4"/>
    <p:sldId xmlns:r="http://schemas.openxmlformats.org/officeDocument/2006/relationships" id="393" r:id="R0f6ec9ebfacb4a40"/>
    <p:sldId xmlns:r="http://schemas.openxmlformats.org/officeDocument/2006/relationships" id="394" r:id="R98a4e4a323164781"/>
    <p:sldId xmlns:r="http://schemas.openxmlformats.org/officeDocument/2006/relationships" id="395" r:id="R3881225df1484014"/>
    <p:sldId xmlns:r="http://schemas.openxmlformats.org/officeDocument/2006/relationships" id="396" r:id="R251e0d5837c5471e"/>
    <p:sldId xmlns:r="http://schemas.openxmlformats.org/officeDocument/2006/relationships" id="397" r:id="R6ef09c8052db4ad5"/>
    <p:sldId xmlns:r="http://schemas.openxmlformats.org/officeDocument/2006/relationships" id="398" r:id="R5bee660ffa05400d"/>
    <p:sldId xmlns:r="http://schemas.openxmlformats.org/officeDocument/2006/relationships" id="399" r:id="R9aee70ff8e7341ea"/>
    <p:sldId xmlns:r="http://schemas.openxmlformats.org/officeDocument/2006/relationships" id="400" r:id="Rb1d6c75812ac4909"/>
    <p:sldId xmlns:r="http://schemas.openxmlformats.org/officeDocument/2006/relationships" id="401" r:id="R5d8f5fa12e214706"/>
    <p:sldId xmlns:r="http://schemas.openxmlformats.org/officeDocument/2006/relationships" id="402" r:id="R4897c8b1eb4a4393"/>
    <p:sldId xmlns:r="http://schemas.openxmlformats.org/officeDocument/2006/relationships" id="403" r:id="R51db1f83494c4a6c"/>
    <p:sldId xmlns:r="http://schemas.openxmlformats.org/officeDocument/2006/relationships" id="404" r:id="R2c4a4cf229cd46f6"/>
    <p:sldId xmlns:r="http://schemas.openxmlformats.org/officeDocument/2006/relationships" id="405" r:id="R9748d52d53ae43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af2c2969724976" /><Relationship Type="http://schemas.openxmlformats.org/officeDocument/2006/relationships/slideMaster" Target="/ppt/slideMasters/slideMaster1.xml" Id="R9083815e281b4c89" /><Relationship Type="http://schemas.openxmlformats.org/officeDocument/2006/relationships/slideMaster" Target="/ppt/slideMasters/slideMaster2.xml" Id="Ref8f877ae8d04adc" /><Relationship Type="http://schemas.openxmlformats.org/officeDocument/2006/relationships/notesMaster" Target="/ppt/notesMasters/notesMaster1.xml" Id="R748838e766aa4409" /><Relationship Type="http://schemas.openxmlformats.org/officeDocument/2006/relationships/presProps" Target="/ppt/presProps.xml" Id="Re0d3d81dee4941a2" /><Relationship Type="http://schemas.openxmlformats.org/officeDocument/2006/relationships/viewProps" Target="/ppt/viewProps.xml" Id="R748f15f9d5154401" /><Relationship Type="http://schemas.openxmlformats.org/officeDocument/2006/relationships/tableStyles" Target="/ppt/tableStyles.xml" Id="R00b27052d44e4520" /><Relationship Type="http://schemas.openxmlformats.org/officeDocument/2006/relationships/slide" Target="/ppt/slides/slide1.xml" Id="Rb2cfd7c6e1e54c4d" /><Relationship Type="http://schemas.openxmlformats.org/officeDocument/2006/relationships/slide" Target="/ppt/slides/slide2.xml" Id="Rb35de68b4f1b4770" /><Relationship Type="http://schemas.openxmlformats.org/officeDocument/2006/relationships/slide" Target="/ppt/slides/slide3.xml" Id="Rca1765053f424e3e" /><Relationship Type="http://schemas.openxmlformats.org/officeDocument/2006/relationships/slide" Target="/ppt/slides/slide4.xml" Id="R1c63ce6997e14bc8" /><Relationship Type="http://schemas.openxmlformats.org/officeDocument/2006/relationships/slide" Target="/ppt/slides/slide5.xml" Id="Rd1c9d42f70f54675" /><Relationship Type="http://schemas.openxmlformats.org/officeDocument/2006/relationships/slide" Target="/ppt/slides/slide6.xml" Id="R3881487fca7643b1" /><Relationship Type="http://schemas.openxmlformats.org/officeDocument/2006/relationships/slide" Target="/ppt/slides/slide7.xml" Id="Rc52a31a85a024e60" /><Relationship Type="http://schemas.openxmlformats.org/officeDocument/2006/relationships/slide" Target="/ppt/slides/slide8.xml" Id="R873c0101e424454f" /><Relationship Type="http://schemas.openxmlformats.org/officeDocument/2006/relationships/slide" Target="/ppt/slides/slide9.xml" Id="R56ab0cbe80b54039" /><Relationship Type="http://schemas.openxmlformats.org/officeDocument/2006/relationships/slide" Target="/ppt/slides/slide10.xml" Id="Rf13989dfc9824659" /><Relationship Type="http://schemas.openxmlformats.org/officeDocument/2006/relationships/slide" Target="/ppt/slides/slide11.xml" Id="R9c23226617094f7d" /><Relationship Type="http://schemas.openxmlformats.org/officeDocument/2006/relationships/slide" Target="/ppt/slides/slide12.xml" Id="Ra4d85022c2cc4174" /><Relationship Type="http://schemas.openxmlformats.org/officeDocument/2006/relationships/slide" Target="/ppt/slides/slide13.xml" Id="Re5bca01f5c42417f" /><Relationship Type="http://schemas.openxmlformats.org/officeDocument/2006/relationships/slide" Target="/ppt/slides/slide14.xml" Id="R71cf4a90ca484bbb" /><Relationship Type="http://schemas.openxmlformats.org/officeDocument/2006/relationships/slide" Target="/ppt/slides/slide15.xml" Id="Rf65f5d803a5b4ae9" /><Relationship Type="http://schemas.openxmlformats.org/officeDocument/2006/relationships/slide" Target="/ppt/slides/slide16.xml" Id="R59ba3ebed67c457f" /><Relationship Type="http://schemas.openxmlformats.org/officeDocument/2006/relationships/slide" Target="/ppt/slides/slide17.xml" Id="R2003ea6a3d1d4911" /><Relationship Type="http://schemas.openxmlformats.org/officeDocument/2006/relationships/slide" Target="/ppt/slides/slide18.xml" Id="R31485dc620634157" /><Relationship Type="http://schemas.openxmlformats.org/officeDocument/2006/relationships/slide" Target="/ppt/slides/slide19.xml" Id="R3c3c8119bbd540c4" /><Relationship Type="http://schemas.openxmlformats.org/officeDocument/2006/relationships/slide" Target="/ppt/slides/slide20.xml" Id="R036ed665f1cf43be" /><Relationship Type="http://schemas.openxmlformats.org/officeDocument/2006/relationships/slide" Target="/ppt/slides/slide21.xml" Id="R89360baa474948e8" /><Relationship Type="http://schemas.openxmlformats.org/officeDocument/2006/relationships/slide" Target="/ppt/slides/slide22.xml" Id="R3dd0c710509549d7" /><Relationship Type="http://schemas.openxmlformats.org/officeDocument/2006/relationships/slide" Target="/ppt/slides/slide23.xml" Id="R8839160ed8e645af" /><Relationship Type="http://schemas.openxmlformats.org/officeDocument/2006/relationships/slide" Target="/ppt/slides/slide24.xml" Id="R2fe6005b412f4c04" /><Relationship Type="http://schemas.openxmlformats.org/officeDocument/2006/relationships/slide" Target="/ppt/slides/slide25.xml" Id="Re5bc9886bc514e7c" /><Relationship Type="http://schemas.openxmlformats.org/officeDocument/2006/relationships/slide" Target="/ppt/slides/slide26.xml" Id="R44d689787087412a" /><Relationship Type="http://schemas.openxmlformats.org/officeDocument/2006/relationships/slide" Target="/ppt/slides/slide27.xml" Id="R872b666d74a54b59" /><Relationship Type="http://schemas.openxmlformats.org/officeDocument/2006/relationships/slide" Target="/ppt/slides/slide28.xml" Id="Rb182077790914209" /><Relationship Type="http://schemas.openxmlformats.org/officeDocument/2006/relationships/slide" Target="/ppt/slides/slide29.xml" Id="Re52cde16f4c74e41" /><Relationship Type="http://schemas.openxmlformats.org/officeDocument/2006/relationships/slide" Target="/ppt/slides/slide30.xml" Id="R42d894b106a442bd" /><Relationship Type="http://schemas.openxmlformats.org/officeDocument/2006/relationships/slide" Target="/ppt/slides/slide31.xml" Id="R9bc3975613b747de" /><Relationship Type="http://schemas.openxmlformats.org/officeDocument/2006/relationships/slide" Target="/ppt/slides/slide32.xml" Id="Rd4dab5fa1a52442f" /><Relationship Type="http://schemas.openxmlformats.org/officeDocument/2006/relationships/slide" Target="/ppt/slides/slide33.xml" Id="Re2c611e42238453f" /><Relationship Type="http://schemas.openxmlformats.org/officeDocument/2006/relationships/slide" Target="/ppt/slides/slide34.xml" Id="Rac521abe03904e3c" /><Relationship Type="http://schemas.openxmlformats.org/officeDocument/2006/relationships/slide" Target="/ppt/slides/slide35.xml" Id="Raae8847c07374236" /><Relationship Type="http://schemas.openxmlformats.org/officeDocument/2006/relationships/slide" Target="/ppt/slides/slide36.xml" Id="Rf25f0a20604d4d23" /><Relationship Type="http://schemas.openxmlformats.org/officeDocument/2006/relationships/slide" Target="/ppt/slides/slide37.xml" Id="R5b88394be4934dba" /><Relationship Type="http://schemas.openxmlformats.org/officeDocument/2006/relationships/slide" Target="/ppt/slides/slide38.xml" Id="R872a12de38b146e1" /><Relationship Type="http://schemas.openxmlformats.org/officeDocument/2006/relationships/slide" Target="/ppt/slides/slide39.xml" Id="R6bfad9d4d587491b" /><Relationship Type="http://schemas.openxmlformats.org/officeDocument/2006/relationships/slide" Target="/ppt/slides/slide40.xml" Id="Re0b9b9c9bc224f68" /><Relationship Type="http://schemas.openxmlformats.org/officeDocument/2006/relationships/slide" Target="/ppt/slides/slide41.xml" Id="R3cd86bb9b8c5457a" /><Relationship Type="http://schemas.openxmlformats.org/officeDocument/2006/relationships/slide" Target="/ppt/slides/slide42.xml" Id="R991e32f83a9449ad" /><Relationship Type="http://schemas.openxmlformats.org/officeDocument/2006/relationships/slide" Target="/ppt/slides/slide43.xml" Id="R8457a5237d744cb9" /><Relationship Type="http://schemas.openxmlformats.org/officeDocument/2006/relationships/slide" Target="/ppt/slides/slide44.xml" Id="Raef5bd23c8964007" /><Relationship Type="http://schemas.openxmlformats.org/officeDocument/2006/relationships/slide" Target="/ppt/slides/slide45.xml" Id="R75a1f0d7cb5446d2" /><Relationship Type="http://schemas.openxmlformats.org/officeDocument/2006/relationships/slide" Target="/ppt/slides/slide46.xml" Id="Rc61a564cbf704a01" /><Relationship Type="http://schemas.openxmlformats.org/officeDocument/2006/relationships/slide" Target="/ppt/slides/slide47.xml" Id="R63f8517b346a4896" /><Relationship Type="http://schemas.openxmlformats.org/officeDocument/2006/relationships/slide" Target="/ppt/slides/slide48.xml" Id="R3c02db242f774791" /><Relationship Type="http://schemas.openxmlformats.org/officeDocument/2006/relationships/slide" Target="/ppt/slides/slide49.xml" Id="Rbefaa8e1efdc48c2" /><Relationship Type="http://schemas.openxmlformats.org/officeDocument/2006/relationships/slide" Target="/ppt/slides/slide50.xml" Id="R0a39515a1c3840d3" /><Relationship Type="http://schemas.openxmlformats.org/officeDocument/2006/relationships/slide" Target="/ppt/slides/slide51.xml" Id="R1f2bec8d64b64cf6" /><Relationship Type="http://schemas.openxmlformats.org/officeDocument/2006/relationships/slide" Target="/ppt/slides/slide52.xml" Id="R8dbdee20177b4bf7" /><Relationship Type="http://schemas.openxmlformats.org/officeDocument/2006/relationships/slide" Target="/ppt/slides/slide53.xml" Id="R437edc5adba749c8" /><Relationship Type="http://schemas.openxmlformats.org/officeDocument/2006/relationships/slide" Target="/ppt/slides/slide54.xml" Id="Rca1f287a155341e3" /><Relationship Type="http://schemas.openxmlformats.org/officeDocument/2006/relationships/slide" Target="/ppt/slides/slide55.xml" Id="R0c1637fbb90f42b5" /><Relationship Type="http://schemas.openxmlformats.org/officeDocument/2006/relationships/slide" Target="/ppt/slides/slide56.xml" Id="R4390b6ea51ca4262" /><Relationship Type="http://schemas.openxmlformats.org/officeDocument/2006/relationships/slide" Target="/ppt/slides/slide57.xml" Id="Rfe566be1c6954051" /><Relationship Type="http://schemas.openxmlformats.org/officeDocument/2006/relationships/slide" Target="/ppt/slides/slide58.xml" Id="R25375e52a5844ea8" /><Relationship Type="http://schemas.openxmlformats.org/officeDocument/2006/relationships/slide" Target="/ppt/slides/slide59.xml" Id="R7fe0d41b260c44d0" /><Relationship Type="http://schemas.openxmlformats.org/officeDocument/2006/relationships/slide" Target="/ppt/slides/slide60.xml" Id="Rd603aa3c764f4809" /><Relationship Type="http://schemas.openxmlformats.org/officeDocument/2006/relationships/slide" Target="/ppt/slides/slide61.xml" Id="R750c390ab5cc49a3" /><Relationship Type="http://schemas.openxmlformats.org/officeDocument/2006/relationships/slide" Target="/ppt/slides/slide62.xml" Id="R11461301087647da" /><Relationship Type="http://schemas.openxmlformats.org/officeDocument/2006/relationships/slide" Target="/ppt/slides/slide63.xml" Id="Re3a0e981d56b4156" /><Relationship Type="http://schemas.openxmlformats.org/officeDocument/2006/relationships/slide" Target="/ppt/slides/slide64.xml" Id="Rc119e3d73109431a" /><Relationship Type="http://schemas.openxmlformats.org/officeDocument/2006/relationships/slide" Target="/ppt/slides/slide65.xml" Id="R59ccd880890c413f" /><Relationship Type="http://schemas.openxmlformats.org/officeDocument/2006/relationships/slide" Target="/ppt/slides/slide66.xml" Id="Rf4863a812644410d" /><Relationship Type="http://schemas.openxmlformats.org/officeDocument/2006/relationships/slide" Target="/ppt/slides/slide67.xml" Id="R79ca015c3897456f" /><Relationship Type="http://schemas.openxmlformats.org/officeDocument/2006/relationships/slide" Target="/ppt/slides/slide68.xml" Id="Rb5b82141d24d43de" /><Relationship Type="http://schemas.openxmlformats.org/officeDocument/2006/relationships/slide" Target="/ppt/slides/slide69.xml" Id="R2a32d7d70e8c4156" /><Relationship Type="http://schemas.openxmlformats.org/officeDocument/2006/relationships/slide" Target="/ppt/slides/slide70.xml" Id="Rd0e1089c428c4e73" /><Relationship Type="http://schemas.openxmlformats.org/officeDocument/2006/relationships/slide" Target="/ppt/slides/slide71.xml" Id="R2b7fccd2348e4aa1" /><Relationship Type="http://schemas.openxmlformats.org/officeDocument/2006/relationships/slide" Target="/ppt/slides/slide72.xml" Id="Raaadf34d430a49d5" /><Relationship Type="http://schemas.openxmlformats.org/officeDocument/2006/relationships/slide" Target="/ppt/slides/slide73.xml" Id="R6e01ce6066c44b4d" /><Relationship Type="http://schemas.openxmlformats.org/officeDocument/2006/relationships/slide" Target="/ppt/slides/slide74.xml" Id="R17c1098f080d4d06" /><Relationship Type="http://schemas.openxmlformats.org/officeDocument/2006/relationships/slide" Target="/ppt/slides/slide75.xml" Id="Ra8d707662d3b4235" /><Relationship Type="http://schemas.openxmlformats.org/officeDocument/2006/relationships/slide" Target="/ppt/slides/slide76.xml" Id="Ra320c57281ed4c2e" /><Relationship Type="http://schemas.openxmlformats.org/officeDocument/2006/relationships/slide" Target="/ppt/slides/slide77.xml" Id="Rfe7713ae83824ccc" /><Relationship Type="http://schemas.openxmlformats.org/officeDocument/2006/relationships/slide" Target="/ppt/slides/slide78.xml" Id="Ra44af56466384f64" /><Relationship Type="http://schemas.openxmlformats.org/officeDocument/2006/relationships/slide" Target="/ppt/slides/slide79.xml" Id="R058cf346a2ff4c08" /><Relationship Type="http://schemas.openxmlformats.org/officeDocument/2006/relationships/slide" Target="/ppt/slides/slide80.xml" Id="R834082c0550c4bbe" /><Relationship Type="http://schemas.openxmlformats.org/officeDocument/2006/relationships/slide" Target="/ppt/slides/slide81.xml" Id="Ra57c9786ed834265" /><Relationship Type="http://schemas.openxmlformats.org/officeDocument/2006/relationships/slide" Target="/ppt/slides/slide82.xml" Id="R0da2f8a7016948f0" /><Relationship Type="http://schemas.openxmlformats.org/officeDocument/2006/relationships/slide" Target="/ppt/slides/slide83.xml" Id="Rd0f6f0b004db436b" /><Relationship Type="http://schemas.openxmlformats.org/officeDocument/2006/relationships/slide" Target="/ppt/slides/slide84.xml" Id="R1cc3b338b69741f1" /><Relationship Type="http://schemas.openxmlformats.org/officeDocument/2006/relationships/slide" Target="/ppt/slides/slide85.xml" Id="Rfb9923dcf8dd4147" /><Relationship Type="http://schemas.openxmlformats.org/officeDocument/2006/relationships/slide" Target="/ppt/slides/slide86.xml" Id="Rdbc453d510bb4cd4" /><Relationship Type="http://schemas.openxmlformats.org/officeDocument/2006/relationships/slide" Target="/ppt/slides/slide87.xml" Id="R6824ab6dc8264a50" /><Relationship Type="http://schemas.openxmlformats.org/officeDocument/2006/relationships/slide" Target="/ppt/slides/slide88.xml" Id="Rbf8c2165444d490d" /><Relationship Type="http://schemas.openxmlformats.org/officeDocument/2006/relationships/slide" Target="/ppt/slides/slide89.xml" Id="R3ffc56ea321c4f0e" /><Relationship Type="http://schemas.openxmlformats.org/officeDocument/2006/relationships/slide" Target="/ppt/slides/slide90.xml" Id="Ra5d55bc046f3497e" /><Relationship Type="http://schemas.openxmlformats.org/officeDocument/2006/relationships/slide" Target="/ppt/slides/slide91.xml" Id="Rb6e355bcac2b4508" /><Relationship Type="http://schemas.openxmlformats.org/officeDocument/2006/relationships/slide" Target="/ppt/slides/slide92.xml" Id="R66443f4ee14540f3" /><Relationship Type="http://schemas.openxmlformats.org/officeDocument/2006/relationships/slide" Target="/ppt/slides/slide93.xml" Id="R41a029409b5d45cb" /><Relationship Type="http://schemas.openxmlformats.org/officeDocument/2006/relationships/slide" Target="/ppt/slides/slide94.xml" Id="Re1a9ea8d9d964a96" /><Relationship Type="http://schemas.openxmlformats.org/officeDocument/2006/relationships/slide" Target="/ppt/slides/slide95.xml" Id="Ra80b8733a57f472b" /><Relationship Type="http://schemas.openxmlformats.org/officeDocument/2006/relationships/slide" Target="/ppt/slides/slide96.xml" Id="R0fc64b2bc71c470d" /><Relationship Type="http://schemas.openxmlformats.org/officeDocument/2006/relationships/slide" Target="/ppt/slides/slide97.xml" Id="R531f273bf9ad4b8b" /><Relationship Type="http://schemas.openxmlformats.org/officeDocument/2006/relationships/slide" Target="/ppt/slides/slide98.xml" Id="R04c478e1e54844a5" /><Relationship Type="http://schemas.openxmlformats.org/officeDocument/2006/relationships/slide" Target="/ppt/slides/slide99.xml" Id="R2d7cedc86a9a4e0d" /><Relationship Type="http://schemas.openxmlformats.org/officeDocument/2006/relationships/slide" Target="/ppt/slides/slide100.xml" Id="R910483b1dac24711" /><Relationship Type="http://schemas.openxmlformats.org/officeDocument/2006/relationships/slide" Target="/ppt/slides/slide101.xml" Id="R7834b9060d1a4fc8" /><Relationship Type="http://schemas.openxmlformats.org/officeDocument/2006/relationships/slide" Target="/ppt/slides/slide102.xml" Id="R10a66217d39d4147" /><Relationship Type="http://schemas.openxmlformats.org/officeDocument/2006/relationships/slide" Target="/ppt/slides/slide103.xml" Id="R8310b8dd12fc449e" /><Relationship Type="http://schemas.openxmlformats.org/officeDocument/2006/relationships/slide" Target="/ppt/slides/slide104.xml" Id="Rcdea5b1f333e484f" /><Relationship Type="http://schemas.openxmlformats.org/officeDocument/2006/relationships/slide" Target="/ppt/slides/slide105.xml" Id="R934870ce4e634698" /><Relationship Type="http://schemas.openxmlformats.org/officeDocument/2006/relationships/slide" Target="/ppt/slides/slide106.xml" Id="Re82c88ec03fc458a" /><Relationship Type="http://schemas.openxmlformats.org/officeDocument/2006/relationships/slide" Target="/ppt/slides/slide107.xml" Id="R48029c93faab4526" /><Relationship Type="http://schemas.openxmlformats.org/officeDocument/2006/relationships/slide" Target="/ppt/slides/slide108.xml" Id="R7549f745fa0b456c" /><Relationship Type="http://schemas.openxmlformats.org/officeDocument/2006/relationships/slide" Target="/ppt/slides/slide109.xml" Id="R48780381ac5f42fb" /><Relationship Type="http://schemas.openxmlformats.org/officeDocument/2006/relationships/slide" Target="/ppt/slides/slide110.xml" Id="R28868854de0f4d58" /><Relationship Type="http://schemas.openxmlformats.org/officeDocument/2006/relationships/slide" Target="/ppt/slides/slide111.xml" Id="R1a0d755fc8164d57" /><Relationship Type="http://schemas.openxmlformats.org/officeDocument/2006/relationships/slide" Target="/ppt/slides/slide112.xml" Id="Rc700687f17cd4b54" /><Relationship Type="http://schemas.openxmlformats.org/officeDocument/2006/relationships/slide" Target="/ppt/slides/slide113.xml" Id="R0ddbb917ebb44018" /><Relationship Type="http://schemas.openxmlformats.org/officeDocument/2006/relationships/slide" Target="/ppt/slides/slide114.xml" Id="R93cee961cf684739" /><Relationship Type="http://schemas.openxmlformats.org/officeDocument/2006/relationships/slide" Target="/ppt/slides/slide115.xml" Id="R22d17f222ce54bb7" /><Relationship Type="http://schemas.openxmlformats.org/officeDocument/2006/relationships/slide" Target="/ppt/slides/slide116.xml" Id="Rc0b54d7bfe144253" /><Relationship Type="http://schemas.openxmlformats.org/officeDocument/2006/relationships/slide" Target="/ppt/slides/slide117.xml" Id="Rf2dced335d0d4d91" /><Relationship Type="http://schemas.openxmlformats.org/officeDocument/2006/relationships/slide" Target="/ppt/slides/slide118.xml" Id="Rc3be4516a2f44a33" /><Relationship Type="http://schemas.openxmlformats.org/officeDocument/2006/relationships/slide" Target="/ppt/slides/slide119.xml" Id="Rabfcb343830342df" /><Relationship Type="http://schemas.openxmlformats.org/officeDocument/2006/relationships/slide" Target="/ppt/slides/slide120.xml" Id="R2f7255845e924636" /><Relationship Type="http://schemas.openxmlformats.org/officeDocument/2006/relationships/slide" Target="/ppt/slides/slide121.xml" Id="R6e4df28355a74adc" /><Relationship Type="http://schemas.openxmlformats.org/officeDocument/2006/relationships/slide" Target="/ppt/slides/slide122.xml" Id="R1defc496e66c447a" /><Relationship Type="http://schemas.openxmlformats.org/officeDocument/2006/relationships/slide" Target="/ppt/slides/slide123.xml" Id="R2e42e74180a04a41" /><Relationship Type="http://schemas.openxmlformats.org/officeDocument/2006/relationships/slide" Target="/ppt/slides/slide124.xml" Id="R196d91a6fd53455e" /><Relationship Type="http://schemas.openxmlformats.org/officeDocument/2006/relationships/slide" Target="/ppt/slides/slide125.xml" Id="Rd261d579962d4085" /><Relationship Type="http://schemas.openxmlformats.org/officeDocument/2006/relationships/slide" Target="/ppt/slides/slide126.xml" Id="R48a470240f9a4a48" /><Relationship Type="http://schemas.openxmlformats.org/officeDocument/2006/relationships/slide" Target="/ppt/slides/slide127.xml" Id="R8ec1677a4a8f4e45" /><Relationship Type="http://schemas.openxmlformats.org/officeDocument/2006/relationships/slide" Target="/ppt/slides/slide128.xml" Id="R30d2c8ec08f74505" /><Relationship Type="http://schemas.openxmlformats.org/officeDocument/2006/relationships/slide" Target="/ppt/slides/slide129.xml" Id="Rd74f135de8bf4f58" /><Relationship Type="http://schemas.openxmlformats.org/officeDocument/2006/relationships/slide" Target="/ppt/slides/slide130.xml" Id="Rc301c10c7c5b46f8" /><Relationship Type="http://schemas.openxmlformats.org/officeDocument/2006/relationships/slide" Target="/ppt/slides/slide131.xml" Id="R82111be9a8e842a3" /><Relationship Type="http://schemas.openxmlformats.org/officeDocument/2006/relationships/slide" Target="/ppt/slides/slide132.xml" Id="R62bf994d90d749a0" /><Relationship Type="http://schemas.openxmlformats.org/officeDocument/2006/relationships/slide" Target="/ppt/slides/slide133.xml" Id="Rdd5097ef908348f7" /><Relationship Type="http://schemas.openxmlformats.org/officeDocument/2006/relationships/slide" Target="/ppt/slides/slide134.xml" Id="Rda86b6296e17470a" /><Relationship Type="http://schemas.openxmlformats.org/officeDocument/2006/relationships/slide" Target="/ppt/slides/slide135.xml" Id="R4135742ae44f410b" /><Relationship Type="http://schemas.openxmlformats.org/officeDocument/2006/relationships/slide" Target="/ppt/slides/slide136.xml" Id="Rb0197f28004f4639" /><Relationship Type="http://schemas.openxmlformats.org/officeDocument/2006/relationships/slide" Target="/ppt/slides/slide137.xml" Id="R3b3ecfe2aec642f4" /><Relationship Type="http://schemas.openxmlformats.org/officeDocument/2006/relationships/slide" Target="/ppt/slides/slide138.xml" Id="R0f6ec9ebfacb4a40" /><Relationship Type="http://schemas.openxmlformats.org/officeDocument/2006/relationships/slide" Target="/ppt/slides/slide139.xml" Id="R98a4e4a323164781" /><Relationship Type="http://schemas.openxmlformats.org/officeDocument/2006/relationships/slide" Target="/ppt/slides/slide140.xml" Id="R3881225df1484014" /><Relationship Type="http://schemas.openxmlformats.org/officeDocument/2006/relationships/slide" Target="/ppt/slides/slide141.xml" Id="R251e0d5837c5471e" /><Relationship Type="http://schemas.openxmlformats.org/officeDocument/2006/relationships/slide" Target="/ppt/slides/slide142.xml" Id="R6ef09c8052db4ad5" /><Relationship Type="http://schemas.openxmlformats.org/officeDocument/2006/relationships/slide" Target="/ppt/slides/slide143.xml" Id="R5bee660ffa05400d" /><Relationship Type="http://schemas.openxmlformats.org/officeDocument/2006/relationships/slide" Target="/ppt/slides/slide144.xml" Id="R9aee70ff8e7341ea" /><Relationship Type="http://schemas.openxmlformats.org/officeDocument/2006/relationships/slide" Target="/ppt/slides/slide145.xml" Id="Rb1d6c75812ac4909" /><Relationship Type="http://schemas.openxmlformats.org/officeDocument/2006/relationships/slide" Target="/ppt/slides/slide146.xml" Id="R5d8f5fa12e214706" /><Relationship Type="http://schemas.openxmlformats.org/officeDocument/2006/relationships/slide" Target="/ppt/slides/slide147.xml" Id="R4897c8b1eb4a4393" /><Relationship Type="http://schemas.openxmlformats.org/officeDocument/2006/relationships/slide" Target="/ppt/slides/slide148.xml" Id="R51db1f83494c4a6c" /><Relationship Type="http://schemas.openxmlformats.org/officeDocument/2006/relationships/slide" Target="/ppt/slides/slide149.xml" Id="R2c4a4cf229cd46f6" /><Relationship Type="http://schemas.openxmlformats.org/officeDocument/2006/relationships/slide" Target="/ppt/slides/slide150.xml" Id="R9748d52d53ae43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d6e0b33c59949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91968d6bc54567" /><Relationship Type="http://schemas.openxmlformats.org/officeDocument/2006/relationships/notesMaster" Target="/ppt/notesMasters/notesMaster1.xml" Id="R4d8d255762b14a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77d40c47d4316" /><Relationship Type="http://schemas.openxmlformats.org/officeDocument/2006/relationships/notesMaster" Target="/ppt/notesMasters/notesMaster1.xml" Id="R1a1b0105eb684a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56a03f92034bd8" /><Relationship Type="http://schemas.openxmlformats.org/officeDocument/2006/relationships/notesMaster" Target="/ppt/notesMasters/notesMaster1.xml" Id="Rb2c695480e7447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c675ad85174282" /><Relationship Type="http://schemas.openxmlformats.org/officeDocument/2006/relationships/notesMaster" Target="/ppt/notesMasters/notesMaster1.xml" Id="R21d38b38862444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191a2c31dd489b" /><Relationship Type="http://schemas.openxmlformats.org/officeDocument/2006/relationships/notesMaster" Target="/ppt/notesMasters/notesMaster1.xml" Id="Rb080d25634694b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eec80fa51e4f1c" /><Relationship Type="http://schemas.openxmlformats.org/officeDocument/2006/relationships/notesMaster" Target="/ppt/notesMasters/notesMaster1.xml" Id="R3e8604556dac4c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7018f2ff1a4447" /><Relationship Type="http://schemas.openxmlformats.org/officeDocument/2006/relationships/notesMaster" Target="/ppt/notesMasters/notesMaster1.xml" Id="Re1b239e31cdd4a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a92b88273b4db7" /><Relationship Type="http://schemas.openxmlformats.org/officeDocument/2006/relationships/notesMaster" Target="/ppt/notesMasters/notesMaster1.xml" Id="Ree904264381c48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1e000d23c94130" /><Relationship Type="http://schemas.openxmlformats.org/officeDocument/2006/relationships/notesMaster" Target="/ppt/notesMasters/notesMaster1.xml" Id="Raf134c4a414e41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d74b7744884afa" /><Relationship Type="http://schemas.openxmlformats.org/officeDocument/2006/relationships/notesMaster" Target="/ppt/notesMasters/notesMaster1.xml" Id="R9fd6c622a26941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3d335aba6b4236" /><Relationship Type="http://schemas.openxmlformats.org/officeDocument/2006/relationships/notesMaster" Target="/ppt/notesMasters/notesMaster1.xml" Id="R4ab1b03de0884d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abe1bfb5814704" /><Relationship Type="http://schemas.openxmlformats.org/officeDocument/2006/relationships/notesMaster" Target="/ppt/notesMasters/notesMaster1.xml" Id="Rd80d9540d92f4c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2fde10fffd4c84" /><Relationship Type="http://schemas.openxmlformats.org/officeDocument/2006/relationships/notesMaster" Target="/ppt/notesMasters/notesMaster1.xml" Id="Rf8c31fdf38934a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2d218f48ee4842" /><Relationship Type="http://schemas.openxmlformats.org/officeDocument/2006/relationships/notesMaster" Target="/ppt/notesMasters/notesMaster1.xml" Id="R3adc8621d26645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284eb4e2824f25" /><Relationship Type="http://schemas.openxmlformats.org/officeDocument/2006/relationships/notesMaster" Target="/ppt/notesMasters/notesMaster1.xml" Id="R994c215023b841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302d4c5e764d11" /><Relationship Type="http://schemas.openxmlformats.org/officeDocument/2006/relationships/notesMaster" Target="/ppt/notesMasters/notesMaster1.xml" Id="Re6ab6261f4b340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bb8ba5c6324a30" /><Relationship Type="http://schemas.openxmlformats.org/officeDocument/2006/relationships/notesMaster" Target="/ppt/notesMasters/notesMaster1.xml" Id="R55fa6df7eb3b44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533b011f0f24716" /><Relationship Type="http://schemas.openxmlformats.org/officeDocument/2006/relationships/notesMaster" Target="/ppt/notesMasters/notesMaster1.xml" Id="R0803c29893454b6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91fedffa65453c" /><Relationship Type="http://schemas.openxmlformats.org/officeDocument/2006/relationships/notesMaster" Target="/ppt/notesMasters/notesMaster1.xml" Id="Rc32e9d5379e7493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838d5a10f04915" /><Relationship Type="http://schemas.openxmlformats.org/officeDocument/2006/relationships/notesMaster" Target="/ppt/notesMasters/notesMaster1.xml" Id="R3200673f488c4b4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13d7f32c9f406c" /><Relationship Type="http://schemas.openxmlformats.org/officeDocument/2006/relationships/notesMaster" Target="/ppt/notesMasters/notesMaster1.xml" Id="R12edf6bbdaef47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b98c4d1dc364ffc" /><Relationship Type="http://schemas.openxmlformats.org/officeDocument/2006/relationships/notesMaster" Target="/ppt/notesMasters/notesMaster1.xml" Id="R392089a090ef469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9a5fa5a43da403d" /><Relationship Type="http://schemas.openxmlformats.org/officeDocument/2006/relationships/notesMaster" Target="/ppt/notesMasters/notesMaster1.xml" Id="R528c42754bdd44a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90d70d89b9a4605" /><Relationship Type="http://schemas.openxmlformats.org/officeDocument/2006/relationships/notesMaster" Target="/ppt/notesMasters/notesMaster1.xml" Id="R3e5a1351bbfc436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7cb99bf2e3b41cd" /><Relationship Type="http://schemas.openxmlformats.org/officeDocument/2006/relationships/notesMaster" Target="/ppt/notesMasters/notesMaster1.xml" Id="R76b62f1bcea9433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22d68b8e6784b1e" /><Relationship Type="http://schemas.openxmlformats.org/officeDocument/2006/relationships/notesMaster" Target="/ppt/notesMasters/notesMaster1.xml" Id="R86761759dc6b4d2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2e83d5dbc3440ea" /><Relationship Type="http://schemas.openxmlformats.org/officeDocument/2006/relationships/notesMaster" Target="/ppt/notesMasters/notesMaster1.xml" Id="R0cf9e0a1f8354cc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1aecf850adf433b" /><Relationship Type="http://schemas.openxmlformats.org/officeDocument/2006/relationships/notesMaster" Target="/ppt/notesMasters/notesMaster1.xml" Id="R3c3faf9f873d493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8d9452ba8ef48d9" /><Relationship Type="http://schemas.openxmlformats.org/officeDocument/2006/relationships/notesMaster" Target="/ppt/notesMasters/notesMaster1.xml" Id="R4363a126ef4943a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4293522566a4fc0" /><Relationship Type="http://schemas.openxmlformats.org/officeDocument/2006/relationships/notesMaster" Target="/ppt/notesMasters/notesMaster1.xml" Id="Re8a6798164644bd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977ad9d117f406b" /><Relationship Type="http://schemas.openxmlformats.org/officeDocument/2006/relationships/notesMaster" Target="/ppt/notesMasters/notesMaster1.xml" Id="R1fca4a3fc16d4c9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a72d585fbec47fb" /><Relationship Type="http://schemas.openxmlformats.org/officeDocument/2006/relationships/notesMaster" Target="/ppt/notesMasters/notesMaster1.xml" Id="Rf168269d5aec49b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2f442d8ffe54092" /><Relationship Type="http://schemas.openxmlformats.org/officeDocument/2006/relationships/notesMaster" Target="/ppt/notesMasters/notesMaster1.xml" Id="R0c12b9c7004647e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dfd91c3997b4c50" /><Relationship Type="http://schemas.openxmlformats.org/officeDocument/2006/relationships/notesMaster" Target="/ppt/notesMasters/notesMaster1.xml" Id="R54dfbde7f51242d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60a9fce590c43df" /><Relationship Type="http://schemas.openxmlformats.org/officeDocument/2006/relationships/notesMaster" Target="/ppt/notesMasters/notesMaster1.xml" Id="R213303c9881845c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7599bb398df4a88" /><Relationship Type="http://schemas.openxmlformats.org/officeDocument/2006/relationships/notesMaster" Target="/ppt/notesMasters/notesMaster1.xml" Id="Re8ce98b6b6ec4e2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995012930df432e" /><Relationship Type="http://schemas.openxmlformats.org/officeDocument/2006/relationships/notesMaster" Target="/ppt/notesMasters/notesMaster1.xml" Id="R8bc40196e20b417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fafde337615483d" /><Relationship Type="http://schemas.openxmlformats.org/officeDocument/2006/relationships/notesMaster" Target="/ppt/notesMasters/notesMaster1.xml" Id="Rd43ce67a75f14bf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e544d9424bf4aab" /><Relationship Type="http://schemas.openxmlformats.org/officeDocument/2006/relationships/notesMaster" Target="/ppt/notesMasters/notesMaster1.xml" Id="Rf05f3b95994c422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94f60c0f12b439f" /><Relationship Type="http://schemas.openxmlformats.org/officeDocument/2006/relationships/notesMaster" Target="/ppt/notesMasters/notesMaster1.xml" Id="Raeb7bfb8f72c4e7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bb3273f72304f8e" /><Relationship Type="http://schemas.openxmlformats.org/officeDocument/2006/relationships/notesMaster" Target="/ppt/notesMasters/notesMaster1.xml" Id="Rf2d0fd6a87184bd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8f4e7cb8f1a4df5" /><Relationship Type="http://schemas.openxmlformats.org/officeDocument/2006/relationships/notesMaster" Target="/ppt/notesMasters/notesMaster1.xml" Id="R4d69d79363e949f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098d58327844655" /><Relationship Type="http://schemas.openxmlformats.org/officeDocument/2006/relationships/notesMaster" Target="/ppt/notesMasters/notesMaster1.xml" Id="R98ddbe5c5bcc45a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6c0f8e82018409c" /><Relationship Type="http://schemas.openxmlformats.org/officeDocument/2006/relationships/notesMaster" Target="/ppt/notesMasters/notesMaster1.xml" Id="Re1574b0f5e82461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e8b1ebb977d440f" /><Relationship Type="http://schemas.openxmlformats.org/officeDocument/2006/relationships/notesMaster" Target="/ppt/notesMasters/notesMaster1.xml" Id="R3e9e891c632540a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891d3762c974e60" /><Relationship Type="http://schemas.openxmlformats.org/officeDocument/2006/relationships/notesMaster" Target="/ppt/notesMasters/notesMaster1.xml" Id="R747d6a3bf2f74d1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a14008787b14d93" /><Relationship Type="http://schemas.openxmlformats.org/officeDocument/2006/relationships/notesMaster" Target="/ppt/notesMasters/notesMaster1.xml" Id="R7fef51a8b69f4ec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d44cebf38c6487d" /><Relationship Type="http://schemas.openxmlformats.org/officeDocument/2006/relationships/notesMaster" Target="/ppt/notesMasters/notesMaster1.xml" Id="R8eb4c46fed204b0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e60dd192fef4620" /><Relationship Type="http://schemas.openxmlformats.org/officeDocument/2006/relationships/notesMaster" Target="/ppt/notesMasters/notesMaster1.xml" Id="Rffe96e4d5163483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7dbd8b8ae5c4bc6" /><Relationship Type="http://schemas.openxmlformats.org/officeDocument/2006/relationships/notesMaster" Target="/ppt/notesMasters/notesMaster1.xml" Id="R54a244cff460438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82f6f2789594ab3" /><Relationship Type="http://schemas.openxmlformats.org/officeDocument/2006/relationships/notesMaster" Target="/ppt/notesMasters/notesMaster1.xml" Id="Ra00b22b3bfe0425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1d1520d7b2d43b8" /><Relationship Type="http://schemas.openxmlformats.org/officeDocument/2006/relationships/notesMaster" Target="/ppt/notesMasters/notesMaster1.xml" Id="R818a76cfa99747e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40b2df37eff44d2" /><Relationship Type="http://schemas.openxmlformats.org/officeDocument/2006/relationships/notesMaster" Target="/ppt/notesMasters/notesMaster1.xml" Id="Rbc1110a5bab3496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70734914690409d" /><Relationship Type="http://schemas.openxmlformats.org/officeDocument/2006/relationships/notesMaster" Target="/ppt/notesMasters/notesMaster1.xml" Id="Rc42fab0f1d484f9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8be73b891a543cf" /><Relationship Type="http://schemas.openxmlformats.org/officeDocument/2006/relationships/notesMaster" Target="/ppt/notesMasters/notesMaster1.xml" Id="R3268948aee404c3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f63a8b1cf4d46e6" /><Relationship Type="http://schemas.openxmlformats.org/officeDocument/2006/relationships/notesMaster" Target="/ppt/notesMasters/notesMaster1.xml" Id="R279fde28d844402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42d32c14cd648fc" /><Relationship Type="http://schemas.openxmlformats.org/officeDocument/2006/relationships/notesMaster" Target="/ppt/notesMasters/notesMaster1.xml" Id="R8c99e03e4f1c4c1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3707cb3297f4ebc" /><Relationship Type="http://schemas.openxmlformats.org/officeDocument/2006/relationships/notesMaster" Target="/ppt/notesMasters/notesMaster1.xml" Id="Rcfea4b87538f468a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c697b9993d24666" /><Relationship Type="http://schemas.openxmlformats.org/officeDocument/2006/relationships/notesMaster" Target="/ppt/notesMasters/notesMaster1.xml" Id="R86486bac52f54a2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1b4e45d98534220" /><Relationship Type="http://schemas.openxmlformats.org/officeDocument/2006/relationships/notesMaster" Target="/ppt/notesMasters/notesMaster1.xml" Id="Rf6447cf688104b7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ce6881aa9444803" /><Relationship Type="http://schemas.openxmlformats.org/officeDocument/2006/relationships/notesMaster" Target="/ppt/notesMasters/notesMaster1.xml" Id="Rdaab27a0efa341a2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2dc9bfe54524ac3" /><Relationship Type="http://schemas.openxmlformats.org/officeDocument/2006/relationships/notesMaster" Target="/ppt/notesMasters/notesMaster1.xml" Id="R015ddb8104c24ee7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1ee0cc193834dfb" /><Relationship Type="http://schemas.openxmlformats.org/officeDocument/2006/relationships/notesMaster" Target="/ppt/notesMasters/notesMaster1.xml" Id="Rddb85d74d5824c1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fde940159cc54667" /><Relationship Type="http://schemas.openxmlformats.org/officeDocument/2006/relationships/notesMaster" Target="/ppt/notesMasters/notesMaster1.xml" Id="Rc9761ca0c68241bf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b424f04f52504a7f" /><Relationship Type="http://schemas.openxmlformats.org/officeDocument/2006/relationships/notesMaster" Target="/ppt/notesMasters/notesMaster1.xml" Id="R9738d9e3132f4f76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529441c11994d39" /><Relationship Type="http://schemas.openxmlformats.org/officeDocument/2006/relationships/notesMaster" Target="/ppt/notesMasters/notesMaster1.xml" Id="R1bc1e1d4f3164f3a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c0447f7ad8a14898" /><Relationship Type="http://schemas.openxmlformats.org/officeDocument/2006/relationships/notesMaster" Target="/ppt/notesMasters/notesMaster1.xml" Id="Rc6c6a6b2f55a45c4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66725a34910e46e1" /><Relationship Type="http://schemas.openxmlformats.org/officeDocument/2006/relationships/notesMaster" Target="/ppt/notesMasters/notesMaster1.xml" Id="R39ac7d5733c247ea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2b48781f26d14c38" /><Relationship Type="http://schemas.openxmlformats.org/officeDocument/2006/relationships/notesMaster" Target="/ppt/notesMasters/notesMaster1.xml" Id="R5168829e8c5d4df9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5ac6f6ace9a84d3e" /><Relationship Type="http://schemas.openxmlformats.org/officeDocument/2006/relationships/notesMaster" Target="/ppt/notesMasters/notesMaster1.xml" Id="R39e1a36ba67e4192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5d36f6cdc6a24254" /><Relationship Type="http://schemas.openxmlformats.org/officeDocument/2006/relationships/notesMaster" Target="/ppt/notesMasters/notesMaster1.xml" Id="R273441a68c144819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b792e6959f39415a" /><Relationship Type="http://schemas.openxmlformats.org/officeDocument/2006/relationships/notesMaster" Target="/ppt/notesMasters/notesMaster1.xml" Id="Ra9dfe262f17a40ed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435eaa72f9a74f2e" /><Relationship Type="http://schemas.openxmlformats.org/officeDocument/2006/relationships/notesMaster" Target="/ppt/notesMasters/notesMaster1.xml" Id="R396a11f48c424c53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70cb8d81668b46ca" /><Relationship Type="http://schemas.openxmlformats.org/officeDocument/2006/relationships/notesMaster" Target="/ppt/notesMasters/notesMaster1.xml" Id="R1f08887a51c641c5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f25fa377bbc94b82" /><Relationship Type="http://schemas.openxmlformats.org/officeDocument/2006/relationships/notesMaster" Target="/ppt/notesMasters/notesMaster1.xml" Id="Rcdcec8ea8e274797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31170e563444799" /><Relationship Type="http://schemas.openxmlformats.org/officeDocument/2006/relationships/notesMaster" Target="/ppt/notesMasters/notesMaster1.xml" Id="R27b18100fe864db8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27ba57755d364f61" /><Relationship Type="http://schemas.openxmlformats.org/officeDocument/2006/relationships/notesMaster" Target="/ppt/notesMasters/notesMaster1.xml" Id="R4ee88f162dd84fdf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b24d604b412349d1" /><Relationship Type="http://schemas.openxmlformats.org/officeDocument/2006/relationships/notesMaster" Target="/ppt/notesMasters/notesMaster1.xml" Id="R2f7ce5d5445046ec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d80b785028cf4c6e" /><Relationship Type="http://schemas.openxmlformats.org/officeDocument/2006/relationships/notesMaster" Target="/ppt/notesMasters/notesMaster1.xml" Id="R5d512c2d18ae4a08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949a936d2b534420" /><Relationship Type="http://schemas.openxmlformats.org/officeDocument/2006/relationships/notesMaster" Target="/ppt/notesMasters/notesMaster1.xml" Id="R5ff654fa5de34409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d7e3728c6f8c4d1c" /><Relationship Type="http://schemas.openxmlformats.org/officeDocument/2006/relationships/notesMaster" Target="/ppt/notesMasters/notesMaster1.xml" Id="Rbfcb26ea4e784f9d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9309f0a813dc49ec" /><Relationship Type="http://schemas.openxmlformats.org/officeDocument/2006/relationships/notesMaster" Target="/ppt/notesMasters/notesMaster1.xml" Id="R7361216edf914594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655a7ec2f51548c8" /><Relationship Type="http://schemas.openxmlformats.org/officeDocument/2006/relationships/notesMaster" Target="/ppt/notesMasters/notesMaster1.xml" Id="Rfb5110f2f74c46de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b06d525ceed24c02" /><Relationship Type="http://schemas.openxmlformats.org/officeDocument/2006/relationships/notesMaster" Target="/ppt/notesMasters/notesMaster1.xml" Id="Rc1c29cdcd30241c3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db510ff8d4f04ab0" /><Relationship Type="http://schemas.openxmlformats.org/officeDocument/2006/relationships/notesMaster" Target="/ppt/notesMasters/notesMaster1.xml" Id="Re0c487cae9d14251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19e5c74a99da4076" /><Relationship Type="http://schemas.openxmlformats.org/officeDocument/2006/relationships/notesMaster" Target="/ppt/notesMasters/notesMaster1.xml" Id="R7103077448ee4579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05734bf9ed914f55" /><Relationship Type="http://schemas.openxmlformats.org/officeDocument/2006/relationships/notesMaster" Target="/ppt/notesMasters/notesMaster1.xml" Id="R5a60b9bb7d384e1f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98f3edbc94654a04" /><Relationship Type="http://schemas.openxmlformats.org/officeDocument/2006/relationships/notesMaster" Target="/ppt/notesMasters/notesMaster1.xml" Id="R426dec576f8a4903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6c77b3c8de8844b1" /><Relationship Type="http://schemas.openxmlformats.org/officeDocument/2006/relationships/notesMaster" Target="/ppt/notesMasters/notesMaster1.xml" Id="Rc8041c5e52b04380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1287a6fc36be4182" /><Relationship Type="http://schemas.openxmlformats.org/officeDocument/2006/relationships/notesMaster" Target="/ppt/notesMasters/notesMaster1.xml" Id="R44a36fb7811b4ef3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3532292d82004d84" /><Relationship Type="http://schemas.openxmlformats.org/officeDocument/2006/relationships/notesMaster" Target="/ppt/notesMasters/notesMaster1.xml" Id="R439b937f31a24a55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1db9987bfcfd45b8" /><Relationship Type="http://schemas.openxmlformats.org/officeDocument/2006/relationships/notesMaster" Target="/ppt/notesMasters/notesMaster1.xml" Id="Rda76a6073f5a4145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1856d1e45d634a34" /><Relationship Type="http://schemas.openxmlformats.org/officeDocument/2006/relationships/notesMaster" Target="/ppt/notesMasters/notesMaster1.xml" Id="Ra1213937c7a24e62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2e81ed4be23f4bdb" /><Relationship Type="http://schemas.openxmlformats.org/officeDocument/2006/relationships/notesMaster" Target="/ppt/notesMasters/notesMaster1.xml" Id="Rcdf5d5dcc8bf46dc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bdfd59232d85474c" /><Relationship Type="http://schemas.openxmlformats.org/officeDocument/2006/relationships/notesMaster" Target="/ppt/notesMasters/notesMaster1.xml" Id="R33efb48ed2f24713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24e482539f534150" /><Relationship Type="http://schemas.openxmlformats.org/officeDocument/2006/relationships/notesMaster" Target="/ppt/notesMasters/notesMaster1.xml" Id="R1a2cbe01668d40f0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c95e595f102d41f9" /><Relationship Type="http://schemas.openxmlformats.org/officeDocument/2006/relationships/notesMaster" Target="/ppt/notesMasters/notesMaster1.xml" Id="R38a290b024544c8e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714fe5924e6942f7" /><Relationship Type="http://schemas.openxmlformats.org/officeDocument/2006/relationships/notesMaster" Target="/ppt/notesMasters/notesMaster1.xml" Id="Rb0c0db89f32a422d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a7ae5ecd37ff45f0" /><Relationship Type="http://schemas.openxmlformats.org/officeDocument/2006/relationships/notesMaster" Target="/ppt/notesMasters/notesMaster1.xml" Id="R4b79a31b9cc94120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39cd3e90ee0641cc" /><Relationship Type="http://schemas.openxmlformats.org/officeDocument/2006/relationships/notesMaster" Target="/ppt/notesMasters/notesMaster1.xml" Id="R2f2fcebdd1014f25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2737ea49d814471f" /><Relationship Type="http://schemas.openxmlformats.org/officeDocument/2006/relationships/notesMaster" Target="/ppt/notesMasters/notesMaster1.xml" Id="R19ec975237894453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45d566c83c9341f4" /><Relationship Type="http://schemas.openxmlformats.org/officeDocument/2006/relationships/notesMaster" Target="/ppt/notesMasters/notesMaster1.xml" Id="R4bcf40608bd04742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7fd56557c3f54b58" /><Relationship Type="http://schemas.openxmlformats.org/officeDocument/2006/relationships/notesMaster" Target="/ppt/notesMasters/notesMaster1.xml" Id="R1fdbbbf2ea1d490b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795bbcd54d7e434f" /><Relationship Type="http://schemas.openxmlformats.org/officeDocument/2006/relationships/notesMaster" Target="/ppt/notesMasters/notesMaster1.xml" Id="Re2f550bd21b74598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fac9b566dd224990" /><Relationship Type="http://schemas.openxmlformats.org/officeDocument/2006/relationships/notesMaster" Target="/ppt/notesMasters/notesMaster1.xml" Id="Rb4b7b52675eb4d0a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2a8b04bca6a74cbe" /><Relationship Type="http://schemas.openxmlformats.org/officeDocument/2006/relationships/notesMaster" Target="/ppt/notesMasters/notesMaster1.xml" Id="Rb3f3f348a2df46a6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3503ee8b4a6648de" /><Relationship Type="http://schemas.openxmlformats.org/officeDocument/2006/relationships/notesMaster" Target="/ppt/notesMasters/notesMaster1.xml" Id="R267abcf602e04143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e9ee5038fd384278" /><Relationship Type="http://schemas.openxmlformats.org/officeDocument/2006/relationships/notesMaster" Target="/ppt/notesMasters/notesMaster1.xml" Id="Rfb7edfa4d5fe40c3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8601197dd4f64c02" /><Relationship Type="http://schemas.openxmlformats.org/officeDocument/2006/relationships/notesMaster" Target="/ppt/notesMasters/notesMaster1.xml" Id="Re918c7086cb047d7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1656a774e71c414a" /><Relationship Type="http://schemas.openxmlformats.org/officeDocument/2006/relationships/notesMaster" Target="/ppt/notesMasters/notesMaster1.xml" Id="Reabe681b72d84898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2398eb2f6b764a8d" /><Relationship Type="http://schemas.openxmlformats.org/officeDocument/2006/relationships/notesMaster" Target="/ppt/notesMasters/notesMaster1.xml" Id="R4a3c1a3a27594b15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87ee64cb07ab4e79" /><Relationship Type="http://schemas.openxmlformats.org/officeDocument/2006/relationships/notesMaster" Target="/ppt/notesMasters/notesMaster1.xml" Id="Rea509048491a4133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47e9b09a00f54eea" /><Relationship Type="http://schemas.openxmlformats.org/officeDocument/2006/relationships/notesMaster" Target="/ppt/notesMasters/notesMaster1.xml" Id="Rf6485ab6be2f44a2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45c6a5c7d5fd497d" /><Relationship Type="http://schemas.openxmlformats.org/officeDocument/2006/relationships/notesMaster" Target="/ppt/notesMasters/notesMaster1.xml" Id="R96cc02f3e2134c8d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23cf15fb201c494c" /><Relationship Type="http://schemas.openxmlformats.org/officeDocument/2006/relationships/notesMaster" Target="/ppt/notesMasters/notesMaster1.xml" Id="R44bb9d98ccfc4286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b9c9c9c08313456a" /><Relationship Type="http://schemas.openxmlformats.org/officeDocument/2006/relationships/notesMaster" Target="/ppt/notesMasters/notesMaster1.xml" Id="Rc2d01fb3e8aa4ed8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602ead0362234c37" /><Relationship Type="http://schemas.openxmlformats.org/officeDocument/2006/relationships/notesMaster" Target="/ppt/notesMasters/notesMaster1.xml" Id="Ra5455f78cf12483e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0dc6fe59118045f6" /><Relationship Type="http://schemas.openxmlformats.org/officeDocument/2006/relationships/notesMaster" Target="/ppt/notesMasters/notesMaster1.xml" Id="Ra69f1a0ebdd3420f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d627446ea85c4000" /><Relationship Type="http://schemas.openxmlformats.org/officeDocument/2006/relationships/notesMaster" Target="/ppt/notesMasters/notesMaster1.xml" Id="Rbecace136a074e59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2afb5e858f904cce" /><Relationship Type="http://schemas.openxmlformats.org/officeDocument/2006/relationships/notesMaster" Target="/ppt/notesMasters/notesMaster1.xml" Id="R997f5c56e420498e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bef9de4dd56941ec" /><Relationship Type="http://schemas.openxmlformats.org/officeDocument/2006/relationships/notesMaster" Target="/ppt/notesMasters/notesMaster1.xml" Id="Rfeaa2ed6187f4537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7443011083e146f1" /><Relationship Type="http://schemas.openxmlformats.org/officeDocument/2006/relationships/notesMaster" Target="/ppt/notesMasters/notesMaster1.xml" Id="R4fa18003b655430e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ae515c6d816d403a" /><Relationship Type="http://schemas.openxmlformats.org/officeDocument/2006/relationships/notesMaster" Target="/ppt/notesMasters/notesMaster1.xml" Id="Rbc3c3aafde9e4821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99d2faac03fd4fc3" /><Relationship Type="http://schemas.openxmlformats.org/officeDocument/2006/relationships/notesMaster" Target="/ppt/notesMasters/notesMaster1.xml" Id="R2a43f611018f4b04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0d3c78979a7b4d61" /><Relationship Type="http://schemas.openxmlformats.org/officeDocument/2006/relationships/notesMaster" Target="/ppt/notesMasters/notesMaster1.xml" Id="Rcb65c379870942db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5d312c4f5d8f4afb" /><Relationship Type="http://schemas.openxmlformats.org/officeDocument/2006/relationships/notesMaster" Target="/ppt/notesMasters/notesMaster1.xml" Id="R26948b03d74146a1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3524102367214741" /><Relationship Type="http://schemas.openxmlformats.org/officeDocument/2006/relationships/notesMaster" Target="/ppt/notesMasters/notesMaster1.xml" Id="R567d2e37fc0447a0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7d586872de3440a1" /><Relationship Type="http://schemas.openxmlformats.org/officeDocument/2006/relationships/notesMaster" Target="/ppt/notesMasters/notesMaster1.xml" Id="R9d797bd0ff074ae0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67bf528ac09d4f00" /><Relationship Type="http://schemas.openxmlformats.org/officeDocument/2006/relationships/notesMaster" Target="/ppt/notesMasters/notesMaster1.xml" Id="R886719fe54f541e2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54c8c5b38e574e24" /><Relationship Type="http://schemas.openxmlformats.org/officeDocument/2006/relationships/notesMaster" Target="/ppt/notesMasters/notesMaster1.xml" Id="R0c15d66894834f3e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5d181b6eb7f841bb" /><Relationship Type="http://schemas.openxmlformats.org/officeDocument/2006/relationships/notesMaster" Target="/ppt/notesMasters/notesMaster1.xml" Id="R8e5f729d13b24bc2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9298928c2939469e" /><Relationship Type="http://schemas.openxmlformats.org/officeDocument/2006/relationships/notesMaster" Target="/ppt/notesMasters/notesMaster1.xml" Id="Rfe858c1f03dd4dd8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211e6ed68994427b" /><Relationship Type="http://schemas.openxmlformats.org/officeDocument/2006/relationships/notesMaster" Target="/ppt/notesMasters/notesMaster1.xml" Id="Rd60505971b314812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2d08b87405d64507" /><Relationship Type="http://schemas.openxmlformats.org/officeDocument/2006/relationships/notesMaster" Target="/ppt/notesMasters/notesMaster1.xml" Id="Rc64ca84cac404065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f22349f4fbae4aa6" /><Relationship Type="http://schemas.openxmlformats.org/officeDocument/2006/relationships/notesMaster" Target="/ppt/notesMasters/notesMaster1.xml" Id="Rb2559b10fd8f43b8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450bece8debe47b2" /><Relationship Type="http://schemas.openxmlformats.org/officeDocument/2006/relationships/notesMaster" Target="/ppt/notesMasters/notesMaster1.xml" Id="R77e8c780b00c4ad4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fb5a197b4fe54886" /><Relationship Type="http://schemas.openxmlformats.org/officeDocument/2006/relationships/notesMaster" Target="/ppt/notesMasters/notesMaster1.xml" Id="Rafebc3c2abd540ec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134446f8f3c04f66" /><Relationship Type="http://schemas.openxmlformats.org/officeDocument/2006/relationships/notesMaster" Target="/ppt/notesMasters/notesMaster1.xml" Id="R8eca8ed80cf9463c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99aa08be158f4f8c" /><Relationship Type="http://schemas.openxmlformats.org/officeDocument/2006/relationships/notesMaster" Target="/ppt/notesMasters/notesMaster1.xml" Id="Ra2afc1dd33f049be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98a8a177ee2644da" /><Relationship Type="http://schemas.openxmlformats.org/officeDocument/2006/relationships/notesMaster" Target="/ppt/notesMasters/notesMaster1.xml" Id="Rb58db13daa8d418e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0b27e4a558c64fb0" /><Relationship Type="http://schemas.openxmlformats.org/officeDocument/2006/relationships/notesMaster" Target="/ppt/notesMasters/notesMaster1.xml" Id="R8929c0086c22411b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3df58b0b87c048b1" /><Relationship Type="http://schemas.openxmlformats.org/officeDocument/2006/relationships/notesMaster" Target="/ppt/notesMasters/notesMaster1.xml" Id="R8e99632a4cd64f9e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3d5cc8d73f344d0c" /><Relationship Type="http://schemas.openxmlformats.org/officeDocument/2006/relationships/notesMaster" Target="/ppt/notesMasters/notesMaster1.xml" Id="R60bc5b4692984919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a284db42a6a244f8" /><Relationship Type="http://schemas.openxmlformats.org/officeDocument/2006/relationships/notesMaster" Target="/ppt/notesMasters/notesMaster1.xml" Id="R662e9a0d78814b5d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2801685c5f3f45c2" /><Relationship Type="http://schemas.openxmlformats.org/officeDocument/2006/relationships/notesMaster" Target="/ppt/notesMasters/notesMaster1.xml" Id="R88253f46b33241bb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48d5b925256b49fc" /><Relationship Type="http://schemas.openxmlformats.org/officeDocument/2006/relationships/notesMaster" Target="/ppt/notesMasters/notesMaster1.xml" Id="R313f773a3d594c04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f948e25de7994f21" /><Relationship Type="http://schemas.openxmlformats.org/officeDocument/2006/relationships/notesMaster" Target="/ppt/notesMasters/notesMaster1.xml" Id="R9c57c91a17024362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2be22bc1775942cb" /><Relationship Type="http://schemas.openxmlformats.org/officeDocument/2006/relationships/notesMaster" Target="/ppt/notesMasters/notesMaster1.xml" Id="R16fca305bc2b4ae4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85a6554d1f494369" /><Relationship Type="http://schemas.openxmlformats.org/officeDocument/2006/relationships/notesMaster" Target="/ppt/notesMasters/notesMaster1.xml" Id="Reff2eefc3f444839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4ca87b650e324a94" /><Relationship Type="http://schemas.openxmlformats.org/officeDocument/2006/relationships/notesMaster" Target="/ppt/notesMasters/notesMaster1.xml" Id="R43e45578c83b4f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la unidad no busca “aprender a mirar FFT”, sino decidir qué objeto y magnitud representa cada visual. Recuperar U4: una señal compleja puede resumirse con RMS sin quedar completamente descripta. **Transición:** mostrar dos señales con igual 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BR; CM.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una predicción individual antes de comparar. Respuesta esperada: no son iguales; el RMS común solo informa tamaño eficaz. Evitar revelar todavía sus espectros. Error frecuente: identificar “misma energía” con “misma señal” o “misma percepción”. **Transición:** preguntar qué gráfico permitiría distinguirlas.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PREV U04-109; BR; TEX 5.1.</a:t>
            </a:r>
          </a:p>
          <a:p xmlns:a="http://schemas.openxmlformats.org/drawingml/2006/main">
            <a:r>
              <a:t>- Asset propio aprobado: U05-CH-001.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60–90 s para clasificar los cuatro mini gráficos. No sancionar errores; anotar si confunden espectro con respuesta y eje vertical con intensidad. Respuesta esperada: la forma visual no basta; deben nombrarse objeto, ejes, unidades y condiciones. **Transición:** recuperar prerrequisitos de U3/U4.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CDM; EP.</a:t>
            </a:r>
          </a:p>
          <a:p xmlns:a="http://schemas.openxmlformats.org/drawingml/2006/main">
            <a:r>
              <a:t>- Asset propio aprobado: U05-DG-002.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primero U3 y luego U4; no volver a enseñar ambos temas. Preguntar: “¿qué unidad tiene `p(t)`?” Respuesta: Pa. “¿Cómo se relacionan `f` y `T`?” Respuesta: inversamente. **Transición:** convertir conocimientos previos en acciones observables.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5.2; BR; NOT.</a:t>
            </a:r>
          </a:p>
          <a:p xmlns:a="http://schemas.openxmlformats.org/drawingml/2006/main">
            <a:r>
              <a:t>- Asset propio aprobado: U05-DG-002.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los objetivos como tareas que podrán demostrar, no como temario. Elegir dos y pedir ejemplos de evidencia. Señalar que calcular sin interpretar ni declarar condiciones no alcanza. **Transición:** ubicar esas acciones en el mapa de la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 objetivos; CM.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Guiar el diagrama de izquierda a derecha: representar, analizar, organizar/modificar, medir/decidir. Explicar que el mapa reaparecerá con más detalle. Aclarar la ruta central y el material complementario. **Transición:** presentar una rutina que funcionará en todos los tramos.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CM; CDM.</a:t>
            </a:r>
          </a:p>
          <a:p xmlns:a="http://schemas.openxmlformats.org/drawingml/2006/main">
            <a:r>
              <a:t>- Asset propio aprobado: U05-DG-001.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Aplicar las cinco preguntas a uno de los gráficos diagnósticos. Respuesta esperada debe incluir una conclusión limitada, no una interpretación perceptual. Pedir que mantengan esta rutina en sus apuntes. **Transición:** usarla sobre una misma señal en varias vistas.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NOT; GLO.</a:t>
            </a:r>
          </a:p>
          <a:p xmlns:a="http://schemas.openxmlformats.org/drawingml/2006/main">
            <a:r>
              <a:t>- Asset propio aprobado: U05-DG-002.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Recuperar U05-002: una vista temporal no responde todas las preguntas. Anticipar que tiempo, frecuencia y fase no compiten; se complementan. **Transición:** comenzar por el dominio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5.3; PDF p. 120.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ejes antes de la curva. Señalar duración, transitorio y periodicidad aproximada. Preguntar qué magnitud está graficada; respuesta: presión, no “sonido” genérico. Error frecuente: confundir altura temporal con frecuencia. **Transición:** preguntar qué no se ve con facilidad.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5.3; NOT.</a:t>
            </a:r>
          </a:p>
          <a:p xmlns:a="http://schemas.openxmlformats.org/drawingml/2006/main">
            <a:r>
              <a:t>- Asset propio aprobado: U05-CH-002.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Insistir en que “FFT” no nombra la ordenada. Dar ejemplos: magnitud, potencia o nivel producen números y unidades distintos. Pregunta: “¿puedo comparar dos espectros si no conozco normalización?” Respuesta: no de forma cuantitativa segura. **Transición:** mostrar una señal en tres vistas coordinadas.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5.3; NOT; GLO.</a:t>
            </a:r>
          </a:p>
          <a:p xmlns:a="http://schemas.openxmlformats.org/drawingml/2006/main">
            <a:r>
              <a:t>- Asset propio aprobado: U05-DG-003.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visual: 1) tiempo, 2) magnitud, 3) fase. Hacer que identifiquen 100 y 200 Hz y luego vinculen cada línea con la suma temporal. No afirmar que un panel es “más real”. **Transición:** convertir la lectura en actividad.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5.1; PDF p. 122.</a:t>
            </a:r>
          </a:p>
          <a:p xmlns:a="http://schemas.openxmlformats.org/drawingml/2006/main">
            <a:r>
              <a:t>- Asset propio aprobado: U05-CH-002.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respuesta después de la descripción: variable temporal `p(t)` en Pa; frecuencia en Hz; fase en rad. Pregunta final esperada: no puede inferirse percepción, causa ni respuesta de un sistema. **Transición:** aislar el papel de la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ejercicios L1.</a:t>
            </a:r>
          </a:p>
          <a:p xmlns:a="http://schemas.openxmlformats.org/drawingml/2006/main">
            <a:r>
              <a:t>- Asset propio aprobado: U05-CH-002.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primero magnitudes iguales y pedir predicción sobre la forma. Luego revelar señales temporales distintas. Explicar fase como ubicación relativa dentro del ciclo, sin números complejos. Error: “si la magnitud es igual, la señal es igual”. **Transición:** comparar el conjunto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5.4.3; BR.</a:t>
            </a:r>
          </a:p>
          <a:p xmlns:a="http://schemas.openxmlformats.org/drawingml/2006/main">
            <a:r>
              <a:t>- Asset propio aprobado: U05-CH-003.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solo si la clase domina U05-013. Señalar que reconstrucción requiere convención, magnitud y fase. No realizar operaciones complejas. Pregunta: “¿qué panel explica la diferencia temporal?” Respuesta: fase. **Transición:** volver a clasificación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5.4.3; EP.</a:t>
            </a:r>
          </a:p>
          <a:p xmlns:a="http://schemas.openxmlformats.org/drawingml/2006/main">
            <a:r>
              <a:t>- Asset propio aprobado: U05-CH-003.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un período y verificar que la forma reaparece. Resolver `0,010 s → 100 Hz` con unidades. Aclarar que registros reales pueden ser aproximadamente periódicos en un tramo. Error: elegir un período múltiplo y llamarlo fundamental. **Transición:** observar una vocal con bordes transitorios.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5.3.1, ecs. 5.1–5.2.</a:t>
            </a:r>
          </a:p>
          <a:p xmlns:a="http://schemas.openxmlformats.org/drawingml/2006/main">
            <a:r>
              <a:t>- Asset propio aprobado: U05-DG-003.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el esquema conceptual mientras no exista U05-MED-003. Explicar ataque, tramo casi estable y final; “aperiódica” no significa automáticamente ruido. Pregunta: “¿puede una misma vocal recibir dos etiquetas?” Respuesta: sí, según tramo y escala. **Transición:** elegir la vista adecuada.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5.3.1; GLO.</a:t>
            </a:r>
          </a:p>
          <a:p xmlns:a="http://schemas.openxmlformats.org/drawingml/2006/main">
            <a:r>
              <a:t>- Asset propio aprobado: U05-CH-004.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una elección: transitorio→tiempo; componentes→magnitud; reconstrucción temporal→magnitud y fase. No repetir definiciones completas; enfatizar relación pregunta–vista. **Transición:** preguntar cómo construir una forma compleja con senoides.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5.3; U05-007–016.</a:t>
            </a:r>
          </a:p>
          <a:p xmlns:a="http://schemas.openxmlformats.org/drawingml/2006/main">
            <a:r>
              <a:t>- Asset propio aprobado: U05-DG-014.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Declarar el principio: Fourier cambia la base matemática, no crea piezas ni describe por sí mismo un mecanismo auditivo. Mostrar suma progresiva sin fórmula. **Transición:** proponer una predicción con tres tonos.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5.4; BR.</a:t>
            </a:r>
          </a:p>
          <a:p xmlns:a="http://schemas.openxmlformats.org/drawingml/2006/main">
            <a:r>
              <a:t>- Asset propio aprobado: U05-DG-003.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que anticipen la suma y qué efecto tendría cambiar fase. Respuesta esperada: la suma depende de frecuencia, amplitud y fase. Hacer una demostración gráfica rápida si es posible. **Transición:** escuchar o ver la suma.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U3; TEX 5.4; EP.</a:t>
            </a:r>
          </a:p>
          <a:p xmlns:a="http://schemas.openxmlformats.org/drawingml/2006/main">
            <a:r>
              <a:t>- Asset propio aprobado: U05-CH-005.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 hay audio propio aprobado, reproducir tonos breves a nivel seguro y luego la suma; si no, usar cuatro paneles estáticos. No discutir timbre o sonoridad en profundidad. **Transición:** aumentar el número de componentes.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5.4; EP.</a:t>
            </a:r>
          </a:p>
          <a:p xmlns:a="http://schemas.openxmlformats.org/drawingml/2006/main">
            <a:r>
              <a:t>- Asset propio aprobado: U05-CH-005.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Revelar 1, 3 y 5 términos manteniendo ejes fijos. Preguntar dónde mejora y dónde persisten oscilaciones. Explicar Gibbs solo como límite visual; no llamarlo ruido. **Transición:** compactar la construcción en una serie.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5.2; PDF p. 124.</a:t>
            </a:r>
          </a:p>
          <a:p xmlns:a="http://schemas.openxmlformats.org/drawingml/2006/main">
            <a:r>
              <a:t>- Asset propio aprobado: U05-CH-005.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la ecuación por partes: media, índice, frecuencia `nf_0`, coeficientes. Preguntar qué cambia al pasar de `n=1` a `n=2`; respuesta: frecuencia y coeficientes asociados. No derivar. **Transición:** responder de dónde salen los coeficientes.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5.4.1, ec. 5.3.</a:t>
            </a:r>
          </a:p>
          <a:p xmlns:a="http://schemas.openxmlformats.org/drawingml/2006/main">
            <a:r>
              <a:t>- Asset propio aprobado: U05-DG-003.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las integrales como comparación acumulada en t∈[t₀,t₀+T₀]. El origen puede trasladarse sin cambiar la duración T₀. No pedir el cálculo; verificar unidades y regresar al ejemplo armónico.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Programa oficial 2025, U5.</a:t>
            </a:r>
          </a:p>
          <a:p xmlns:a="http://schemas.openxmlformats.org/drawingml/2006/main">
            <a:r>
              <a:t>- Libro del curso, cap. 5, §5.4.1, ecs. 5.4–5.5.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estimación del período común. Resolver períodos individuales y luego el patrón de 10 ms. Aclarar que en este ejemplo la fundamental también es componente presente, pero no siempre. **Transición:** evaluar qué ocurre al sumar más términos.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5.4.2.</a:t>
            </a:r>
          </a:p>
          <a:p xmlns:a="http://schemas.openxmlformats.org/drawingml/2006/main">
            <a:r>
              <a:t>- Asset propio aprobado: U05-DG-003.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esperada: mejora lejos de discontinuidades; persisten sobreoscilaciones cerca de ellas; no son ruido experimental. Verificar que nadie compare paneles con autoscale distinto. **Transición:** señalar que una frase no repite un período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 L2.</a:t>
            </a:r>
          </a:p>
          <a:p xmlns:a="http://schemas.openxmlformats.org/drawingml/2006/main">
            <a:r>
              <a:t>- Asset propio aprobado: U05-CH-005.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periodicidad ideal con señal general sin afirmar que todo registro real tenga espectro continuo. Presentar la transformada como extensión conceptual. **Transición:** mostrar la fórmula solo como referencia.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5.4.3.</a:t>
            </a:r>
          </a:p>
          <a:p xmlns:a="http://schemas.openxmlformats.org/drawingml/2006/main">
            <a:r>
              <a:t>- Asset propio aprobado: U05-DG-003.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`j` como notación que reúne seno y coseno. Leer límites, variable y unidad; no operar números complejos. Pregunta: “¿por qué la unidad puede incluir segundos?” Respuesta: por la integración en tiempo bajo esta convención. **Transición:** separar magnitud y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5.4.3, ec. 5.6; NOT.</a:t>
            </a:r>
          </a:p>
          <a:p xmlns:a="http://schemas.openxmlformats.org/drawingml/2006/main">
            <a:r>
              <a:t>- Asset propio aprobado: U05-DG-003.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directamente con U05-013. Señalar que magnitud tiene la unidad definida por la convención y fase se expresa en radianes. Error: tratar `e^{jφ}` como fenómeno físico. **Transición:** recapitular herramienta y objeto.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5.4.3, ec. 5.7.</a:t>
            </a:r>
          </a:p>
          <a:p xmlns:a="http://schemas.openxmlformats.org/drawingml/2006/main">
            <a:r>
              <a:t>- Asset propio aprobado: U05-DG-003.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que completen oralmente: serie→señal periódica; transformada→señal general; DFT→registro discreto; FFT→algoritmo. Respuesta de control: ninguna “crea” componentes. **Transición:** preguntar cómo se obtiene el gráfico desde datos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5.4; BR.</a:t>
            </a:r>
          </a:p>
          <a:p xmlns:a="http://schemas.openxmlformats.org/drawingml/2006/main">
            <a:r>
              <a:t>- Asset propio aprobado: U05-DG-014.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fenómeno, sensor, datos y algoritmo. Pregunta: “¿en qué etapa aparece el número digital?” Respuesta: después de transducción y conversión/muestreo. **Transición:** desmontar la frase “el micrófono entrega una FFT”.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5.4.4; CM.</a:t>
            </a:r>
          </a:p>
          <a:p xmlns:a="http://schemas.openxmlformats.org/drawingml/2006/main">
            <a:r>
              <a:t>- Asset propio aprobado: U05-DG-004.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unidades por etapa. Enfatizar que el micrófono entrega señal eléctrica, no espectro. Error frecuente: usar FFT como nombre del instrumento. **Transición:** definir muestreo.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 y 5.11; GLO.</a:t>
            </a:r>
          </a:p>
          <a:p xmlns:a="http://schemas.openxmlformats.org/drawingml/2006/main">
            <a:r>
              <a:t>- Asset propio aprobado: U05-DG-004.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puntos sobre la curva y calcular `T_s` para 8 kHz. Aclarar que Hz equivale aquí a muestras por segundo por el contexto. Mencionar aliasing solo como límite posterior. **Transición:** agregar `N` para conocer duración.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5.4.4; NOT; EP.</a:t>
            </a:r>
          </a:p>
          <a:p xmlns:a="http://schemas.openxmlformats.org/drawingml/2006/main">
            <a:r>
              <a:t>- Asset propio aprobado: U05-CH-006.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Hacer control dimensional: muestras/(muestras/s)=s. Comparar dos registros con igual `f_s`. Pregunta: “si duplica N, qué cambia?” Respuesta provisional: duración. **Transición:** distinguir DFT, FFT y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5.4.4, ec. 5.8.</a:t>
            </a:r>
          </a:p>
          <a:p xmlns:a="http://schemas.openxmlformats.org/drawingml/2006/main">
            <a:r>
              <a:t>- Asset propio aprobado: U05-DG-004.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ejemplos de frases correctas: “calculo la DFT con una FFT” y “grafico su magnitud”. Corregir “la FFT es el espectro”. **Transición:** ubicar los valores discretos.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5.4.4; GLO.</a:t>
            </a:r>
          </a:p>
          <a:p xmlns:a="http://schemas.openxmlformats.org/drawingml/2006/main">
            <a:r>
              <a:t>- Asset propio aprobado: U05-DG-004.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bin como posición, no recipiente físico universal. Señalar `k=0` y separaciones iguales. Pregunta: “¿una línea ocupa siempre un bin?” Respuesta: no; depende de duración y ventana. **Transición:** relacionar separación y duración.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 y 5.4.7; NOT.</a:t>
            </a:r>
          </a:p>
          <a:p xmlns:a="http://schemas.openxmlformats.org/drawingml/2006/main">
            <a:r>
              <a:t>- Asset propio aprobado: U05-CH-007.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las tres formas de la ecuación y sus unidades. Comparar dos rejillas. Repetir “separación nominal”, no “exactitud”. **Transición:** resolver un caso numérico.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5.4.4, ec. 5.9.</a:t>
            </a:r>
          </a:p>
          <a:p xmlns:a="http://schemas.openxmlformats.org/drawingml/2006/main">
            <a:r>
              <a:t>- Asset propio aprobado: U05-CH-007.</a:t>
            </a:r>
          </a:p>
          <a:p xmlns:a="http://schemas.openxmlformats.org/drawingml/2006/main">
            <a:r>
              <a:t>- Asset propio aprobado: U05-DG-004.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estimación: 2000 muestras a 8000/s deben durar menos de un segundo. Resolver cada paso y terminar con interpretación de 4 Hz. **Transición:** duplicar `N` mentalmente.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5.4.6.</a:t>
            </a:r>
          </a:p>
          <a:p xmlns:a="http://schemas.openxmlformats.org/drawingml/2006/main">
            <a:r>
              <a:t>- Asset propio aprobado: U05-DG-004.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Respuestas correctas: B y C. D es falsa: exactitud depende de más factores. Pedir explicación causal, no solo marcar opciones. **Transición:** nombrar esos factores.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 D2.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un contraejemplo de picos anchos o inestables. Explicar que resolución del eje y capacidad de estimar son problemas relacionados, no idénticos. **Transición:** cerrar vocabulario digital.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 y 5.13.</a:t>
            </a:r>
          </a:p>
          <a:p xmlns:a="http://schemas.openxmlformats.org/drawingml/2006/main">
            <a:r>
              <a:t>- Asset propio aprobado: U05-DG-004.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Pregunta esperada: faltan ordenada, unidad, normalización y condiciones. Hacer que un estudiante reconstruya la cadena completa. **Transición:** preguntar por qué un tono puede aparecer en varios bins.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5.4.4; U05-031–039.</a:t>
            </a:r>
          </a:p>
          <a:p xmlns:a="http://schemas.openxmlformats.org/drawingml/2006/main">
            <a:r>
              <a:t>- Asset propio aprobado: U05-DG-014.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el segmento elegido y preguntar qué ocurre en sus bordes. Señalar que seleccionar ya es una decisión analítica. **Transición:** expresar la selección como ventana.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5.4.5.</a:t>
            </a:r>
          </a:p>
          <a:p xmlns:a="http://schemas.openxmlformats.org/drawingml/2006/main">
            <a:r>
              <a:t>- Asset propio aprobado: U05-CH-008.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Nombrar el resultado como señal ventaneada. Explicar que w(t) pondera el registro en el tiempo y es adimensional; el producto conserva la unidad de x(t). No confundir ventana temporal con filtro frecuencial.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Libro del curso, cap. 5, §5.4.5.</a:t>
            </a:r>
          </a:p>
          <a:p xmlns:a="http://schemas.openxmlformats.org/drawingml/2006/main">
            <a:r>
              <a:t>- Elaboración pedagógica propia.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primero tiempo y luego espectro, con escalas idénticas. Respuesta esperada: el caso no entero distribuye la contribución. Error: llamarla ruido o nuevas frecuencias físicas. **Transición:** definir fuga.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5.4.5; EP.</a:t>
            </a:r>
          </a:p>
          <a:p xmlns:a="http://schemas.openxmlformats.org/drawingml/2006/main">
            <a:r>
              <a:t>- Asset propio aprobado: U05-CH-008.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definición y pedir que identifiquen causa, efecto y condiciones. Aclarar que la fuga no es una única “falla del software”. **Transición:** presentar el compromiso de otras ventanas.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 y 5.13.</a:t>
            </a:r>
          </a:p>
          <a:p xmlns:a="http://schemas.openxmlformats.org/drawingml/2006/main">
            <a:r>
              <a:t>- Asset propio aprobado: U05-CH-008.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Mientras CH-009 esté pendiente, usar solo comparación cualitativa. No dar cifras de lóbulos. Pregunta: “¿qué ventana es mejor?” Respuesta: depende de la pregunta y del criterio. **Transición:** introducir compromiso tiempo–frecuencia.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5.4.5; comparación conceptual reproducible.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visual: leer eje tiempo, eje frecuencia, barra de color y parámetros. Preguntar qué configuración localiza mejor un cambio; corta. Cuál separa tonos próximos; larga. **Transición:** construir el espectrograma por etapas.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5.3; PDF p. 126.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segmentos sucesivos; cada espectro forma una columna. Evitar exigir la sigla STFT. Pregunta: “¿qué significa un color más intenso?” Respuesta: mayor valor de la ordenada declarada, no “más frecuencia”. **Transición:** aplicación vocal.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5.4.5; GLO.</a:t>
            </a:r>
          </a:p>
          <a:p xmlns:a="http://schemas.openxmlformats.org/drawingml/2006/main">
            <a:r>
              <a:t>- Asset propio aprobado: U05-DG-005.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primero los ejes y la barra de color. Identificar: 500 Hz durante casi todo el registro; 1500 Hz aproximadamente entre 0,5 y 2,5 s; 3000 Hz en dos intervalos. El gráfico es sintético y sirve para practicar lectura, no para diagnosticar ni describir una voz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Libro del curso, cap. 5; context/libro_latex/figures/espectrograma.png.</a:t>
            </a:r>
          </a:p>
          <a:p xmlns:a="http://schemas.openxmlformats.org/drawingml/2006/main">
            <a:r>
              <a:t>- Programa oficial 2025, U5.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Modificar mentalmente `T_obs`: cambian bins, permanecen límites definidos de la banda. Pedir una frase comparativa completa. **Transición:** mostrar cómo se integran niveles.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5.4.7; GLO.</a:t>
            </a:r>
          </a:p>
          <a:p xmlns:a="http://schemas.openxmlformats.org/drawingml/2006/main">
            <a:r>
              <a:t>- Asset propio aprobado: U05-DG-005.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Recuperar suma energética de U4. Resolver dos niveles iguales y verificar 53,01 dB. Aclarar condiciones de referencia y compatibilidad. **Transición:** recapitular metadatos del análisis.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5.4.7; PREV U4.</a:t>
            </a:r>
          </a:p>
          <a:p xmlns:a="http://schemas.openxmlformats.org/drawingml/2006/main">
            <a:r>
              <a:t>- Asset propio aprobado: U05-DG-005.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que elijan ventana corta o larga para un ataque y justifiquen. Respuesta: corta para localización temporal, con costo frecuencial. Repetir el checklist sin copiar definiciones. **Transición:** cambiar de cómo se analiza a qué objeto se analiza.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5.4.4–5.4.7; NOT.</a:t>
            </a:r>
          </a:p>
          <a:p xmlns:a="http://schemas.openxmlformats.org/drawingml/2006/main">
            <a:r>
              <a:t>- Asset propio aprobado: U05-DG-014.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dos curvas parecidas y preguntar si podrían pertenecer a objetos distintos. Respuesta: sí. Declarar este bloque como nudo central. **Transición:** definir espectro de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5.5; CDM.</a:t>
            </a:r>
          </a:p>
          <a:p xmlns:a="http://schemas.openxmlformats.org/drawingml/2006/main">
            <a:r>
              <a:t>- Asset propio aprobado: U05-DG-006.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los cinco condicionantes de una vocal. Evitar la expresión universal “espectro de la voz”. Pregunta: “¿cambiar de tramo puede cambiar el espectro?” Respuesta: sí. **Transición:** contrastar con una propiedad entrada–salida.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5.5; GLO.</a:t>
            </a:r>
          </a:p>
          <a:p xmlns:a="http://schemas.openxmlformats.org/drawingml/2006/main">
            <a:r>
              <a:t>- Asset propio aprobado: U05-DG-006.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sistema mediante filtro, audífono y tracto. Pregunta: “¿basta una salida para hallar respuesta?” Respuesta: no; hace falta entrada comparable y procedimiento. **Transición:** comparar objetos con criterios iguales.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5.5; GLO.</a:t>
            </a:r>
          </a:p>
          <a:p xmlns:a="http://schemas.openxmlformats.org/drawingml/2006/main">
            <a:r>
              <a:t>- Asset propio aprobado: U05-DG-006.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Hacer que la diferencia sea semántica: usar ejes visualmente semejantes. Pedir qué datos necesita cada columna. Error: decidir por el aspecto de la curva. **Transición:** reunir entrada, sistema y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5.5; CDM.</a:t>
            </a:r>
          </a:p>
          <a:p xmlns:a="http://schemas.openxmlformats.org/drawingml/2006/main">
            <a:r>
              <a:t>- Asset propio aprobado: U05-DG-006.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Guiar X→H→Y frecuencia por frecuencia. Mostrar que una frecuencia puede ser fuerte en la salida por entrada fuerte, ganancia alta o ambas. Pregunta: “¿Y determina X y H por separado?” Respuesta: no. **Transición:** definir H mediante razón.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5.4.</a:t>
            </a:r>
          </a:p>
          <a:p xmlns:a="http://schemas.openxmlformats.org/drawingml/2006/main">
            <a:r>
              <a:t>- Asset propio aprobado: U05-DG-006.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condición `X≠0` antes de dividir. Explicar magnitud y fase de H. Error: dividir registros incompatibles o frecuencias distintas. **Transición:** expresar magnitud como ganancia.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5.5, ec. 5.12; NOT.</a:t>
            </a:r>
          </a:p>
          <a:p xmlns:a="http://schemas.openxmlformats.org/drawingml/2006/main">
            <a:r>
              <a:t>- Asset propio aprobado: U05-DG-006.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estimación del signo: una mitad debe dar ganancia negativa. Resolver logaritmo y aclarar que −6,02 dB describe la razón en 1000 Hz. **Transición:** mostrar un cambio de fase sin cambio de magnitud.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5.5.1; NOT.</a:t>
            </a:r>
          </a:p>
          <a:p xmlns:a="http://schemas.openxmlformats.org/drawingml/2006/main">
            <a:r>
              <a:t>- Asset propio aprobado: U05-DG-006.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Desplazar una señal en pantalla o con gesto temporal. Explicar pendiente de fase sin derivar. Pregunta: “si |H|=1, el sistema no cambia nada?” Respuesta: puede cambiar fase. **Transición:** aplicar la cadena a voz.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5.5, ec. 5.14.</a:t>
            </a:r>
          </a:p>
          <a:p xmlns:a="http://schemas.openxmlformats.org/drawingml/2006/main">
            <a:r>
              <a:t>- Asset propio aprobado: U05-DG-006.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Guía: fuente glótica, tracto, radiación/registro. Distinguir líneas y envolvente. Aclarar que es modelo introductorio y no diagnóstico. **Transición:** aplicar la misma lógica a un dispositivo.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 y 5.12; Brockmann2011.</a:t>
            </a:r>
          </a:p>
          <a:p xmlns:a="http://schemas.openxmlformats.org/drawingml/2006/main">
            <a:r>
              <a:t>- Asset propio aprobado: U05-DG-007.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clasificación de cada dato: voz o audífono. No anticipar prescripción clínica. Respuesta esperada: `G(f)` pertenece al dispositivo bajo prueba. **Transición:** hacer una recap de señal/sistema/salida.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aplicación F3.</a:t>
            </a:r>
          </a:p>
          <a:p xmlns:a="http://schemas.openxmlformats.org/drawingml/2006/main">
            <a:r>
              <a:t>- Asset propio aprobado: U05-DG-006.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tres mini casos y exigir frase completa: objeto, datos y conclusión. Corregir “espectro de salida = respuesta”. **Transición:** preguntar cómo se nombran las líneas periódicas.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5.5; CDM.</a:t>
            </a:r>
          </a:p>
          <a:p xmlns:a="http://schemas.openxmlformats.org/drawingml/2006/main">
            <a:r>
              <a:t>- Asset propio aprobado: U05-DG-014.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pico dominante sin rótulo y recoger intuiciones. Anticipar que la amplitud será distractor. **Transición:** recuperar definición temporal de fundamental.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5.6.</a:t>
            </a:r>
          </a:p>
          <a:p xmlns:a="http://schemas.openxmlformats.org/drawingml/2006/main">
            <a:r>
              <a:t>- Asset propio aprobado: U05-CH-011.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período y espaciado. Aclarar que pitch se estudia en U7. Pregunta: “¿la línea fundamental debe ser la mayor?” Respuesta: no. **Transición:** ordenar términos por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5.6; GLO.</a:t>
            </a:r>
          </a:p>
          <a:p xmlns:a="http://schemas.openxmlformats.org/drawingml/2006/main">
            <a:r>
              <a:t>- Asset propio aprobado: U05-DG-007.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la tabla con inclusión lógica: todo armónico es parcial. Resolver el caso de 200 Hz con `f_0=100 Hz`: segundo armónico y primer sobretono. Error: primer sobretono = primer armónico. **Transición:** ver el distractor de amplitud.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5.6; GLO.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identificar `f_0` antes de mostrar rótulos. Respuesta: 100 Hz aunque 200 Hz sea mayor. Justificación: periodicidad/espaciado. **Transición:** retirar la línea de 100 Hz.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5.5a.</a:t>
            </a:r>
          </a:p>
          <a:p xmlns:a="http://schemas.openxmlformats.org/drawingml/2006/main">
            <a:r>
              <a:t>- Asset propio aprobado: U05-CH-011.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diferencias 300−200 y 400−300. Respuesta: ambas 100 Hz; periodicidad compatible con `f_0=100 Hz`. No explicar pitch ausente. **Transición:** contrastar con espaciados no enteros.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5.6; fig. 5.5c.</a:t>
            </a:r>
          </a:p>
          <a:p xmlns:a="http://schemas.openxmlformats.org/drawingml/2006/main">
            <a:r>
              <a:t>- Asset propio aprobado: U05-CH-011.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Dividir frecuencias por 100 Hz. Identificar razones no enteras. Mantener el ejemplo en terminología, sin acústica musical avanzada. **Transición:** reunir tres contraejemplos.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5.5b.</a:t>
            </a:r>
          </a:p>
          <a:p xmlns:a="http://schemas.openxmlformats.org/drawingml/2006/main">
            <a:r>
              <a:t>- Asset propio aprobado: U05-CH-011.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Asignar un caso por pareja. Pedir evidencia de periodicidad, no solo respuesta. Corregir “pico máximo decide”. **Transición:** diferenciar líneas de resonancias amplias.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5.13; ejercicio D1.</a:t>
            </a:r>
          </a:p>
          <a:p xmlns:a="http://schemas.openxmlformats.org/drawingml/2006/main">
            <a:r>
              <a:t>- Asset propio aprobado: U05-DG-007.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Señalar líneas y envolvente con gestos distintos. Definir formante con dependencia de método. No asignar valores universales ni diagnósticos. **Transición:** leer un caso vocal.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5.5; Brockmann2011.</a:t>
            </a:r>
          </a:p>
          <a:p xmlns:a="http://schemas.openxmlformats.org/drawingml/2006/main">
            <a:r>
              <a:t>- Asset propio aprobado: U05-DG-007.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sintético hasta contar con registro autorizado. Pedir dos observaciones: espaciado y regiones de envolvente. Respuesta: 100 Hz de separación; máximos cerca de 700/1100 Hz. **Transición:** clasificar términos.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 y 5.12; Brockmann2011.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Admitir etiquetas múltiples cuando el criterio lo permite. Exigir justificación: múltiplo, posición sobre fundamental o resonancia. **Transición:** sintetizar fuente y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ejercicios C3, L4 y F1.</a:t>
            </a:r>
          </a:p>
          <a:p xmlns:a="http://schemas.openxmlformats.org/drawingml/2006/main">
            <a:r>
              <a:t>- Asset propio aprobado: U05-CH-011.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Reconstruir mapa con aportes de estudiantes. Preguntar qué pertenece a fuente y qué a tracto. Recordar límite hacia pitch. **Transición:** pasar de líneas a regiones del espectro.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5.5–5.6.</a:t>
            </a:r>
          </a:p>
          <a:p xmlns:a="http://schemas.openxmlformats.org/drawingml/2006/main">
            <a:r>
              <a:t>- Asset propio aprobado: U05-DG-014.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fronteras como convenciones bajo condiciones. Evitar hablar aún de sensibilidad. **Transición:** leer el eje logarítmico.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5.7.</a:t>
            </a:r>
          </a:p>
          <a:p xmlns:a="http://schemas.openxmlformats.org/drawingml/2006/main">
            <a:r>
              <a:t>- Asset propio aprobado: U05-CH-013.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20 Hz/20 kHz no forman paredes ni sensibilidad uniforme. Pregunta: “¿qué variables faltan?” Respuesta: oyente, nivel, estímulo y condiciones. **Transición:** profundizar baja frecuencia.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5.7.1; Oxenham2018; ISO 226:2023.</a:t>
            </a:r>
          </a:p>
          <a:p xmlns:a="http://schemas.openxmlformats.org/drawingml/2006/main">
            <a:r>
              <a:t>- Asset propio aprobado: U05-CH-013.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Desarmar “infra = siempre imperceptible”. Nombrar nivel, duración, vibración y distorsión. No dar ejemplos alarmistas. **Transición:** formular audible como relación.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5.7.1; Oxenham2018.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Seguir estímulo–condición–oyente. Aclarar detectabilidad ≠ sonoridad ≠ comodidad. Anticipar curvas de U7 sin explicarlas. **Transición:** cerrar con ultrasonido.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5.7.1; CM U7.</a:t>
            </a:r>
          </a:p>
          <a:p xmlns:a="http://schemas.openxmlformats.org/drawingml/2006/main">
            <a:r>
              <a:t>- Asset propio aprobado: U05-DG-008.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por frecuencia y usar imagenología solo como ejemplo general. Preguntar por OEA; respuesta: no es automáticamente ultrasonido. **Transición:** cambiar de frecuencias a niveles.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5.7.1.</a:t>
            </a:r>
          </a:p>
          <a:p xmlns:a="http://schemas.openxmlformats.org/drawingml/2006/main">
            <a:r>
              <a:t>- Alternativa aprobada usada: U05-DG-008; no se insertó la fotografía U05-EXT-001 porque el recorte sensible no resultó adecuado en contexto de slide.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 dimensional: dB−dB=dB cuando descriptores son compatibles. Diferenciar rango dinámico de rango de frecuencia. **Transición:** aplicar a voz.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5.7.2, ec. 5.15; NOT.</a:t>
            </a:r>
          </a:p>
          <a:p xmlns:a="http://schemas.openxmlformats.org/drawingml/2006/main">
            <a:r>
              <a:t>- Asset propio aprobado: U05-DG-008.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valor como caso hipotético. Preguntar qué ocurriría al cambiar distancia o tarea; respuesta: extremos pueden cambiar. Error: confundir con rango de pitch. **Transición:** comparar con instrumento.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aplicación F5.</a:t>
            </a:r>
          </a:p>
          <a:p xmlns:a="http://schemas.openxmlformats.org/drawingml/2006/main">
            <a:r>
              <a:t>- Asset propio aprobado: U05-DG-008.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plantilla sin cifras. Pedir qué variables controlarían en un registro instrumental. No incorporar tabla genérica. **Transición:** trasladar condiciones al oído.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5.7.2; OD.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Explicitar la tensión programa/libro. No negar el término, sino definir condiciones. Pregunta: “¿qué criterio superior usaríamos?” Respuesta: uno definido y documentado. **Transición:** recapitular frecuencia, nivel y condición.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5.7.2; OD-U05-07.</a:t>
            </a:r>
          </a:p>
          <a:p xmlns:a="http://schemas.openxmlformats.org/drawingml/2006/main">
            <a:r>
              <a:t>- Asset propio aprobado: U05-DG-008.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los dos ejes. Dar una cifra aislada y preguntar qué información falta. Respuesta: descriptor, estímulo, procedimiento y población. **Transición:** agrupar frecuencias en bandas.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5.7.</a:t>
            </a:r>
          </a:p>
          <a:p xmlns:a="http://schemas.openxmlformats.org/drawingml/2006/main">
            <a:r>
              <a:t>- Asset propio aprobado: U05-DG-014.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Recordar bin/banda. Mostrar que las bandas se organizan por razón. **Transición:** explicar para qué agrupar.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5.8.</a:t>
            </a:r>
          </a:p>
          <a:p xmlns:a="http://schemas.openxmlformats.org/drawingml/2006/main">
            <a:r>
              <a:t>- Asset propio aprobado: U05-DG-009.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espectro fino y barras. Pedir qué se conserva y qué se pierde. Respuesta: energía por intervalo; se pierde detalle de ubicación. **Transición:** definir razón de octava.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5.4.7 y 5.8.</a:t>
            </a:r>
          </a:p>
          <a:p xmlns:a="http://schemas.openxmlformats.org/drawingml/2006/main">
            <a:r>
              <a:t>- Asset propio aprobado: U05-CH-015.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Calcular `2^(1/3)` solo si ayuda; prioridad a interpretación multiplicativa. Mostrar distancias iguales en eje log. **Transición:** comparar con armónicos.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5.8, ec. 5.17.</a:t>
            </a:r>
          </a:p>
          <a:p xmlns:a="http://schemas.openxmlformats.org/drawingml/2006/main">
            <a:r>
              <a:t>- Asset propio aprobado: U05-DG-009.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pares 1→2 y 2→4; preguntar por 2→3. Respuesta: no es octava. Error: toda separación armónica es octava. **Transición:** encontrar centro.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5.6 y 5.8; EP.</a:t>
            </a:r>
          </a:p>
          <a:p xmlns:a="http://schemas.openxmlformats.org/drawingml/2006/main">
            <a:r>
              <a:t>- Asset propio aprobado: U05-DG-009.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media aritmética 1250 Hz con geométrica 1000 Hz para 500–2000 Hz. Verificar razones 2 y 2. **Transición:** obtener límites desde centro.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5.8, ec. 5.16.</a:t>
            </a:r>
          </a:p>
          <a:p xmlns:a="http://schemas.openxmlformats.org/drawingml/2006/main">
            <a:r>
              <a:t>- Asset propio aprobado: U05-DG-009.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exponentes como factores recíprocos. No derivar logaritmos. Identificar `b`. **Transición:** restar límites para ancho absoluto.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5.8, ec. 5.18.</a:t>
            </a:r>
          </a:p>
          <a:p xmlns:a="http://schemas.openxmlformats.org/drawingml/2006/main">
            <a:r>
              <a:t>- Asset propio aprobado: U05-DG-009.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dos bandas iguales en eje log y desiguales en Hz. Pregunta: “¿B y Δf son lo mismo?” Respuesta: no. **Transición:** reunir relaciones en tres tercios.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5.8, ec. 5.19.</a:t>
            </a:r>
          </a:p>
          <a:p xmlns:a="http://schemas.openxmlformats.org/drawingml/2006/main">
            <a:r>
              <a:t>- Asset propio aprobado: U05-DG-009.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Mientras CH-014 esté pendiente, enseñar relaciones sin centros nominales. Multiplicar tres razones `2^(1/3)` para obtener 2. **Transición:** resolver banda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5.6; relación exacta de tres tercios por octava.</a:t>
            </a:r>
          </a:p>
          <a:p xmlns:a="http://schemas.openxmlformats.org/drawingml/2006/main">
            <a:r>
              <a:t>- Asset propio aprobado: U05-DG-009.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Calcular los límites con el factor 2^(1/6), redondear al final y verificar B=231,6 Hz. Señalar la corrección del ancho 176 Hz citado en el capítulo y distinguir valores exactos de centros nominales normalizados.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Libro del curso, cap. 5, §5.8.1.</a:t>
            </a:r>
          </a:p>
          <a:p xmlns:a="http://schemas.openxmlformats.org/drawingml/2006/main">
            <a:r>
              <a:t>- IEC 61260-1:2014, referencia conceptual de series normalizadas.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esperada: la banda centrada en 2000 Hz tiene mayor ancho en Hz. Pedir explicación multiplicativa antes de números. **Transición:** cerrar bin/banda/octava/tercio.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ejercicios G3/A2 adaptados.</a:t>
            </a:r>
          </a:p>
          <a:p xmlns:a="http://schemas.openxmlformats.org/drawingml/2006/main">
            <a:r>
              <a:t>- Asset propio aprobado: U05-DG-009.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cuatro definiciones de una línea. Pregunta de control: al cambiar `T_obs`, cambia el bin, no los límites de una banda normalizada. **Transición:** preguntar cómo modificar regiones.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5.4.7 y 5.8.</a:t>
            </a:r>
          </a:p>
          <a:p xmlns:a="http://schemas.openxmlformats.org/drawingml/2006/main">
            <a:r>
              <a:t>- Asset propio aprobado: U05-DG-014.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Recuperar H(f): un filtro es un sistema. Mostrar cuatro siluetas y evitar todavía asociarlas a sonidos. **Transición:** definir parámetros.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5.9.</a:t>
            </a:r>
          </a:p>
          <a:p xmlns:a="http://schemas.openxmlformats.org/drawingml/2006/main">
            <a:r>
              <a:t>- Asset propio aprobado: U05-CH-016.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paso, rechazo, transición y criterio. Preguntar qué significa `f_c`; respuesta: depende de criterio. **Transición:** comparar un solo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5.9; GLO.</a:t>
            </a:r>
          </a:p>
          <a:p xmlns:a="http://schemas.openxmlformats.org/drawingml/2006/main">
            <a:r>
              <a:t>- Asset propio aprobado: U05-DG-010.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ambas curvas con la misma escala. Pedir región conservada y atenuada. **Transición:** pasar a dos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5.7a–b.</a:t>
            </a:r>
          </a:p>
          <a:p xmlns:a="http://schemas.openxmlformats.org/drawingml/2006/main">
            <a:r>
              <a:t>- Asset propio aprobado: U05-CH-016.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Marcar `f_L`, `f_H`, `f_c` y `B`. Mencionar notch como caso estrecho, no como diseño. **Transición:** confrontar ideal y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5.7c–d.</a:t>
            </a:r>
          </a:p>
          <a:p xmlns:a="http://schemas.openxmlformats.org/drawingml/2006/main">
            <a:r>
              <a:t>- Asset propio aprobado: U05-CH-016.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Guía: ideal esquemático, Butterworth real, corte, transición. Explicar que el gráfico es modelo documentado. No afirmar respuesta universal. **Transición:** definir criterio de 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5.7; script U5.</a:t>
            </a:r>
          </a:p>
          <a:p xmlns:a="http://schemas.openxmlformats.org/drawingml/2006/main">
            <a:r>
              <a:t>- Asset propio aprobado: U05-CH-016.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error “pared”. Preguntar si −3 dB vale siempre; respuesta: no. Exigir criterio en futuras respuestas. **Transición:** reutilizar centro y ancho.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5.9; GLO; OD-U05-23.</a:t>
            </a:r>
          </a:p>
          <a:p xmlns:a="http://schemas.openxmlformats.org/drawingml/2006/main">
            <a:r>
              <a:t>- Asset propio aprobado: U05-DG-010.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Resolver centro geométrico y ancho. Repetir que aquí `f_L/f_H` pertenecen a un sistema, no a una banda normativa. **Transición:** ofrecer escucha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5.9.</a:t>
            </a:r>
          </a:p>
          <a:p xmlns:a="http://schemas.openxmlformats.org/drawingml/2006/main">
            <a:r>
              <a:t>- Asset propio aprobado: U05-DG-010.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Reproducir audio solo si está producido y nivelado; anunciar orden antes. Pedir predicción desde curvas y luego escuchar. Alternativa obligatoria: espectros estáticos. **Transición:** reconocer filtros sin audio.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5.9; EP.</a:t>
            </a:r>
          </a:p>
          <a:p xmlns:a="http://schemas.openxmlformats.org/drawingml/2006/main">
            <a:r>
              <a:t>- Asset propio aprobado: U05-CH-016.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90 s para clasificar. Respuesta: pasa bajos, altos, banda y elimina banda; justificar paso/rechazo. **Transición:** separar propósitos de filtrado.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 L5.</a:t>
            </a:r>
          </a:p>
          <a:p xmlns:a="http://schemas.openxmlformats.org/drawingml/2006/main">
            <a:r>
              <a:t>- Asset propio aprobado: U05-CH-016.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objeto y salida de cada columna. Pregunta: “¿ponderación A convierte SPL en HL?” Respuesta: no. **Transición:** sintetizar lectura de filtros.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5.9.1; GLO.</a:t>
            </a:r>
          </a:p>
          <a:p xmlns:a="http://schemas.openxmlformats.org/drawingml/2006/main">
            <a:r>
              <a:t>- Asset propio aprobado: U05-DG-010.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una frase que incluya tipo, límites, transición y propósito. Corregir descripciones que omitan objeto. **Transición:** ubicar el filtro dentro de un sistema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5.9.</a:t>
            </a:r>
          </a:p>
          <a:p xmlns:a="http://schemas.openxmlformats.org/drawingml/2006/main">
            <a:r>
              <a:t>- Asset propio aprobado: U05-DG-014.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cadena conceptual sin curvas hasta verificar norma. Señalar el lugar exacto de ponderación. **Transición:** dividir una misma señal en A/C/Z.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5.10.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cada rama procesa el espectro antes de integrar. No asignar resultados numéricos. Pregunta: “¿puedo elegir una sola corrección para banda ancha?” Respuesta: no. **Transición:** comparar respuestas nominales.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5.10; EP.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Mantener cualitativa mientras CH-017 esté bloqueado. Diferenciar A, C y Z sin reproducir valores/tolerancias. Aclarar que Z no significa “sin instrumento”. **Transición:** definir nomenclatura 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5.10; IEC 61672-1:2013 citada en el libro.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Desarmar un descriptor: L, subíndice A, eq/Fmax, intervalo. Explicar que dBA es forma del programa y se adopta dB(A). **Transición:** tratar un tono.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5.10; NOT; GLO.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la condición “tono”. La suma en dB aplica una corrección de respuesta dependiente de la frecuencia; no representa suma de fuentes. La notación verbal evita confundir nivel, ponderación y corrección.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Libro del curso, cap. 5, §5.10, ec. 5.20.</a:t>
            </a:r>
          </a:p>
          <a:p xmlns:a="http://schemas.openxmlformats.org/drawingml/2006/main">
            <a:r>
              <a:t>- IEC 61672-1:2013.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Aplicar la corrección −26,2 dB citada para 63 Hz: 80,0−26,2=53,8 dB(A). Interpretar el resultado como nivel ponderado A para ese tono. No generalizar a banda ancha ni equiparar con percepción.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Libro del curso, cap. 5, §5.10.1.</a:t>
            </a:r>
          </a:p>
          <a:p xmlns:a="http://schemas.openxmlformats.org/drawingml/2006/main">
            <a:r>
              <a:t>- IEC 61672-1:2013.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por qué una constante falla: cada frecuencia recibe corrección diferente y luego se integra. Error central: trasladar el ejemplo tonal. **Transición:** separar medición y audición.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5.10; ejercicio G5.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un ejemplo de pregunta que responde cada entidad. No desarrollar U7/U8. Respuesta clave: no hay conversión automática entre ellas. **Transición:** auditar una lectura.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5.9.1 y 5.12; NOT; GLO.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“72 dB(A)” y pedir completar campos. Respuesta esperada: descriptor, tiempo, intervalo, condiciones e instrumento. dB HL no puede inferirse. **Transición:** discutir nominal versus tolerancia.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ejercicios D4/F4.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solo concepto; no dibujar tolerancias cuantitativas. Explicar que una curva objetivo y una prueba de conformidad son evidencias diferentes. **Transición:** volver a interpretación básica.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5.10.1; IEC 61672-1:2013 citada en el libro.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comparar tono y banda ancha. Recuperar cadena: filtro, integración, descriptor, condiciones. **Transición:** preguntar qué etapas contiene un sonómetro.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5.10.</a:t>
            </a:r>
          </a:p>
          <a:p xmlns:a="http://schemas.openxmlformats.org/drawingml/2006/main">
            <a:r>
              <a:t>- Asset propio aprobado: U05-DG-014.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Enmarcar “medidor de nivel de presión sonora” como sonómetro. Mostrar grupos funcionales, no marca comercial. **Transición:** reconocer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5.11; PREV.</a:t>
            </a:r>
          </a:p>
          <a:p xmlns:a="http://schemas.openxmlformats.org/drawingml/2006/main">
            <a:r>
              <a:t>- Asset propio aprobado: U05-DG-012.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 hay equipo, señalar sin manipular como protocolo. Distinguir micrófono, cuerpo y calibrador. Error: una foto demuestra clase o calibración. **Transición:** seguir recorrido de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5.11.3.</a:t>
            </a:r>
          </a:p>
          <a:p xmlns:a="http://schemas.openxmlformats.org/drawingml/2006/main">
            <a:r>
              <a:t>- Imagen: Harke, dominio público, vía Wikimedia Commons (U05-EXT-003).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Guía paso a paso por seis nodos. Nombrar la unidad o tipo de salida de cada etapa. Aclarar que es arquitectura conceptual. **Transición:** formalizar nivel equivalente.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5.8.</a:t>
            </a:r>
          </a:p>
          <a:p xmlns:a="http://schemas.openxmlformats.org/drawingml/2006/main">
            <a:r>
              <a:t>- Asset propio aprobado: U05-DG-012.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Recuperar RMS: cuadrar y promediar antes de expresar el resultado como nivel. Introducir la equivalencia física sin integral; el formalismo completo está en U05-146. Pedir una predicción para el ejemplo siguiente.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Libro del curso, cap. 5, §5.11.1.</a:t>
            </a:r>
          </a:p>
          <a:p xmlns:a="http://schemas.openxmlformats.org/drawingml/2006/main">
            <a:r>
              <a:t>- Glosario y guía de notación del curso.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una estimación antes de calcular. Convertir 70 y 80 dB a escala lineal, promediar contribuciones iguales en tiempo y volver a dB. El resultado 77,4 dB debe quedar entre 75 y 80 y más cerca de 80.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Libro del curso, cap. 5, §5.11.4.</a:t>
            </a:r>
          </a:p>
          <a:p xmlns:a="http://schemas.openxmlformats.org/drawingml/2006/main">
            <a:r>
              <a:t>- Desarrollo numérico verificado con la definición de nivel equivalente.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una señal con impulso. Mostrar que equivalente, máximo Fast y pico pueden ordenar resultados distinto. No enseñar ensayo normativo. **Transición:** aplicación audiométrica.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5.11.1–5.11.2; NOT.</a:t>
            </a:r>
          </a:p>
          <a:p xmlns:a="http://schemas.openxmlformats.org/drawingml/2006/main">
            <a:r>
              <a:t>- Asset propio aprobado: U05-DG-012.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2 min para identificar bandas que exceden límite; la trama evita depender solo de color. Repetir “hipotético/no normativo”. Explicar por qué un dB(A) global o app no reemplaza procedimiento. **Transición:** completar ficha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aplicación F2; ISO 8253-1/ANSI citadas solo como contexto.</a:t>
            </a:r>
          </a:p>
          <a:p xmlns:a="http://schemas.openxmlformats.org/drawingml/2006/main">
            <a:r>
              <a:t>- Asset propio aprobado: U05-CH-019.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Volver a “72 dB” y hacer completar seis campos. Aceptar varias configuraciones si son explícitas. **Transición:** elegir herramientas desde preguntas profesionales.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5.11–5.13.</a:t>
            </a:r>
          </a:p>
          <a:p xmlns:a="http://schemas.openxmlformats.org/drawingml/2006/main">
            <a:r>
              <a:t>- Asset propio aprobado: U05-DG-014.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pregunta primero, representación después. Pedir justificación por objeto, ejes y condiciones. El diagrama debe guiar, no contener explicaciones largas. **Transición:** presentar caso con señal y dispositivo.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BR; TEX 5.12; EP.</a:t>
            </a:r>
          </a:p>
          <a:p xmlns:a="http://schemas.openxmlformats.org/drawingml/2006/main">
            <a:r>
              <a:t>- Asset propio aprobado: U05-DG-013.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6–8 min. Pedir que clasifiquen datos como registro, señal o sistema. Deben obtener Tobs=0,50 s, Δf=2 Hz y f0=200 Hz; para el dispositivo a 1000 Hz, |H|=0,50, G=−6,02 dB y fase=−180°. No revelar hasta la devolución.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Libro del curso, cap. 5, pregunta integradora I1 y solución.</a:t>
            </a:r>
          </a:p>
          <a:p xmlns:a="http://schemas.openxmlformats.org/drawingml/2006/main">
            <a:r>
              <a:t>- Cálculos verificados dimensionalmente.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Revelar por capas y asignar cada resultado a su objeto. La separación armónica da f0=200 Hz; el máximo de envolvente en 1000 Hz describe otra propiedad. Para el sistema a 1000 Hz, la razón es 0,50, la ganancia −6,02 dB y la fase −180°.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Libro del curso, cap. 5, solución I1.</a:t>
            </a:r>
          </a:p>
          <a:p xmlns:a="http://schemas.openxmlformats.org/drawingml/2006/main">
            <a:r>
              <a:t>- U05-033, U05-036 y U05-057–059.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Asignar dos errores por pareja y pedir corrección con evidencia. Respuestas esperadas provienen de recaps previos. Elegir los errores más persistentes para discusión. **Transición:** reconstruir mapa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5.13; BR.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mapa completo sin reenumerar títulos. Hacer que estudiantes nombren relaciones ancla. Enfatizar trazabilidad y límite de conclusión. **Transición:** autoevaluar objetivos.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5.1–5.14; CM; CDM.</a:t>
            </a:r>
          </a:p>
          <a:p xmlns:a="http://schemas.openxmlformats.org/drawingml/2006/main">
            <a:r>
              <a:t>- Asset propio aprobado: U05-DG-001.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respuestas con diagnóstico inicial. Usar escala de seguridad y pedir una evidencia por objetivo. No calificar punitivamente. **Transición:** abrir sistema auditivo.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 objetivos; U05-002–007.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respuesta frecuencial es concepto de sistema, pero la cóclea no “hace una FFT”. Formular pregunta de U6 sobre transformación física. **Transición:** cierre de ruta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CM U5→U6; CDM; TEX 6.1–6.2.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leer referencias en clase. Indicar dónde consultar y qué recursos siguen pendientes de verificación. **Transición:** respaldo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references.bib; source_analysis.md.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solo si `j` bloquea U05-027/028. Dibujar vector y separar módulo/ángulo. No convertirlo en clase de complejos. **Retorno:** U05-027/028.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5.4.3; NOT.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integración como acumulación de semejanza. Señalar simetría cualitativa. No evaluar cálculo integral. **Retorno:** U05-022/023.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5.4.1.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unidades y convenciones. Preguntar por qué dos softwares podrían mostrar amplitudes distintas; respuesta: normalización/representación. **Retorno:** U05-010/027.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5.4.3; NOT.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índices y asociar `k` con frecuencia. Mostrar checklist de escala unilateral/bilateral. No mezclar con ruta central si no hace falta. **Retorno:** U05-034–036.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5.4.4; NOT; EP.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primero puntos y luego dos curvas continuas. Pregunta: “¿las muestras permiten decidir cuál era?” Respuesta: no. Mantener Nyquist conceptual. **Retorno:** U05-032.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OD-U05-22; NOT; EP.</a:t>
            </a:r>
          </a:p>
          <a:p xmlns:a="http://schemas.openxmlformats.org/drawingml/2006/main">
            <a:r>
              <a:t>- Asset propio aprobado: U05-CH-006.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proyectar cuantitativamente hasta aprobar CH-009. Explicar criterios cualitativos y por qué no existe ganadora universal. **Retorno:** U05-045/046.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5.4.5; SciPy documenta las ventanas usadas en el script reproducible.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Resolver `50+50→53,01 dB`. Preguntar distractores 100 y 50. Aclarar referencia común. **Retorno:** U05-050/085.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 A3.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Resolver magnitud y fase por separado. Convertir −90° a −π/2 rad si ayuda. Pregunta: “¿ganancia 6 dB informa retardo?” Respuesta: no. **Retorno:** U05-057–059.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ejercicio A5.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seis etapas y registrar parámetros mínimos. No introducir jitter/shimmer. Repetir límite no diagnóstico. **Retorno:** U05-060/070–071.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5.5 y 5.12; Brockmann2011.</a:t>
            </a:r>
          </a:p>
          <a:p xmlns:a="http://schemas.openxmlformats.org/drawingml/2006/main">
            <a:r>
              <a:t>- Asset propio aprobado: U05-DG-007.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como contrato para evaluar una cifra externa. Pedir identificar campos faltantes en un dato inventado sin validarlo. **Retorno:** U05-079–082.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PO; TEX 5.7.2; OD-U05-06/07.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exacto y nominal. No completar tabla hasta verificar norma. **Retorno:** U05-091/092.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5.8; consultar la edición aplicable de IEC 61260-1 para valores nominales.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curvas con misma escala y corte. Explicar orden sin polos/ceros. **Retorno:** U05-099/100.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fig. 5.7; script U5; EP.</a:t>
            </a:r>
          </a:p>
          <a:p xmlns:a="http://schemas.openxmlformats.org/drawingml/2006/main">
            <a:r>
              <a:t>- Asset propio aprobado: U05-CH-016.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proyectar ni completar. Explicar, si surge, que la reproducibilidad exige norma autorizada y chequeos de ancla. **Retorno:** U05-108.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5.10; IEC 61672-1:2013 citada en el libro.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cadena de operaciones antes de símbolos. Relacionar con RMS y U05-121. Verificar `p_ref=20 µPa` en aire. **Retorno:** U05-120/121.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5.11.1, ec. 5.21; NOT.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Fast/Slow de pico. Valores se presentan como referencias de diseño, no prueba de conformidad. **Retorno:** U05-122.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5.11.2; IEC 61672-1/2.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propósito, actor, momento y evidencia. Evitar usar “calibración” como bolsa única. No dar protocolo. **Retorno:** U05-118/119.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5.11.3; IEC 61672-2/3.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Devolución completa: Tobs=4000/8000=0,50 s; Δf=8000/4000=2 Hz; f0=200 Hz por espaciado armónico. A 1000 Hz, |H|=0,010/0,020=0,50; G=20log10(0,50)=−6,02 dB; φ=−2π·1000·0,00050=−π rad=−180°. Separar siempre señal y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Libro del curso, cap. 5, solución I1.</a:t>
            </a:r>
          </a:p>
          <a:p xmlns:a="http://schemas.openxmlformats.org/drawingml/2006/main">
            <a:r>
              <a:t>- Cálculos verificados dimensionalmente.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como índice de consulta, no como cierre oral. Pedir que estudiantes busquen un término y su slide de retorno. Dividir en dos slides durante producción si la fuente no alcanza 22 pt. **Fin del respaldo.**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TEX 5.17; GLO.</a:t>
            </a:r>
          </a:p>
          <a:p xmlns:a="http://schemas.openxmlformats.org/drawingml/2006/main">
            <a:r>
              <a:t>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d6df6170643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19e9f2a154b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5b9cc9cad4d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d5736a14844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b3004585694f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83c4a121a457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f702236fd4a8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08973a42d455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0b8b1104a490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110922b6e4a6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5b6bb581743d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e0a5398b04f7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b938fe5074a7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54969a3a04a6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dc474ff52416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973d568854ec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1f786c67741ea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d26d5de7a46c2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ee7695efe4f7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80e5baf9a434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eba951ffec41a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7881fc39f413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fb923d8934313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52df3a64140ae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9a6e63b831488c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7eed715af647ac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a776c67dec496b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c2d4ee9e71e4a3c" /><Relationship Type="http://schemas.openxmlformats.org/officeDocument/2006/relationships/theme" Target="/ppt/slideMasters/theme/theme2.xml" Id="Rad9cdc16f5f24fa6" /><Relationship Type="http://schemas.openxmlformats.org/officeDocument/2006/relationships/slideLayout" Target="/ppt/slideLayouts/slideLayout1.xml" Id="R987c8b72cefc4e41" /><Relationship Type="http://schemas.openxmlformats.org/officeDocument/2006/relationships/slideLayout" Target="/ppt/slideLayouts/slideLayout2.xml" Id="Rd225a3259163445b" /><Relationship Type="http://schemas.openxmlformats.org/officeDocument/2006/relationships/slideLayout" Target="/ppt/slideLayouts/slideLayout3.xml" Id="R8108f2ea265043b8" /><Relationship Type="http://schemas.openxmlformats.org/officeDocument/2006/relationships/slideLayout" Target="/ppt/slideLayouts/slideLayout4.xml" Id="R485658a772dd4086" /><Relationship Type="http://schemas.openxmlformats.org/officeDocument/2006/relationships/slideLayout" Target="/ppt/slideLayouts/slideLayout5.xml" Id="Rbf02d880ec3c43a8" /><Relationship Type="http://schemas.openxmlformats.org/officeDocument/2006/relationships/slideLayout" Target="/ppt/slideLayouts/slideLayout6.xml" Id="R1eb998b5a3cf4384" /><Relationship Type="http://schemas.openxmlformats.org/officeDocument/2006/relationships/slideLayout" Target="/ppt/slideLayouts/slideLayout7.xml" Id="Rf4c146681d5f45e0" /><Relationship Type="http://schemas.openxmlformats.org/officeDocument/2006/relationships/slideLayout" Target="/ppt/slideLayouts/slideLayout8.xml" Id="R6fc9aeb076c54180" /><Relationship Type="http://schemas.openxmlformats.org/officeDocument/2006/relationships/slideLayout" Target="/ppt/slideLayouts/slideLayout9.xml" Id="Rc62006c196f9485a" /><Relationship Type="http://schemas.openxmlformats.org/officeDocument/2006/relationships/slideLayout" Target="/ppt/slideLayouts/slideLayout10.xml" Id="Re263746e518f4e06" /><Relationship Type="http://schemas.openxmlformats.org/officeDocument/2006/relationships/slideLayout" Target="/ppt/slideLayouts/slideLayout11.xml" Id="Rc31e7bc4c33f4a2e" /><Relationship Type="http://schemas.openxmlformats.org/officeDocument/2006/relationships/slideLayout" Target="/ppt/slideLayouts/slideLayout12.xml" Id="R4dae3197ee224ffc" /><Relationship Type="http://schemas.openxmlformats.org/officeDocument/2006/relationships/slideLayout" Target="/ppt/slideLayouts/slideLayout13.xml" Id="R952525f842864fcd" /><Relationship Type="http://schemas.openxmlformats.org/officeDocument/2006/relationships/slideLayout" Target="/ppt/slideLayouts/slideLayout14.xml" Id="R0dae45db5a1443ad" /><Relationship Type="http://schemas.openxmlformats.org/officeDocument/2006/relationships/slideLayout" Target="/ppt/slideLayouts/slideLayout15.xml" Id="Rb793cdf72e4d473f" /><Relationship Type="http://schemas.openxmlformats.org/officeDocument/2006/relationships/slideLayout" Target="/ppt/slideLayouts/slideLayout16.xml" Id="Rf21d2b88ca2d49ea" /><Relationship Type="http://schemas.openxmlformats.org/officeDocument/2006/relationships/slideLayout" Target="/ppt/slideLayouts/slideLayout17.xml" Id="Reabb9bb6d9f6417b" /><Relationship Type="http://schemas.openxmlformats.org/officeDocument/2006/relationships/slideLayout" Target="/ppt/slideLayouts/slideLayout18.xml" Id="Rc5faea78bb474595" /><Relationship Type="http://schemas.openxmlformats.org/officeDocument/2006/relationships/slideLayout" Target="/ppt/slideLayouts/slideLayout19.xml" Id="Rf5a18c3e839b4f89" /><Relationship Type="http://schemas.openxmlformats.org/officeDocument/2006/relationships/slideLayout" Target="/ppt/slideLayouts/slideLayout20.xml" Id="R6db14d0378f44064" /><Relationship Type="http://schemas.openxmlformats.org/officeDocument/2006/relationships/slideLayout" Target="/ppt/slideLayouts/slideLayout21.xml" Id="Rb68efc9e620f4abc" /><Relationship Type="http://schemas.openxmlformats.org/officeDocument/2006/relationships/slideLayout" Target="/ppt/slideLayouts/slideLayout22.xml" Id="R6b5b768db38a4035" /><Relationship Type="http://schemas.openxmlformats.org/officeDocument/2006/relationships/slideLayout" Target="/ppt/slideLayouts/slideLayout23.xml" Id="R3c06561b7e2f4d7b" /><Relationship Type="http://schemas.openxmlformats.org/officeDocument/2006/relationships/slideLayout" Target="/ppt/slideLayouts/slideLayout24.xml" Id="R503872ccd66b4f3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ac198a482d12421d" /><Relationship Type="http://schemas.openxmlformats.org/officeDocument/2006/relationships/theme" Target="/ppt/slideMasters/theme/theme3.xml" Id="Rdfde499ec59a48cf" /><Relationship Type="http://schemas.openxmlformats.org/officeDocument/2006/relationships/slideLayout" Target="/ppt/slideLayouts/slideLayout25.xml" Id="R7264c1f63aa54a7a" /><Relationship Type="http://schemas.openxmlformats.org/officeDocument/2006/relationships/slideLayout" Target="/ppt/slideLayouts/slideLayout26.xml" Id="Rb8068ad433794acb" /><Relationship Type="http://schemas.openxmlformats.org/officeDocument/2006/relationships/slideLayout" Target="/ppt/slideLayouts/slideLayout27.xml" Id="R098bc37b104a41d5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d4ee9e71e4a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7c8b72cefc4e41"/>
    <p:sldLayoutId xmlns:r="http://schemas.openxmlformats.org/officeDocument/2006/relationships" id="2147483650" r:id="Rd225a3259163445b"/>
    <p:sldLayoutId xmlns:r="http://schemas.openxmlformats.org/officeDocument/2006/relationships" id="2147483651" r:id="R8108f2ea265043b8"/>
    <p:sldLayoutId xmlns:r="http://schemas.openxmlformats.org/officeDocument/2006/relationships" id="2147483652" r:id="R485658a772dd4086"/>
    <p:sldLayoutId xmlns:r="http://schemas.openxmlformats.org/officeDocument/2006/relationships" id="2147483653" r:id="Rbf02d880ec3c43a8"/>
    <p:sldLayoutId xmlns:r="http://schemas.openxmlformats.org/officeDocument/2006/relationships" id="2147483654" r:id="R1eb998b5a3cf4384"/>
    <p:sldLayoutId xmlns:r="http://schemas.openxmlformats.org/officeDocument/2006/relationships" id="2147483655" r:id="Rf4c146681d5f45e0"/>
    <p:sldLayoutId xmlns:r="http://schemas.openxmlformats.org/officeDocument/2006/relationships" id="2147483656" r:id="R6fc9aeb076c54180"/>
    <p:sldLayoutId xmlns:r="http://schemas.openxmlformats.org/officeDocument/2006/relationships" id="2147483657" r:id="Rc62006c196f9485a"/>
    <p:sldLayoutId xmlns:r="http://schemas.openxmlformats.org/officeDocument/2006/relationships" id="2147483658" r:id="Re263746e518f4e06"/>
    <p:sldLayoutId xmlns:r="http://schemas.openxmlformats.org/officeDocument/2006/relationships" id="2147483659" r:id="Rc31e7bc4c33f4a2e"/>
    <p:sldLayoutId xmlns:r="http://schemas.openxmlformats.org/officeDocument/2006/relationships" id="2147483660" r:id="R4dae3197ee224ffc"/>
    <p:sldLayoutId xmlns:r="http://schemas.openxmlformats.org/officeDocument/2006/relationships" id="2147483661" r:id="R952525f842864fcd"/>
    <p:sldLayoutId xmlns:r="http://schemas.openxmlformats.org/officeDocument/2006/relationships" id="2147483662" r:id="R0dae45db5a1443ad"/>
    <p:sldLayoutId xmlns:r="http://schemas.openxmlformats.org/officeDocument/2006/relationships" id="2147483663" r:id="Rb793cdf72e4d473f"/>
    <p:sldLayoutId xmlns:r="http://schemas.openxmlformats.org/officeDocument/2006/relationships" id="2147483664" r:id="Rf21d2b88ca2d49ea"/>
    <p:sldLayoutId xmlns:r="http://schemas.openxmlformats.org/officeDocument/2006/relationships" id="2147483665" r:id="Reabb9bb6d9f6417b"/>
    <p:sldLayoutId xmlns:r="http://schemas.openxmlformats.org/officeDocument/2006/relationships" id="2147483666" r:id="Rc5faea78bb474595"/>
    <p:sldLayoutId xmlns:r="http://schemas.openxmlformats.org/officeDocument/2006/relationships" id="2147483667" r:id="Rf5a18c3e839b4f89"/>
    <p:sldLayoutId xmlns:r="http://schemas.openxmlformats.org/officeDocument/2006/relationships" id="2147483668" r:id="R6db14d0378f44064"/>
    <p:sldLayoutId xmlns:r="http://schemas.openxmlformats.org/officeDocument/2006/relationships" id="2147483669" r:id="Rb68efc9e620f4abc"/>
    <p:sldLayoutId xmlns:r="http://schemas.openxmlformats.org/officeDocument/2006/relationships" id="2147483670" r:id="R6b5b768db38a4035"/>
    <p:sldLayoutId xmlns:r="http://schemas.openxmlformats.org/officeDocument/2006/relationships" id="2147483671" r:id="R3c06561b7e2f4d7b"/>
    <p:sldLayoutId xmlns:r="http://schemas.openxmlformats.org/officeDocument/2006/relationships" id="2147483672" r:id="R503872ccd66b4f37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98a482d1242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7264c1f63aa54a7a"/>
    <p:sldLayoutId xmlns:r="http://schemas.openxmlformats.org/officeDocument/2006/relationships" id="2147483675" r:id="Rb8068ad433794acb"/>
    <p:sldLayoutId xmlns:r="http://schemas.openxmlformats.org/officeDocument/2006/relationships" id="2147483676" r:id="R098bc37b104a41d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ed471cee7ba34b0b" /><Relationship Type="http://schemas.openxmlformats.org/officeDocument/2006/relationships/notesSlide" Target="/ppt/notesSlides/notesSlide1.xml" Id="Rc2d30f131efb46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d8eb525e52a4df0" /><Relationship Type="http://schemas.openxmlformats.org/officeDocument/2006/relationships/image" Target="/ppt/media/image.jpeg" Id="R4e733e4301524486" /><Relationship Type="http://schemas.openxmlformats.org/officeDocument/2006/relationships/image" Target="/ppt/media/image.svg" Id="Rc7e70e25822d41a3" /><Relationship Type="http://schemas.openxmlformats.org/officeDocument/2006/relationships/notesSlide" Target="/ppt/notesSlides/notesSlide2.xml" Id="R8d9bdfdd69064e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553a1e969c64942" /><Relationship Type="http://schemas.openxmlformats.org/officeDocument/2006/relationships/notesSlide" Target="/ppt/notesSlides/notesSlide3.xml" Id="Re3327e6744cc47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f7502d443be5472b" /><Relationship Type="http://schemas.openxmlformats.org/officeDocument/2006/relationships/notesSlide" Target="/ppt/notesSlides/notesSlide4.xml" Id="R2fb493c93fd943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397c7962b4af9" /><Relationship Type="http://schemas.openxmlformats.org/officeDocument/2006/relationships/notesSlide" Target="/ppt/notesSlides/notesSlide5.xml" Id="R439c3acda5b44b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663af7c4824645bb" /><Relationship Type="http://schemas.openxmlformats.org/officeDocument/2006/relationships/notesSlide" Target="/ppt/notesSlides/notesSlide6.xml" Id="Rd2d9c7596ab747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e70c28adbe04ac0" /><Relationship Type="http://schemas.openxmlformats.org/officeDocument/2006/relationships/notesSlide" Target="/ppt/notesSlides/notesSlide7.xml" Id="R9c513556c4ae46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9996b976bc88449c" /><Relationship Type="http://schemas.openxmlformats.org/officeDocument/2006/relationships/notesSlide" Target="/ppt/notesSlides/notesSlide8.xml" Id="R5a3dd09eca924b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6c06fef7ef347b1" /><Relationship Type="http://schemas.openxmlformats.org/officeDocument/2006/relationships/image" Target="/ppt/media/image2.png" Id="Rae3963c89c384a02" /><Relationship Type="http://schemas.openxmlformats.org/officeDocument/2006/relationships/image" Target="/ppt/media/image2.svg" Id="Ra338f3dfb3c54c77" /><Relationship Type="http://schemas.openxmlformats.org/officeDocument/2006/relationships/notesSlide" Target="/ppt/notesSlides/notesSlide9.xml" Id="R29ecdf3beaca41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57f49d11539422f" /><Relationship Type="http://schemas.openxmlformats.org/officeDocument/2006/relationships/notesSlide" Target="/ppt/notesSlides/notesSlide10.xml" Id="R3745d3725b2f41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cee941623c40a3" /><Relationship Type="http://schemas.openxmlformats.org/officeDocument/2006/relationships/image" Target="/ppt/media/image3.png" Id="Rffd65327fef54405" /><Relationship Type="http://schemas.openxmlformats.org/officeDocument/2006/relationships/image" Target="/ppt/media/image3.svg" Id="R47a40367002a435d" /><Relationship Type="http://schemas.openxmlformats.org/officeDocument/2006/relationships/notesSlide" Target="/ppt/notesSlides/notesSlide11.xml" Id="R278ab6941b4843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67d6b686069472c" /><Relationship Type="http://schemas.openxmlformats.org/officeDocument/2006/relationships/image" Target="/ppt/media/image4.png" Id="Rbab96fc1613e4bb9" /><Relationship Type="http://schemas.openxmlformats.org/officeDocument/2006/relationships/image" Target="/ppt/media/image4.svg" Id="R78f6bb1a5eb24d94" /><Relationship Type="http://schemas.openxmlformats.org/officeDocument/2006/relationships/notesSlide" Target="/ppt/notesSlides/notesSlide12.xml" Id="R95cbe2d5a5144b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17058f765f24253" /><Relationship Type="http://schemas.openxmlformats.org/officeDocument/2006/relationships/image" Target="/ppt/media/image5.png" Id="R291311f8100c4e23" /><Relationship Type="http://schemas.openxmlformats.org/officeDocument/2006/relationships/image" Target="/ppt/media/image5.svg" Id="R3251ded121834ebb" /><Relationship Type="http://schemas.openxmlformats.org/officeDocument/2006/relationships/notesSlide" Target="/ppt/notesSlides/notesSlide13.xml" Id="Rc9bdc9741dc542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6662c1283f547b4" /><Relationship Type="http://schemas.openxmlformats.org/officeDocument/2006/relationships/image" Target="/ppt/media/image6.png" Id="R465b18d16396486c" /><Relationship Type="http://schemas.openxmlformats.org/officeDocument/2006/relationships/image" Target="/ppt/media/image6.svg" Id="Ra494200586ad4690" /><Relationship Type="http://schemas.openxmlformats.org/officeDocument/2006/relationships/notesSlide" Target="/ppt/notesSlides/notesSlide14.xml" Id="R926278b588cd40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968801e167543d6" /><Relationship Type="http://schemas.openxmlformats.org/officeDocument/2006/relationships/notesSlide" Target="/ppt/notesSlides/notesSlide15.xml" Id="Rcff028ec4afa47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fdf1feb33124737" /><Relationship Type="http://schemas.openxmlformats.org/officeDocument/2006/relationships/notesSlide" Target="/ppt/notesSlides/notesSlide16.xml" Id="Rf9c5c8a4706744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a3a7dc3cf624a0f" /><Relationship Type="http://schemas.openxmlformats.org/officeDocument/2006/relationships/notesSlide" Target="/ppt/notesSlides/notesSlide17.xml" Id="R66085841e1604b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cfd7db1da8f149f2" /><Relationship Type="http://schemas.openxmlformats.org/officeDocument/2006/relationships/notesSlide" Target="/ppt/notesSlides/notesSlide18.xml" Id="R39f55ab0e38742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1b2af5f28844e98" /><Relationship Type="http://schemas.openxmlformats.org/officeDocument/2006/relationships/image" Target="/ppt/media/image7.png" Id="R1d8a6de6617742ec" /><Relationship Type="http://schemas.openxmlformats.org/officeDocument/2006/relationships/image" Target="/ppt/media/image7.svg" Id="R025286dcdbfe4f61" /><Relationship Type="http://schemas.openxmlformats.org/officeDocument/2006/relationships/notesSlide" Target="/ppt/notesSlides/notesSlide19.xml" Id="R8409f8152fa749f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7881921f23f4af1" /><Relationship Type="http://schemas.openxmlformats.org/officeDocument/2006/relationships/notesSlide" Target="/ppt/notesSlides/notesSlide20.xml" Id="R579d931d167547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bcc38a0af348d4" /><Relationship Type="http://schemas.openxmlformats.org/officeDocument/2006/relationships/image" Target="/ppt/media/image8.png" Id="Rc505ac8289cc4a31" /><Relationship Type="http://schemas.openxmlformats.org/officeDocument/2006/relationships/image" Target="/ppt/media/image8.svg" Id="R61da41c04f684bab" /><Relationship Type="http://schemas.openxmlformats.org/officeDocument/2006/relationships/notesSlide" Target="/ppt/notesSlides/notesSlide21.xml" Id="R544cce7659eb45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d7c0cf398cf4c23" /><Relationship Type="http://schemas.openxmlformats.org/officeDocument/2006/relationships/notesSlide" Target="/ppt/notesSlides/notesSlide22.xml" Id="R3dd9b2d5e3014e1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6ec33e2e946fc" /><Relationship Type="http://schemas.openxmlformats.org/officeDocument/2006/relationships/notesSlide" Target="/ppt/notesSlides/notesSlide23.xml" Id="R1532690e29b741e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a272d48e2a14a6b" /><Relationship Type="http://schemas.openxmlformats.org/officeDocument/2006/relationships/notesSlide" Target="/ppt/notesSlides/notesSlide24.xml" Id="R62a9d0025496437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f6a84dc387f400f" /><Relationship Type="http://schemas.openxmlformats.org/officeDocument/2006/relationships/image" Target="/ppt/media/image9.png" Id="Re15b49e970284bb9" /><Relationship Type="http://schemas.openxmlformats.org/officeDocument/2006/relationships/image" Target="/ppt/media/image9.svg" Id="R51bcd500529e4b85" /><Relationship Type="http://schemas.openxmlformats.org/officeDocument/2006/relationships/notesSlide" Target="/ppt/notesSlides/notesSlide25.xml" Id="Rf5bd4b2a983b4cf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0407813307e4866" /><Relationship Type="http://schemas.openxmlformats.org/officeDocument/2006/relationships/notesSlide" Target="/ppt/notesSlides/notesSlide26.xml" Id="Rcc5b40bb5e7844d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9dcf9fc1537412e" /><Relationship Type="http://schemas.openxmlformats.org/officeDocument/2006/relationships/notesSlide" Target="/ppt/notesSlides/notesSlide27.xml" Id="Rcd32e4bf8b81466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d5c3b22bc2e4236" /><Relationship Type="http://schemas.openxmlformats.org/officeDocument/2006/relationships/notesSlide" Target="/ppt/notesSlides/notesSlide28.xml" Id="Ra1056a44f662497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738890b6c8d4292" /><Relationship Type="http://schemas.openxmlformats.org/officeDocument/2006/relationships/notesSlide" Target="/ppt/notesSlides/notesSlide29.xml" Id="Rc6cf9097fb6f451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3bd8bfc7f8594694" /><Relationship Type="http://schemas.openxmlformats.org/officeDocument/2006/relationships/notesSlide" Target="/ppt/notesSlides/notesSlide30.xml" Id="R4e7011bcac164dc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4be52dce2a54f5b" /><Relationship Type="http://schemas.openxmlformats.org/officeDocument/2006/relationships/notesSlide" Target="/ppt/notesSlides/notesSlide31.xml" Id="R39fe2e438432443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551657b976d43e2" /><Relationship Type="http://schemas.openxmlformats.org/officeDocument/2006/relationships/image" Target="/ppt/media/image10.png" Id="Rb906d4b03d1e4e89" /><Relationship Type="http://schemas.openxmlformats.org/officeDocument/2006/relationships/image" Target="/ppt/media/image10.svg" Id="R70de32d2a6f9447a" /><Relationship Type="http://schemas.openxmlformats.org/officeDocument/2006/relationships/notesSlide" Target="/ppt/notesSlides/notesSlide32.xml" Id="R1acead297ba04fe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ace2df3fba24130" /><Relationship Type="http://schemas.openxmlformats.org/officeDocument/2006/relationships/notesSlide" Target="/ppt/notesSlides/notesSlide33.xml" Id="Raae131cd2c244ff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011c7b34861459d" /><Relationship Type="http://schemas.openxmlformats.org/officeDocument/2006/relationships/notesSlide" Target="/ppt/notesSlides/notesSlide34.xml" Id="R69df91af601748d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ed415ac278946a2" /><Relationship Type="http://schemas.openxmlformats.org/officeDocument/2006/relationships/image" Target="/ppt/media/image11.png" Id="R9abc1353e01c470d" /><Relationship Type="http://schemas.openxmlformats.org/officeDocument/2006/relationships/image" Target="/ppt/media/image11.svg" Id="Rd2726047d2764e91" /><Relationship Type="http://schemas.openxmlformats.org/officeDocument/2006/relationships/notesSlide" Target="/ppt/notesSlides/notesSlide35.xml" Id="R03a57b34a5d1441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f23fc1809994613" /><Relationship Type="http://schemas.openxmlformats.org/officeDocument/2006/relationships/image" Target="/ppt/media/image12.png" Id="R4fe9420904934d10" /><Relationship Type="http://schemas.openxmlformats.org/officeDocument/2006/relationships/image" Target="/ppt/media/image12.svg" Id="R53b701e436544808" /><Relationship Type="http://schemas.openxmlformats.org/officeDocument/2006/relationships/notesSlide" Target="/ppt/notesSlides/notesSlide36.xml" Id="R80f5017f59b9453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276a99b47e744f2" /><Relationship Type="http://schemas.openxmlformats.org/officeDocument/2006/relationships/notesSlide" Target="/ppt/notesSlides/notesSlide37.xml" Id="R10255a950970486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8a3401b5bd141e5" /><Relationship Type="http://schemas.openxmlformats.org/officeDocument/2006/relationships/notesSlide" Target="/ppt/notesSlides/notesSlide38.xml" Id="R7658cf34cbe8491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8d2f126a8f34def" /><Relationship Type="http://schemas.openxmlformats.org/officeDocument/2006/relationships/notesSlide" Target="/ppt/notesSlides/notesSlide39.xml" Id="R89a86a4bc2e14ae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3f2f85e19ac4186" /><Relationship Type="http://schemas.openxmlformats.org/officeDocument/2006/relationships/notesSlide" Target="/ppt/notesSlides/notesSlide40.xml" Id="Rc27961053317447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911b31662489479d" /><Relationship Type="http://schemas.openxmlformats.org/officeDocument/2006/relationships/notesSlide" Target="/ppt/notesSlides/notesSlide41.xml" Id="Re2d8de6997844e5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5536a8c74de4fea" /><Relationship Type="http://schemas.openxmlformats.org/officeDocument/2006/relationships/notesSlide" Target="/ppt/notesSlides/notesSlide42.xml" Id="R60695ffd8c13496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1535fe3f4e8432f" /><Relationship Type="http://schemas.openxmlformats.org/officeDocument/2006/relationships/image" Target="/ppt/media/image13.png" Id="Re2a40fdce8054afb" /><Relationship Type="http://schemas.openxmlformats.org/officeDocument/2006/relationships/image" Target="/ppt/media/image13.svg" Id="Red598fb7a65b4a2c" /><Relationship Type="http://schemas.openxmlformats.org/officeDocument/2006/relationships/notesSlide" Target="/ppt/notesSlides/notesSlide43.xml" Id="Rcf3fbe9059b0471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d59bed9b3824918" /><Relationship Type="http://schemas.openxmlformats.org/officeDocument/2006/relationships/image" Target="/ppt/media/image14.png" Id="Rf952d957762d4391" /><Relationship Type="http://schemas.openxmlformats.org/officeDocument/2006/relationships/image" Target="/ppt/media/image14.svg" Id="Rae96a57c650545d8" /><Relationship Type="http://schemas.openxmlformats.org/officeDocument/2006/relationships/notesSlide" Target="/ppt/notesSlides/notesSlide44.xml" Id="Rc9ef83d18ec643f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34d74f4c24c4478" /><Relationship Type="http://schemas.openxmlformats.org/officeDocument/2006/relationships/notesSlide" Target="/ppt/notesSlides/notesSlide45.xml" Id="Rb92d6e23896c424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3e762dc2664d2c" /><Relationship Type="http://schemas.openxmlformats.org/officeDocument/2006/relationships/notesSlide" Target="/ppt/notesSlides/notesSlide46.xml" Id="Rae776e86aa6d426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6bc57e3f24346ad" /><Relationship Type="http://schemas.openxmlformats.org/officeDocument/2006/relationships/notesSlide" Target="/ppt/notesSlides/notesSlide47.xml" Id="R0e21c7bb6626441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91546ffbdc64c64" /><Relationship Type="http://schemas.openxmlformats.org/officeDocument/2006/relationships/image" Target="/ppt/media/image15.png" Id="Re6e57e54c5ce4ad1" /><Relationship Type="http://schemas.openxmlformats.org/officeDocument/2006/relationships/notesSlide" Target="/ppt/notesSlides/notesSlide48.xml" Id="R12b146e7a6c14d0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50f1325f1424ece" /><Relationship Type="http://schemas.openxmlformats.org/officeDocument/2006/relationships/notesSlide" Target="/ppt/notesSlides/notesSlide49.xml" Id="R5c263df2eeff4aa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75335f62714468d" /><Relationship Type="http://schemas.openxmlformats.org/officeDocument/2006/relationships/notesSlide" Target="/ppt/notesSlides/notesSlide50.xml" Id="R7edb61d49e86422d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0a0cd7c62f34a1f" /><Relationship Type="http://schemas.openxmlformats.org/officeDocument/2006/relationships/notesSlide" Target="/ppt/notesSlides/notesSlide51.xml" Id="R09085d77fb114c9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9b1183d030d84f4a" /><Relationship Type="http://schemas.openxmlformats.org/officeDocument/2006/relationships/notesSlide" Target="/ppt/notesSlides/notesSlide52.xml" Id="Re833102c954d493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d35068c22404440" /><Relationship Type="http://schemas.openxmlformats.org/officeDocument/2006/relationships/notesSlide" Target="/ppt/notesSlides/notesSlide53.xml" Id="Rc46e8eb7d9bd4ab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7afa781388043f6" /><Relationship Type="http://schemas.openxmlformats.org/officeDocument/2006/relationships/notesSlide" Target="/ppt/notesSlides/notesSlide54.xml" Id="Rb817a86781f249f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e6f510995cd4d43" /><Relationship Type="http://schemas.openxmlformats.org/officeDocument/2006/relationships/notesSlide" Target="/ppt/notesSlides/notesSlide55.xml" Id="R4425db2eb5c34b2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b09114e6404f9d" /><Relationship Type="http://schemas.openxmlformats.org/officeDocument/2006/relationships/notesSlide" Target="/ppt/notesSlides/notesSlide56.xml" Id="R7d680f24c600408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654b3ce26764f68" /><Relationship Type="http://schemas.openxmlformats.org/officeDocument/2006/relationships/notesSlide" Target="/ppt/notesSlides/notesSlide57.xml" Id="R3b650619d1b4483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7f201fd218241d8" /><Relationship Type="http://schemas.openxmlformats.org/officeDocument/2006/relationships/notesSlide" Target="/ppt/notesSlides/notesSlide58.xml" Id="Re9bc648754ee426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f08798e3cc64044" /><Relationship Type="http://schemas.openxmlformats.org/officeDocument/2006/relationships/notesSlide" Target="/ppt/notesSlides/notesSlide59.xml" Id="R8912fb70728843a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519d245c6c04035" /><Relationship Type="http://schemas.openxmlformats.org/officeDocument/2006/relationships/notesSlide" Target="/ppt/notesSlides/notesSlide60.xml" Id="Rad978d5cff8f405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fd6aafb914e4b7b" /><Relationship Type="http://schemas.openxmlformats.org/officeDocument/2006/relationships/notesSlide" Target="/ppt/notesSlides/notesSlide61.xml" Id="Ra7970fadfa134269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a42dc6b3b334206" /><Relationship Type="http://schemas.openxmlformats.org/officeDocument/2006/relationships/notesSlide" Target="/ppt/notesSlides/notesSlide62.xml" Id="Rb15bcc558b6647e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c5d0ed2184ce4729" /><Relationship Type="http://schemas.openxmlformats.org/officeDocument/2006/relationships/notesSlide" Target="/ppt/notesSlides/notesSlide63.xml" Id="R1b3c8fc37ac94bce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7bfd8df922647a3" /><Relationship Type="http://schemas.openxmlformats.org/officeDocument/2006/relationships/notesSlide" Target="/ppt/notesSlides/notesSlide64.xml" Id="R69dad6bfe23a4b9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286470fd084dc0" /><Relationship Type="http://schemas.openxmlformats.org/officeDocument/2006/relationships/notesSlide" Target="/ppt/notesSlides/notesSlide65.xml" Id="R9b9014e33dfb472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03ba6b5af684be1" /><Relationship Type="http://schemas.openxmlformats.org/officeDocument/2006/relationships/image" Target="/ppt/media/image16.png" Id="Rfa5dc1964c504731" /><Relationship Type="http://schemas.openxmlformats.org/officeDocument/2006/relationships/image" Target="/ppt/media/image15.svg" Id="R45775fd60cf24261" /><Relationship Type="http://schemas.openxmlformats.org/officeDocument/2006/relationships/notesSlide" Target="/ppt/notesSlides/notesSlide66.xml" Id="Rafd56b821f23494a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46212a96e8a4309" /><Relationship Type="http://schemas.openxmlformats.org/officeDocument/2006/relationships/image" Target="/ppt/media/image17.png" Id="R5f5c0ab867324be3" /><Relationship Type="http://schemas.openxmlformats.org/officeDocument/2006/relationships/image" Target="/ppt/media/image16.svg" Id="R7762a9fe3c184b36" /><Relationship Type="http://schemas.openxmlformats.org/officeDocument/2006/relationships/notesSlide" Target="/ppt/notesSlides/notesSlide67.xml" Id="Rd87e33f050564c33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fdcc25201964421" /><Relationship Type="http://schemas.openxmlformats.org/officeDocument/2006/relationships/image" Target="/ppt/media/image18.png" Id="Rfb3e05ce569e45bb" /><Relationship Type="http://schemas.openxmlformats.org/officeDocument/2006/relationships/image" Target="/ppt/media/image17.svg" Id="R754aba66acf14318" /><Relationship Type="http://schemas.openxmlformats.org/officeDocument/2006/relationships/notesSlide" Target="/ppt/notesSlides/notesSlide68.xml" Id="R8b6c3749343642c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203ffdd5aa043f9" /><Relationship Type="http://schemas.openxmlformats.org/officeDocument/2006/relationships/notesSlide" Target="/ppt/notesSlides/notesSlide69.xml" Id="R6be0310b7dd34fe5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2dba736fc266499f" /><Relationship Type="http://schemas.openxmlformats.org/officeDocument/2006/relationships/notesSlide" Target="/ppt/notesSlides/notesSlide70.xml" Id="R19c1ac2f4fcc409c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dbca50d2d14320" /><Relationship Type="http://schemas.openxmlformats.org/officeDocument/2006/relationships/notesSlide" Target="/ppt/notesSlides/notesSlide71.xml" Id="R2e840133ae0742b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da0a8b466f24f0d" /><Relationship Type="http://schemas.openxmlformats.org/officeDocument/2006/relationships/image" Target="/ppt/media/image19.png" Id="R2581e751f205483c" /><Relationship Type="http://schemas.openxmlformats.org/officeDocument/2006/relationships/image" Target="/ppt/media/image18.svg" Id="R6909240f29864bc1" /><Relationship Type="http://schemas.openxmlformats.org/officeDocument/2006/relationships/notesSlide" Target="/ppt/notesSlides/notesSlide72.xml" Id="Reb4e202478de4e2e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38fcabd71854190" /><Relationship Type="http://schemas.openxmlformats.org/officeDocument/2006/relationships/notesSlide" Target="/ppt/notesSlides/notesSlide73.xml" Id="R4801dd86f3bc490b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b6744ef62f5d40e5" /><Relationship Type="http://schemas.openxmlformats.org/officeDocument/2006/relationships/notesSlide" Target="/ppt/notesSlides/notesSlide74.xml" Id="R7d92a6dd86a24a92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bc03a38c4034231" /><Relationship Type="http://schemas.openxmlformats.org/officeDocument/2006/relationships/notesSlide" Target="/ppt/notesSlides/notesSlide75.xml" Id="R640bd3538cd6429e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306b2798be8047b6" /><Relationship Type="http://schemas.openxmlformats.org/officeDocument/2006/relationships/notesSlide" Target="/ppt/notesSlides/notesSlide76.xml" Id="R1ffad460f23c40af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01e4e270bc7f47dd" /><Relationship Type="http://schemas.openxmlformats.org/officeDocument/2006/relationships/notesSlide" Target="/ppt/notesSlides/notesSlide77.xml" Id="R44aa3682dde24adc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780d1acf30148de" /><Relationship Type="http://schemas.openxmlformats.org/officeDocument/2006/relationships/notesSlide" Target="/ppt/notesSlides/notesSlide78.xml" Id="R9d2b4a85f7e24854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d106804a39f405c" /><Relationship Type="http://schemas.openxmlformats.org/officeDocument/2006/relationships/notesSlide" Target="/ppt/notesSlides/notesSlide79.xml" Id="Rc68f6437d773439e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028e29d271e45c7" /><Relationship Type="http://schemas.openxmlformats.org/officeDocument/2006/relationships/notesSlide" Target="/ppt/notesSlides/notesSlide80.xml" Id="R90027b83f750455d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503721c56484c90" /><Relationship Type="http://schemas.openxmlformats.org/officeDocument/2006/relationships/notesSlide" Target="/ppt/notesSlides/notesSlide81.xml" Id="Rb6a17d3ddee04813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a208acc2fa64c72" /><Relationship Type="http://schemas.openxmlformats.org/officeDocument/2006/relationships/notesSlide" Target="/ppt/notesSlides/notesSlide82.xml" Id="Rcef161d8f75b45a4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efbdafd9b2e4ece" /><Relationship Type="http://schemas.openxmlformats.org/officeDocument/2006/relationships/notesSlide" Target="/ppt/notesSlides/notesSlide83.xml" Id="Rc952706a26424794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53afbe98185f4114" /><Relationship Type="http://schemas.openxmlformats.org/officeDocument/2006/relationships/notesSlide" Target="/ppt/notesSlides/notesSlide84.xml" Id="R788de507cc9d4f21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81a1301bcfd41de" /><Relationship Type="http://schemas.openxmlformats.org/officeDocument/2006/relationships/notesSlide" Target="/ppt/notesSlides/notesSlide85.xml" Id="R6109647e85bb4e95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0589658825b48c0" /><Relationship Type="http://schemas.openxmlformats.org/officeDocument/2006/relationships/notesSlide" Target="/ppt/notesSlides/notesSlide86.xml" Id="Re0c22c9ea6c44cb2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01985dc11924367" /><Relationship Type="http://schemas.openxmlformats.org/officeDocument/2006/relationships/notesSlide" Target="/ppt/notesSlides/notesSlide87.xml" Id="R153420684a06482c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94bf006d6114a34" /><Relationship Type="http://schemas.openxmlformats.org/officeDocument/2006/relationships/notesSlide" Target="/ppt/notesSlides/notesSlide88.xml" Id="R6c1ac71d493b4b44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d1e42a70e1249c9" /><Relationship Type="http://schemas.openxmlformats.org/officeDocument/2006/relationships/notesSlide" Target="/ppt/notesSlides/notesSlide89.xml" Id="R11766dbde5be4515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82ea3bb5e3149b7" /><Relationship Type="http://schemas.openxmlformats.org/officeDocument/2006/relationships/notesSlide" Target="/ppt/notesSlides/notesSlide90.xml" Id="Ra4c6e255e60249a3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f36b8065f0499c" /><Relationship Type="http://schemas.openxmlformats.org/officeDocument/2006/relationships/notesSlide" Target="/ppt/notesSlides/notesSlide91.xml" Id="R65cfa1acd1ad438f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4f132594a5240d5" /><Relationship Type="http://schemas.openxmlformats.org/officeDocument/2006/relationships/notesSlide" Target="/ppt/notesSlides/notesSlide92.xml" Id="Rdf74d0bb43b64bad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dfbdbee648d452d" /><Relationship Type="http://schemas.openxmlformats.org/officeDocument/2006/relationships/notesSlide" Target="/ppt/notesSlides/notesSlide93.xml" Id="R44b997e7aa8c497f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ce73f0002a048a7" /><Relationship Type="http://schemas.openxmlformats.org/officeDocument/2006/relationships/notesSlide" Target="/ppt/notesSlides/notesSlide94.xml" Id="R9f59f6b86a1e4f31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16fb7d80cf7a4420" /><Relationship Type="http://schemas.openxmlformats.org/officeDocument/2006/relationships/notesSlide" Target="/ppt/notesSlides/notesSlide95.xml" Id="R09f9f9ac0f8a4c7a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932eacaebc14fa8" /><Relationship Type="http://schemas.openxmlformats.org/officeDocument/2006/relationships/notesSlide" Target="/ppt/notesSlides/notesSlide96.xml" Id="R3368f9759edd4113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ef2ed3fe84d4924" /><Relationship Type="http://schemas.openxmlformats.org/officeDocument/2006/relationships/image" Target="/ppt/media/image20.png" Id="R0e1e64c8d8644c3b" /><Relationship Type="http://schemas.openxmlformats.org/officeDocument/2006/relationships/image" Target="/ppt/media/image19.svg" Id="R0b5d1728ee32461a" /><Relationship Type="http://schemas.openxmlformats.org/officeDocument/2006/relationships/notesSlide" Target="/ppt/notesSlides/notesSlide97.xml" Id="R35322dc5af144297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5fe910d56484f03" /><Relationship Type="http://schemas.openxmlformats.org/officeDocument/2006/relationships/image" Target="/ppt/media/image21.png" Id="R8c7dc53f985449da" /><Relationship Type="http://schemas.openxmlformats.org/officeDocument/2006/relationships/image" Target="/ppt/media/image20.svg" Id="R4d09d36ead264f70" /><Relationship Type="http://schemas.openxmlformats.org/officeDocument/2006/relationships/notesSlide" Target="/ppt/notesSlides/notesSlide98.xml" Id="R6c02b47ec82b4a74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17460fe35b4ac0" /><Relationship Type="http://schemas.openxmlformats.org/officeDocument/2006/relationships/image" Target="/ppt/media/image22.png" Id="R60b63f9e80fb4a57" /><Relationship Type="http://schemas.openxmlformats.org/officeDocument/2006/relationships/image" Target="/ppt/media/image21.svg" Id="R4a1561197c654788" /><Relationship Type="http://schemas.openxmlformats.org/officeDocument/2006/relationships/notesSlide" Target="/ppt/notesSlides/notesSlide99.xml" Id="Rf2b9a50302a74dec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c857bf9ef494b2c" /><Relationship Type="http://schemas.openxmlformats.org/officeDocument/2006/relationships/notesSlide" Target="/ppt/notesSlides/notesSlide100.xml" Id="Raa9869ba6dc94d58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cb71b5fa8d24896" /><Relationship Type="http://schemas.openxmlformats.org/officeDocument/2006/relationships/notesSlide" Target="/ppt/notesSlides/notesSlide101.xml" Id="Rc5b844fc65bd4b8d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c1e758910e349b1" /><Relationship Type="http://schemas.openxmlformats.org/officeDocument/2006/relationships/notesSlide" Target="/ppt/notesSlides/notesSlide102.xml" Id="Rb7023b2aa44f472d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15e6c8e11b24700" /><Relationship Type="http://schemas.openxmlformats.org/officeDocument/2006/relationships/image" Target="/ppt/media/image23.png" Id="R5e37e90528604d64" /><Relationship Type="http://schemas.openxmlformats.org/officeDocument/2006/relationships/image" Target="/ppt/media/image22.svg" Id="R1858eb8412144f80" /><Relationship Type="http://schemas.openxmlformats.org/officeDocument/2006/relationships/notesSlide" Target="/ppt/notesSlides/notesSlide103.xml" Id="R583411561ad84cf7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956871d5c3474872" /><Relationship Type="http://schemas.openxmlformats.org/officeDocument/2006/relationships/notesSlide" Target="/ppt/notesSlides/notesSlide104.xml" Id="Rfcd45e5a8c964b20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d76168dc683438a" /><Relationship Type="http://schemas.openxmlformats.org/officeDocument/2006/relationships/notesSlide" Target="/ppt/notesSlides/notesSlide105.xml" Id="R66f17632babd454c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facbac0be69d4c50" /><Relationship Type="http://schemas.openxmlformats.org/officeDocument/2006/relationships/notesSlide" Target="/ppt/notesSlides/notesSlide106.xml" Id="Ra07efb86a99447d4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bcf1bb7affc4c78" /><Relationship Type="http://schemas.openxmlformats.org/officeDocument/2006/relationships/notesSlide" Target="/ppt/notesSlides/notesSlide107.xml" Id="R7cb2e38b0e8e491a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da5f2a28d348e4" /><Relationship Type="http://schemas.openxmlformats.org/officeDocument/2006/relationships/notesSlide" Target="/ppt/notesSlides/notesSlide108.xml" Id="R3fd404a3d3934886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2dcada2ada7347c6" /><Relationship Type="http://schemas.openxmlformats.org/officeDocument/2006/relationships/notesSlide" Target="/ppt/notesSlides/notesSlide109.xml" Id="Rf70965e8b5014eec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b1d4556dd1144f5" /><Relationship Type="http://schemas.openxmlformats.org/officeDocument/2006/relationships/notesSlide" Target="/ppt/notesSlides/notesSlide110.xml" Id="Rb5fadb7d1a824e62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d61d11e2a4cd4128" /><Relationship Type="http://schemas.openxmlformats.org/officeDocument/2006/relationships/notesSlide" Target="/ppt/notesSlides/notesSlide111.xml" Id="Rf3cf1a35e3f44941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691ed010061416e" /><Relationship Type="http://schemas.openxmlformats.org/officeDocument/2006/relationships/notesSlide" Target="/ppt/notesSlides/notesSlide112.xml" Id="R7d5e6d52665c49e0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e7fe569e14231" /><Relationship Type="http://schemas.openxmlformats.org/officeDocument/2006/relationships/notesSlide" Target="/ppt/notesSlides/notesSlide113.xml" Id="R26458956062541cb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f1f8ec193e84599" /><Relationship Type="http://schemas.openxmlformats.org/officeDocument/2006/relationships/notesSlide" Target="/ppt/notesSlides/notesSlide114.xml" Id="Rbab96b76183f4984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c7576c95b349f8" /><Relationship Type="http://schemas.openxmlformats.org/officeDocument/2006/relationships/notesSlide" Target="/ppt/notesSlides/notesSlide115.xml" Id="Rc14a88e42f41464b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d07a520312d4ebf" /><Relationship Type="http://schemas.openxmlformats.org/officeDocument/2006/relationships/notesSlide" Target="/ppt/notesSlides/notesSlide116.xml" Id="Rafae6de6d90e42c4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e40805de18d480b" /><Relationship Type="http://schemas.openxmlformats.org/officeDocument/2006/relationships/notesSlide" Target="/ppt/notesSlides/notesSlide117.xml" Id="Rf83616eac4f0463f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b98a01748a674886" /><Relationship Type="http://schemas.openxmlformats.org/officeDocument/2006/relationships/image" Target="/ppt/media/image.jpeg" Id="Re6315204d6414ee7" /><Relationship Type="http://schemas.openxmlformats.org/officeDocument/2006/relationships/notesSlide" Target="/ppt/notesSlides/notesSlide118.xml" Id="Rebb50830302340b2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0895da47894eeb" /><Relationship Type="http://schemas.openxmlformats.org/officeDocument/2006/relationships/notesSlide" Target="/ppt/notesSlides/notesSlide119.xml" Id="Ra1d5bfb8a65c4877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8c3b95226b8454d" /><Relationship Type="http://schemas.openxmlformats.org/officeDocument/2006/relationships/notesSlide" Target="/ppt/notesSlides/notesSlide120.xml" Id="R7b1fd434789a4cd6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b50d5dac22e42fe" /><Relationship Type="http://schemas.openxmlformats.org/officeDocument/2006/relationships/notesSlide" Target="/ppt/notesSlides/notesSlide121.xml" Id="R1b21c54d9ebb43a9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d46940e1fbe4cd8" /><Relationship Type="http://schemas.openxmlformats.org/officeDocument/2006/relationships/notesSlide" Target="/ppt/notesSlides/notesSlide122.xml" Id="R8c9c1a021a61461c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2aef4c8a69a41b6" /><Relationship Type="http://schemas.openxmlformats.org/officeDocument/2006/relationships/image" Target="/ppt/media/image24.png" Id="R8608fa4192d04a76" /><Relationship Type="http://schemas.openxmlformats.org/officeDocument/2006/relationships/image" Target="/ppt/media/image23.svg" Id="R231d4727a37b49c1" /><Relationship Type="http://schemas.openxmlformats.org/officeDocument/2006/relationships/notesSlide" Target="/ppt/notesSlides/notesSlide123.xml" Id="R92e391dffd48412d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796479028fa4978" /><Relationship Type="http://schemas.openxmlformats.org/officeDocument/2006/relationships/notesSlide" Target="/ppt/notesSlides/notesSlide124.xml" Id="Raa00cc8b44324b59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48b6517eb2b4c9f" /><Relationship Type="http://schemas.openxmlformats.org/officeDocument/2006/relationships/notesSlide" Target="/ppt/notesSlides/notesSlide125.xml" Id="R490b2d74e30b46eb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1bc95eb6ed9414d" /><Relationship Type="http://schemas.openxmlformats.org/officeDocument/2006/relationships/notesSlide" Target="/ppt/notesSlides/notesSlide126.xml" Id="R4df004a363694bec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967704f20ad41fa" /><Relationship Type="http://schemas.openxmlformats.org/officeDocument/2006/relationships/notesSlide" Target="/ppt/notesSlides/notesSlide127.xml" Id="Rea627caa40b644d2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46a257accb14cec" /><Relationship Type="http://schemas.openxmlformats.org/officeDocument/2006/relationships/notesSlide" Target="/ppt/notesSlides/notesSlide128.xml" Id="R0acf043195be4d52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1b7c85b774493d" /><Relationship Type="http://schemas.openxmlformats.org/officeDocument/2006/relationships/notesSlide" Target="/ppt/notesSlides/notesSlide129.xml" Id="R7d52c18886e24a5a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15ce980342e406f" /><Relationship Type="http://schemas.openxmlformats.org/officeDocument/2006/relationships/notesSlide" Target="/ppt/notesSlides/notesSlide130.xml" Id="Rdffe24c0a9e549db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a9da938dfcb847e1" /><Relationship Type="http://schemas.openxmlformats.org/officeDocument/2006/relationships/notesSlide" Target="/ppt/notesSlides/notesSlide131.xml" Id="R9d43bf7b9ede4072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6547015375444c4" /><Relationship Type="http://schemas.openxmlformats.org/officeDocument/2006/relationships/hyperlink" Target="https://webstore.iec.ch/en/publication/5708" TargetMode="External" Id="R054982e0d2b8402f" /><Relationship Type="http://schemas.openxmlformats.org/officeDocument/2006/relationships/hyperlink" Target="https://webstore.iec.ch/en/publication/5063" TargetMode="External" Id="Re39cb0ef1ff942d6" /><Relationship Type="http://schemas.openxmlformats.org/officeDocument/2006/relationships/hyperlink" Target="https://www.cdc.gov/niosh/noise/about/app.html" TargetMode="External" Id="R9af142a80e5c4d24" /><Relationship Type="http://schemas.openxmlformats.org/officeDocument/2006/relationships/notesSlide" Target="/ppt/notesSlides/notesSlide132.xml" Id="R3beba607300d4e4a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ba4031b54d4849" /><Relationship Type="http://schemas.openxmlformats.org/officeDocument/2006/relationships/notesSlide" Target="/ppt/notesSlides/notesSlide133.xml" Id="R3f1b3da242d845a2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a50e0a79034a00" /><Relationship Type="http://schemas.openxmlformats.org/officeDocument/2006/relationships/notesSlide" Target="/ppt/notesSlides/notesSlide134.xml" Id="R0832ec28b2644aed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e637d34bad446a" /><Relationship Type="http://schemas.openxmlformats.org/officeDocument/2006/relationships/notesSlide" Target="/ppt/notesSlides/notesSlide135.xml" Id="R8ab5cfc65e064c0d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19949179454710" /><Relationship Type="http://schemas.openxmlformats.org/officeDocument/2006/relationships/notesSlide" Target="/ppt/notesSlides/notesSlide136.xml" Id="Rd3ba584494b44f08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e6708bd98a43a7" /><Relationship Type="http://schemas.openxmlformats.org/officeDocument/2006/relationships/image" Target="/ppt/media/image25.png" Id="Rf1f3ccc3f3b6451d" /><Relationship Type="http://schemas.openxmlformats.org/officeDocument/2006/relationships/image" Target="/ppt/media/image24.svg" Id="R70a8e708b6b14644" /><Relationship Type="http://schemas.openxmlformats.org/officeDocument/2006/relationships/notesSlide" Target="/ppt/notesSlides/notesSlide137.xml" Id="R274fbf5f279942d4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9ea790c5d24c50" /><Relationship Type="http://schemas.openxmlformats.org/officeDocument/2006/relationships/notesSlide" Target="/ppt/notesSlides/notesSlide138.xml" Id="R503268d21f004024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2f26d386154ad1" /><Relationship Type="http://schemas.openxmlformats.org/officeDocument/2006/relationships/notesSlide" Target="/ppt/notesSlides/notesSlide139.xml" Id="Rcc338caad9564f01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9a7abb668240e6" /><Relationship Type="http://schemas.openxmlformats.org/officeDocument/2006/relationships/notesSlide" Target="/ppt/notesSlides/notesSlide140.xml" Id="R8083b9f1b15a491b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c3e5c649fd4acb" /><Relationship Type="http://schemas.openxmlformats.org/officeDocument/2006/relationships/notesSlide" Target="/ppt/notesSlides/notesSlide141.xml" Id="R91fd28a161664463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38bf7fef64445b" /><Relationship Type="http://schemas.openxmlformats.org/officeDocument/2006/relationships/notesSlide" Target="/ppt/notesSlides/notesSlide142.xml" Id="Rfeacf628037b4a13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a5859421ef4da0" /><Relationship Type="http://schemas.openxmlformats.org/officeDocument/2006/relationships/notesSlide" Target="/ppt/notesSlides/notesSlide143.xml" Id="R202f270e9ce748c8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f58a0b792147a4" /><Relationship Type="http://schemas.openxmlformats.org/officeDocument/2006/relationships/image" Target="/ppt/media/image26.png" Id="R1f346ab738f44f48" /><Relationship Type="http://schemas.openxmlformats.org/officeDocument/2006/relationships/image" Target="/ppt/media/image25.svg" Id="Re0859b8073be4b0e" /><Relationship Type="http://schemas.openxmlformats.org/officeDocument/2006/relationships/notesSlide" Target="/ppt/notesSlides/notesSlide144.xml" Id="Ra25db12827154671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701c22a61241bf" /><Relationship Type="http://schemas.openxmlformats.org/officeDocument/2006/relationships/notesSlide" Target="/ppt/notesSlides/notesSlide145.xml" Id="R2efccf627dc64abf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be49697a734a3c" /><Relationship Type="http://schemas.openxmlformats.org/officeDocument/2006/relationships/notesSlide" Target="/ppt/notesSlides/notesSlide146.xml" Id="Rc7f655bebde0479b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4b6f3b321d44ae" /><Relationship Type="http://schemas.openxmlformats.org/officeDocument/2006/relationships/notesSlide" Target="/ppt/notesSlides/notesSlide147.xml" Id="R27ac6196e4714403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31bead7b2a4bea" /><Relationship Type="http://schemas.openxmlformats.org/officeDocument/2006/relationships/notesSlide" Target="/ppt/notesSlides/notesSlide148.xml" Id="R0f548c6c901a4be6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1e553c21624cd0" /><Relationship Type="http://schemas.openxmlformats.org/officeDocument/2006/relationships/notesSlide" Target="/ppt/notesSlides/notesSlide149.xml" Id="Rca59d957ecb244ae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3ad635437a458c" /><Relationship Type="http://schemas.openxmlformats.org/officeDocument/2006/relationships/notesSlide" Target="/ppt/notesSlides/notesSlide150.xml" Id="Rdd4bc80c0fd34a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E962FA1-873F-4400-A168-F7A96BC2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CENTRAL · 001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2D23C44-7A66-47AC-95C4-D5D104B0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3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Unidad 5 · Análisis frecuencial de señales acústicas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22FB9D6-1F0B-4940-9613-35F4FDB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0" i="0">
                <a:solidFill>
                  <a:srgbClr val="D8E5EB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D8E5EB"/>
                </a:solidFill>
                <a:latin typeface="Calibri"/>
                <a:ea typeface="Calibri"/>
                <a:cs typeface="Calibri"/>
              </a:rPr>
              <a:t>De la señal registrada a una interpretación con límites.</a:t>
            </a:r>
          </a:p>
        </p:txBody>
      </p:sp>
      <p:sp>
        <p:nvSpPr>
          <p:cNvPr id="4" name="spectrum-bar-1">
            <a:extLst xmlns:a="http://schemas.openxmlformats.org/drawingml/2006/main">
              <a:ext uri="{FF2B5EF4-FFF2-40B4-BE49-F238E27FC236}">
                <a16:creationId xmlns:a16="http://schemas.microsoft.com/office/drawing/2014/main" id="{11F3EED9-4A23-4840-8325-97BCCD49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323850" cy="4762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61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pectrum-bar-2">
            <a:extLst xmlns:a="http://schemas.openxmlformats.org/drawingml/2006/main">
              <a:ext uri="{FF2B5EF4-FFF2-40B4-BE49-F238E27FC236}">
                <a16:creationId xmlns:a16="http://schemas.microsoft.com/office/drawing/2014/main" id="{49D46CB6-DD6C-43A7-87B6-0F7A1202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323850" cy="11430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61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ectrum-bar-3">
            <a:extLst xmlns:a="http://schemas.openxmlformats.org/drawingml/2006/main">
              <a:ext uri="{FF2B5EF4-FFF2-40B4-BE49-F238E27FC236}">
                <a16:creationId xmlns:a16="http://schemas.microsoft.com/office/drawing/2014/main" id="{3DED6E94-9630-45C6-8BC9-F8782D1A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323850" cy="20002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A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pectrum-bar-4">
            <a:extLst xmlns:a="http://schemas.openxmlformats.org/drawingml/2006/main">
              <a:ext uri="{FF2B5EF4-FFF2-40B4-BE49-F238E27FC236}">
                <a16:creationId xmlns:a16="http://schemas.microsoft.com/office/drawing/2014/main" id="{07E6052C-4239-48AB-920A-2876E614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71875"/>
            <a:ext cx="323850" cy="13811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61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ectrum-bar-5">
            <a:extLst xmlns:a="http://schemas.openxmlformats.org/drawingml/2006/main">
              <a:ext uri="{FF2B5EF4-FFF2-40B4-BE49-F238E27FC236}">
                <a16:creationId xmlns:a16="http://schemas.microsoft.com/office/drawing/2014/main" id="{1AB8F54F-B5F0-4F5A-B46E-48EDC02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43375"/>
            <a:ext cx="323850" cy="8096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61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pectrum-bar-6">
            <a:extLst xmlns:a="http://schemas.openxmlformats.org/drawingml/2006/main">
              <a:ext uri="{FF2B5EF4-FFF2-40B4-BE49-F238E27FC236}">
                <a16:creationId xmlns:a16="http://schemas.microsoft.com/office/drawing/2014/main" id="{5366C269-2D4F-4F49-A943-C9D240BF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19625"/>
            <a:ext cx="323850" cy="3333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61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90A0F25C-6327-4D61-AF67-DC0CB66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96AA"/>
            </a:solidFill>
            <a:prstDash val="solid"/>
          </a:ln>
        </p:spPr>
      </p:sp>
      <p:sp>
        <p:nvSpPr>
          <p:cNvPr id="11" name="cover-sequence">
            <a:extLst xmlns:a="http://schemas.openxmlformats.org/drawingml/2006/main">
              <a:ext uri="{FF2B5EF4-FFF2-40B4-BE49-F238E27FC236}">
                <a16:creationId xmlns:a16="http://schemas.microsoft.com/office/drawing/2014/main" id="{66CF6A53-F0A7-43F3-BE93-9B79B48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91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 i="0">
                <a:solidFill>
                  <a:srgbClr val="DCE8EE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DCE8EE"/>
                </a:solidFill>
                <a:latin typeface="Calibri"/>
                <a:ea typeface="Calibri"/>
                <a:cs typeface="Calibri"/>
              </a:rPr>
              <a:t>tiempo → frecuencia → interpretación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41BBC-2625-4E19-BC78-02C32F04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Dos señales tienen igual RMS: ¿son iguales?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F57EB5-3A0C-4ED1-964A-88C46516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mismo descriptor global puede ocultar estructuras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816794B-F1A8-4BBE-B38D-C8A5D32C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002</a:t>
            </a:r>
          </a:p>
        </p:txBody>
      </p:sp>
      <p:pic>
        <p:nvPicPr>
          <p:cNvPr id="12" name="U05-002-U05-CH-0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33e4301524486">
            <a:extLst>
              <a:ext uri="{96DAC541-7B7A-43D3-8B79-37D633B846F1}">
                <asvg:svgBlip xmlns:asvg="http://schemas.microsoft.com/office/drawing/2016/SVG/main" r:embed="Rc7e70e25822d41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257300"/>
            <a:ext cx="1127760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653A9E95-502B-4E20-B742-3010318C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Igual RMS, distinta evolución temporal.</a:t>
            </a:r>
          </a:p>
        </p:txBody>
      </p:sp>
      <p:sp>
        <p:nvSpPr>
          <p:cNvPr id="6" name="credit">
            <a:extLst xmlns:a="http://schemas.openxmlformats.org/drawingml/2006/main">
              <a:ext uri="{FF2B5EF4-FFF2-40B4-BE49-F238E27FC236}">
                <a16:creationId xmlns:a16="http://schemas.microsoft.com/office/drawing/2014/main" id="{4AB4FDF6-04CA-4521-89A5-483E1732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PREV U04-109; BR; TEX 5.1.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9C06F9-569C-4032-A1CD-ACC99195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¿Qué representa cada gráfico?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D309F0-B1C2-47B4-96C4-2157F780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Primero describimos; después interpretamos.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6712FFC-6D9A-4FEE-B287-D24C84F8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003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CE68AA1F-67B8-45FE-9946-9240645C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239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52DFD9E-414E-4D2A-A50A-6A1703B4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8EDF588D-1F50-4413-B641-2E75758A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6896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cada visual indique: objeto; ejes; unidades; condiciones. Opciones: forma temporal, espectro, respuesta o espectrograma.</a:t>
            </a:r>
          </a:p>
        </p:txBody>
      </p:sp>
      <p:sp>
        <p:nvSpPr>
          <p:cNvPr id="7" name="answer-routine-box">
            <a:extLst xmlns:a="http://schemas.openxmlformats.org/drawingml/2006/main">
              <a:ext uri="{FF2B5EF4-FFF2-40B4-BE49-F238E27FC236}">
                <a16:creationId xmlns:a16="http://schemas.microsoft.com/office/drawing/2014/main" id="{54F816E1-42C6-47B0-9F4E-85FEE8AF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answer-routine-title">
            <a:extLst xmlns:a="http://schemas.openxmlformats.org/drawingml/2006/main">
              <a:ext uri="{FF2B5EF4-FFF2-40B4-BE49-F238E27FC236}">
                <a16:creationId xmlns:a16="http://schemas.microsoft.com/office/drawing/2014/main" id="{0F85164F-BB7F-4501-961D-882FF640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 xmlns:a="http://schemas.openxmlformats.org/drawingml/2006/main">
              <a:ext uri="{FF2B5EF4-FFF2-40B4-BE49-F238E27FC236}">
                <a16:creationId xmlns:a16="http://schemas.microsoft.com/office/drawing/2014/main" id="{4974F930-2D09-4402-905A-33E087F7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85975"/>
            <a:ext cx="28003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EEF0FBCB-44E9-4ACD-AD0A-AA4729A6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apariencia no identifica por sí sola el objeto representado.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BD66824A-A756-4C6F-AE63-8135D005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BR; CDM; EP.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A37FF0-0998-4592-9000-2DD706EC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Lo que recuperamos de U3 y U4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1F9C28-2CDA-497E-9C7A-F5427457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Dos caminos convergen en la señal compleja.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0DC53BD-2286-406D-A2AB-43B3AC29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004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AECD723-0ED3-4AE0-A9CD-DFB26431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9976AB5E-82A5-49C3-8342-16917B47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f=1/T.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8FA87E94-B097-40DA-88C3-C5F8BCD0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A76470F5-F42E-4957-8523-EF8D8DA3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A41FD633-6C1C-4878-A6CB-46E61F7B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Superposición: suma de contribuciones compatibles.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14969445-AE38-4B59-A3A3-5E231409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B75115EE-FAD4-4BEF-95A6-FF7B39BC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BAC762F7-E033-47EA-8584-45F5B85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varias senoides pueden formar una única presión compleja.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A6C0D037-7A97-4641-B60A-72839513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Conocimientos previos necesarios para analizar frecuencia.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3ACA90BB-0E4A-4510-9EFB-FA6A674E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5.2; BR; NOT.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4C2A91-3DDD-4028-A5D4-21BC44A0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Qué podremos interpretar, calcular y explicar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698C38-F7DC-4784-889A-A6DD538C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Ocho resultados observables.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E7B9803-C033-4AE8-87C0-3EEE383E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005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36D43D92-843E-4D50-84AB-5CCA3B56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Interpretar tiempo, frecuencia y fase.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Distinguir serie, transformada, DFT y FFT.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f₀, Tobs y Δf.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Separar señal y sistema.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Nombrar componentes.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Interpretar rangos. Calcular bandas y reconocer filtros. Leer ponderaciones y sonometría.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8C820AF7-B40A-437A-A371-C93A4C08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523BC2C8-7653-4E80-81E0-BA5616AD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Idea central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EF2E8505-88A8-4402-B3A9-FCE4E56C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Ocho resultados observables.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9DBCFB83-272D-4C73-899C-3CC6C82A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metas se comprobarán nuevamente al cierre.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BC8D8E10-541A-4B2D-9298-2A651D65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BR objetivos; CM.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B99125-2B3E-4DD3-84B0-1FA662F9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Mapa de la unidad: de la señal a la decisión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9EF95C-ED24-49DA-8D82-DC47BA4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Cuatro tramos, una rutina de lectura.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E39C603-168D-4986-9DA8-24905345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006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5581DDC1-E01D-4C1E-95C5-1B4CD4C0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Representar.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Analizar.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Organizar y modificar. 4. Medir y decidir.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1B8ECC2D-EC43-4AAE-8B90-DF61F7B0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7ED45A9B-463E-4731-9E7C-2E10C2B7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Idea central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E3DE92DD-23DC-4FDD-AE69-C9F57344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Cuatro tramos, una rutina de lectura.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8691A323-97E8-4335-8F6B-DBD89FA6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tramo responde una pregunta distinta sobre señal, sistema o medición.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5E565AC6-345C-4FC1-BA63-A9FED162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BR; CM; CDM.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9F0283-D47B-4823-8BC0-56952CD7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Cinco preguntas para leer cualquier gráfico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A6FF94-1D9A-4C7E-B98F-61F4B94F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lectura válida empieza antes de mirar la curva.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0A739E5-5992-4854-A671-68D82FDE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007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8E6EE415-3D8F-43B5-9910-19B4E455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objeto?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muestran los ejes?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unidad y escala?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¿Bajo qué condiciones?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permite concluir?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10A187CB-7E7B-42C6-9665-10E0AFA1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20351247-7A52-44B3-87B0-7C048A74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20C9B144-A489-4E8E-B0E8-71F27AF2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Condiciones: decisiones de registro, análisis y medición que limitan la lectura.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34E2443C-A546-4FAF-8D39-90E5BEFB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Rutina transversal de lectura.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A0082476-C079-47D9-8EAE-6DFA5A54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BR; NOT; GLO.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27EEA5D0-9EA0-406D-B2BC-EDFE1AAB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CENTRAL · 008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9AC0E79F-2ABA-494E-B936-91AA95FC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Una señal, varias representaciones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112D4735-979B-46AC-B176-08A58717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¿Qué pregunta responde cada vista?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3D25E2BA-647D-448C-ADE1-E29474DB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Tiempo · Frecuencia · Fase.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857ED1-9771-43C5-88DF-E5861E14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dominio temporal muestra cuándo cambia la señal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E423A3-4905-4652-9026-22DCEC74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Leemos evolución, duración y transitorios.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E5D247A-C8F4-411D-9C0C-A4C620EF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009</a:t>
            </a:r>
          </a:p>
        </p:txBody>
      </p:sp>
      <p:pic>
        <p:nvPicPr>
          <p:cNvPr id="15" name="U05-009-U05-CH-0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963c89c384a02">
            <a:extLst>
              <a:ext uri="{96DAC541-7B7A-43D3-8B79-37D633B846F1}">
                <asvg:svgBlip xmlns:asvg="http://schemas.microsoft.com/office/drawing/2016/SVG/main" r:embed="Ra338f3dfb3c54c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4A5EF5D7-6E6E-4204-8A6C-0B3C68F9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74AB06FB-AB3C-4337-AA8B-03DDBA92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A8D9E2B3-A9C6-4891-84B5-773B0FDE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 horizontal: tiempo t en segundos. Eje vertical: presión p(t) en pascales. Preguntas: ¿cuánto dura?, ¿se repite?, ¿dónde cambia rápidamente?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E6703ECF-C2FE-4540-89A2-A6B3FA1A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forma temporal no muestra directamente cómo se distribuyen las frecuencias.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0A098AF4-86A7-4A17-BAED-EF1CF7E0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5.3; NOT.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4585F9-E229-42B5-B9BA-CD993816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dominio frecuencial organiza contribuciones por frecuencia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49F8DF-91C4-45BE-BDCB-E5C9225B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eje vertical debe nombrarse: no es automáticamente intensidad.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5519875-57B0-4F7F-B922-E79BC6D8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010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B7E27A0C-6D0F-4EE9-B082-0C521A01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 horizontal: frecuencia f en hertz.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Ordenadas posibles: amplitud, magnitud, potencia, densidad o nivel.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Siempre informar unidad, escala y normalización.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D556D23E-B9A2-4C0E-98D9-2ABB4FAE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81CC3FA1-04F2-41C0-AEA0-F46E3918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1DEBDE82-BCCA-4F09-A756-55A70E85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Espectro: representación de una señal según frecuencia bajo una convención declarada.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81EB26D7-658B-48E2-AAD0-07692EB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líneas en 100 y 200 Hz.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B13E2C5A-FDAB-4395-9107-3DFDE9BA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frecuencia ubica componentes; la ordenada dice cuánto representa cada una.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B81491AC-3440-4B14-B40F-B7492089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5.3; NOT;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FA8D67-6925-4D38-92BF-63D6F51C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Una presión, tres lecturas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BCD71E-F676-4C16-BD32-CEAA714C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Tiempo, magnitud y fase describen la misma señal.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37B9166-865B-40AE-A71A-2C31EA5E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011</a:t>
            </a:r>
          </a:p>
        </p:txBody>
      </p:sp>
      <p:pic>
        <p:nvPicPr>
          <p:cNvPr id="12" name="U05-011-U05-CH-0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65327fef54405">
            <a:extLst>
              <a:ext uri="{96DAC541-7B7A-43D3-8B79-37D633B846F1}">
                <asvg:svgBlip xmlns:asvg="http://schemas.microsoft.com/office/drawing/2016/SVG/main" r:embed="R47a40367002a43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257300"/>
            <a:ext cx="1127760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E96E6F4A-58BE-4733-B97B-6D02627B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Misma señal, tres preguntas complementarias.</a:t>
            </a:r>
          </a:p>
        </p:txBody>
      </p:sp>
      <p:sp>
        <p:nvSpPr>
          <p:cNvPr id="6" name="credit">
            <a:extLst xmlns:a="http://schemas.openxmlformats.org/drawingml/2006/main">
              <a:ext uri="{FF2B5EF4-FFF2-40B4-BE49-F238E27FC236}">
                <a16:creationId xmlns:a16="http://schemas.microsoft.com/office/drawing/2014/main" id="{EE285EE9-C390-49FE-95DE-9CCF11E6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fig. 5.1; PDF p. 122.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361C1B-8939-4E63-99A7-8DA91E3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Leamos el gráfico antes de interpretarlo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F6D86D-3AF1-4246-990B-C513ED55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Describir no es todavía explicar una causa.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5FCCBE1-B9C1-412F-909E-F6088002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012</a:t>
            </a:r>
          </a:p>
        </p:txBody>
      </p:sp>
      <p:pic>
        <p:nvPicPr>
          <p:cNvPr id="15" name="U05-012-U05-CH-0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96fc1613e4bb9">
            <a:extLst>
              <a:ext uri="{96DAC541-7B7A-43D3-8B79-37D633B846F1}">
                <asvg:svgBlip xmlns:asvg="http://schemas.microsoft.com/office/drawing/2016/SVG/main" r:embed="R78f6bb1a5eb24d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4C69D52E-B4D3-4700-945A-27FFFE54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4F700BF8-779E-4541-AC54-75DFBEC4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0D43E9BD-E379-4DC3-A173-D6C47D7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Identifique variable, unidades, frecuencias y amplitudes. ¿Qué fase tiene cada componente? ¿Qué conclusión no puede obtenerse solo con estos paneles?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15739633-115C-42E0-93F3-393781F2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Primero ejes y datos; después interpretación.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53097C7C-4C33-48CA-ACA5-0AC004A1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ejercicios L1.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E3708F-C645-4145-BD77-650DA499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fase cambia la forma sin cambiar las magnitudes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064AFF-D14F-4DA4-ABF1-BEB17616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“Cuánto” y “cuándo dentro del ciclo” son informaciones distintas.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245E8FF-6A70-41AC-9323-93F4A1C2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013</a:t>
            </a:r>
          </a:p>
        </p:txBody>
      </p:sp>
      <p:pic>
        <p:nvPicPr>
          <p:cNvPr id="15" name="U05-013-U05-CH-0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311f8100c4e23">
            <a:extLst>
              <a:ext uri="{96DAC541-7B7A-43D3-8B79-37D633B846F1}">
                <asvg:svgBlip xmlns:asvg="http://schemas.microsoft.com/office/drawing/2016/SVG/main" r:embed="R3251ded121834e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D1B714F3-B4BE-4978-9CE0-85F9B2A8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518A68D9-F2FE-4A75-B3CD-FB28D5C1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B6459FE8-E655-420F-9953-3AFD4415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frecuencia y magnitud. Fases diferentes. Formas temporales diferentes.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BEE6BC5D-E50B-466C-B06A-79B5F63E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Igual magnitud espectral no implica igual forma temporal.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94057FA3-5179-4A54-A05A-9E7E7907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5.4.3; BR.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7BF69A-E0BC-4393-B260-547069A5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Igual magnitud espectral no significa igual señal temporal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418DFF-134F-4DA4-9DB3-94AC4E17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Para reconstruir la forma se necesitan magnitud y fase.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1724D60-CEEC-47A4-AC66-FBD5BBBC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014</a:t>
            </a:r>
          </a:p>
        </p:txBody>
      </p:sp>
      <p:pic>
        <p:nvPicPr>
          <p:cNvPr id="15" name="U05-014-U05-CH-0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b18d16396486c">
            <a:extLst>
              <a:ext uri="{96DAC541-7B7A-43D3-8B79-37D633B846F1}">
                <asvg:svgBlip xmlns:asvg="http://schemas.microsoft.com/office/drawing/2016/SVG/main" r:embed="Ra494200586ad46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EACE5738-B5AB-4357-BF73-A808FB1E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0F3BF576-FA07-4992-824A-321E09EA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D5EB01B8-87F4-4651-B095-6682BCE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Compare: forma temporal magnitud común fase A fase B. La conclusión solo vale bajo la misma convención de representación.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75A35AD0-74D7-4C7E-AF09-C4990073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fase conserva información que la magnitud no muestra.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152F65F5-EFE4-425B-B713-20770990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5.4.3; EP.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9BA018-21B4-45BE-BDE5-87B406D9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Una señal periódica repite un patrón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B28C81-45CA-4F38-8C3E-BE7E5673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menor período define la frecuencia fundamental.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E253E87-4E4E-4B07-8955-050A17AE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015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9334647A-754D-4D97-A881-B2C092F1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1AABAF1F-DBB3-441D-B97A-F1685FB3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x(t+T₀)=x(t); f₀=1/T₀.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F86B7CC6-E144-450B-8D17-EA73B9CE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6324CB83-F7A1-4741-B72D-96218C6A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7B3A7A9F-B186-4626-B77D-AD71E871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T₀: período fundamental en segundos; f₀: frecuencia fundamental en hertz.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871F3AB5-21FA-47DB-B748-B25FB7AC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36117ECA-E91B-419E-8B99-6E61CC80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F022A5A-C9D3-4CE2-81EB-59967652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T₀=0,010 s → f₀=100 Hz.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8E631EB9-1B56-44B9-95A0-BB113F66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período completo contiene el patrón que vuelve a repetirse.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8EA7C117-14CA-4CC0-8BFF-03129316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5.3.1, ecs. 5.1–5.2.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032644-1236-4148-8797-4A2BA1C8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Periódica, aperiódica y transitoria no son etiquetas excluyentes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B62D85-95D9-4684-9E2E-CFC6E91C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vocal puede ser casi periódica en un tramo y transitoria en sus bordes.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E78BDD9-1954-4AB4-B744-2D37E823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016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45224B2B-2913-446C-AE47-9F7E2664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0906DDB2-B48A-4DF6-8D0A-3CAC6EB8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73A8197F-C01E-4B48-A59B-5004713F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Periódica: repite un patrón. Aperiódica: no presenta repetición exacta.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509B4A4E-E781-43E3-ABBE-8475A8BF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3B2E2EA1-272D-43EB-A821-FBEC5FD2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A9CE09BB-38DC-4276-BC4C-442DF965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Transitoria: cambia durante un intervalo breve.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3D31D67B-D300-48EE-9FC2-644B14D4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clasificación depende del tramo y de la escala temporal observada.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BDC0C272-5A2A-423C-975C-39EB3794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5.3.1; GLO.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8BEE2A-BEFE-455C-A0AF-E71459B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Hasta acá: tiempo, frecuencia y fase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F20E71-1324-4768-86EE-23C8B800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Elegimos la vista según la pregunta.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9DCFDB3-367C-4CB7-B15F-585A87C9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017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69F0E1BC-2A08-4D37-A3BA-106724CA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C2D08F9D-A729-4971-9573-C9FD0E3B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2501FE83-19B4-4C07-833F-80DE8321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Tiempo: ubica cambios.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E50297F9-2D38-415B-B81C-DA65E9D7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1B53D433-9F37-4FF9-BDA5-2A8FE9F8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9C1E4693-35E3-4A6D-A29D-BA1B7DBD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Magnitud: distribuye contribuciones.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3F9EE9CF-4230-4C02-A8B5-89BBB5BE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52EE29BB-5BD5-4DE4-852F-DDDFB81C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6E9A3905-E459-4C1C-854A-23493BD1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Fase: organiza relaciones temporales.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4E63CA7A-CFAA-4B27-AE30-91A5265F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8C1F6C51-975C-402B-8B71-CF33FCAB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A6B31CCF-EB6D-47B1-BD7D-174B22FE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Pregunta: ¿qué vista elegiría para localizar un transitorio?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7105F703-5A01-4EC0-BACE-58B76DBB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Tres vistas, un mismo objeto: la señal.</a:t>
            </a:r>
          </a:p>
        </p:txBody>
      </p:sp>
      <p:sp>
        <p:nvSpPr>
          <p:cNvPr id="17" name="credit">
            <a:extLst xmlns:a="http://schemas.openxmlformats.org/drawingml/2006/main">
              <a:ext uri="{FF2B5EF4-FFF2-40B4-BE49-F238E27FC236}">
                <a16:creationId xmlns:a16="http://schemas.microsoft.com/office/drawing/2014/main" id="{EB9FE4D5-3149-4D86-AC2A-F381FFD9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5.3; U05-007–016.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16EE306-EBA4-45CE-90E1-941F35EB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CENTRAL · 018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B6FA3230-DE49-4123-98D7-113D59B8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Fourier: representar una señal con sinusoides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CEBAFAF3-C25C-43F2-A920-CD2FEDF7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Cambiamos la forma de describir; no modificamos la señal.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6D0EF0FD-0853-46F5-B341-E68C1D6B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¿Cómo puede una suma de componentes simples representar una forma compleja?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D6401C-E2B2-4465-B98D-FE74A864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¿Podemos construir una forma compleja sumando tonos?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53388C-145B-439F-86AC-45C3D38A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Prediga antes de observar el resultado.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26B1187-8E67-4721-AD6C-1FFFB08C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019</a:t>
            </a:r>
          </a:p>
        </p:txBody>
      </p:sp>
      <p:pic>
        <p:nvPicPr>
          <p:cNvPr id="15" name="U05-019-U05-CH-0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a6de6617742ec">
            <a:extLst>
              <a:ext uri="{96DAC541-7B7A-43D3-8B79-37D633B846F1}">
                <asvg:svgBlip xmlns:asvg="http://schemas.microsoft.com/office/drawing/2016/SVG/main" r:embed="R025286dcdbfe4f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154A7499-1735-4B15-BF2A-43352BD9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75F8D552-7E16-40D0-8A15-5B1F9131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2E7C3B63-8432-4BBB-9FC5-B93BF87A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Compare frecuencia, amplitud y fase de tres tonos. Dibuje o describa la suma esperada. ¿Qué parámetro cambiaría más la forma?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3F55B6AB-86B5-4FE5-B1D1-CEDD2040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componentes se suman en cada instante.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34D2A344-D919-40B3-978E-F48830AA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U3; TEX 5.4; EP.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23FF85-4308-4641-9286-F9BC8BC7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Comparar componentes y suma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48480FC-7CA5-430C-AE69-0D947987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escucha puede incorporarse en clase; la slide conserva una comparación estática.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8727585-78C9-48DF-8EF6-4C2003E2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020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AD7A062A-5131-4D30-A807-AB57D285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23EE8B87-722B-4343-8DDE-3B9E2EA2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2FE76B65-3159-48B2-B725-2755060D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Secuencia: tono 1 → tono 2 → tono 3 → suma. Mantener nivel seguro y duración breve.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BA3085CB-37A9-48CF-A078-422FA219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1F620560-23A6-4C7F-AB88-5E4F82B8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04DA6CC1-DE26-4A87-9E86-3218B282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Alternativa: observar las cuatro formas temporales.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A4750173-271F-4AFE-AB59-0B99F59B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comparación auditiva debe usar el mismo nivel de reproducción.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A08C9BF2-F444-4149-AAC5-13881E8B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5.4; EP.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A528A2-E09F-4753-BF9F-31FF2B84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Agregar componentes aproxima una forma no sinusoidal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80A5EA-40E9-47B5-94AC-A6CE8CEC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escala permanece fija para comparar la aproximación.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1C33082-5A73-4897-9ECD-6BC4541D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021</a:t>
            </a:r>
          </a:p>
        </p:txBody>
      </p:sp>
      <p:pic>
        <p:nvPicPr>
          <p:cNvPr id="12" name="U05-021-U05-CH-0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5ac8289cc4a31">
            <a:extLst>
              <a:ext uri="{96DAC541-7B7A-43D3-8B79-37D633B846F1}">
                <asvg:svgBlip xmlns:asvg="http://schemas.microsoft.com/office/drawing/2016/SVG/main" r:embed="R61da41c04f684b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257300"/>
            <a:ext cx="1127760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FABF1A5A-E41A-446F-9E17-0025C5D8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Más términos mejoran la aproximación, pero no eliminan las oscilaciones de borde.</a:t>
            </a:r>
          </a:p>
        </p:txBody>
      </p:sp>
      <p:sp>
        <p:nvSpPr>
          <p:cNvPr id="6" name="credit">
            <a:extLst xmlns:a="http://schemas.openxmlformats.org/drawingml/2006/main">
              <a:ext uri="{FF2B5EF4-FFF2-40B4-BE49-F238E27FC236}">
                <a16:creationId xmlns:a16="http://schemas.microsoft.com/office/drawing/2014/main" id="{9C9A68CF-D681-44A1-94DB-C91C4EA7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fig. 5.2; PDF p. 124.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4E7F72-9066-443F-AF43-672CDDE1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serie ubica componentes en múltiplos de f₀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56BD9E-14F5-49A3-BC7A-41EA0618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ecuación compacta una idea ya observada.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00BDF6D-54D2-416C-9DBB-0E05284A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022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AA5F8B97-06EC-43C9-9478-EBF441C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D5BB24A6-BC61-4386-9094-A1F066A7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x(t)=a₀/2 + Σ(n=1…∞) [aₙ cos(2πnf₀t) + bₙ sin(2πnf₀t)]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BD26993F-6CB1-4591-AC05-1F2F211C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E94F9006-7E2A-4D68-BA67-5837869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81A0AF0-B751-4971-92B4-F1F73469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n: índice entero; aₙ,bₙ: coeficientes con la unidad de x; f₀ en Hz; t en 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5DECE898-A3CF-4FC0-9C66-42F5DEC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B95D4F9B-E0D8-4B10-896E-85238879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C21F81AD-C459-4064-B463-16DA5C88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n=2 corresponde a 2f₀.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30E24867-66C9-4EC6-9657-28C839D7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serie organiza una señal periódica en componentes armónicas.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1583F717-FA43-465B-BFEC-DCCE13E4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5.4.1, ec. 5.3.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B4FCD5-1FF0-4748-8C0A-B6116D8B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Los coeficientes indican cuánto aporta cada componente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DFFB3D-855A-4C92-9F64-45DBA512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 obtienen comparando la señal con seno y coseno durante un período.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77F2882-175D-4657-B9DA-03ED2A30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023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B7739AAF-9B7D-4050-A55C-42FF44BF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9906000" cy="133350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EF91C83E-F10D-421F-B991-DBEB6475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57350"/>
            <a:ext cx="9448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2625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aₙ=(2/T₀)∫ x(t)cos(2πnf₀t)dt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2625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bₙ=(2/T₀)∫ x(t)sin(2πnf₀t)dt   para t∈[t₀,t₀+T₀]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D7D16FD0-0EDB-44D2-88AF-E2188BDF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944A78D0-FAFB-4559-8005-34BD6A21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5C87B816-5D7C-4B00-94F6-FA0E3D1B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t₀: inicio del período; T₀: duración; dt en 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ADB19355-92FA-48BB-A5E4-0087DEBD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206BB892-10A2-4D6C-B4E5-D38CA78E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083BBF37-B98D-4560-B4E0-38D5DC60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simetría puede anular una familia de coeficientes.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6BB13A7E-8FBF-4715-AE94-673EF433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Profundización no evaluable mediante integración.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0D637EC9-2F58-47F4-8456-C195A5FC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5.4.1, ecs. 5.4–5.5.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F59A38-375C-42BC-9D26-4DA75B3C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Dos componentes, un período fundamental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95AE05-9EE4-476D-AE03-9F717CCB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Buscamos la repetición común, no el pico más alto.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D2C0407-BFC7-4187-B728-0CCBD79F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024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50611F83-31AD-49F5-BD47-D6539EF3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ADF62563-138A-44E7-9890-3B8308F1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T=1/f; f₀=1/T₀.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22A2CDAF-7392-4F16-8811-BF698687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FB0E52B5-A8E2-4745-9C1C-EF2A586C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FC75227C-8AB7-4DD0-AC07-B93F8B12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ejemplo resuelto del capítulo.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F7E49EA2-DBCA-4202-B3E1-F9EF56D1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ABA64086-2E2E-4370-8A45-B171E394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473E49B8-6F22-472C-9761-EAA37DD1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1: períodos 0,010 s y 0,005 s. Paso 2: patrón común T₀=0,010 s. Paso 3: f₀=100 Hz 200 Hz es el segundo armónico.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AFC3008D-23B0-42F3-B5B4-9304DF15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fundamental se obtiene de la periodicidad común.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ECFDFC27-F510-4C22-B171-2CF856C4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5.4.2.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452004-B33D-4823-BDFA-EF30C357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¿Qué mejora al sumar más términos?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6D9109-2D2A-47E9-99D3-A1160A75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Observe tramos suaves y vecindades de discontinuidades.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11439D6-F49B-422A-A215-5E448D42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025</a:t>
            </a:r>
          </a:p>
        </p:txBody>
      </p:sp>
      <p:pic>
        <p:nvPicPr>
          <p:cNvPr id="15" name="U05-025-U05-CH-0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b49e970284bb9">
            <a:extLst>
              <a:ext uri="{96DAC541-7B7A-43D3-8B79-37D633B846F1}">
                <asvg:svgBlip xmlns:asvg="http://schemas.microsoft.com/office/drawing/2016/SVG/main" r:embed="R51bcd500529e4b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F04C63E7-9866-44D8-BA9F-44C20386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62A8469F-3BF9-4188-962A-D573D3D6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40297BC1-C61D-4EDD-90EB-037A7086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¿Dónde disminuye el error? ¿Dónde persisten oscilaciones? ¿Cambió la escala? ¿Sería correcto llamarlas ruido?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11A56A77-F548-4B2E-981E-F49EF778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oscilaciones de Gibbs pertenecen a la aproximación matemática.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AFA3A7DD-6431-4DE6-AB70-55B50D97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ejercicio L2.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113D81-EAC2-417E-8E3C-BA9E4CA4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transformada no exige repetición exacta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98F936-4C9F-45BA-B483-822D35D4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Serie y transformada responden a objetos ideales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DCB5CF3-A5DD-40C9-B4DF-60A01DDA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026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F7DF2A6B-6A46-4319-BFFA-B3158327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19437C22-C61B-4060-8B4F-89576A94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58EEF032-E137-4519-931D-2A0D5529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periódica ideal → serie → líneas en múltiplos de f₀.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89FF07CA-859D-4145-AA6E-C19DA095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C56EFE99-4CDA-490C-A75E-26EB9488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69915550-9E4F-4B72-92F2-4533FF47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general → transformada → función continua ideal de frecuencia.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7F113FAC-C000-4C3B-B5D1-574F91FA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registro real requiere distinguir señal ideal, observación finita y cálculo digital.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569FB7F7-ED0B-4E33-8B44-F5241AC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5.4.3.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E956AB-472F-4B8D-856E-8D8EF74B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transformada compara la señal con cada frecuencia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423010-D135-4DB4-B3F3-F67F40CD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fórmula es referencia, no procedimiento de cálculo en esta unidad.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8B654E0-C735-4431-A6CB-3C372EAC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027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93CF3440-E46C-450D-A5A6-E30E8382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2166EDD2-9FD4-42C2-9950-BA2906D5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3FF0F9E5-CAAA-4546-B1F3-DFA288EC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X(f) reúne magnitud y fase para cada frecuencia según una convención.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FA97556C-95E9-4039-9329-7068ACEB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9A950273-85D3-49A0-80A6-0F1CDF6C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FE8D1AC1-2A8A-4DBA-9CD4-2E183630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x(t): señal; f en Hz; j²=−1; con esta convención, si x tiene unidad U, X tiene U·s.</a:t>
            </a:r>
          </a:p>
        </p:txBody>
      </p:sp>
      <p:sp>
        <p:nvSpPr>
          <p:cNvPr id="10" name="compare-equation">
            <a:extLst xmlns:a="http://schemas.openxmlformats.org/drawingml/2006/main">
              <a:ext uri="{FF2B5EF4-FFF2-40B4-BE49-F238E27FC236}">
                <a16:creationId xmlns:a16="http://schemas.microsoft.com/office/drawing/2014/main" id="{273C0FA2-19F9-4039-BCD1-6F624B66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903163"/>
                </a:solidFill>
                <a:latin typeface="Cambria Math"/>
                <a:ea typeface="Cambria Math"/>
                <a:cs typeface="Cambria Math"/>
              </a:rPr>
              <a:t>X(f)=∫₋∞⁺∞ x(t) exp(−j2πft) dt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014C87BD-5A0F-4467-9F0C-816B1936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exponencial compleja compacta comparación con seno y coseno.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38725563-DCF6-43CC-B6A5-BFFCAE06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5.4.3, ec. 5.6; NOT.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855088-CC10-4F1A-AD7F-58142FBF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Una transformada tiene magnitud y fase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DB903F-56C0-451E-90D7-B8030776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Dos informaciones diferentes conservadas en una expresión.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F0718DA-56C1-4289-9BFD-D81B4021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028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3829986A-60A8-475B-AEBD-82126E7E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1700A6F2-0621-4941-A9AC-B487622C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X(f)=|X(f)|e^(jφ_X(f)).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B1ED1D0B-247B-440F-9649-575835F1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4FD30A4B-1551-4AAF-9005-35A1F943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9683235C-E2E0-4325-BD09-82D42C39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Forma polar de la transformada.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BB4AA68B-F529-4693-B84B-CA04B9A1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796A4316-ADA8-4A29-B3C1-834718EB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E876144-B85B-423B-9A9E-4D1EC9B8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volver a las componentes de 100 y 200 Hz de U05-011.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CD61CAB6-4663-4A88-B1C4-D8797DA3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Magnitud y fase deben compartir convención y eje frecuencial.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A5CD83FE-37EA-432F-97C7-6A61A625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5.4.3, ec. 5.7.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1D6FCE-5B25-4659-9BD5-4ADD0B62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Fourier cambia la representación, no la señal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15421E-2D27-4D4F-A071-A996D173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Elegimos herramienta según el objeto.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82C970C-AF14-4B8D-B327-3E18ECA4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029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A5FA06E7-F62C-4253-A96F-2C794D35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A27D104A-AD21-4454-968E-839129CF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EBAB698A-8F4F-4D28-A915-AABB7862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Serie: periodicidad ideal.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BA6CB78C-F8E4-4162-AB97-E240808D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F6719FEF-4B39-4DBE-964C-0A391AAD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51FA8D1F-9DDC-460E-8456-4F0AB211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Transformada: señal general.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EDF0C3BE-72AD-4ECF-9355-A5F3F8EC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9A3654FF-CF4E-4D00-A320-B19EDB12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0FBCB693-F9CF-4D21-83CD-D31C1F61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DFT: registro finito y discreto.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289C0ACD-4E67-4F34-9465-21C5D9FC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7A155282-9AAD-4A5B-A3E2-C5340502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C23CEECB-B79C-42AA-BFA6-3C75A383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FFT: algoritmo que calcula la DFT.</a:t>
            </a:r>
          </a:p>
        </p:txBody>
      </p:sp>
      <p:sp>
        <p:nvSpPr>
          <p:cNvPr id="16" name="recap-5-box">
            <a:extLst xmlns:a="http://schemas.openxmlformats.org/drawingml/2006/main">
              <a:ext uri="{FF2B5EF4-FFF2-40B4-BE49-F238E27FC236}">
                <a16:creationId xmlns:a16="http://schemas.microsoft.com/office/drawing/2014/main" id="{83CAF472-9D76-491C-958B-C9C420AA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7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1CF15601-6B19-4A72-9B3B-7019C5CA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C221F945-135D-41CD-9CA4-A388F6DD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a evitar: “Fourier crea componentes”.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48109ADA-C320-4D40-B935-95CDBDD1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Objeto, herramienta y salida deben nombrarse por separado.</a:t>
            </a:r>
          </a:p>
        </p:txBody>
      </p:sp>
      <p:sp>
        <p:nvSpPr>
          <p:cNvPr id="20" name="credit">
            <a:extLst xmlns:a="http://schemas.openxmlformats.org/drawingml/2006/main">
              <a:ext uri="{FF2B5EF4-FFF2-40B4-BE49-F238E27FC236}">
                <a16:creationId xmlns:a16="http://schemas.microsoft.com/office/drawing/2014/main" id="{FD5396CA-FDC0-4E35-ABE5-D4E51B7A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5.4; BR.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6D632FA7-B49F-417E-B01E-D4DB08B3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CENTRAL · 030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61DC1838-4305-4D5B-8C83-DB33B309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 la señal continua a un registro digital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2EFB6BE4-9ABA-44AA-A7BD-C18805E6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Entre el fenómeno y el gráfico hay decisiones de adquisición.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88FBFB4C-A624-4C5B-B66F-5B996A1B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Presión acústica → transducción → muestras → análisis.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2F3B6B-3562-40CD-A9E9-88606CDB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micrófono no entrega una FFT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277CC8-61A3-4E3F-96FC-8FCD6EEC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Transducción, muestreo y cálculo son operaciones distintas.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12690A3-F611-4583-B2FD-67A39EF1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031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800B89F1-7FF5-4699-ABFB-CD0D4DB7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4525CB09-513A-435F-98AB-650B9BF0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p(t) en Pa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AC36EA24-DBD8-477E-95BB-A3900E36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E8A4DE41-751A-47CA-A7B4-0E523139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eléctrica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F977117D-3091-4F63-B9C8-BE8E0B9A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DF4D4919-F2E1-49D7-89A4-CA8EC011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Muestras x[n]</a:t>
            </a:r>
          </a:p>
        </p:txBody>
      </p:sp>
      <p:sp>
        <p:nvSpPr>
          <p:cNvPr id="10" name="process-4">
            <a:extLst xmlns:a="http://schemas.openxmlformats.org/drawingml/2006/main">
              <a:ext uri="{FF2B5EF4-FFF2-40B4-BE49-F238E27FC236}">
                <a16:creationId xmlns:a16="http://schemas.microsoft.com/office/drawing/2014/main" id="{9D870423-87A5-4928-AB54-B0570A90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1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A7A4D06C-80FC-4572-B0D7-C037D1F2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DFT / FFT</a:t>
            </a:r>
          </a:p>
        </p:txBody>
      </p:sp>
      <p:sp>
        <p:nvSpPr>
          <p:cNvPr id="12" name="process-5">
            <a:extLst xmlns:a="http://schemas.openxmlformats.org/drawingml/2006/main">
              <a:ext uri="{FF2B5EF4-FFF2-40B4-BE49-F238E27FC236}">
                <a16:creationId xmlns:a16="http://schemas.microsoft.com/office/drawing/2014/main" id="{AFE1B7B7-05D6-45A3-95BB-465C070B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06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3" name="process-5-text">
            <a:extLst xmlns:a="http://schemas.openxmlformats.org/drawingml/2006/main">
              <a:ext uri="{FF2B5EF4-FFF2-40B4-BE49-F238E27FC236}">
                <a16:creationId xmlns:a16="http://schemas.microsoft.com/office/drawing/2014/main" id="{975B938A-3E17-4E9F-BB77-96A4ED38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1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Gráfico con ejes y unidades</a:t>
            </a:r>
          </a:p>
        </p:txBody>
      </p:sp>
      <p:cxnSp>
        <p:nvCxnSpPr>
          <p:cNvPr id="51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6794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52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3108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53" name="process-arrow-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9422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54" name="process-arrow-4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35736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8" name="process-definition">
            <a:extLst xmlns:a="http://schemas.openxmlformats.org/drawingml/2006/main">
              <a:ext uri="{FF2B5EF4-FFF2-40B4-BE49-F238E27FC236}">
                <a16:creationId xmlns:a16="http://schemas.microsoft.com/office/drawing/2014/main" id="{9338FA57-08D8-4F14-9CF6-C77CC5DC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Transducción: conversión entre formas de energía. Muestra: valor registrado en un instante.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549AA1B5-D2FB-438E-A63C-5DB0544C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software calcula una representación a partir de datos adquiridos.</a:t>
            </a:r>
          </a:p>
        </p:txBody>
      </p:sp>
      <p:sp>
        <p:nvSpPr>
          <p:cNvPr id="20" name="credit">
            <a:extLst xmlns:a="http://schemas.openxmlformats.org/drawingml/2006/main">
              <a:ext uri="{FF2B5EF4-FFF2-40B4-BE49-F238E27FC236}">
                <a16:creationId xmlns:a16="http://schemas.microsoft.com/office/drawing/2014/main" id="{D7EC493F-42B8-4E7D-ACEB-28240E8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5.4.4 y 5.11; GLO.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F19AFD-A87D-4F57-BC63-91D7E9F0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Muestrear es observar la señal en instantes separados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B24E48-44D4-4023-AC8E-9C21A157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frecuencia de muestreo indica cuántas observaciones se realizan por segundo.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73F7E08-5E1A-4953-A4F7-2FC94B72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032</a:t>
            </a:r>
          </a:p>
        </p:txBody>
      </p:sp>
      <p:pic>
        <p:nvPicPr>
          <p:cNvPr id="15" name="U05-032-U05-CH-0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6d4b03d1e4e89">
            <a:extLst>
              <a:ext uri="{96DAC541-7B7A-43D3-8B79-37D633B846F1}">
                <asvg:svgBlip xmlns:asvg="http://schemas.microsoft.com/office/drawing/2016/SVG/main" r:embed="R70de32d2a6f944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92238CA8-D6CE-4FF5-B94E-7BA4AF3B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A85FC498-51A2-4392-B9CB-0A110089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EDBF3BCE-962D-4B1F-B653-C3F0D37F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fₛ: frecuencia de muestreo en Hz o muestras/s. Tₛ: intervalo entre muestras en 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FB770404-261F-474C-8419-CF652CFB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Los puntos son muestras; la curva continua representa el modelo subyacente.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683271C9-479D-4B1A-A52A-A13356BF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5.4.4; NOT; EP.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6AA4F5-FBFB-4810-86C8-D96F1FBB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N muestras a fₛ determinan la duración observada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678C77-D3C3-4583-8084-307D58B8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Más muestras alargan el registro solo si fₛ permanece fija.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BB0DB4F-CC1B-4864-BA90-FA9620F2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033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785A2B6D-603C-4609-9901-BB1A0B13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BA5F41FA-4D10-47B8-ACC5-B190B2E4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Tobs=N/fₛ.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5C54827A-FFDC-4044-A5F3-F4E25F05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ECF0F3DA-13A9-49FD-869D-B640A4D6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CC087811-A1B4-4ADE-B7CE-E96DABEF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N: número de muestras, sin unidad. Tobs: duración observada, en 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227E32E5-74B3-4426-B240-93310B4D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419761D5-3E3F-4841-AC21-B0F57696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59F3863B-AB96-4883-8CC8-9151E79D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N=2000, fₛ=8000 Hz → Tobs=0,250 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708CDD61-A288-4EC6-ABCC-B6DE6169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cociente entre muestras y muestras por segundo da segundos.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8E762292-2ABF-4936-9EA0-604FD1B0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5.4.4, ec. 5.8.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E5EF59-6D11-4110-869E-5F7096A8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DFT y FFT no son sinónimos de “espectro”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69591C-5102-43E0-85D2-6A6E03C6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Definición, algoritmo y gráfico ocupan niveles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FE907B9-C549-4840-8E74-D7E8BA05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034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12252458-C9B4-4A92-A9B2-AD547323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C05DA38E-97E1-4751-B6E1-8BE3BD1E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AB86BD55-C69D-4AE2-AC2C-00BD1FD6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Transformada: modelo continuo. DFT: valores discretos.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FA323DA1-CF7C-45E8-BFEE-19CA8B12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99F82A69-1AE8-4820-A9B0-CCD215F5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1758C233-4F12-4D7E-A43C-E66501AA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FFT: algoritmo eficiente. Gráfico: visualización de resultados con una ordenada declarada.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BCE019C8-D0F6-4787-955B-718F49D2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Nombrar el proceso evita confundir cálculo y resultado.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82CB8E1F-0F24-48D5-9A5C-2FDAC925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5.4.4; GLO.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30BC04-538B-477D-AE61-965ED75D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DFT evalúa frecuencias discretas llamadas bins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AB9908-5A9A-487A-9037-9B06A3D1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Su separación depende del registro.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A08238D-F8D9-4CF6-943E-D21A75B8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035</a:t>
            </a:r>
          </a:p>
        </p:txBody>
      </p:sp>
      <p:pic>
        <p:nvPicPr>
          <p:cNvPr id="15" name="U05-035-U05-CH-0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c1353e01c470d">
            <a:extLst>
              <a:ext uri="{96DAC541-7B7A-43D3-8B79-37D633B846F1}">
                <asvg:svgBlip xmlns:asvg="http://schemas.microsoft.com/office/drawing/2016/SVG/main" r:embed="Rd2726047d2764e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15EBBEAB-4FB7-4BBA-B077-7DDAD535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9FC0BD94-2989-4BDB-987E-3DE0D62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DBAA44A7-F1DA-4C50-AA54-97568530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Bin k: posición frecuencial fₖ=kΔf. Los bins no son bandas normalizadas ni tienen ancho físico universal.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5F71817C-F8E9-4960-84C2-E5E98899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componente puede coincidir con un bin o distribuirse entre varios.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77BDA574-B6BF-46BB-8C8E-B1E88CC8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5.4.4 y 5.4.7; NOT.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E99D64-3888-4DEF-B5B0-99CD25F8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Observar más tiempo acerca los bins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B71019-7CC7-46AF-AD13-E1F3DD9F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separación nominal mejora; la exactitud no está garantizada.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572515A-9EB8-4E04-81F5-AE2976CC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036</a:t>
            </a:r>
          </a:p>
        </p:txBody>
      </p:sp>
      <p:pic>
        <p:nvPicPr>
          <p:cNvPr id="15" name="U05-036-U05-CH-0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9420904934d10">
            <a:extLst>
              <a:ext uri="{96DAC541-7B7A-43D3-8B79-37D633B846F1}">
                <asvg:svgBlip xmlns:asvg="http://schemas.microsoft.com/office/drawing/2016/SVG/main" r:embed="R53b701e4365448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52B34B18-C8C3-4B37-8D2E-AE909CA3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C404A7E1-28E8-4736-A6AA-06B1ACF4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85000F5E-2E49-4903-897F-43C9CE7A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 fₛ fija, aumentar N aumenta Tobs y reduce Δf.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26EB0528-C6FA-4074-8E00-B20958E7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Más duración produce una rejilla frecuencial más densa.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AC28C7A4-3DBB-44EA-A6A9-3276258A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5.4.4, ec. 5.9.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3FE2E4-CDEB-4C00-85E5-1DCBFC45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De fₛ y N a Tobs y Δf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EDB47E-F94E-48B4-96CA-6BA7C4A6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Ejemplo resuelto con unidades.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B20FC13-55A4-4854-B5DE-DABE9612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037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247C4B1-4C4E-49EA-804E-E8BD6C0D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B1919A5B-BFAD-4A93-8A8B-7920A248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Tobs=N/fₛ; Δf=fₛ/N.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6CCE83AF-61A1-4213-A44D-9ABEB035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45D121D4-060E-435B-8FB9-6CB40449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7DF2CC1D-E9C6-4529-B4AB-D0BFF2E0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procedimiento reproducible.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14A7A452-91B3-4BF4-8AC1-D53CBC01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324B1B6C-2314-449B-B757-AB04B095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25757B6B-5878-430C-A9D3-2E87BA11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Tobs=2000/8000=0,250 s. 2. Δf=8000/2000=4 Hz. 3. Los bins quedan separados nominalmente 4 Hz.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1FF91B0C-BE44-4021-90B8-7967803B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Cálculo e interpretación deben conservarse juntos.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443DB0D4-9DFA-47B3-987D-5CA82B54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5.4.6.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1CE0DE-582F-43C5-BA80-34A17B15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Si duplicamos N, ¿qué cambia realmente?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8D71D-7238-4D31-921E-859DC268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Mantenga fₛ constante.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E687A32-B769-4D4C-A94B-985A97E1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038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BB56134D-6A36-4F49-AA3D-761E8418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239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720C73E-1903-481C-9C1A-CDA82D45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48DF5700-9C44-4CF8-A76A-F6A6F37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6896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Elija y justifique: A. se duplica fₛ; B. se duplica Tobs; C. Δf se reduce a la mitad; D. la frecuencia estimada se vuelve exacta.</a:t>
            </a:r>
          </a:p>
        </p:txBody>
      </p:sp>
      <p:sp>
        <p:nvSpPr>
          <p:cNvPr id="7" name="answer-routine-box">
            <a:extLst xmlns:a="http://schemas.openxmlformats.org/drawingml/2006/main">
              <a:ext uri="{FF2B5EF4-FFF2-40B4-BE49-F238E27FC236}">
                <a16:creationId xmlns:a16="http://schemas.microsoft.com/office/drawing/2014/main" id="{E282F806-313D-4D97-9BC0-D62797EA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answer-routine-title">
            <a:extLst xmlns:a="http://schemas.openxmlformats.org/drawingml/2006/main">
              <a:ext uri="{FF2B5EF4-FFF2-40B4-BE49-F238E27FC236}">
                <a16:creationId xmlns:a16="http://schemas.microsoft.com/office/drawing/2014/main" id="{3283EAF9-0B7B-4758-9785-F0617F47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 xmlns:a="http://schemas.openxmlformats.org/drawingml/2006/main">
              <a:ext uri="{FF2B5EF4-FFF2-40B4-BE49-F238E27FC236}">
                <a16:creationId xmlns:a16="http://schemas.microsoft.com/office/drawing/2014/main" id="{67FB38F4-BB6D-4A0D-BD9D-B43C36B1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85975"/>
            <a:ext cx="28003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exercise-equation">
            <a:extLst xmlns:a="http://schemas.openxmlformats.org/drawingml/2006/main">
              <a:ext uri="{FF2B5EF4-FFF2-40B4-BE49-F238E27FC236}">
                <a16:creationId xmlns:a16="http://schemas.microsoft.com/office/drawing/2014/main" id="{14A82AB3-5476-4948-B0FF-584DF7A4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903163"/>
                </a:solidFill>
                <a:latin typeface="Cambria Math"/>
                <a:ea typeface="Cambria Math"/>
                <a:cs typeface="Cambria Math"/>
              </a:rPr>
              <a:t>Tobs=N/fₛ; Δf=fₛ/N.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FBABEDC7-FED4-4E12-B390-F30DCF84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Más datos no mejoran automáticamente todos los aspectos del análisis.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2EB89F76-5E10-41B6-93A7-BD73B3BD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ejercicio D2.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2B9347-E262-4ED8-8912-9DA9D69C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Más resolución no significa frecuencia exacta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3C3BE0-C317-4371-AD3A-2DFC2EB9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estimación también depende de señal, ruido y método.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CA0CEE5-BEF0-456B-85EA-39BA5181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039</a:t>
            </a:r>
          </a:p>
        </p:txBody>
      </p:sp>
      <p:sp>
        <p:nvSpPr>
          <p:cNvPr id="4" name="error-box">
            <a:extLst xmlns:a="http://schemas.openxmlformats.org/drawingml/2006/main">
              <a:ext uri="{FF2B5EF4-FFF2-40B4-BE49-F238E27FC236}">
                <a16:creationId xmlns:a16="http://schemas.microsoft.com/office/drawing/2014/main" id="{B4B67A12-9326-43A8-B74E-EB9B5D1D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9532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error-title">
            <a:extLst xmlns:a="http://schemas.openxmlformats.org/drawingml/2006/main">
              <a:ext uri="{FF2B5EF4-FFF2-40B4-BE49-F238E27FC236}">
                <a16:creationId xmlns:a16="http://schemas.microsoft.com/office/drawing/2014/main" id="{A3CE3A4A-34BB-486A-BDB9-AA16F8F4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661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 xmlns:a="http://schemas.openxmlformats.org/drawingml/2006/main">
              <a:ext uri="{FF2B5EF4-FFF2-40B4-BE49-F238E27FC236}">
                <a16:creationId xmlns:a16="http://schemas.microsoft.com/office/drawing/2014/main" id="{E4D4F8E6-4BEB-45FE-8497-A251E0CD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66103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Error: “menor Δf garantiza exactitud”. Corrección: influyen estabilidad, relación señal/ruido, ventana y estimador.</a:t>
            </a:r>
          </a:p>
        </p:txBody>
      </p:sp>
      <p:sp>
        <p:nvSpPr>
          <p:cNvPr id="7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4A981D84-C5AA-48CA-AC07-02C74B5B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19500" cy="3714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BF41960D-2D9A-4F85-8E24-5AEC0EDD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097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D21A8976-D59A-48C4-8173-02EFED9A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276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Precisión y resolución no son sinónimos.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AC6A2596-56BA-4955-86C4-0DAE5E99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rejilla limita la lectura, pero no resume toda la incertidumbre.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4D7D366C-1679-4D8C-978D-A40DC94A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5.4.4 y 5.13.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F44C0E-83D0-457D-BDCB-D0B1CCEE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Hasta acá: registro, DFT, FFT y bins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F471D3-DD0E-4D7A-9FFC-AD4B8500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Parámetros mínimos para interpretar un gráfico digital.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D1C00E7-42DE-4BAB-A6C0-6C9CC03E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040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DCFAD78E-EC3B-49F6-9781-634C910B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03845728-7644-401B-A90C-4AA4A0FC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F5EFE316-E677-46E7-B325-27DC974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fₛ y N definen duración y bins.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2E8BAAC2-B49A-4FF1-B0C4-7FDC5986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09B71FF0-FBFC-471B-BE9D-204ECB35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B58B9C59-B042-419A-91A5-DFF12E62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FFT calcula la DFT.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2C448133-4E58-4708-9244-FE6E5BC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8D997215-B1E2-4E98-B1CD-82F2F936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B56FBE86-B1D8-4288-95FD-A77A5460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ordenada necesita unidad y normalización.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1BC59425-1FB3-452A-B18A-AD9853CF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772FFD3F-866E-4AC5-85D6-C0CE3C89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63287D63-4A88-4D05-8CBC-32275352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Pregunta: ¿qué dato falta si solo dice “FFT”?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68A6B648-1CAE-43CF-B6D3-0AD4E5C5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resultado depende de cómo se registró y representó la señal.</a:t>
            </a:r>
          </a:p>
        </p:txBody>
      </p:sp>
      <p:sp>
        <p:nvSpPr>
          <p:cNvPr id="17" name="credit">
            <a:extLst xmlns:a="http://schemas.openxmlformats.org/drawingml/2006/main">
              <a:ext uri="{FF2B5EF4-FFF2-40B4-BE49-F238E27FC236}">
                <a16:creationId xmlns:a16="http://schemas.microsoft.com/office/drawing/2014/main" id="{763252F5-AD49-467F-A389-4D2ED1E3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5.4.4; U05-031–039.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D4D5AC75-72AE-44B3-9C9F-00259FCA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CENTRAL · 041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F398E350-AA89-4CE6-B45A-0D09BB63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espectro depende del recorte temporal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A0CBE1A0-7F3E-44A4-B2EA-50A1ADED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Analizar un segmento implica seleccionar una parte del registro.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9C8AB125-3DA1-4077-B4AC-70513C3D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¿Qué cambia si el recorte contiene un número entero o no entero de ciclos?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09C525-D0B0-4813-8333-77700E8C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Recortar una señal equivale a multiplicarla por una ventana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09D6CB-768E-4C29-A0D9-7BCC91C1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ventana pondera qué parte del registro entra al análisis.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020BC39-E57A-440F-A3B9-EAD30F23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042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766BE7AB-0436-4D6C-B390-5976BA18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47EBC9E5-CA30-4206-BBC6-1BBA626E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x(t)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23449F77-A1FD-4179-AA06-9DB80050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AEA777EE-285C-4625-B0A5-65015A93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Ventana w(t)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A93BD317-D868-4FD3-A083-5AC75467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C22D2EFB-735D-4670-8A37-F8197B0E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ventaneada</a:t>
            </a:r>
          </a:p>
        </p:txBody>
      </p:sp>
      <p:cxnSp>
        <p:nvCxnSpPr>
          <p:cNvPr id="36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910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7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342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7ACBD065-EF79-4FA3-B779-D9557F4B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F79E72F3-B424-41B7-A97E-E9A68D0E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señal ventaneada = x(t)·w(t)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428D4716-73D7-4CDD-8C02-D90D0FAB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Toda selección temporal tiene una forma de ventana, explícita o implícita.</a:t>
            </a:r>
          </a:p>
        </p:txBody>
      </p:sp>
      <p:sp>
        <p:nvSpPr>
          <p:cNvPr id="15" name="credit">
            <a:extLst xmlns:a="http://schemas.openxmlformats.org/drawingml/2006/main">
              <a:ext uri="{FF2B5EF4-FFF2-40B4-BE49-F238E27FC236}">
                <a16:creationId xmlns:a16="http://schemas.microsoft.com/office/drawing/2014/main" id="{8F21CE84-C888-4240-B359-B1424704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5.4.5; EP.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73A17E-CB06-4A27-A508-FFD8E768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mismo tono puede repartirse entre varios bins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504BC6-E861-48DB-AD6E-03A116A6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compatibilidad entre frecuencia, duración y ventana modifica el resultado.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C6CC977-DDF9-4134-87CE-6A0544A6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043</a:t>
            </a:r>
          </a:p>
        </p:txBody>
      </p:sp>
      <p:pic>
        <p:nvPicPr>
          <p:cNvPr id="15" name="U05-043-U05-CH-0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40fdce8054afb">
            <a:extLst>
              <a:ext uri="{96DAC541-7B7A-43D3-8B79-37D633B846F1}">
                <asvg:svgBlip xmlns:asvg="http://schemas.microsoft.com/office/drawing/2016/SVG/main" r:embed="Red598fb7a65b4a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F2F99F65-EF7A-467A-906D-7578C6EE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FCABC9B7-267A-440D-A676-C495D522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70D34519-6982-4964-8142-89D56FF6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Caso A: número entero de períodos. Caso B: número no entero. Misma frecuencia distinta distribución espectral.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F961AAC5-0E15-4A4D-85AE-AC8E0A4E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fuga no representa nuevas componentes físicas ni ruido agregado.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A8A9A9A1-64E2-4AAE-A87B-190F9290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5.4.5; EP.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188004-D84A-46B4-A60C-FBD05A3B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Fuga espectral: distribución causada por el registro finito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EA1ACD-00A5-4DB3-931E-23E0DA2A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es una falla única del software.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4D2D467-5453-42E9-8CA3-25C70D77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044</a:t>
            </a:r>
          </a:p>
        </p:txBody>
      </p:sp>
      <p:pic>
        <p:nvPicPr>
          <p:cNvPr id="15" name="U05-044-U05-CH-0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2d957762d4391">
            <a:extLst>
              <a:ext uri="{96DAC541-7B7A-43D3-8B79-37D633B846F1}">
                <asvg:svgBlip xmlns:asvg="http://schemas.microsoft.com/office/drawing/2016/SVG/main" r:embed="Rae96a57c650545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D3AE0C78-40FD-48BE-A49D-9BC30D44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126E3A4E-B2F8-45B6-AB58-23374F5F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827793DB-281A-49DD-BF33-97138982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Causa: recorte y discontinuidad de borde. Efecto: una contribución se distribuye. Depende de frecuencia, duración y ventana.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CF7863FE-BFD6-4A5C-9842-DF02E730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tono no ocupa necesariamente una sola línea de la DFT.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5BD3B73C-195F-456C-98CC-7FB75E8A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5.4.5 y 5.13.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86D1BA-B4B5-4FF6-8A6E-341085B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Una ventana reduce lóbulos laterales y ensancha picos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87FD57-2419-48D6-9B79-EB5C8764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Toda elección introduce un compromiso.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9BD98A0-B5E3-4479-BBAD-9D0E477D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045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003BA5C0-001C-4EA1-8DA9-59218EF9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74A1777B-62A8-4152-8484-82F10543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33402442-52BE-47B6-9F50-934339D8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Rectangular: lóbulo principal estrecho, laterales altos. Hann: lóbulo principal más ancho, laterales menores.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13CC46B2-DCBB-44F9-AA39-824AB1A7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14EFDBD1-F6E8-4889-8696-AF848DAE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C2779092-CE5A-4399-B012-555F4329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Elegir según la pregunta.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07662751-9DC8-4538-90FE-8A53475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Ninguna ventana mejora simultáneamente todos los criterios.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EF6A2D21-5BF4-4592-8C15-44B9F12D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5.4.5; comparación conceptual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0B6068-DA57-4799-B69E-3773A078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Ventanas cortas y largas responden preguntas diferentes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C325DD-56F1-419D-9877-4AA72464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Resolución temporal y frecuencial compiten.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5849EDE-4D3A-48F6-B206-0FC5776A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046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8C19E575-9A25-4F78-906D-78493D79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Ventana corta: localiza cambios.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Ventana larga: separa frecuencias próximas.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Leer siempre tiempo, frecuencia, color y parámetros.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33213B45-1BBB-4CB4-A206-222523EF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A7632E5A-DC66-4748-8A7F-3E32FD81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27F75F55-A277-41A7-A823-E1F1A767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25 ms frente a 200 ms.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DD933DE7-A1E0-4528-B330-6B5F6845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espectrograma depende de la duración de ventana elegida.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5C4A96C5-95BF-4AEF-9A3D-E716EA43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fig. 5.3; PDF p. 126.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4992C2-E7D7-4BEB-A6F1-0EFF1F5A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 espectrograma repite el análisis sobre segmentos sucesivos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21AB6C-0E02-4262-A9F4-693DAC54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columna resume un espectro local.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285BFC2-F195-4C5C-8982-05C06902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047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21B7D5FC-557E-43E4-8F2F-A319D893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A79A9B35-5B83-4376-8F5C-E724B9EB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Segmentar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78599052-A385-4EA8-9F35-631994E1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752313E1-D17E-4776-9211-97D1E8A1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Aplicar ventana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9F562464-77FA-4C96-9203-BC570632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241D5898-5EFB-4C85-A605-6E807E4A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espectro</a:t>
            </a:r>
          </a:p>
        </p:txBody>
      </p:sp>
      <p:sp>
        <p:nvSpPr>
          <p:cNvPr id="10" name="process-4">
            <a:extLst xmlns:a="http://schemas.openxmlformats.org/drawingml/2006/main">
              <a:ext uri="{FF2B5EF4-FFF2-40B4-BE49-F238E27FC236}">
                <a16:creationId xmlns:a16="http://schemas.microsoft.com/office/drawing/2014/main" id="{D17D70CA-2796-41AC-A027-8DE9387E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1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3CC22C62-65DA-4AE1-9D28-922E5B5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Codificar magnitud</a:t>
            </a:r>
          </a:p>
        </p:txBody>
      </p:sp>
      <p:sp>
        <p:nvSpPr>
          <p:cNvPr id="12" name="process-5">
            <a:extLst xmlns:a="http://schemas.openxmlformats.org/drawingml/2006/main">
              <a:ext uri="{FF2B5EF4-FFF2-40B4-BE49-F238E27FC236}">
                <a16:creationId xmlns:a16="http://schemas.microsoft.com/office/drawing/2014/main" id="{063E36A8-2A02-4B07-ADEF-63C5452C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060" y="2143125"/>
            <a:ext cx="199644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3" name="process-5-text">
            <a:extLst xmlns:a="http://schemas.openxmlformats.org/drawingml/2006/main">
              <a:ext uri="{FF2B5EF4-FFF2-40B4-BE49-F238E27FC236}">
                <a16:creationId xmlns:a16="http://schemas.microsoft.com/office/drawing/2014/main" id="{B6BF5A1F-133F-4CE6-8FFC-8034D5B3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10" y="2333625"/>
            <a:ext cx="172974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Avanzar en el tiempo</a:t>
            </a:r>
          </a:p>
        </p:txBody>
      </p:sp>
      <p:cxnSp>
        <p:nvCxnSpPr>
          <p:cNvPr id="51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6794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52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3108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53" name="process-arrow-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9422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54" name="process-arrow-4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35736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8" name="process-definition">
            <a:extLst xmlns:a="http://schemas.openxmlformats.org/drawingml/2006/main">
              <a:ext uri="{FF2B5EF4-FFF2-40B4-BE49-F238E27FC236}">
                <a16:creationId xmlns:a16="http://schemas.microsoft.com/office/drawing/2014/main" id="{10A517FD-4B48-4F3E-B4F9-B4A22E71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Espectrograma: representación tiempo–frecuencia cuya escala de color debe declararse.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4A66B528-CEBA-4994-BD36-E904EA7E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Tiempo, frecuencia y color codifican tres dimensiones.</a:t>
            </a:r>
          </a:p>
        </p:txBody>
      </p:sp>
      <p:sp>
        <p:nvSpPr>
          <p:cNvPr id="20" name="credit">
            <a:extLst xmlns:a="http://schemas.openxmlformats.org/drawingml/2006/main">
              <a:ext uri="{FF2B5EF4-FFF2-40B4-BE49-F238E27FC236}">
                <a16:creationId xmlns:a16="http://schemas.microsoft.com/office/drawing/2014/main" id="{16613965-9328-455F-BC17-C5AB397C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5.4.5; GLO.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7F7F7E-0165-4D38-A41C-08AC05FC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 espectrograma muestra cambios; no basta para diagnosticar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9A09EB-0125-4BBF-8745-B90E6CBD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descripción acústica aislada no determina una condición clínica.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775EEA4-4FB7-4CA2-9956-23494DFF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048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1BDB4848-0C26-4039-A8D7-82F46992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5E219429-325C-4ADA-9B82-5DF83F17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1BDDD815-89D9-4B73-8FE1-D4CB4397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leerlo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D220FEC3-B25A-4F32-A7BB-DA9131FA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Ejemplo sintético de 3 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Horizontal: tiempo.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Vertical: frecuencia.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Color: intensidad espectral en dB.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2F8CEB0F-CDCC-4776-BC63-5B7BC4FF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Describa cuándo aparecen 500, 1500 y 3000 Hz; no infiera una condición clínica.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CDFA4613-CDD7-47DD-9DB5-33147E3C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Ejemplo sintético del libro; lectura cualitativa, no registro vocal.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9ED0FF93-B929-4C1E-927B-64B98F07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libro del curso, cap. 5.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57e54c5ce4ad1"/>
          <a:stretch xmlns:a="http://schemas.openxmlformats.org/drawingml/2006/main"/>
        </p:blipFill>
        <p:spPr>
          <a:xfrm xmlns:a="http://schemas.openxmlformats.org/drawingml/2006/main">
            <a:off x="1210519" y="1381125"/>
            <a:ext cx="5732362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06A044-CD90-4743-B8E8-4BE20FA5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 bin depende del registro; una banda depende de límites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8CF218-897F-4320-8073-1CBFE32F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Ambos ocupan frecuencia, pero no son el mismo objeto.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4D8729B-F9C4-4B9D-A1A4-78130F4A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049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43C9301C-54EF-4703-8FD6-62AB76CB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0EF27D89-C622-4661-8C6D-A74C8E19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7271C9EC-030F-4E5F-8B37-288D58DD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Bin: posición de la DFT cambia con Tobs.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2D6B8407-5FC0-4B04-AB98-DC14F2C3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D10FC489-A27B-4F69-AD18-99229FC5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E79CED25-B836-461B-A535-5FB5407D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Banda: intervalo [fL,fH] integra contribuciones entre límites definidos.</a:t>
            </a:r>
          </a:p>
        </p:txBody>
      </p:sp>
      <p:sp>
        <p:nvSpPr>
          <p:cNvPr id="10" name="compare-equation">
            <a:extLst xmlns:a="http://schemas.openxmlformats.org/drawingml/2006/main">
              <a:ext uri="{FF2B5EF4-FFF2-40B4-BE49-F238E27FC236}">
                <a16:creationId xmlns:a16="http://schemas.microsoft.com/office/drawing/2014/main" id="{475CD8D6-EE54-442F-A24F-6055235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903163"/>
                </a:solidFill>
                <a:latin typeface="Cambria Math"/>
                <a:ea typeface="Cambria Math"/>
                <a:cs typeface="Cambria Math"/>
              </a:rPr>
              <a:t>fₖ=kΔf.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679B7F0F-FBB5-46FD-A926-98A0A0C3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Cambiar la duración mueve la rejilla de bins, no los límites definidos de la banda.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D3F741AC-C550-44EB-A37E-DEB9D6D7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5.4.7; GLO.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5A603E-0497-4A4F-867E-EAFC437A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Los niveles por banda no se promedian en dB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DAA13A-1730-4C95-A4A9-2DCD9EDF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Primero se suman contribuciones compatibles en escala lineal.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99525C3-FB22-4F13-AE14-E8A1A8A4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050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B6595FCB-4705-4CE9-BDDA-9288703E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DCC27338-26D2-48C6-9A23-9F6B3AFB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qB=Σqₖ; LB=10 log₁₀(Σ 10^(Lₖ/10))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F20A8668-24D3-4692-BED8-EEEC3C0E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1FD162F4-C41D-41BB-9C37-68B86EA5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9AEEEA61-0B1C-4D75-BDC0-2866F3A0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qₖ: contribución compatible; Lₖ: nivel con referencia común.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9FD2484C-3DEC-4B14-9B2A-A467EFD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11E9C1BD-CF1E-4566-83A2-35FD7B1E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1D581F4-FF32-4C22-B8AD-C7942B93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niveles de 50 dB producen 53,01 dB.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50789FC6-3EE7-43DF-A324-0B87125E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Sumar niveles exige coherencia de magnitud, referencia y tratamiento.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106F51BA-36D7-493E-B715-EF12DF77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5.4.7; PREV U4.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274FB7-5045-46DE-A840-36A7FF35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Hasta acá: duración, ventana, resolución y escala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B8ABE2-5DED-44BD-903B-45C464A7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espectro es inseparable de sus condiciones de análisis.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7569F3F-8795-49B0-B937-D3888CB2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051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69AF8F06-4DC8-4EAF-816B-F249A71A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63B4B3B7-E674-4E27-A85B-55BC6E2C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78221C9D-0C87-4416-9F81-25B5688E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Informar: fₛ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D059C95E-3BC7-4D85-9135-B2978A4A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A15D2C21-9D12-4BD8-8F29-DB589EA7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4320CAB8-F170-4973-B5ED-69BAED4A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 o Tobs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F8842741-4D5B-49E9-AFB7-94161205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3BC2EA2E-E8A2-46E0-B46D-606547D4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705DD184-6F82-4066-A9A6-5A993EF5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ventana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0F5091C1-08DE-45AD-B66E-AA5CA673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EEC65E47-71A3-4957-A726-85F5944D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AE7A8FFA-97E4-4155-8F96-D34A516C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solapamiento si corresponde</a:t>
            </a:r>
          </a:p>
        </p:txBody>
      </p:sp>
      <p:sp>
        <p:nvSpPr>
          <p:cNvPr id="16" name="recap-5-box">
            <a:extLst xmlns:a="http://schemas.openxmlformats.org/drawingml/2006/main">
              <a:ext uri="{FF2B5EF4-FFF2-40B4-BE49-F238E27FC236}">
                <a16:creationId xmlns:a16="http://schemas.microsoft.com/office/drawing/2014/main" id="{40E5611F-889F-4741-82B2-DABFA73F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7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52CA1A6C-5000-4CD2-A7E3-ED95271A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6F4BCC3E-4E9A-40DC-8B90-6BCFC085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ordenada y unidad</a:t>
            </a:r>
          </a:p>
        </p:txBody>
      </p:sp>
      <p:sp>
        <p:nvSpPr>
          <p:cNvPr id="19" name="recap-6-box">
            <a:extLst xmlns:a="http://schemas.openxmlformats.org/drawingml/2006/main">
              <a:ext uri="{FF2B5EF4-FFF2-40B4-BE49-F238E27FC236}">
                <a16:creationId xmlns:a16="http://schemas.microsoft.com/office/drawing/2014/main" id="{D53DBF98-8275-4255-AC28-0FF78559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0" name="recap-6-title">
            <a:extLst xmlns:a="http://schemas.openxmlformats.org/drawingml/2006/main">
              <a:ext uri="{FF2B5EF4-FFF2-40B4-BE49-F238E27FC236}">
                <a16:creationId xmlns:a16="http://schemas.microsoft.com/office/drawing/2014/main" id="{7B57288A-6715-4413-B58E-E9F9AC77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1" name="recap-6-body">
            <a:extLst xmlns:a="http://schemas.openxmlformats.org/drawingml/2006/main">
              <a:ext uri="{FF2B5EF4-FFF2-40B4-BE49-F238E27FC236}">
                <a16:creationId xmlns:a16="http://schemas.microsoft.com/office/drawing/2014/main" id="{942B8043-0905-4F67-AFD1-18AE37E8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escala y normalización. Pregunta: ¿ventana corta o larga para localizar un ataque?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6E86C17D-4556-450E-9DE9-7B3E7A18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Los metadatos hacen reproducible la lectura.</a:t>
            </a:r>
          </a:p>
        </p:txBody>
      </p:sp>
      <p:sp>
        <p:nvSpPr>
          <p:cNvPr id="23" name="credit">
            <a:extLst xmlns:a="http://schemas.openxmlformats.org/drawingml/2006/main">
              <a:ext uri="{FF2B5EF4-FFF2-40B4-BE49-F238E27FC236}">
                <a16:creationId xmlns:a16="http://schemas.microsoft.com/office/drawing/2014/main" id="{847EDCB5-0853-4179-ADC4-66D5B1B5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5.4.4–5.4.7; NOT.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EFF743E5-7417-4CBC-B439-E6BEE23B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CENTRAL · 052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0F1EDFF8-E24E-4298-BC65-FEDCB540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Señal y sistema pueden compartir eje, pero no significado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E9825C89-E14A-4108-A710-EE5197FE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¿La curva describe contenido o transformación?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95976658-03D1-466C-9B4B-A30EC260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Espectro de señal ≠ respuesta en frecuencia de sistema.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550FB5-AAAD-4DCB-8670-9AD99873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espectro pertenece a un registro particular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5C7028-6BC9-46B9-83D8-F431BE6D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Fuente, ambiente, sensor, segmento y método dejan huella.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4BEFB65-1FE8-48DF-A92F-96472860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053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4EB2CC26-D8C8-4C4F-AE12-B9F52651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espectro de una vocal depende de: emisión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sala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micrófono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tramo elegido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análisis.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743E654B-05FE-414F-BD84-C4AFBAB1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AAC202F8-635A-4544-8CC8-13597846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356FCA5C-3E11-41C5-9587-73DB96E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Espectro de señal: descripción frecuencial de un registro concreto.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5A15BA63-45F9-435B-805C-3B4DC4B8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una vocal sostenida bajo condiciones declaradas.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CDD74432-1F3C-4F82-8534-C33E9925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existe “el espectro de la voz” sin contexto.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A40AAD2D-51AE-4183-A52C-E5951A50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5.5;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3ADBD0-30D7-4810-8DE8-B8A3009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respuesta en frecuencia pertenece a un sistema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75A232-2BC2-4713-8F23-2C63CC68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Compara cómo cambia la salida respecto de la entrada.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2C363A2-8FFD-45A2-A20D-BF557EA1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054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DFC19B55-CDCB-407F-99D1-E7114034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Ejemplos de sistema: filtro, audífono, tracto vocal.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salida aislada no permite separar entrada y sistema.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BD7CD018-1CF6-40C6-82F1-8EA91CC1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DD78BBB0-408A-4448-9F69-75FA5893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FBDE4542-ADA8-4CD5-9148-6324FC6F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en frecuencia: relación entrada–salida en función de la frecuencia bajo un modelo y procedimiento.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A203278C-151D-46B8-8843-8187FADA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ganancia de un audífono bajo prueba.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FEE748B5-B534-4D61-A8B5-44EEAA93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respuesta caracteriza transformación, no contenido de una fuente particular.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AA742B11-F2EC-4D57-A452-5653D11B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PO; TEX 5.5;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830797-4C68-4F69-A38A-DE07356A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Espectro y respuesta se leen con preguntas diferentes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68F47C-939E-4CE4-82D5-25035657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Curvas parecidas pueden responder preguntas incompatibles.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74C6FF6-0452-4DDE-9D9D-8FCEA1F6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055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35956452-513B-4F8B-B59A-09C578B6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D9DB352C-4A73-4B32-92B8-1C2A33F6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BCB1FE5F-C889-4B05-9E49-E580C1B8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Señal: ¿qué contiene este registro? Sistema: ¿cómo transforma una entrada?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D807A81B-AF8C-45EB-8741-310A4361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69C6C0EF-5784-4DE4-9319-0B919D11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0B34733F-9BA3-48EC-BF94-3F5D0DDA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Datos: registro único frente a pares entrada–salida comparables.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9F407D25-9175-4661-8282-6B8FA78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Preguntar de quién es la curva antes de interpretarla.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7037FEF1-2D70-4162-A818-2F08C20F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5.5; CDM.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35CE6F-D76D-4DBA-B704-A4AF1F3B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Entrada, respuesta y salida forman una cadena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C2D3C6-C20D-443F-91D4-0C78F119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salida combina contenido de entrada y transformación del sistema.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0D4C7B3-407F-45DD-BC8C-292E99D9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056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66E7D45F-127B-46F3-A60C-7228F6BD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DC1CFD6A-3443-48B7-BF37-E842287F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 X(f)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9690C818-79B0-4FA3-9528-F02F4281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1CD4C64F-5D17-4046-85A2-763707DC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 H(f)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57DBF892-2515-4772-83CD-4160D30C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9C944EBC-14B0-4BD9-BDC4-07DFA86E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 Y(f)</a:t>
            </a:r>
          </a:p>
        </p:txBody>
      </p:sp>
      <p:cxnSp>
        <p:nvCxnSpPr>
          <p:cNvPr id="36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910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7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342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58D01083-C730-4BE7-910B-7C4CA08C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75AF1FBB-985B-4BBD-9F45-8D31CE2A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Y(f)=H(f)X(f).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0EB3D32A-309A-420B-B4E2-002A083A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Conocer la salida no determina por separado entrada y sistema.</a:t>
            </a:r>
          </a:p>
        </p:txBody>
      </p:sp>
      <p:sp>
        <p:nvSpPr>
          <p:cNvPr id="15" name="credit">
            <a:extLst xmlns:a="http://schemas.openxmlformats.org/drawingml/2006/main">
              <a:ext uri="{FF2B5EF4-FFF2-40B4-BE49-F238E27FC236}">
                <a16:creationId xmlns:a16="http://schemas.microsoft.com/office/drawing/2014/main" id="{C1E3502E-2132-4CEB-AC95-9354D912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fig. 5.4.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610272-7691-454F-9991-65215B49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H(f) compara salida y entrada cuando hay señal de prueba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C1C6B8-06D1-4282-9994-D6D7B05F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división requiere entrada no nula y condiciones compatibles.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9C8472B-D1D9-4564-BEF0-1713F0F8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057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B235E1DE-C8B2-466A-8A42-48EE855B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CA0A81C4-AA4F-48E3-929C-FDC8643D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3D9BE52D-9B77-446B-9325-1480FBA9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 de H: cambio de tamaño.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97218A3D-9451-4114-AFB7-982F21C2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1E78D3DD-269C-4AF2-939A-8EAF3C36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37D1F553-6513-4BF8-99AF-3C288410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Fase de H: cambio angular o temporal.</a:t>
            </a:r>
          </a:p>
        </p:txBody>
      </p:sp>
      <p:sp>
        <p:nvSpPr>
          <p:cNvPr id="10" name="compare-equation">
            <a:extLst xmlns:a="http://schemas.openxmlformats.org/drawingml/2006/main">
              <a:ext uri="{FF2B5EF4-FFF2-40B4-BE49-F238E27FC236}">
                <a16:creationId xmlns:a16="http://schemas.microsoft.com/office/drawing/2014/main" id="{102F42BA-75F6-4FB2-8984-A81025BA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903163"/>
                </a:solidFill>
                <a:latin typeface="Cambria Math"/>
                <a:ea typeface="Cambria Math"/>
                <a:cs typeface="Cambria Math"/>
              </a:rPr>
              <a:t>H(f)=Y(f)/X(f), con X(f)≠0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D5404DB8-AF8A-4F00-AAF0-D8221569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se divide cualquier salida por cualquier entrada.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E17FA6D7-097B-4545-B8E0-1EE20B2A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5.5, ec. 5.12; NOT.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A2460E-0990-4B36-A23A-87A05D85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Una reducción de amplitud se expresa como ganancia negativa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BFE47B-DBC4-499D-BB12-BF5DB9AE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Ejemplo en 1000 Hz.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360CF9F-D3D9-4BAB-AEF7-C016F79B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058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B8533A35-BA64-4B17-95BB-8F109437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F079C4A3-68C2-4013-A852-BC888882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G(f)=20 log₁₀|H(f)| = 20 log₁₀(0,50) = −6,02 dB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4E03F3C0-303D-4967-B6F9-29A7A888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B293BD9E-CF3B-4B8A-A814-CE0AFBF8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07FA7596-E37B-4810-A419-43C0F445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Ganancia: nivel de una razón de amplitudes compatible.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0FCB840E-8D4D-4B28-A760-7E3E0633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D2BC30ED-A297-44C0-8039-59735D1A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DF2B4FFF-06A5-4210-99F4-4B6B392D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|H|=0,50. 2. G=20 log₁₀(0,50)=−6,02 dB. 3. La salida tiene la mitad de amplitud en esa frecuencia.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2D1291C6-CA7C-4551-A0A3-BB057FBB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Ganancia negativa indica reducción, no “nivel negativo”.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6805F8DD-157E-4066-A47F-D6ACAB27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5.5.1; NOT.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104BD4-8262-47D1-8CFB-43613183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 retraso cambia fase sin cambiar magnitud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4C52A7-1636-4FEC-9C6F-E6BD5169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Magnitud plana no implica sistema transparente.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9527C52-08B8-4693-892C-FF5264EA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059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496D398-16D2-469B-9587-A7DB73C1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6570BC56-AAAD-4319-A6D2-127739C8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|H(f)|=1; φH(f)=−2πfτ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33B6B536-E3A0-4C78-8543-2BAE2141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6D8E8262-AF45-46D2-853E-5F94A53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AAAF323A-44F4-497E-A629-25A83877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τ: retardo en s; φH: fase en rad.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3B01F02A-8CEE-4352-97A2-1BB642AE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2CC0BC1F-9A23-4413-BE87-745D95F0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F8435A61-562B-410A-8F6F-9CAA15E8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señales iguales desplazadas en el tiempo.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A60B5149-E06C-48D7-8EAD-3EA993EF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sistema puede conservar amplitud y modificar relaciones temporales.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02464927-AC0B-416E-B582-29703812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5.5, ec. 5.14.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A399B6-E2D0-4FAE-9ED4-CA2148BE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En voz, armónicos de fuente y resonancias del tracto no son lo mismo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8E5752-BF81-471E-8CA6-DA3ABED1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Modelo fuente–filtro introductorio.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62ED174-4475-4DCA-916C-4BEB72EE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060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DB60A5E4-0840-4674-B75A-C38C70A6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03FD7E5D-C5FE-42F8-A8EB-5EAD2A4D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 glótica armónicos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3B99B3AB-2D62-48DB-85A6-778F1006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C0D852D3-90FC-4DF7-8DC9-7AD8D2E9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Tracto vocal resonancias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29B93D8A-9342-4434-9D72-38D5B5F6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DDBE2FBD-F2AF-428C-AE65-EF2CE8EB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Radiación y registro salida observada</a:t>
            </a:r>
          </a:p>
        </p:txBody>
      </p:sp>
      <p:cxnSp>
        <p:nvCxnSpPr>
          <p:cNvPr id="36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910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7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342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08CA1977-D959-4788-ABF8-9F3F2DF8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DAC7C973-B8DD-455D-BDA6-F91CBF53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Salida = Fuente × Filtro.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1F77C5C3-2A18-4B2F-ACF5-9A8CD77C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modelo separa objetos para interpretar un espectro de voz.</a:t>
            </a:r>
          </a:p>
        </p:txBody>
      </p:sp>
      <p:sp>
        <p:nvSpPr>
          <p:cNvPr id="15" name="credit">
            <a:extLst xmlns:a="http://schemas.openxmlformats.org/drawingml/2006/main">
              <a:ext uri="{FF2B5EF4-FFF2-40B4-BE49-F238E27FC236}">
                <a16:creationId xmlns:a16="http://schemas.microsoft.com/office/drawing/2014/main" id="{7EACB16C-A1E6-43B6-996E-29070D3A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5.5 y 5.12; Brockmann2011.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A410E7-D9AE-4352-A854-3C940782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respuesta de un audífono no es el espectro de la voz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0BD086-BF0C-40CF-8966-038C9613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Dispositivo y señal son objetos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595F8D7-A32F-4230-9A80-490CE701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061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CBE5165A-B14B-40AD-8B1A-4FB197C7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8489ABF4-9F8C-4E68-A5B0-1463F9BA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Voz de entrada X(f)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247E5E14-91D9-4A55-BE47-C1D12DF5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5BD9BC3A-78E6-46C3-8BA8-7D0C8975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Audífono H(f)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4F41D6A7-B1DA-40CB-A058-9F0EE8FC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EE110821-9E79-46E1-9E84-15A3753C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Voz de salida Y(f)</a:t>
            </a:r>
          </a:p>
        </p:txBody>
      </p:sp>
      <p:cxnSp>
        <p:nvCxnSpPr>
          <p:cNvPr id="36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910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7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342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A794431-88E5-4AEC-AF1B-927C50E5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506539CD-C5E3-445B-BAAC-CBE2F05B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G(f)=20 log₁₀|H(f)|.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9EE83031-31AF-4FF8-B9D2-6532135A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respuesta del audífono modifica una entrada; no reemplaza su espectro.</a:t>
            </a:r>
          </a:p>
        </p:txBody>
      </p:sp>
      <p:sp>
        <p:nvSpPr>
          <p:cNvPr id="15" name="credit">
            <a:extLst xmlns:a="http://schemas.openxmlformats.org/drawingml/2006/main">
              <a:ext uri="{FF2B5EF4-FFF2-40B4-BE49-F238E27FC236}">
                <a16:creationId xmlns:a16="http://schemas.microsoft.com/office/drawing/2014/main" id="{A9FC195C-0561-4E47-8100-698030FC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aplicación F3.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665CB8-1F15-44BA-9A30-BD83A17B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Hasta acá: ¿señal, sistema o salida?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2C9E5E-E825-42EE-A4C2-41901F83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Clasifique el objeto antes de leer la curva.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468A6A6-0392-4EE9-9945-897A80C3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062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F6D72913-4FB7-45C4-A013-42D15198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03CD0F7F-7D65-4109-8562-5CFAA69A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B1E61834-31E2-43A9-8CD6-0ACD283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Caso A: espectro de una vocal.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3F397E72-D39C-4CDE-A0A0-DF3B83FB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40E664BC-8DFD-4B1B-BEC0-9CCF11E5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F619050F-F51F-4DD7-B591-C7EFA2CF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Caso B: ganancia de un dispositivo.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96AF7633-933F-4622-9634-4889CFA7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E235DCDA-8777-4526-9448-D5139D2D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DE57337F-4FC7-4533-BF2D-E8DB8DF0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Caso C: espectro a la salida.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DFC5665E-E2BA-4943-B0E1-CBF13CF4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A1FD368A-4682-4E9F-8E1D-D0D6590B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5B52275A-4981-4BD2-A293-0478B75A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cada uno: datos necesarios y conclusión posible.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6DAF9626-E6EB-4237-845C-71C48CAE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misma frecuencia puede aparecer en objetos distintos.</a:t>
            </a:r>
          </a:p>
        </p:txBody>
      </p:sp>
      <p:sp>
        <p:nvSpPr>
          <p:cNvPr id="17" name="credit">
            <a:extLst xmlns:a="http://schemas.openxmlformats.org/drawingml/2006/main">
              <a:ext uri="{FF2B5EF4-FFF2-40B4-BE49-F238E27FC236}">
                <a16:creationId xmlns:a16="http://schemas.microsoft.com/office/drawing/2014/main" id="{30F6574D-39F0-4265-93AE-9B038736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5.5; CDM.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BD5598E6-A297-4B47-9E5D-CE3674CB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CENTRAL · 063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F52175EC-A12B-400E-84C2-C0B5136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Nombrar componentes sin confundir periodicidad y amplitud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A1E63F41-5348-43F8-8865-ABF3B282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El pico más alto puede no ser la fundamental.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5F02BD06-6CD2-454A-A17B-D499D421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Fundamental · Armónico · Parcial · Sobretono · Formante.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5783EA-4403-46FA-B022-F63B259D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fundamental se obtiene de la periodicidad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41B65F-7B07-4680-8C9D-64E3CC64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Su línea puede ser pequeña o estar ausente.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8E34332-F1DA-4D70-AE02-279E68F6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064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F0217E90-155A-46AF-AA5E-8E8B8DFF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E1DE79EE-8DA4-47BA-A995-1F724788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f₀=1/T₀.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075D80A4-37D3-4B1B-865B-42C839E6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BB2F6181-9087-4653-A379-F5DEEFA5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C8AB3DBB-6C5A-4AEC-B202-8D51E917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T₀ en s; f₀ en Hz. No equivale por definición a pitch.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8348D3E0-944B-4DD2-8271-0280AEC9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CB134D26-F12D-4871-90FD-5D989BED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0340ECC8-8936-477D-9F03-A192032D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separación de 100 Hz entre líneas.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2EA81B27-BFFA-495E-B994-6B2086F2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amplitud no forma parte de la definición de f₀.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60B4801C-3CD8-4428-B89F-CA5A29BC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5.6;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993C33-5805-4010-BC63-A6FD9E25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Armónico, parcial y sobretono responden criterios distintos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BBAA96-C72C-4C9E-B32D-C89BD874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componente puede recibir más de una etiqueta válida.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85CBC73-4109-4709-910C-DD338518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065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F6C04A42-F7A1-4DC4-94A6-FCB1038D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6BF8CF3E-0C75-4640-83B3-A78F5AEE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fₙ=nf₀, n=1,2,3….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E7689470-3E3C-403A-86A7-0CBA14C9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5099267D-0F11-4A3D-9FDB-F0ED679D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FE78D372-03A5-47BF-A48B-0535D091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200 Hz con f₀=100 Hz: segundo armónico, parcial y primer sobretono.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C3630DA7-ECB5-4CDB-B903-B92EA58E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FE08957C-64AB-4B3F-8C3F-C6BB0FC2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8321E86-36E6-4F77-891E-5C4CFDFC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Parcial: componente sinusoidal del espectro. Sobretono: parcial por encima de la fundamental el primero suele coincidir con el segundo armónico en una serie armónica.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28E43A7B-C745-4039-AAE2-555DEBAE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Todo armónico es parcial; no todo parcial es armónico.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A13FF0A5-0042-4E00-8C2C-A6374DA6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5.6; GLO.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AB351A-552B-43F7-B20C-B88875ED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segundo armónico puede ser el componente mayor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EC2DD5-224D-481F-A93F-35DE9FD9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Altura de línea y orden armónico son propiedades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F4261E3-C62C-4D62-80C5-42030AA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066</a:t>
            </a:r>
          </a:p>
        </p:txBody>
      </p:sp>
      <p:pic>
        <p:nvPicPr>
          <p:cNvPr id="15" name="U05-066-U05-CH-0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dc1964c504731">
            <a:extLst>
              <a:ext uri="{96DAC541-7B7A-43D3-8B79-37D633B846F1}">
                <asvg:svgBlip xmlns:asvg="http://schemas.microsoft.com/office/drawing/2016/SVG/main" r:embed="R45775fd60cf242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19A97D44-BDAE-46A7-872F-3E4731AB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12E5DD61-5D38-470A-B73D-DED5E52F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041A474E-FC06-47AE-909F-8B139225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f₀=100 Hz. Línea mayor: 200 Hz. Conclusión: 200 Hz es el segundo armónico, no la fundamental.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A04FC9F0-74FA-43A0-AFC9-D7828370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periodicidad decide f₀; la amplitud decide cuál línea es mayor.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CF5E8FED-7815-45CB-A7DA-F2F2AA08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fig. 5.5a.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C3C45A-F9FD-49EA-AF81-324E44EA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periodicidad puede persistir sin línea en f₀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D5ADBC-9BBE-4380-911A-EB116B10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espaciado conserva información de la repetición.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F23AA4E-AE87-4EAA-82F1-99E3A1ED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067</a:t>
            </a:r>
          </a:p>
        </p:txBody>
      </p:sp>
      <p:pic>
        <p:nvPicPr>
          <p:cNvPr id="15" name="U05-067-U05-CH-0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c0ab867324be3">
            <a:extLst>
              <a:ext uri="{96DAC541-7B7A-43D3-8B79-37D633B846F1}">
                <asvg:svgBlip xmlns:asvg="http://schemas.microsoft.com/office/drawing/2016/SVG/main" r:embed="R7762a9fe3c184b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AD18D757-A2E8-4831-9097-0E214934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7065C135-C1A9-44E3-90DF-8AFD52D3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995DD78E-A338-4044-A466-BA60B33B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Líneas: 200, 300 y 400 Hz. Separación común: 100 Hz. f₀ inferida: 100 Hz, aunque no aparece como línea.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AF2D611B-6B00-4B17-9AF8-D18D9AED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línea visible no es requisito para definir periodicidad.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CCDA849B-3DD8-44BA-BA02-33D2DBAD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5.6; fig. 5.5c.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F91AB8-B614-4836-AAE2-E1240163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No todo parcial cae en un múltiplo entero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3D35BE-4DA0-4367-A2E0-2C8A28BF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Parcial es una categoría más amplia que armónico.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7F47002-558A-40B4-8830-FC0EA43C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068</a:t>
            </a:r>
          </a:p>
        </p:txBody>
      </p:sp>
      <p:pic>
        <p:nvPicPr>
          <p:cNvPr id="15" name="U05-068-U05-CH-0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e05ce569e45bb">
            <a:extLst>
              <a:ext uri="{96DAC541-7B7A-43D3-8B79-37D633B846F1}">
                <asvg:svgBlip xmlns:asvg="http://schemas.microsoft.com/office/drawing/2016/SVG/main" r:embed="R754aba66acf143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6D92CEDB-9BE6-4084-A8A1-67FBFE03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9F598E50-8A8F-43D9-BAF1-6887B24F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C9DCCE66-92CD-4160-850C-3D99A366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Frecuencias: 100, 235, 370 y 520 Hz. Prueba: dividir cada frecuencia por 100 Hz. Las razones no enteras identifican parciales inarmónicos.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E7A65EC2-704C-4BF1-8B5A-9DDE05CF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presencia de parciales no garantiza una serie armónica.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A7BB09BC-BBB2-4619-B5DE-C04BDC69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fig. 5.5b.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5FD297-74AA-4911-A930-50190A66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pico más alto no decide la fundamental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9E1D21-50E9-42E2-9A1B-72A38171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Use periodicidad y espaciado; no solo altura.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E2C4A48-745F-4258-8926-AF9B678B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069</a:t>
            </a:r>
          </a:p>
        </p:txBody>
      </p:sp>
      <p:sp>
        <p:nvSpPr>
          <p:cNvPr id="4" name="error-box">
            <a:extLst xmlns:a="http://schemas.openxmlformats.org/drawingml/2006/main">
              <a:ext uri="{FF2B5EF4-FFF2-40B4-BE49-F238E27FC236}">
                <a16:creationId xmlns:a16="http://schemas.microsoft.com/office/drawing/2014/main" id="{1E16E83C-81AA-4ADB-8314-19371134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9532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error-title">
            <a:extLst xmlns:a="http://schemas.openxmlformats.org/drawingml/2006/main">
              <a:ext uri="{FF2B5EF4-FFF2-40B4-BE49-F238E27FC236}">
                <a16:creationId xmlns:a16="http://schemas.microsoft.com/office/drawing/2014/main" id="{6AE01A3E-7D73-494E-BF40-A63ACA8D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661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 xmlns:a="http://schemas.openxmlformats.org/drawingml/2006/main">
              <a:ext uri="{FF2B5EF4-FFF2-40B4-BE49-F238E27FC236}">
                <a16:creationId xmlns:a16="http://schemas.microsoft.com/office/drawing/2014/main" id="{803DC9CC-97B7-4A06-9CB3-551A78BA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66103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Caso 1: armónico dominante. Caso 2: fundamental ausente. Caso 3: parciales inarmónicos. Pregunta: ¿en cuál puede justificarse f₀?</a:t>
            </a:r>
          </a:p>
        </p:txBody>
      </p:sp>
      <p:sp>
        <p:nvSpPr>
          <p:cNvPr id="7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A3148AF7-8AFB-455B-8166-D5DEF226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19500" cy="3714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E11FAC8B-B7CB-4B24-BD54-A7F46DCA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097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EFBDEE4D-1413-458A-9C76-858BF625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276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264CFA6A-8FD0-4620-A32D-24B18B6F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evidencia de periodicidad debe explicitarse.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D6570412-59AB-4FF2-9682-D8640717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5.13; ejercicio D1.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1B1CCB-B610-47C6-9D55-164A416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 formante es una región de resonancia, no un armónico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72420D-5F43-4A9F-8561-B0EDD931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líneas de fuente muestrean una envolvente del sistema vocal.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5084190-0107-4F28-BA57-9ECE57EB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070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987364D8-F6DD-438E-B968-CA8E3CC7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Armónicos: líneas relacionadas con periodicidad.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Formantes: regiones amplias asociadas con resonancias.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Dependencias: vocal, hablante, registro y método.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68C20971-B853-4048-82FD-366AD2EF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74BF8454-12A4-4EF5-A85B-0E41A9CC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2DD608EA-96A9-4CF0-9421-979A9BCE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Formante: máximo o región de la envolvente espectral asociada con una resonancia del tracto vocal, según el método usado.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060A2A66-8388-4D12-9837-FAC1F57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F_1 y F_2 en una vocal, sin diagnóstico.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147E7965-265E-4BAB-9F30-3CAC8DFA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Formante y armónico describen objetos diferentes.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1333FF2F-433B-40D1-9FCA-FAC2E972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5.5; Brockmann2011.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559EC-A129-4082-A921-A60DEB44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En una vocal, líneas y envolvente cuentan historias diferentes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A8E2B0-7ABA-4D75-8702-C413D450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Periodicidad de fuente y resonancias del tracto se leen por separado.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77DD29E-65E8-4698-A37B-96759BC9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071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3051A360-2AED-45F7-A4EB-1980FEBA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2BE63E20-1406-4E4D-A4C1-73E30DF4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f₀≈100 Hz por espaciado.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784B149E-1FEF-44B1-B2BD-1F2404E6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BAC38E8E-29E5-4391-9CFC-2C3819C1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03F30273-B72A-40C9-AB05-DF49C0E4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Las líneas siguen la periodicidad de la fuente; la envolvente refleja resonancias y condiciones de registro.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AF82656B-610C-47E5-B384-1CECE3AA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C7F08EB3-644E-4626-8D32-93643B9D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D09507F2-A508-4FD0-AA4A-E8F9AF04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una vocal sostenida, f₀ puede mantenerse mientras cambia la envolvente.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249A1FAC-F98B-4EC6-A59E-A81489C2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Líneas y envolvente responden preguntas diferentes.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727521E7-2D7F-47E9-9EE3-4F1BA27F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5.5 y 5.12; Brockmann2011.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E6B7B3-1D73-4791-B522-536655CB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¿Fundamental, armónico, parcial, sobretono o formante?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A50D8B-F53F-4DB4-9DCF-76F5432D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Clasifique y justifique el criterio.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414E0C5-618D-4B73-A31E-0CE07086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072</a:t>
            </a:r>
          </a:p>
        </p:txBody>
      </p:sp>
      <p:pic>
        <p:nvPicPr>
          <p:cNvPr id="15" name="U05-072-U05-CH-0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1e751f205483c">
            <a:extLst>
              <a:ext uri="{96DAC541-7B7A-43D3-8B79-37D633B846F1}">
                <asvg:svgBlip xmlns:asvg="http://schemas.microsoft.com/office/drawing/2016/SVG/main" r:embed="R6909240f29864b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E1232B1A-2D23-4EEF-9FE6-2085CB3C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DFB30B33-22CA-4688-8D50-34D7DBC1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A4E6FC45-C556-4233-AB68-26247315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Cinco llamadas sobre dos espectros. Una componente puede admitir varias etiquetas indique por qué. No use “pico mayor” como única evidencia.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3DA9CB2B-62D1-43A2-9863-78C7CEDB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etiqueta depende de periodicidad, múltiplo y objeto.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9E22FEFB-9318-41CD-B387-02CDABF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ejercicios C3, L4 y F1.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079A1E-0C59-4B5F-8C31-048EDE2B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Hasta acá: periodicidad, componentes y resonancias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7EDFFB-C55C-4DDC-978C-FCA5A2B4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Fuente y sistema aportan informaciones distintas.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88E4941-C22C-44DC-95E5-B885BEEB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073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9E5B9D5E-8318-4BD9-B7B1-E2BA4AA9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ABCAF2FE-634A-41E1-A954-698D1CB0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484AC949-F045-4F75-9F75-8395B887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f₀: periodicidad.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30E40757-A629-41A3-8811-9E28F939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33FA3EBA-8AA4-4A25-BB90-573B585C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0EB23CFA-A551-4A22-9A44-EF3BF1FB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Armónicos y parciales: líneas.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08C1D37D-D044-4DF0-A4E3-F3EE4A83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2F50F605-983A-4824-B654-B9B4CA7D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E44D518C-441B-4C63-BA2B-E4574226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Sobretonos: conteo sobre la fundamental.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2E05DD6E-A030-42E0-9C4E-FB9479E9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CA15C94E-9104-485E-A4E9-6BC87901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6170C887-7DC6-4803-822E-CAC60518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Formantes: resonancias de la envolvente.</a:t>
            </a:r>
          </a:p>
        </p:txBody>
      </p:sp>
      <p:sp>
        <p:nvSpPr>
          <p:cNvPr id="16" name="recap-5-box">
            <a:extLst xmlns:a="http://schemas.openxmlformats.org/drawingml/2006/main">
              <a:ext uri="{FF2B5EF4-FFF2-40B4-BE49-F238E27FC236}">
                <a16:creationId xmlns:a16="http://schemas.microsoft.com/office/drawing/2014/main" id="{F83B6707-FC1E-4B96-9C22-0E371A31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7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2DBD8B98-CE04-470F-B44A-52A4D298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A2BA01B4-BFA3-41C0-99A5-D575FF3C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Puente: pitch se estudiará en U7.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34BB2167-19B3-4C75-ABA9-158DE7B2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modelo fuente–filtro ordena el vocabulario.</a:t>
            </a:r>
          </a:p>
        </p:txBody>
      </p:sp>
      <p:sp>
        <p:nvSpPr>
          <p:cNvPr id="20" name="credit">
            <a:extLst xmlns:a="http://schemas.openxmlformats.org/drawingml/2006/main">
              <a:ext uri="{FF2B5EF4-FFF2-40B4-BE49-F238E27FC236}">
                <a16:creationId xmlns:a16="http://schemas.microsoft.com/office/drawing/2014/main" id="{26D281CD-1D1D-4E99-9543-E89EC152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5.5–5.6.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1E9334C-80F8-4A1F-AD70-201FB8B0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CENTRAL · 074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0231665C-9B51-4FFD-A5C7-7134F87F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Los límites son convenciones bajo condiciones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C3995982-A1ED-4E37-A5F6-BE2F5931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Frecuencia y nivel participan en la detectabilidad.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487E2823-9DC1-4443-8760-988FEF98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Infrasonido · rango audible convencional · ultrasonido.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9C2773-D494-4C95-A779-F81423E0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20 Hz y 20 kHz son fronteras aproximadas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F82DED-C7B0-4AE1-9ADF-E5D5392E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Dependen de oyente, nivel, estímulo y condiciones.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48100F6-8074-4629-9D6C-F980D6DB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075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ED512BC9-6125-4470-BCC5-F2147C4A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Infrasonido: por debajo de la región convencional.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Audible: región convencional variable.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Ultrasonido: por encima.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representan igual sensibilidad dentro del rango.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8306E753-6B36-456C-85E9-B17E1675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536C82D8-F0FF-4DF0-8D3B-643B39A2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64543BBC-1D19-42B9-B33B-30CB1667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Frontera aproximada: referencia organizativa, no umbral universal.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74C21844-4E4D-4D5E-B2C9-B7317781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una misma frecuencia puede detectarse o no al cambiar el nivel.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A1E2C862-5FCB-448F-B502-910ABA4D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Clasificación conceptual, no normativa ni perceptualmente uniforme.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864A6418-C966-4C97-8C1E-446590EC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5.7.1; Oxenham2018; ISO 226:2023.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BF20F6-EA62-48A2-9505-87F499DA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Infrasonido no significa siempre imperceptible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D0EDA6-0E75-460B-9565-DD27E689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experiencia depende de más que la frecuencia.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F50F577-BA3B-47FE-8541-E1A018EA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076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15EE0339-10FB-4C66-9F6D-CCE9031F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Considerar nivel, duración, distorsión del sistema y vibración.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inferir efecto clínico a partir de la etiqueta.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C7A95EC8-49BB-4B21-A6FD-42CC9B7F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7C25013B-AD71-4DA7-9F59-48DB13E9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C5526AFC-C1AB-4979-B7DB-CB77BEAC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Infrasonido: frecuencia por debajo de la frontera audible convencional.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C3C1A8A6-5BFB-4752-B3B4-7AADA86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estímulo de baja frecuencia bajo condiciones controladas, sin cifra de umbral.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605A965E-BFBF-427B-B309-20594004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Frecuencia y detectabilidad no son sinónimos.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96C2C2A7-D0D1-421F-92F5-3206573F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5.7.1; Oxenham2018.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B1A8FF-547B-4305-8B11-3FC680C5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rango audible cambia con frecuencia, nivel y oyente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67632C-40E8-4FCF-96F4-0899B1CF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“Audible” describe una relación.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1EEA880-6119-4ED8-81CF-7B3FD1B1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077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10D86E68-BDE2-434B-A633-DA351045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Estímulo: frecuencia, nivel y duración.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Condiciones: ambiente y procedimiento.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Oyente: características individuales.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Resultado: detectabilidad.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55E3492C-1E41-402E-B124-EA3C11BD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D901CAC5-986C-48F7-8C27-8C864731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8E9C1EE9-B13A-4C50-9A2C-86A14AC1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Detectabilidad no equivale a sonoridad ni comodidad.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2B0CF7DC-59F6-4843-AE8F-3586D15D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anticipo de umbrales de U7.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D1BC55FD-E73C-4E47-85E4-ABC4E2CF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existe una caja audible idéntica para todas las personas.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8CBC9E6C-231B-4020-AD44-A7218CD7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5.7.1; CM U7.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9C6E1F-896B-4A89-9016-77AEEE2E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Ultrasonido nombra frecuencia, no una técnica única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F1463A-73C6-4838-8A38-4405B714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aplicación debe identificarse por procedimiento y propósito.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2E96E85-B1B2-4173-AE97-E0B013EF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078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44E6AFE8-28A7-4EE6-A411-88A9CD17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Ultrasonido: frecuencia superior al rango audible convencional.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Ejemplo general: imagenología médica.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Contraejemplo: una OEA no es automáticamente “ultrasonido”.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E2462195-E76A-4DDA-B586-D3FDD246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679AB24A-C75F-4A1A-B21F-53BA7388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5FA4F3E7-79D6-4F5F-80AF-FF87C7E0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aplicación general, sin física de imagenología.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64732759-D573-4638-B870-30AF3C63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etiqueta frecuencial no reemplaza la descripción de la técnica.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69B10969-1DF1-4BA2-B2EE-5CD84A56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5.7.1.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BABFF5-A608-4458-BCBF-16C9E73D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 rango dinámico compara dos niveles compatibles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1D7412-157D-47FE-9411-43D3F4A5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Los extremos deben compartir magnitud, referencia y condición.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3B1C10F-E331-4B74-BE2F-E32F3F5B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079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07DD7A4C-E450-4FCD-919B-E065D496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076EA4F7-07A3-4BFF-BD8E-D2470F10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0B070067-9FAA-42C8-8248-14CADE8E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 inferior Linf. Límite superior Lsup.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82CA307C-3327-40D4-8118-0A541DFA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DD7E9A92-1792-40C6-A9F0-08E75C62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2A9B0B73-B42A-4702-94B6-AC515CB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Mismo descriptor y procedimiento.</a:t>
            </a:r>
          </a:p>
        </p:txBody>
      </p:sp>
      <p:sp>
        <p:nvSpPr>
          <p:cNvPr id="10" name="compare-equation">
            <a:extLst xmlns:a="http://schemas.openxmlformats.org/drawingml/2006/main">
              <a:ext uri="{FF2B5EF4-FFF2-40B4-BE49-F238E27FC236}">
                <a16:creationId xmlns:a16="http://schemas.microsoft.com/office/drawing/2014/main" id="{1E67FE11-A373-4909-A92F-FE20E333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903163"/>
                </a:solidFill>
                <a:latin typeface="Cambria Math"/>
                <a:ea typeface="Cambria Math"/>
                <a:cs typeface="Cambria Math"/>
              </a:rPr>
              <a:t>RD=Lsup−Linf.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0828212D-EAAB-4D9C-8594-AAA9F63D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rango dinámico es una diferencia de niveles.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85E5BD25-0221-4463-83F6-54678856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5.7.2, ec. 5.15; NOT.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9B1D96-7BD9-4DB8-BDF1-A6CD2CC0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rango vocal depende de tarea y montaje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11322F-FCBD-4A34-AB3B-1F320BFB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Ejemplo hipotético, no valor universal.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62620E7-2144-4DE7-AA77-9628DB04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080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25EF7BB8-E76F-4EFE-9DEB-C80FD8EB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905EF073-C2BE-42D6-AF50-0891D5E9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RD=86 dB SPL − 62 dB SPL = 24 dB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17AD58E8-8472-4301-B2A8-7B8730C3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9FDC214B-C128-4017-BDC0-BABEAE73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A1EEA279-1FA5-4B92-BDAD-27DF8C6C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Rango vocal medido: intervalo de niveles para una tarea y montaje definidos.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A27B603C-E5F7-40CB-85C9-9FB491BF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595DEE2D-09FE-4CC3-AA99-514B8463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C894E4E5-04CD-429C-BEA0-9A5D7E60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caso didáctico hipotético.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4C839F8F-8DA0-47CE-916F-D03AE5D8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confundir rango dinámico con rango de pitch o sonoridad.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83F42613-9FAC-4C8B-810E-F3076DBC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aplicación F5.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D7C3D9-D3D8-406F-9A22-39506103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 instrumento tampoco tiene un único rango dinámico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9DDDCD-EDD9-413A-BE74-65607BAB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Técnica, nota, sala y posición modifican los extremos.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D379CDC-188C-4C83-A35B-9E8689D9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081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352A52D8-D5F4-4456-B5A9-902D55BF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Antes de comparar valores, declarar: instrumento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ejecución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distancia y orientación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sala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descriptor.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usar una tabla genérica sin fuente.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1FC4F3E0-69BD-44BE-ACC5-116A781B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B932777E-B36A-42B5-AA01-23DDCF46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059778EA-C290-4A48-9A1B-7635A6EB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Rango instrumental: diferencia entre niveles extremos bajo un protocolo definido.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B17CFB9F-7EB5-4D3C-A450-A989A07B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Comparar dos ejecuciones solo si instrumento, tarea, sala, distancia y descriptor permanecen declarados.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B87F6FB4-72D3-47C0-BC07-4EA9909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Los datos concretos requieren fuente y montaje reproducible.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15E2EA46-F796-4EDE-9766-C491F5F9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PO; TEX 5.7.2; OD.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A0A7C6-4457-4E82-810C-89096C9B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“umbral de dolor” no es un techo universal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B09196-D986-4E4C-AA1D-74471738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criterio superior debe definirse explícitamente.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A25836C-C7A2-4F29-A099-7FA4AF6B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082</a:t>
            </a:r>
          </a:p>
        </p:txBody>
      </p:sp>
      <p:sp>
        <p:nvSpPr>
          <p:cNvPr id="4" name="error-box">
            <a:extLst xmlns:a="http://schemas.openxmlformats.org/drawingml/2006/main">
              <a:ext uri="{FF2B5EF4-FFF2-40B4-BE49-F238E27FC236}">
                <a16:creationId xmlns:a16="http://schemas.microsoft.com/office/drawing/2014/main" id="{A2F8335F-C657-4C95-B5F6-34F97B28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9532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error-title">
            <a:extLst xmlns:a="http://schemas.openxmlformats.org/drawingml/2006/main">
              <a:ext uri="{FF2B5EF4-FFF2-40B4-BE49-F238E27FC236}">
                <a16:creationId xmlns:a16="http://schemas.microsoft.com/office/drawing/2014/main" id="{58E1407A-C5D0-483A-B385-F084E42A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661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 xmlns:a="http://schemas.openxmlformats.org/drawingml/2006/main">
              <a:ext uri="{FF2B5EF4-FFF2-40B4-BE49-F238E27FC236}">
                <a16:creationId xmlns:a16="http://schemas.microsoft.com/office/drawing/2014/main" id="{3714A21E-556C-4585-B82A-C10C147E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66103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programa exige tratar “umbral de dolor”. La interpretación correcta declara frecuencia, estímulo, procedimiento y población; puede emplear incomodidad u otro criterio definido.</a:t>
            </a:r>
          </a:p>
        </p:txBody>
      </p:sp>
      <p:sp>
        <p:nvSpPr>
          <p:cNvPr id="7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49060B07-9CC8-4F2D-8404-EF1E8085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19500" cy="3714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D46F8924-C0FC-46F4-9EE5-D0133B55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097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DA511E01-2499-4DD8-A329-1B73CE3B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276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 superior auditivo: criterio de respuesta definido, no una cifra universal.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FD15ABB4-1504-4E9E-B4E0-C91BA830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término obligatorio se conserva con sus límites de validez.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0827648C-1A7E-4B75-A9C0-9B87676B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PO; TEX 5.7.2; OD-U05-07.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FB608F-4621-4124-892D-706FD8A5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Hasta acá: frecuencia, nivel y condición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406F67-2F4A-48BA-B829-9FA94EF5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Dos tipos de rango, dos preguntas distintas.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6DED596-46F6-45FA-857E-81D8646D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083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8F2AD687-B6E2-444F-90D9-3976165F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4D9F33F5-5EAA-4872-811C-F540A718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70340945-AD76-45ED-8CF2-9260C389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Rango frecuencial: clasifica frecuencias.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9017FC4F-A3F7-4675-A600-0BE37280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A021F074-C2E6-41C1-A150-27DB039D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03A030D9-0335-4C24-93DD-87C61352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Rango dinámico: compara niveles.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36F4025C-EDF2-4A04-9342-08DDC30A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F58D1BA1-C061-4608-8BF9-71B0B8E9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E369DCDA-7185-4DF0-8749-4E65E9A8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Pregunta común: ¿bajo qué estímulo, procedimiento y población?</a:t>
            </a:r>
          </a:p>
        </p:txBody>
      </p:sp>
      <p:sp>
        <p:nvSpPr>
          <p:cNvPr id="13" name="caption">
            <a:extLst xmlns:a="http://schemas.openxmlformats.org/drawingml/2006/main">
              <a:ext uri="{FF2B5EF4-FFF2-40B4-BE49-F238E27FC236}">
                <a16:creationId xmlns:a16="http://schemas.microsoft.com/office/drawing/2014/main" id="{7B40CEEE-1A7D-4307-AF5E-70A11182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Ningún límite es interpretable sin condiciones.</a:t>
            </a:r>
          </a:p>
        </p:txBody>
      </p:sp>
      <p:sp>
        <p:nvSpPr>
          <p:cNvPr id="14" name="credit">
            <a:extLst xmlns:a="http://schemas.openxmlformats.org/drawingml/2006/main">
              <a:ext uri="{FF2B5EF4-FFF2-40B4-BE49-F238E27FC236}">
                <a16:creationId xmlns:a16="http://schemas.microsoft.com/office/drawing/2014/main" id="{C01F23B8-0D05-4D97-B95D-704DCBC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5.7.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01DC6CCD-6720-4FF5-9ABE-ACF3C504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CENTRAL · 084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68A11FB8-B375-4C10-A54A-0E3F2024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Dividir el espectro por razones, no por diferencias fijas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D86143E6-5593-494B-BAD4-1B40F505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Una octava conserva la relación 2:1.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81AFE248-F08B-448C-B8AA-B6D7055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¿Cómo resumimos un espectro sin conservar cada bin?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C2FFC8-E445-4785-89D2-DD535226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Agrupar frecuencias resume el espectro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F74EC2-4AFB-476D-A2B8-08BC9292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 conserva energía por intervalo y se pierde detalle fino.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1CEF350-BBFA-404C-A6CB-8E275D72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085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6E5CAE56-1AA9-41E0-84DF-DF4082ED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ED2A88A5-1F15-4D63-8627-1AD44AE3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qB=Σqₖ.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21839E49-A3AD-4407-9305-C2610F86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1FE84CF7-DFCF-454E-9FF1-75489B8A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5CBA8D07-2601-4C60-9A57-FE199B87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Banda: intervalo de frecuencia definido por fL y fH.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7545098C-2B9E-4CC5-A632-56B4B037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C9A98E32-6E05-4754-B5D3-9DD7BDF7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74D3F6BD-E6E5-49EE-B9C2-CF923BCE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varios bins reunidos en una barra de banda.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9AAE86FD-49CA-48EC-A8E2-21BD6D27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banda no es un bin ensanchado.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42CB1DAF-2972-454A-B10A-51166C46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5.4.7 y 5.8.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18EEE2-6EA4-475A-88D6-2A58D0A0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Una octava cumple fH/fL=2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9D0428-813F-4287-980A-21769942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fracciones de octava conservan una razón general.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53997BF-E48F-4584-BFC5-656B8920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086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24933D6E-CCB8-4C67-8F28-4EA907AA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D6D23188-0144-4A4A-AD7E-502FD4F6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fH/fL=2^(1/b).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FAED9A8A-74E1-4533-8F5D-FF087F8D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48CAC403-6132-4C2C-A296-CA9173A1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8969050A-4C4C-4935-90C6-86BE29C6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b: fracción de octava, adimensional; frecuencias en Hz.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6B073E07-9197-422F-8398-A62DCD16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9CE62D8E-E5E4-4652-BA0A-7FD67DD2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DC4F1CF7-7980-41F0-AA13-64387653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tercio: razón aproximada 2^(1/3).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3BBEFA22-3C16-4AB8-8720-E44EADCA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En escala logarítmica, razones iguales ocupan distancias iguales.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326FFA15-4717-481D-B8E8-1115408E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5.8, ec. 5.17.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172246-87FF-4130-AAEA-215E9B87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Una serie armónica no avanza por octavas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5CC7C3-6D4C-4CFB-8DF5-781F0907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Múltiplos enteros y razones 2:1 no son la misma regla.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C5A8564-DCA5-4808-9F2F-F121707E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087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DAA152CC-F547-4268-9A82-21E11C25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BE24C5BD-61C2-4818-B131-07680877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68252050-4DEF-4963-9E71-4711F246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Armónicos: f₀,2f₀,3f₀,4f₀. Octavas: pares con razón 2:1.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071F1CA8-F20D-4011-BEBB-5653D417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216143A7-9B66-4760-BF7F-0D7AB21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A1DFC705-47A2-4D4E-AEFC-0F76C978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Son octavas f₀→2f₀ y 2f₀→4f₀ no 2f₀→3f₀.</a:t>
            </a:r>
          </a:p>
        </p:txBody>
      </p:sp>
      <p:sp>
        <p:nvSpPr>
          <p:cNvPr id="10" name="compare-equation">
            <a:extLst xmlns:a="http://schemas.openxmlformats.org/drawingml/2006/main">
              <a:ext uri="{FF2B5EF4-FFF2-40B4-BE49-F238E27FC236}">
                <a16:creationId xmlns:a16="http://schemas.microsoft.com/office/drawing/2014/main" id="{76577B87-9DD0-4332-85C4-5C082842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903163"/>
                </a:solidFill>
                <a:latin typeface="Cambria Math"/>
                <a:ea typeface="Cambria Math"/>
                <a:cs typeface="Cambria Math"/>
              </a:rPr>
              <a:t>fₙ=nf₀; f_2/f_1=2 para una octava.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C0023F45-29FC-44DE-B545-BA46DBCF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serie armónica contiene algunas relaciones de octava, pero no es una escala de octavas.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D794E031-ED83-4FB9-8F78-F5F82942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PO; TEX 5.6 y 5.8; EP.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05532A-90C8-4FEC-BD91-A2E77C9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centro geométrico conserva simetría de razones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2D199C-BCE7-4BA9-9B76-AC6419A3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En bandas logarítmicas no usamos la media aritmética.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59E5495-FEC5-45D8-9376-ED310F7B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088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D06561D7-E695-48B7-B49E-68493E64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43EDD0AC-C0DE-4E1E-91E6-C0C26377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fc=√(fLfH).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FDC0C4E2-E0BE-4B8A-9863-0EDEFEBB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6CF24AFF-A724-4C06-995E-3BC4E876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3006B052-559F-41CC-8377-29DF699C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fc, fL, fH en Hz.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B2918B2E-76D9-4FBF-AF01-FCF31D1E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6EAC7207-E017-41EF-BB3D-07E5F5E3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2366B241-8013-4315-883C-8882C265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fL=500 Hz, fH=2000 Hz → fc=1000 Hz.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E1D13ACB-0BBB-47F5-BF87-245967D7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fc/fL=fH/fc.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CBF09ABD-0CAF-4947-BB37-2D7054EE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5.8, ec. 5.16.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1787C1-7A30-45B0-B5E0-E57BB3DA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Los límites se ubican simétricamente en escala logarítmica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3F0B30-A772-4B35-9301-E6617E82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factor depende de cuántas bandas caben en una octava.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4F6B56A-A148-43C7-A9C1-8E844215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089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BD1DD09E-1142-4E47-A316-CB821A37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042BD79D-4D7E-4007-A4AE-10A476AF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fL=fc·2^(−1/(2b)); fH=fc·2^(1/(2b)).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00766DEE-8265-4DA9-B2A2-4CE78E03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3BD07748-46A4-487E-ABDD-96282F80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3948AED3-2FB9-4B80-83CF-AAB2E36B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b=1 para octava; b=3 para tercio.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8E1364A2-7530-45FF-BCBC-ED019323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292901F4-6766-46B3-91C2-A04BD989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E9DB1D1E-F052-4E17-BC66-EBFFC6D6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límites de una banda centrada en 1000 Hz.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985DA8AD-9CA1-41A8-8B9A-A30F0FB7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Los límites son recíprocos respecto del centro.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6408E61B-02BA-49AD-A8DB-AD402C76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5.8, ec. 5.18.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BF58DA-EE70-428C-8ABA-3F2C12C9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ancho en hertz es B=fH−fL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76AC3B-E7AE-4147-8022-AE7D3AC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Igual ancho relativo produce mayor ancho absoluto a frecuencias altas.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9600B7A-041A-4C90-B02E-DE7FB29E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090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D14DF3F5-FF02-445B-87E7-58DC13E1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176BC8E9-7071-459A-A8C1-AF929EE5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B=fH−fL.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B2D8124F-2EE5-4928-8782-4B341735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B9896E62-8D82-4F5C-A790-8761949A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C487CE54-23E8-422B-B2E5-572CE658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ancho absoluto B; separación de bins Δf.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AB78C992-F57E-42D3-84B8-0DCD0AA0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A64C150E-4057-481D-A5FB-1212F190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4FA55A75-177F-4C90-BB09-E7726190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octavas con centros diferentes.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8CD6B08E-9A51-4309-A2F9-486A4971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razón constante no implica diferencia constante.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6CD7276E-04CD-4A5D-BEBC-577FEB36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PO; TEX 5.8, ec. 5.19.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55A7B9-EC07-4721-B75F-B6328837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Tres tercios completan una octava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8D2592-D025-48EB-AD1D-1DCD44E1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Igual longitud logarítmica; distinto ancho en hertz.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5C61EC3-AC31-4A59-AED7-FA797961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091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104B2F81-E330-4B23-9D31-1D7860A6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29E7C53E-42F3-41A1-A800-ABB3A6CB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fH/fL=2; por tercio, 2^(1/3).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D414D3AC-5640-4626-AFE3-68766FBB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E3A45FCB-AEA6-4AEC-A032-0A3C7280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6C0FE22-E5D6-46B3-A69B-4FB85DE3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estructura conceptual sin tabla normativa de centros nominales.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B7B95456-5A04-4C6D-89EE-A58400E5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66B78358-E778-4808-B749-67488E9F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5D820B2C-041F-43F6-9331-51A2DF21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Tres tercios contiguos. Leer primero razones y luego valores.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529DA7CE-CC31-4404-83F5-B5B999E5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Tres razones iguales componen una razón total 2:1.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F3DC1C75-7A45-49A8-9D78-0FBFAFDE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fig. 5.6; relación exacta de tres tercios por octava.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03B707-485B-4E36-83BD-DA82FDB6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Tercio de octava centrado en 1000 Hz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E44C41-B3A3-45ED-874C-C3714F69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Cálculo exacto antes del redondeo nominal.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2178AF7-3094-46AA-927B-1EF417B8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092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7F04E123-4DBA-4B04-8209-8E4B1411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3B9B55A8-66B3-4266-A87E-828EBE6F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2625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fL=1000/2¹ᐟ⁶=890,9 Hz   ·   fH=1000·2¹ᐟ⁶=1122,5 Hz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6FF774E2-176F-431B-AA0D-FE3F3507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86937432-48E9-4867-8F41-59416192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7D6A83B1-5DA0-4EAD-BCE1-9A361B70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B=1122,5−890,9=231,6 Hz. Redondear al final.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CDCCF738-335D-4E45-A0FE-E6EE6BBC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87DFF7A9-9F34-466B-A4DB-A312D7A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FEE22DEC-14E6-4A74-B533-3B8E23D8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Los valores exactos calculados no equivalen automáticamente a centros nominales normalizados.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CFD50833-160A-4DF7-B9B0-30F865EC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resultado conserva unidad y criterio de cálculo.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DB91A152-5C27-405A-9E13-1AC24B94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5.8.1; corrección documentada en storyboard.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F61B35-F480-4D75-B254-8BDF36A3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¿Qué banda tiene mayor ancho en hertz?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462792-1833-4888-939F-FE2A3E8F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Compare octavas centradas en 500 y 2000 Hz.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42D94C5-8205-4ACB-9B8D-53079C60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093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A03DE75F-F89F-44A0-BB26-85254F05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239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5D8A5A1-0C69-4A54-9007-5C05116E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A4864EE3-59E4-44CE-8A69-F2CE0F8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6896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Prediga antes de calcular. Ambas mantienen razón 2:1. ¿Cuál tiene mayor B? Justifique con una relación multiplicativa.</a:t>
            </a:r>
          </a:p>
        </p:txBody>
      </p:sp>
      <p:sp>
        <p:nvSpPr>
          <p:cNvPr id="7" name="answer-routine-box">
            <a:extLst xmlns:a="http://schemas.openxmlformats.org/drawingml/2006/main">
              <a:ext uri="{FF2B5EF4-FFF2-40B4-BE49-F238E27FC236}">
                <a16:creationId xmlns:a16="http://schemas.microsoft.com/office/drawing/2014/main" id="{2E6114F1-9372-42F7-9EAE-BCA8F070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answer-routine-title">
            <a:extLst xmlns:a="http://schemas.openxmlformats.org/drawingml/2006/main">
              <a:ext uri="{FF2B5EF4-FFF2-40B4-BE49-F238E27FC236}">
                <a16:creationId xmlns:a16="http://schemas.microsoft.com/office/drawing/2014/main" id="{4E6CA6A2-46E1-4A03-A3BB-BA9BDD3F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 xmlns:a="http://schemas.openxmlformats.org/drawingml/2006/main">
              <a:ext uri="{FF2B5EF4-FFF2-40B4-BE49-F238E27FC236}">
                <a16:creationId xmlns:a16="http://schemas.microsoft.com/office/drawing/2014/main" id="{6793E698-9ACE-4E74-AB66-B0C4D089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85975"/>
            <a:ext cx="28003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exercise-equation">
            <a:extLst xmlns:a="http://schemas.openxmlformats.org/drawingml/2006/main">
              <a:ext uri="{FF2B5EF4-FFF2-40B4-BE49-F238E27FC236}">
                <a16:creationId xmlns:a16="http://schemas.microsoft.com/office/drawing/2014/main" id="{8D10C30C-6A75-4ED2-ABB9-673A08E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903163"/>
                </a:solidFill>
                <a:latin typeface="Cambria Math"/>
                <a:ea typeface="Cambria Math"/>
                <a:cs typeface="Cambria Math"/>
              </a:rPr>
              <a:t>fH/fL=2; B=fH−fL.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9A25BA3E-3EE7-4575-87D7-EFC06DBA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 mayor frecuencia central, mayor ancho absoluto para la misma fracción.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D3F0AF9A-82FE-4F03-AA69-6D54EB0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ejercicios G3/A2 adaptados.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760914-73A3-4A18-8AF1-2C6C65ED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Hasta acá: bin, banda, octava y tercio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A9D8C8-AAD7-4676-8B1A-228A1DB2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Cuatro entidades que no deben confundirse.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9F4DEAD-437E-47AF-9F26-32F06E05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094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83B8EF0B-10AE-48EF-9A0C-62596D01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16C5C36D-7E13-449F-A712-46550CEF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BDAAC76A-5610-46AA-8098-7AD0C237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Bin: depende del registro.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101B7E21-C8CA-4D66-8FE5-BCF95647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CB86726D-A436-4D2A-AFBE-16E441B5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3B559E8F-36C5-4B51-84A2-6FBADD23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Banda: intervalo definido.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948E92BF-F3F7-47F2-B226-24E891B5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C2FF01BB-15F6-48B9-AA5C-28D47E95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898EB7A8-D4F5-43E4-8BCA-4F403242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Octava: razón 2:1.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6AEF38E2-420E-47FB-9CA9-DCA60D38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1423C324-3875-41ED-B8BE-765ADA8D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381CEE85-CD20-445C-820E-C02AA351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Tercio: tres intervalos logarítmicos por octava.</a:t>
            </a:r>
          </a:p>
        </p:txBody>
      </p:sp>
      <p:sp>
        <p:nvSpPr>
          <p:cNvPr id="16" name="recap-5-box">
            <a:extLst xmlns:a="http://schemas.openxmlformats.org/drawingml/2006/main">
              <a:ext uri="{FF2B5EF4-FFF2-40B4-BE49-F238E27FC236}">
                <a16:creationId xmlns:a16="http://schemas.microsoft.com/office/drawing/2014/main" id="{BF185B4D-581A-4AB2-9845-2EFF6549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7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B4F71DB5-5A3C-42C9-A5C1-5539B15F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0984C75B-8CDE-4333-B678-055F65F6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Pregunta: ¿cuál cambia al modificar Tobs?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0EA048B9-5514-46A6-B2EC-9758FCD9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elección depende del objeto y de la resolución necesaria.</a:t>
            </a:r>
          </a:p>
        </p:txBody>
      </p:sp>
      <p:sp>
        <p:nvSpPr>
          <p:cNvPr id="20" name="credit">
            <a:extLst xmlns:a="http://schemas.openxmlformats.org/drawingml/2006/main">
              <a:ext uri="{FF2B5EF4-FFF2-40B4-BE49-F238E27FC236}">
                <a16:creationId xmlns:a16="http://schemas.microsoft.com/office/drawing/2014/main" id="{B9F6821A-F099-46A2-9CEE-732AE97A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5.4.7 y 5.8.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192E7B61-6D6C-43A3-8DE5-9459F138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CENTRAL · 095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B13ADB21-2BB1-4F55-91DE-A04BA8AD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 filtro modifica componentes según frecuencia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4886EFDE-B948-4CFE-8412-E5906D48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Su respuesta define qué regiones conserva o atenúa.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589720CF-179B-434F-8F36-E061C346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Pasa bajos · Pasa altos · Pasa banda · Elimina banda.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E2FD50-E334-4E1E-BD12-06C8B30D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 filtro se describe por respuesta, cortes y transición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CF158B-19CC-4D22-9C32-6B135D0B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Tipo y frecuencia de corte no alcanzan por sí solos.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65D0B18-C1CE-4CF7-A407-802D97AC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096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CF151D97-DAEE-4A53-AB27-78006C11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6B8B14D2-73BC-4071-8EA9-2BE16B93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B=fH−fL para filtros de dos límites.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4E2A7375-25D7-446F-80CD-853CD841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FCBAF7EC-FC68-4973-919A-4F3C092C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95D50623-0601-43A3-84C0-0DA0DA69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fc: frecuencia definida por un criterio; fL,fH: límites; B: ancho en Hz.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4CAFF666-7DF7-4A6B-9E72-63180910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29CDFF85-F42C-4B2A-9632-AF0CB89D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B2CF2006-00DA-4925-9E23-EE3A3224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real pasa bajos.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C00FD305-B2AB-48CB-A7CD-D29A4D40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modelo ideal es una referencia; la respuesta real cambia gradualmente.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293979BB-A75A-4984-9C17-31A972E7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5.9;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4DCB54-751A-480A-B284-561DE39C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Pasa bajos y pasa altos conservan regiones opuestas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96B949-B9C0-4BC6-8336-B96DD398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dos respuestas comparten una frecuencia de corte declarada.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35C5404-5B8C-4F08-9BA7-C6E3A25D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097</a:t>
            </a:r>
          </a:p>
        </p:txBody>
      </p:sp>
      <p:pic>
        <p:nvPicPr>
          <p:cNvPr id="15" name="U05-097-U05-CH-0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e64c8d8644c3b">
            <a:extLst>
              <a:ext uri="{96DAC541-7B7A-43D3-8B79-37D633B846F1}">
                <asvg:svgBlip xmlns:asvg="http://schemas.microsoft.com/office/drawing/2016/SVG/main" r:embed="R0b5d1728ee3246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AC8A2817-2858-489D-B915-A14CDB2E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2B573072-1AE5-455F-9D7B-D5073E65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FA22E36F-3151-4531-BB67-04A3445B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Pasa bajos: conserva bajas frecuencias. Pasa altos: conserva altas. Ambos presentan transición en un modelo real.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DDDA2E9C-190B-453A-89F3-24B2F405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Leer primero ejes y regiones; después asociar consecuencias sonoras.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3E9B8793-0BF9-41C3-8FD4-9A594C3E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fig. 5.7a–b.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7F32DF-8EE2-4130-A713-DE9557A0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Pasa banda y elimina banda usan dos límites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FF1E96-9980-477C-A320-8DC60CF8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Entre fL y fH, una respuesta conserva y la otra atenúa.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EFAB904-E9F1-42E5-904B-CA03063D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098</a:t>
            </a:r>
          </a:p>
        </p:txBody>
      </p:sp>
      <p:pic>
        <p:nvPicPr>
          <p:cNvPr id="15" name="U05-098-U05-CH-0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dc53f985449da">
            <a:extLst>
              <a:ext uri="{96DAC541-7B7A-43D3-8B79-37D633B846F1}">
                <asvg:svgBlip xmlns:asvg="http://schemas.microsoft.com/office/drawing/2016/SVG/main" r:embed="R4d09d36ead264f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63C1B357-7BB5-46AB-BDB0-6ADE5111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8B4D420D-231D-43BA-8F3B-0FDE8129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CD6F8EE1-9296-443C-82CA-F34CFF66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Pasa banda: región central de paso. Elimina banda: región central de rechazo. Notch: rechazo relativamente estrecho.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2B4C37B0-3CEF-425B-AF0D-D8C3603A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Centro y ancho describen una región del sistema.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816075BF-98CF-44B4-83F2-75B236B6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fig. 5.7c–d.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1E15CD-7B8D-458A-AB60-09A79E83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 filtro real no cambia de forma instantánea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9E9867-16CB-4F07-AAE8-E09C1C1D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rectángulo ideal no es una especificación universal.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84FBDEB-C309-43B7-87F7-0C51904B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099</a:t>
            </a:r>
          </a:p>
        </p:txBody>
      </p:sp>
      <p:pic>
        <p:nvPicPr>
          <p:cNvPr id="12" name="U05-099-U05-CH-0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63f9e80fb4a57">
            <a:extLst>
              <a:ext uri="{96DAC541-7B7A-43D3-8B79-37D633B846F1}">
                <asvg:svgBlip xmlns:asvg="http://schemas.microsoft.com/office/drawing/2016/SVG/main" r:embed="R4a1561197c6547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257300"/>
            <a:ext cx="1127760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2F9CA961-520E-444F-94D5-FEF81470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Tipo de filtro y orden del modelo son informaciones diferentes.</a:t>
            </a:r>
          </a:p>
        </p:txBody>
      </p:sp>
      <p:sp>
        <p:nvSpPr>
          <p:cNvPr id="6" name="credit">
            <a:extLst xmlns:a="http://schemas.openxmlformats.org/drawingml/2006/main">
              <a:ext uri="{FF2B5EF4-FFF2-40B4-BE49-F238E27FC236}">
                <a16:creationId xmlns:a16="http://schemas.microsoft.com/office/drawing/2014/main" id="{46F0160A-D086-4C13-8547-16A33E23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fig. 5.7; script U5.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516CD1-FE29-4B33-AA2F-30FEA580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frecuencia de corte requiere un criterio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D9F892-A9CC-4CF6-B294-B5C6DA03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−3 dB es frecuente, pero no universal.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55CF54E-D622-42FE-B622-CB1BFE72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100</a:t>
            </a:r>
          </a:p>
        </p:txBody>
      </p:sp>
      <p:sp>
        <p:nvSpPr>
          <p:cNvPr id="4" name="error-box">
            <a:extLst xmlns:a="http://schemas.openxmlformats.org/drawingml/2006/main">
              <a:ext uri="{FF2B5EF4-FFF2-40B4-BE49-F238E27FC236}">
                <a16:creationId xmlns:a16="http://schemas.microsoft.com/office/drawing/2014/main" id="{4E6B792E-D0E4-4291-95DC-8877A921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9532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error-title">
            <a:extLst xmlns:a="http://schemas.openxmlformats.org/drawingml/2006/main">
              <a:ext uri="{FF2B5EF4-FFF2-40B4-BE49-F238E27FC236}">
                <a16:creationId xmlns:a16="http://schemas.microsoft.com/office/drawing/2014/main" id="{36F9BF55-662E-4E87-989E-A22CDD51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661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 xmlns:a="http://schemas.openxmlformats.org/drawingml/2006/main">
              <a:ext uri="{FF2B5EF4-FFF2-40B4-BE49-F238E27FC236}">
                <a16:creationId xmlns:a16="http://schemas.microsoft.com/office/drawing/2014/main" id="{12981599-B2AF-475A-A55C-62D8E57B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66103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Error: “el corte es una pared”. Corrección: indicar curva, criterio y condiciones del modelo o instrumento.</a:t>
            </a:r>
          </a:p>
        </p:txBody>
      </p:sp>
      <p:sp>
        <p:nvSpPr>
          <p:cNvPr id="7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3091E92D-A325-468A-9723-E223C8D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19500" cy="3714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9F4CF081-6181-4FDC-AF94-C825A6F2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097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0E8BABD2-066A-438C-96C3-37719F22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276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 de corte: frecuencia identificada mediante un criterio especificado.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C554B9F9-AE34-4847-B5AA-D26AF2CB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línea vertical no reemplaza el criterio.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E96C1551-9175-4CBC-BC7A-5BECADDF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5.9; GLO; OD-U05-23.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27AC33-1966-4FF1-9EEE-F03ED5C5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 pasa banda se describe con límites, centro y ancho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932891-32FC-46EC-A351-915DEE9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Los mismos símbolos pueden describir una banda de análisis o un sistema.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7BA4C3D-3D17-4B43-9F3C-89D175AC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101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B9E13EF-3D99-4638-91A0-B4CD9729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8BE183C2-1863-4CEF-AB05-62B6BC1A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fc=√(fLfH); B=fH−fL.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D5714F0B-486B-4D07-9F97-421B54B8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CCDC0AFF-51DC-4293-BDF4-D394D77A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86F1EF37-FEBC-4016-96A9-9F181F43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Aquí los límites pertenecen a la respuesta del filtro.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29EFD89F-13E2-470C-A0EE-0F06C885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E401C828-47E5-4D8F-8565-1E12AF30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F4B3B34D-65F2-42E6-B598-C7790BCC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cálculo conceptual; criterio de límites debe declararse.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5EEB086A-4B63-4ECA-A548-19C3F58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objeto “sistema” evita confundir este ancho con una banda de medición.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827CE888-E105-4F2E-9B4C-E9390F6A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5.9.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28194A-CAE9-4997-BFC9-17815037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Comparar qué conserva cada filtro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1BB3FE-E904-4FB1-87EA-4A88531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respuesta estática permite anticipar una comparación auditiva segura.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FA3C453-B1DF-4321-BEE6-946F5833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102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F6864A00-624C-4520-B450-B0AD3558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FBF0FB2A-88EE-47E1-B734-D1E3643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08D519FD-0133-40C6-8223-2BC8F41B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Original → pasa bajos → pasa altos → pasa banda.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943BB61C-EDA2-47D7-A712-DB056FE0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D50F9320-5FF8-4EF5-AF3C-52AFA15D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F1C3AB82-2DDD-4DB6-AB00-AD459BDF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qué región conserva cada respuesta y mantener constante la escala.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B285863D-3D60-4B5A-8AA2-6766FF7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demostración sonora requiere controlar nivel, archivo y procedimiento.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B2C6C1E2-B80C-4FDC-9DA0-89E600E0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5.9; EP.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8A20F0-798B-4241-A837-784B8543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¿Qué filtro representa cada curva?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B1590E-F71A-4840-9487-A1090C6B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Identifique paso, rechazo y transición.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169F9A3-0B97-4991-A54C-78393CA0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103</a:t>
            </a:r>
          </a:p>
        </p:txBody>
      </p:sp>
      <p:pic>
        <p:nvPicPr>
          <p:cNvPr id="15" name="U05-103-U05-CH-0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7e90528604d64">
            <a:extLst>
              <a:ext uri="{96DAC541-7B7A-43D3-8B79-37D633B846F1}">
                <asvg:svgBlip xmlns:asvg="http://schemas.microsoft.com/office/drawing/2016/SVG/main" r:embed="R1858eb8412144f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68E69F82-06A1-456F-976F-2958FFF0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E2FD661E-831C-48EC-BC16-1B81EF7B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6E913ADD-662B-48AF-A96F-A4B1D0CF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cada curva: tipo de filtro región conservada región atenuada criterio visible o faltante.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35D83A80-F275-4DFA-ABF7-996069A9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tipo se decide por la respuesta, no por la forma de la caja.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2B1E78AA-EFA0-4656-8048-6FBF4B4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ejercicio L5.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1F4360-9D5F-4A14-9C42-6E58128A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Filtrar, ponderar y filtrar un estímulo persiguen propósitos distintos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9119DF-034C-44A0-99C5-093F4CBF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Operaciones semejantes; objetos y salidas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BCCB98F-A479-436E-9486-0B11ABC5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104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EE36A131-63E2-4268-98CB-B84DFF1A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Señal: modificar contenido.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Medición: aplicar A/C/Z antes del descriptor.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Audiometría: conformar un estímulo bajo referencias específicas.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convertir automáticamente dB SPL en dB HL.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BF31FF54-D9B9-4275-A285-A796832F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142CE07F-7DC1-4B08-B3BA-68B06EE6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CC214955-D817-42D5-9F18-0CFE862E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filtro de señal; ponderación; filtro de estímulo.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A3353249-6569-4205-B84D-B9DCFAF0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habla filtrada, sonómetro y audiómetro.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3E14FEBF-8029-4AF8-A16A-80019DA7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propósito define qué significa la respuesta.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23A36D74-692D-42F4-8594-336870EA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5.9.1; GLO.</a:t>
            </a:r>
          </a:p>
        </p:txBody>
      </p:sp>
    </p:spTree>
    <p:extLst>
      <p:ext uri="{BB962C8B-B14F-4D97-AF65-F5344CB8AC3E}">
        <p14:creationId xmlns:p14="http://schemas.microsoft.com/office/powerpoint/2010/main" val="651197825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35BD80-B7A6-4653-A2D2-D8F03636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Hasta acá: tipo, límites, transición y propósito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BBC982-76CB-4C82-A2AA-CCE8AA6D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Leer un filtro es leer un sistema.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8951BB2-EB5C-4495-9DE7-284DFB90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105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13D2079E-D457-4D84-8C2A-92F29B70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3C0DF239-A11E-4699-BDAD-B177978E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B3C2A400-52DC-4DEE-8D8B-AAE244E5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Tipo: qué región pasa.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2E14A76C-4AFE-44AF-BA1B-940EC63E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EA5531C3-9607-4F90-BE1E-DCDB9421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D50754AD-13EB-4632-86F4-331FFCBB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Límites: dónde se evalúa.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4BB22B47-071D-4358-9595-AFF6029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952C59EB-D21D-4F73-9A73-B9837B39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F445D8C7-2E4F-422F-8CD5-AE4C653F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Transición: cómo cambia.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881D387F-5790-43BE-A4AD-64F800CA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B08B7A54-AD00-44BF-964F-BD7A06F6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D78C1711-C3A4-446D-8464-E7AAF989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Propósito: qué objeto modifica.</a:t>
            </a:r>
          </a:p>
        </p:txBody>
      </p:sp>
      <p:sp>
        <p:nvSpPr>
          <p:cNvPr id="16" name="recap-5-box">
            <a:extLst xmlns:a="http://schemas.openxmlformats.org/drawingml/2006/main">
              <a:ext uri="{FF2B5EF4-FFF2-40B4-BE49-F238E27FC236}">
                <a16:creationId xmlns:a16="http://schemas.microsoft.com/office/drawing/2014/main" id="{7523D060-CDA2-462B-B88A-93B8D995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952625"/>
            <a:ext cx="2076450" cy="2714625"/>
          </a:xfrm>
          <a:prstGeom xmlns:a="http://schemas.openxmlformats.org/drawingml/2006/main" prst="roundRect">
            <a:avLst>
              <a:gd name="adj" fmla="val 64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7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6988B70E-816A-4AE9-B305-9BADB24C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85975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AECFEFCA-69B6-494A-9AFA-B7316757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66975"/>
            <a:ext cx="17335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Pregunta: ¿se modifica señal o medición?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95D13A45-C853-4138-A046-A65E1556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respuesta sola no informa el propósito de uso.</a:t>
            </a:r>
          </a:p>
        </p:txBody>
      </p:sp>
      <p:sp>
        <p:nvSpPr>
          <p:cNvPr id="20" name="credit">
            <a:extLst xmlns:a="http://schemas.openxmlformats.org/drawingml/2006/main">
              <a:ext uri="{FF2B5EF4-FFF2-40B4-BE49-F238E27FC236}">
                <a16:creationId xmlns:a16="http://schemas.microsoft.com/office/drawing/2014/main" id="{D40BB748-47EB-4646-8CB8-EA1A988D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5.9.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E1507B3-5E64-4AB4-ACDB-367822CB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CENTRAL · 106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5E39344A-1C9E-482A-9430-A7B2113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Ponderar es modificar la respuesta de medición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F9ABFFA1-79F9-46D3-BDF2-B673B616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A, C y Z se aplican antes de informar un descriptor.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CEC08DA7-55C1-4B52-9C33-69A7391F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Micrófono → ponderación frecuencial → integración temporal → resultado.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1B59E7-21A8-41F2-90CE-3ABBEB32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misma señal produce resultados distintos según la ponderación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AC5AB9-1275-4113-91AE-2EE00C8E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respuesta corrige frecuencias de manera diferente.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57D1C96-3CFB-4C44-87ED-07218C81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107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2F4B23D3-64B7-4A85-8C37-3A6CCFA5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de banda ancha → rutas A, C y Z → integración → descriptores distintos.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calcular sin espectro completo.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9233B973-0842-4DFF-BD4E-D2DD5ABA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F86B10A4-2372-4A24-AEBF-3292DF8C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C5D0940A-62A1-459C-B693-CF15C9F7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Ponderación frecuencial: filtro normalizado del sistema de medición.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42C9F385-6CC8-4669-A73C-EA302462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comparación conceptual sin valores.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E5C5800A-B969-49AF-872E-B35B8DED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corrección ocurre frecuencia por frecuencia.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15B208DF-D298-4AE9-A961-FA3E53DA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5.10; EP.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961466-6646-42FA-B115-89DF1BA8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A, C y Z no responden igual a todas las frecuencias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73BB54-B026-49F5-BF0B-AA807D6B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Curvas nominales; no bandas de tolerancia.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979209E-6085-420D-B971-04FC9C6F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108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6DBD1147-E3FD-4661-A754-DE468BDF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atenúa más las bajas frecuencias.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 es más plana.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Z es nominalmente plana dentro de límites definidos.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Eje: frecuencia logarítmica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corrección en dB.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70383DAD-41DC-4E43-9D76-7B687F14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75BA132A-C1EC-4394-830B-1DE06AF8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72F888E4-D26E-4756-A326-50D10067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nominal no demuestra conformidad de un instrumento.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7B993D5A-DACB-4D2F-98EF-527FB0CB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A modifica más las bajas frecuencias; C es más plana en una región amplia; Z es nominalmente plana dentro de límites.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ECB0117B-2208-42E8-A2AC-CB39F117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Comparación cualitativa: no sustituye la curva normativa.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AD7775F7-A4E4-40B9-B73B-BF075962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5.10; IEC 61672-1:2013 citada en el libro.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38CF09-88DF-40C5-B6D1-42628AF9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ponderación A es una respuesta normalizada de medición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7B15A1-FA2C-4B3E-90A5-48FA890D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dB(A) informa respuesta frecuencial, no toda la configuración.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B4E74C9-0EFA-4992-AB69-A07D99F4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109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13FF7C4E-0FCD-4AE6-A9A1-60529531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Escritura del programa: dBA.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Escritura adoptada: dB(A) o descriptor completo.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Ejemplos: LAeq,T, LAFmax.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26E3EB1B-BD6C-461E-8B73-04297A49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65F89FBA-5830-4DCB-94A0-36E0B28E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E94BA0A5-6DEC-491B-B21E-FC8041A0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A: ponderación frecuencial; F: respuesta temporal Fast; eq: equivalente; T: intervalo.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0A6CAAA2-1320-4E71-95A9-1A1A8A16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una lectura debe completar el descriptor.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2780F260-4685-480D-A3CE-2238C3CF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Ponderación no equivale a audición individual ni a dB HL.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46A060F2-57D6-46CF-A851-3FC50E3C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PO; TEX 5.10; NOT;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B191D5-3DA3-463B-A445-27AC0AC7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Para un tono, la corrección se aplica en su frecuencia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08E0D2-53E5-4D22-BE2C-9DD4198E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Esta suma en dB representa una corrección de respuesta, no suma de fuentes.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63098C8-C6D0-418B-8F02-4657EE73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110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8C1E7DDB-7538-42C8-AAB0-75D708A1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B2CE3A8E-E197-4C9B-9EF1-EA6B9B71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nivel A(f) = nivel Z(f) + corrección A(f)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5572BE48-540D-4A8C-A679-1D5954AB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28D7802D-1944-428C-AE32-4250B0F6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7FAD157C-BFC4-4EA6-8E25-5D0F20D7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corrección pertenece al filtro y a esa frecuencia; no es el nivel de otra fuente.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615E4608-95ED-4475-8E68-417CBED9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AA3D02BC-C415-4762-B062-72750204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A6689E0F-05C8-4DAD-B4BF-9CDBF08D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Para un tono de 63 Hz se usa la corrección A(63 Hz) de la tabla normativa.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AC164B45-DFFF-42FD-AD09-A6C0B152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relación no se aplica como constante a señales de banda ancha.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994CFAE4-B334-4AC8-9ACE-64A2618E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5.10.1, ec. 5.20; IEC 61672-1:2013 citada en el libro.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8547F4-8DCA-493C-93D8-E922903C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 tono de 63 Hz cambia mucho entre Z y 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055381-07E9-4CDF-AFA1-0F69EFDA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corrección es puntual y depende de la frecuencia.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ABB6B5B-74CD-441C-8785-55AE87B7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111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20814448-3358-4C4B-A5A8-2FC21F66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8705664C-2E62-4E0D-88B8-0BDC56A5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80,0 dB(Z) − 26,2 dB = 53,8 dB(A)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3ACC5801-F27D-448A-8F14-C21BC062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49F44403-2072-4897-93A5-F080D001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1331CF93-B5D1-4FA7-908D-08CC678B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corrección vale para ese tono, esa frecuencia y las mismas condiciones.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FC6B1BAB-B1CD-41CB-A1EF-F8ACB7DA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82F8F765-9041-4E2D-9D02-E54210D6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9F1F795-18AB-475F-83FC-0E0A2197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extender esta resta única a una señal de banda ancha.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3B23735F-17BD-4F6A-A829-E05A4D75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Resultado para ese tono; no es una corrección única para banda ancha.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A3B3BF53-024B-47A6-B726-AAA205E8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5.10.1; IEC 61672-1:2013 citada en el libro.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1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FFE5A3-8D79-435D-BAE6-5791602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Una corrección única no alcanza para un sonido de banda ancha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7F0ACD-13F7-4D13-8087-982547A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Ponderar exige corregir por frecuencia e integrar energéticamente.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E783424-A0FA-4D2F-8A57-BEA2EE54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112</a:t>
            </a:r>
          </a:p>
        </p:txBody>
      </p:sp>
      <p:sp>
        <p:nvSpPr>
          <p:cNvPr id="4" name="error-box">
            <a:extLst xmlns:a="http://schemas.openxmlformats.org/drawingml/2006/main">
              <a:ext uri="{FF2B5EF4-FFF2-40B4-BE49-F238E27FC236}">
                <a16:creationId xmlns:a16="http://schemas.microsoft.com/office/drawing/2014/main" id="{D68F5687-8BBA-4852-96A0-DDC80ED0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9532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error-title">
            <a:extLst xmlns:a="http://schemas.openxmlformats.org/drawingml/2006/main">
              <a:ext uri="{FF2B5EF4-FFF2-40B4-BE49-F238E27FC236}">
                <a16:creationId xmlns:a16="http://schemas.microsoft.com/office/drawing/2014/main" id="{350F4366-8977-4A44-AB45-99D97083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661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 xmlns:a="http://schemas.openxmlformats.org/drawingml/2006/main">
              <a:ext uri="{FF2B5EF4-FFF2-40B4-BE49-F238E27FC236}">
                <a16:creationId xmlns:a16="http://schemas.microsoft.com/office/drawing/2014/main" id="{F3EFC34D-BBD3-43F3-9A32-8F1AB2F8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66103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Error: sumar una constante al nivel total. Corrección: espectro → corrección A por frecuencia → suma energética → descriptor.</a:t>
            </a:r>
          </a:p>
        </p:txBody>
      </p:sp>
      <p:sp>
        <p:nvSpPr>
          <p:cNvPr id="7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3FB62645-CA9F-47FE-AFE1-80C9707B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19500" cy="3714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8FF0CC42-60B6-4A05-B976-D6607E0F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097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D425044C-A2E1-4DB6-BDC2-AB7BF486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276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Aplicar la corrección a cada componente compatible; integrar después las contribuciones energéticas.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46BF7AA5-3541-415D-9013-D2DC3D9A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ejemplo tonal no se traslada directamente a banda ancha.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F17BB593-09BB-4407-B5B1-60E88407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5.10; ejercicio G5.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6BDF7C-AC0D-4D17-AA3E-29ACD1EE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dB(A), dB SPL, dB HL y sonoridad no son intercambiables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A949A2-64DA-480A-9CBF-78E5095D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Magnitud, referencia y percepción responden a procedimientos distintos.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D4F7C37-A5E0-4063-90E8-EFB5D4AF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113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FD831728-60E5-4CEB-B8BA-7079ECDC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SPL: nivel físico referido a presión.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dB(A): medición con ponderación 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HL: referencia audiométrica.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Sonoridad: atributo perceptual.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7FE20A54-6737-4894-9567-2728C48F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6EF6EE61-1960-4DB4-80E9-DBB4DA62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3487E82F-831C-489A-93D4-4731A894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término incluye una referencia o procedimiento propio.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BCA630B3-9E40-40D6-9E96-FD7E91B7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72 dB(A) no se convierte automáticamente en dB HL.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48B68F94-2B7B-47E6-89A3-4DC34652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número en decibeles no identifica por sí solo qué se midió.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955598A6-65BE-4A92-82FC-D6B6CE01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5.9.1 y 5.12; NOT; GLO.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1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18CC38-FF2D-4499-BB18-810099D3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“72 dB(A)”: ¿qué sabemos y qué falta?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556A63-98F6-47C8-BEB3-B13C493A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Auditar una lectura incompleta.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0DB2F07-C420-4DC8-BC38-233D0320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114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2AD7B7EA-A3BE-4785-8E85-B1AFD04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239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01F2723-135C-4007-BBD5-9EDCA1D9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3E2F605C-980A-4CFA-A087-5CD7EF91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6896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Sabemos: ponderación A. Falta: descriptor temporal; intervalo; respuesta temporal; posición y condiciones; instrumento/procedimiento. ¿Permite inferir dB HL? No.</a:t>
            </a:r>
          </a:p>
        </p:txBody>
      </p:sp>
      <p:sp>
        <p:nvSpPr>
          <p:cNvPr id="7" name="answer-routine-box">
            <a:extLst xmlns:a="http://schemas.openxmlformats.org/drawingml/2006/main">
              <a:ext uri="{FF2B5EF4-FFF2-40B4-BE49-F238E27FC236}">
                <a16:creationId xmlns:a16="http://schemas.microsoft.com/office/drawing/2014/main" id="{112349F4-80E9-4BDD-BD0E-A2C3AE06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answer-routine-title">
            <a:extLst xmlns:a="http://schemas.openxmlformats.org/drawingml/2006/main">
              <a:ext uri="{FF2B5EF4-FFF2-40B4-BE49-F238E27FC236}">
                <a16:creationId xmlns:a16="http://schemas.microsoft.com/office/drawing/2014/main" id="{64462994-D33B-4902-A56A-0F4E1A7E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 xmlns:a="http://schemas.openxmlformats.org/drawingml/2006/main">
              <a:ext uri="{FF2B5EF4-FFF2-40B4-BE49-F238E27FC236}">
                <a16:creationId xmlns:a16="http://schemas.microsoft.com/office/drawing/2014/main" id="{7C97C2AA-2D94-4B9B-A854-334464D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85975"/>
            <a:ext cx="28003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0FF344CE-69B9-4987-B465-0A6F2D7C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unidad escrita no reemplaza el descriptor completo.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834B4B62-2CFE-4F8F-AC08-A4EF204E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ejercicios D4/F4.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A21C1D-5BCC-4C25-9798-2EA53C87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Curva nominal y tolerancia de instrumento no son lo mismo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1289A2-EFE2-4B99-9597-6B23A6F2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respuesta objetivo no demuestra conformidad.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C136366-0641-4BC3-9EEE-6010D69C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115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9650153B-DE35-41F6-AB71-46D897EE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Curva nominal: objetivo de ponderación.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Tolerancia: banda de aceptación según clase, frecuencia y ensayo.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Conformidad: requiere procedimiento y evidencia.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7724B172-BFE3-4B9D-986F-230A4BA4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24A5B95C-2AE3-472B-AA8E-479BD0C9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3895EC50-3D0D-4FA1-9FE3-B44EA9B9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esquema conceptual; no reproducir tolerancias.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A5718D6E-9762-453C-9528-5E6DD0A3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conformidad exige procedimiento, clase, frecuencia y evidencia.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964C7A38-70A2-401A-8F81-5CBF0B1D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5.10.1; IEC 61672-1:2013 citada en el libro.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A7731A-0109-43AA-9082-2000D836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Hasta acá: filtro de medición, descriptor y límite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27D5D9-7920-49D3-BC80-8A403028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A/C/Z no completan por sí solas una lectura.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61C4C2B-63AA-436D-85FA-51151501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116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B2493F6F-CAC7-42D8-8AA8-F982436F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B148E86A-4360-44FD-87EB-432F0D1E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F3177A1F-FBC1-465F-9EBE-EDBB3CB0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Ponderación: modifica respuesta frecuencial.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8A43F9A8-BBF6-4721-9D24-8BBA32D1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389D95C9-C835-4B25-99BD-7C77AF98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F8941AA9-7E53-4B7C-9D10-BC1FEA53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Descriptor: resume tiempo o extremo.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1E959621-C21A-479A-9171-9EC8B316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D7B7D667-1B62-4A46-AECB-6EB8BD55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5956482C-96E1-45F3-BA36-C8743F72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Intervalo y condiciones: delimitan la interpretación.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5E67701B-7334-409F-B48A-C5ED7021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52625"/>
            <a:ext cx="2381250" cy="2714625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6B01A6FC-3848-417F-8729-83F1D67B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859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AECA2C9D-67C7-436E-9136-51B82A12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66975"/>
            <a:ext cx="20383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Caso: tono ≠ banda ancha.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5BA4F9B1-8A21-4DD8-A80D-50506D03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nombre completo del resultado conserva las decisiones de medición.</a:t>
            </a:r>
          </a:p>
        </p:txBody>
      </p:sp>
      <p:sp>
        <p:nvSpPr>
          <p:cNvPr id="17" name="credit">
            <a:extLst xmlns:a="http://schemas.openxmlformats.org/drawingml/2006/main">
              <a:ext uri="{FF2B5EF4-FFF2-40B4-BE49-F238E27FC236}">
                <a16:creationId xmlns:a16="http://schemas.microsoft.com/office/drawing/2014/main" id="{55A40260-485D-4232-8ED9-6E51E61D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5.10.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5363576-A85E-47AC-AB8B-63120B85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CENTRAL · 117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07A140D5-EB6C-4BDE-8BDD-BD2479EE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micrófono al resultado informado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826C8D93-6DEF-486B-8ED4-6BAED676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Un sonómetro procesa presión local bajo una configuración declarada.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0022A263-3F16-44C1-84BF-32B8985C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Transducción · Procesamiento · Integración · Informe.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B6B432-7BEF-41EF-8024-4B21B295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Sonómetro, micrófono y calibrador cumplen funciones distintas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E6CA02-3D74-4F60-83C6-B89EBB9F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Reconocer componentes no demuestra clase ni conformidad.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694A88F-2FA1-42AD-82F8-9D0C606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118</a:t>
            </a:r>
          </a:p>
        </p:txBody>
      </p:sp>
      <p:pic>
        <p:nvPicPr>
          <p:cNvPr id="16" name="U05-118-external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15204d6414ee7"/>
          <a:stretch xmlns:a="http://schemas.openxmlformats.org/drawingml/2006/main"/>
        </p:blipFill>
        <p:spPr>
          <a:xfrm xmlns:a="http://schemas.openxmlformats.org/drawingml/2006/main">
            <a:off x="2094019" y="1381125"/>
            <a:ext cx="1907962" cy="4238625"/>
          </a:xfrm>
          <a:prstGeom xmlns:a="http://schemas.openxmlformats.org/drawingml/2006/main" prst="roundRect">
            <a:avLst>
              <a:gd name="adj" fmla="val 3596"/>
            </a:avLst>
          </a:prstGeom>
        </p:spPr>
      </p:pic>
      <p:sp>
        <p:nvSpPr>
          <p:cNvPr id="5" name="external-image-text-box">
            <a:extLst xmlns:a="http://schemas.openxmlformats.org/drawingml/2006/main">
              <a:ext uri="{FF2B5EF4-FFF2-40B4-BE49-F238E27FC236}">
                <a16:creationId xmlns:a16="http://schemas.microsoft.com/office/drawing/2014/main" id="{DE557AA5-EAE4-44A0-9DAF-56074D17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762500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6" name="external-image-text-title">
            <a:extLst xmlns:a="http://schemas.openxmlformats.org/drawingml/2006/main">
              <a:ext uri="{FF2B5EF4-FFF2-40B4-BE49-F238E27FC236}">
                <a16:creationId xmlns:a16="http://schemas.microsoft.com/office/drawing/2014/main" id="{986E65B6-2CD3-494F-8ECA-73731190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09725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Funciones distintas</a:t>
            </a:r>
          </a:p>
        </p:txBody>
      </p:sp>
      <p:sp>
        <p:nvSpPr>
          <p:cNvPr id="7" name="external-image-text-body">
            <a:extLst xmlns:a="http://schemas.openxmlformats.org/drawingml/2006/main">
              <a:ext uri="{FF2B5EF4-FFF2-40B4-BE49-F238E27FC236}">
                <a16:creationId xmlns:a16="http://schemas.microsoft.com/office/drawing/2014/main" id="{939696A5-F29E-484B-AD6B-C2A6180C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90725"/>
            <a:ext cx="4419600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Micrófono: transduce presión. Cuerpo: acondiciona, procesa e informa. Calibrador acústico: aporta una señal de referencia para una comprobación definida.</a:t>
            </a:r>
          </a:p>
        </p:txBody>
      </p:sp>
      <p:sp>
        <p:nvSpPr>
          <p:cNvPr id="8" name="photo-credit">
            <a:extLst xmlns:a="http://schemas.openxmlformats.org/drawingml/2006/main">
              <a:ext uri="{FF2B5EF4-FFF2-40B4-BE49-F238E27FC236}">
                <a16:creationId xmlns:a16="http://schemas.microsoft.com/office/drawing/2014/main" id="{85D2A5CE-3761-4D18-AE59-1AD8F6A8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86425"/>
            <a:ext cx="581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Foto: Harke · dominio público · Wikimedia Commons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AEEF9558-A2F0-41BF-9A6E-365D00B2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Micrófono, cuerpo del sonómetro y calibrador acústico cumplen funciones diferentes.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FE25710E-2D31-4FC7-BCFF-3946858E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5.11.3.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1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7DD324-4144-43B8-8EA5-7448F7BB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La presión existe antes de que aparezca un número en pantalla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CAC921-D54A-4F8B-85B0-55C119CF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cadena cambia representación, no el fenómeno ya ocurrido.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3AC5188-EF0A-4656-938C-D8760934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119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F017DB73-7286-4C6C-8BB0-49446DFE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698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5392361B-9F2A-4D9F-A577-7130A8E4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431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p(t)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58BDCDFA-E4A9-48B3-8D46-650EC8CF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575" y="2143125"/>
            <a:ext cx="1698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22B6BC4F-B6A1-497A-BE0D-EF466433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925" y="2333625"/>
            <a:ext cx="1431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Micrófono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5E59295D-69F4-447F-8C69-186013FC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143125"/>
            <a:ext cx="1698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3A2184B2-1137-4C0B-A464-F24586D8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333625"/>
            <a:ext cx="1431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Conversión</a:t>
            </a:r>
          </a:p>
        </p:txBody>
      </p:sp>
      <p:sp>
        <p:nvSpPr>
          <p:cNvPr id="10" name="process-4">
            <a:extLst xmlns:a="http://schemas.openxmlformats.org/drawingml/2006/main">
              <a:ext uri="{FF2B5EF4-FFF2-40B4-BE49-F238E27FC236}">
                <a16:creationId xmlns:a16="http://schemas.microsoft.com/office/drawing/2014/main" id="{B0CEE1B0-B9FC-4E08-A2E1-AB173743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43125"/>
            <a:ext cx="1698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1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EA82CBFA-7846-4C3A-B528-04008B6F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33625"/>
            <a:ext cx="1431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Ponderación</a:t>
            </a:r>
          </a:p>
        </p:txBody>
      </p:sp>
      <p:sp>
        <p:nvSpPr>
          <p:cNvPr id="12" name="process-5">
            <a:extLst xmlns:a="http://schemas.openxmlformats.org/drawingml/2006/main">
              <a:ext uri="{FF2B5EF4-FFF2-40B4-BE49-F238E27FC236}">
                <a16:creationId xmlns:a16="http://schemas.microsoft.com/office/drawing/2014/main" id="{D647B06A-367C-4A78-A61A-141DAB7F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143125"/>
            <a:ext cx="1698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3" name="process-5-text">
            <a:extLst xmlns:a="http://schemas.openxmlformats.org/drawingml/2006/main">
              <a:ext uri="{FF2B5EF4-FFF2-40B4-BE49-F238E27FC236}">
                <a16:creationId xmlns:a16="http://schemas.microsoft.com/office/drawing/2014/main" id="{C0DF4C57-7246-44BA-9610-BF08DCDE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333625"/>
            <a:ext cx="1431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Detector / integración</a:t>
            </a:r>
          </a:p>
        </p:txBody>
      </p:sp>
      <p:sp>
        <p:nvSpPr>
          <p:cNvPr id="14" name="process-6">
            <a:extLst xmlns:a="http://schemas.openxmlformats.org/drawingml/2006/main">
              <a:ext uri="{FF2B5EF4-FFF2-40B4-BE49-F238E27FC236}">
                <a16:creationId xmlns:a16="http://schemas.microsoft.com/office/drawing/2014/main" id="{D9733F9E-AFD3-480F-9A17-C31BB5B6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875" y="2143125"/>
            <a:ext cx="1698625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5" name="process-6-text">
            <a:extLst xmlns:a="http://schemas.openxmlformats.org/drawingml/2006/main">
              <a:ext uri="{FF2B5EF4-FFF2-40B4-BE49-F238E27FC236}">
                <a16:creationId xmlns:a16="http://schemas.microsoft.com/office/drawing/2014/main" id="{A3450726-C55D-4F16-947F-1F9D196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225" y="2333625"/>
            <a:ext cx="14319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Indicador e informe</a:t>
            </a:r>
          </a:p>
        </p:txBody>
      </p:sp>
      <p:cxnSp>
        <p:nvCxnSpPr>
          <p:cNvPr id="59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70125" y="2928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60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140200" y="2928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61" name="process-arrow-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10275" y="2928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62" name="process-arrow-4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80350" y="2928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63" name="process-arrow-5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750425" y="292893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21" name="process-definition">
            <a:extLst xmlns:a="http://schemas.openxmlformats.org/drawingml/2006/main">
              <a:ext uri="{FF2B5EF4-FFF2-40B4-BE49-F238E27FC236}">
                <a16:creationId xmlns:a16="http://schemas.microsoft.com/office/drawing/2014/main" id="{A19441F1-E3BD-47A7-8725-E88EDA74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Sonómetro: instrumento que mide niveles acústicos según configuración y especificaciones declaradas.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A2826DA8-05A4-4728-A0D5-16F81B65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etapa debe conservar su función y configuración.</a:t>
            </a:r>
          </a:p>
        </p:txBody>
      </p:sp>
      <p:sp>
        <p:nvSpPr>
          <p:cNvPr id="23" name="credit">
            <a:extLst xmlns:a="http://schemas.openxmlformats.org/drawingml/2006/main">
              <a:ext uri="{FF2B5EF4-FFF2-40B4-BE49-F238E27FC236}">
                <a16:creationId xmlns:a16="http://schemas.microsoft.com/office/drawing/2014/main" id="{698DFA82-F9C1-4108-9776-DFCFE6D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fig. 5.8.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F8FE74-C09E-4C3B-A4AC-FE3D2562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nivel equivalente conserva la media cuadrática del intervalo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2D68FA-41CF-4231-AF6F-A68C53E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nivel constante equivalente representa la misma contribución energética media.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A959276-DBED-48E6-9D00-5A8A8269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120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A7BFA6B-EE5B-4301-9197-740B4308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39CF94C0-0EE1-4C1E-9A77-684F8876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2775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Nivel equivalente: mismo promedio cuadrático durante T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FC0BB1B0-0F56-4FE6-8FEC-67D987C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84A01210-9235-4E20-8425-29E905D0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3E3F870F-8EB8-4459-8C30-DAD7AD7F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compara energía cuadrática; la definición integral queda en respaldo U05-146.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0C42AC9D-57DD-4052-BEC6-A5603294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0BC6C7F0-6C07-41F1-B710-FFCF727D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60A855FB-A8CC-4C97-90A6-CC256A65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Antes de calcular 70 y 80 dB, prediga por qué el resultado debe acercarse a 80 dB.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B1A1F3FF-8B49-49E1-A76F-6412FAF7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intuición proviene del RMS estudiado en U4.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C1027E78-3816-495B-8DDD-D20F3CC3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5.11.1; GLO.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3CC6BE-F36F-464C-8E5D-5528EFF7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70 dB y 80 dB no promedian 75 dB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08B5EA-0861-4110-9C57-E2CFD98D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Para tiempos iguales, domina el tramo de mayor energía.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8213879-9A56-49FB-BCE2-ADD4F044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121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7E25786A-7B8A-47EF-AF2E-7A3E751D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5FE46912-C835-4AB4-B150-79E9161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27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Escala lineal: (10⁷ + 10⁸)/2  →  nivel equivalente = 77,4 dB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2FDFA26C-C141-496F-BDDA-F81B4201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25529610-84CD-4818-BF68-9B652442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B82754E0-E90B-40D4-BAF1-BAAB54CD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intervalo total dividido en dos tramos iguales.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1556368C-C123-4FED-A1F1-6E1E0BE9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5337C759-BACD-4F20-9027-E7072849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24BE2B39-728C-4D80-B29E-B6E80D41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 77,4 dB, no 75 dB.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690088EF-A2CF-4222-8C12-47186D0D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Los decibeles se convierten antes de promediar.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BCD477D8-046C-45DF-9CB5-71513CA3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5.11.4.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1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500231-F194-4CD9-BEAA-BB2D62B2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Equivalente, máximo y pico responden preguntas distintas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D02F32-B011-41D5-9613-83D43B87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misma señal alimenta descriptores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1D160EA-0B43-49BF-B74A-6EC59CE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AMPLIACIÓN · 122</a:t>
            </a:r>
          </a:p>
        </p:txBody>
      </p:sp>
      <p:sp>
        <p:nvSpPr>
          <p:cNvPr id="4" name="compare-a-box">
            <a:extLst xmlns:a="http://schemas.openxmlformats.org/drawingml/2006/main">
              <a:ext uri="{FF2B5EF4-FFF2-40B4-BE49-F238E27FC236}">
                <a16:creationId xmlns:a16="http://schemas.microsoft.com/office/drawing/2014/main" id="{98E82B94-039D-464D-BBC8-365D9138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compare-a-title">
            <a:extLst xmlns:a="http://schemas.openxmlformats.org/drawingml/2006/main">
              <a:ext uri="{FF2B5EF4-FFF2-40B4-BE49-F238E27FC236}">
                <a16:creationId xmlns:a16="http://schemas.microsoft.com/office/drawing/2014/main" id="{8DEF799A-56CD-43CD-995C-EB284F5A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 xmlns:a="http://schemas.openxmlformats.org/drawingml/2006/main">
              <a:ext uri="{FF2B5EF4-FFF2-40B4-BE49-F238E27FC236}">
                <a16:creationId xmlns:a16="http://schemas.microsoft.com/office/drawing/2014/main" id="{4927C3BC-26A1-4EF0-A0F3-56AB8ADC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LXeq,T: integra durante T. LXYmax: máximo de una respuesta temporal Y.</a:t>
            </a:r>
          </a:p>
        </p:txBody>
      </p:sp>
      <p:sp>
        <p:nvSpPr>
          <p:cNvPr id="7" name="compare-b-box">
            <a:extLst xmlns:a="http://schemas.openxmlformats.org/drawingml/2006/main">
              <a:ext uri="{FF2B5EF4-FFF2-40B4-BE49-F238E27FC236}">
                <a16:creationId xmlns:a16="http://schemas.microsoft.com/office/drawing/2014/main" id="{4DEEFBAA-017D-4DA5-9011-7D8BCB0A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191125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mpare-b-title">
            <a:extLst xmlns:a="http://schemas.openxmlformats.org/drawingml/2006/main">
              <a:ext uri="{FF2B5EF4-FFF2-40B4-BE49-F238E27FC236}">
                <a16:creationId xmlns:a16="http://schemas.microsoft.com/office/drawing/2014/main" id="{482EF802-C9CC-4829-8610-34E50469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 xmlns:a="http://schemas.openxmlformats.org/drawingml/2006/main">
              <a:ext uri="{FF2B5EF4-FFF2-40B4-BE49-F238E27FC236}">
                <a16:creationId xmlns:a16="http://schemas.microsoft.com/office/drawing/2014/main" id="{41ADF88C-57B8-4144-9A9E-90686BC2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84822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LCpeak: máximo instantáneo de detector de pico con ponderación C.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660AB2BA-7564-4EF4-AA39-06C2AEEB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Informar el descriptor evita llamar “máximo” a resultados distintos.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A9829996-5557-4695-891A-2876D5B6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5.11.1–5.11.2; NOT.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9405FB-C09D-4656-9767-28AAE045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El ruido de fondo audiométrico no se verifica con un único dB(A)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0F26DC-4868-4E05-9DA1-6EB15B13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criterio depende de banda, transductor y propósito.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8036C10-A8C9-4DA4-A55D-8DCCDBC2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123</a:t>
            </a:r>
          </a:p>
        </p:txBody>
      </p:sp>
      <p:pic>
        <p:nvPicPr>
          <p:cNvPr id="15" name="U05-123-U05-CH-0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8fa4192d04a76">
            <a:extLst>
              <a:ext uri="{96DAC541-7B7A-43D3-8B79-37D633B846F1}">
                <asvg:svgBlip xmlns:asvg="http://schemas.microsoft.com/office/drawing/2016/SVG/main" r:embed="R231d4727a37b49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28868DFB-DBD5-4BCC-9F58-D70E1CC2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FF0D7333-8D60-44ED-8BDD-9903FC7F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8CFF88BF-D96A-49A9-8D5C-BBC4E999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Caso didáctico no normativo: compare nivel y límite hipotético en seis bandas. Identifique cuáles superan el límite. No usar una app de teléfono como sustituto del procedimiento.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9729D388-7A9A-40C4-B881-CA058E72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Ejercicio de lectura; no evalúa conformidad clínica o laboral.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ED2E504B-9DA9-4783-B8C5-3795EF7E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aplicación F2; ISO 8253-1/ANSI citadas solo como contexto.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874967-F605-4503-9A89-F964B8D7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Hasta acá: instrumento, configuración y resultado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A13007-5DD3-40E8-9DB1-CDD9F504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Seis campos para que una lectura sea interpretable.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66E00A2-C57F-4552-BAFF-056BC240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124</a:t>
            </a:r>
          </a:p>
        </p:txBody>
      </p:sp>
      <p:sp>
        <p:nvSpPr>
          <p:cNvPr id="4" name="recap-1-box">
            <a:extLst xmlns:a="http://schemas.openxmlformats.org/drawingml/2006/main">
              <a:ext uri="{FF2B5EF4-FFF2-40B4-BE49-F238E27FC236}">
                <a16:creationId xmlns:a16="http://schemas.microsoft.com/office/drawing/2014/main" id="{4F0A3462-7E68-4BD9-A84B-952006C9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recap-1-title">
            <a:extLst xmlns:a="http://schemas.openxmlformats.org/drawingml/2006/main">
              <a:ext uri="{FF2B5EF4-FFF2-40B4-BE49-F238E27FC236}">
                <a16:creationId xmlns:a16="http://schemas.microsoft.com/office/drawing/2014/main" id="{AC1D5AE8-9E4E-4BBA-A0BD-6AC61C48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ap-1-body">
            <a:extLst xmlns:a="http://schemas.openxmlformats.org/drawingml/2006/main">
              <a:ext uri="{FF2B5EF4-FFF2-40B4-BE49-F238E27FC236}">
                <a16:creationId xmlns:a16="http://schemas.microsoft.com/office/drawing/2014/main" id="{2A776C3D-A4CE-4C0A-A4EE-3BF309F9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Magnitud/descriptor</a:t>
            </a:r>
          </a:p>
        </p:txBody>
      </p:sp>
      <p:sp>
        <p:nvSpPr>
          <p:cNvPr id="7" name="recap-2-box">
            <a:extLst xmlns:a="http://schemas.openxmlformats.org/drawingml/2006/main">
              <a:ext uri="{FF2B5EF4-FFF2-40B4-BE49-F238E27FC236}">
                <a16:creationId xmlns:a16="http://schemas.microsoft.com/office/drawing/2014/main" id="{3FA9DF97-0F4A-4F98-B42C-EDCDA18D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recap-2-title">
            <a:extLst xmlns:a="http://schemas.openxmlformats.org/drawingml/2006/main">
              <a:ext uri="{FF2B5EF4-FFF2-40B4-BE49-F238E27FC236}">
                <a16:creationId xmlns:a16="http://schemas.microsoft.com/office/drawing/2014/main" id="{9094102A-43E5-4E5D-BBC7-CD4F3773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recap-2-body">
            <a:extLst xmlns:a="http://schemas.openxmlformats.org/drawingml/2006/main">
              <a:ext uri="{FF2B5EF4-FFF2-40B4-BE49-F238E27FC236}">
                <a16:creationId xmlns:a16="http://schemas.microsoft.com/office/drawing/2014/main" id="{69422D48-5ED4-43C0-87A4-F41A7CAA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ponderación frecuencial</a:t>
            </a:r>
          </a:p>
        </p:txBody>
      </p:sp>
      <p:sp>
        <p:nvSpPr>
          <p:cNvPr id="10" name="recap-3-box">
            <a:extLst xmlns:a="http://schemas.openxmlformats.org/drawingml/2006/main">
              <a:ext uri="{FF2B5EF4-FFF2-40B4-BE49-F238E27FC236}">
                <a16:creationId xmlns:a16="http://schemas.microsoft.com/office/drawing/2014/main" id="{D44C49B9-9DC2-4A59-B070-9C28EAD3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1" name="recap-3-title">
            <a:extLst xmlns:a="http://schemas.openxmlformats.org/drawingml/2006/main">
              <a:ext uri="{FF2B5EF4-FFF2-40B4-BE49-F238E27FC236}">
                <a16:creationId xmlns:a16="http://schemas.microsoft.com/office/drawing/2014/main" id="{94379D76-FF77-4DC2-B9A3-7A461A6F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recap-3-body">
            <a:extLst xmlns:a="http://schemas.openxmlformats.org/drawingml/2006/main">
              <a:ext uri="{FF2B5EF4-FFF2-40B4-BE49-F238E27FC236}">
                <a16:creationId xmlns:a16="http://schemas.microsoft.com/office/drawing/2014/main" id="{B0DD3D70-E1BD-4EB0-B627-D734E94D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temporal</a:t>
            </a:r>
          </a:p>
        </p:txBody>
      </p:sp>
      <p:sp>
        <p:nvSpPr>
          <p:cNvPr id="13" name="recap-4-box">
            <a:extLst xmlns:a="http://schemas.openxmlformats.org/drawingml/2006/main">
              <a:ext uri="{FF2B5EF4-FFF2-40B4-BE49-F238E27FC236}">
                <a16:creationId xmlns:a16="http://schemas.microsoft.com/office/drawing/2014/main" id="{1F5ACDC5-8133-4E6E-9803-F9317A5E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4" name="recap-4-title">
            <a:extLst xmlns:a="http://schemas.openxmlformats.org/drawingml/2006/main">
              <a:ext uri="{FF2B5EF4-FFF2-40B4-BE49-F238E27FC236}">
                <a16:creationId xmlns:a16="http://schemas.microsoft.com/office/drawing/2014/main" id="{2B32A9C4-5384-4B96-BC1F-AC2C5564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5" name="recap-4-body">
            <a:extLst xmlns:a="http://schemas.openxmlformats.org/drawingml/2006/main">
              <a:ext uri="{FF2B5EF4-FFF2-40B4-BE49-F238E27FC236}">
                <a16:creationId xmlns:a16="http://schemas.microsoft.com/office/drawing/2014/main" id="{5210EED1-07C3-4E1F-B479-1F5ABD1D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intervalo</a:t>
            </a:r>
          </a:p>
        </p:txBody>
      </p:sp>
      <p:sp>
        <p:nvSpPr>
          <p:cNvPr id="16" name="recap-5-box">
            <a:extLst xmlns:a="http://schemas.openxmlformats.org/drawingml/2006/main">
              <a:ext uri="{FF2B5EF4-FFF2-40B4-BE49-F238E27FC236}">
                <a16:creationId xmlns:a16="http://schemas.microsoft.com/office/drawing/2014/main" id="{D830A2F2-C5EF-48E7-8C40-D31BDEDD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7" name="recap-5-title">
            <a:extLst xmlns:a="http://schemas.openxmlformats.org/drawingml/2006/main">
              <a:ext uri="{FF2B5EF4-FFF2-40B4-BE49-F238E27FC236}">
                <a16:creationId xmlns:a16="http://schemas.microsoft.com/office/drawing/2014/main" id="{DBACE519-1C02-4E0C-8770-D366066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8" name="recap-5-body">
            <a:extLst xmlns:a="http://schemas.openxmlformats.org/drawingml/2006/main">
              <a:ext uri="{FF2B5EF4-FFF2-40B4-BE49-F238E27FC236}">
                <a16:creationId xmlns:a16="http://schemas.microsoft.com/office/drawing/2014/main" id="{B1E96C1B-D254-4C81-ADDC-41A2480A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posición y ambiente</a:t>
            </a:r>
          </a:p>
        </p:txBody>
      </p:sp>
      <p:sp>
        <p:nvSpPr>
          <p:cNvPr id="19" name="recap-6-box">
            <a:extLst xmlns:a="http://schemas.openxmlformats.org/drawingml/2006/main">
              <a:ext uri="{FF2B5EF4-FFF2-40B4-BE49-F238E27FC236}">
                <a16:creationId xmlns:a16="http://schemas.microsoft.com/office/drawing/2014/main" id="{CE5279A5-5BA2-4601-B0D2-61A099C9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52625"/>
            <a:ext cx="1762125" cy="27146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20" name="recap-6-title">
            <a:extLst xmlns:a="http://schemas.openxmlformats.org/drawingml/2006/main">
              <a:ext uri="{FF2B5EF4-FFF2-40B4-BE49-F238E27FC236}">
                <a16:creationId xmlns:a16="http://schemas.microsoft.com/office/drawing/2014/main" id="{967ED39F-98B9-439D-9E9C-4B28BF44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08597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1" name="recap-6-body">
            <a:extLst xmlns:a="http://schemas.openxmlformats.org/drawingml/2006/main">
              <a:ext uri="{FF2B5EF4-FFF2-40B4-BE49-F238E27FC236}">
                <a16:creationId xmlns:a16="http://schemas.microsoft.com/office/drawing/2014/main" id="{ABCB88D0-7FA1-48BF-B204-566E69DE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466975"/>
            <a:ext cx="1419225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instrumento y verificación. Pregunta: complete “72 dB”.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6F00774A-DC72-4165-B9C8-CB92485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cifra aislada no conserva la cadena que la produjo.</a:t>
            </a:r>
          </a:p>
        </p:txBody>
      </p:sp>
      <p:sp>
        <p:nvSpPr>
          <p:cNvPr id="23" name="credit">
            <a:extLst xmlns:a="http://schemas.openxmlformats.org/drawingml/2006/main">
              <a:ext uri="{FF2B5EF4-FFF2-40B4-BE49-F238E27FC236}">
                <a16:creationId xmlns:a16="http://schemas.microsoft.com/office/drawing/2014/main" id="{F0D27F4C-62A1-4548-84B0-76445AC6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5.11–5.13.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3353AC-1B36-46BE-BD59-FF8AD21E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Una pregunta profesional determina la representación adecuada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EF9100-86EA-4E1A-9481-D9E7E08F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Elegir la herramienta comienza por identificar el objeto.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099149D-2DB2-4E3F-BC9E-D25FA011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125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1B017EBA-157B-4C4D-B536-C3E0A72E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¿Cuándo cambia?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→ forma temporal.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frecuencias contiene?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→ espectro.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¿Cómo evoluciona?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→ espectrograma. ¿Cómo transforma un dispositivo? → respuesta. ¿Qué ocurre por bandas? → medición por bandas.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4DC0A664-E606-4E5E-848A-9D55EB61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BBEC1B85-CA62-4ACD-B9FE-72948DD4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F3104042-2028-4BED-B940-DC9CE420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cinco preguntas profesionales breves.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3C375B8D-3F78-4FF6-BCBC-8FC626C1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Representaciones distintas no son intercambiables.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F6D1B10A-9911-484B-9BFE-9AA978AF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BR; TEX 5.12; EP.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1B6013-67E3-4609-BDA2-2F97755D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Caso integrador: vocal, espectro y dispositivo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F14ABA-A0E3-47D5-8058-37505C24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Separe datos de señal, registro y sistema antes de calcular.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A0F9ADD-66A9-4061-90F5-062A276E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126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FF97DFA4-E27F-4712-9AD0-F4CFF538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239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BB0F89C-6346-4D02-A927-31330A3B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8E223785-1083-48E9-BD69-5F16030C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6896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Vocal: fₛ=8000 Hz; N=4000; armónicos cada 200 Hz; máximo de envolvente en 1000 Hz.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Dispositivo a 1000 Hz: pᵢₙ=0,020 Pa; pₒᵤₜ=0,010 Pa; retardo=0,50 ms.</a:t>
            </a:r>
          </a:p>
        </p:txBody>
      </p:sp>
      <p:sp>
        <p:nvSpPr>
          <p:cNvPr id="7" name="answer-routine-box">
            <a:extLst xmlns:a="http://schemas.openxmlformats.org/drawingml/2006/main">
              <a:ext uri="{FF2B5EF4-FFF2-40B4-BE49-F238E27FC236}">
                <a16:creationId xmlns:a16="http://schemas.microsoft.com/office/drawing/2014/main" id="{8C487835-442A-43A5-9CF5-C4A78ADE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answer-routine-title">
            <a:extLst xmlns:a="http://schemas.openxmlformats.org/drawingml/2006/main">
              <a:ext uri="{FF2B5EF4-FFF2-40B4-BE49-F238E27FC236}">
                <a16:creationId xmlns:a16="http://schemas.microsoft.com/office/drawing/2014/main" id="{41D3B74F-0AEC-4382-AA34-4337FE44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 xmlns:a="http://schemas.openxmlformats.org/drawingml/2006/main">
              <a:ext uri="{FF2B5EF4-FFF2-40B4-BE49-F238E27FC236}">
                <a16:creationId xmlns:a16="http://schemas.microsoft.com/office/drawing/2014/main" id="{05B93EF9-B68F-48EA-B12C-A26A250F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85975"/>
            <a:ext cx="28003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Clasifique cada dato: registro, señal o sistema.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Calcule Tobs, Δf y f₀.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Calcule |H|, G y fase.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Separe f₀ del máximo de envolvente.</a:t>
            </a:r>
          </a:p>
        </p:txBody>
      </p:sp>
      <p:sp>
        <p:nvSpPr>
          <p:cNvPr id="10" name="exercise-equation">
            <a:extLst xmlns:a="http://schemas.openxmlformats.org/drawingml/2006/main">
              <a:ext uri="{FF2B5EF4-FFF2-40B4-BE49-F238E27FC236}">
                <a16:creationId xmlns:a16="http://schemas.microsoft.com/office/drawing/2014/main" id="{298A40C8-6B64-4022-ADA5-21A1B5D7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903163"/>
                </a:solidFill>
                <a:latin typeface="Cambria Math"/>
                <a:ea typeface="Cambria Math"/>
                <a:cs typeface="Cambria Math"/>
              </a:rPr>
              <a:t>Datos suficientes para resolver; declare unidades y frecuencia de evaluación.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25182DEA-CF0F-45EB-BC34-AF248032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resolver hasta clasificar cada dato por objeto.</a:t>
            </a:r>
          </a:p>
        </p:txBody>
      </p:sp>
      <p:sp>
        <p:nvSpPr>
          <p:cNvPr id="12" name="credit">
            <a:extLst xmlns:a="http://schemas.openxmlformats.org/drawingml/2006/main">
              <a:ext uri="{FF2B5EF4-FFF2-40B4-BE49-F238E27FC236}">
                <a16:creationId xmlns:a16="http://schemas.microsoft.com/office/drawing/2014/main" id="{0E8765E9-93E9-4C2C-98B4-55C0742C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pregunta I1.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FA8E8-8DEF-4FFF-9067-A7D53995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Resolver exige separar señal, sistema y condiciones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E250B7-41B5-499B-A182-93BC37E2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ruta de solución, no una repetición de todas las fórmulas.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FCC3D2C-EE11-4694-B4FD-85D43319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127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A6A9A5CD-6BFC-44AC-A32D-46DA6B12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9E59B0DA-3963-49CA-92AF-FDFDB0DD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Tobs=0,50 s · Δf=2 Hz · f₀=200 Hz · |H|=0,50 · G=−6,02 dB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F4A8D298-F5B5-4024-8BA6-CD0DB1F0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7339FA59-3255-49F9-9A1C-5BB15E9A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62F3B97-318A-4C1D-9981-2C899D21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Registro: 0,50 s y 2 Hz. Señal: f₀=200 Hz; 1000 Hz es máximo de envolvente, no la fundamental.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B8667A7A-DD4B-48C9-B340-AFEBB38E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E41AC38E-4B3F-4E6A-B18F-1218B3BC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8A84675E-38B6-44D9-A2CF-ED30578A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 a 1000 Hz: |H|=0,50; G=−6,02 dB; fase=−180° para τ=0,50 ms.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9B7E5FB9-32B1-4CA4-92F2-819621FD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resultado pertenece primero a un objeto.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D6332176-DA1B-44A9-B2AA-D5B03244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solución I1.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1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A2871A-F805-4B0A-B43A-327610FB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Ocho atajos que cambian el significado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8B8C67-0862-4519-96FA-1C89C4AF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Corrija cada afirmación con una evidencia.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4C7EC1D-1012-4C25-8EB0-17456ADB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128</a:t>
            </a:r>
          </a:p>
        </p:txBody>
      </p:sp>
      <p:sp>
        <p:nvSpPr>
          <p:cNvPr id="4" name="error-box">
            <a:extLst xmlns:a="http://schemas.openxmlformats.org/drawingml/2006/main">
              <a:ext uri="{FF2B5EF4-FFF2-40B4-BE49-F238E27FC236}">
                <a16:creationId xmlns:a16="http://schemas.microsoft.com/office/drawing/2014/main" id="{BC265BF2-175A-48F6-AEF8-B79A4AB7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9532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error-title">
            <a:extLst xmlns:a="http://schemas.openxmlformats.org/drawingml/2006/main">
              <a:ext uri="{FF2B5EF4-FFF2-40B4-BE49-F238E27FC236}">
                <a16:creationId xmlns:a16="http://schemas.microsoft.com/office/drawing/2014/main" id="{D4185E48-A0DD-488D-976C-A1C9377F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661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 xmlns:a="http://schemas.openxmlformats.org/drawingml/2006/main">
              <a:ext uri="{FF2B5EF4-FFF2-40B4-BE49-F238E27FC236}">
                <a16:creationId xmlns:a16="http://schemas.microsoft.com/office/drawing/2014/main" id="{30D9B5BC-95EF-4156-B458-9B09A9E5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66103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FFT=intensidad; espectro=respuesta; máximo=f₀; bin=banda; ventana corrige todo; octava=Hz fijo; A=audición; L_eq=promedio de dB.</a:t>
            </a:r>
          </a:p>
        </p:txBody>
      </p:sp>
      <p:sp>
        <p:nvSpPr>
          <p:cNvPr id="7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2790B2F1-D0A5-47BA-A4BD-2FA1C805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19500" cy="371475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D496A92A-FBC9-4E5E-AB81-BA261B5D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097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F67A96B6-EB89-44EB-A988-E797B912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90725"/>
            <a:ext cx="3276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error se acompaña por una corrección de una línea.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1B6170F7-5AAF-40EC-AF79-2DD42A4A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precisión terminológica protege la interpretación física.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AEAA4058-37AD-4CB5-8B1F-E3E77F6A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5.13; BR.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36AD16-0C49-478F-9950-DB1AC28D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De una señal registrada a una medición interpretable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9B1BE2-80BF-4B3E-AF65-CAED1800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Objeto, representación, método, parámetros y límites forman una cadena.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4605D73-BCAF-4784-A519-52434E63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129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C627021F-148A-44CD-B102-CEC39EE7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73117899-29CA-4B7F-9915-B657198D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 · Señal tiempo y RMS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EE33C80F-F645-4F58-A8BC-CD470AA8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7A54850C-4816-4570-A80A-C86B1ED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 · Fourier serie y DFT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9CD34666-9F97-4367-A655-D4AD404F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D191DA3E-9601-41E1-8C90-5AC4E836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Lectura sistemas y bandas</a:t>
            </a:r>
          </a:p>
        </p:txBody>
      </p:sp>
      <p:sp>
        <p:nvSpPr>
          <p:cNvPr id="10" name="process-4">
            <a:extLst xmlns:a="http://schemas.openxmlformats.org/drawingml/2006/main">
              <a:ext uri="{FF2B5EF4-FFF2-40B4-BE49-F238E27FC236}">
                <a16:creationId xmlns:a16="http://schemas.microsoft.com/office/drawing/2014/main" id="{625C571E-6B4D-4B8D-BAC2-37F3EEDF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9E05404F-BD59-452A-9375-14DD1ED0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 · Medición ponderación y descriptor</a:t>
            </a:r>
          </a:p>
        </p:txBody>
      </p:sp>
      <p:cxnSp>
        <p:nvCxnSpPr>
          <p:cNvPr id="44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194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45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626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46" name="process-arrow-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058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5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DBB1DC17-1909-4AEA-AAC4-88F55BD6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94B1D824-80A8-4597-A021-B7412B33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Tobs=N/fₛ · Y=HX · RD=Lsup−Linf</a:t>
            </a:r>
          </a:p>
        </p:txBody>
      </p:sp>
      <p:sp>
        <p:nvSpPr>
          <p:cNvPr id="17" name="caption">
            <a:extLst xmlns:a="http://schemas.openxmlformats.org/drawingml/2006/main">
              <a:ext uri="{FF2B5EF4-FFF2-40B4-BE49-F238E27FC236}">
                <a16:creationId xmlns:a16="http://schemas.microsoft.com/office/drawing/2014/main" id="{D98890AA-C7E8-4B70-A3F3-C0E0E346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Interpretar es conservar la trazabilidad de cada transformación.</a:t>
            </a:r>
          </a:p>
        </p:txBody>
      </p:sp>
      <p:sp>
        <p:nvSpPr>
          <p:cNvPr id="18" name="credit">
            <a:extLst xmlns:a="http://schemas.openxmlformats.org/drawingml/2006/main">
              <a:ext uri="{FF2B5EF4-FFF2-40B4-BE49-F238E27FC236}">
                <a16:creationId xmlns:a16="http://schemas.microsoft.com/office/drawing/2014/main" id="{62E94FD8-01DF-467D-86F3-27B2013B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PO; TEX 5.1–5.14; CM; CDM.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1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39EE1C-BD3C-447A-A91C-74FB3ABE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¿Qué podés explicar ahora que al inicio no podías?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F0BEE0-2EBC-4F9E-A89F-BEA9A020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Recuperación sin calificación punitiva.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46B1C3A-352E-4317-865A-6BD05670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130</a:t>
            </a:r>
          </a:p>
        </p:txBody>
      </p:sp>
      <p:sp>
        <p:nvSpPr>
          <p:cNvPr id="4" name="question-box">
            <a:extLst xmlns:a="http://schemas.openxmlformats.org/drawingml/2006/main">
              <a:ext uri="{FF2B5EF4-FFF2-40B4-BE49-F238E27FC236}">
                <a16:creationId xmlns:a16="http://schemas.microsoft.com/office/drawing/2014/main" id="{611C92C0-245F-4CD7-BF49-D55FC056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7239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1B0D8B1-E672-4F0D-8EC9-D94BAFAE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04975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9BD220F3-1035-47FA-AA00-E3EDA98F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68961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Vuelva a U05-002 y U05-003. Elija cuatro acciones: identificar objeto; leer ejes; justificar f₀; distinguir señal/sistema; calcular banda; reconocer filtro; completar descriptor; limitar inferencia.</a:t>
            </a:r>
          </a:p>
        </p:txBody>
      </p:sp>
      <p:sp>
        <p:nvSpPr>
          <p:cNvPr id="7" name="answer-routine-box">
            <a:extLst xmlns:a="http://schemas.openxmlformats.org/drawingml/2006/main">
              <a:ext uri="{FF2B5EF4-FFF2-40B4-BE49-F238E27FC236}">
                <a16:creationId xmlns:a16="http://schemas.microsoft.com/office/drawing/2014/main" id="{61A22B83-535C-487C-B22A-57680DB4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answer-routine-title">
            <a:extLst xmlns:a="http://schemas.openxmlformats.org/drawingml/2006/main">
              <a:ext uri="{FF2B5EF4-FFF2-40B4-BE49-F238E27FC236}">
                <a16:creationId xmlns:a16="http://schemas.microsoft.com/office/drawing/2014/main" id="{BF0F57EA-A49B-49DD-BBC7-07D94CBB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049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 xmlns:a="http://schemas.openxmlformats.org/drawingml/2006/main">
              <a:ext uri="{FF2B5EF4-FFF2-40B4-BE49-F238E27FC236}">
                <a16:creationId xmlns:a16="http://schemas.microsoft.com/office/drawing/2014/main" id="{02AB5864-51B0-40DA-89EE-68D5957B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85975"/>
            <a:ext cx="28003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D8B43E32-6601-4839-87A9-52CF4789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Comprender incluye reconocer qué información falta.</a:t>
            </a:r>
          </a:p>
        </p:txBody>
      </p:sp>
      <p:sp>
        <p:nvSpPr>
          <p:cNvPr id="11" name="credit">
            <a:extLst xmlns:a="http://schemas.openxmlformats.org/drawingml/2006/main">
              <a:ext uri="{FF2B5EF4-FFF2-40B4-BE49-F238E27FC236}">
                <a16:creationId xmlns:a16="http://schemas.microsoft.com/office/drawing/2014/main" id="{B3C1DE23-99DA-42F3-BBF0-5F86F97B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BR objetivos; U05-002–007.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14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30F6C3D-6145-43B0-B3F7-802E73EF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8DDE4"/>
                </a:solidFill>
                <a:latin typeface="Calibri"/>
                <a:ea typeface="Calibri"/>
                <a:cs typeface="Calibri"/>
              </a:rPr>
              <a:t>U5 · AMPLIACIÓN · 131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9A2729E4-0B9F-4C51-BC42-64E5D386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oído también responde de manera diferente según frecuencia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EA433E42-996C-462E-8550-793800C5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Puente a Unidad 6: un sistema biológico, no una FFT.</a:t>
            </a:r>
          </a:p>
        </p:txBody>
      </p:sp>
      <p:sp>
        <p:nvSpPr>
          <p:cNvPr id="4" name="divider-content">
            <a:extLst xmlns:a="http://schemas.openxmlformats.org/drawingml/2006/main">
              <a:ext uri="{FF2B5EF4-FFF2-40B4-BE49-F238E27FC236}">
                <a16:creationId xmlns:a16="http://schemas.microsoft.com/office/drawing/2014/main" id="{FB4B320E-F32B-47E3-9F67-9086C027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Señal acústica → oído externo y medio → cóclea. Pregunta: ¿cómo se transforma físicamente la señal?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1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201F09-7787-4584-98D8-1CD8253E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Fuentes y recursos para continuar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1DE0F2-0874-4B57-A9D0-0263434C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Jerarquía y trazabilidad antes de ampliar.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B734392-0D48-419B-9FCD-619E5234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CENTRAL · 132</a:t>
            </a:r>
          </a:p>
        </p:txBody>
      </p:sp>
      <p:sp>
        <p:nvSpPr>
          <p:cNvPr id="4" name="reference-groups-box">
            <a:extLst xmlns:a="http://schemas.openxmlformats.org/drawingml/2006/main">
              <a:ext uri="{FF2B5EF4-FFF2-40B4-BE49-F238E27FC236}">
                <a16:creationId xmlns:a16="http://schemas.microsoft.com/office/drawing/2014/main" id="{CE30D365-E5EF-4528-96CE-459B5E59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76250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5" name="reference-groups-title">
            <a:extLst xmlns:a="http://schemas.openxmlformats.org/drawingml/2006/main">
              <a:ext uri="{FF2B5EF4-FFF2-40B4-BE49-F238E27FC236}">
                <a16:creationId xmlns:a16="http://schemas.microsoft.com/office/drawing/2014/main" id="{8ECC2E5C-AA41-4153-9195-34C650F5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383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Fuentes principales</a:t>
            </a:r>
          </a:p>
        </p:txBody>
      </p:sp>
      <p:sp>
        <p:nvSpPr>
          <p:cNvPr id="6" name="reference-groups-list">
            <a:extLst xmlns:a="http://schemas.openxmlformats.org/drawingml/2006/main">
              <a:ext uri="{FF2B5EF4-FFF2-40B4-BE49-F238E27FC236}">
                <a16:creationId xmlns:a16="http://schemas.microsoft.com/office/drawing/2014/main" id="{6F828C22-1458-4BD2-8304-3C9CEAD0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4095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Programa oficial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Libro del curso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Normas IEC e ISO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Bibliografía de voz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Recursos del aula verificados</a:t>
            </a:r>
          </a:p>
        </p:txBody>
      </p:sp>
      <p:sp>
        <p:nvSpPr>
          <p:cNvPr id="7" name="verified-links">
            <a:extLst xmlns:a="http://schemas.openxmlformats.org/drawingml/2006/main">
              <a:ext uri="{FF2B5EF4-FFF2-40B4-BE49-F238E27FC236}">
                <a16:creationId xmlns:a16="http://schemas.microsoft.com/office/drawing/2014/main" id="{D3B65260-E0B7-4387-BF0A-E35BA66B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619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FF8FA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  <p:txBody>
          <a:bodyPr xmlns:a="http://schemas.openxmlformats.org/drawingml/2006/main" wrap="square" lIns="190500" tIns="171450" rIns="190500" bIns="17145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Enlaces oficiales verificados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87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u="sng">
                <a:solidFill>
                  <a:srgbClr val="3D3D3D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54982e0d2b8402f"/>
              </a:rPr>
              <a:t>IEC 61672-1:2013
Sonómetros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87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u="sng">
                <a:solidFill>
                  <a:srgbClr val="3D3D3D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39cb0ef1ff942d6"/>
              </a:rPr>
              <a:t>IEC 61260-1:2014
Filtros de octava y fracciones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87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00" u="sng">
                <a:solidFill>
                  <a:srgbClr val="3D3D3D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af142a80e5c4d24"/>
              </a:rPr>
              <a:t>NIOSH Sound Level Meter App</a:t>
            </a:r>
          </a:p>
        </p:txBody>
      </p:sp>
      <p:sp>
        <p:nvSpPr>
          <p:cNvPr id="8" name="reference-caution">
            <a:extLst xmlns:a="http://schemas.openxmlformats.org/drawingml/2006/main">
              <a:ext uri="{FF2B5EF4-FFF2-40B4-BE49-F238E27FC236}">
                <a16:creationId xmlns:a16="http://schemas.microsoft.com/office/drawing/2014/main" id="{3555E6BB-52C8-40EB-9C5C-8AC4F254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575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Edición y alcance deben comprobarse antes de citar o aplicar una norma.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CA0DBA40-B1A1-4D38-9B29-D7C2213F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Enlaces oficiales verificados al cierre de producción; comprobar edición y acceso antes de citar.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F1BB71A9-AAE2-4794-8F0A-ACC6C050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PO; references.bib; source_analysis.md.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slides/slide1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F92A1B-CA1F-482C-98A9-75A3EDBB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Números complejos: una herramienta para magnitud y fase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FE0655-11AF-4196-9E2E-631290B6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Apoyo matemático a demanda.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7887E5E-5CAA-427B-ADA8-0FF75A78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133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6A2F85B8-DE23-426A-AB38-82875679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427EFFD9-4B59-42BD-BC87-9BD79B4C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j²=−1; X=|X|e^(jφ)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4D8088BD-BAE9-4DB7-BF2D-80CB68D7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E71835BD-160E-4A9D-8D0E-45308CB9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AA84E2D-CDEC-42EE-B8A3-473D6D78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|X|: módulo; φ: fase en rad.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06E7DB73-B637-424C-B72D-4FB40598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D8E7BE37-EDCC-487E-B11E-C9FCBFE0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704BBEFF-1ADA-4499-BEE3-D6130304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vector complejo con magnitud fija.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9A36B10F-691D-4627-BF4A-63E8631D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forma compleja compacta dos componentes matemáticas.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BC1193E9-4184-4029-AD23-ACC96C8A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5.4.3; NOT.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7C1474-B0EE-435C-8400-D09EE271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Cómo se calculan aₙ y bₙ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85E5CE-6F49-4012-95CC-E53D098C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Integrar la coincidencia con seno y coseno sobre un período.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9DFFB84-0047-4DCB-AAF6-5A51D4D9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134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9FC4DF7C-8A5D-4E9F-B4BE-6E39C684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F772E3D6-4A72-4A90-83B6-A59DA6E2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aₙ=(2/T₀)∫₀ᵀ⁰x(t)cos(2πnf₀t)dt; bₙ=(2/T₀)∫₀ᵀ⁰x(t)sin(2πnf₀t)dt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19892BD7-6FE6-48CD-A54F-997F2893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739D5C46-4F9C-46E8-99F4-9EAF981F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D1D7DBC-442F-4621-AABE-6261318E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Proyección: medida de semejanza bajo el producto e integración definidos.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FE2E7142-8F0E-4217-BEAC-411B54D8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F2088FDF-3BDE-4FE6-B6A4-6CD8CBAE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A610C9B-A749-4083-A22F-6D93B189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simetría par favorece términos coseno.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72722A26-B874-4F95-BBA7-55FD76FC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Formalismo de consulta; no requiere resolver integrales en el núcleo.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8375BEB0-1DD8-4EC2-A0A2-245BC857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5.4.1.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603166-3B92-41E5-8071-856B671B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Convención y unidades de la transformada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BF1F88-EBA1-4CE4-9877-9E19FFF4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amplitudes absolutas dependen de definición y normalización.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99040E0-1DC7-45C8-B18B-CE2A5658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135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1D74968B-AD0B-422A-9338-B44F36BD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EB3AA9AB-FA69-4701-BE5A-0C17A63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X(f)=∫₋∞⁺∞x(t) exp(−j2πft)dt; x(t)=∫₋∞⁺∞X(f) exp(j2πft)df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46229465-F6E1-4ABB-BC51-DCDF0CBC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B1D0BA1C-8959-4F88-B3F2-18C4CA67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1371CB73-B9BD-49C4-8B7B-DBCCC0A0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x tiene unidad U, X tiene U·s con esta convención.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9810F600-D529-452A-A166-9D8EB0DA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D6139C61-FA17-4FA2-9926-ACB56613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89A168A8-FAF1-4F6F-94D5-74B539F1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en Pa → transformada en Pa·s.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C518A327-4F97-4164-9686-CED3BFAB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comparar amplitudes de espectros con normalizaciones distintas.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69D5231A-E854-4AE2-BD7C-157DDA29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5.4.3; NOT.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C3D687-CD40-4B27-8F24-68418C0B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DFT: índices, frecuencias y normalización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40C066-57B9-4D33-9C2B-37EF6507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Referencia técnica reproducible.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4C11B82-DAE9-4D25-80F3-E2DA1BF6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136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E0B2F6AD-E975-4FE7-A101-592487E2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21F14DF2-959A-422B-9D04-A8A8A829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X[k]=Σₙ₌₀ᴺ⁻¹ x[n] exp(−j2πkn/N); fₖ=kfₛ/N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3AF7E6AE-B131-40E6-9B45-7B2A07FB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1111BA16-CEB7-47E3-976F-87132E43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E9DCBC86-5C5C-424F-BC3F-8254138B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n,k adimensionales; fₖ en Hz.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7F1F2852-0753-4442-8583-003E3766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F9A1C423-B39A-4771-92F8-DF0EBDA7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F8B856C0-C11C-4E23-AF7F-04F426EE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bins asociados con k=0,1,2….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20F6B690-A0D6-4AA4-8751-16C87159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fórmula no determina por sí sola la ordenada graficada.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F6E43209-5D0B-47E5-BA3D-9EFA7ED2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5.4.4; NOT; EP.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49046D-E63D-4ACC-8EF8-D7AC2596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Muestreo y aliasing: límite conceptual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7CFFC1-E174-4CFE-80DC-EFD01619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Frecuencias continuas diferentes pueden compartir las mismas muestras.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58F9005-08A1-427B-9C05-BD3FACF5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137</a:t>
            </a:r>
          </a:p>
        </p:txBody>
      </p:sp>
      <p:pic>
        <p:nvPicPr>
          <p:cNvPr id="15" name="U05-137-U05-CH-0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3ccc3f3b6451d">
            <a:extLst>
              <a:ext uri="{96DAC541-7B7A-43D3-8B79-37D633B846F1}">
                <asvg:svgBlip xmlns:asvg="http://schemas.microsoft.com/office/drawing/2016/SVG/main" r:embed="R70a8e708b6b146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AD696DFA-2D95-4EBA-897E-F4BA35B2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4B17E796-56DD-4197-B9A4-3CA583AF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89EE9438-560E-49C9-8DAC-EE12A6E8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fₛ, dos senoides candidatas, puntos coincidentes. El límite de Nyquist requiere condiciones y no se evalúa en la ruta central.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8532D545-5922-4D23-9B4A-4D573F16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muestras no conservan información ilimitada.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1BCDE8C1-A857-40F7-90AD-DF72CCF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OD-U05-22; NOT; EP.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74795C-AA69-4FF0-9C8A-6A8B6187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Ventanas: ninguna gana en todos los criterios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C21412-AA41-4C9E-8EA5-8FDDF276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Seleccionar según separación, rango dinámico y amplitud.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471BC9E-3907-4B79-BB08-D5740AC5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138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6F03644A-3A17-466C-A90B-49EBA4C8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Rectangular y Hann: comparar lóbulo principal, laterales y corrección de amplitud.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Tercera ventana solo con fuente documentada.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47DBFA12-52E6-4CDD-8F6A-987EAB80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04C9E5C2-E796-467C-A3A6-1DD5285B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ECAFC95A-916B-430D-92EA-8D7266EE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Normalización común necesaria para comparar respuestas.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E64206C8-53FD-4B67-BF49-13F380F8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Rectangular y Hann se comparan con la misma normalización: resolución, fuga y amplitud estimada.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C6D67C29-52CA-4564-839C-3A1A098F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existe una ventana universalmente superior.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5115033A-E529-4CB0-90E8-672D975E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5.4.5; SciPy documenta las ventanas usadas en el script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16A622-A9B7-45E9-8939-908FA40E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Sumar bins compatibles dentro de una banda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5A7F00-BD9D-448B-A33C-525A7B78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Dos contribuciones de 50 dB no producen 100 dB.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0CCE2DE-B26B-4554-878F-5B080DDB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139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073916F5-461F-4C6F-B663-013FDD22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9DA3E023-2B21-4A3F-BD29-DC640ABB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LB = 10 log₁₀(10^(50/10)+10^(50/10)) = 53,01 dB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ADFB017E-E565-41F6-966A-811F6798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7B6388A3-758B-4545-A681-D0329CC5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9448AE09-8652-41A1-9E64-E272E361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referencia común y contribuciones compatibles.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5CD7B970-2FE5-47C5-AB1F-6C962704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C0D84992-38C5-4726-AA39-9D704459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1E04D00F-55F9-491C-A4D9-09567514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 53,01 dB.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E350D7DC-13F3-451A-8B7C-8F9DAFD4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suma se realiza antes del logaritmo.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A2ADFE99-6E05-4F2B-882C-3333C6A1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ejercicio A3.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841370-9431-4D18-A831-5508C89D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Ganancia y fase de un dispositivo con retardo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8E5CB1-AFD3-4C3D-845F-FF5C9D60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Magnitud y fase describen aspectos diferentes.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DED7CD4-2021-4951-A0A2-72C40422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140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44A603FA-8486-4D2E-86F1-FD0734B3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CAAB72A7-8B56-43E8-8196-F8BE6E94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G(f)=20 log₁₀|H(f)|; φH(f)=−2πfτ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4EC1D04E-20C3-426F-8D54-D2CA94EB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2402CF73-D453-44C0-A549-2D2B5FDE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2A26176B-DA1B-4B89-9945-3254CE2D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ganancia en dB; fase en grados o radianes, convención declarada.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8CF15699-E333-4274-8E22-FE28351A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EF2C888B-1A38-4521-B7CC-0310AAE8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5788BE49-A6F9-49D7-9DB8-1F65D5E4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ejercicio A5.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82D3AD7D-9F05-4146-A817-C2775191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Igual ganancia no implica igual fase.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A88170E2-052A-47C6-94A2-25699167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ejercicio A5.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888E17-F539-4A06-917C-1A2285AB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Modelo fuente–filtro de voz: alcance y límites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1B5C7F-D309-4DBC-BFF6-94608C8D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envolvente depende también de radiación, sensor y método.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14C7A60-5125-4752-9CDE-555B3AAE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141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BC085D2C-D8D9-4F38-A3B0-DFE06B7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C3067815-8F8C-4F1A-8378-C8EEA7BC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 armónicos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0FCF43DA-2CB6-448B-9E25-9BE19B46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97718113-220F-47F8-8C3A-1D90ADB3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Tracto vocal formantes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93E05084-1DA0-409A-8C28-40A32A8A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C15DE87B-5CE4-48A0-B2FA-00DFBACC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 señal filtrada</a:t>
            </a:r>
          </a:p>
        </p:txBody>
      </p:sp>
      <p:cxnSp>
        <p:nvCxnSpPr>
          <p:cNvPr id="36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910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37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342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2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3549F817-FFEB-4443-914D-296B4218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13" name="equation">
            <a:extLst xmlns:a="http://schemas.openxmlformats.org/drawingml/2006/main">
              <a:ext uri="{FF2B5EF4-FFF2-40B4-BE49-F238E27FC236}">
                <a16:creationId xmlns:a16="http://schemas.microsoft.com/office/drawing/2014/main" id="{D13A4976-E182-4DE7-9ED8-32657738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Salida=Fuente×Filtro como modelo introductorio.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A9803116-90B4-4FCC-B1B0-E5CC2C80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Respaldo para profundizar formantes sin introducir jitter o shimmer.</a:t>
            </a:r>
          </a:p>
        </p:txBody>
      </p:sp>
      <p:sp>
        <p:nvSpPr>
          <p:cNvPr id="15" name="credit">
            <a:extLst xmlns:a="http://schemas.openxmlformats.org/drawingml/2006/main">
              <a:ext uri="{FF2B5EF4-FFF2-40B4-BE49-F238E27FC236}">
                <a16:creationId xmlns:a16="http://schemas.microsoft.com/office/drawing/2014/main" id="{3B77CFCF-1C5C-4DEE-AB97-7D2A929B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5.5 y 5.12; Brockmann2011.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8D27F2-03AA-4893-84E3-6C8480E1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Rangos dinámicos: qué debe declarar una fuente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DA0DA7-74EE-4EB1-BCA8-C90F1AB7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Contrato de trazabilidad antes de incorporar cifras.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B76E491-140E-4C6B-8D83-E9DCB06C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142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CAD2927F-2EF0-4F8F-87E3-AC5B3157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6EAECE4C-0B60-4CD3-BEA0-4F2DCBE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RD=Lsup−Linf.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DB9321F8-0B57-4BDA-90B3-FA79C518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ADAE629F-FDD1-4B90-94D1-4253B263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6DCBFD4F-3550-4DF3-B9BC-87B9D6E5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Declarar nivel inferior y superior, tarea, distancia, orientación, ponderación, descriptor e incertidumbre.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2ED612D3-C688-490E-B1A9-0583AFD9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74D46978-B86C-416A-BEBA-66C71414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8BFF35D6-903B-49CE-9192-39C3D912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RD=Lsup−Linf solo compara niveles compatibles y medidos bajo condiciones declaradas.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C343B83E-03F3-475D-9907-C9234A27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se aprueba ninguna cifra aislada.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BF5E4A9A-D785-4D41-A139-6ECAF6D7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PO; TEX 5.7.2; OD-U05-06/07.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E02351-2B91-428E-ADD3-3494DCD1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Frecuencias centrales nominales requieren norma y edición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0A2D54-4502-401E-BC53-577EAFEB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Cálculo exacto y serie nominal no son sinónimos.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662BE18-341A-4830-AB7D-25D3B29C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143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8A5EFB9B-45A6-4E7A-861A-377BA795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243AF3E7-EC14-43CB-99A3-A07155B2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fc=√(fLfH).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5B1C908E-36EC-4F9E-A01D-9C55537A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C78CA761-4633-47F0-B384-CACD11A1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33BA886C-863F-4322-9044-DB20539E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Serie nominal: conjunto de valores redondeados definido por una norma y edición.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CECD545B-73DD-4F78-AAA1-EE7876FF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BEAF680D-C2EC-46B9-80B1-E90024A2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1F93D63D-71F2-49AB-B2F8-C477381A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centro exacto calculado puede diferir del centro nominal redondeado de una serie normalizada.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9EC8F1D4-ADEF-482F-891A-FF68DFBE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cálculo exacto y la serie nominal normalizada no son sinónimos.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88460FD0-8D08-4CD9-B291-53C1C477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5.8; consultar la edición aplicable de IEC 61260-1 para valores nominales.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7A844E-BD20-441A-9E3B-C86733E2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Orden y pendiente de filtro cambian la transición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C72379-C53E-4095-8342-4C612FC0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Dos filtros del mismo tipo pueden responder diferente.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0F98678-5018-48AA-94FE-FDA852EE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144</a:t>
            </a:r>
          </a:p>
        </p:txBody>
      </p:sp>
      <p:pic>
        <p:nvPicPr>
          <p:cNvPr id="15" name="U05-144-U05-CH-0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46ab738f44f48">
            <a:extLst>
              <a:ext uri="{96DAC541-7B7A-43D3-8B79-37D633B846F1}">
                <asvg:svgBlip xmlns:asvg="http://schemas.microsoft.com/office/drawing/2016/SVG/main" r:embed="Re0859b8073be4b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1381125"/>
            <a:ext cx="7524750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D2E6F51C-7924-4D4B-8FBF-802DB742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190875" cy="385762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A02BAA69-9ECF-4909-BF94-9F9D9387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097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558578C1-797D-4C00-A7CD-104FF84A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90725"/>
            <a:ext cx="2847975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Mismo corte conceptual distinto orden. Mayor orden: transición más abrupta en este modelo. Tipo no determina por sí solo fase ni rechazo.</a:t>
            </a:r>
          </a:p>
        </p:txBody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8528A041-5870-4C88-96A3-55A6E07C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Comparación teórica con escala común.</a:t>
            </a:r>
          </a:p>
        </p:txBody>
      </p:sp>
      <p:sp>
        <p:nvSpPr>
          <p:cNvPr id="9" name="credit">
            <a:extLst xmlns:a="http://schemas.openxmlformats.org/drawingml/2006/main">
              <a:ext uri="{FF2B5EF4-FFF2-40B4-BE49-F238E27FC236}">
                <a16:creationId xmlns:a16="http://schemas.microsoft.com/office/drawing/2014/main" id="{D4D68EFF-66A1-4C68-914B-045BC924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fig. 5.7; script U5; EP.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F5556D-7FB3-432D-B01B-D0673E26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Expresiones nominales de A, C y Z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C499ACF-AF52-4D74-9AB4-D72C6EDF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Síntesis cualitativa; las curvas y tolerancias pertenecen a la norma aplicable.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1BB01F9-F8D1-48F1-A511-FB0ACEDA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145</a:t>
            </a:r>
          </a:p>
        </p:txBody>
      </p:sp>
      <p:sp>
        <p:nvSpPr>
          <p:cNvPr id="4" name="weight-a-box">
            <a:extLst xmlns:a="http://schemas.openxmlformats.org/drawingml/2006/main">
              <a:ext uri="{FF2B5EF4-FFF2-40B4-BE49-F238E27FC236}">
                <a16:creationId xmlns:a16="http://schemas.microsoft.com/office/drawing/2014/main" id="{0E5A8AE6-BBC2-4077-B038-93B420F5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319087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weight-a-title">
            <a:extLst xmlns:a="http://schemas.openxmlformats.org/drawingml/2006/main">
              <a:ext uri="{FF2B5EF4-FFF2-40B4-BE49-F238E27FC236}">
                <a16:creationId xmlns:a16="http://schemas.microsoft.com/office/drawing/2014/main" id="{D44656F2-FE0F-4488-A6E1-9825FB66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6" name="weight-a-body">
            <a:extLst xmlns:a="http://schemas.openxmlformats.org/drawingml/2006/main">
              <a:ext uri="{FF2B5EF4-FFF2-40B4-BE49-F238E27FC236}">
                <a16:creationId xmlns:a16="http://schemas.microsoft.com/office/drawing/2014/main" id="{9D6297D5-94D2-4E20-A30C-19B52D50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9908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Atenúa con fuerza las bajas frecuencias. Se informa como dB(A) o dentro del símbolo completo.</a:t>
            </a:r>
          </a:p>
        </p:txBody>
      </p:sp>
      <p:sp>
        <p:nvSpPr>
          <p:cNvPr id="7" name="weight-c-box">
            <a:extLst xmlns:a="http://schemas.openxmlformats.org/drawingml/2006/main">
              <a:ext uri="{FF2B5EF4-FFF2-40B4-BE49-F238E27FC236}">
                <a16:creationId xmlns:a16="http://schemas.microsoft.com/office/drawing/2014/main" id="{A2908733-8B5C-4C40-BBF2-BC1C91D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319087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weight-c-title">
            <a:extLst xmlns:a="http://schemas.openxmlformats.org/drawingml/2006/main">
              <a:ext uri="{FF2B5EF4-FFF2-40B4-BE49-F238E27FC236}">
                <a16:creationId xmlns:a16="http://schemas.microsoft.com/office/drawing/2014/main" id="{EA330B20-E781-428F-97D7-F69049C7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431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9" name="weight-c-body">
            <a:extLst xmlns:a="http://schemas.openxmlformats.org/drawingml/2006/main">
              <a:ext uri="{FF2B5EF4-FFF2-40B4-BE49-F238E27FC236}">
                <a16:creationId xmlns:a16="http://schemas.microsoft.com/office/drawing/2014/main" id="{B3B69BD3-2BA4-4D1B-8623-EC3EE07F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24100"/>
            <a:ext cx="29908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más plana en una región amplia, pero sigue siendo una ponderación de medición.</a:t>
            </a:r>
          </a:p>
        </p:txBody>
      </p:sp>
      <p:sp>
        <p:nvSpPr>
          <p:cNvPr id="10" name="weight-z-box">
            <a:extLst xmlns:a="http://schemas.openxmlformats.org/drawingml/2006/main">
              <a:ext uri="{FF2B5EF4-FFF2-40B4-BE49-F238E27FC236}">
                <a16:creationId xmlns:a16="http://schemas.microsoft.com/office/drawing/2014/main" id="{246331CD-9E92-4911-8EBB-C364179E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3190875"/>
          </a:xfrm>
          <a:prstGeom xmlns:a="http://schemas.openxmlformats.org/drawingml/2006/main" prst="roundRect">
            <a:avLst>
              <a:gd name="adj" fmla="val 417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weight-z-title">
            <a:extLst xmlns:a="http://schemas.openxmlformats.org/drawingml/2006/main">
              <a:ext uri="{FF2B5EF4-FFF2-40B4-BE49-F238E27FC236}">
                <a16:creationId xmlns:a16="http://schemas.microsoft.com/office/drawing/2014/main" id="{4D5CCD8C-6E4F-4552-AD02-5B2657CD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Z</a:t>
            </a:r>
          </a:p>
        </p:txBody>
      </p:sp>
      <p:sp>
        <p:nvSpPr>
          <p:cNvPr id="12" name="weight-z-body">
            <a:extLst xmlns:a="http://schemas.openxmlformats.org/drawingml/2006/main">
              <a:ext uri="{FF2B5EF4-FFF2-40B4-BE49-F238E27FC236}">
                <a16:creationId xmlns:a16="http://schemas.microsoft.com/office/drawing/2014/main" id="{57C45CBD-CDAD-41CE-99A8-FEC75055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29908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nominalmente plana dentro del intervalo y las tolerancias especificadas.</a:t>
            </a:r>
          </a:p>
        </p:txBody>
      </p:sp>
      <p:sp>
        <p:nvSpPr>
          <p:cNvPr id="13" name="weighting-caution">
            <a:extLst xmlns:a="http://schemas.openxmlformats.org/drawingml/2006/main">
              <a:ext uri="{FF2B5EF4-FFF2-40B4-BE49-F238E27FC236}">
                <a16:creationId xmlns:a16="http://schemas.microsoft.com/office/drawing/2014/main" id="{CBBA3FE7-CF11-4302-94DA-5D5B95BA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65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curvas nominales y tolerancias se consultan en la edición aplicable de IEC 61672-1.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54285734-8B9C-4D6E-9FCA-107F04EC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A, C y Z son respuestas de medición, no atributos perceptuales.</a:t>
            </a:r>
          </a:p>
        </p:txBody>
      </p:sp>
      <p:sp>
        <p:nvSpPr>
          <p:cNvPr id="15" name="credit">
            <a:extLst xmlns:a="http://schemas.openxmlformats.org/drawingml/2006/main">
              <a:ext uri="{FF2B5EF4-FFF2-40B4-BE49-F238E27FC236}">
                <a16:creationId xmlns:a16="http://schemas.microsoft.com/office/drawing/2014/main" id="{EBD71648-1344-4B6C-8CE2-37A0ED98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5.10; IEC 61672-1:2013 citada en el libro.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BDAB77-3D72-4569-8967-B6611361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Definición integral de LXeq,T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A4B7D8-0C18-450D-A5FA-11ABE96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Formalización del promedio cuadrático durante un intervalo.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82A3034-C029-4AAD-8E03-3DCD8A7D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146</a:t>
            </a:r>
          </a:p>
        </p:txBody>
      </p:sp>
      <p:sp>
        <p:nvSpPr>
          <p:cNvPr id="4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7D3E9BC6-1B7E-4086-A741-3192EC43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5" name="equation">
            <a:extLst xmlns:a="http://schemas.openxmlformats.org/drawingml/2006/main">
              <a:ext uri="{FF2B5EF4-FFF2-40B4-BE49-F238E27FC236}">
                <a16:creationId xmlns:a16="http://schemas.microsoft.com/office/drawing/2014/main" id="{04BF70E2-ECBA-4BDB-A415-32586DEF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44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LXeq,T = 10 log₁₀[(1/T)∫₀ᵀ pX²(t)/pref² dt]</a:t>
            </a:r>
          </a:p>
        </p:txBody>
      </p:sp>
      <p:sp>
        <p:nvSpPr>
          <p:cNvPr id="6" name="equation-meaning-box">
            <a:extLst xmlns:a="http://schemas.openxmlformats.org/drawingml/2006/main">
              <a:ext uri="{FF2B5EF4-FFF2-40B4-BE49-F238E27FC236}">
                <a16:creationId xmlns:a16="http://schemas.microsoft.com/office/drawing/2014/main" id="{B17153E6-430C-47A6-A436-F2D6A724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equation-meaning-title">
            <a:extLst xmlns:a="http://schemas.openxmlformats.org/drawingml/2006/main">
              <a:ext uri="{FF2B5EF4-FFF2-40B4-BE49-F238E27FC236}">
                <a16:creationId xmlns:a16="http://schemas.microsoft.com/office/drawing/2014/main" id="{08A04FD8-AF43-40C3-A514-FB217705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 xmlns:a="http://schemas.openxmlformats.org/drawingml/2006/main">
              <a:ext uri="{FF2B5EF4-FFF2-40B4-BE49-F238E27FC236}">
                <a16:creationId xmlns:a16="http://schemas.microsoft.com/office/drawing/2014/main" id="{FEA8883B-187E-4B32-B782-1007BC1B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en s; pX en Pa; pref=20 µPa en aire; resultado en dB.</a:t>
            </a:r>
          </a:p>
        </p:txBody>
      </p:sp>
      <p:sp>
        <p:nvSpPr>
          <p:cNvPr id="9" name="equation-use-box">
            <a:extLst xmlns:a="http://schemas.openxmlformats.org/drawingml/2006/main">
              <a:ext uri="{FF2B5EF4-FFF2-40B4-BE49-F238E27FC236}">
                <a16:creationId xmlns:a16="http://schemas.microsoft.com/office/drawing/2014/main" id="{164B880B-62B0-41AC-B139-8370D874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953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equation-use-title">
            <a:extLst xmlns:a="http://schemas.openxmlformats.org/drawingml/2006/main">
              <a:ext uri="{FF2B5EF4-FFF2-40B4-BE49-F238E27FC236}">
                <a16:creationId xmlns:a16="http://schemas.microsoft.com/office/drawing/2014/main" id="{384D8874-9833-4FED-9502-B5243AC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 xmlns:a="http://schemas.openxmlformats.org/drawingml/2006/main">
              <a:ext uri="{FF2B5EF4-FFF2-40B4-BE49-F238E27FC236}">
                <a16:creationId xmlns:a16="http://schemas.microsoft.com/office/drawing/2014/main" id="{33B29F20-908D-485D-8189-51749542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46101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 ponderación A se escribe LAeq,T.</a:t>
            </a:r>
          </a:p>
        </p:txBody>
      </p:sp>
      <p:sp>
        <p:nvSpPr>
          <p:cNvPr id="12" name="caption">
            <a:extLst xmlns:a="http://schemas.openxmlformats.org/drawingml/2006/main">
              <a:ext uri="{FF2B5EF4-FFF2-40B4-BE49-F238E27FC236}">
                <a16:creationId xmlns:a16="http://schemas.microsoft.com/office/drawing/2014/main" id="{FA01E13D-518F-43A2-A89A-87262C1E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integral expresa la misma idea física que el promedio discreto.</a:t>
            </a:r>
          </a:p>
        </p:txBody>
      </p:sp>
      <p:sp>
        <p:nvSpPr>
          <p:cNvPr id="13" name="credit">
            <a:extLst xmlns:a="http://schemas.openxmlformats.org/drawingml/2006/main">
              <a:ext uri="{FF2B5EF4-FFF2-40B4-BE49-F238E27FC236}">
                <a16:creationId xmlns:a16="http://schemas.microsoft.com/office/drawing/2014/main" id="{1966CAB0-85F6-4667-81E4-4761551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5.11.1, ec. 5.21; NOT.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96424A-EF63-4E1F-920E-990BB8A5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Fast, Slow, máximo y pico: referencias de diseño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C3EB33-BF46-4640-833A-B5D9C15B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Constantes orientativas no demuestran conformidad.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69976A4-F13F-43DB-AC28-5AE5C578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147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6ACAD1D5-3894-4616-8519-84FDC572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Fast: 0,125 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Slow: 1 s.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LXYmax: máximo con respuesta temporal Y.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Pico: detector diferente.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Edición normativa obligatoria.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1CB55E13-7EC2-4AB1-80CD-9DD87A80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CFCF5D2B-AAFC-4992-9F24-CD58AA11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EBAEEA62-1651-4296-9F14-A313E452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 y S son respuestas temporales normalizadas.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BA1B64C4-B0EE-498F-8EF6-99093D19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LAFmax y LCpeak son descriptores distintos; Fast y Slow no son detectores de pico.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AB8A20DC-0BBF-45C7-83A6-A1534388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Detalle técnico de respaldo; no es protocolo de ensayo.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D4E1F09E-9F85-4AFD-A218-887CDF01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5.11.2; IEC 61672-1/2.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411A04-0F57-460D-B00E-ED5E6C90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Evaluación de modelo, ensayo periódico y comprobación de campo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DF2178-0991-420C-9782-FCDE45AB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Tres procedimientos, tres alcances documentales.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7A05F40-29E5-4242-A62C-936324BC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148</a:t>
            </a:r>
          </a:p>
        </p:txBody>
      </p:sp>
      <p:sp>
        <p:nvSpPr>
          <p:cNvPr id="4" name="main-ideas">
            <a:extLst xmlns:a="http://schemas.openxmlformats.org/drawingml/2006/main">
              <a:ext uri="{FF2B5EF4-FFF2-40B4-BE49-F238E27FC236}">
                <a16:creationId xmlns:a16="http://schemas.microsoft.com/office/drawing/2014/main" id="{F0AB942A-1DF8-4C8D-8EF2-DFF9C26D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76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>
            <a:noAutofit/>
          </a:bodyPr>
          <a:lstStyle xmlns:a="http://schemas.openxmlformats.org/drawingml/2006/main"/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Evaluación de modelo: diseño.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Ensayo periódico: desempeño del instrumento.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Comprobación de campo: condición antes/después del uso.</a:t>
            </a:r>
          </a:p>
          <a:p xmlns:a="http://schemas.openxmlformats.org/drawingml/2006/main"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 llamarlos a todos “calibración”.</a:t>
            </a:r>
          </a:p>
        </p:txBody>
      </p:sp>
      <p:sp>
        <p:nvSpPr>
          <p:cNvPr id="5" name="side-panel-box">
            <a:extLst xmlns:a="http://schemas.openxmlformats.org/drawingml/2006/main">
              <a:ext uri="{FF2B5EF4-FFF2-40B4-BE49-F238E27FC236}">
                <a16:creationId xmlns:a16="http://schemas.microsoft.com/office/drawing/2014/main" id="{918251AA-BE58-423D-BD80-E4FF1BB2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76625" cy="3381375"/>
          </a:xfrm>
          <a:prstGeom xmlns:a="http://schemas.openxmlformats.org/drawingml/2006/main" prst="roundRect">
            <a:avLst>
              <a:gd name="adj" fmla="val 394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ide-panel-title">
            <a:extLst xmlns:a="http://schemas.openxmlformats.org/drawingml/2006/main">
              <a:ext uri="{FF2B5EF4-FFF2-40B4-BE49-F238E27FC236}">
                <a16:creationId xmlns:a16="http://schemas.microsoft.com/office/drawing/2014/main" id="{EB7ABDF0-7C48-4AC3-85C8-7C2A0EE1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0497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 xmlns:a="http://schemas.openxmlformats.org/drawingml/2006/main">
              <a:ext uri="{FF2B5EF4-FFF2-40B4-BE49-F238E27FC236}">
                <a16:creationId xmlns:a16="http://schemas.microsoft.com/office/drawing/2014/main" id="{C4677A6A-E21F-4F22-8804-5CAB8DB9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85975"/>
            <a:ext cx="31337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propósito, actor, momento y evidencia.</a:t>
            </a:r>
          </a:p>
        </p:txBody>
      </p:sp>
      <p:sp>
        <p:nvSpPr>
          <p:cNvPr id="8" name="example-line">
            <a:extLst xmlns:a="http://schemas.openxmlformats.org/drawingml/2006/main">
              <a:ext uri="{FF2B5EF4-FFF2-40B4-BE49-F238E27FC236}">
                <a16:creationId xmlns:a16="http://schemas.microsoft.com/office/drawing/2014/main" id="{7BCA4106-EFD4-4636-A38F-DBFB8930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Ejemplo: comparación conceptual, no protocolo operativo.</a:t>
            </a:r>
          </a:p>
        </p:txBody>
      </p:sp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F939D97C-4C09-4253-883A-4AFBB9D3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nombre del procedimiento delimita qué puede concluirse.</a:t>
            </a:r>
          </a:p>
        </p:txBody>
      </p:sp>
      <p:sp>
        <p:nvSpPr>
          <p:cNvPr id="10" name="credit">
            <a:extLst xmlns:a="http://schemas.openxmlformats.org/drawingml/2006/main">
              <a:ext uri="{FF2B5EF4-FFF2-40B4-BE49-F238E27FC236}">
                <a16:creationId xmlns:a16="http://schemas.microsoft.com/office/drawing/2014/main" id="{F6827DCC-1E2A-45C6-876E-D18F501C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5.11.3; IEC 61672-2/3.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A84D44-6183-463B-8313-A624F061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Solución completa del caso integrador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A88895-C4F7-43DC-8C05-383A67C6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cálculo se asigna primero a señal o sistema.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223D604-2156-405A-A5FB-46A906EB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149</a:t>
            </a:r>
          </a:p>
        </p:txBody>
      </p:sp>
      <p:sp>
        <p:nvSpPr>
          <p:cNvPr id="4" name="process-1">
            <a:extLst xmlns:a="http://schemas.openxmlformats.org/drawingml/2006/main">
              <a:ext uri="{FF2B5EF4-FFF2-40B4-BE49-F238E27FC236}">
                <a16:creationId xmlns:a16="http://schemas.microsoft.com/office/drawing/2014/main" id="{C3886623-8E08-4464-BC96-CEBD502D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process-1-text">
            <a:extLst xmlns:a="http://schemas.openxmlformats.org/drawingml/2006/main">
              <a:ext uri="{FF2B5EF4-FFF2-40B4-BE49-F238E27FC236}">
                <a16:creationId xmlns:a16="http://schemas.microsoft.com/office/drawing/2014/main" id="{E00E3A24-CA2D-42D5-AE52-4C022395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Registro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0,50 s · 2 Hz</a:t>
            </a:r>
          </a:p>
        </p:txBody>
      </p:sp>
      <p:sp>
        <p:nvSpPr>
          <p:cNvPr id="6" name="process-2">
            <a:extLst xmlns:a="http://schemas.openxmlformats.org/drawingml/2006/main">
              <a:ext uri="{FF2B5EF4-FFF2-40B4-BE49-F238E27FC236}">
                <a16:creationId xmlns:a16="http://schemas.microsoft.com/office/drawing/2014/main" id="{6F882C8B-91FE-4C48-99FD-F243646D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rocess-2-text">
            <a:extLst xmlns:a="http://schemas.openxmlformats.org/drawingml/2006/main">
              <a:ext uri="{FF2B5EF4-FFF2-40B4-BE49-F238E27FC236}">
                <a16:creationId xmlns:a16="http://schemas.microsoft.com/office/drawing/2014/main" id="{6C41EE66-CA19-4D52-8BD2-56A1F3C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f₀=200 Hz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5CA3A318-ADC5-4128-AD61-4D04476E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process-3-text">
            <a:extLst xmlns:a="http://schemas.openxmlformats.org/drawingml/2006/main">
              <a:ext uri="{FF2B5EF4-FFF2-40B4-BE49-F238E27FC236}">
                <a16:creationId xmlns:a16="http://schemas.microsoft.com/office/drawing/2014/main" id="{814E2D9A-6C25-4C0E-8C08-72533C7B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Sistema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|H|=0,50 · G=−6,02 dB</a:t>
            </a:r>
          </a:p>
        </p:txBody>
      </p:sp>
      <p:sp>
        <p:nvSpPr>
          <p:cNvPr id="10" name="process-4">
            <a:extLst xmlns:a="http://schemas.openxmlformats.org/drawingml/2006/main">
              <a:ext uri="{FF2B5EF4-FFF2-40B4-BE49-F238E27FC236}">
                <a16:creationId xmlns:a16="http://schemas.microsoft.com/office/drawing/2014/main" id="{8183FF09-F67B-4F8A-B92B-589E2AAD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2476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process-4-text">
            <a:extLst xmlns:a="http://schemas.openxmlformats.org/drawingml/2006/main">
              <a:ext uri="{FF2B5EF4-FFF2-40B4-BE49-F238E27FC236}">
                <a16:creationId xmlns:a16="http://schemas.microsoft.com/office/drawing/2014/main" id="{015D9DE3-644C-4370-A8B8-ED20CBB5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33625"/>
            <a:ext cx="2209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Fase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−180° a 1000 Hz</a:t>
            </a:r>
          </a:p>
        </p:txBody>
      </p:sp>
      <p:cxnSp>
        <p:nvCxnSpPr>
          <p:cNvPr id="44" name="process-arrow-1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194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45" name="process-arrow-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626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cxnSp>
        <p:nvCxnSpPr>
          <p:cNvPr id="46" name="process-arrow-3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05850" y="29289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74A6"/>
            </a:solidFill>
            <a:prstDash val="solid"/>
            <a:tailEnd type="arrow" w="med" len="med"/>
          </a:ln>
        </p:spPr>
      </p:cxnSp>
      <p:sp>
        <p:nvSpPr>
          <p:cNvPr id="15" name="equation-box">
            <a:extLst xmlns:a="http://schemas.openxmlformats.org/drawingml/2006/main">
              <a:ext uri="{FF2B5EF4-FFF2-40B4-BE49-F238E27FC236}">
                <a16:creationId xmlns:a16="http://schemas.microsoft.com/office/drawing/2014/main" id="{E3161008-75A9-4ABC-9E14-E6FB994F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191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8DDE4"/>
          </a:solidFill>
          <a:ln xmlns:a="http://schemas.openxmlformats.org/drawingml/2006/main" w="19050">
            <a:solidFill>
              <a:srgbClr val="903163"/>
            </a:solidFill>
            <a:prstDash val="solid"/>
          </a:ln>
        </p:spPr>
      </p:sp>
      <p:sp>
        <p:nvSpPr>
          <p:cNvPr id="16" name="equation">
            <a:extLst xmlns:a="http://schemas.openxmlformats.org/drawingml/2006/main">
              <a:ext uri="{FF2B5EF4-FFF2-40B4-BE49-F238E27FC236}">
                <a16:creationId xmlns:a16="http://schemas.microsoft.com/office/drawing/2014/main" id="{BFD6935F-36CE-4D74-9A5E-98FC512E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43400"/>
            <a:ext cx="7734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3D3D3D"/>
                </a:solidFill>
                <a:latin typeface="Cambria Math"/>
                <a:ea typeface="Cambria Math"/>
                <a:cs typeface="Cambria Math"/>
              </a:rPr>
              <a:t>T=N/fₛ · Δf=fₛ/N · G=20log₁₀|H| · φ=−2πfτ</a:t>
            </a:r>
          </a:p>
        </p:txBody>
      </p:sp>
      <p:sp>
        <p:nvSpPr>
          <p:cNvPr id="17" name="caption">
            <a:extLst xmlns:a="http://schemas.openxmlformats.org/drawingml/2006/main">
              <a:ext uri="{FF2B5EF4-FFF2-40B4-BE49-F238E27FC236}">
                <a16:creationId xmlns:a16="http://schemas.microsoft.com/office/drawing/2014/main" id="{DF13037B-22EB-4DBB-8CA4-F459E134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Respaldo para devolución trazable.</a:t>
            </a:r>
          </a:p>
        </p:txBody>
      </p:sp>
      <p:sp>
        <p:nvSpPr>
          <p:cNvPr id="18" name="credit">
            <a:extLst xmlns:a="http://schemas.openxmlformats.org/drawingml/2006/main">
              <a:ext uri="{FF2B5EF4-FFF2-40B4-BE49-F238E27FC236}">
                <a16:creationId xmlns:a16="http://schemas.microsoft.com/office/drawing/2014/main" id="{977F7259-88B7-4222-A5CC-0ED8BB47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solución I1.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1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2B8261-B547-4FB1-8EDE-096FF486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19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3D3D3D"/>
                </a:solidFill>
                <a:latin typeface="Calibri Light"/>
                <a:ea typeface="Calibri Light"/>
                <a:cs typeface="Calibri Light"/>
              </a:rPr>
              <a:t>Glosario de señales, espectro y medición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0BDF68-B5E6-40C7-9085-3AC8FABC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Consulta alfabética; no usar como cierre proyectado.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8492175-1322-4C04-A92A-0552787E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U5 · RESPALDO · 150</a:t>
            </a:r>
          </a:p>
        </p:txBody>
      </p:sp>
      <p:sp>
        <p:nvSpPr>
          <p:cNvPr id="4" name="glossary-1-box">
            <a:extLst xmlns:a="http://schemas.openxmlformats.org/drawingml/2006/main">
              <a:ext uri="{FF2B5EF4-FFF2-40B4-BE49-F238E27FC236}">
                <a16:creationId xmlns:a16="http://schemas.microsoft.com/office/drawing/2014/main" id="{A278A230-AA19-4897-A50D-FCF47E7D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3333750" cy="3714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glossary-1-title">
            <a:extLst xmlns:a="http://schemas.openxmlformats.org/drawingml/2006/main">
              <a:ext uri="{FF2B5EF4-FFF2-40B4-BE49-F238E27FC236}">
                <a16:creationId xmlns:a16="http://schemas.microsoft.com/office/drawing/2014/main" id="{1750ADD9-21B0-4D4F-BFAB-28D70873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6" name="glossary-1-body">
            <a:extLst xmlns:a="http://schemas.openxmlformats.org/drawingml/2006/main">
              <a:ext uri="{FF2B5EF4-FFF2-40B4-BE49-F238E27FC236}">
                <a16:creationId xmlns:a16="http://schemas.microsoft.com/office/drawing/2014/main" id="{32ED5DCC-9504-4176-86AC-3E71208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81225"/>
            <a:ext cx="2990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Armónico — componente en n·f₀. Banda — intervalo de frecuencias. Bin — frecuencia discreta de la DFT. DFT — transformada discreta. Espectro — contenido frecuencial de una señal. FFT — algoritmo para calcular la DFT.</a:t>
            </a:r>
          </a:p>
        </p:txBody>
      </p:sp>
      <p:sp>
        <p:nvSpPr>
          <p:cNvPr id="7" name="glossary-2-box">
            <a:extLst xmlns:a="http://schemas.openxmlformats.org/drawingml/2006/main">
              <a:ext uri="{FF2B5EF4-FFF2-40B4-BE49-F238E27FC236}">
                <a16:creationId xmlns:a16="http://schemas.microsoft.com/office/drawing/2014/main" id="{D5478924-14EF-4CAB-A82D-8B19C727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66875"/>
            <a:ext cx="3333750" cy="3714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glossary-2-title">
            <a:extLst xmlns:a="http://schemas.openxmlformats.org/drawingml/2006/main">
              <a:ext uri="{FF2B5EF4-FFF2-40B4-BE49-F238E27FC236}">
                <a16:creationId xmlns:a16="http://schemas.microsoft.com/office/drawing/2014/main" id="{7505D045-CB5E-430B-B41B-32E271B2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002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9" name="glossary-2-body">
            <a:extLst xmlns:a="http://schemas.openxmlformats.org/drawingml/2006/main">
              <a:ext uri="{FF2B5EF4-FFF2-40B4-BE49-F238E27FC236}">
                <a16:creationId xmlns:a16="http://schemas.microsoft.com/office/drawing/2014/main" id="{9EFEA499-294A-4B90-BF8F-27A6631E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81225"/>
            <a:ext cx="2990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Filtro — sistema selectivo en frecuencia. Formante — región de resonancia. Frecuencia fundamental — 1/T₀. Nivel equivalente — promedio energético en T. Parcial — componente espectral. Ponderación — respuesta de medición.</a:t>
            </a:r>
          </a:p>
        </p:txBody>
      </p:sp>
      <p:sp>
        <p:nvSpPr>
          <p:cNvPr id="10" name="glossary-3-box">
            <a:extLst xmlns:a="http://schemas.openxmlformats.org/drawingml/2006/main">
              <a:ext uri="{FF2B5EF4-FFF2-40B4-BE49-F238E27FC236}">
                <a16:creationId xmlns:a16="http://schemas.microsoft.com/office/drawing/2014/main" id="{14CC8498-404D-41CE-99CA-9385C9BB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3333750" cy="3714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glossary-3-title">
            <a:extLst xmlns:a="http://schemas.openxmlformats.org/drawingml/2006/main">
              <a:ext uri="{FF2B5EF4-FFF2-40B4-BE49-F238E27FC236}">
                <a16:creationId xmlns:a16="http://schemas.microsoft.com/office/drawing/2014/main" id="{C573E394-7E63-4A8D-ABA0-75C38E93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002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12" name="glossary-3-body">
            <a:extLst xmlns:a="http://schemas.openxmlformats.org/drawingml/2006/main">
              <a:ext uri="{FF2B5EF4-FFF2-40B4-BE49-F238E27FC236}">
                <a16:creationId xmlns:a16="http://schemas.microsoft.com/office/drawing/2014/main" id="{0CC1D268-992B-4354-B3D3-11936E77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81225"/>
            <a:ext cx="2990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en frecuencia — relación entrada/salida. Sobretono — parcial por encima de f₀. Sonómetro — mide niveles acústicos. Transformada — representación frecuencial. Ventana — ponderación temporal del registro.</a:t>
            </a:r>
          </a:p>
        </p:txBody>
      </p:sp>
      <p:sp>
        <p:nvSpPr>
          <p:cNvPr id="13" name="caption">
            <a:extLst xmlns:a="http://schemas.openxmlformats.org/drawingml/2006/main">
              <a:ext uri="{FF2B5EF4-FFF2-40B4-BE49-F238E27FC236}">
                <a16:creationId xmlns:a16="http://schemas.microsoft.com/office/drawing/2014/main" id="{573BB910-1983-4F22-AEF6-34802D42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precisión terminológica sostiene la interpretación.</a:t>
            </a:r>
          </a:p>
        </p:txBody>
      </p:sp>
      <p:sp>
        <p:nvSpPr>
          <p:cNvPr id="14" name="credit">
            <a:extLst xmlns:a="http://schemas.openxmlformats.org/drawingml/2006/main">
              <a:ext uri="{FF2B5EF4-FFF2-40B4-BE49-F238E27FC236}">
                <a16:creationId xmlns:a16="http://schemas.microsoft.com/office/drawing/2014/main" id="{C8881E87-B589-42FF-85DF-CFFAFAD2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Fuente: TEX 5.17; GLO.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2026-08-03T20:48:44.3630000Z</dcterms:created>
  <dcterms:modified xsi:type="dcterms:W3CDTF">2026-08-03T20:48:44.3630000Z</dcterms:modified>
</coreProperties>
</file>