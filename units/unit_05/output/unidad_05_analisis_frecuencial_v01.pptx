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73" r:id="rId2"/>
  </p:sldMasterIdLst>
  <p:notesMasterIdLst>
    <p:notesMasterId r:id="rId153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0" r:id="rId57"/>
    <p:sldId id="311" r:id="rId58"/>
    <p:sldId id="312" r:id="rId59"/>
    <p:sldId id="313" r:id="rId60"/>
    <p:sldId id="314" r:id="rId61"/>
    <p:sldId id="315" r:id="rId62"/>
    <p:sldId id="316" r:id="rId63"/>
    <p:sldId id="317" r:id="rId64"/>
    <p:sldId id="318" r:id="rId65"/>
    <p:sldId id="319" r:id="rId66"/>
    <p:sldId id="320" r:id="rId67"/>
    <p:sldId id="321" r:id="rId68"/>
    <p:sldId id="322" r:id="rId69"/>
    <p:sldId id="323" r:id="rId70"/>
    <p:sldId id="324" r:id="rId71"/>
    <p:sldId id="325" r:id="rId72"/>
    <p:sldId id="326" r:id="rId73"/>
    <p:sldId id="327" r:id="rId74"/>
    <p:sldId id="328" r:id="rId75"/>
    <p:sldId id="329" r:id="rId76"/>
    <p:sldId id="330" r:id="rId77"/>
    <p:sldId id="331" r:id="rId78"/>
    <p:sldId id="332" r:id="rId79"/>
    <p:sldId id="333" r:id="rId80"/>
    <p:sldId id="334" r:id="rId81"/>
    <p:sldId id="335" r:id="rId82"/>
    <p:sldId id="336" r:id="rId83"/>
    <p:sldId id="337" r:id="rId84"/>
    <p:sldId id="338" r:id="rId85"/>
    <p:sldId id="339" r:id="rId86"/>
    <p:sldId id="340" r:id="rId87"/>
    <p:sldId id="341" r:id="rId88"/>
    <p:sldId id="342" r:id="rId89"/>
    <p:sldId id="343" r:id="rId90"/>
    <p:sldId id="344" r:id="rId91"/>
    <p:sldId id="345" r:id="rId92"/>
    <p:sldId id="346" r:id="rId93"/>
    <p:sldId id="347" r:id="rId94"/>
    <p:sldId id="348" r:id="rId95"/>
    <p:sldId id="349" r:id="rId96"/>
    <p:sldId id="350" r:id="rId97"/>
    <p:sldId id="351" r:id="rId98"/>
    <p:sldId id="352" r:id="rId99"/>
    <p:sldId id="353" r:id="rId100"/>
    <p:sldId id="354" r:id="rId101"/>
    <p:sldId id="355" r:id="rId102"/>
    <p:sldId id="356" r:id="rId103"/>
    <p:sldId id="357" r:id="rId104"/>
    <p:sldId id="358" r:id="rId105"/>
    <p:sldId id="359" r:id="rId106"/>
    <p:sldId id="360" r:id="rId107"/>
    <p:sldId id="361" r:id="rId108"/>
    <p:sldId id="362" r:id="rId109"/>
    <p:sldId id="363" r:id="rId110"/>
    <p:sldId id="364" r:id="rId111"/>
    <p:sldId id="365" r:id="rId112"/>
    <p:sldId id="366" r:id="rId113"/>
    <p:sldId id="367" r:id="rId114"/>
    <p:sldId id="368" r:id="rId115"/>
    <p:sldId id="369" r:id="rId116"/>
    <p:sldId id="370" r:id="rId117"/>
    <p:sldId id="371" r:id="rId118"/>
    <p:sldId id="372" r:id="rId119"/>
    <p:sldId id="373" r:id="rId120"/>
    <p:sldId id="374" r:id="rId121"/>
    <p:sldId id="375" r:id="rId122"/>
    <p:sldId id="376" r:id="rId123"/>
    <p:sldId id="377" r:id="rId124"/>
    <p:sldId id="378" r:id="rId125"/>
    <p:sldId id="379" r:id="rId126"/>
    <p:sldId id="380" r:id="rId127"/>
    <p:sldId id="381" r:id="rId128"/>
    <p:sldId id="382" r:id="rId129"/>
    <p:sldId id="383" r:id="rId130"/>
    <p:sldId id="384" r:id="rId131"/>
    <p:sldId id="385" r:id="rId132"/>
    <p:sldId id="386" r:id="rId133"/>
    <p:sldId id="387" r:id="rId134"/>
    <p:sldId id="388" r:id="rId135"/>
    <p:sldId id="389" r:id="rId136"/>
    <p:sldId id="390" r:id="rId137"/>
    <p:sldId id="391" r:id="rId138"/>
    <p:sldId id="392" r:id="rId139"/>
    <p:sldId id="393" r:id="rId140"/>
    <p:sldId id="394" r:id="rId141"/>
    <p:sldId id="395" r:id="rId142"/>
    <p:sldId id="396" r:id="rId143"/>
    <p:sldId id="397" r:id="rId144"/>
    <p:sldId id="398" r:id="rId145"/>
    <p:sldId id="399" r:id="rId146"/>
    <p:sldId id="400" r:id="rId147"/>
    <p:sldId id="401" r:id="rId148"/>
    <p:sldId id="402" r:id="rId149"/>
    <p:sldId id="403" r:id="rId150"/>
    <p:sldId id="404" r:id="rId151"/>
    <p:sldId id="405" r:id="rId15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5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63" Type="http://schemas.openxmlformats.org/officeDocument/2006/relationships/slide" Target="slides/slide61.xml"/><Relationship Id="rId84" Type="http://schemas.openxmlformats.org/officeDocument/2006/relationships/slide" Target="slides/slide82.xml"/><Relationship Id="rId138" Type="http://schemas.openxmlformats.org/officeDocument/2006/relationships/slide" Target="slides/slide136.xml"/><Relationship Id="rId107" Type="http://schemas.openxmlformats.org/officeDocument/2006/relationships/slide" Target="slides/slide105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53" Type="http://schemas.openxmlformats.org/officeDocument/2006/relationships/slide" Target="slides/slide51.xml"/><Relationship Id="rId74" Type="http://schemas.openxmlformats.org/officeDocument/2006/relationships/slide" Target="slides/slide72.xml"/><Relationship Id="rId128" Type="http://schemas.openxmlformats.org/officeDocument/2006/relationships/slide" Target="slides/slide126.xml"/><Relationship Id="rId149" Type="http://schemas.openxmlformats.org/officeDocument/2006/relationships/slide" Target="slides/slide147.xml"/><Relationship Id="rId5" Type="http://schemas.openxmlformats.org/officeDocument/2006/relationships/slide" Target="slides/slide3.xml"/><Relationship Id="rId95" Type="http://schemas.openxmlformats.org/officeDocument/2006/relationships/slide" Target="slides/slide93.xml"/><Relationship Id="rId22" Type="http://schemas.openxmlformats.org/officeDocument/2006/relationships/slide" Target="slides/slide20.xml"/><Relationship Id="rId43" Type="http://schemas.openxmlformats.org/officeDocument/2006/relationships/slide" Target="slides/slide41.xml"/><Relationship Id="rId64" Type="http://schemas.openxmlformats.org/officeDocument/2006/relationships/slide" Target="slides/slide62.xml"/><Relationship Id="rId118" Type="http://schemas.openxmlformats.org/officeDocument/2006/relationships/slide" Target="slides/slide116.xml"/><Relationship Id="rId139" Type="http://schemas.openxmlformats.org/officeDocument/2006/relationships/slide" Target="slides/slide137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150" Type="http://schemas.openxmlformats.org/officeDocument/2006/relationships/slide" Target="slides/slide148.xml"/><Relationship Id="rId155" Type="http://schemas.openxmlformats.org/officeDocument/2006/relationships/viewProps" Target="viewProps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59" Type="http://schemas.openxmlformats.org/officeDocument/2006/relationships/slide" Target="slides/slide57.xml"/><Relationship Id="rId103" Type="http://schemas.openxmlformats.org/officeDocument/2006/relationships/slide" Target="slides/slide101.xml"/><Relationship Id="rId108" Type="http://schemas.openxmlformats.org/officeDocument/2006/relationships/slide" Target="slides/slide106.xml"/><Relationship Id="rId124" Type="http://schemas.openxmlformats.org/officeDocument/2006/relationships/slide" Target="slides/slide122.xml"/><Relationship Id="rId129" Type="http://schemas.openxmlformats.org/officeDocument/2006/relationships/slide" Target="slides/slide127.xml"/><Relationship Id="rId54" Type="http://schemas.openxmlformats.org/officeDocument/2006/relationships/slide" Target="slides/slide52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91" Type="http://schemas.openxmlformats.org/officeDocument/2006/relationships/slide" Target="slides/slide89.xml"/><Relationship Id="rId96" Type="http://schemas.openxmlformats.org/officeDocument/2006/relationships/slide" Target="slides/slide94.xml"/><Relationship Id="rId140" Type="http://schemas.openxmlformats.org/officeDocument/2006/relationships/slide" Target="slides/slide138.xml"/><Relationship Id="rId145" Type="http://schemas.openxmlformats.org/officeDocument/2006/relationships/slide" Target="slides/slide14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49" Type="http://schemas.openxmlformats.org/officeDocument/2006/relationships/slide" Target="slides/slide47.xml"/><Relationship Id="rId114" Type="http://schemas.openxmlformats.org/officeDocument/2006/relationships/slide" Target="slides/slide112.xml"/><Relationship Id="rId119" Type="http://schemas.openxmlformats.org/officeDocument/2006/relationships/slide" Target="slides/slide117.xml"/><Relationship Id="rId44" Type="http://schemas.openxmlformats.org/officeDocument/2006/relationships/slide" Target="slides/slide42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130" Type="http://schemas.openxmlformats.org/officeDocument/2006/relationships/slide" Target="slides/slide128.xml"/><Relationship Id="rId135" Type="http://schemas.openxmlformats.org/officeDocument/2006/relationships/slide" Target="slides/slide133.xml"/><Relationship Id="rId151" Type="http://schemas.openxmlformats.org/officeDocument/2006/relationships/slide" Target="slides/slide149.xml"/><Relationship Id="rId156" Type="http://schemas.openxmlformats.org/officeDocument/2006/relationships/theme" Target="theme/theme1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109" Type="http://schemas.openxmlformats.org/officeDocument/2006/relationships/slide" Target="slides/slide10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04" Type="http://schemas.openxmlformats.org/officeDocument/2006/relationships/slide" Target="slides/slide102.xml"/><Relationship Id="rId120" Type="http://schemas.openxmlformats.org/officeDocument/2006/relationships/slide" Target="slides/slide118.xml"/><Relationship Id="rId125" Type="http://schemas.openxmlformats.org/officeDocument/2006/relationships/slide" Target="slides/slide123.xml"/><Relationship Id="rId141" Type="http://schemas.openxmlformats.org/officeDocument/2006/relationships/slide" Target="slides/slide139.xml"/><Relationship Id="rId146" Type="http://schemas.openxmlformats.org/officeDocument/2006/relationships/slide" Target="slides/slide144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110" Type="http://schemas.openxmlformats.org/officeDocument/2006/relationships/slide" Target="slides/slide108.xml"/><Relationship Id="rId115" Type="http://schemas.openxmlformats.org/officeDocument/2006/relationships/slide" Target="slides/slide113.xml"/><Relationship Id="rId131" Type="http://schemas.openxmlformats.org/officeDocument/2006/relationships/slide" Target="slides/slide129.xml"/><Relationship Id="rId136" Type="http://schemas.openxmlformats.org/officeDocument/2006/relationships/slide" Target="slides/slide134.xml"/><Relationship Id="rId157" Type="http://schemas.openxmlformats.org/officeDocument/2006/relationships/tableStyles" Target="tableStyles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52" Type="http://schemas.openxmlformats.org/officeDocument/2006/relationships/slide" Target="slides/slide15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slide" Target="slides/slide98.xml"/><Relationship Id="rId105" Type="http://schemas.openxmlformats.org/officeDocument/2006/relationships/slide" Target="slides/slide103.xml"/><Relationship Id="rId126" Type="http://schemas.openxmlformats.org/officeDocument/2006/relationships/slide" Target="slides/slide124.xml"/><Relationship Id="rId147" Type="http://schemas.openxmlformats.org/officeDocument/2006/relationships/slide" Target="slides/slide145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slide" Target="slides/slide96.xml"/><Relationship Id="rId121" Type="http://schemas.openxmlformats.org/officeDocument/2006/relationships/slide" Target="slides/slide119.xml"/><Relationship Id="rId142" Type="http://schemas.openxmlformats.org/officeDocument/2006/relationships/slide" Target="slides/slide140.xml"/><Relationship Id="rId3" Type="http://schemas.openxmlformats.org/officeDocument/2006/relationships/slide" Target="slides/slide1.xml"/><Relationship Id="rId25" Type="http://schemas.openxmlformats.org/officeDocument/2006/relationships/slide" Target="slides/slide23.xml"/><Relationship Id="rId46" Type="http://schemas.openxmlformats.org/officeDocument/2006/relationships/slide" Target="slides/slide44.xml"/><Relationship Id="rId67" Type="http://schemas.openxmlformats.org/officeDocument/2006/relationships/slide" Target="slides/slide65.xml"/><Relationship Id="rId116" Type="http://schemas.openxmlformats.org/officeDocument/2006/relationships/slide" Target="slides/slide114.xml"/><Relationship Id="rId137" Type="http://schemas.openxmlformats.org/officeDocument/2006/relationships/slide" Target="slides/slide135.xml"/><Relationship Id="rId158" Type="http://schemas.microsoft.com/office/2016/11/relationships/changesInfo" Target="changesInfos/changesInfo1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62" Type="http://schemas.openxmlformats.org/officeDocument/2006/relationships/slide" Target="slides/slide60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111" Type="http://schemas.openxmlformats.org/officeDocument/2006/relationships/slide" Target="slides/slide109.xml"/><Relationship Id="rId132" Type="http://schemas.openxmlformats.org/officeDocument/2006/relationships/slide" Target="slides/slide130.xml"/><Relationship Id="rId153" Type="http://schemas.openxmlformats.org/officeDocument/2006/relationships/notesMaster" Target="notesMasters/notesMaster1.xml"/><Relationship Id="rId15" Type="http://schemas.openxmlformats.org/officeDocument/2006/relationships/slide" Target="slides/slide13.xml"/><Relationship Id="rId36" Type="http://schemas.openxmlformats.org/officeDocument/2006/relationships/slide" Target="slides/slide34.xml"/><Relationship Id="rId57" Type="http://schemas.openxmlformats.org/officeDocument/2006/relationships/slide" Target="slides/slide55.xml"/><Relationship Id="rId106" Type="http://schemas.openxmlformats.org/officeDocument/2006/relationships/slide" Target="slides/slide104.xml"/><Relationship Id="rId127" Type="http://schemas.openxmlformats.org/officeDocument/2006/relationships/slide" Target="slides/slide12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52" Type="http://schemas.openxmlformats.org/officeDocument/2006/relationships/slide" Target="slides/slide50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94" Type="http://schemas.openxmlformats.org/officeDocument/2006/relationships/slide" Target="slides/slide92.xml"/><Relationship Id="rId99" Type="http://schemas.openxmlformats.org/officeDocument/2006/relationships/slide" Target="slides/slide97.xml"/><Relationship Id="rId101" Type="http://schemas.openxmlformats.org/officeDocument/2006/relationships/slide" Target="slides/slide99.xml"/><Relationship Id="rId122" Type="http://schemas.openxmlformats.org/officeDocument/2006/relationships/slide" Target="slides/slide120.xml"/><Relationship Id="rId143" Type="http://schemas.openxmlformats.org/officeDocument/2006/relationships/slide" Target="slides/slide141.xml"/><Relationship Id="rId148" Type="http://schemas.openxmlformats.org/officeDocument/2006/relationships/slide" Target="slides/slide146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26" Type="http://schemas.openxmlformats.org/officeDocument/2006/relationships/slide" Target="slides/slide24.xml"/><Relationship Id="rId47" Type="http://schemas.openxmlformats.org/officeDocument/2006/relationships/slide" Target="slides/slide45.xml"/><Relationship Id="rId68" Type="http://schemas.openxmlformats.org/officeDocument/2006/relationships/slide" Target="slides/slide66.xml"/><Relationship Id="rId89" Type="http://schemas.openxmlformats.org/officeDocument/2006/relationships/slide" Target="slides/slide87.xml"/><Relationship Id="rId112" Type="http://schemas.openxmlformats.org/officeDocument/2006/relationships/slide" Target="slides/slide110.xml"/><Relationship Id="rId133" Type="http://schemas.openxmlformats.org/officeDocument/2006/relationships/slide" Target="slides/slide131.xml"/><Relationship Id="rId154" Type="http://schemas.openxmlformats.org/officeDocument/2006/relationships/presProps" Target="presProps.xml"/><Relationship Id="rId16" Type="http://schemas.openxmlformats.org/officeDocument/2006/relationships/slide" Target="slides/slide14.xml"/><Relationship Id="rId37" Type="http://schemas.openxmlformats.org/officeDocument/2006/relationships/slide" Target="slides/slide35.xml"/><Relationship Id="rId58" Type="http://schemas.openxmlformats.org/officeDocument/2006/relationships/slide" Target="slides/slide56.xml"/><Relationship Id="rId79" Type="http://schemas.openxmlformats.org/officeDocument/2006/relationships/slide" Target="slides/slide77.xml"/><Relationship Id="rId102" Type="http://schemas.openxmlformats.org/officeDocument/2006/relationships/slide" Target="slides/slide100.xml"/><Relationship Id="rId123" Type="http://schemas.openxmlformats.org/officeDocument/2006/relationships/slide" Target="slides/slide121.xml"/><Relationship Id="rId144" Type="http://schemas.openxmlformats.org/officeDocument/2006/relationships/slide" Target="slides/slide142.xml"/><Relationship Id="rId90" Type="http://schemas.openxmlformats.org/officeDocument/2006/relationships/slide" Target="slides/slide88.xml"/><Relationship Id="rId27" Type="http://schemas.openxmlformats.org/officeDocument/2006/relationships/slide" Target="slides/slide25.xml"/><Relationship Id="rId48" Type="http://schemas.openxmlformats.org/officeDocument/2006/relationships/slide" Target="slides/slide46.xml"/><Relationship Id="rId69" Type="http://schemas.openxmlformats.org/officeDocument/2006/relationships/slide" Target="slides/slide67.xml"/><Relationship Id="rId113" Type="http://schemas.openxmlformats.org/officeDocument/2006/relationships/slide" Target="slides/slide111.xml"/><Relationship Id="rId134" Type="http://schemas.openxmlformats.org/officeDocument/2006/relationships/slide" Target="slides/slide13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ximiliano Ortiz" userId="90727fd8e92db46b" providerId="LiveId" clId="{9BC7EBD1-E6C7-40E2-9BE0-E69EBE0B6810}"/>
    <pc:docChg chg="custSel modSld">
      <pc:chgData name="Maximiliano Ortiz" userId="90727fd8e92db46b" providerId="LiveId" clId="{9BC7EBD1-E6C7-40E2-9BE0-E69EBE0B6810}" dt="2026-08-03T17:45:42.433" v="751"/>
      <pc:docMkLst>
        <pc:docMk/>
      </pc:docMkLst>
      <pc:sldChg chg="addSp modSp">
        <pc:chgData name="Maximiliano Ortiz" userId="90727fd8e92db46b" providerId="LiveId" clId="{9BC7EBD1-E6C7-40E2-9BE0-E69EBE0B6810}" dt="2026-08-03T17:45:35.624" v="4"/>
        <pc:sldMkLst>
          <pc:docMk/>
          <pc:sldMk cId="1194663102" sldId="256"/>
        </pc:sldMkLst>
        <pc:spChg chg="add mod">
          <ac:chgData name="Maximiliano Ortiz" userId="90727fd8e92db46b" providerId="LiveId" clId="{9BC7EBD1-E6C7-40E2-9BE0-E69EBE0B6810}" dt="2026-08-03T17:45:35.624" v="4"/>
          <ac:spMkLst>
            <pc:docMk/>
            <pc:sldMk cId="1194663102" sldId="256"/>
            <ac:spMk id="13" creationId="{8D8C1A6C-6320-6BAC-1B5C-3526E92B0DD2}"/>
          </ac:spMkLst>
        </pc:spChg>
      </pc:sldChg>
      <pc:sldChg chg="addSp modSp">
        <pc:chgData name="Maximiliano Ortiz" userId="90727fd8e92db46b" providerId="LiveId" clId="{9BC7EBD1-E6C7-40E2-9BE0-E69EBE0B6810}" dt="2026-08-03T17:45:35.647" v="9"/>
        <pc:sldMkLst>
          <pc:docMk/>
          <pc:sldMk cId="1995449240" sldId="257"/>
        </pc:sldMkLst>
        <pc:spChg chg="add mod">
          <ac:chgData name="Maximiliano Ortiz" userId="90727fd8e92db46b" providerId="LiveId" clId="{9BC7EBD1-E6C7-40E2-9BE0-E69EBE0B6810}" dt="2026-08-03T17:45:35.647" v="9"/>
          <ac:spMkLst>
            <pc:docMk/>
            <pc:sldMk cId="1995449240" sldId="257"/>
            <ac:spMk id="4" creationId="{600E73AD-42A0-EFD9-C701-3C9831799093}"/>
          </ac:spMkLst>
        </pc:spChg>
      </pc:sldChg>
      <pc:sldChg chg="addSp modSp">
        <pc:chgData name="Maximiliano Ortiz" userId="90727fd8e92db46b" providerId="LiveId" clId="{9BC7EBD1-E6C7-40E2-9BE0-E69EBE0B6810}" dt="2026-08-03T17:45:35.695" v="14"/>
        <pc:sldMkLst>
          <pc:docMk/>
          <pc:sldMk cId="281546375" sldId="258"/>
        </pc:sldMkLst>
        <pc:spChg chg="add mod">
          <ac:chgData name="Maximiliano Ortiz" userId="90727fd8e92db46b" providerId="LiveId" clId="{9BC7EBD1-E6C7-40E2-9BE0-E69EBE0B6810}" dt="2026-08-03T17:45:35.695" v="14"/>
          <ac:spMkLst>
            <pc:docMk/>
            <pc:sldMk cId="281546375" sldId="258"/>
            <ac:spMk id="19" creationId="{E06FBA88-F75B-1299-8CEE-7DFB20982CBE}"/>
          </ac:spMkLst>
        </pc:spChg>
      </pc:sldChg>
      <pc:sldChg chg="addSp modSp">
        <pc:chgData name="Maximiliano Ortiz" userId="90727fd8e92db46b" providerId="LiveId" clId="{9BC7EBD1-E6C7-40E2-9BE0-E69EBE0B6810}" dt="2026-08-03T17:45:35.736" v="19"/>
        <pc:sldMkLst>
          <pc:docMk/>
          <pc:sldMk cId="1833595117" sldId="259"/>
        </pc:sldMkLst>
        <pc:spChg chg="add mod">
          <ac:chgData name="Maximiliano Ortiz" userId="90727fd8e92db46b" providerId="LiveId" clId="{9BC7EBD1-E6C7-40E2-9BE0-E69EBE0B6810}" dt="2026-08-03T17:45:35.736" v="19"/>
          <ac:spMkLst>
            <pc:docMk/>
            <pc:sldMk cId="1833595117" sldId="259"/>
            <ac:spMk id="19" creationId="{B337E8ED-D120-32B2-91A9-2B51A3FDDC3D}"/>
          </ac:spMkLst>
        </pc:spChg>
      </pc:sldChg>
      <pc:sldChg chg="addSp modSp">
        <pc:chgData name="Maximiliano Ortiz" userId="90727fd8e92db46b" providerId="LiveId" clId="{9BC7EBD1-E6C7-40E2-9BE0-E69EBE0B6810}" dt="2026-08-03T17:45:35.756" v="24"/>
        <pc:sldMkLst>
          <pc:docMk/>
          <pc:sldMk cId="1561918420" sldId="260"/>
        </pc:sldMkLst>
        <pc:spChg chg="add mod">
          <ac:chgData name="Maximiliano Ortiz" userId="90727fd8e92db46b" providerId="LiveId" clId="{9BC7EBD1-E6C7-40E2-9BE0-E69EBE0B6810}" dt="2026-08-03T17:45:35.756" v="24"/>
          <ac:spMkLst>
            <pc:docMk/>
            <pc:sldMk cId="1561918420" sldId="260"/>
            <ac:spMk id="11" creationId="{4A9B318D-DFF5-C714-9CC9-3CC6BF4FA839}"/>
          </ac:spMkLst>
        </pc:spChg>
      </pc:sldChg>
      <pc:sldChg chg="addSp modSp">
        <pc:chgData name="Maximiliano Ortiz" userId="90727fd8e92db46b" providerId="LiveId" clId="{9BC7EBD1-E6C7-40E2-9BE0-E69EBE0B6810}" dt="2026-08-03T17:45:35.796" v="29"/>
        <pc:sldMkLst>
          <pc:docMk/>
          <pc:sldMk cId="1271479030" sldId="261"/>
        </pc:sldMkLst>
        <pc:spChg chg="add mod">
          <ac:chgData name="Maximiliano Ortiz" userId="90727fd8e92db46b" providerId="LiveId" clId="{9BC7EBD1-E6C7-40E2-9BE0-E69EBE0B6810}" dt="2026-08-03T17:45:35.796" v="29"/>
          <ac:spMkLst>
            <pc:docMk/>
            <pc:sldMk cId="1271479030" sldId="261"/>
            <ac:spMk id="16" creationId="{9B24483B-1A0E-3A2A-08EE-4B67F280408A}"/>
          </ac:spMkLst>
        </pc:spChg>
      </pc:sldChg>
      <pc:sldChg chg="addSp modSp">
        <pc:chgData name="Maximiliano Ortiz" userId="90727fd8e92db46b" providerId="LiveId" clId="{9BC7EBD1-E6C7-40E2-9BE0-E69EBE0B6810}" dt="2026-08-03T17:45:35.842" v="34"/>
        <pc:sldMkLst>
          <pc:docMk/>
          <pc:sldMk cId="567438305" sldId="262"/>
        </pc:sldMkLst>
        <pc:spChg chg="add mod">
          <ac:chgData name="Maximiliano Ortiz" userId="90727fd8e92db46b" providerId="LiveId" clId="{9BC7EBD1-E6C7-40E2-9BE0-E69EBE0B6810}" dt="2026-08-03T17:45:35.842" v="34"/>
          <ac:spMkLst>
            <pc:docMk/>
            <pc:sldMk cId="567438305" sldId="262"/>
            <ac:spMk id="19" creationId="{F01B4D27-B3F6-36B2-0F9E-211ED52B303B}"/>
          </ac:spMkLst>
        </pc:spChg>
      </pc:sldChg>
      <pc:sldChg chg="addSp modSp">
        <pc:chgData name="Maximiliano Ortiz" userId="90727fd8e92db46b" providerId="LiveId" clId="{9BC7EBD1-E6C7-40E2-9BE0-E69EBE0B6810}" dt="2026-08-03T17:45:35.856" v="39"/>
        <pc:sldMkLst>
          <pc:docMk/>
          <pc:sldMk cId="1164902343" sldId="263"/>
        </pc:sldMkLst>
        <pc:spChg chg="add mod">
          <ac:chgData name="Maximiliano Ortiz" userId="90727fd8e92db46b" providerId="LiveId" clId="{9BC7EBD1-E6C7-40E2-9BE0-E69EBE0B6810}" dt="2026-08-03T17:45:35.856" v="39"/>
          <ac:spMkLst>
            <pc:docMk/>
            <pc:sldMk cId="1164902343" sldId="263"/>
            <ac:spMk id="6" creationId="{93599618-650A-ECCB-04CD-3470CDBFAF88}"/>
          </ac:spMkLst>
        </pc:spChg>
      </pc:sldChg>
      <pc:sldChg chg="addSp modSp">
        <pc:chgData name="Maximiliano Ortiz" userId="90727fd8e92db46b" providerId="LiveId" clId="{9BC7EBD1-E6C7-40E2-9BE0-E69EBE0B6810}" dt="2026-08-03T17:45:35.878" v="44"/>
        <pc:sldMkLst>
          <pc:docMk/>
          <pc:sldMk cId="986630461" sldId="264"/>
        </pc:sldMkLst>
        <pc:spChg chg="add mod">
          <ac:chgData name="Maximiliano Ortiz" userId="90727fd8e92db46b" providerId="LiveId" clId="{9BC7EBD1-E6C7-40E2-9BE0-E69EBE0B6810}" dt="2026-08-03T17:45:35.878" v="44"/>
          <ac:spMkLst>
            <pc:docMk/>
            <pc:sldMk cId="986630461" sldId="264"/>
            <ac:spMk id="4" creationId="{AB454B70-1811-D7C8-C8AD-E03628A85F9B}"/>
          </ac:spMkLst>
        </pc:spChg>
      </pc:sldChg>
      <pc:sldChg chg="addSp modSp">
        <pc:chgData name="Maximiliano Ortiz" userId="90727fd8e92db46b" providerId="LiveId" clId="{9BC7EBD1-E6C7-40E2-9BE0-E69EBE0B6810}" dt="2026-08-03T17:45:35.930" v="49"/>
        <pc:sldMkLst>
          <pc:docMk/>
          <pc:sldMk cId="986630461" sldId="265"/>
        </pc:sldMkLst>
        <pc:spChg chg="add mod">
          <ac:chgData name="Maximiliano Ortiz" userId="90727fd8e92db46b" providerId="LiveId" clId="{9BC7EBD1-E6C7-40E2-9BE0-E69EBE0B6810}" dt="2026-08-03T17:45:35.930" v="49"/>
          <ac:spMkLst>
            <pc:docMk/>
            <pc:sldMk cId="986630461" sldId="265"/>
            <ac:spMk id="24" creationId="{3FF01171-364C-11DE-A2C3-71055FA393A2}"/>
          </ac:spMkLst>
        </pc:spChg>
      </pc:sldChg>
      <pc:sldChg chg="addSp modSp">
        <pc:chgData name="Maximiliano Ortiz" userId="90727fd8e92db46b" providerId="LiveId" clId="{9BC7EBD1-E6C7-40E2-9BE0-E69EBE0B6810}" dt="2026-08-03T17:45:35.950" v="54"/>
        <pc:sldMkLst>
          <pc:docMk/>
          <pc:sldMk cId="1995449240" sldId="266"/>
        </pc:sldMkLst>
        <pc:spChg chg="add mod">
          <ac:chgData name="Maximiliano Ortiz" userId="90727fd8e92db46b" providerId="LiveId" clId="{9BC7EBD1-E6C7-40E2-9BE0-E69EBE0B6810}" dt="2026-08-03T17:45:35.950" v="54"/>
          <ac:spMkLst>
            <pc:docMk/>
            <pc:sldMk cId="1995449240" sldId="266"/>
            <ac:spMk id="4" creationId="{BA43CDBB-C226-D6E5-80BA-259560B31347}"/>
          </ac:spMkLst>
        </pc:spChg>
      </pc:sldChg>
      <pc:sldChg chg="addSp modSp">
        <pc:chgData name="Maximiliano Ortiz" userId="90727fd8e92db46b" providerId="LiveId" clId="{9BC7EBD1-E6C7-40E2-9BE0-E69EBE0B6810}" dt="2026-08-03T17:45:35.978" v="59"/>
        <pc:sldMkLst>
          <pc:docMk/>
          <pc:sldMk cId="1673297158" sldId="267"/>
        </pc:sldMkLst>
        <pc:spChg chg="add mod">
          <ac:chgData name="Maximiliano Ortiz" userId="90727fd8e92db46b" providerId="LiveId" clId="{9BC7EBD1-E6C7-40E2-9BE0-E69EBE0B6810}" dt="2026-08-03T17:45:35.978" v="59"/>
          <ac:spMkLst>
            <pc:docMk/>
            <pc:sldMk cId="1673297158" sldId="267"/>
            <ac:spMk id="4" creationId="{7FB6D2A8-07C2-8A6B-1443-44F8D0CA2994}"/>
          </ac:spMkLst>
        </pc:spChg>
      </pc:sldChg>
      <pc:sldChg chg="addSp modSp">
        <pc:chgData name="Maximiliano Ortiz" userId="90727fd8e92db46b" providerId="LiveId" clId="{9BC7EBD1-E6C7-40E2-9BE0-E69EBE0B6810}" dt="2026-08-03T17:45:36" v="64"/>
        <pc:sldMkLst>
          <pc:docMk/>
          <pc:sldMk cId="48649001" sldId="268"/>
        </pc:sldMkLst>
        <pc:spChg chg="add mod">
          <ac:chgData name="Maximiliano Ortiz" userId="90727fd8e92db46b" providerId="LiveId" clId="{9BC7EBD1-E6C7-40E2-9BE0-E69EBE0B6810}" dt="2026-08-03T17:45:36" v="64"/>
          <ac:spMkLst>
            <pc:docMk/>
            <pc:sldMk cId="48649001" sldId="268"/>
            <ac:spMk id="4" creationId="{7B4A1E9A-1395-8B8F-95FA-0D7C5D05C2C3}"/>
          </ac:spMkLst>
        </pc:spChg>
      </pc:sldChg>
      <pc:sldChg chg="addSp modSp">
        <pc:chgData name="Maximiliano Ortiz" userId="90727fd8e92db46b" providerId="LiveId" clId="{9BC7EBD1-E6C7-40E2-9BE0-E69EBE0B6810}" dt="2026-08-03T17:45:36.022" v="69"/>
        <pc:sldMkLst>
          <pc:docMk/>
          <pc:sldMk cId="318321949" sldId="269"/>
        </pc:sldMkLst>
        <pc:spChg chg="add mod">
          <ac:chgData name="Maximiliano Ortiz" userId="90727fd8e92db46b" providerId="LiveId" clId="{9BC7EBD1-E6C7-40E2-9BE0-E69EBE0B6810}" dt="2026-08-03T17:45:36.022" v="69"/>
          <ac:spMkLst>
            <pc:docMk/>
            <pc:sldMk cId="318321949" sldId="269"/>
            <ac:spMk id="4" creationId="{09E09995-D238-F39E-9FBC-84DFCD907555}"/>
          </ac:spMkLst>
        </pc:spChg>
      </pc:sldChg>
      <pc:sldChg chg="addSp modSp">
        <pc:chgData name="Maximiliano Ortiz" userId="90727fd8e92db46b" providerId="LiveId" clId="{9BC7EBD1-E6C7-40E2-9BE0-E69EBE0B6810}" dt="2026-08-03T17:45:36.100" v="74"/>
        <pc:sldMkLst>
          <pc:docMk/>
          <pc:sldMk cId="1602286470" sldId="270"/>
        </pc:sldMkLst>
        <pc:spChg chg="add mod">
          <ac:chgData name="Maximiliano Ortiz" userId="90727fd8e92db46b" providerId="LiveId" clId="{9BC7EBD1-E6C7-40E2-9BE0-E69EBE0B6810}" dt="2026-08-03T17:45:36.100" v="74"/>
          <ac:spMkLst>
            <pc:docMk/>
            <pc:sldMk cId="1602286470" sldId="270"/>
            <ac:spMk id="24" creationId="{220B48D0-2972-A7B9-BD30-D2B45A946617}"/>
          </ac:spMkLst>
        </pc:spChg>
      </pc:sldChg>
      <pc:sldChg chg="addSp modSp">
        <pc:chgData name="Maximiliano Ortiz" userId="90727fd8e92db46b" providerId="LiveId" clId="{9BC7EBD1-E6C7-40E2-9BE0-E69EBE0B6810}" dt="2026-08-03T17:45:36.152" v="79"/>
        <pc:sldMkLst>
          <pc:docMk/>
          <pc:sldMk cId="318321949" sldId="271"/>
        </pc:sldMkLst>
        <pc:spChg chg="add mod">
          <ac:chgData name="Maximiliano Ortiz" userId="90727fd8e92db46b" providerId="LiveId" clId="{9BC7EBD1-E6C7-40E2-9BE0-E69EBE0B6810}" dt="2026-08-03T17:45:36.152" v="79"/>
          <ac:spMkLst>
            <pc:docMk/>
            <pc:sldMk cId="318321949" sldId="271"/>
            <ac:spMk id="13" creationId="{E84186E4-FFD1-5E16-052A-DC48F060276B}"/>
          </ac:spMkLst>
        </pc:spChg>
      </pc:sldChg>
      <pc:sldChg chg="addSp modSp">
        <pc:chgData name="Maximiliano Ortiz" userId="90727fd8e92db46b" providerId="LiveId" clId="{9BC7EBD1-E6C7-40E2-9BE0-E69EBE0B6810}" dt="2026-08-03T17:45:36.214" v="84"/>
        <pc:sldMkLst>
          <pc:docMk/>
          <pc:sldMk cId="1320203634" sldId="272"/>
        </pc:sldMkLst>
        <pc:spChg chg="add mod">
          <ac:chgData name="Maximiliano Ortiz" userId="90727fd8e92db46b" providerId="LiveId" clId="{9BC7EBD1-E6C7-40E2-9BE0-E69EBE0B6810}" dt="2026-08-03T17:45:36.214" v="84"/>
          <ac:spMkLst>
            <pc:docMk/>
            <pc:sldMk cId="1320203634" sldId="272"/>
            <ac:spMk id="23" creationId="{08FAF74C-CEF8-29BA-BA53-341516C8F422}"/>
          </ac:spMkLst>
        </pc:spChg>
      </pc:sldChg>
      <pc:sldChg chg="addSp modSp">
        <pc:chgData name="Maximiliano Ortiz" userId="90727fd8e92db46b" providerId="LiveId" clId="{9BC7EBD1-E6C7-40E2-9BE0-E69EBE0B6810}" dt="2026-08-03T17:45:36.234" v="89"/>
        <pc:sldMkLst>
          <pc:docMk/>
          <pc:sldMk cId="1164902343" sldId="273"/>
        </pc:sldMkLst>
        <pc:spChg chg="add mod">
          <ac:chgData name="Maximiliano Ortiz" userId="90727fd8e92db46b" providerId="LiveId" clId="{9BC7EBD1-E6C7-40E2-9BE0-E69EBE0B6810}" dt="2026-08-03T17:45:36.234" v="89"/>
          <ac:spMkLst>
            <pc:docMk/>
            <pc:sldMk cId="1164902343" sldId="273"/>
            <ac:spMk id="6" creationId="{FC207325-F1F9-2D54-80F6-45C2218FFCE3}"/>
          </ac:spMkLst>
        </pc:spChg>
      </pc:sldChg>
      <pc:sldChg chg="addSp modSp">
        <pc:chgData name="Maximiliano Ortiz" userId="90727fd8e92db46b" providerId="LiveId" clId="{9BC7EBD1-E6C7-40E2-9BE0-E69EBE0B6810}" dt="2026-08-03T17:45:36.266" v="94"/>
        <pc:sldMkLst>
          <pc:docMk/>
          <pc:sldMk cId="1673297158" sldId="274"/>
        </pc:sldMkLst>
        <pc:spChg chg="add mod">
          <ac:chgData name="Maximiliano Ortiz" userId="90727fd8e92db46b" providerId="LiveId" clId="{9BC7EBD1-E6C7-40E2-9BE0-E69EBE0B6810}" dt="2026-08-03T17:45:36.266" v="94"/>
          <ac:spMkLst>
            <pc:docMk/>
            <pc:sldMk cId="1673297158" sldId="274"/>
            <ac:spMk id="4" creationId="{89047260-464F-C267-F7A9-119EFBAF800D}"/>
          </ac:spMkLst>
        </pc:spChg>
      </pc:sldChg>
      <pc:sldChg chg="addSp modSp">
        <pc:chgData name="Maximiliano Ortiz" userId="90727fd8e92db46b" providerId="LiveId" clId="{9BC7EBD1-E6C7-40E2-9BE0-E69EBE0B6810}" dt="2026-08-03T17:45:36.294" v="99"/>
        <pc:sldMkLst>
          <pc:docMk/>
          <pc:sldMk cId="1046213385" sldId="275"/>
        </pc:sldMkLst>
        <pc:spChg chg="add mod">
          <ac:chgData name="Maximiliano Ortiz" userId="90727fd8e92db46b" providerId="LiveId" clId="{9BC7EBD1-E6C7-40E2-9BE0-E69EBE0B6810}" dt="2026-08-03T17:45:36.294" v="99"/>
          <ac:spMkLst>
            <pc:docMk/>
            <pc:sldMk cId="1046213385" sldId="275"/>
            <ac:spMk id="4" creationId="{41F8C6B3-E867-F0BB-1F6B-1E01D49AC2B5}"/>
          </ac:spMkLst>
        </pc:spChg>
      </pc:sldChg>
      <pc:sldChg chg="addSp modSp">
        <pc:chgData name="Maximiliano Ortiz" userId="90727fd8e92db46b" providerId="LiveId" clId="{9BC7EBD1-E6C7-40E2-9BE0-E69EBE0B6810}" dt="2026-08-03T17:45:36.319" v="104"/>
        <pc:sldMkLst>
          <pc:docMk/>
          <pc:sldMk cId="1995449240" sldId="276"/>
        </pc:sldMkLst>
        <pc:spChg chg="add mod">
          <ac:chgData name="Maximiliano Ortiz" userId="90727fd8e92db46b" providerId="LiveId" clId="{9BC7EBD1-E6C7-40E2-9BE0-E69EBE0B6810}" dt="2026-08-03T17:45:36.319" v="104"/>
          <ac:spMkLst>
            <pc:docMk/>
            <pc:sldMk cId="1995449240" sldId="276"/>
            <ac:spMk id="4" creationId="{3783D693-114D-D865-E675-B41561B7AD93}"/>
          </ac:spMkLst>
        </pc:spChg>
      </pc:sldChg>
      <pc:sldChg chg="addSp modSp">
        <pc:chgData name="Maximiliano Ortiz" userId="90727fd8e92db46b" providerId="LiveId" clId="{9BC7EBD1-E6C7-40E2-9BE0-E69EBE0B6810}" dt="2026-08-03T17:45:36.385" v="109"/>
        <pc:sldMkLst>
          <pc:docMk/>
          <pc:sldMk cId="1602286470" sldId="277"/>
        </pc:sldMkLst>
        <pc:spChg chg="add mod">
          <ac:chgData name="Maximiliano Ortiz" userId="90727fd8e92db46b" providerId="LiveId" clId="{9BC7EBD1-E6C7-40E2-9BE0-E69EBE0B6810}" dt="2026-08-03T17:45:36.385" v="109"/>
          <ac:spMkLst>
            <pc:docMk/>
            <pc:sldMk cId="1602286470" sldId="277"/>
            <ac:spMk id="24" creationId="{2709C5D2-261B-91C2-2660-2365516A0C00}"/>
          </ac:spMkLst>
        </pc:spChg>
      </pc:sldChg>
      <pc:sldChg chg="addSp modSp">
        <pc:chgData name="Maximiliano Ortiz" userId="90727fd8e92db46b" providerId="LiveId" clId="{9BC7EBD1-E6C7-40E2-9BE0-E69EBE0B6810}" dt="2026-08-03T17:45:36.554" v="114"/>
        <pc:sldMkLst>
          <pc:docMk/>
          <pc:sldMk cId="313021856" sldId="278"/>
        </pc:sldMkLst>
        <pc:spChg chg="add mod">
          <ac:chgData name="Maximiliano Ortiz" userId="90727fd8e92db46b" providerId="LiveId" clId="{9BC7EBD1-E6C7-40E2-9BE0-E69EBE0B6810}" dt="2026-08-03T17:45:36.554" v="114"/>
          <ac:spMkLst>
            <pc:docMk/>
            <pc:sldMk cId="313021856" sldId="278"/>
            <ac:spMk id="24" creationId="{1D3CA93B-E5E0-3710-2797-0C4D44600ECB}"/>
          </ac:spMkLst>
        </pc:spChg>
      </pc:sldChg>
      <pc:sldChg chg="addSp modSp">
        <pc:chgData name="Maximiliano Ortiz" userId="90727fd8e92db46b" providerId="LiveId" clId="{9BC7EBD1-E6C7-40E2-9BE0-E69EBE0B6810}" dt="2026-08-03T17:45:36.615" v="119"/>
        <pc:sldMkLst>
          <pc:docMk/>
          <pc:sldMk cId="1133635661" sldId="279"/>
        </pc:sldMkLst>
        <pc:spChg chg="add mod">
          <ac:chgData name="Maximiliano Ortiz" userId="90727fd8e92db46b" providerId="LiveId" clId="{9BC7EBD1-E6C7-40E2-9BE0-E69EBE0B6810}" dt="2026-08-03T17:45:36.615" v="119"/>
          <ac:spMkLst>
            <pc:docMk/>
            <pc:sldMk cId="1133635661" sldId="279"/>
            <ac:spMk id="24" creationId="{4CCECD68-50DC-F2C0-4CFA-C81587747CD6}"/>
          </ac:spMkLst>
        </pc:spChg>
      </pc:sldChg>
      <pc:sldChg chg="addSp modSp">
        <pc:chgData name="Maximiliano Ortiz" userId="90727fd8e92db46b" providerId="LiveId" clId="{9BC7EBD1-E6C7-40E2-9BE0-E69EBE0B6810}" dt="2026-08-03T17:45:36.644" v="124"/>
        <pc:sldMkLst>
          <pc:docMk/>
          <pc:sldMk cId="1673297158" sldId="280"/>
        </pc:sldMkLst>
        <pc:spChg chg="add mod">
          <ac:chgData name="Maximiliano Ortiz" userId="90727fd8e92db46b" providerId="LiveId" clId="{9BC7EBD1-E6C7-40E2-9BE0-E69EBE0B6810}" dt="2026-08-03T17:45:36.644" v="124"/>
          <ac:spMkLst>
            <pc:docMk/>
            <pc:sldMk cId="1673297158" sldId="280"/>
            <ac:spMk id="4" creationId="{E302CBC3-E9EE-C9BB-D171-0779A72073F2}"/>
          </ac:spMkLst>
        </pc:spChg>
      </pc:sldChg>
      <pc:sldChg chg="addSp modSp">
        <pc:chgData name="Maximiliano Ortiz" userId="90727fd8e92db46b" providerId="LiveId" clId="{9BC7EBD1-E6C7-40E2-9BE0-E69EBE0B6810}" dt="2026-08-03T17:45:36.720" v="129"/>
        <pc:sldMkLst>
          <pc:docMk/>
          <pc:sldMk cId="318321949" sldId="281"/>
        </pc:sldMkLst>
        <pc:spChg chg="add mod">
          <ac:chgData name="Maximiliano Ortiz" userId="90727fd8e92db46b" providerId="LiveId" clId="{9BC7EBD1-E6C7-40E2-9BE0-E69EBE0B6810}" dt="2026-08-03T17:45:36.720" v="129"/>
          <ac:spMkLst>
            <pc:docMk/>
            <pc:sldMk cId="318321949" sldId="281"/>
            <ac:spMk id="24" creationId="{9802AFB2-FE4F-0E6D-26B1-9EFA0216FB6C}"/>
          </ac:spMkLst>
        </pc:spChg>
      </pc:sldChg>
      <pc:sldChg chg="addSp modSp">
        <pc:chgData name="Maximiliano Ortiz" userId="90727fd8e92db46b" providerId="LiveId" clId="{9BC7EBD1-E6C7-40E2-9BE0-E69EBE0B6810}" dt="2026-08-03T17:45:36.786" v="134"/>
        <pc:sldMkLst>
          <pc:docMk/>
          <pc:sldMk cId="1602286470" sldId="282"/>
        </pc:sldMkLst>
        <pc:spChg chg="add mod">
          <ac:chgData name="Maximiliano Ortiz" userId="90727fd8e92db46b" providerId="LiveId" clId="{9BC7EBD1-E6C7-40E2-9BE0-E69EBE0B6810}" dt="2026-08-03T17:45:36.786" v="134"/>
          <ac:spMkLst>
            <pc:docMk/>
            <pc:sldMk cId="1602286470" sldId="282"/>
            <ac:spMk id="24" creationId="{0F2457FF-E5EB-F85B-DC91-96D27F63700C}"/>
          </ac:spMkLst>
        </pc:spChg>
      </pc:sldChg>
      <pc:sldChg chg="addSp modSp">
        <pc:chgData name="Maximiliano Ortiz" userId="90727fd8e92db46b" providerId="LiveId" clId="{9BC7EBD1-E6C7-40E2-9BE0-E69EBE0B6810}" dt="2026-08-03T17:45:36.846" v="139"/>
        <pc:sldMkLst>
          <pc:docMk/>
          <pc:sldMk cId="1602286470" sldId="283"/>
        </pc:sldMkLst>
        <pc:spChg chg="add mod">
          <ac:chgData name="Maximiliano Ortiz" userId="90727fd8e92db46b" providerId="LiveId" clId="{9BC7EBD1-E6C7-40E2-9BE0-E69EBE0B6810}" dt="2026-08-03T17:45:36.846" v="139"/>
          <ac:spMkLst>
            <pc:docMk/>
            <pc:sldMk cId="1602286470" sldId="283"/>
            <ac:spMk id="24" creationId="{212A784A-B4B5-D923-73A8-3F200F08C7A3}"/>
          </ac:spMkLst>
        </pc:spChg>
      </pc:sldChg>
      <pc:sldChg chg="addSp modSp">
        <pc:chgData name="Maximiliano Ortiz" userId="90727fd8e92db46b" providerId="LiveId" clId="{9BC7EBD1-E6C7-40E2-9BE0-E69EBE0B6810}" dt="2026-08-03T17:45:36.890" v="144"/>
        <pc:sldMkLst>
          <pc:docMk/>
          <pc:sldMk cId="1320203634" sldId="284"/>
        </pc:sldMkLst>
        <pc:spChg chg="add mod">
          <ac:chgData name="Maximiliano Ortiz" userId="90727fd8e92db46b" providerId="LiveId" clId="{9BC7EBD1-E6C7-40E2-9BE0-E69EBE0B6810}" dt="2026-08-03T17:45:36.890" v="144"/>
          <ac:spMkLst>
            <pc:docMk/>
            <pc:sldMk cId="1320203634" sldId="284"/>
            <ac:spMk id="23" creationId="{0F9AE6EA-9132-83F4-7F93-105F98CF64BB}"/>
          </ac:spMkLst>
        </pc:spChg>
      </pc:sldChg>
      <pc:sldChg chg="addSp modSp">
        <pc:chgData name="Maximiliano Ortiz" userId="90727fd8e92db46b" providerId="LiveId" clId="{9BC7EBD1-E6C7-40E2-9BE0-E69EBE0B6810}" dt="2026-08-03T17:45:36.908" v="149"/>
        <pc:sldMkLst>
          <pc:docMk/>
          <pc:sldMk cId="1164902343" sldId="285"/>
        </pc:sldMkLst>
        <pc:spChg chg="add mod">
          <ac:chgData name="Maximiliano Ortiz" userId="90727fd8e92db46b" providerId="LiveId" clId="{9BC7EBD1-E6C7-40E2-9BE0-E69EBE0B6810}" dt="2026-08-03T17:45:36.908" v="149"/>
          <ac:spMkLst>
            <pc:docMk/>
            <pc:sldMk cId="1164902343" sldId="285"/>
            <ac:spMk id="6" creationId="{76EDCEAD-1B4E-7BC3-F246-E6C55D91ED6B}"/>
          </ac:spMkLst>
        </pc:spChg>
      </pc:sldChg>
      <pc:sldChg chg="addSp modSp">
        <pc:chgData name="Maximiliano Ortiz" userId="90727fd8e92db46b" providerId="LiveId" clId="{9BC7EBD1-E6C7-40E2-9BE0-E69EBE0B6810}" dt="2026-08-03T17:45:36.971" v="154"/>
        <pc:sldMkLst>
          <pc:docMk/>
          <pc:sldMk cId="567438305" sldId="286"/>
        </pc:sldMkLst>
        <pc:spChg chg="add mod">
          <ac:chgData name="Maximiliano Ortiz" userId="90727fd8e92db46b" providerId="LiveId" clId="{9BC7EBD1-E6C7-40E2-9BE0-E69EBE0B6810}" dt="2026-08-03T17:45:36.971" v="154"/>
          <ac:spMkLst>
            <pc:docMk/>
            <pc:sldMk cId="567438305" sldId="286"/>
            <ac:spMk id="22" creationId="{4096426C-829D-9D79-5EA3-21C5D1DCFB0A}"/>
          </ac:spMkLst>
        </pc:spChg>
      </pc:sldChg>
      <pc:sldChg chg="addSp modSp">
        <pc:chgData name="Maximiliano Ortiz" userId="90727fd8e92db46b" providerId="LiveId" clId="{9BC7EBD1-E6C7-40E2-9BE0-E69EBE0B6810}" dt="2026-08-03T17:45:36.997" v="159"/>
        <pc:sldMkLst>
          <pc:docMk/>
          <pc:sldMk cId="986630461" sldId="287"/>
        </pc:sldMkLst>
        <pc:spChg chg="add mod">
          <ac:chgData name="Maximiliano Ortiz" userId="90727fd8e92db46b" providerId="LiveId" clId="{9BC7EBD1-E6C7-40E2-9BE0-E69EBE0B6810}" dt="2026-08-03T17:45:36.997" v="159"/>
          <ac:spMkLst>
            <pc:docMk/>
            <pc:sldMk cId="986630461" sldId="287"/>
            <ac:spMk id="4" creationId="{4D47DF16-41F0-308C-F88E-2AE139BE9B98}"/>
          </ac:spMkLst>
        </pc:spChg>
      </pc:sldChg>
      <pc:sldChg chg="addSp modSp">
        <pc:chgData name="Maximiliano Ortiz" userId="90727fd8e92db46b" providerId="LiveId" clId="{9BC7EBD1-E6C7-40E2-9BE0-E69EBE0B6810}" dt="2026-08-03T17:45:37.063" v="164"/>
        <pc:sldMkLst>
          <pc:docMk/>
          <pc:sldMk cId="1602286470" sldId="288"/>
        </pc:sldMkLst>
        <pc:spChg chg="add mod">
          <ac:chgData name="Maximiliano Ortiz" userId="90727fd8e92db46b" providerId="LiveId" clId="{9BC7EBD1-E6C7-40E2-9BE0-E69EBE0B6810}" dt="2026-08-03T17:45:37.063" v="164"/>
          <ac:spMkLst>
            <pc:docMk/>
            <pc:sldMk cId="1602286470" sldId="288"/>
            <ac:spMk id="22" creationId="{AE2811B6-3197-4D98-CD7E-C557A17B12A3}"/>
          </ac:spMkLst>
        </pc:spChg>
      </pc:sldChg>
      <pc:sldChg chg="addSp modSp">
        <pc:chgData name="Maximiliano Ortiz" userId="90727fd8e92db46b" providerId="LiveId" clId="{9BC7EBD1-E6C7-40E2-9BE0-E69EBE0B6810}" dt="2026-08-03T17:45:37.127" v="169"/>
        <pc:sldMkLst>
          <pc:docMk/>
          <pc:sldMk cId="318321949" sldId="289"/>
        </pc:sldMkLst>
        <pc:spChg chg="add mod">
          <ac:chgData name="Maximiliano Ortiz" userId="90727fd8e92db46b" providerId="LiveId" clId="{9BC7EBD1-E6C7-40E2-9BE0-E69EBE0B6810}" dt="2026-08-03T17:45:37.127" v="169"/>
          <ac:spMkLst>
            <pc:docMk/>
            <pc:sldMk cId="318321949" sldId="289"/>
            <ac:spMk id="22" creationId="{8EC5474A-BB35-A6B5-17F7-B71FE3593A74}"/>
          </ac:spMkLst>
        </pc:spChg>
      </pc:sldChg>
      <pc:sldChg chg="addSp modSp">
        <pc:chgData name="Maximiliano Ortiz" userId="90727fd8e92db46b" providerId="LiveId" clId="{9BC7EBD1-E6C7-40E2-9BE0-E69EBE0B6810}" dt="2026-08-03T17:45:37.155" v="174"/>
        <pc:sldMkLst>
          <pc:docMk/>
          <pc:sldMk cId="48649001" sldId="290"/>
        </pc:sldMkLst>
        <pc:spChg chg="add mod">
          <ac:chgData name="Maximiliano Ortiz" userId="90727fd8e92db46b" providerId="LiveId" clId="{9BC7EBD1-E6C7-40E2-9BE0-E69EBE0B6810}" dt="2026-08-03T17:45:37.155" v="174"/>
          <ac:spMkLst>
            <pc:docMk/>
            <pc:sldMk cId="48649001" sldId="290"/>
            <ac:spMk id="4" creationId="{EA2D1E03-2A85-ACBC-51F8-77E7CAAE973F}"/>
          </ac:spMkLst>
        </pc:spChg>
      </pc:sldChg>
      <pc:sldChg chg="addSp modSp">
        <pc:chgData name="Maximiliano Ortiz" userId="90727fd8e92db46b" providerId="LiveId" clId="{9BC7EBD1-E6C7-40E2-9BE0-E69EBE0B6810}" dt="2026-08-03T17:45:37.188" v="179"/>
        <pc:sldMkLst>
          <pc:docMk/>
          <pc:sldMk cId="1602286470" sldId="291"/>
        </pc:sldMkLst>
        <pc:spChg chg="add mod">
          <ac:chgData name="Maximiliano Ortiz" userId="90727fd8e92db46b" providerId="LiveId" clId="{9BC7EBD1-E6C7-40E2-9BE0-E69EBE0B6810}" dt="2026-08-03T17:45:37.188" v="179"/>
          <ac:spMkLst>
            <pc:docMk/>
            <pc:sldMk cId="1602286470" sldId="291"/>
            <ac:spMk id="4" creationId="{469DFF8A-0583-A3E4-BAC4-80CAFE04B44C}"/>
          </ac:spMkLst>
        </pc:spChg>
      </pc:sldChg>
      <pc:sldChg chg="addSp modSp">
        <pc:chgData name="Maximiliano Ortiz" userId="90727fd8e92db46b" providerId="LiveId" clId="{9BC7EBD1-E6C7-40E2-9BE0-E69EBE0B6810}" dt="2026-08-03T17:45:37.255" v="184"/>
        <pc:sldMkLst>
          <pc:docMk/>
          <pc:sldMk cId="1133635661" sldId="292"/>
        </pc:sldMkLst>
        <pc:spChg chg="add mod">
          <ac:chgData name="Maximiliano Ortiz" userId="90727fd8e92db46b" providerId="LiveId" clId="{9BC7EBD1-E6C7-40E2-9BE0-E69EBE0B6810}" dt="2026-08-03T17:45:37.255" v="184"/>
          <ac:spMkLst>
            <pc:docMk/>
            <pc:sldMk cId="1133635661" sldId="292"/>
            <ac:spMk id="22" creationId="{D70FAFF5-314B-8C4F-17E4-8F2DF869E64D}"/>
          </ac:spMkLst>
        </pc:spChg>
      </pc:sldChg>
      <pc:sldChg chg="addSp modSp">
        <pc:chgData name="Maximiliano Ortiz" userId="90727fd8e92db46b" providerId="LiveId" clId="{9BC7EBD1-E6C7-40E2-9BE0-E69EBE0B6810}" dt="2026-08-03T17:45:37.289" v="189"/>
        <pc:sldMkLst>
          <pc:docMk/>
          <pc:sldMk cId="281546375" sldId="293"/>
        </pc:sldMkLst>
        <pc:spChg chg="add mod">
          <ac:chgData name="Maximiliano Ortiz" userId="90727fd8e92db46b" providerId="LiveId" clId="{9BC7EBD1-E6C7-40E2-9BE0-E69EBE0B6810}" dt="2026-08-03T17:45:37.289" v="189"/>
          <ac:spMkLst>
            <pc:docMk/>
            <pc:sldMk cId="281546375" sldId="293"/>
            <ac:spMk id="14" creationId="{77176A3D-2A37-4640-C076-53305D31E0D6}"/>
          </ac:spMkLst>
        </pc:spChg>
      </pc:sldChg>
      <pc:sldChg chg="addSp modSp">
        <pc:chgData name="Maximiliano Ortiz" userId="90727fd8e92db46b" providerId="LiveId" clId="{9BC7EBD1-E6C7-40E2-9BE0-E69EBE0B6810}" dt="2026-08-03T17:45:37.348" v="194"/>
        <pc:sldMkLst>
          <pc:docMk/>
          <pc:sldMk cId="1741329192" sldId="294"/>
        </pc:sldMkLst>
        <pc:spChg chg="add mod">
          <ac:chgData name="Maximiliano Ortiz" userId="90727fd8e92db46b" providerId="LiveId" clId="{9BC7EBD1-E6C7-40E2-9BE0-E69EBE0B6810}" dt="2026-08-03T17:45:37.348" v="194"/>
          <ac:spMkLst>
            <pc:docMk/>
            <pc:sldMk cId="1741329192" sldId="294"/>
            <ac:spMk id="22" creationId="{0FD39366-133B-2E1E-FD73-22CF3D0FB7E0}"/>
          </ac:spMkLst>
        </pc:spChg>
      </pc:sldChg>
      <pc:sldChg chg="addSp modSp">
        <pc:chgData name="Maximiliano Ortiz" userId="90727fd8e92db46b" providerId="LiveId" clId="{9BC7EBD1-E6C7-40E2-9BE0-E69EBE0B6810}" dt="2026-08-03T17:45:37.393" v="199"/>
        <pc:sldMkLst>
          <pc:docMk/>
          <pc:sldMk cId="1320203634" sldId="295"/>
        </pc:sldMkLst>
        <pc:spChg chg="add mod">
          <ac:chgData name="Maximiliano Ortiz" userId="90727fd8e92db46b" providerId="LiveId" clId="{9BC7EBD1-E6C7-40E2-9BE0-E69EBE0B6810}" dt="2026-08-03T17:45:37.393" v="199"/>
          <ac:spMkLst>
            <pc:docMk/>
            <pc:sldMk cId="1320203634" sldId="295"/>
            <ac:spMk id="23" creationId="{CBBE44C3-B45C-4F12-53AF-55DF09092994}"/>
          </ac:spMkLst>
        </pc:spChg>
      </pc:sldChg>
      <pc:sldChg chg="addSp modSp">
        <pc:chgData name="Maximiliano Ortiz" userId="90727fd8e92db46b" providerId="LiveId" clId="{9BC7EBD1-E6C7-40E2-9BE0-E69EBE0B6810}" dt="2026-08-03T17:45:37.410" v="204"/>
        <pc:sldMkLst>
          <pc:docMk/>
          <pc:sldMk cId="1164902343" sldId="296"/>
        </pc:sldMkLst>
        <pc:spChg chg="add mod">
          <ac:chgData name="Maximiliano Ortiz" userId="90727fd8e92db46b" providerId="LiveId" clId="{9BC7EBD1-E6C7-40E2-9BE0-E69EBE0B6810}" dt="2026-08-03T17:45:37.410" v="204"/>
          <ac:spMkLst>
            <pc:docMk/>
            <pc:sldMk cId="1164902343" sldId="296"/>
            <ac:spMk id="6" creationId="{6CB0F9BA-6D21-5FAB-AFBD-C8F17B483D29}"/>
          </ac:spMkLst>
        </pc:spChg>
      </pc:sldChg>
      <pc:sldChg chg="addSp modSp">
        <pc:chgData name="Maximiliano Ortiz" userId="90727fd8e92db46b" providerId="LiveId" clId="{9BC7EBD1-E6C7-40E2-9BE0-E69EBE0B6810}" dt="2026-08-03T17:45:37.467" v="209"/>
        <pc:sldMkLst>
          <pc:docMk/>
          <pc:sldMk cId="567438305" sldId="297"/>
        </pc:sldMkLst>
        <pc:spChg chg="add mod">
          <ac:chgData name="Maximiliano Ortiz" userId="90727fd8e92db46b" providerId="LiveId" clId="{9BC7EBD1-E6C7-40E2-9BE0-E69EBE0B6810}" dt="2026-08-03T17:45:37.467" v="209"/>
          <ac:spMkLst>
            <pc:docMk/>
            <pc:sldMk cId="567438305" sldId="297"/>
            <ac:spMk id="19" creationId="{8FEFDD13-20D6-FF3A-27E0-CEA2CBBAFA26}"/>
          </ac:spMkLst>
        </pc:spChg>
      </pc:sldChg>
      <pc:sldChg chg="addSp modSp">
        <pc:chgData name="Maximiliano Ortiz" userId="90727fd8e92db46b" providerId="LiveId" clId="{9BC7EBD1-E6C7-40E2-9BE0-E69EBE0B6810}" dt="2026-08-03T17:45:37.493" v="214"/>
        <pc:sldMkLst>
          <pc:docMk/>
          <pc:sldMk cId="48649001" sldId="298"/>
        </pc:sldMkLst>
        <pc:spChg chg="add mod">
          <ac:chgData name="Maximiliano Ortiz" userId="90727fd8e92db46b" providerId="LiveId" clId="{9BC7EBD1-E6C7-40E2-9BE0-E69EBE0B6810}" dt="2026-08-03T17:45:37.493" v="214"/>
          <ac:spMkLst>
            <pc:docMk/>
            <pc:sldMk cId="48649001" sldId="298"/>
            <ac:spMk id="4" creationId="{B4963F4F-D732-A629-3091-DA0BF83DCFE4}"/>
          </ac:spMkLst>
        </pc:spChg>
      </pc:sldChg>
      <pc:sldChg chg="addSp modSp">
        <pc:chgData name="Maximiliano Ortiz" userId="90727fd8e92db46b" providerId="LiveId" clId="{9BC7EBD1-E6C7-40E2-9BE0-E69EBE0B6810}" dt="2026-08-03T17:45:37.606" v="219"/>
        <pc:sldMkLst>
          <pc:docMk/>
          <pc:sldMk cId="986630461" sldId="299"/>
        </pc:sldMkLst>
        <pc:spChg chg="add mod">
          <ac:chgData name="Maximiliano Ortiz" userId="90727fd8e92db46b" providerId="LiveId" clId="{9BC7EBD1-E6C7-40E2-9BE0-E69EBE0B6810}" dt="2026-08-03T17:45:37.606" v="219"/>
          <ac:spMkLst>
            <pc:docMk/>
            <pc:sldMk cId="986630461" sldId="299"/>
            <ac:spMk id="4" creationId="{713B3392-57E3-4E09-2A6C-B2E996E13BCF}"/>
          </ac:spMkLst>
        </pc:spChg>
      </pc:sldChg>
      <pc:sldChg chg="addSp modSp">
        <pc:chgData name="Maximiliano Ortiz" userId="90727fd8e92db46b" providerId="LiveId" clId="{9BC7EBD1-E6C7-40E2-9BE0-E69EBE0B6810}" dt="2026-08-03T17:45:37.635" v="224"/>
        <pc:sldMkLst>
          <pc:docMk/>
          <pc:sldMk cId="318321949" sldId="300"/>
        </pc:sldMkLst>
        <pc:spChg chg="add mod">
          <ac:chgData name="Maximiliano Ortiz" userId="90727fd8e92db46b" providerId="LiveId" clId="{9BC7EBD1-E6C7-40E2-9BE0-E69EBE0B6810}" dt="2026-08-03T17:45:37.635" v="224"/>
          <ac:spMkLst>
            <pc:docMk/>
            <pc:sldMk cId="318321949" sldId="300"/>
            <ac:spMk id="13" creationId="{D6D35ED8-CBF6-EB3D-08BF-A894EF6955F1}"/>
          </ac:spMkLst>
        </pc:spChg>
      </pc:sldChg>
      <pc:sldChg chg="addSp modSp">
        <pc:chgData name="Maximiliano Ortiz" userId="90727fd8e92db46b" providerId="LiveId" clId="{9BC7EBD1-E6C7-40E2-9BE0-E69EBE0B6810}" dt="2026-08-03T17:45:37.660" v="229"/>
        <pc:sldMkLst>
          <pc:docMk/>
          <pc:sldMk cId="1995449240" sldId="301"/>
        </pc:sldMkLst>
        <pc:spChg chg="add mod">
          <ac:chgData name="Maximiliano Ortiz" userId="90727fd8e92db46b" providerId="LiveId" clId="{9BC7EBD1-E6C7-40E2-9BE0-E69EBE0B6810}" dt="2026-08-03T17:45:37.660" v="229"/>
          <ac:spMkLst>
            <pc:docMk/>
            <pc:sldMk cId="1995449240" sldId="301"/>
            <ac:spMk id="11" creationId="{9B5EE2FA-0635-8FFD-55D7-D877CDB97715}"/>
          </ac:spMkLst>
        </pc:spChg>
      </pc:sldChg>
      <pc:sldChg chg="addSp modSp">
        <pc:chgData name="Maximiliano Ortiz" userId="90727fd8e92db46b" providerId="LiveId" clId="{9BC7EBD1-E6C7-40E2-9BE0-E69EBE0B6810}" dt="2026-08-03T17:45:37.710" v="234"/>
        <pc:sldMkLst>
          <pc:docMk/>
          <pc:sldMk cId="567438305" sldId="302"/>
        </pc:sldMkLst>
        <pc:spChg chg="add mod">
          <ac:chgData name="Maximiliano Ortiz" userId="90727fd8e92db46b" providerId="LiveId" clId="{9BC7EBD1-E6C7-40E2-9BE0-E69EBE0B6810}" dt="2026-08-03T17:45:37.710" v="234"/>
          <ac:spMkLst>
            <pc:docMk/>
            <pc:sldMk cId="567438305" sldId="302"/>
            <ac:spMk id="19" creationId="{E09DCA08-19E9-7F6A-5180-2123CDD8926A}"/>
          </ac:spMkLst>
        </pc:spChg>
      </pc:sldChg>
      <pc:sldChg chg="addSp modSp">
        <pc:chgData name="Maximiliano Ortiz" userId="90727fd8e92db46b" providerId="LiveId" clId="{9BC7EBD1-E6C7-40E2-9BE0-E69EBE0B6810}" dt="2026-08-03T17:45:37.733" v="239"/>
        <pc:sldMkLst>
          <pc:docMk/>
          <pc:sldMk cId="817057724" sldId="303"/>
        </pc:sldMkLst>
        <pc:spChg chg="add mod">
          <ac:chgData name="Maximiliano Ortiz" userId="90727fd8e92db46b" providerId="LiveId" clId="{9BC7EBD1-E6C7-40E2-9BE0-E69EBE0B6810}" dt="2026-08-03T17:45:37.733" v="239"/>
          <ac:spMkLst>
            <pc:docMk/>
            <pc:sldMk cId="817057724" sldId="303"/>
            <ac:spMk id="11" creationId="{A9F1536E-7E5C-2087-0B8A-311818AB4661}"/>
          </ac:spMkLst>
        </pc:spChg>
      </pc:sldChg>
      <pc:sldChg chg="addSp modSp">
        <pc:chgData name="Maximiliano Ortiz" userId="90727fd8e92db46b" providerId="LiveId" clId="{9BC7EBD1-E6C7-40E2-9BE0-E69EBE0B6810}" dt="2026-08-03T17:45:37.786" v="244"/>
        <pc:sldMkLst>
          <pc:docMk/>
          <pc:sldMk cId="318321949" sldId="304"/>
        </pc:sldMkLst>
        <pc:spChg chg="add mod">
          <ac:chgData name="Maximiliano Ortiz" userId="90727fd8e92db46b" providerId="LiveId" clId="{9BC7EBD1-E6C7-40E2-9BE0-E69EBE0B6810}" dt="2026-08-03T17:45:37.786" v="244"/>
          <ac:spMkLst>
            <pc:docMk/>
            <pc:sldMk cId="318321949" sldId="304"/>
            <ac:spMk id="19" creationId="{1EF9B6DC-03DB-CC5A-4716-F0A2CC4C3AE0}"/>
          </ac:spMkLst>
        </pc:spChg>
      </pc:sldChg>
      <pc:sldChg chg="addSp modSp">
        <pc:chgData name="Maximiliano Ortiz" userId="90727fd8e92db46b" providerId="LiveId" clId="{9BC7EBD1-E6C7-40E2-9BE0-E69EBE0B6810}" dt="2026-08-03T17:45:37.839" v="249"/>
        <pc:sldMkLst>
          <pc:docMk/>
          <pc:sldMk cId="1602286470" sldId="305"/>
        </pc:sldMkLst>
        <pc:spChg chg="add mod">
          <ac:chgData name="Maximiliano Ortiz" userId="90727fd8e92db46b" providerId="LiveId" clId="{9BC7EBD1-E6C7-40E2-9BE0-E69EBE0B6810}" dt="2026-08-03T17:45:37.839" v="249"/>
          <ac:spMkLst>
            <pc:docMk/>
            <pc:sldMk cId="1602286470" sldId="305"/>
            <ac:spMk id="19" creationId="{BE83DBEA-59EB-7566-C0A6-8EC96302502B}"/>
          </ac:spMkLst>
        </pc:spChg>
      </pc:sldChg>
      <pc:sldChg chg="addSp modSp">
        <pc:chgData name="Maximiliano Ortiz" userId="90727fd8e92db46b" providerId="LiveId" clId="{9BC7EBD1-E6C7-40E2-9BE0-E69EBE0B6810}" dt="2026-08-03T17:45:37.889" v="254"/>
        <pc:sldMkLst>
          <pc:docMk/>
          <pc:sldMk cId="1320203634" sldId="306"/>
        </pc:sldMkLst>
        <pc:spChg chg="add mod">
          <ac:chgData name="Maximiliano Ortiz" userId="90727fd8e92db46b" providerId="LiveId" clId="{9BC7EBD1-E6C7-40E2-9BE0-E69EBE0B6810}" dt="2026-08-03T17:45:37.889" v="254"/>
          <ac:spMkLst>
            <pc:docMk/>
            <pc:sldMk cId="1320203634" sldId="306"/>
            <ac:spMk id="23" creationId="{C4AEFB52-C36E-AE9B-E720-45A52CE0AF2F}"/>
          </ac:spMkLst>
        </pc:spChg>
      </pc:sldChg>
      <pc:sldChg chg="addSp modSp">
        <pc:chgData name="Maximiliano Ortiz" userId="90727fd8e92db46b" providerId="LiveId" clId="{9BC7EBD1-E6C7-40E2-9BE0-E69EBE0B6810}" dt="2026-08-03T17:45:37.910" v="259"/>
        <pc:sldMkLst>
          <pc:docMk/>
          <pc:sldMk cId="1164902343" sldId="307"/>
        </pc:sldMkLst>
        <pc:spChg chg="add mod">
          <ac:chgData name="Maximiliano Ortiz" userId="90727fd8e92db46b" providerId="LiveId" clId="{9BC7EBD1-E6C7-40E2-9BE0-E69EBE0B6810}" dt="2026-08-03T17:45:37.910" v="259"/>
          <ac:spMkLst>
            <pc:docMk/>
            <pc:sldMk cId="1164902343" sldId="307"/>
            <ac:spMk id="6" creationId="{054DE95B-C9DF-449C-7359-30756163FED3}"/>
          </ac:spMkLst>
        </pc:spChg>
      </pc:sldChg>
      <pc:sldChg chg="addSp modSp">
        <pc:chgData name="Maximiliano Ortiz" userId="90727fd8e92db46b" providerId="LiveId" clId="{9BC7EBD1-E6C7-40E2-9BE0-E69EBE0B6810}" dt="2026-08-03T17:45:37.950" v="264"/>
        <pc:sldMkLst>
          <pc:docMk/>
          <pc:sldMk cId="986630461" sldId="308"/>
        </pc:sldMkLst>
        <pc:spChg chg="add mod">
          <ac:chgData name="Maximiliano Ortiz" userId="90727fd8e92db46b" providerId="LiveId" clId="{9BC7EBD1-E6C7-40E2-9BE0-E69EBE0B6810}" dt="2026-08-03T17:45:37.950" v="264"/>
          <ac:spMkLst>
            <pc:docMk/>
            <pc:sldMk cId="986630461" sldId="308"/>
            <ac:spMk id="13" creationId="{59D5FB25-325A-1182-EC8C-B4EE63C9B474}"/>
          </ac:spMkLst>
        </pc:spChg>
      </pc:sldChg>
      <pc:sldChg chg="addSp modSp">
        <pc:chgData name="Maximiliano Ortiz" userId="90727fd8e92db46b" providerId="LiveId" clId="{9BC7EBD1-E6C7-40E2-9BE0-E69EBE0B6810}" dt="2026-08-03T17:45:37.995" v="269"/>
        <pc:sldMkLst>
          <pc:docMk/>
          <pc:sldMk cId="986630461" sldId="309"/>
        </pc:sldMkLst>
        <pc:spChg chg="add mod">
          <ac:chgData name="Maximiliano Ortiz" userId="90727fd8e92db46b" providerId="LiveId" clId="{9BC7EBD1-E6C7-40E2-9BE0-E69EBE0B6810}" dt="2026-08-03T17:45:37.995" v="269"/>
          <ac:spMkLst>
            <pc:docMk/>
            <pc:sldMk cId="986630461" sldId="309"/>
            <ac:spMk id="13" creationId="{4D6532C6-8924-5BA3-009A-26F721FC13D4}"/>
          </ac:spMkLst>
        </pc:spChg>
      </pc:sldChg>
      <pc:sldChg chg="addSp modSp">
        <pc:chgData name="Maximiliano Ortiz" userId="90727fd8e92db46b" providerId="LiveId" clId="{9BC7EBD1-E6C7-40E2-9BE0-E69EBE0B6810}" dt="2026-08-03T17:45:38.048" v="274"/>
        <pc:sldMkLst>
          <pc:docMk/>
          <pc:sldMk cId="318321949" sldId="310"/>
        </pc:sldMkLst>
        <pc:spChg chg="add mod">
          <ac:chgData name="Maximiliano Ortiz" userId="90727fd8e92db46b" providerId="LiveId" clId="{9BC7EBD1-E6C7-40E2-9BE0-E69EBE0B6810}" dt="2026-08-03T17:45:38.048" v="274"/>
          <ac:spMkLst>
            <pc:docMk/>
            <pc:sldMk cId="318321949" sldId="310"/>
            <ac:spMk id="13" creationId="{946BB801-1080-B83C-24DC-121C3FC36FBC}"/>
          </ac:spMkLst>
        </pc:spChg>
      </pc:sldChg>
      <pc:sldChg chg="addSp modSp">
        <pc:chgData name="Maximiliano Ortiz" userId="90727fd8e92db46b" providerId="LiveId" clId="{9BC7EBD1-E6C7-40E2-9BE0-E69EBE0B6810}" dt="2026-08-03T17:45:38.091" v="279"/>
        <pc:sldMkLst>
          <pc:docMk/>
          <pc:sldMk cId="1995449240" sldId="311"/>
        </pc:sldMkLst>
        <pc:spChg chg="add mod">
          <ac:chgData name="Maximiliano Ortiz" userId="90727fd8e92db46b" providerId="LiveId" clId="{9BC7EBD1-E6C7-40E2-9BE0-E69EBE0B6810}" dt="2026-08-03T17:45:38.091" v="279"/>
          <ac:spMkLst>
            <pc:docMk/>
            <pc:sldMk cId="1995449240" sldId="311"/>
            <ac:spMk id="13" creationId="{0681B8C7-A7D7-BC9A-6DE0-69561D41F4CA}"/>
          </ac:spMkLst>
        </pc:spChg>
      </pc:sldChg>
      <pc:sldChg chg="addSp modSp">
        <pc:chgData name="Maximiliano Ortiz" userId="90727fd8e92db46b" providerId="LiveId" clId="{9BC7EBD1-E6C7-40E2-9BE0-E69EBE0B6810}" dt="2026-08-03T17:45:38.130" v="284"/>
        <pc:sldMkLst>
          <pc:docMk/>
          <pc:sldMk cId="1602286470" sldId="312"/>
        </pc:sldMkLst>
        <pc:spChg chg="add mod">
          <ac:chgData name="Maximiliano Ortiz" userId="90727fd8e92db46b" providerId="LiveId" clId="{9BC7EBD1-E6C7-40E2-9BE0-E69EBE0B6810}" dt="2026-08-03T17:45:38.130" v="284"/>
          <ac:spMkLst>
            <pc:docMk/>
            <pc:sldMk cId="1602286470" sldId="312"/>
            <ac:spMk id="13" creationId="{71BBADBA-FC68-FFA5-096B-2E6A4AFED69A}"/>
          </ac:spMkLst>
        </pc:spChg>
      </pc:sldChg>
      <pc:sldChg chg="addSp modSp">
        <pc:chgData name="Maximiliano Ortiz" userId="90727fd8e92db46b" providerId="LiveId" clId="{9BC7EBD1-E6C7-40E2-9BE0-E69EBE0B6810}" dt="2026-08-03T17:45:38.173" v="289"/>
        <pc:sldMkLst>
          <pc:docMk/>
          <pc:sldMk cId="1133635661" sldId="313"/>
        </pc:sldMkLst>
        <pc:spChg chg="add mod">
          <ac:chgData name="Maximiliano Ortiz" userId="90727fd8e92db46b" providerId="LiveId" clId="{9BC7EBD1-E6C7-40E2-9BE0-E69EBE0B6810}" dt="2026-08-03T17:45:38.173" v="289"/>
          <ac:spMkLst>
            <pc:docMk/>
            <pc:sldMk cId="1133635661" sldId="313"/>
            <ac:spMk id="13" creationId="{E0960314-F37A-6550-A849-7384301DD23C}"/>
          </ac:spMkLst>
        </pc:spChg>
      </pc:sldChg>
      <pc:sldChg chg="addSp modSp">
        <pc:chgData name="Maximiliano Ortiz" userId="90727fd8e92db46b" providerId="LiveId" clId="{9BC7EBD1-E6C7-40E2-9BE0-E69EBE0B6810}" dt="2026-08-03T17:45:38.220" v="294"/>
        <pc:sldMkLst>
          <pc:docMk/>
          <pc:sldMk cId="1602286470" sldId="314"/>
        </pc:sldMkLst>
        <pc:spChg chg="add mod">
          <ac:chgData name="Maximiliano Ortiz" userId="90727fd8e92db46b" providerId="LiveId" clId="{9BC7EBD1-E6C7-40E2-9BE0-E69EBE0B6810}" dt="2026-08-03T17:45:38.220" v="294"/>
          <ac:spMkLst>
            <pc:docMk/>
            <pc:sldMk cId="1602286470" sldId="314"/>
            <ac:spMk id="13" creationId="{8337B7B5-8D7B-7C15-7DD8-4A7F23D70B2B}"/>
          </ac:spMkLst>
        </pc:spChg>
      </pc:sldChg>
      <pc:sldChg chg="addSp modSp">
        <pc:chgData name="Maximiliano Ortiz" userId="90727fd8e92db46b" providerId="LiveId" clId="{9BC7EBD1-E6C7-40E2-9BE0-E69EBE0B6810}" dt="2026-08-03T17:45:38.301" v="299"/>
        <pc:sldMkLst>
          <pc:docMk/>
          <pc:sldMk cId="817057724" sldId="315"/>
        </pc:sldMkLst>
        <pc:spChg chg="add mod">
          <ac:chgData name="Maximiliano Ortiz" userId="90727fd8e92db46b" providerId="LiveId" clId="{9BC7EBD1-E6C7-40E2-9BE0-E69EBE0B6810}" dt="2026-08-03T17:45:38.301" v="299"/>
          <ac:spMkLst>
            <pc:docMk/>
            <pc:sldMk cId="817057724" sldId="315"/>
            <ac:spMk id="25" creationId="{CC388282-5D01-6F60-7009-CDBA71BA7411}"/>
          </ac:spMkLst>
        </pc:spChg>
      </pc:sldChg>
      <pc:sldChg chg="addSp modSp">
        <pc:chgData name="Maximiliano Ortiz" userId="90727fd8e92db46b" providerId="LiveId" clId="{9BC7EBD1-E6C7-40E2-9BE0-E69EBE0B6810}" dt="2026-08-03T17:45:38.349" v="304"/>
        <pc:sldMkLst>
          <pc:docMk/>
          <pc:sldMk cId="817057724" sldId="316"/>
        </pc:sldMkLst>
        <pc:spChg chg="add mod">
          <ac:chgData name="Maximiliano Ortiz" userId="90727fd8e92db46b" providerId="LiveId" clId="{9BC7EBD1-E6C7-40E2-9BE0-E69EBE0B6810}" dt="2026-08-03T17:45:38.349" v="304"/>
          <ac:spMkLst>
            <pc:docMk/>
            <pc:sldMk cId="817057724" sldId="316"/>
            <ac:spMk id="13" creationId="{845D2134-99D9-66CD-8D3D-93D446FAD7E0}"/>
          </ac:spMkLst>
        </pc:spChg>
      </pc:sldChg>
      <pc:sldChg chg="addSp modSp">
        <pc:chgData name="Maximiliano Ortiz" userId="90727fd8e92db46b" providerId="LiveId" clId="{9BC7EBD1-E6C7-40E2-9BE0-E69EBE0B6810}" dt="2026-08-03T17:45:38.393" v="309"/>
        <pc:sldMkLst>
          <pc:docMk/>
          <pc:sldMk cId="1320203634" sldId="317"/>
        </pc:sldMkLst>
        <pc:spChg chg="add mod">
          <ac:chgData name="Maximiliano Ortiz" userId="90727fd8e92db46b" providerId="LiveId" clId="{9BC7EBD1-E6C7-40E2-9BE0-E69EBE0B6810}" dt="2026-08-03T17:45:38.393" v="309"/>
          <ac:spMkLst>
            <pc:docMk/>
            <pc:sldMk cId="1320203634" sldId="317"/>
            <ac:spMk id="23" creationId="{6872A45B-17D8-B5F0-0232-AD0CEE763B43}"/>
          </ac:spMkLst>
        </pc:spChg>
      </pc:sldChg>
      <pc:sldChg chg="addSp modSp">
        <pc:chgData name="Maximiliano Ortiz" userId="90727fd8e92db46b" providerId="LiveId" clId="{9BC7EBD1-E6C7-40E2-9BE0-E69EBE0B6810}" dt="2026-08-03T17:45:38.416" v="314"/>
        <pc:sldMkLst>
          <pc:docMk/>
          <pc:sldMk cId="1164902343" sldId="318"/>
        </pc:sldMkLst>
        <pc:spChg chg="add mod">
          <ac:chgData name="Maximiliano Ortiz" userId="90727fd8e92db46b" providerId="LiveId" clId="{9BC7EBD1-E6C7-40E2-9BE0-E69EBE0B6810}" dt="2026-08-03T17:45:38.416" v="314"/>
          <ac:spMkLst>
            <pc:docMk/>
            <pc:sldMk cId="1164902343" sldId="318"/>
            <ac:spMk id="6" creationId="{86E08012-7182-4E3B-A56C-8D34B2D25377}"/>
          </ac:spMkLst>
        </pc:spChg>
      </pc:sldChg>
      <pc:sldChg chg="addSp modSp">
        <pc:chgData name="Maximiliano Ortiz" userId="90727fd8e92db46b" providerId="LiveId" clId="{9BC7EBD1-E6C7-40E2-9BE0-E69EBE0B6810}" dt="2026-08-03T17:45:38.482" v="319"/>
        <pc:sldMkLst>
          <pc:docMk/>
          <pc:sldMk cId="986630461" sldId="319"/>
        </pc:sldMkLst>
        <pc:spChg chg="add mod">
          <ac:chgData name="Maximiliano Ortiz" userId="90727fd8e92db46b" providerId="LiveId" clId="{9BC7EBD1-E6C7-40E2-9BE0-E69EBE0B6810}" dt="2026-08-03T17:45:38.482" v="319"/>
          <ac:spMkLst>
            <pc:docMk/>
            <pc:sldMk cId="986630461" sldId="319"/>
            <ac:spMk id="25" creationId="{F71B9A60-12E6-83C1-130B-DD77B310CFBC}"/>
          </ac:spMkLst>
        </pc:spChg>
      </pc:sldChg>
      <pc:sldChg chg="addSp modSp">
        <pc:chgData name="Maximiliano Ortiz" userId="90727fd8e92db46b" providerId="LiveId" clId="{9BC7EBD1-E6C7-40E2-9BE0-E69EBE0B6810}" dt="2026-08-03T17:45:38.598" v="324"/>
        <pc:sldMkLst>
          <pc:docMk/>
          <pc:sldMk cId="34619112" sldId="320"/>
        </pc:sldMkLst>
        <pc:spChg chg="add mod">
          <ac:chgData name="Maximiliano Ortiz" userId="90727fd8e92db46b" providerId="LiveId" clId="{9BC7EBD1-E6C7-40E2-9BE0-E69EBE0B6810}" dt="2026-08-03T17:45:38.598" v="324"/>
          <ac:spMkLst>
            <pc:docMk/>
            <pc:sldMk cId="34619112" sldId="320"/>
            <ac:spMk id="15" creationId="{07DD6F48-CE22-04F8-9A83-DE49D4DC69AA}"/>
          </ac:spMkLst>
        </pc:spChg>
      </pc:sldChg>
      <pc:sldChg chg="addSp modSp">
        <pc:chgData name="Maximiliano Ortiz" userId="90727fd8e92db46b" providerId="LiveId" clId="{9BC7EBD1-E6C7-40E2-9BE0-E69EBE0B6810}" dt="2026-08-03T17:45:38.621" v="329"/>
        <pc:sldMkLst>
          <pc:docMk/>
          <pc:sldMk cId="48649001" sldId="321"/>
        </pc:sldMkLst>
        <pc:spChg chg="add mod">
          <ac:chgData name="Maximiliano Ortiz" userId="90727fd8e92db46b" providerId="LiveId" clId="{9BC7EBD1-E6C7-40E2-9BE0-E69EBE0B6810}" dt="2026-08-03T17:45:38.621" v="329"/>
          <ac:spMkLst>
            <pc:docMk/>
            <pc:sldMk cId="48649001" sldId="321"/>
            <ac:spMk id="4" creationId="{1591F07A-2CE2-27DC-0D76-F740AC2983CE}"/>
          </ac:spMkLst>
        </pc:spChg>
      </pc:sldChg>
      <pc:sldChg chg="addSp modSp">
        <pc:chgData name="Maximiliano Ortiz" userId="90727fd8e92db46b" providerId="LiveId" clId="{9BC7EBD1-E6C7-40E2-9BE0-E69EBE0B6810}" dt="2026-08-03T17:45:38.647" v="334"/>
        <pc:sldMkLst>
          <pc:docMk/>
          <pc:sldMk cId="48649001" sldId="322"/>
        </pc:sldMkLst>
        <pc:spChg chg="add mod">
          <ac:chgData name="Maximiliano Ortiz" userId="90727fd8e92db46b" providerId="LiveId" clId="{9BC7EBD1-E6C7-40E2-9BE0-E69EBE0B6810}" dt="2026-08-03T17:45:38.647" v="334"/>
          <ac:spMkLst>
            <pc:docMk/>
            <pc:sldMk cId="48649001" sldId="322"/>
            <ac:spMk id="4" creationId="{D3A11D51-0FA9-E8AE-01DF-98D7E5E59A82}"/>
          </ac:spMkLst>
        </pc:spChg>
      </pc:sldChg>
      <pc:sldChg chg="addSp modSp">
        <pc:chgData name="Maximiliano Ortiz" userId="90727fd8e92db46b" providerId="LiveId" clId="{9BC7EBD1-E6C7-40E2-9BE0-E69EBE0B6810}" dt="2026-08-03T17:45:38.670" v="339"/>
        <pc:sldMkLst>
          <pc:docMk/>
          <pc:sldMk cId="48649001" sldId="323"/>
        </pc:sldMkLst>
        <pc:spChg chg="add mod">
          <ac:chgData name="Maximiliano Ortiz" userId="90727fd8e92db46b" providerId="LiveId" clId="{9BC7EBD1-E6C7-40E2-9BE0-E69EBE0B6810}" dt="2026-08-03T17:45:38.670" v="339"/>
          <ac:spMkLst>
            <pc:docMk/>
            <pc:sldMk cId="48649001" sldId="323"/>
            <ac:spMk id="4" creationId="{C2B4E1FF-6C1C-06CF-0E47-C354FF0190C9}"/>
          </ac:spMkLst>
        </pc:spChg>
      </pc:sldChg>
      <pc:sldChg chg="addSp modSp">
        <pc:chgData name="Maximiliano Ortiz" userId="90727fd8e92db46b" providerId="LiveId" clId="{9BC7EBD1-E6C7-40E2-9BE0-E69EBE0B6810}" dt="2026-08-03T17:45:38.732" v="344"/>
        <pc:sldMkLst>
          <pc:docMk/>
          <pc:sldMk cId="1741329192" sldId="324"/>
        </pc:sldMkLst>
        <pc:spChg chg="add mod">
          <ac:chgData name="Maximiliano Ortiz" userId="90727fd8e92db46b" providerId="LiveId" clId="{9BC7EBD1-E6C7-40E2-9BE0-E69EBE0B6810}" dt="2026-08-03T17:45:38.732" v="344"/>
          <ac:spMkLst>
            <pc:docMk/>
            <pc:sldMk cId="1741329192" sldId="324"/>
            <ac:spMk id="25" creationId="{CE5C4441-3E72-44DC-2D19-2EAA7E71BF07}"/>
          </ac:spMkLst>
        </pc:spChg>
      </pc:sldChg>
      <pc:sldChg chg="addSp modSp">
        <pc:chgData name="Maximiliano Ortiz" userId="90727fd8e92db46b" providerId="LiveId" clId="{9BC7EBD1-E6C7-40E2-9BE0-E69EBE0B6810}" dt="2026-08-03T17:45:38.810" v="349"/>
        <pc:sldMkLst>
          <pc:docMk/>
          <pc:sldMk cId="986630461" sldId="325"/>
        </pc:sldMkLst>
        <pc:spChg chg="add mod">
          <ac:chgData name="Maximiliano Ortiz" userId="90727fd8e92db46b" providerId="LiveId" clId="{9BC7EBD1-E6C7-40E2-9BE0-E69EBE0B6810}" dt="2026-08-03T17:45:38.810" v="349"/>
          <ac:spMkLst>
            <pc:docMk/>
            <pc:sldMk cId="986630461" sldId="325"/>
            <ac:spMk id="25" creationId="{292AFB15-4E8F-3014-13CE-857270EBD9E5}"/>
          </ac:spMkLst>
        </pc:spChg>
      </pc:sldChg>
      <pc:sldChg chg="addSp modSp">
        <pc:chgData name="Maximiliano Ortiz" userId="90727fd8e92db46b" providerId="LiveId" clId="{9BC7EBD1-E6C7-40E2-9BE0-E69EBE0B6810}" dt="2026-08-03T17:45:38.855" v="354"/>
        <pc:sldMkLst>
          <pc:docMk/>
          <pc:sldMk cId="817057724" sldId="326"/>
        </pc:sldMkLst>
        <pc:spChg chg="add mod">
          <ac:chgData name="Maximiliano Ortiz" userId="90727fd8e92db46b" providerId="LiveId" clId="{9BC7EBD1-E6C7-40E2-9BE0-E69EBE0B6810}" dt="2026-08-03T17:45:38.855" v="354"/>
          <ac:spMkLst>
            <pc:docMk/>
            <pc:sldMk cId="817057724" sldId="326"/>
            <ac:spMk id="15" creationId="{95186EE5-A694-C54E-87D8-38606A52B4E8}"/>
          </ac:spMkLst>
        </pc:spChg>
      </pc:sldChg>
      <pc:sldChg chg="addSp modSp">
        <pc:chgData name="Maximiliano Ortiz" userId="90727fd8e92db46b" providerId="LiveId" clId="{9BC7EBD1-E6C7-40E2-9BE0-E69EBE0B6810}" dt="2026-08-03T17:45:38.887" v="359"/>
        <pc:sldMkLst>
          <pc:docMk/>
          <pc:sldMk cId="281546375" sldId="327"/>
        </pc:sldMkLst>
        <pc:spChg chg="add mod">
          <ac:chgData name="Maximiliano Ortiz" userId="90727fd8e92db46b" providerId="LiveId" clId="{9BC7EBD1-E6C7-40E2-9BE0-E69EBE0B6810}" dt="2026-08-03T17:45:38.887" v="359"/>
          <ac:spMkLst>
            <pc:docMk/>
            <pc:sldMk cId="281546375" sldId="327"/>
            <ac:spMk id="4" creationId="{F5DEF23C-6D4F-1FFE-3079-D4ED4240B3BC}"/>
          </ac:spMkLst>
        </pc:spChg>
      </pc:sldChg>
      <pc:sldChg chg="addSp modSp">
        <pc:chgData name="Maximiliano Ortiz" userId="90727fd8e92db46b" providerId="LiveId" clId="{9BC7EBD1-E6C7-40E2-9BE0-E69EBE0B6810}" dt="2026-08-03T17:45:38.954" v="364"/>
        <pc:sldMkLst>
          <pc:docMk/>
          <pc:sldMk cId="1320203634" sldId="328"/>
        </pc:sldMkLst>
        <pc:spChg chg="add mod">
          <ac:chgData name="Maximiliano Ortiz" userId="90727fd8e92db46b" providerId="LiveId" clId="{9BC7EBD1-E6C7-40E2-9BE0-E69EBE0B6810}" dt="2026-08-03T17:45:38.954" v="364"/>
          <ac:spMkLst>
            <pc:docMk/>
            <pc:sldMk cId="1320203634" sldId="328"/>
            <ac:spMk id="23" creationId="{B8D6F076-CA01-31E0-C97C-71B110FFFCE1}"/>
          </ac:spMkLst>
        </pc:spChg>
      </pc:sldChg>
      <pc:sldChg chg="addSp modSp">
        <pc:chgData name="Maximiliano Ortiz" userId="90727fd8e92db46b" providerId="LiveId" clId="{9BC7EBD1-E6C7-40E2-9BE0-E69EBE0B6810}" dt="2026-08-03T17:45:38.981" v="369"/>
        <pc:sldMkLst>
          <pc:docMk/>
          <pc:sldMk cId="1164902343" sldId="329"/>
        </pc:sldMkLst>
        <pc:spChg chg="add mod">
          <ac:chgData name="Maximiliano Ortiz" userId="90727fd8e92db46b" providerId="LiveId" clId="{9BC7EBD1-E6C7-40E2-9BE0-E69EBE0B6810}" dt="2026-08-03T17:45:38.981" v="369"/>
          <ac:spMkLst>
            <pc:docMk/>
            <pc:sldMk cId="1164902343" sldId="329"/>
            <ac:spMk id="6" creationId="{023B8EBC-0DDB-A6B3-6089-BD4F9C97CA28}"/>
          </ac:spMkLst>
        </pc:spChg>
      </pc:sldChg>
      <pc:sldChg chg="addSp modSp">
        <pc:chgData name="Maximiliano Ortiz" userId="90727fd8e92db46b" providerId="LiveId" clId="{9BC7EBD1-E6C7-40E2-9BE0-E69EBE0B6810}" dt="2026-08-03T17:45:39.059" v="374"/>
        <pc:sldMkLst>
          <pc:docMk/>
          <pc:sldMk cId="48649001" sldId="330"/>
        </pc:sldMkLst>
        <pc:spChg chg="add mod">
          <ac:chgData name="Maximiliano Ortiz" userId="90727fd8e92db46b" providerId="LiveId" clId="{9BC7EBD1-E6C7-40E2-9BE0-E69EBE0B6810}" dt="2026-08-03T17:45:39.059" v="374"/>
          <ac:spMkLst>
            <pc:docMk/>
            <pc:sldMk cId="48649001" sldId="330"/>
            <ac:spMk id="4" creationId="{077D1191-FBFC-ADE2-8E7A-D454F5E86027}"/>
          </ac:spMkLst>
        </pc:spChg>
      </pc:sldChg>
      <pc:sldChg chg="addSp modSp">
        <pc:chgData name="Maximiliano Ortiz" userId="90727fd8e92db46b" providerId="LiveId" clId="{9BC7EBD1-E6C7-40E2-9BE0-E69EBE0B6810}" dt="2026-08-03T17:45:39.094" v="379"/>
        <pc:sldMkLst>
          <pc:docMk/>
          <pc:sldMk cId="1926975773" sldId="331"/>
        </pc:sldMkLst>
        <pc:spChg chg="add mod">
          <ac:chgData name="Maximiliano Ortiz" userId="90727fd8e92db46b" providerId="LiveId" clId="{9BC7EBD1-E6C7-40E2-9BE0-E69EBE0B6810}" dt="2026-08-03T17:45:39.094" v="379"/>
          <ac:spMkLst>
            <pc:docMk/>
            <pc:sldMk cId="1926975773" sldId="331"/>
            <ac:spMk id="12" creationId="{AA733F43-9C23-D9EE-EABA-D14C55ED2B52}"/>
          </ac:spMkLst>
        </pc:spChg>
      </pc:sldChg>
      <pc:sldChg chg="addSp modSp">
        <pc:chgData name="Maximiliano Ortiz" userId="90727fd8e92db46b" providerId="LiveId" clId="{9BC7EBD1-E6C7-40E2-9BE0-E69EBE0B6810}" dt="2026-08-03T17:45:39.170" v="384"/>
        <pc:sldMkLst>
          <pc:docMk/>
          <pc:sldMk cId="1926975773" sldId="332"/>
        </pc:sldMkLst>
        <pc:spChg chg="add mod">
          <ac:chgData name="Maximiliano Ortiz" userId="90727fd8e92db46b" providerId="LiveId" clId="{9BC7EBD1-E6C7-40E2-9BE0-E69EBE0B6810}" dt="2026-08-03T17:45:39.170" v="384"/>
          <ac:spMkLst>
            <pc:docMk/>
            <pc:sldMk cId="1926975773" sldId="332"/>
            <ac:spMk id="22" creationId="{06F5948B-AB53-D017-BC71-2E2BE3FF5C37}"/>
          </ac:spMkLst>
        </pc:spChg>
      </pc:sldChg>
      <pc:sldChg chg="addSp modSp">
        <pc:chgData name="Maximiliano Ortiz" userId="90727fd8e92db46b" providerId="LiveId" clId="{9BC7EBD1-E6C7-40E2-9BE0-E69EBE0B6810}" dt="2026-08-03T17:45:39.241" v="389"/>
        <pc:sldMkLst>
          <pc:docMk/>
          <pc:sldMk cId="817057724" sldId="333"/>
        </pc:sldMkLst>
        <pc:spChg chg="add mod">
          <ac:chgData name="Maximiliano Ortiz" userId="90727fd8e92db46b" providerId="LiveId" clId="{9BC7EBD1-E6C7-40E2-9BE0-E69EBE0B6810}" dt="2026-08-03T17:45:39.241" v="389"/>
          <ac:spMkLst>
            <pc:docMk/>
            <pc:sldMk cId="817057724" sldId="333"/>
            <ac:spMk id="22" creationId="{F652F630-E32B-6D4D-50D0-6A71EAD77D23}"/>
          </ac:spMkLst>
        </pc:spChg>
      </pc:sldChg>
      <pc:sldChg chg="addSp modSp">
        <pc:chgData name="Maximiliano Ortiz" userId="90727fd8e92db46b" providerId="LiveId" clId="{9BC7EBD1-E6C7-40E2-9BE0-E69EBE0B6810}" dt="2026-08-03T17:45:39.304" v="394"/>
        <pc:sldMkLst>
          <pc:docMk/>
          <pc:sldMk cId="1602286470" sldId="334"/>
        </pc:sldMkLst>
        <pc:spChg chg="add mod">
          <ac:chgData name="Maximiliano Ortiz" userId="90727fd8e92db46b" providerId="LiveId" clId="{9BC7EBD1-E6C7-40E2-9BE0-E69EBE0B6810}" dt="2026-08-03T17:45:39.304" v="394"/>
          <ac:spMkLst>
            <pc:docMk/>
            <pc:sldMk cId="1602286470" sldId="334"/>
            <ac:spMk id="22" creationId="{9DCB30AB-5CDE-5E54-D1E7-928BA7487231}"/>
          </ac:spMkLst>
        </pc:spChg>
      </pc:sldChg>
      <pc:sldChg chg="addSp modSp">
        <pc:chgData name="Maximiliano Ortiz" userId="90727fd8e92db46b" providerId="LiveId" clId="{9BC7EBD1-E6C7-40E2-9BE0-E69EBE0B6810}" dt="2026-08-03T17:45:39.369" v="399"/>
        <pc:sldMkLst>
          <pc:docMk/>
          <pc:sldMk cId="817057724" sldId="335"/>
        </pc:sldMkLst>
        <pc:spChg chg="add mod">
          <ac:chgData name="Maximiliano Ortiz" userId="90727fd8e92db46b" providerId="LiveId" clId="{9BC7EBD1-E6C7-40E2-9BE0-E69EBE0B6810}" dt="2026-08-03T17:45:39.369" v="399"/>
          <ac:spMkLst>
            <pc:docMk/>
            <pc:sldMk cId="817057724" sldId="335"/>
            <ac:spMk id="22" creationId="{8782C0EE-9654-88CC-F034-730E3F02081A}"/>
          </ac:spMkLst>
        </pc:spChg>
      </pc:sldChg>
      <pc:sldChg chg="addSp modSp">
        <pc:chgData name="Maximiliano Ortiz" userId="90727fd8e92db46b" providerId="LiveId" clId="{9BC7EBD1-E6C7-40E2-9BE0-E69EBE0B6810}" dt="2026-08-03T17:45:39.400" v="404"/>
        <pc:sldMkLst>
          <pc:docMk/>
          <pc:sldMk cId="817057724" sldId="336"/>
        </pc:sldMkLst>
        <pc:spChg chg="add mod">
          <ac:chgData name="Maximiliano Ortiz" userId="90727fd8e92db46b" providerId="LiveId" clId="{9BC7EBD1-E6C7-40E2-9BE0-E69EBE0B6810}" dt="2026-08-03T17:45:39.400" v="404"/>
          <ac:spMkLst>
            <pc:docMk/>
            <pc:sldMk cId="817057724" sldId="336"/>
            <ac:spMk id="12" creationId="{A98EE848-4DF8-7AF2-0661-0EB26E2EC6AD}"/>
          </ac:spMkLst>
        </pc:spChg>
      </pc:sldChg>
      <pc:sldChg chg="addSp modSp">
        <pc:chgData name="Maximiliano Ortiz" userId="90727fd8e92db46b" providerId="LiveId" clId="{9BC7EBD1-E6C7-40E2-9BE0-E69EBE0B6810}" dt="2026-08-03T17:45:39.475" v="409"/>
        <pc:sldMkLst>
          <pc:docMk/>
          <pc:sldMk cId="1741329192" sldId="337"/>
        </pc:sldMkLst>
        <pc:spChg chg="add mod">
          <ac:chgData name="Maximiliano Ortiz" userId="90727fd8e92db46b" providerId="LiveId" clId="{9BC7EBD1-E6C7-40E2-9BE0-E69EBE0B6810}" dt="2026-08-03T17:45:39.475" v="409"/>
          <ac:spMkLst>
            <pc:docMk/>
            <pc:sldMk cId="1741329192" sldId="337"/>
            <ac:spMk id="22" creationId="{BEE94EF3-CCEE-E389-3B8B-84386DF580CD}"/>
          </ac:spMkLst>
        </pc:spChg>
      </pc:sldChg>
      <pc:sldChg chg="addSp modSp">
        <pc:chgData name="Maximiliano Ortiz" userId="90727fd8e92db46b" providerId="LiveId" clId="{9BC7EBD1-E6C7-40E2-9BE0-E69EBE0B6810}" dt="2026-08-03T17:45:39.530" v="414"/>
        <pc:sldMkLst>
          <pc:docMk/>
          <pc:sldMk cId="1320203634" sldId="338"/>
        </pc:sldMkLst>
        <pc:spChg chg="add mod">
          <ac:chgData name="Maximiliano Ortiz" userId="90727fd8e92db46b" providerId="LiveId" clId="{9BC7EBD1-E6C7-40E2-9BE0-E69EBE0B6810}" dt="2026-08-03T17:45:39.530" v="414"/>
          <ac:spMkLst>
            <pc:docMk/>
            <pc:sldMk cId="1320203634" sldId="338"/>
            <ac:spMk id="23" creationId="{0BD9A1A9-335B-7CDD-A47B-63E15E13CC09}"/>
          </ac:spMkLst>
        </pc:spChg>
      </pc:sldChg>
      <pc:sldChg chg="addSp modSp">
        <pc:chgData name="Maximiliano Ortiz" userId="90727fd8e92db46b" providerId="LiveId" clId="{9BC7EBD1-E6C7-40E2-9BE0-E69EBE0B6810}" dt="2026-08-03T17:45:39.550" v="419"/>
        <pc:sldMkLst>
          <pc:docMk/>
          <pc:sldMk cId="1164902343" sldId="339"/>
        </pc:sldMkLst>
        <pc:spChg chg="add mod">
          <ac:chgData name="Maximiliano Ortiz" userId="90727fd8e92db46b" providerId="LiveId" clId="{9BC7EBD1-E6C7-40E2-9BE0-E69EBE0B6810}" dt="2026-08-03T17:45:39.550" v="419"/>
          <ac:spMkLst>
            <pc:docMk/>
            <pc:sldMk cId="1164902343" sldId="339"/>
            <ac:spMk id="6" creationId="{4490AC36-E8F2-5858-4D4D-C5AE860B28D4}"/>
          </ac:spMkLst>
        </pc:spChg>
      </pc:sldChg>
      <pc:sldChg chg="addSp modSp">
        <pc:chgData name="Maximiliano Ortiz" userId="90727fd8e92db46b" providerId="LiveId" clId="{9BC7EBD1-E6C7-40E2-9BE0-E69EBE0B6810}" dt="2026-08-03T17:45:39.579" v="424"/>
        <pc:sldMkLst>
          <pc:docMk/>
          <pc:sldMk cId="48649001" sldId="340"/>
        </pc:sldMkLst>
        <pc:spChg chg="add mod">
          <ac:chgData name="Maximiliano Ortiz" userId="90727fd8e92db46b" providerId="LiveId" clId="{9BC7EBD1-E6C7-40E2-9BE0-E69EBE0B6810}" dt="2026-08-03T17:45:39.579" v="424"/>
          <ac:spMkLst>
            <pc:docMk/>
            <pc:sldMk cId="48649001" sldId="340"/>
            <ac:spMk id="4" creationId="{0F5F46D8-3A27-9863-28A4-E0C0E1C2D4E4}"/>
          </ac:spMkLst>
        </pc:spChg>
      </pc:sldChg>
      <pc:sldChg chg="addSp modSp">
        <pc:chgData name="Maximiliano Ortiz" userId="90727fd8e92db46b" providerId="LiveId" clId="{9BC7EBD1-E6C7-40E2-9BE0-E69EBE0B6810}" dt="2026-08-03T17:45:39.712" v="429"/>
        <pc:sldMkLst>
          <pc:docMk/>
          <pc:sldMk cId="1602286470" sldId="341"/>
        </pc:sldMkLst>
        <pc:spChg chg="add mod">
          <ac:chgData name="Maximiliano Ortiz" userId="90727fd8e92db46b" providerId="LiveId" clId="{9BC7EBD1-E6C7-40E2-9BE0-E69EBE0B6810}" dt="2026-08-03T17:45:39.712" v="429"/>
          <ac:spMkLst>
            <pc:docMk/>
            <pc:sldMk cId="1602286470" sldId="341"/>
            <ac:spMk id="16" creationId="{860B0390-C87E-636B-159F-A32175F567F4}"/>
          </ac:spMkLst>
        </pc:spChg>
      </pc:sldChg>
      <pc:sldChg chg="addSp modSp">
        <pc:chgData name="Maximiliano Ortiz" userId="90727fd8e92db46b" providerId="LiveId" clId="{9BC7EBD1-E6C7-40E2-9BE0-E69EBE0B6810}" dt="2026-08-03T17:45:39.765" v="434"/>
        <pc:sldMkLst>
          <pc:docMk/>
          <pc:sldMk cId="318321949" sldId="342"/>
        </pc:sldMkLst>
        <pc:spChg chg="add mod">
          <ac:chgData name="Maximiliano Ortiz" userId="90727fd8e92db46b" providerId="LiveId" clId="{9BC7EBD1-E6C7-40E2-9BE0-E69EBE0B6810}" dt="2026-08-03T17:45:39.765" v="434"/>
          <ac:spMkLst>
            <pc:docMk/>
            <pc:sldMk cId="318321949" sldId="342"/>
            <ac:spMk id="16" creationId="{AE231FDC-884B-E632-C0D9-FDCB2C39962B}"/>
          </ac:spMkLst>
        </pc:spChg>
      </pc:sldChg>
      <pc:sldChg chg="addSp modSp">
        <pc:chgData name="Maximiliano Ortiz" userId="90727fd8e92db46b" providerId="LiveId" clId="{9BC7EBD1-E6C7-40E2-9BE0-E69EBE0B6810}" dt="2026-08-03T17:45:39.812" v="439"/>
        <pc:sldMkLst>
          <pc:docMk/>
          <pc:sldMk cId="1602286470" sldId="343"/>
        </pc:sldMkLst>
        <pc:spChg chg="add mod">
          <ac:chgData name="Maximiliano Ortiz" userId="90727fd8e92db46b" providerId="LiveId" clId="{9BC7EBD1-E6C7-40E2-9BE0-E69EBE0B6810}" dt="2026-08-03T17:45:39.812" v="439"/>
          <ac:spMkLst>
            <pc:docMk/>
            <pc:sldMk cId="1602286470" sldId="343"/>
            <ac:spMk id="16" creationId="{9AE79C03-75D4-2DDF-DC74-9BFA29BCCB6B}"/>
          </ac:spMkLst>
        </pc:spChg>
      </pc:sldChg>
      <pc:sldChg chg="addSp modSp">
        <pc:chgData name="Maximiliano Ortiz" userId="90727fd8e92db46b" providerId="LiveId" clId="{9BC7EBD1-E6C7-40E2-9BE0-E69EBE0B6810}" dt="2026-08-03T17:45:39.861" v="444"/>
        <pc:sldMkLst>
          <pc:docMk/>
          <pc:sldMk cId="1602286470" sldId="344"/>
        </pc:sldMkLst>
        <pc:spChg chg="add mod">
          <ac:chgData name="Maximiliano Ortiz" userId="90727fd8e92db46b" providerId="LiveId" clId="{9BC7EBD1-E6C7-40E2-9BE0-E69EBE0B6810}" dt="2026-08-03T17:45:39.861" v="444"/>
          <ac:spMkLst>
            <pc:docMk/>
            <pc:sldMk cId="1602286470" sldId="344"/>
            <ac:spMk id="16" creationId="{862643E9-24E3-E775-0A8C-EB791701AC3A}"/>
          </ac:spMkLst>
        </pc:spChg>
      </pc:sldChg>
      <pc:sldChg chg="addSp modSp">
        <pc:chgData name="Maximiliano Ortiz" userId="90727fd8e92db46b" providerId="LiveId" clId="{9BC7EBD1-E6C7-40E2-9BE0-E69EBE0B6810}" dt="2026-08-03T17:45:39.903" v="449"/>
        <pc:sldMkLst>
          <pc:docMk/>
          <pc:sldMk cId="1602286470" sldId="345"/>
        </pc:sldMkLst>
        <pc:spChg chg="add mod">
          <ac:chgData name="Maximiliano Ortiz" userId="90727fd8e92db46b" providerId="LiveId" clId="{9BC7EBD1-E6C7-40E2-9BE0-E69EBE0B6810}" dt="2026-08-03T17:45:39.903" v="449"/>
          <ac:spMkLst>
            <pc:docMk/>
            <pc:sldMk cId="1602286470" sldId="345"/>
            <ac:spMk id="16" creationId="{B620EF3B-524C-F8F2-8D09-B5148EF70765}"/>
          </ac:spMkLst>
        </pc:spChg>
      </pc:sldChg>
      <pc:sldChg chg="addSp modSp">
        <pc:chgData name="Maximiliano Ortiz" userId="90727fd8e92db46b" providerId="LiveId" clId="{9BC7EBD1-E6C7-40E2-9BE0-E69EBE0B6810}" dt="2026-08-03T17:45:39.949" v="454"/>
        <pc:sldMkLst>
          <pc:docMk/>
          <pc:sldMk cId="1995449240" sldId="346"/>
        </pc:sldMkLst>
        <pc:spChg chg="add mod">
          <ac:chgData name="Maximiliano Ortiz" userId="90727fd8e92db46b" providerId="LiveId" clId="{9BC7EBD1-E6C7-40E2-9BE0-E69EBE0B6810}" dt="2026-08-03T17:45:39.949" v="454"/>
          <ac:spMkLst>
            <pc:docMk/>
            <pc:sldMk cId="1995449240" sldId="346"/>
            <ac:spMk id="16" creationId="{3C8EE736-A33C-ED75-CED4-C017FEF0E375}"/>
          </ac:spMkLst>
        </pc:spChg>
      </pc:sldChg>
      <pc:sldChg chg="addSp modSp">
        <pc:chgData name="Maximiliano Ortiz" userId="90727fd8e92db46b" providerId="LiveId" clId="{9BC7EBD1-E6C7-40E2-9BE0-E69EBE0B6810}" dt="2026-08-03T17:45:39.991" v="459"/>
        <pc:sldMkLst>
          <pc:docMk/>
          <pc:sldMk cId="1133635661" sldId="347"/>
        </pc:sldMkLst>
        <pc:spChg chg="add mod">
          <ac:chgData name="Maximiliano Ortiz" userId="90727fd8e92db46b" providerId="LiveId" clId="{9BC7EBD1-E6C7-40E2-9BE0-E69EBE0B6810}" dt="2026-08-03T17:45:39.991" v="459"/>
          <ac:spMkLst>
            <pc:docMk/>
            <pc:sldMk cId="1133635661" sldId="347"/>
            <ac:spMk id="16" creationId="{6893F11D-FE6D-1F1A-5D03-6A15AE96B001}"/>
          </ac:spMkLst>
        </pc:spChg>
      </pc:sldChg>
      <pc:sldChg chg="addSp modSp">
        <pc:chgData name="Maximiliano Ortiz" userId="90727fd8e92db46b" providerId="LiveId" clId="{9BC7EBD1-E6C7-40E2-9BE0-E69EBE0B6810}" dt="2026-08-03T17:45:40.035" v="464"/>
        <pc:sldMkLst>
          <pc:docMk/>
          <pc:sldMk cId="281546375" sldId="348"/>
        </pc:sldMkLst>
        <pc:spChg chg="add mod">
          <ac:chgData name="Maximiliano Ortiz" userId="90727fd8e92db46b" providerId="LiveId" clId="{9BC7EBD1-E6C7-40E2-9BE0-E69EBE0B6810}" dt="2026-08-03T17:45:40.035" v="464"/>
          <ac:spMkLst>
            <pc:docMk/>
            <pc:sldMk cId="281546375" sldId="348"/>
            <ac:spMk id="16" creationId="{3B9CDFF9-A34A-7CA1-724B-C5B9B64AF694}"/>
          </ac:spMkLst>
        </pc:spChg>
      </pc:sldChg>
      <pc:sldChg chg="addSp modSp">
        <pc:chgData name="Maximiliano Ortiz" userId="90727fd8e92db46b" providerId="LiveId" clId="{9BC7EBD1-E6C7-40E2-9BE0-E69EBE0B6810}" dt="2026-08-03T17:45:40.081" v="469"/>
        <pc:sldMkLst>
          <pc:docMk/>
          <pc:sldMk cId="1320203634" sldId="349"/>
        </pc:sldMkLst>
        <pc:spChg chg="add mod">
          <ac:chgData name="Maximiliano Ortiz" userId="90727fd8e92db46b" providerId="LiveId" clId="{9BC7EBD1-E6C7-40E2-9BE0-E69EBE0B6810}" dt="2026-08-03T17:45:40.081" v="469"/>
          <ac:spMkLst>
            <pc:docMk/>
            <pc:sldMk cId="1320203634" sldId="349"/>
            <ac:spMk id="23" creationId="{8102A7C3-660E-1987-A5D3-9F80269CD542}"/>
          </ac:spMkLst>
        </pc:spChg>
      </pc:sldChg>
      <pc:sldChg chg="addSp modSp">
        <pc:chgData name="Maximiliano Ortiz" userId="90727fd8e92db46b" providerId="LiveId" clId="{9BC7EBD1-E6C7-40E2-9BE0-E69EBE0B6810}" dt="2026-08-03T17:45:40.094" v="474"/>
        <pc:sldMkLst>
          <pc:docMk/>
          <pc:sldMk cId="1164902343" sldId="350"/>
        </pc:sldMkLst>
        <pc:spChg chg="add mod">
          <ac:chgData name="Maximiliano Ortiz" userId="90727fd8e92db46b" providerId="LiveId" clId="{9BC7EBD1-E6C7-40E2-9BE0-E69EBE0B6810}" dt="2026-08-03T17:45:40.094" v="474"/>
          <ac:spMkLst>
            <pc:docMk/>
            <pc:sldMk cId="1164902343" sldId="350"/>
            <ac:spMk id="6" creationId="{AF71CF97-D234-615D-B488-F5D2D1B604AE}"/>
          </ac:spMkLst>
        </pc:spChg>
      </pc:sldChg>
      <pc:sldChg chg="addSp modSp">
        <pc:chgData name="Maximiliano Ortiz" userId="90727fd8e92db46b" providerId="LiveId" clId="{9BC7EBD1-E6C7-40E2-9BE0-E69EBE0B6810}" dt="2026-08-03T17:45:40.169" v="479"/>
        <pc:sldMkLst>
          <pc:docMk/>
          <pc:sldMk cId="986630461" sldId="351"/>
        </pc:sldMkLst>
        <pc:spChg chg="add mod">
          <ac:chgData name="Maximiliano Ortiz" userId="90727fd8e92db46b" providerId="LiveId" clId="{9BC7EBD1-E6C7-40E2-9BE0-E69EBE0B6810}" dt="2026-08-03T17:45:40.169" v="479"/>
          <ac:spMkLst>
            <pc:docMk/>
            <pc:sldMk cId="986630461" sldId="351"/>
            <ac:spMk id="25" creationId="{4C832648-7FD9-C816-3D30-48B643A5864E}"/>
          </ac:spMkLst>
        </pc:spChg>
      </pc:sldChg>
      <pc:sldChg chg="addSp modSp">
        <pc:chgData name="Maximiliano Ortiz" userId="90727fd8e92db46b" providerId="LiveId" clId="{9BC7EBD1-E6C7-40E2-9BE0-E69EBE0B6810}" dt="2026-08-03T17:45:40.195" v="484"/>
        <pc:sldMkLst>
          <pc:docMk/>
          <pc:sldMk cId="318321949" sldId="352"/>
        </pc:sldMkLst>
        <pc:spChg chg="add mod">
          <ac:chgData name="Maximiliano Ortiz" userId="90727fd8e92db46b" providerId="LiveId" clId="{9BC7EBD1-E6C7-40E2-9BE0-E69EBE0B6810}" dt="2026-08-03T17:45:40.195" v="484"/>
          <ac:spMkLst>
            <pc:docMk/>
            <pc:sldMk cId="318321949" sldId="352"/>
            <ac:spMk id="4" creationId="{88E3F4F7-AC92-6DC7-D7A4-E7FE8F43660B}"/>
          </ac:spMkLst>
        </pc:spChg>
      </pc:sldChg>
      <pc:sldChg chg="addSp modSp">
        <pc:chgData name="Maximiliano Ortiz" userId="90727fd8e92db46b" providerId="LiveId" clId="{9BC7EBD1-E6C7-40E2-9BE0-E69EBE0B6810}" dt="2026-08-03T17:45:40.220" v="489"/>
        <pc:sldMkLst>
          <pc:docMk/>
          <pc:sldMk cId="318321949" sldId="353"/>
        </pc:sldMkLst>
        <pc:spChg chg="add mod">
          <ac:chgData name="Maximiliano Ortiz" userId="90727fd8e92db46b" providerId="LiveId" clId="{9BC7EBD1-E6C7-40E2-9BE0-E69EBE0B6810}" dt="2026-08-03T17:45:40.220" v="489"/>
          <ac:spMkLst>
            <pc:docMk/>
            <pc:sldMk cId="318321949" sldId="353"/>
            <ac:spMk id="4" creationId="{62D737DD-3FD5-AF6E-B361-66966A99E3DF}"/>
          </ac:spMkLst>
        </pc:spChg>
      </pc:sldChg>
      <pc:sldChg chg="addSp modSp">
        <pc:chgData name="Maximiliano Ortiz" userId="90727fd8e92db46b" providerId="LiveId" clId="{9BC7EBD1-E6C7-40E2-9BE0-E69EBE0B6810}" dt="2026-08-03T17:45:40.246" v="494"/>
        <pc:sldMkLst>
          <pc:docMk/>
          <pc:sldMk cId="1995449240" sldId="354"/>
        </pc:sldMkLst>
        <pc:spChg chg="add mod">
          <ac:chgData name="Maximiliano Ortiz" userId="90727fd8e92db46b" providerId="LiveId" clId="{9BC7EBD1-E6C7-40E2-9BE0-E69EBE0B6810}" dt="2026-08-03T17:45:40.246" v="494"/>
          <ac:spMkLst>
            <pc:docMk/>
            <pc:sldMk cId="1995449240" sldId="354"/>
            <ac:spMk id="4" creationId="{9951D805-101D-B49B-EB07-53F841DACBDF}"/>
          </ac:spMkLst>
        </pc:spChg>
      </pc:sldChg>
      <pc:sldChg chg="addSp modSp">
        <pc:chgData name="Maximiliano Ortiz" userId="90727fd8e92db46b" providerId="LiveId" clId="{9BC7EBD1-E6C7-40E2-9BE0-E69EBE0B6810}" dt="2026-08-03T17:45:40.318" v="499"/>
        <pc:sldMkLst>
          <pc:docMk/>
          <pc:sldMk cId="1741329192" sldId="355"/>
        </pc:sldMkLst>
        <pc:spChg chg="add mod">
          <ac:chgData name="Maximiliano Ortiz" userId="90727fd8e92db46b" providerId="LiveId" clId="{9BC7EBD1-E6C7-40E2-9BE0-E69EBE0B6810}" dt="2026-08-03T17:45:40.318" v="499"/>
          <ac:spMkLst>
            <pc:docMk/>
            <pc:sldMk cId="1741329192" sldId="355"/>
            <ac:spMk id="25" creationId="{C68DE778-C23A-860A-A744-420A4140EC3B}"/>
          </ac:spMkLst>
        </pc:spChg>
      </pc:sldChg>
      <pc:sldChg chg="addSp modSp">
        <pc:chgData name="Maximiliano Ortiz" userId="90727fd8e92db46b" providerId="LiveId" clId="{9BC7EBD1-E6C7-40E2-9BE0-E69EBE0B6810}" dt="2026-08-03T17:45:40.396" v="504"/>
        <pc:sldMkLst>
          <pc:docMk/>
          <pc:sldMk cId="1133635661" sldId="356"/>
        </pc:sldMkLst>
        <pc:spChg chg="add mod">
          <ac:chgData name="Maximiliano Ortiz" userId="90727fd8e92db46b" providerId="LiveId" clId="{9BC7EBD1-E6C7-40E2-9BE0-E69EBE0B6810}" dt="2026-08-03T17:45:40.396" v="504"/>
          <ac:spMkLst>
            <pc:docMk/>
            <pc:sldMk cId="1133635661" sldId="356"/>
            <ac:spMk id="25" creationId="{88EBFA5F-5082-F0F5-8019-9E9E8689F426}"/>
          </ac:spMkLst>
        </pc:spChg>
      </pc:sldChg>
      <pc:sldChg chg="addSp modSp">
        <pc:chgData name="Maximiliano Ortiz" userId="90727fd8e92db46b" providerId="LiveId" clId="{9BC7EBD1-E6C7-40E2-9BE0-E69EBE0B6810}" dt="2026-08-03T17:45:40.423" v="509"/>
        <pc:sldMkLst>
          <pc:docMk/>
          <pc:sldMk cId="1046213385" sldId="357"/>
        </pc:sldMkLst>
        <pc:spChg chg="add mod">
          <ac:chgData name="Maximiliano Ortiz" userId="90727fd8e92db46b" providerId="LiveId" clId="{9BC7EBD1-E6C7-40E2-9BE0-E69EBE0B6810}" dt="2026-08-03T17:45:40.423" v="509"/>
          <ac:spMkLst>
            <pc:docMk/>
            <pc:sldMk cId="1046213385" sldId="357"/>
            <ac:spMk id="4" creationId="{9927EA97-FBA2-2A7F-21D1-7C8BEA1697E1}"/>
          </ac:spMkLst>
        </pc:spChg>
      </pc:sldChg>
      <pc:sldChg chg="addSp modSp">
        <pc:chgData name="Maximiliano Ortiz" userId="90727fd8e92db46b" providerId="LiveId" clId="{9BC7EBD1-E6C7-40E2-9BE0-E69EBE0B6810}" dt="2026-08-03T17:45:40.454" v="514"/>
        <pc:sldMkLst>
          <pc:docMk/>
          <pc:sldMk cId="1673297158" sldId="358"/>
        </pc:sldMkLst>
        <pc:spChg chg="add mod">
          <ac:chgData name="Maximiliano Ortiz" userId="90727fd8e92db46b" providerId="LiveId" clId="{9BC7EBD1-E6C7-40E2-9BE0-E69EBE0B6810}" dt="2026-08-03T17:45:40.454" v="514"/>
          <ac:spMkLst>
            <pc:docMk/>
            <pc:sldMk cId="1673297158" sldId="358"/>
            <ac:spMk id="4" creationId="{C00A80E1-1E60-46C3-E4E3-59F0D1D15F97}"/>
          </ac:spMkLst>
        </pc:spChg>
      </pc:sldChg>
      <pc:sldChg chg="addSp modSp">
        <pc:chgData name="Maximiliano Ortiz" userId="90727fd8e92db46b" providerId="LiveId" clId="{9BC7EBD1-E6C7-40E2-9BE0-E69EBE0B6810}" dt="2026-08-03T17:45:40.535" v="519"/>
        <pc:sldMkLst>
          <pc:docMk/>
          <pc:sldMk cId="651197825" sldId="359"/>
        </pc:sldMkLst>
        <pc:spChg chg="add mod">
          <ac:chgData name="Maximiliano Ortiz" userId="90727fd8e92db46b" providerId="LiveId" clId="{9BC7EBD1-E6C7-40E2-9BE0-E69EBE0B6810}" dt="2026-08-03T17:45:40.535" v="519"/>
          <ac:spMkLst>
            <pc:docMk/>
            <pc:sldMk cId="651197825" sldId="359"/>
            <ac:spMk id="25" creationId="{2DB458BD-195B-0B78-4403-1B6C79EAFFF1}"/>
          </ac:spMkLst>
        </pc:spChg>
      </pc:sldChg>
      <pc:sldChg chg="addSp modSp">
        <pc:chgData name="Maximiliano Ortiz" userId="90727fd8e92db46b" providerId="LiveId" clId="{9BC7EBD1-E6C7-40E2-9BE0-E69EBE0B6810}" dt="2026-08-03T17:45:40.587" v="524"/>
        <pc:sldMkLst>
          <pc:docMk/>
          <pc:sldMk cId="1320203634" sldId="360"/>
        </pc:sldMkLst>
        <pc:spChg chg="add mod">
          <ac:chgData name="Maximiliano Ortiz" userId="90727fd8e92db46b" providerId="LiveId" clId="{9BC7EBD1-E6C7-40E2-9BE0-E69EBE0B6810}" dt="2026-08-03T17:45:40.587" v="524"/>
          <ac:spMkLst>
            <pc:docMk/>
            <pc:sldMk cId="1320203634" sldId="360"/>
            <ac:spMk id="23" creationId="{0A3BB437-F6A7-39B1-3B54-799D34D40645}"/>
          </ac:spMkLst>
        </pc:spChg>
      </pc:sldChg>
      <pc:sldChg chg="addSp modSp">
        <pc:chgData name="Maximiliano Ortiz" userId="90727fd8e92db46b" providerId="LiveId" clId="{9BC7EBD1-E6C7-40E2-9BE0-E69EBE0B6810}" dt="2026-08-03T17:45:40.602" v="529"/>
        <pc:sldMkLst>
          <pc:docMk/>
          <pc:sldMk cId="1164902343" sldId="361"/>
        </pc:sldMkLst>
        <pc:spChg chg="add mod">
          <ac:chgData name="Maximiliano Ortiz" userId="90727fd8e92db46b" providerId="LiveId" clId="{9BC7EBD1-E6C7-40E2-9BE0-E69EBE0B6810}" dt="2026-08-03T17:45:40.602" v="529"/>
          <ac:spMkLst>
            <pc:docMk/>
            <pc:sldMk cId="1164902343" sldId="361"/>
            <ac:spMk id="6" creationId="{704F57D7-00A9-8748-AE67-9A8C6747B4B4}"/>
          </ac:spMkLst>
        </pc:spChg>
      </pc:sldChg>
      <pc:sldChg chg="addSp modSp">
        <pc:chgData name="Maximiliano Ortiz" userId="90727fd8e92db46b" providerId="LiveId" clId="{9BC7EBD1-E6C7-40E2-9BE0-E69EBE0B6810}" dt="2026-08-03T17:45:40.713" v="534"/>
        <pc:sldMkLst>
          <pc:docMk/>
          <pc:sldMk cId="567438305" sldId="362"/>
        </pc:sldMkLst>
        <pc:spChg chg="add mod">
          <ac:chgData name="Maximiliano Ortiz" userId="90727fd8e92db46b" providerId="LiveId" clId="{9BC7EBD1-E6C7-40E2-9BE0-E69EBE0B6810}" dt="2026-08-03T17:45:40.713" v="534"/>
          <ac:spMkLst>
            <pc:docMk/>
            <pc:sldMk cId="567438305" sldId="362"/>
            <ac:spMk id="12" creationId="{C6A604DB-A347-B1D5-1F69-B8AB638435A2}"/>
          </ac:spMkLst>
        </pc:spChg>
      </pc:sldChg>
      <pc:sldChg chg="addSp modSp">
        <pc:chgData name="Maximiliano Ortiz" userId="90727fd8e92db46b" providerId="LiveId" clId="{9BC7EBD1-E6C7-40E2-9BE0-E69EBE0B6810}" dt="2026-08-03T17:45:40.740" v="539"/>
        <pc:sldMkLst>
          <pc:docMk/>
          <pc:sldMk cId="1995449240" sldId="363"/>
        </pc:sldMkLst>
        <pc:spChg chg="add mod">
          <ac:chgData name="Maximiliano Ortiz" userId="90727fd8e92db46b" providerId="LiveId" clId="{9BC7EBD1-E6C7-40E2-9BE0-E69EBE0B6810}" dt="2026-08-03T17:45:40.740" v="539"/>
          <ac:spMkLst>
            <pc:docMk/>
            <pc:sldMk cId="1995449240" sldId="363"/>
            <ac:spMk id="12" creationId="{182C5A61-1739-C4E9-5D9C-FD6D9C31CB0F}"/>
          </ac:spMkLst>
        </pc:spChg>
      </pc:sldChg>
      <pc:sldChg chg="addSp modSp">
        <pc:chgData name="Maximiliano Ortiz" userId="90727fd8e92db46b" providerId="LiveId" clId="{9BC7EBD1-E6C7-40E2-9BE0-E69EBE0B6810}" dt="2026-08-03T17:45:40.772" v="544"/>
        <pc:sldMkLst>
          <pc:docMk/>
          <pc:sldMk cId="986630461" sldId="364"/>
        </pc:sldMkLst>
        <pc:spChg chg="add mod">
          <ac:chgData name="Maximiliano Ortiz" userId="90727fd8e92db46b" providerId="LiveId" clId="{9BC7EBD1-E6C7-40E2-9BE0-E69EBE0B6810}" dt="2026-08-03T17:45:40.772" v="544"/>
          <ac:spMkLst>
            <pc:docMk/>
            <pc:sldMk cId="986630461" sldId="364"/>
            <ac:spMk id="12" creationId="{F98B05DB-74E9-6A69-0FC5-086031507A65}"/>
          </ac:spMkLst>
        </pc:spChg>
      </pc:sldChg>
      <pc:sldChg chg="addSp modSp">
        <pc:chgData name="Maximiliano Ortiz" userId="90727fd8e92db46b" providerId="LiveId" clId="{9BC7EBD1-E6C7-40E2-9BE0-E69EBE0B6810}" dt="2026-08-03T17:45:40.802" v="549"/>
        <pc:sldMkLst>
          <pc:docMk/>
          <pc:sldMk cId="1602286470" sldId="365"/>
        </pc:sldMkLst>
        <pc:spChg chg="add mod">
          <ac:chgData name="Maximiliano Ortiz" userId="90727fd8e92db46b" providerId="LiveId" clId="{9BC7EBD1-E6C7-40E2-9BE0-E69EBE0B6810}" dt="2026-08-03T17:45:40.802" v="549"/>
          <ac:spMkLst>
            <pc:docMk/>
            <pc:sldMk cId="1602286470" sldId="365"/>
            <ac:spMk id="15" creationId="{6310C64F-AAD0-2D68-2AE7-11AB807A69C9}"/>
          </ac:spMkLst>
        </pc:spChg>
      </pc:sldChg>
      <pc:sldChg chg="addSp modSp">
        <pc:chgData name="Maximiliano Ortiz" userId="90727fd8e92db46b" providerId="LiveId" clId="{9BC7EBD1-E6C7-40E2-9BE0-E69EBE0B6810}" dt="2026-08-03T17:45:40.840" v="554"/>
        <pc:sldMkLst>
          <pc:docMk/>
          <pc:sldMk cId="1133635661" sldId="366"/>
        </pc:sldMkLst>
        <pc:spChg chg="add mod">
          <ac:chgData name="Maximiliano Ortiz" userId="90727fd8e92db46b" providerId="LiveId" clId="{9BC7EBD1-E6C7-40E2-9BE0-E69EBE0B6810}" dt="2026-08-03T17:45:40.840" v="554"/>
          <ac:spMkLst>
            <pc:docMk/>
            <pc:sldMk cId="1133635661" sldId="366"/>
            <ac:spMk id="15" creationId="{6A92D104-C97F-5571-C10D-C9F01CECFB25}"/>
          </ac:spMkLst>
        </pc:spChg>
      </pc:sldChg>
      <pc:sldChg chg="addSp modSp">
        <pc:chgData name="Maximiliano Ortiz" userId="90727fd8e92db46b" providerId="LiveId" clId="{9BC7EBD1-E6C7-40E2-9BE0-E69EBE0B6810}" dt="2026-08-03T17:45:40.869" v="559"/>
        <pc:sldMkLst>
          <pc:docMk/>
          <pc:sldMk cId="1741329192" sldId="367"/>
        </pc:sldMkLst>
        <pc:spChg chg="add mod">
          <ac:chgData name="Maximiliano Ortiz" userId="90727fd8e92db46b" providerId="LiveId" clId="{9BC7EBD1-E6C7-40E2-9BE0-E69EBE0B6810}" dt="2026-08-03T17:45:40.869" v="559"/>
          <ac:spMkLst>
            <pc:docMk/>
            <pc:sldMk cId="1741329192" sldId="367"/>
            <ac:spMk id="13" creationId="{43D931C7-8C81-88F8-903C-40A87E718D77}"/>
          </ac:spMkLst>
        </pc:spChg>
      </pc:sldChg>
      <pc:sldChg chg="addSp modSp">
        <pc:chgData name="Maximiliano Ortiz" userId="90727fd8e92db46b" providerId="LiveId" clId="{9BC7EBD1-E6C7-40E2-9BE0-E69EBE0B6810}" dt="2026-08-03T17:45:40.902" v="564"/>
        <pc:sldMkLst>
          <pc:docMk/>
          <pc:sldMk cId="34619112" sldId="368"/>
        </pc:sldMkLst>
        <pc:spChg chg="add mod">
          <ac:chgData name="Maximiliano Ortiz" userId="90727fd8e92db46b" providerId="LiveId" clId="{9BC7EBD1-E6C7-40E2-9BE0-E69EBE0B6810}" dt="2026-08-03T17:45:40.902" v="564"/>
          <ac:spMkLst>
            <pc:docMk/>
            <pc:sldMk cId="34619112" sldId="368"/>
            <ac:spMk id="12" creationId="{F72412C1-7B7E-C70F-5B84-BBCD11D5CE85}"/>
          </ac:spMkLst>
        </pc:spChg>
      </pc:sldChg>
      <pc:sldChg chg="addSp modSp">
        <pc:chgData name="Maximiliano Ortiz" userId="90727fd8e92db46b" providerId="LiveId" clId="{9BC7EBD1-E6C7-40E2-9BE0-E69EBE0B6810}" dt="2026-08-03T17:45:40.930" v="569"/>
        <pc:sldMkLst>
          <pc:docMk/>
          <pc:sldMk cId="1673297158" sldId="369"/>
        </pc:sldMkLst>
        <pc:spChg chg="add mod">
          <ac:chgData name="Maximiliano Ortiz" userId="90727fd8e92db46b" providerId="LiveId" clId="{9BC7EBD1-E6C7-40E2-9BE0-E69EBE0B6810}" dt="2026-08-03T17:45:40.930" v="569"/>
          <ac:spMkLst>
            <pc:docMk/>
            <pc:sldMk cId="1673297158" sldId="369"/>
            <ac:spMk id="13" creationId="{6B1A1610-7340-2A96-9E31-3A611DC4BAE7}"/>
          </ac:spMkLst>
        </pc:spChg>
      </pc:sldChg>
      <pc:sldChg chg="addSp modSp">
        <pc:chgData name="Maximiliano Ortiz" userId="90727fd8e92db46b" providerId="LiveId" clId="{9BC7EBD1-E6C7-40E2-9BE0-E69EBE0B6810}" dt="2026-08-03T17:45:40.956" v="574"/>
        <pc:sldMkLst>
          <pc:docMk/>
          <pc:sldMk cId="313021856" sldId="370"/>
        </pc:sldMkLst>
        <pc:spChg chg="add mod">
          <ac:chgData name="Maximiliano Ortiz" userId="90727fd8e92db46b" providerId="LiveId" clId="{9BC7EBD1-E6C7-40E2-9BE0-E69EBE0B6810}" dt="2026-08-03T17:45:40.956" v="574"/>
          <ac:spMkLst>
            <pc:docMk/>
            <pc:sldMk cId="313021856" sldId="370"/>
            <ac:spMk id="11" creationId="{A98704FB-EF9B-0D5A-B334-5DA6F9619337}"/>
          </ac:spMkLst>
        </pc:spChg>
      </pc:sldChg>
      <pc:sldChg chg="addSp modSp">
        <pc:chgData name="Maximiliano Ortiz" userId="90727fd8e92db46b" providerId="LiveId" clId="{9BC7EBD1-E6C7-40E2-9BE0-E69EBE0B6810}" dt="2026-08-03T17:45:41.001" v="579"/>
        <pc:sldMkLst>
          <pc:docMk/>
          <pc:sldMk cId="1320203634" sldId="371"/>
        </pc:sldMkLst>
        <pc:spChg chg="add mod">
          <ac:chgData name="Maximiliano Ortiz" userId="90727fd8e92db46b" providerId="LiveId" clId="{9BC7EBD1-E6C7-40E2-9BE0-E69EBE0B6810}" dt="2026-08-03T17:45:41.001" v="579"/>
          <ac:spMkLst>
            <pc:docMk/>
            <pc:sldMk cId="1320203634" sldId="371"/>
            <ac:spMk id="23" creationId="{41CB5102-CFF0-0973-1531-029E12CF0A9A}"/>
          </ac:spMkLst>
        </pc:spChg>
      </pc:sldChg>
      <pc:sldChg chg="addSp modSp">
        <pc:chgData name="Maximiliano Ortiz" userId="90727fd8e92db46b" providerId="LiveId" clId="{9BC7EBD1-E6C7-40E2-9BE0-E69EBE0B6810}" dt="2026-08-03T17:45:41.015" v="584"/>
        <pc:sldMkLst>
          <pc:docMk/>
          <pc:sldMk cId="1164902343" sldId="372"/>
        </pc:sldMkLst>
        <pc:spChg chg="add mod">
          <ac:chgData name="Maximiliano Ortiz" userId="90727fd8e92db46b" providerId="LiveId" clId="{9BC7EBD1-E6C7-40E2-9BE0-E69EBE0B6810}" dt="2026-08-03T17:45:41.015" v="584"/>
          <ac:spMkLst>
            <pc:docMk/>
            <pc:sldMk cId="1164902343" sldId="372"/>
            <ac:spMk id="6" creationId="{1B791699-5871-BF0B-494D-1911254EA3EB}"/>
          </ac:spMkLst>
        </pc:spChg>
      </pc:sldChg>
      <pc:sldChg chg="addSp modSp mod">
        <pc:chgData name="Maximiliano Ortiz" userId="90727fd8e92db46b" providerId="LiveId" clId="{9BC7EBD1-E6C7-40E2-9BE0-E69EBE0B6810}" dt="2026-08-03T17:45:41.044" v="591"/>
        <pc:sldMkLst>
          <pc:docMk/>
          <pc:sldMk cId="1687263069" sldId="373"/>
        </pc:sldMkLst>
        <pc:spChg chg="add mod">
          <ac:chgData name="Maximiliano Ortiz" userId="90727fd8e92db46b" providerId="LiveId" clId="{9BC7EBD1-E6C7-40E2-9BE0-E69EBE0B6810}" dt="2026-08-03T17:45:41.044" v="591"/>
          <ac:spMkLst>
            <pc:docMk/>
            <pc:sldMk cId="1687263069" sldId="373"/>
            <ac:spMk id="4" creationId="{A0F95360-9E65-1F10-49CF-499642D6353B}"/>
          </ac:spMkLst>
        </pc:spChg>
        <pc:picChg chg="mod">
          <ac:chgData name="Maximiliano Ortiz" userId="90727fd8e92db46b" providerId="LiveId" clId="{9BC7EBD1-E6C7-40E2-9BE0-E69EBE0B6810}" dt="2026-08-03T17:45:41.038" v="586"/>
          <ac:picMkLst>
            <pc:docMk/>
            <pc:sldMk cId="1687263069" sldId="373"/>
            <ac:picMk id="14" creationId="{00000000-0000-0000-0000-000000000000}"/>
          </ac:picMkLst>
        </pc:picChg>
      </pc:sldChg>
      <pc:sldChg chg="addSp modSp">
        <pc:chgData name="Maximiliano Ortiz" userId="90727fd8e92db46b" providerId="LiveId" clId="{9BC7EBD1-E6C7-40E2-9BE0-E69EBE0B6810}" dt="2026-08-03T17:45:41.109" v="596"/>
        <pc:sldMkLst>
          <pc:docMk/>
          <pc:sldMk cId="1995449240" sldId="374"/>
        </pc:sldMkLst>
        <pc:spChg chg="add mod">
          <ac:chgData name="Maximiliano Ortiz" userId="90727fd8e92db46b" providerId="LiveId" clId="{9BC7EBD1-E6C7-40E2-9BE0-E69EBE0B6810}" dt="2026-08-03T17:45:41.109" v="596"/>
          <ac:spMkLst>
            <pc:docMk/>
            <pc:sldMk cId="1995449240" sldId="374"/>
            <ac:spMk id="22" creationId="{EDF4DFB9-1396-81C1-E434-42F26BF6CB73}"/>
          </ac:spMkLst>
        </pc:spChg>
      </pc:sldChg>
      <pc:sldChg chg="addSp modSp">
        <pc:chgData name="Maximiliano Ortiz" userId="90727fd8e92db46b" providerId="LiveId" clId="{9BC7EBD1-E6C7-40E2-9BE0-E69EBE0B6810}" dt="2026-08-03T17:45:41.177" v="601"/>
        <pc:sldMkLst>
          <pc:docMk/>
          <pc:sldMk cId="986630461" sldId="375"/>
        </pc:sldMkLst>
        <pc:spChg chg="add mod">
          <ac:chgData name="Maximiliano Ortiz" userId="90727fd8e92db46b" providerId="LiveId" clId="{9BC7EBD1-E6C7-40E2-9BE0-E69EBE0B6810}" dt="2026-08-03T17:45:41.177" v="601"/>
          <ac:spMkLst>
            <pc:docMk/>
            <pc:sldMk cId="986630461" sldId="375"/>
            <ac:spMk id="22" creationId="{71AADB0A-2C27-B3AA-FF36-FD664B813C3F}"/>
          </ac:spMkLst>
        </pc:spChg>
      </pc:sldChg>
      <pc:sldChg chg="addSp modSp">
        <pc:chgData name="Maximiliano Ortiz" userId="90727fd8e92db46b" providerId="LiveId" clId="{9BC7EBD1-E6C7-40E2-9BE0-E69EBE0B6810}" dt="2026-08-03T17:45:41.204" v="606"/>
        <pc:sldMkLst>
          <pc:docMk/>
          <pc:sldMk cId="1133635661" sldId="376"/>
        </pc:sldMkLst>
        <pc:spChg chg="add mod">
          <ac:chgData name="Maximiliano Ortiz" userId="90727fd8e92db46b" providerId="LiveId" clId="{9BC7EBD1-E6C7-40E2-9BE0-E69EBE0B6810}" dt="2026-08-03T17:45:41.204" v="606"/>
          <ac:spMkLst>
            <pc:docMk/>
            <pc:sldMk cId="1133635661" sldId="376"/>
            <ac:spMk id="4" creationId="{C5BCAB4D-EE49-4EBC-FC8A-8BB5B359A2B8}"/>
          </ac:spMkLst>
        </pc:spChg>
      </pc:sldChg>
      <pc:sldChg chg="addSp modSp">
        <pc:chgData name="Maximiliano Ortiz" userId="90727fd8e92db46b" providerId="LiveId" clId="{9BC7EBD1-E6C7-40E2-9BE0-E69EBE0B6810}" dt="2026-08-03T17:45:41.272" v="611"/>
        <pc:sldMkLst>
          <pc:docMk/>
          <pc:sldMk cId="318321949" sldId="377"/>
        </pc:sldMkLst>
        <pc:spChg chg="add mod">
          <ac:chgData name="Maximiliano Ortiz" userId="90727fd8e92db46b" providerId="LiveId" clId="{9BC7EBD1-E6C7-40E2-9BE0-E69EBE0B6810}" dt="2026-08-03T17:45:41.272" v="611"/>
          <ac:spMkLst>
            <pc:docMk/>
            <pc:sldMk cId="318321949" sldId="377"/>
            <ac:spMk id="22" creationId="{00458EFB-4506-063B-73E7-D184D4B24B51}"/>
          </ac:spMkLst>
        </pc:spChg>
      </pc:sldChg>
      <pc:sldChg chg="addSp modSp">
        <pc:chgData name="Maximiliano Ortiz" userId="90727fd8e92db46b" providerId="LiveId" clId="{9BC7EBD1-E6C7-40E2-9BE0-E69EBE0B6810}" dt="2026-08-03T17:45:41.302" v="616"/>
        <pc:sldMkLst>
          <pc:docMk/>
          <pc:sldMk cId="817057724" sldId="378"/>
        </pc:sldMkLst>
        <pc:spChg chg="add mod">
          <ac:chgData name="Maximiliano Ortiz" userId="90727fd8e92db46b" providerId="LiveId" clId="{9BC7EBD1-E6C7-40E2-9BE0-E69EBE0B6810}" dt="2026-08-03T17:45:41.302" v="616"/>
          <ac:spMkLst>
            <pc:docMk/>
            <pc:sldMk cId="817057724" sldId="378"/>
            <ac:spMk id="4" creationId="{E9281114-91A3-155B-40E3-CA851F0A6BD2}"/>
          </ac:spMkLst>
        </pc:spChg>
      </pc:sldChg>
      <pc:sldChg chg="addSp modSp">
        <pc:chgData name="Maximiliano Ortiz" userId="90727fd8e92db46b" providerId="LiveId" clId="{9BC7EBD1-E6C7-40E2-9BE0-E69EBE0B6810}" dt="2026-08-03T17:45:41.356" v="621"/>
        <pc:sldMkLst>
          <pc:docMk/>
          <pc:sldMk cId="1320203634" sldId="379"/>
        </pc:sldMkLst>
        <pc:spChg chg="add mod">
          <ac:chgData name="Maximiliano Ortiz" userId="90727fd8e92db46b" providerId="LiveId" clId="{9BC7EBD1-E6C7-40E2-9BE0-E69EBE0B6810}" dt="2026-08-03T17:45:41.356" v="621"/>
          <ac:spMkLst>
            <pc:docMk/>
            <pc:sldMk cId="1320203634" sldId="379"/>
            <ac:spMk id="23" creationId="{0D733C45-A3ED-D31D-4405-34523C23E8CF}"/>
          </ac:spMkLst>
        </pc:spChg>
      </pc:sldChg>
      <pc:sldChg chg="addSp modSp">
        <pc:chgData name="Maximiliano Ortiz" userId="90727fd8e92db46b" providerId="LiveId" clId="{9BC7EBD1-E6C7-40E2-9BE0-E69EBE0B6810}" dt="2026-08-03T17:45:41.420" v="626"/>
        <pc:sldMkLst>
          <pc:docMk/>
          <pc:sldMk cId="817057724" sldId="380"/>
        </pc:sldMkLst>
        <pc:spChg chg="add mod">
          <ac:chgData name="Maximiliano Ortiz" userId="90727fd8e92db46b" providerId="LiveId" clId="{9BC7EBD1-E6C7-40E2-9BE0-E69EBE0B6810}" dt="2026-08-03T17:45:41.420" v="626"/>
          <ac:spMkLst>
            <pc:docMk/>
            <pc:sldMk cId="817057724" sldId="380"/>
            <ac:spMk id="19" creationId="{ED7DF407-72A4-95F8-1EDA-8D247F921057}"/>
          </ac:spMkLst>
        </pc:spChg>
      </pc:sldChg>
      <pc:sldChg chg="addSp modSp">
        <pc:chgData name="Maximiliano Ortiz" userId="90727fd8e92db46b" providerId="LiveId" clId="{9BC7EBD1-E6C7-40E2-9BE0-E69EBE0B6810}" dt="2026-08-03T17:45:41.481" v="631"/>
        <pc:sldMkLst>
          <pc:docMk/>
          <pc:sldMk cId="1673297158" sldId="381"/>
        </pc:sldMkLst>
        <pc:spChg chg="add mod">
          <ac:chgData name="Maximiliano Ortiz" userId="90727fd8e92db46b" providerId="LiveId" clId="{9BC7EBD1-E6C7-40E2-9BE0-E69EBE0B6810}" dt="2026-08-03T17:45:41.481" v="631"/>
          <ac:spMkLst>
            <pc:docMk/>
            <pc:sldMk cId="1673297158" sldId="381"/>
            <ac:spMk id="19" creationId="{B6591B37-D17C-A292-2C82-22F87EB823DB}"/>
          </ac:spMkLst>
        </pc:spChg>
      </pc:sldChg>
      <pc:sldChg chg="addSp modSp">
        <pc:chgData name="Maximiliano Ortiz" userId="90727fd8e92db46b" providerId="LiveId" clId="{9BC7EBD1-E6C7-40E2-9BE0-E69EBE0B6810}" dt="2026-08-03T17:45:41.622" v="636"/>
        <pc:sldMkLst>
          <pc:docMk/>
          <pc:sldMk cId="1133635661" sldId="382"/>
        </pc:sldMkLst>
        <pc:spChg chg="add mod">
          <ac:chgData name="Maximiliano Ortiz" userId="90727fd8e92db46b" providerId="LiveId" clId="{9BC7EBD1-E6C7-40E2-9BE0-E69EBE0B6810}" dt="2026-08-03T17:45:41.622" v="636"/>
          <ac:spMkLst>
            <pc:docMk/>
            <pc:sldMk cId="1133635661" sldId="382"/>
            <ac:spMk id="19" creationId="{E86228D6-207F-F7B9-0AF2-F9FA93E86DC5}"/>
          </ac:spMkLst>
        </pc:spChg>
      </pc:sldChg>
      <pc:sldChg chg="addSp modSp">
        <pc:chgData name="Maximiliano Ortiz" userId="90727fd8e92db46b" providerId="LiveId" clId="{9BC7EBD1-E6C7-40E2-9BE0-E69EBE0B6810}" dt="2026-08-03T17:45:41.653" v="641"/>
        <pc:sldMkLst>
          <pc:docMk/>
          <pc:sldMk cId="1741329192" sldId="383"/>
        </pc:sldMkLst>
        <pc:spChg chg="add mod">
          <ac:chgData name="Maximiliano Ortiz" userId="90727fd8e92db46b" providerId="LiveId" clId="{9BC7EBD1-E6C7-40E2-9BE0-E69EBE0B6810}" dt="2026-08-03T17:45:41.653" v="641"/>
          <ac:spMkLst>
            <pc:docMk/>
            <pc:sldMk cId="1741329192" sldId="383"/>
            <ac:spMk id="13" creationId="{2DCAECFC-B778-1E7F-24F2-44DC519268B5}"/>
          </ac:spMkLst>
        </pc:spChg>
      </pc:sldChg>
      <pc:sldChg chg="addSp modSp">
        <pc:chgData name="Maximiliano Ortiz" userId="90727fd8e92db46b" providerId="LiveId" clId="{9BC7EBD1-E6C7-40E2-9BE0-E69EBE0B6810}" dt="2026-08-03T17:45:41.702" v="646"/>
        <pc:sldMkLst>
          <pc:docMk/>
          <pc:sldMk cId="951530275" sldId="384"/>
        </pc:sldMkLst>
        <pc:spChg chg="add mod">
          <ac:chgData name="Maximiliano Ortiz" userId="90727fd8e92db46b" providerId="LiveId" clId="{9BC7EBD1-E6C7-40E2-9BE0-E69EBE0B6810}" dt="2026-08-03T17:45:41.702" v="646"/>
          <ac:spMkLst>
            <pc:docMk/>
            <pc:sldMk cId="951530275" sldId="384"/>
            <ac:spMk id="16" creationId="{479D8E84-58F7-3877-B4C2-53DCCBBDC3FE}"/>
          </ac:spMkLst>
        </pc:spChg>
      </pc:sldChg>
      <pc:sldChg chg="addSp modSp">
        <pc:chgData name="Maximiliano Ortiz" userId="90727fd8e92db46b" providerId="LiveId" clId="{9BC7EBD1-E6C7-40E2-9BE0-E69EBE0B6810}" dt="2026-08-03T17:45:41.729" v="651"/>
        <pc:sldMkLst>
          <pc:docMk/>
          <pc:sldMk cId="1673297158" sldId="385"/>
        </pc:sldMkLst>
        <pc:spChg chg="add mod">
          <ac:chgData name="Maximiliano Ortiz" userId="90727fd8e92db46b" providerId="LiveId" clId="{9BC7EBD1-E6C7-40E2-9BE0-E69EBE0B6810}" dt="2026-08-03T17:45:41.729" v="651"/>
          <ac:spMkLst>
            <pc:docMk/>
            <pc:sldMk cId="1673297158" sldId="385"/>
            <ac:spMk id="13" creationId="{C75FF121-A82E-B351-0600-6CEFBB470C80}"/>
          </ac:spMkLst>
        </pc:spChg>
      </pc:sldChg>
      <pc:sldChg chg="addSp modSp">
        <pc:chgData name="Maximiliano Ortiz" userId="90727fd8e92db46b" providerId="LiveId" clId="{9BC7EBD1-E6C7-40E2-9BE0-E69EBE0B6810}" dt="2026-08-03T17:45:41.749" v="656"/>
        <pc:sldMkLst>
          <pc:docMk/>
          <pc:sldMk cId="880112903" sldId="386"/>
        </pc:sldMkLst>
        <pc:spChg chg="add mod">
          <ac:chgData name="Maximiliano Ortiz" userId="90727fd8e92db46b" providerId="LiveId" clId="{9BC7EBD1-E6C7-40E2-9BE0-E69EBE0B6810}" dt="2026-08-03T17:45:41.749" v="656"/>
          <ac:spMkLst>
            <pc:docMk/>
            <pc:sldMk cId="880112903" sldId="386"/>
            <ac:spMk id="6" creationId="{3CE4B2F7-7434-74FD-1390-A83511B9C650}"/>
          </ac:spMkLst>
        </pc:spChg>
      </pc:sldChg>
      <pc:sldChg chg="addSp modSp">
        <pc:chgData name="Maximiliano Ortiz" userId="90727fd8e92db46b" providerId="LiveId" clId="{9BC7EBD1-E6C7-40E2-9BE0-E69EBE0B6810}" dt="2026-08-03T17:45:41.777" v="661"/>
        <pc:sldMkLst>
          <pc:docMk/>
          <pc:sldMk cId="235601764" sldId="387"/>
        </pc:sldMkLst>
        <pc:spChg chg="add mod">
          <ac:chgData name="Maximiliano Ortiz" userId="90727fd8e92db46b" providerId="LiveId" clId="{9BC7EBD1-E6C7-40E2-9BE0-E69EBE0B6810}" dt="2026-08-03T17:45:41.777" v="661"/>
          <ac:spMkLst>
            <pc:docMk/>
            <pc:sldMk cId="235601764" sldId="387"/>
            <ac:spMk id="12" creationId="{5956F18D-AE57-24D8-1351-DEDEFBCF5931}"/>
          </ac:spMkLst>
        </pc:spChg>
      </pc:sldChg>
      <pc:sldChg chg="addSp modSp">
        <pc:chgData name="Maximiliano Ortiz" userId="90727fd8e92db46b" providerId="LiveId" clId="{9BC7EBD1-E6C7-40E2-9BE0-E69EBE0B6810}" dt="2026-08-03T17:45:41.801" v="666"/>
        <pc:sldMkLst>
          <pc:docMk/>
          <pc:sldMk cId="313021856" sldId="388"/>
        </pc:sldMkLst>
        <pc:spChg chg="add mod">
          <ac:chgData name="Maximiliano Ortiz" userId="90727fd8e92db46b" providerId="LiveId" clId="{9BC7EBD1-E6C7-40E2-9BE0-E69EBE0B6810}" dt="2026-08-03T17:45:41.801" v="666"/>
          <ac:spMkLst>
            <pc:docMk/>
            <pc:sldMk cId="313021856" sldId="388"/>
            <ac:spMk id="15" creationId="{A41A666B-29BF-1188-0A96-5C5FB7D68A56}"/>
          </ac:spMkLst>
        </pc:spChg>
      </pc:sldChg>
      <pc:sldChg chg="addSp modSp">
        <pc:chgData name="Maximiliano Ortiz" userId="90727fd8e92db46b" providerId="LiveId" clId="{9BC7EBD1-E6C7-40E2-9BE0-E69EBE0B6810}" dt="2026-08-03T17:45:41.837" v="671"/>
        <pc:sldMkLst>
          <pc:docMk/>
          <pc:sldMk cId="313021856" sldId="389"/>
        </pc:sldMkLst>
        <pc:spChg chg="add mod">
          <ac:chgData name="Maximiliano Ortiz" userId="90727fd8e92db46b" providerId="LiveId" clId="{9BC7EBD1-E6C7-40E2-9BE0-E69EBE0B6810}" dt="2026-08-03T17:45:41.837" v="671"/>
          <ac:spMkLst>
            <pc:docMk/>
            <pc:sldMk cId="313021856" sldId="389"/>
            <ac:spMk id="15" creationId="{597D0B6D-8317-893B-FE7C-4C4A64462F4F}"/>
          </ac:spMkLst>
        </pc:spChg>
      </pc:sldChg>
      <pc:sldChg chg="addSp modSp">
        <pc:chgData name="Maximiliano Ortiz" userId="90727fd8e92db46b" providerId="LiveId" clId="{9BC7EBD1-E6C7-40E2-9BE0-E69EBE0B6810}" dt="2026-08-03T17:45:41.868" v="676"/>
        <pc:sldMkLst>
          <pc:docMk/>
          <pc:sldMk cId="313021856" sldId="390"/>
        </pc:sldMkLst>
        <pc:spChg chg="add mod">
          <ac:chgData name="Maximiliano Ortiz" userId="90727fd8e92db46b" providerId="LiveId" clId="{9BC7EBD1-E6C7-40E2-9BE0-E69EBE0B6810}" dt="2026-08-03T17:45:41.868" v="676"/>
          <ac:spMkLst>
            <pc:docMk/>
            <pc:sldMk cId="313021856" sldId="390"/>
            <ac:spMk id="15" creationId="{E1D32CCA-228B-C465-970F-AE8261CF1F51}"/>
          </ac:spMkLst>
        </pc:spChg>
      </pc:sldChg>
      <pc:sldChg chg="addSp modSp">
        <pc:chgData name="Maximiliano Ortiz" userId="90727fd8e92db46b" providerId="LiveId" clId="{9BC7EBD1-E6C7-40E2-9BE0-E69EBE0B6810}" dt="2026-08-03T17:45:41.900" v="681"/>
        <pc:sldMkLst>
          <pc:docMk/>
          <pc:sldMk cId="313021856" sldId="391"/>
        </pc:sldMkLst>
        <pc:spChg chg="add mod">
          <ac:chgData name="Maximiliano Ortiz" userId="90727fd8e92db46b" providerId="LiveId" clId="{9BC7EBD1-E6C7-40E2-9BE0-E69EBE0B6810}" dt="2026-08-03T17:45:41.900" v="681"/>
          <ac:spMkLst>
            <pc:docMk/>
            <pc:sldMk cId="313021856" sldId="391"/>
            <ac:spMk id="15" creationId="{4110AE64-0449-35A4-9078-B0C1B4A9A7E2}"/>
          </ac:spMkLst>
        </pc:spChg>
      </pc:sldChg>
      <pc:sldChg chg="addSp modSp">
        <pc:chgData name="Maximiliano Ortiz" userId="90727fd8e92db46b" providerId="LiveId" clId="{9BC7EBD1-E6C7-40E2-9BE0-E69EBE0B6810}" dt="2026-08-03T17:45:41.923" v="686"/>
        <pc:sldMkLst>
          <pc:docMk/>
          <pc:sldMk cId="313021856" sldId="392"/>
        </pc:sldMkLst>
        <pc:spChg chg="add mod">
          <ac:chgData name="Maximiliano Ortiz" userId="90727fd8e92db46b" providerId="LiveId" clId="{9BC7EBD1-E6C7-40E2-9BE0-E69EBE0B6810}" dt="2026-08-03T17:45:41.923" v="686"/>
          <ac:spMkLst>
            <pc:docMk/>
            <pc:sldMk cId="313021856" sldId="392"/>
            <ac:spMk id="4" creationId="{4C7575C5-4FC3-8851-C668-6684C849715B}"/>
          </ac:spMkLst>
        </pc:spChg>
      </pc:sldChg>
      <pc:sldChg chg="addSp modSp">
        <pc:chgData name="Maximiliano Ortiz" userId="90727fd8e92db46b" providerId="LiveId" clId="{9BC7EBD1-E6C7-40E2-9BE0-E69EBE0B6810}" dt="2026-08-03T17:45:41.952" v="691"/>
        <pc:sldMkLst>
          <pc:docMk/>
          <pc:sldMk cId="313021856" sldId="393"/>
        </pc:sldMkLst>
        <pc:spChg chg="add mod">
          <ac:chgData name="Maximiliano Ortiz" userId="90727fd8e92db46b" providerId="LiveId" clId="{9BC7EBD1-E6C7-40E2-9BE0-E69EBE0B6810}" dt="2026-08-03T17:45:41.952" v="691"/>
          <ac:spMkLst>
            <pc:docMk/>
            <pc:sldMk cId="313021856" sldId="393"/>
            <ac:spMk id="12" creationId="{693B7A9B-322B-01FF-5006-B96CC84CF65F}"/>
          </ac:spMkLst>
        </pc:spChg>
      </pc:sldChg>
      <pc:sldChg chg="addSp modSp">
        <pc:chgData name="Maximiliano Ortiz" userId="90727fd8e92db46b" providerId="LiveId" clId="{9BC7EBD1-E6C7-40E2-9BE0-E69EBE0B6810}" dt="2026-08-03T17:45:41.994" v="696"/>
        <pc:sldMkLst>
          <pc:docMk/>
          <pc:sldMk cId="313021856" sldId="394"/>
        </pc:sldMkLst>
        <pc:spChg chg="add mod">
          <ac:chgData name="Maximiliano Ortiz" userId="90727fd8e92db46b" providerId="LiveId" clId="{9BC7EBD1-E6C7-40E2-9BE0-E69EBE0B6810}" dt="2026-08-03T17:45:41.994" v="696"/>
          <ac:spMkLst>
            <pc:docMk/>
            <pc:sldMk cId="313021856" sldId="394"/>
            <ac:spMk id="15" creationId="{87112F76-81FC-F073-B9C2-B51642C7F729}"/>
          </ac:spMkLst>
        </pc:spChg>
      </pc:sldChg>
      <pc:sldChg chg="addSp modSp">
        <pc:chgData name="Maximiliano Ortiz" userId="90727fd8e92db46b" providerId="LiveId" clId="{9BC7EBD1-E6C7-40E2-9BE0-E69EBE0B6810}" dt="2026-08-03T17:45:42.024" v="701"/>
        <pc:sldMkLst>
          <pc:docMk/>
          <pc:sldMk cId="313021856" sldId="395"/>
        </pc:sldMkLst>
        <pc:spChg chg="add mod">
          <ac:chgData name="Maximiliano Ortiz" userId="90727fd8e92db46b" providerId="LiveId" clId="{9BC7EBD1-E6C7-40E2-9BE0-E69EBE0B6810}" dt="2026-08-03T17:45:42.024" v="701"/>
          <ac:spMkLst>
            <pc:docMk/>
            <pc:sldMk cId="313021856" sldId="395"/>
            <ac:spMk id="15" creationId="{A14AE609-3A92-0743-7068-7FAE2F2FC019}"/>
          </ac:spMkLst>
        </pc:spChg>
      </pc:sldChg>
      <pc:sldChg chg="addSp modSp">
        <pc:chgData name="Maximiliano Ortiz" userId="90727fd8e92db46b" providerId="LiveId" clId="{9BC7EBD1-E6C7-40E2-9BE0-E69EBE0B6810}" dt="2026-08-03T17:45:42.089" v="706"/>
        <pc:sldMkLst>
          <pc:docMk/>
          <pc:sldMk cId="313021856" sldId="396"/>
        </pc:sldMkLst>
        <pc:spChg chg="add mod">
          <ac:chgData name="Maximiliano Ortiz" userId="90727fd8e92db46b" providerId="LiveId" clId="{9BC7EBD1-E6C7-40E2-9BE0-E69EBE0B6810}" dt="2026-08-03T17:45:42.089" v="706"/>
          <ac:spMkLst>
            <pc:docMk/>
            <pc:sldMk cId="313021856" sldId="396"/>
            <ac:spMk id="25" creationId="{C4B3F059-C99A-490B-E23B-AC552F87C490}"/>
          </ac:spMkLst>
        </pc:spChg>
      </pc:sldChg>
      <pc:sldChg chg="addSp modSp">
        <pc:chgData name="Maximiliano Ortiz" userId="90727fd8e92db46b" providerId="LiveId" clId="{9BC7EBD1-E6C7-40E2-9BE0-E69EBE0B6810}" dt="2026-08-03T17:45:42.120" v="711"/>
        <pc:sldMkLst>
          <pc:docMk/>
          <pc:sldMk cId="313021856" sldId="397"/>
        </pc:sldMkLst>
        <pc:spChg chg="add mod">
          <ac:chgData name="Maximiliano Ortiz" userId="90727fd8e92db46b" providerId="LiveId" clId="{9BC7EBD1-E6C7-40E2-9BE0-E69EBE0B6810}" dt="2026-08-03T17:45:42.120" v="711"/>
          <ac:spMkLst>
            <pc:docMk/>
            <pc:sldMk cId="313021856" sldId="397"/>
            <ac:spMk id="15" creationId="{A3F92843-AE64-0304-04D5-AAF01B67E719}"/>
          </ac:spMkLst>
        </pc:spChg>
      </pc:sldChg>
      <pc:sldChg chg="addSp modSp">
        <pc:chgData name="Maximiliano Ortiz" userId="90727fd8e92db46b" providerId="LiveId" clId="{9BC7EBD1-E6C7-40E2-9BE0-E69EBE0B6810}" dt="2026-08-03T17:45:42.152" v="716"/>
        <pc:sldMkLst>
          <pc:docMk/>
          <pc:sldMk cId="313021856" sldId="398"/>
        </pc:sldMkLst>
        <pc:spChg chg="add mod">
          <ac:chgData name="Maximiliano Ortiz" userId="90727fd8e92db46b" providerId="LiveId" clId="{9BC7EBD1-E6C7-40E2-9BE0-E69EBE0B6810}" dt="2026-08-03T17:45:42.152" v="716"/>
          <ac:spMkLst>
            <pc:docMk/>
            <pc:sldMk cId="313021856" sldId="398"/>
            <ac:spMk id="15" creationId="{92B518CE-0964-65C3-3173-2F0D03DFF644}"/>
          </ac:spMkLst>
        </pc:spChg>
      </pc:sldChg>
      <pc:sldChg chg="addSp modSp">
        <pc:chgData name="Maximiliano Ortiz" userId="90727fd8e92db46b" providerId="LiveId" clId="{9BC7EBD1-E6C7-40E2-9BE0-E69EBE0B6810}" dt="2026-08-03T17:45:42.181" v="721"/>
        <pc:sldMkLst>
          <pc:docMk/>
          <pc:sldMk cId="313021856" sldId="399"/>
        </pc:sldMkLst>
        <pc:spChg chg="add mod">
          <ac:chgData name="Maximiliano Ortiz" userId="90727fd8e92db46b" providerId="LiveId" clId="{9BC7EBD1-E6C7-40E2-9BE0-E69EBE0B6810}" dt="2026-08-03T17:45:42.181" v="721"/>
          <ac:spMkLst>
            <pc:docMk/>
            <pc:sldMk cId="313021856" sldId="399"/>
            <ac:spMk id="4" creationId="{6CB179BA-4A1F-B79B-6B90-AC001EE7412F}"/>
          </ac:spMkLst>
        </pc:spChg>
      </pc:sldChg>
      <pc:sldChg chg="addSp modSp">
        <pc:chgData name="Maximiliano Ortiz" userId="90727fd8e92db46b" providerId="LiveId" clId="{9BC7EBD1-E6C7-40E2-9BE0-E69EBE0B6810}" dt="2026-08-03T17:45:42.214" v="726"/>
        <pc:sldMkLst>
          <pc:docMk/>
          <pc:sldMk cId="313021856" sldId="400"/>
        </pc:sldMkLst>
        <pc:spChg chg="add mod">
          <ac:chgData name="Maximiliano Ortiz" userId="90727fd8e92db46b" providerId="LiveId" clId="{9BC7EBD1-E6C7-40E2-9BE0-E69EBE0B6810}" dt="2026-08-03T17:45:42.214" v="726"/>
          <ac:spMkLst>
            <pc:docMk/>
            <pc:sldMk cId="313021856" sldId="400"/>
            <ac:spMk id="15" creationId="{9607DA23-E159-3722-BE20-7CE660FCCC9E}"/>
          </ac:spMkLst>
        </pc:spChg>
      </pc:sldChg>
      <pc:sldChg chg="addSp modSp">
        <pc:chgData name="Maximiliano Ortiz" userId="90727fd8e92db46b" providerId="LiveId" clId="{9BC7EBD1-E6C7-40E2-9BE0-E69EBE0B6810}" dt="2026-08-03T17:45:42.310" v="731"/>
        <pc:sldMkLst>
          <pc:docMk/>
          <pc:sldMk cId="313021856" sldId="401"/>
        </pc:sldMkLst>
        <pc:spChg chg="add mod">
          <ac:chgData name="Maximiliano Ortiz" userId="90727fd8e92db46b" providerId="LiveId" clId="{9BC7EBD1-E6C7-40E2-9BE0-E69EBE0B6810}" dt="2026-08-03T17:45:42.310" v="731"/>
          <ac:spMkLst>
            <pc:docMk/>
            <pc:sldMk cId="313021856" sldId="401"/>
            <ac:spMk id="15" creationId="{7FB4F5E7-EF51-930A-BCF3-5364CE23B804}"/>
          </ac:spMkLst>
        </pc:spChg>
      </pc:sldChg>
      <pc:sldChg chg="addSp modSp">
        <pc:chgData name="Maximiliano Ortiz" userId="90727fd8e92db46b" providerId="LiveId" clId="{9BC7EBD1-E6C7-40E2-9BE0-E69EBE0B6810}" dt="2026-08-03T17:45:42.334" v="736"/>
        <pc:sldMkLst>
          <pc:docMk/>
          <pc:sldMk cId="313021856" sldId="402"/>
        </pc:sldMkLst>
        <pc:spChg chg="add mod">
          <ac:chgData name="Maximiliano Ortiz" userId="90727fd8e92db46b" providerId="LiveId" clId="{9BC7EBD1-E6C7-40E2-9BE0-E69EBE0B6810}" dt="2026-08-03T17:45:42.334" v="736"/>
          <ac:spMkLst>
            <pc:docMk/>
            <pc:sldMk cId="313021856" sldId="402"/>
            <ac:spMk id="12" creationId="{4979DF6C-0DC4-6AE6-8CEB-5B99C4D10BEF}"/>
          </ac:spMkLst>
        </pc:spChg>
      </pc:sldChg>
      <pc:sldChg chg="addSp modSp">
        <pc:chgData name="Maximiliano Ortiz" userId="90727fd8e92db46b" providerId="LiveId" clId="{9BC7EBD1-E6C7-40E2-9BE0-E69EBE0B6810}" dt="2026-08-03T17:45:42.365" v="741"/>
        <pc:sldMkLst>
          <pc:docMk/>
          <pc:sldMk cId="313021856" sldId="403"/>
        </pc:sldMkLst>
        <pc:spChg chg="add mod">
          <ac:chgData name="Maximiliano Ortiz" userId="90727fd8e92db46b" providerId="LiveId" clId="{9BC7EBD1-E6C7-40E2-9BE0-E69EBE0B6810}" dt="2026-08-03T17:45:42.365" v="741"/>
          <ac:spMkLst>
            <pc:docMk/>
            <pc:sldMk cId="313021856" sldId="403"/>
            <ac:spMk id="12" creationId="{0DFC53DC-A2E5-37F0-6B35-A5DF20886212}"/>
          </ac:spMkLst>
        </pc:spChg>
      </pc:sldChg>
      <pc:sldChg chg="addSp modSp">
        <pc:chgData name="Maximiliano Ortiz" userId="90727fd8e92db46b" providerId="LiveId" clId="{9BC7EBD1-E6C7-40E2-9BE0-E69EBE0B6810}" dt="2026-08-03T17:45:42.408" v="746"/>
        <pc:sldMkLst>
          <pc:docMk/>
          <pc:sldMk cId="313021856" sldId="404"/>
        </pc:sldMkLst>
        <pc:spChg chg="add mod">
          <ac:chgData name="Maximiliano Ortiz" userId="90727fd8e92db46b" providerId="LiveId" clId="{9BC7EBD1-E6C7-40E2-9BE0-E69EBE0B6810}" dt="2026-08-03T17:45:42.408" v="746"/>
          <ac:spMkLst>
            <pc:docMk/>
            <pc:sldMk cId="313021856" sldId="404"/>
            <ac:spMk id="16" creationId="{46425ADA-3B48-0290-467D-4E66A662101A}"/>
          </ac:spMkLst>
        </pc:spChg>
      </pc:sldChg>
      <pc:sldChg chg="addSp modSp">
        <pc:chgData name="Maximiliano Ortiz" userId="90727fd8e92db46b" providerId="LiveId" clId="{9BC7EBD1-E6C7-40E2-9BE0-E69EBE0B6810}" dt="2026-08-03T17:45:42.433" v="751"/>
        <pc:sldMkLst>
          <pc:docMk/>
          <pc:sldMk cId="313021856" sldId="405"/>
        </pc:sldMkLst>
        <pc:spChg chg="add mod">
          <ac:chgData name="Maximiliano Ortiz" userId="90727fd8e92db46b" providerId="LiveId" clId="{9BC7EBD1-E6C7-40E2-9BE0-E69EBE0B6810}" dt="2026-08-03T17:45:42.433" v="751"/>
          <ac:spMkLst>
            <pc:docMk/>
            <pc:sldMk cId="313021856" sldId="405"/>
            <ac:spMk id="12" creationId="{BDCE0D78-AEE7-379A-EEF6-F2362219B1F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4.xml"/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6.xml"/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7.xml"/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8.xml"/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9.xml"/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0.xml"/><Relationship Id="rId1" Type="http://schemas.openxmlformats.org/officeDocument/2006/relationships/notesMaster" Target="../notesMasters/notesMaster1.xml"/></Relationships>
</file>

<file path=ppt/notesSlides/_rels/notesSlide1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1.xml"/><Relationship Id="rId1" Type="http://schemas.openxmlformats.org/officeDocument/2006/relationships/notesMaster" Target="../notesMasters/notesMaster1.xml"/></Relationships>
</file>

<file path=ppt/notesSlides/_rels/notesSlide1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2.xml"/><Relationship Id="rId1" Type="http://schemas.openxmlformats.org/officeDocument/2006/relationships/notesMaster" Target="../notesMasters/notesMaster1.xml"/></Relationships>
</file>

<file path=ppt/notesSlides/_rels/notesSlide1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3.xml"/><Relationship Id="rId1" Type="http://schemas.openxmlformats.org/officeDocument/2006/relationships/notesMaster" Target="../notesMasters/notesMaster1.xml"/></Relationships>
</file>

<file path=ppt/notesSlides/_rels/notesSlide1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4.xml"/><Relationship Id="rId1" Type="http://schemas.openxmlformats.org/officeDocument/2006/relationships/notesMaster" Target="../notesMasters/notesMaster1.xml"/></Relationships>
</file>

<file path=ppt/notesSlides/_rels/notesSlide1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5.xml"/><Relationship Id="rId1" Type="http://schemas.openxmlformats.org/officeDocument/2006/relationships/notesMaster" Target="../notesMasters/notesMaster1.xml"/></Relationships>
</file>

<file path=ppt/notesSlides/_rels/notesSlide1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6.xml"/><Relationship Id="rId1" Type="http://schemas.openxmlformats.org/officeDocument/2006/relationships/notesMaster" Target="../notesMasters/notesMaster1.xml"/></Relationships>
</file>

<file path=ppt/notesSlides/_rels/notesSlide1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7.xml"/><Relationship Id="rId1" Type="http://schemas.openxmlformats.org/officeDocument/2006/relationships/notesMaster" Target="../notesMasters/notesMaster1.xml"/></Relationships>
</file>

<file path=ppt/notesSlides/_rels/notesSlide1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8.xml"/><Relationship Id="rId1" Type="http://schemas.openxmlformats.org/officeDocument/2006/relationships/notesMaster" Target="../notesMasters/notesMaster1.xml"/></Relationships>
</file>

<file path=ppt/notesSlides/_rels/notesSlide1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9.xml"/><Relationship Id="rId1" Type="http://schemas.openxmlformats.org/officeDocument/2006/relationships/notesMaster" Target="../notesMasters/notesMaster1.xml"/></Relationships>
</file>

<file path=ppt/notesSlides/_rels/notesSlide1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Explicar que la unidad no busca “aprender a mirar FFT”, sino decidir qué objeto y magnitud representa cada visual. Recuperar U4: una señal compleja puede resumirse con RMS sin quedar completamente descripta. **Transición:** mostrar dos señales con igual RMS.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PO; BR; CM.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Pedir una predicción individual antes de comparar. Respuesta esperada: no son iguales; el RMS común solo informa tamaño eficaz. Evitar revelar todavía sus espectros. Error frecuente: identificar “misma energía” con “misma señal” o “misma percepción”. **Transición:** preguntar qué gráfico permitiría distinguirlas.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PREV U04-109; BR; TEX 5.1.</a:t>
            </a:r>
          </a:p>
          <a:p>
            <a:r>
              <a:t>- Asset propio aprobado: U05-CH-001.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Dar 60–90 s para clasificar los cuatro mini gráficos. No sancionar errores; anotar si confunden espectro con respuesta y eje vertical con intensidad. Respuesta esperada: la forma visual no basta; deben nombrarse objeto, ejes, unidades y condiciones. **Transición:** recuperar prerrequisitos de U3/U4.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BR; CDM; EP.</a:t>
            </a:r>
          </a:p>
          <a:p>
            <a:r>
              <a:t>- Asset propio aprobado: U05-DG-002.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Recorrer primero U3 y luego U4; no volver a enseñar ambos temas. Preguntar: “¿qué unidad tiene `p(t)`?” Respuesta: Pa. “¿Cómo se relacionan `f` y `T`?” Respuesta: inversamente. **Transición:** convertir conocimientos previos en acciones observables.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5.2; BR; NOT.</a:t>
            </a:r>
          </a:p>
          <a:p>
            <a:r>
              <a:t>- Asset propio aprobado: U05-DG-002.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Leer los objetivos como tareas que podrán demostrar, no como temario. Elegir dos y pedir ejemplos de evidencia. Señalar que calcular sin interpretar ni declarar condiciones no alcanza. **Transición:** ubicar esas acciones en el mapa de la unidad.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BR objetivos; CM.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Guiar el diagrama de izquierda a derecha: representar, analizar, organizar/modificar, medir/decidir. Explicar que el mapa reaparecerá con más detalle. Aclarar la ruta central y el material complementario. **Transición:** presentar una rutina que funcionará en todos los tramos.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BR; CM; CDM.</a:t>
            </a:r>
          </a:p>
          <a:p>
            <a:r>
              <a:t>- Asset propio aprobado: U05-DG-001.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Aplicar las cinco preguntas a uno de los gráficos diagnósticos. Respuesta esperada debe incluir una conclusión limitada, no una interpretación perceptual. Pedir que mantengan esta rutina en sus apuntes. **Transición:** usarla sobre una misma señal en varias vistas.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BR; NOT; GLO.</a:t>
            </a:r>
          </a:p>
          <a:p>
            <a:r>
              <a:t>- Asset propio aprobado: U05-DG-002.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Recuperar U05-002: una vista temporal no responde todas las preguntas. Anticipar que tiempo, frecuencia y fase no compiten; se complementan. **Transición:** comenzar por el dominio temporal.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5.3; PDF p. 120.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Leer ejes antes de la curva. Señalar duración, transitorio y periodicidad aproximada. Preguntar qué magnitud está graficada; respuesta: presión, no “sonido” genérico. Error frecuente: confundir altura temporal con frecuencia. **Transición:** preguntar qué no se ve con facilidad.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5.3; NOT.</a:t>
            </a:r>
          </a:p>
          <a:p>
            <a:r>
              <a:t>- Asset propio aprobado: U05-CH-002.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Insistir en que “FFT” no nombra la ordenada. Dar ejemplos: magnitud, potencia o nivel producen números y unidades distintos. Pregunta: “¿puedo comparar dos espectros si no conozco normalización?” Respuesta: no de forma cuantitativa segura. **Transición:** mostrar una señal en tres vistas coordinadas.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5.3; NOT; GLO.</a:t>
            </a:r>
          </a:p>
          <a:p>
            <a:r>
              <a:t>- Asset propio aprobado: U05-DG-003.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Guía visual: 1) tiempo, 2) magnitud, 3) fase. Hacer que identifiquen 100 y 200 Hz y luego vinculen cada línea con la suma temporal. No afirmar que un panel es “más real”. **Transición:** convertir la lectura en actividad.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fig. 5.1; PDF p. 122.</a:t>
            </a:r>
          </a:p>
          <a:p>
            <a:r>
              <a:t>- Asset propio aprobado: U05-CH-002.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Dar respuesta después de la descripción: variable temporal `p(t)` en Pa; frecuencia en Hz; fase en rad. Pregunta final esperada: no puede inferirse percepción, causa ni respuesta de un sistema. **Transición:** aislar el papel de la fase.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ejercicios L1.</a:t>
            </a:r>
          </a:p>
          <a:p>
            <a:r>
              <a:t>- Asset propio aprobado: U05-CH-002.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Mostrar primero magnitudes iguales y pedir predicción sobre la forma. Luego revelar señales temporales distintas. Explicar fase como ubicación relativa dentro del ciclo, sin números complejos. Error: “si la magnitud es igual, la señal es igual”. **Transición:** comparar el conjunto completo.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5.4.3; BR.</a:t>
            </a:r>
          </a:p>
          <a:p>
            <a:r>
              <a:t>- Asset propio aprobado: U05-CH-003.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Usar solo si la clase domina U05-013. Señalar que reconstrucción requiere convención, magnitud y fase. No realizar operaciones complejas. Pregunta: “¿qué panel explica la diferencia temporal?” Respuesta: fase. **Transición:** volver a clasificación temporal.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5.4.3; EP.</a:t>
            </a:r>
          </a:p>
          <a:p>
            <a:r>
              <a:t>- Asset propio aprobado: U05-CH-003.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Marcar un período y verificar que la forma reaparece. Resolver `0,010 s → 100 Hz` con unidades. Aclarar que registros reales pueden ser aproximadamente periódicos en un tramo. Error: elegir un período múltiplo y llamarlo fundamental. **Transición:** observar una vocal con bordes transitorios.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5.3.1, ecs. 5.1–5.2.</a:t>
            </a:r>
          </a:p>
          <a:p>
            <a:r>
              <a:t>- Asset propio aprobado: U05-DG-003.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Usar el esquema conceptual mientras no exista U05-MED-003. Explicar ataque, tramo casi estable y final; “aperiódica” no significa automáticamente ruido. Pregunta: “¿puede una misma vocal recibir dos etiquetas?” Respuesta: sí, según tramo y escala. **Transición:** elegir la vista adecuada.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5.3.1; GLO.</a:t>
            </a:r>
          </a:p>
          <a:p>
            <a:r>
              <a:t>- Asset propio aprobado: U05-CH-004.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Pedir una elección: transitorio→tiempo; componentes→magnitud; reconstrucción temporal→magnitud y fase. No repetir definiciones completas; enfatizar relación pregunta–vista. **Transición:** preguntar cómo construir una forma compleja con senoides.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5.3; U05-007–016.</a:t>
            </a:r>
          </a:p>
          <a:p>
            <a:r>
              <a:t>- Asset propio aprobado: U05-DG-014.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Declarar el principio: Fourier cambia la base matemática, no crea piezas ni describe por sí mismo un mecanismo auditivo. Mostrar suma progresiva sin fórmula. **Transición:** proponer una predicción con tres tonos.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5.4; BR.</a:t>
            </a:r>
          </a:p>
          <a:p>
            <a:r>
              <a:t>- Asset propio aprobado: U05-DG-003.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Pedir que anticipen la suma y qué efecto tendría cambiar fase. Respuesta esperada: la suma depende de frecuencia, amplitud y fase. Hacer una demostración gráfica rápida si es posible. **Transición:** escuchar o ver la suma.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U3; TEX 5.4; EP.</a:t>
            </a:r>
          </a:p>
          <a:p>
            <a:r>
              <a:t>- Asset propio aprobado: U05-CH-005.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Si hay audio propio aprobado, reproducir tonos breves a nivel seguro y luego la suma; si no, usar cuatro paneles estáticos. No discutir timbre o sonoridad en profundidad. **Transición:** aumentar el número de componentes.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5.4; EP.</a:t>
            </a:r>
          </a:p>
          <a:p>
            <a:r>
              <a:t>- Asset propio aprobado: U05-CH-005.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Revelar 1, 3 y 5 términos manteniendo ejes fijos. Preguntar dónde mejora y dónde persisten oscilaciones. Explicar Gibbs solo como límite visual; no llamarlo ruido. **Transición:** compactar la construcción en una serie.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fig. 5.2; PDF p. 124.</a:t>
            </a:r>
          </a:p>
          <a:p>
            <a:r>
              <a:t>- Asset propio aprobado: U05-CH-005.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Leer la ecuación por partes: media, índice, frecuencia `nf_0`, coeficientes. Preguntar qué cambia al pasar de `n=1` a `n=2`; respuesta: frecuencia y coeficientes asociados. No derivar. **Transición:** responder de dónde salen los coeficientes.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5.4.1, ec. 5.3.</a:t>
            </a:r>
          </a:p>
          <a:p>
            <a:r>
              <a:t>- Asset propio aprobado: U05-DG-003.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Presentar las integrales como comparación acumulada durante un período. No pedir cálculo. Mostrar que las unidades de los coeficientes coinciden con `x`. Error: creer que la integral “crea” la componente. **Transición:** volver a un ejemplo sin integrales.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5.4.1, ecs. 5.4–5.5.</a:t>
            </a:r>
          </a:p>
          <a:p>
            <a:r>
              <a:t>- Asset propio aprobado: U05-DG-003.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Pedir estimación del período común. Resolver períodos individuales y luego el patrón de 10 ms. Aclarar que en este ejemplo la fundamental también es componente presente, pero no siempre. **Transición:** evaluar qué ocurre al sumar más términos.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5.4.2.</a:t>
            </a:r>
          </a:p>
          <a:p>
            <a:r>
              <a:t>- Asset propio aprobado: U05-DG-003.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Respuesta esperada: mejora lejos de discontinuidades; persisten sobreoscilaciones cerca de ellas; no son ruido experimental. Verificar que nadie compare paneles con autoscale distinto. **Transición:** señalar que una frase no repite un período ideal.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ejercicio L2.</a:t>
            </a:r>
          </a:p>
          <a:p>
            <a:r>
              <a:t>- Asset propio aprobado: U05-CH-005.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Comparar periodicidad ideal con señal general sin afirmar que todo registro real tenga espectro continuo. Presentar la transformada como extensión conceptual. **Transición:** mostrar la fórmula solo como referencia.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5.4.3.</a:t>
            </a:r>
          </a:p>
          <a:p>
            <a:r>
              <a:t>- Asset propio aprobado: U05-DG-003.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Explicar `j` como notación que reúne seno y coseno. Leer límites, variable y unidad; no operar números complejos. Pregunta: “¿por qué la unidad puede incluir segundos?” Respuesta: por la integración en tiempo bajo esta convención. **Transición:** separar magnitud y fase.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5.4.3, ec. 5.6; NOT.</a:t>
            </a:r>
          </a:p>
          <a:p>
            <a:r>
              <a:t>- Asset propio aprobado: U05-DG-003.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Conectar directamente con U05-013. Señalar que magnitud tiene la unidad definida por la convención y fase se expresa en radianes. Error: tratar `e^{jφ}` como fenómeno físico. **Transición:** recapitular herramienta y objeto.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5.4.3, ec. 5.7.</a:t>
            </a:r>
          </a:p>
          <a:p>
            <a:r>
              <a:t>- Asset propio aprobado: U05-DG-003.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Pedir que completen oralmente: serie→señal periódica; transformada→señal general; DFT→registro discreto; FFT→algoritmo. Respuesta de control: ninguna “crea” componentes. **Transición:** preguntar cómo se obtiene el gráfico desde datos reales.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5.4; BR.</a:t>
            </a:r>
          </a:p>
          <a:p>
            <a:r>
              <a:t>- Asset propio aprobado: U05-DG-014.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Separar fenómeno, sensor, datos y algoritmo. Pregunta: “¿en qué etapa aparece el número digital?” Respuesta: después de transducción y conversión/muestreo. **Transición:** desmontar la frase “el micrófono entrega una FFT”.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5.4.4; CM.</a:t>
            </a:r>
          </a:p>
          <a:p>
            <a:r>
              <a:t>- Asset propio aprobado: U05-DG-004.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Recorrer unidades por etapa. Enfatizar que el micrófono entrega señal eléctrica, no espectro. Error frecuente: usar FFT como nombre del instrumento. **Transición:** definir muestreo.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5.4.4 y 5.11; GLO.</a:t>
            </a:r>
          </a:p>
          <a:p>
            <a:r>
              <a:t>- Asset propio aprobado: U05-DG-004.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Marcar puntos sobre la curva y calcular `T_s` para 8 kHz. Aclarar que Hz equivale aquí a muestras por segundo por el contexto. Mencionar aliasing solo como límite posterior. **Transición:** agregar `N` para conocer duración.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5.4.4; NOT; EP.</a:t>
            </a:r>
          </a:p>
          <a:p>
            <a:r>
              <a:t>- Asset propio aprobado: U05-CH-006.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Hacer control dimensional: muestras/(muestras/s)=s. Comparar dos registros con igual `f_s`. Pregunta: “si duplica N, qué cambia?” Respuesta provisional: duración. **Transición:** distinguir DFT, FFT y gráfico.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5.4.4, ec. 5.8.</a:t>
            </a:r>
          </a:p>
          <a:p>
            <a:r>
              <a:t>- Asset propio aprobado: U05-DG-004.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Pedir ejemplos de frases correctas: “calculo la DFT con una FFT” y “grafico su magnitud”. Corregir “la FFT es el espectro”. **Transición:** ubicar los valores discretos.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5.4.4; GLO.</a:t>
            </a:r>
          </a:p>
          <a:p>
            <a:r>
              <a:t>- Asset propio aprobado: U05-DG-004.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Explicar bin como posición, no recipiente físico universal. Señalar `k=0` y separaciones iguales. Pregunta: “¿una línea ocupa siempre un bin?” Respuesta: no; depende de duración y ventana. **Transición:** relacionar separación y duración.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5.4.4 y 5.4.7; NOT.</a:t>
            </a:r>
          </a:p>
          <a:p>
            <a:r>
              <a:t>- Asset propio aprobado: U05-CH-007.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Leer las tres formas de la ecuación y sus unidades. Comparar dos rejillas. Repetir “separación nominal”, no “exactitud”. **Transición:** resolver un caso numérico.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5.4.4, ec. 5.9.</a:t>
            </a:r>
          </a:p>
          <a:p>
            <a:r>
              <a:t>- Asset propio aprobado: U05-CH-007.</a:t>
            </a:r>
          </a:p>
          <a:p>
            <a:r>
              <a:t>- Asset propio aprobado: U05-DG-004.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Pedir estimación: 2000 muestras a 8000/s deben durar menos de un segundo. Resolver cada paso y terminar con interpretación de 4 Hz. **Transición:** duplicar `N` mentalmente.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5.4.6.</a:t>
            </a:r>
          </a:p>
          <a:p>
            <a:r>
              <a:t>- Asset propio aprobado: U05-DG-004.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Respuestas correctas: B y C. D es falsa: exactitud depende de más factores. Pedir explicación causal, no solo marcar opciones. **Transición:** nombrar esos factores.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ejercicio D2.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Mostrar un contraejemplo de picos anchos o inestables. Explicar que resolución del eje y capacidad de estimar son problemas relacionados, no idénticos. **Transición:** cerrar vocabulario digital.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5.4.4 y 5.13.</a:t>
            </a:r>
          </a:p>
          <a:p>
            <a:r>
              <a:t>- Asset propio aprobado: U05-DG-004.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Pregunta esperada: faltan ordenada, unidad, normalización y condiciones. Hacer que un estudiante reconstruya la cadena completa. **Transición:** preguntar por qué un tono puede aparecer en varios bins.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5.4.4; U05-031–039.</a:t>
            </a:r>
          </a:p>
          <a:p>
            <a:r>
              <a:t>- Asset propio aprobado: U05-DG-014.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Marcar el segmento elegido y preguntar qué ocurre en sus bordes. Señalar que seleccionar ya es una decisión analítica. **Transición:** expresar la selección como ventana.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5.4.5.</a:t>
            </a:r>
          </a:p>
          <a:p>
            <a:r>
              <a:t>- Asset propio aprobado: U05-CH-008.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Explicar multiplicación como ponderación temporal: donde la ventana vale cero, el registro no aporta. No confundir esta ventana con un filtro frecuencial. **Transición:** comparar ciclos enteros y no enteros.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5.4.5; EP.</a:t>
            </a:r>
          </a:p>
          <a:p>
            <a:r>
              <a:t>- Asset propio aprobado: U05-DG-005.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Leer primero tiempo y luego espectro, con escalas idénticas. Respuesta esperada: el caso no entero distribuye la contribución. Error: llamarla ruido o nuevas frecuencias físicas. **Transición:** definir fuga.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5.4.5; EP.</a:t>
            </a:r>
          </a:p>
          <a:p>
            <a:r>
              <a:t>- Asset propio aprobado: U05-CH-008.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Dar definición y pedir que identifiquen causa, efecto y condiciones. Aclarar que la fuga no es una única “falla del software”. **Transición:** presentar el compromiso de otras ventanas.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5.4.5 y 5.13.</a:t>
            </a:r>
          </a:p>
          <a:p>
            <a:r>
              <a:t>- Asset propio aprobado: U05-CH-008.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Mientras CH-009 esté pendiente, usar solo comparación cualitativa. No dar cifras de lóbulos. Pregunta: “¿qué ventana es mejor?” Respuesta: depende de la pregunta y del criterio. **Transición:** introducir compromiso tiempo–frecuencia.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5.4.5; SciPy pendiente de verificación.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Guía visual: leer eje tiempo, eje frecuencia, barra de color y parámetros. Preguntar qué configuración localiza mejor un cambio; corta. Cuál separa tonos próximos; larga. **Transición:** construir el espectrograma por etapas.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fig. 5.3; PDF p. 126.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Recorrer segmentos sucesivos; cada espectro forma una columna. Evitar exigir la sigla STFT. Pregunta: “¿qué significa un color más intenso?” Respuesta: mayor valor de la ordenada declarada, no “más frecuencia”. **Transición:** aplicación vocal.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5.4.5; GLO.</a:t>
            </a:r>
          </a:p>
          <a:p>
            <a:r>
              <a:t>- Asset propio aprobado: U05-DG-005.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Usar alternativa conceptual hasta aprobar registro. Si se incorpora audio, reproducirlo una vez y luego mostrar el espectrograma con parámetros. Pedir solo observaciones descriptivas. Error: diagnóstico por una imagen. **Transición:** separar bin y banda.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5.12; Brockmann2011.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Modificar mentalmente `T_obs`: cambian bins, permanecen límites definidos de la banda. Pedir una frase comparativa completa. **Transición:** mostrar cómo se integran niveles.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5.4.7; GLO.</a:t>
            </a:r>
          </a:p>
          <a:p>
            <a:r>
              <a:t>- Asset propio aprobado: U05-DG-005.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Recuperar suma energética de U4. Resolver dos niveles iguales y verificar 53,01 dB. Aclarar condiciones de referencia y compatibilidad. **Transición:** recapitular metadatos del análisis.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5.4.7; PREV U4.</a:t>
            </a:r>
          </a:p>
          <a:p>
            <a:r>
              <a:t>- Asset propio aprobado: U05-DG-005.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Pedir que elijan ventana corta o larga para un ataque y justifiquen. Respuesta: corta para localización temporal, con costo frecuencial. Repetir el checklist sin copiar definiciones. **Transición:** cambiar de cómo se analiza a qué objeto se analiza.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5.4.4–5.4.7; NOT.</a:t>
            </a:r>
          </a:p>
          <a:p>
            <a:r>
              <a:t>- Asset propio aprobado: U05-DG-014.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Mostrar dos curvas parecidas y preguntar si podrían pertenecer a objetos distintos. Respuesta: sí. Declarar este bloque como nudo central. **Transición:** definir espectro de señal.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PO; TEX 5.5; CDM.</a:t>
            </a:r>
          </a:p>
          <a:p>
            <a:r>
              <a:t>- Asset propio aprobado: U05-DG-006.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Recorrer los cinco condicionantes de una vocal. Evitar la expresión universal “espectro de la voz”. Pregunta: “¿cambiar de tramo puede cambiar el espectro?” Respuesta: sí. **Transición:** contrastar con una propiedad entrada–salida.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5.5; GLO.</a:t>
            </a:r>
          </a:p>
          <a:p>
            <a:r>
              <a:t>- Asset propio aprobado: U05-DG-006.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Explicar sistema mediante filtro, audífono y tracto. Pregunta: “¿basta una salida para hallar respuesta?” Respuesta: no; hace falta entrada comparable y procedimiento. **Transición:** comparar objetos con criterios iguales.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PO; TEX 5.5; GLO.</a:t>
            </a:r>
          </a:p>
          <a:p>
            <a:r>
              <a:t>- Asset propio aprobado: U05-DG-006.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Hacer que la diferencia sea semántica: usar ejes visualmente semejantes. Pedir qué datos necesita cada columna. Error: decidir por el aspecto de la curva. **Transición:** reunir entrada, sistema y salida.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5.5; CDM.</a:t>
            </a:r>
          </a:p>
          <a:p>
            <a:r>
              <a:t>- Asset propio aprobado: U05-DG-006.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Guiar X→H→Y frecuencia por frecuencia. Mostrar que una frecuencia puede ser fuerte en la salida por entrada fuerte, ganancia alta o ambas. Pregunta: “¿Y determina X y H por separado?” Respuesta: no. **Transición:** definir H mediante razón.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fig. 5.4.</a:t>
            </a:r>
          </a:p>
          <a:p>
            <a:r>
              <a:t>- Asset propio aprobado: U05-DG-006.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Leer condición `X≠0` antes de dividir. Explicar magnitud y fase de H. Error: dividir registros incompatibles o frecuencias distintas. **Transición:** expresar magnitud como ganancia.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5.5, ec. 5.12; NOT.</a:t>
            </a:r>
          </a:p>
          <a:p>
            <a:r>
              <a:t>- Asset propio aprobado: U05-DG-006.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Pedir estimación del signo: una mitad debe dar ganancia negativa. Resolver logaritmo y aclarar que −6,02 dB describe la razón en 1000 Hz. **Transición:** mostrar un cambio de fase sin cambio de magnitud.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5.5.1; NOT.</a:t>
            </a:r>
          </a:p>
          <a:p>
            <a:r>
              <a:t>- Asset propio aprobado: U05-DG-006.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Desplazar una señal en pantalla o con gesto temporal. Explicar pendiente de fase sin derivar. Pregunta: “si |H|=1, el sistema no cambia nada?” Respuesta: puede cambiar fase. **Transición:** aplicar la cadena a voz.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5.5, ec. 5.14.</a:t>
            </a:r>
          </a:p>
          <a:p>
            <a:r>
              <a:t>- Asset propio aprobado: U05-DG-006.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Guía: fuente glótica, tracto, radiación/registro. Distinguir líneas y envolvente. Aclarar que es modelo introductorio y no diagnóstico. **Transición:** aplicar la misma lógica a un dispositivo.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5.5 y 5.12; Brockmann2011.</a:t>
            </a:r>
          </a:p>
          <a:p>
            <a:r>
              <a:t>- Asset propio aprobado: U05-DG-007.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Pedir clasificación de cada dato: voz o audífono. No anticipar prescripción clínica. Respuesta esperada: `G(f)` pertenece al dispositivo bajo prueba. **Transición:** hacer una recap de señal/sistema/salida.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aplicación F3.</a:t>
            </a:r>
          </a:p>
          <a:p>
            <a:r>
              <a:t>- Asset propio aprobado: U05-DG-006.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Dar tres mini casos y exigir frase completa: objeto, datos y conclusión. Corregir “espectro de salida = respuesta”. **Transición:** preguntar cómo se nombran las líneas periódicas.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5.5; CDM.</a:t>
            </a:r>
          </a:p>
          <a:p>
            <a:r>
              <a:t>- Asset propio aprobado: U05-DG-014.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Mostrar el pico dominante sin rótulo y recoger intuiciones. Anticipar que la amplitud será distractor. **Transición:** recuperar definición temporal de fundamental.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PO; TEX 5.6.</a:t>
            </a:r>
          </a:p>
          <a:p>
            <a:r>
              <a:t>- Asset propio aprobado: U05-CH-011.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Conectar período y espaciado. Aclarar que pitch se estudia en U7. Pregunta: “¿la línea fundamental debe ser la mayor?” Respuesta: no. **Transición:** ordenar términos por criterio.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5.6; GLO.</a:t>
            </a:r>
          </a:p>
          <a:p>
            <a:r>
              <a:t>- Asset propio aprobado: U05-DG-007.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Leer la tabla con inclusión lógica: todo armónico es parcial. Resolver el caso de 200 Hz con `f_0=100 Hz`: segundo armónico y primer sobretono. Error: primer sobretono = primer armónico. **Transición:** ver el distractor de amplitud.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5.6; GLO.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Pedir identificar `f_0` antes de mostrar rótulos. Respuesta: 100 Hz aunque 200 Hz sea mayor. Justificación: periodicidad/espaciado. **Transición:** retirar la línea de 100 Hz.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fig. 5.5a.</a:t>
            </a:r>
          </a:p>
          <a:p>
            <a:r>
              <a:t>- Asset propio aprobado: U05-CH-011.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Marcar diferencias 300−200 y 400−300. Respuesta: ambas 100 Hz; periodicidad compatible con `f_0=100 Hz`. No explicar pitch ausente. **Transición:** contrastar con espaciados no enteros.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5.6; fig. 5.5c.</a:t>
            </a:r>
          </a:p>
          <a:p>
            <a:r>
              <a:t>- Asset propio aprobado: U05-CH-011.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Dividir frecuencias por 100 Hz. Identificar razones no enteras. Mantener el ejemplo en terminología, sin acústica musical avanzada. **Transición:** reunir tres contraejemplos.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fig. 5.5b.</a:t>
            </a:r>
          </a:p>
          <a:p>
            <a:r>
              <a:t>- Asset propio aprobado: U05-CH-011.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Asignar un caso por pareja. Pedir evidencia de periodicidad, no solo respuesta. Corregir “pico máximo decide”. **Transición:** diferenciar líneas de resonancias amplias.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5.13; ejercicio D1.</a:t>
            </a:r>
          </a:p>
          <a:p>
            <a:r>
              <a:t>- Asset propio aprobado: U05-DG-007.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Señalar líneas y envolvente con gestos distintos. Definir formante con dependencia de método. No asignar valores universales ni diagnósticos. **Transición:** leer un caso vocal.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5.5; Brockmann2011.</a:t>
            </a:r>
          </a:p>
          <a:p>
            <a:r>
              <a:t>- Asset propio aprobado: U05-DG-007.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Usar sintético hasta contar con registro autorizado. Pedir dos observaciones: espaciado y regiones de envolvente. Respuesta: 100 Hz de separación; máximos cerca de 700/1100 Hz. **Transición:** clasificar términos.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aplicación F1; Brockmann2011.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Admitir etiquetas múltiples cuando el criterio lo permite. Exigir justificación: múltiplo, posición sobre fundamental o resonancia. **Transición:** sintetizar fuente y sistema.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ejercicios C3, L4 y F1.</a:t>
            </a:r>
          </a:p>
          <a:p>
            <a:r>
              <a:t>- Asset propio aprobado: U05-CH-011.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Reconstruir mapa con aportes de estudiantes. Preguntar qué pertenece a fuente y qué a tracto. Recordar límite hacia pitch. **Transición:** pasar de líneas a regiones del espectro.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5.5–5.6.</a:t>
            </a:r>
          </a:p>
          <a:p>
            <a:r>
              <a:t>- Asset propio aprobado: U05-DG-014.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Presentar fronteras como convenciones bajo condiciones. Evitar hablar aún de sensibilidad. **Transición:** leer el eje logarítmico.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PO; TEX 5.7.</a:t>
            </a:r>
          </a:p>
          <a:p>
            <a:r>
              <a:t>- Asset propio aprobado: U05-CH-013.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Explicar que 20 Hz/20 kHz no forman paredes ni sensibilidad uniforme. Pregunta: “¿qué variables faltan?” Respuesta: oyente, nivel, estímulo y condiciones. **Transición:** profundizar baja frecuencia.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5.7.1; Oxenham2018; ISO 226:2023.</a:t>
            </a:r>
          </a:p>
          <a:p>
            <a:r>
              <a:t>- Asset propio aprobado: U05-CH-013.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Desarmar “infra = siempre imperceptible”. Nombrar nivel, duración, vibración y distorsión. No dar ejemplos alarmistas. **Transición:** formular audible como relación.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5.7.1; Oxenham2018.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Seguir estímulo–condición–oyente. Aclarar detectabilidad ≠ sonoridad ≠ comodidad. Anticipar curvas de U7 sin explicarlas. **Transición:** cerrar con ultrasonido.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5.7.1; CM U7.</a:t>
            </a:r>
          </a:p>
          <a:p>
            <a:r>
              <a:t>- Asset propio aprobado: U05-DG-008.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Definir por frecuencia y usar imagenología solo como ejemplo general. Preguntar por OEA; respuesta: no es automáticamente ultrasonido. **Transición:** cambiar de frecuencias a niveles.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5.7.1.</a:t>
            </a:r>
          </a:p>
          <a:p>
            <a:r>
              <a:t>- Alternativa aprobada usada: U05-DG-008; no se insertó la fotografía U05-EXT-001 porque el recorte sensible no resultó adecuado en contexto de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Control dimensional: dB−dB=dB cuando descriptores son compatibles. Diferenciar rango dinámico de rango de frecuencia. **Transición:** aplicar a voz.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5.7.2, ec. 5.15; NOT.</a:t>
            </a:r>
          </a:p>
          <a:p>
            <a:r>
              <a:t>- Asset propio aprobado: U05-DG-008.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Mostrar el valor como caso hipotético. Preguntar qué ocurriría al cambiar distancia o tarea; respuesta: extremos pueden cambiar. Error: confundir con rango de pitch. **Transición:** comparar con instrumento.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aplicación F5.</a:t>
            </a:r>
          </a:p>
          <a:p>
            <a:r>
              <a:t>- Asset propio aprobado: U05-DG-008.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Usar plantilla sin cifras. Pedir qué variables controlarían en un registro instrumental. No incorporar tabla genérica. **Transición:** trasladar condiciones al oído.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PO; TEX 5.7.2; 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Explicitar la tensión programa/libro. No negar el término, sino definir condiciones. Pregunta: “¿qué criterio superior usaríamos?” Respuesta: uno definido y documentado. **Transición:** recapitular frecuencia, nivel y condición.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PO; TEX 5.7.2; OD-U05-07.</a:t>
            </a:r>
          </a:p>
          <a:p>
            <a:r>
              <a:t>- Asset propio aprobado: U05-DG-008.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Comparar los dos ejes. Dar una cifra aislada y preguntar qué información falta. Respuesta: descriptor, estímulo, procedimiento y población. **Transición:** agrupar frecuencias en bandas.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5.7.</a:t>
            </a:r>
          </a:p>
          <a:p>
            <a:r>
              <a:t>- Asset propio aprobado: U05-DG-014.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Recordar bin/banda. Mostrar que las bandas se organizan por razón. **Transición:** explicar para qué agrupar.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PO; TEX 5.8.</a:t>
            </a:r>
          </a:p>
          <a:p>
            <a:r>
              <a:t>- Asset propio aprobado: U05-DG-009.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Comparar espectro fino y barras. Pedir qué se conserva y qué se pierde. Respuesta: energía por intervalo; se pierde detalle de ubicación. **Transición:** definir razón de octava.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5.4.7 y 5.8.</a:t>
            </a:r>
          </a:p>
          <a:p>
            <a:r>
              <a:t>- Asset propio aprobado: U05-CH-015.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Calcular `2^(1/3)` solo si ayuda; prioridad a interpretación multiplicativa. Mostrar distancias iguales en eje log. **Transición:** comparar con armónicos.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5.8, ec. 5.17.</a:t>
            </a:r>
          </a:p>
          <a:p>
            <a:r>
              <a:t>- Asset propio aprobado: U05-DG-009.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Marcar pares 1→2 y 2→4; preguntar por 2→3. Respuesta: no es octava. Error: toda separación armónica es octava. **Transición:** encontrar centro.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PO; TEX 5.6 y 5.8; EP.</a:t>
            </a:r>
          </a:p>
          <a:p>
            <a:r>
              <a:t>- Asset propio aprobado: U05-DG-009.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Comparar media aritmética 1250 Hz con geométrica 1000 Hz para 500–2000 Hz. Verificar razones 2 y 2. **Transición:** obtener límites desde centro.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5.8, ec. 5.16.</a:t>
            </a:r>
          </a:p>
          <a:p>
            <a:r>
              <a:t>- Asset propio aprobado: U05-DG-009.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Leer exponentes como factores recíprocos. No derivar logaritmos. Identificar `b`. **Transición:** restar límites para ancho absoluto.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5.8, ec. 5.18.</a:t>
            </a:r>
          </a:p>
          <a:p>
            <a:r>
              <a:t>- Asset propio aprobado: U05-DG-009.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Mostrar dos bandas iguales en eje log y desiguales en Hz. Pregunta: “¿B y Δf son lo mismo?” Respuesta: no. **Transición:** reunir relaciones en tres tercios.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PO; TEX 5.8, ec. 5.19.</a:t>
            </a:r>
          </a:p>
          <a:p>
            <a:r>
              <a:t>- Asset propio aprobado: U05-DG-009.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Mientras CH-014 esté pendiente, enseñar relaciones sin centros nominales. Multiplicar tres razones `2^(1/3)` para obtener 2. **Transición:** resolver banda central.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fig. 5.6; IEC 61260-1 pendiente.</a:t>
            </a:r>
          </a:p>
          <a:p>
            <a:r>
              <a:t>- Asset propio aprobado: U05-DG-009.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Calcular con calculadora, mostrar redondeo al final y verificar `B=231,6 Hz`. Señalar corrección respecto del capítulo. Diferenciar exacto y nominal. **Transición:** comparar otro centro.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5.8.1; corrección documentada en storyboard.</a:t>
            </a:r>
          </a:p>
          <a:p>
            <a:r>
              <a:t>- Asset propio aprobado: U05-DG-009.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Respuesta esperada: la banda centrada en 2000 Hz tiene mayor ancho en Hz. Pedir explicación multiplicativa antes de números. **Transición:** cerrar bin/banda/octava/tercio.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ejercicios G3/A2 adaptados.</a:t>
            </a:r>
          </a:p>
          <a:p>
            <a:r>
              <a:t>- Asset propio aprobado: U05-DG-009.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Pedir cuatro definiciones de una línea. Pregunta de control: al cambiar `T_obs`, cambia el bin, no los límites de una banda normalizada. **Transición:** preguntar cómo modificar regiones.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5.4.7 y 5.8.</a:t>
            </a:r>
          </a:p>
          <a:p>
            <a:r>
              <a:t>- Asset propio aprobado: U05-DG-014.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Recuperar H(f): un filtro es un sistema. Mostrar cuatro siluetas y evitar todavía asociarlas a sonidos. **Transición:** definir parámetros.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PO; TEX 5.9.</a:t>
            </a:r>
          </a:p>
          <a:p>
            <a:r>
              <a:t>- Asset propio aprobado: U05-CH-016.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Recorrer paso, rechazo, transición y criterio. Preguntar qué significa `f_c`; respuesta: depende de criterio. **Transición:** comparar un solo límite.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5.9; GLO.</a:t>
            </a:r>
          </a:p>
          <a:p>
            <a:r>
              <a:t>- Asset propio aprobado: U05-DG-010.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Leer ambas curvas con la misma escala. Pedir región conservada y atenuada. **Transición:** pasar a dos límites.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fig. 5.7a–b.</a:t>
            </a:r>
          </a:p>
          <a:p>
            <a:r>
              <a:t>- Asset propio aprobado: U05-CH-016.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Marcar `f_L`, `f_H`, `f_c` y `B`. Mencionar notch como caso estrecho, no como diseño. **Transición:** confrontar ideal y real.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fig. 5.7c–d.</a:t>
            </a:r>
          </a:p>
          <a:p>
            <a:r>
              <a:t>- Asset propio aprobado: U05-CH-016.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Guía: ideal esquemático, Butterworth real, corte, transición. Explicar que el gráfico es modelo documentado. No afirmar respuesta universal. **Transición:** definir criterio de corte.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fig. 5.7; script U5.</a:t>
            </a:r>
          </a:p>
          <a:p>
            <a:r>
              <a:t>- Asset propio aprobado: U05-CH-016.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Mostrar el error “pared”. Preguntar si −3 dB vale siempre; respuesta: no. Exigir criterio en futuras respuestas. **Transición:** reutilizar centro y ancho.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5.9; GLO; OD-U05-23.</a:t>
            </a:r>
          </a:p>
          <a:p>
            <a:r>
              <a:t>- Asset propio aprobado: U05-DG-010.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Resolver centro geométrico y ancho. Repetir que aquí `f_L/f_H` pertenecen a un sistema, no a una banda normativa. **Transición:** ofrecer escucha opcional.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5.9.</a:t>
            </a:r>
          </a:p>
          <a:p>
            <a:r>
              <a:t>- Asset propio aprobado: U05-DG-010.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Reproducir audio solo si está producido y nivelado; anunciar orden antes. Pedir predicción desde curvas y luego escuchar. Alternativa obligatoria: espectros estáticos. **Transición:** reconocer filtros sin audio.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5.9; EP.</a:t>
            </a:r>
          </a:p>
          <a:p>
            <a:r>
              <a:t>- Asset propio aprobado: U05-CH-016.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Dar 90 s para clasificar. Respuesta: pasa bajos, altos, banda y elimina banda; justificar paso/rechazo. **Transición:** separar propósitos de filtrado.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ejercicio L5.</a:t>
            </a:r>
          </a:p>
          <a:p>
            <a:r>
              <a:t>- Asset propio aprobado: U05-CH-016.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Recorrer objeto y salida de cada columna. Pregunta: “¿ponderación A convierte SPL en HL?” Respuesta: no. **Transición:** sintetizar lectura de filtros.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5.9.1; GLO.</a:t>
            </a:r>
          </a:p>
          <a:p>
            <a:r>
              <a:t>- Asset propio aprobado: U05-DG-010.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Pedir una frase que incluya tipo, límites, transición y propósito. Corregir descripciones que omitan objeto. **Transición:** ubicar el filtro dentro de un sistema de medición.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5.9.</a:t>
            </a:r>
          </a:p>
          <a:p>
            <a:r>
              <a:t>- Asset propio aprobado: U05-DG-014.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Usar cadena conceptual sin curvas hasta verificar norma. Señalar el lugar exacto de ponderación. **Transición:** dividir una misma señal en A/C/Z.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PO; TEX 5.10.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Explicar que cada rama procesa el espectro antes de integrar. No asignar resultados numéricos. Pregunta: “¿puedo elegir una sola corrección para banda ancha?” Respuesta: no. **Transición:** comparar respuestas nominales.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5.10; 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Mantener cualitativa mientras CH-017 esté bloqueado. Diferenciar A, C y Z sin reproducir valores/tolerancias. Aclarar que Z no significa “sin instrumento”. **Transición:** definir nomenclatura A.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5.10; IEC 61672-1 pendiente.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Desarmar un descriptor: L, subíndice A, eq/Fmax, intervalo. Explicar que dBA es forma del programa y se adopta dB(A). **Transición:** tratar un tono.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PO; TEX 5.10; NOT; GLO.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Leer condición “tono”. Explicar que A(f) es corrección del filtro, no nivel de otra fuente. **Transición:** sustituir un valor del capítulo con advertencia normativa.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5.10, ec. 5.20; IEC 61672-1 pendiente.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Marcar el ejemplo como provisional. Resolver aritmética y pedir interpretación: resultado A para ese tono, no percepción. No proyectar cifra como normativa definitiva hasta verificación. **Transición:** preguntar por banda ancha.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5.10.1; IEC 61672-1 pendiente.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Mostrar por qué una constante falla: cada frecuencia recibe corrección diferente y luego se integra. Error central: trasladar el ejemplo tonal. **Transición:** separar medición y audición.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5.10; ejercicio G5.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Pedir un ejemplo de pregunta que responde cada entidad. No desarrollar U7/U8. Respuesta clave: no hay conversión automática entre ellas. **Transición:** auditar una lectura.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5.9.1 y 5.12; NOT; GLO.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Dar “72 dB(A)” y pedir completar campos. Respuesta esperada: descriptor, tiempo, intervalo, condiciones e instrumento. dB HL no puede inferirse. **Transición:** discutir nominal versus tolerancia.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ejercicios D4/F4.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Usar solo concepto; no dibujar tolerancias cuantitativas. Explicar que una curva objetivo y una prueba de conformidad son evidencias diferentes. **Transición:** volver a interpretación básica.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IEC 61672-1 pendiente; OD-U05-21.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Pedir comparar tono y banda ancha. Recuperar cadena: filtro, integración, descriptor, condiciones. **Transición:** preguntar qué etapas contiene un sonómetro.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5.10.</a:t>
            </a:r>
          </a:p>
          <a:p>
            <a:r>
              <a:t>- Asset propio aprobado: U05-DG-014.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Enmarcar “medidor de nivel de presión sonora” como sonómetro. Mostrar grupos funcionales, no marca comercial. **Transición:** reconocer equipo.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PO; TEX 5.11; PREV.</a:t>
            </a:r>
          </a:p>
          <a:p>
            <a:r>
              <a:t>- Asset propio aprobado: U05-DG-012.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Si hay equipo, señalar sin manipular como protocolo. Distinguir micrófono, cuerpo y calibrador. Error: una foto demuestra clase o calibración. **Transición:** seguir recorrido de señal.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5.11.3.</a:t>
            </a:r>
          </a:p>
          <a:p>
            <a:r>
              <a:t>- Imagen: Harke, dominio público, vía Wikimedia Commons (U05-EXT-003).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Guía paso a paso por seis nodos. Nombrar la unidad o tipo de salida de cada etapa. Aclarar que es arquitectura conceptual. **Transición:** formalizar nivel equivalente.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fig. 5.8.</a:t>
            </a:r>
          </a:p>
          <a:p>
            <a:r>
              <a:t>- Asset propio aprobado: U05-DG-012.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Recuperar RMS: cuadrar, promediar, raíz o nivel. Presentar nivel constante equivalente antes de integral. Pregunta: “¿por qué no promedio dB?” Respuesta: escala logarítmica. **Transición:** resolver dos tramos.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5.11.1; GLO.</a:t>
            </a:r>
          </a:p>
          <a:p>
            <a:r>
              <a:t>- Asset propio aprobado: U05-DG-012.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Pedir estimación entre 75 y 80; resultado debe acercarse a 80. Resolver conversiones y 77,4 dB. Error: promedio aritmético. **Transición:** comparar otros descriptores.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5.11.4.</a:t>
            </a:r>
          </a:p>
          <a:p>
            <a:r>
              <a:t>- Asset propio aprobado: U05-CH-018.</a:t>
            </a:r>
          </a:p>
          <a:p>
            <a:r>
              <a:t>- Asset propio aprobado: U05-DG-012.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Usar una señal con impulso. Mostrar que equivalente, máximo Fast y pico pueden ordenar resultados distinto. No enseñar ensayo normativo. **Transición:** aplicación audiométrica.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5.11.1–5.11.2; NOT.</a:t>
            </a:r>
          </a:p>
          <a:p>
            <a:r>
              <a:t>- Asset propio aprobado: U05-DG-012.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Dar 2 min para identificar bandas que exceden límite; la trama evita depender solo de color. Repetir “hipotético/no normativo”. Explicar por qué un dB(A) global o app no reemplaza procedimiento. **Transición:** completar ficha de medición.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aplicación F2; ISO 8253-1/ANSI citadas solo como contexto.</a:t>
            </a:r>
          </a:p>
          <a:p>
            <a:r>
              <a:t>- Asset propio aprobado: U05-CH-019.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Volver a “72 dB” y hacer completar seis campos. Aceptar varias configuraciones si son explícitas. **Transición:** elegir herramientas desde preguntas profesionales.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5.11–5.13.</a:t>
            </a:r>
          </a:p>
          <a:p>
            <a:r>
              <a:t>- Asset propio aprobado: U05-DG-014.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Leer pregunta primero, representación después. Pedir justificación por objeto, ejes y condiciones. El diagrama debe guiar, no contener explicaciones largas. **Transición:** presentar caso con señal y dispositivo.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BR; TEX 5.12; EP.</a:t>
            </a:r>
          </a:p>
          <a:p>
            <a:r>
              <a:t>- Asset propio aprobado: U05-DG-013.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Dar 6–8 min de trabajo. Pedir que marquen cada dato S (señal), R (registro) o H (sistema). Observar supuestos y unidades. No revelar solución. **Transición:** mostrar ruta resumida.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pregunta I1.</a:t>
            </a:r>
          </a:p>
          <a:p>
            <a:r>
              <a:t>- Asset propio aprobado: U05-DG-013.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Revelar por capas: registro, señal, sistema y condiciones. Evitar repetir cálculos ya dominados. Remitir a U05-149 para detalle. **Transición:** convertir fallas en atajos frecuentes.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solución I1.</a:t>
            </a:r>
          </a:p>
          <a:p>
            <a:r>
              <a:t>- Asset propio aprobado: U05-DG-013.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Asignar dos errores por pareja y pedir corrección con evidencia. Respuestas esperadas provienen de recaps previos. Elegir los errores más persistentes para discusión. **Transición:** reconstruir mapa final.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5.13; BR.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Recorrer el mapa completo sin reenumerar títulos. Hacer que estudiantes nombren relaciones ancla. Enfatizar trazabilidad y límite de conclusión. **Transición:** autoevaluar objetivos.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PO; TEX 5.1–5.14; CM; CDM.</a:t>
            </a:r>
          </a:p>
          <a:p>
            <a:r>
              <a:t>- Asset propio aprobado: U05-DG-001.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Comparar respuestas con diagnóstico inicial. Usar escala de seguridad y pedir una evidencia por objetivo. No calificar punitivamente. **Transición:** abrir sistema auditivo.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BR objetivos; U05-002–007.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Explicar que respuesta frecuencial es concepto de sistema, pero la cóclea no “hace una FFT”. Formular pregunta de U6 sobre transformación física. **Transición:** cierre de ruta central.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CM U5→U6; CDM; TEX 6.1–6.2.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No leer referencias en clase. Indicar dónde consultar y qué recursos siguen pendientes de verificación. **Transición:** respaldo a demanda.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PO; references.bib; source_analysis.md.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Usar solo si `j` bloquea U05-027/028. Dibujar vector y separar módulo/ángulo. No convertirlo en clase de complejos. **Retorno:** U05-027/028.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5.4.3; NOT.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Explicar integración como acumulación de semejanza. Señalar simetría cualitativa. No evaluar cálculo integral. **Retorno:** U05-022/023.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5.4.1.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Comparar unidades y convenciones. Preguntar por qué dos softwares podrían mostrar amplitudes distintas; respuesta: normalización/representación. **Retorno:** U05-010/027.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5.4.3; NOT.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Leer índices y asociar `k` con frecuencia. Mostrar checklist de escala unilateral/bilateral. No mezclar con ruta central si no hace falta. **Retorno:** U05-034–036.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5.4.4; NOT; 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Mostrar primero puntos y luego dos curvas continuas. Pregunta: “¿las muestras permiten decidir cuál era?” Respuesta: no. Mantener Nyquist conceptual. **Retorno:** U05-032.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OD-U05-22; NOT; EP.</a:t>
            </a:r>
          </a:p>
          <a:p>
            <a:r>
              <a:t>- Asset propio aprobado: U05-CH-006.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No proyectar cuantitativamente hasta aprobar CH-009. Explicar criterios cualitativos y por qué no existe ganadora universal. **Retorno:** U05-045/046.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5.4.5; fuente SciPy pendiente.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Resolver `50+50→53,01 dB`. Preguntar distractores 100 y 50. Aclarar referencia común. **Retorno:** U05-050/085.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ejercicio A3.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Resolver magnitud y fase por separado. Convertir −90° a −π/2 rad si ayuda. Pregunta: “¿ganancia 6 dB informa retardo?” Respuesta: no. **Retorno:** U05-057–059.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ejercicio A5.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Recorrer seis etapas y registrar parámetros mínimos. No introducir jitter/shimmer. Repetir límite no diagnóstico. **Retorno:** U05-060/070–071.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5.5 y 5.12; Brockmann2011.</a:t>
            </a:r>
          </a:p>
          <a:p>
            <a:r>
              <a:t>- Asset propio aprobado: U05-DG-007.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Usar como contrato para evaluar una cifra externa. Pedir identificar campos faltantes en un dato inventado sin validarlo. **Retorno:** U05-079–082.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PO; TEX 5.7.2; OD-U05-06/07.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Diferenciar exacto y nominal. No completar tabla hasta verificar norma. **Retorno:** U05-091/092.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5.8; IEC 61260-1 pendiente.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Comparar curvas con misma escala y corte. Explicar orden sin polos/ceros. **Retorno:** U05-099/100.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fig. 5.7; script U5; EP.</a:t>
            </a:r>
          </a:p>
          <a:p>
            <a:r>
              <a:t>- Asset propio aprobado: U05-CH-016.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No proyectar ni completar. Explicar, si surge, que la reproducibilidad exige norma autorizada y chequeos de ancla. **Retorno:** U05-108.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IEC 61672-1 pendiente; OD-U05-12/21.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Leer cadena de operaciones antes de símbolos. Relacionar con RMS y U05-121. Verificar `p_ref=20 µPa` en aire. **Retorno:** U05-120/121.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5.11.1, ec. 5.21; NOT.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Separar Fast/Slow de pico. Valores se presentan como referencias de diseño, no prueba de conformidad. **Retorno:** U05-122.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5.11.2; IEC 61672-1/2.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Comparar propósito, actor, momento y evidencia. Evitar usar “calibración” como bolsa única. No dar protocolo. **Retorno:** U05-118/119.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5.11.3; IEC 61672-2/3.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Entregar después de la actividad. Resolver por zonas; comprobar unidades y asignar cada resultado a objeto. Dividir visualmente si el texto baja de 22 pt. **Retorno:** U05-126/127.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solución I1.</a:t>
            </a:r>
          </a:p>
          <a:p>
            <a:r>
              <a:t>- Asset propio aprobado: U05-DG-015.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Usar como índice de consulta, no como cierre oral. Pedir que estudiantes busquen un término y su slide de retorno. Dividir en dos slides durante producción si la fuente no alcanza 22 pt. **Fin del respaldo.**</a:t>
            </a:r>
          </a:p>
          <a:p>
            <a:endParaRPr/>
          </a:p>
          <a:p>
            <a:r>
              <a:t>[Sources]</a:t>
            </a:r>
          </a:p>
          <a:p>
            <a:r>
              <a:t>- Fuentes de contenido: TEX 5.17; GLO.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FA_02_OBJETIV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0">
            <a:extLst>
              <a:ext uri="{FF2B5EF4-FFF2-40B4-BE49-F238E27FC236}">
                <a16:creationId xmlns:a16="http://schemas.microsoft.com/office/drawing/2014/main" id="{4E7B686E-D1DB-4795-5290-247ED77443BC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Objetivos de aprendizaje</a:t>
            </a:r>
          </a:p>
        </p:txBody>
      </p:sp>
      <p:sp>
        <p:nvSpPr>
          <p:cNvPr id="3" name="ph_body_0">
            <a:extLst>
              <a:ext uri="{FF2B5EF4-FFF2-40B4-BE49-F238E27FC236}">
                <a16:creationId xmlns:a16="http://schemas.microsoft.com/office/drawing/2014/main" id="{F07F7DEC-A90F-3966-89A5-75E897AE30F9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800100" y="1733550"/>
            <a:ext cx="8001000" cy="40005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Objetivos observables</a:t>
            </a:r>
          </a:p>
        </p:txBody>
      </p:sp>
      <p:sp>
        <p:nvSpPr>
          <p:cNvPr id="4" name="ph_content_0">
            <a:extLst>
              <a:ext uri="{FF2B5EF4-FFF2-40B4-BE49-F238E27FC236}">
                <a16:creationId xmlns:a16="http://schemas.microsoft.com/office/drawing/2014/main" id="{D4921F09-2F28-54BE-F644-07838B22BCE2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9144000" y="1752600"/>
            <a:ext cx="2286000" cy="34290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Síntesis visual</a:t>
            </a:r>
          </a:p>
        </p:txBody>
      </p:sp>
      <p:sp>
        <p:nvSpPr>
          <p:cNvPr id="5" name="fa_slide_number">
            <a:extLst>
              <a:ext uri="{FF2B5EF4-FFF2-40B4-BE49-F238E27FC236}">
                <a16:creationId xmlns:a16="http://schemas.microsoft.com/office/drawing/2014/main" id="{1912B5C8-473B-C77D-A05F-B105E16C686E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493598C6-FC0D-4EB0-AFF4-EF34A4827315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23_APEND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4F817AC1-63E9-74A3-6EEF-E53D71A0508E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Apéndice</a:t>
            </a:r>
          </a:p>
        </p:txBody>
      </p:sp>
      <p:sp>
        <p:nvSpPr>
          <p:cNvPr id="7" name="ph_body_0">
            <a:extLst>
              <a:ext uri="{FF2B5EF4-FFF2-40B4-BE49-F238E27FC236}">
                <a16:creationId xmlns:a16="http://schemas.microsoft.com/office/drawing/2014/main" id="{3A72ED7B-043F-EB18-1C28-92B596F251B2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62000" y="1676400"/>
            <a:ext cx="10668000" cy="40957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Material de consulta</a:t>
            </a:r>
          </a:p>
        </p:txBody>
      </p:sp>
      <p:sp>
        <p:nvSpPr>
          <p:cNvPr id="8" name="fa_slide_number">
            <a:extLst>
              <a:ext uri="{FF2B5EF4-FFF2-40B4-BE49-F238E27FC236}">
                <a16:creationId xmlns:a16="http://schemas.microsoft.com/office/drawing/2014/main" id="{54E6216A-7B06-7D20-00D4-14737599E1E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89BA0A7D-AABB-4192-B838-2BA5BB3178BC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22_VISUAL_COMPL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B0072429-6B7A-69F4-3F2D-C2B17968DFE0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Título informativo</a:t>
            </a:r>
          </a:p>
        </p:txBody>
      </p:sp>
      <p:sp>
        <p:nvSpPr>
          <p:cNvPr id="7" name="ph_picture_0">
            <a:extLst>
              <a:ext uri="{FF2B5EF4-FFF2-40B4-BE49-F238E27FC236}">
                <a16:creationId xmlns:a16="http://schemas.microsoft.com/office/drawing/2014/main" id="{F9D8C064-C5F2-F9D4-1C9F-C48CF1E689A0}"/>
              </a:ext>
            </a:extLst>
          </p:cNvPr>
          <p:cNvSpPr>
            <a:spLocks noGrp="1"/>
          </p:cNvSpPr>
          <p:nvPr>
            <p:ph type="pic" idx="11" hasCustomPrompt="1"/>
          </p:nvPr>
        </p:nvSpPr>
        <p:spPr>
          <a:xfrm>
            <a:off x="762000" y="1562100"/>
            <a:ext cx="10668000" cy="42100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r>
              <a:t>Visual principal</a:t>
            </a:r>
          </a:p>
        </p:txBody>
      </p:sp>
      <p:sp>
        <p:nvSpPr>
          <p:cNvPr id="8" name="fa_slide_number">
            <a:extLst>
              <a:ext uri="{FF2B5EF4-FFF2-40B4-BE49-F238E27FC236}">
                <a16:creationId xmlns:a16="http://schemas.microsoft.com/office/drawing/2014/main" id="{BEAB57CB-6BFE-7577-9B58-D0EA985A281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DBBF5632-20E4-4D54-B3A4-92C990DA26EE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20_BIBLIO_RECURS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9FB78823-06A2-4172-6192-1B829F9AB87F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Bibliografía y recursos</a:t>
            </a:r>
          </a:p>
        </p:txBody>
      </p:sp>
      <p:sp>
        <p:nvSpPr>
          <p:cNvPr id="7" name="ph_body_0">
            <a:extLst>
              <a:ext uri="{FF2B5EF4-FFF2-40B4-BE49-F238E27FC236}">
                <a16:creationId xmlns:a16="http://schemas.microsoft.com/office/drawing/2014/main" id="{009E4BB4-6F84-BBB7-BD01-0716EEE41AB5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62000" y="1676400"/>
            <a:ext cx="10668000" cy="40957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Referencias y enlaces</a:t>
            </a:r>
          </a:p>
        </p:txBody>
      </p:sp>
      <p:sp>
        <p:nvSpPr>
          <p:cNvPr id="8" name="fa_slide_number">
            <a:extLst>
              <a:ext uri="{FF2B5EF4-FFF2-40B4-BE49-F238E27FC236}">
                <a16:creationId xmlns:a16="http://schemas.microsoft.com/office/drawing/2014/main" id="{FCDD5430-4EE5-8B4D-B583-289E6408232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E8732B64-9C97-4971-8B5F-42781D287601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19_MEDIA_AUDIO_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B0CDC979-FF33-3EDD-88CD-DF60D4B1D61C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Video, GIF o audio</a:t>
            </a:r>
          </a:p>
        </p:txBody>
      </p:sp>
      <p:sp>
        <p:nvSpPr>
          <p:cNvPr id="7" name="ph_media_0">
            <a:extLst>
              <a:ext uri="{FF2B5EF4-FFF2-40B4-BE49-F238E27FC236}">
                <a16:creationId xmlns:a16="http://schemas.microsoft.com/office/drawing/2014/main" id="{079FCF96-20BE-7B92-B825-972A93B10A07}"/>
              </a:ext>
            </a:extLst>
          </p:cNvPr>
          <p:cNvSpPr>
            <a:spLocks noGrp="1"/>
          </p:cNvSpPr>
          <p:nvPr>
            <p:ph type="media" idx="11" hasCustomPrompt="1"/>
          </p:nvPr>
        </p:nvSpPr>
        <p:spPr>
          <a:xfrm>
            <a:off x="762000" y="1657350"/>
            <a:ext cx="7239000" cy="37147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r>
              <a:t>Video, GIF o audio</a:t>
            </a:r>
          </a:p>
        </p:txBody>
      </p:sp>
      <p:sp>
        <p:nvSpPr>
          <p:cNvPr id="8" name="ph_body_0">
            <a:extLst>
              <a:ext uri="{FF2B5EF4-FFF2-40B4-BE49-F238E27FC236}">
                <a16:creationId xmlns:a16="http://schemas.microsoft.com/office/drawing/2014/main" id="{F555F5DB-607B-02A3-9FCF-CDD66D2EF793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8382000" y="1657350"/>
            <a:ext cx="3048000" cy="37147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Consigna de observación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FB834D89-9F78-BAC7-245C-165FD788A321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076EB7A8-105E-44D9-AF9B-E4B002172AD7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18_TABLA_DA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409A66DE-F76D-5BAF-6FEA-DF1908C43A15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Tabla o datos</a:t>
            </a:r>
          </a:p>
        </p:txBody>
      </p:sp>
      <p:sp>
        <p:nvSpPr>
          <p:cNvPr id="7" name="ph_table_0">
            <a:extLst>
              <a:ext uri="{FF2B5EF4-FFF2-40B4-BE49-F238E27FC236}">
                <a16:creationId xmlns:a16="http://schemas.microsoft.com/office/drawing/2014/main" id="{4C0D0D26-F100-8659-00EA-2409004E2AEE}"/>
              </a:ext>
            </a:extLst>
          </p:cNvPr>
          <p:cNvSpPr>
            <a:spLocks noGrp="1"/>
          </p:cNvSpPr>
          <p:nvPr>
            <p:ph type="tbl" idx="11" hasCustomPrompt="1"/>
          </p:nvPr>
        </p:nvSpPr>
        <p:spPr>
          <a:xfrm>
            <a:off x="762000" y="1676400"/>
            <a:ext cx="10668000" cy="37147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r>
              <a:t>Tabla editable</a:t>
            </a:r>
          </a:p>
        </p:txBody>
      </p:sp>
      <p:sp>
        <p:nvSpPr>
          <p:cNvPr id="8" name="ph_body_0">
            <a:extLst>
              <a:ext uri="{FF2B5EF4-FFF2-40B4-BE49-F238E27FC236}">
                <a16:creationId xmlns:a16="http://schemas.microsoft.com/office/drawing/2014/main" id="{B5DAB8AD-C9A2-9783-CB90-DB0CFE8EF09E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762000" y="5581650"/>
            <a:ext cx="10668000" cy="4191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Lectura principal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7408CF10-5CC7-0648-9A06-15F7433C7031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4FEE56A1-BB6C-438D-8886-FF44760C7C6B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17_RECAP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58A1AFD7-74FA-41E6-94B3-B5C8DDCED2B7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Recapitulación final</a:t>
            </a:r>
          </a:p>
        </p:txBody>
      </p:sp>
      <p:sp>
        <p:nvSpPr>
          <p:cNvPr id="7" name="ph_content_0">
            <a:extLst>
              <a:ext uri="{FF2B5EF4-FFF2-40B4-BE49-F238E27FC236}">
                <a16:creationId xmlns:a16="http://schemas.microsoft.com/office/drawing/2014/main" id="{DE1EB0DD-8791-1A8B-9D62-CD8B1EF3E7B3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762000" y="1695450"/>
            <a:ext cx="10668000" cy="37147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Mapa de conceptos</a:t>
            </a:r>
          </a:p>
        </p:txBody>
      </p:sp>
      <p:sp>
        <p:nvSpPr>
          <p:cNvPr id="8" name="fa_slide_number">
            <a:extLst>
              <a:ext uri="{FF2B5EF4-FFF2-40B4-BE49-F238E27FC236}">
                <a16:creationId xmlns:a16="http://schemas.microsoft.com/office/drawing/2014/main" id="{85F550E7-9C54-188B-FFC4-467A63CBBB3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456A0307-F779-4344-B886-D9280EB668B3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16_RECAP_PARCI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39229E1F-564D-1252-8752-640CDDC94936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Resumen parcial</a:t>
            </a:r>
          </a:p>
        </p:txBody>
      </p:sp>
      <p:sp>
        <p:nvSpPr>
          <p:cNvPr id="7" name="ph_body_0">
            <a:extLst>
              <a:ext uri="{FF2B5EF4-FFF2-40B4-BE49-F238E27FC236}">
                <a16:creationId xmlns:a16="http://schemas.microsoft.com/office/drawing/2014/main" id="{26942BEC-4BB7-68A8-5D3D-0F2E7C8C878D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62000" y="1676400"/>
            <a:ext cx="6858000" cy="40005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Ideas consolidadas</a:t>
            </a:r>
          </a:p>
        </p:txBody>
      </p:sp>
      <p:sp>
        <p:nvSpPr>
          <p:cNvPr id="8" name="ph_content_0">
            <a:extLst>
              <a:ext uri="{FF2B5EF4-FFF2-40B4-BE49-F238E27FC236}">
                <a16:creationId xmlns:a16="http://schemas.microsoft.com/office/drawing/2014/main" id="{58A41835-9B86-B2F7-FDEB-E572198A44F3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8001000" y="1676400"/>
            <a:ext cx="3429000" cy="31432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Llamada de recapitulación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9448B502-DD56-36BC-C80F-26C3FDF379C3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A33687D1-4041-4057-AFDA-E8313599D529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15_ERROR_FRECUEN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EDF6D93D-81D3-09A3-9451-58354AAA940D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Error frecuente</a:t>
            </a:r>
          </a:p>
        </p:txBody>
      </p:sp>
      <p:sp>
        <p:nvSpPr>
          <p:cNvPr id="7" name="ph_content_0">
            <a:extLst>
              <a:ext uri="{FF2B5EF4-FFF2-40B4-BE49-F238E27FC236}">
                <a16:creationId xmlns:a16="http://schemas.microsoft.com/office/drawing/2014/main" id="{BEE8D141-1A7B-E1E2-4278-DACF5AEFFBB9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952500" y="1809750"/>
            <a:ext cx="10287000" cy="17145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Idea incorrecta</a:t>
            </a:r>
          </a:p>
        </p:txBody>
      </p:sp>
      <p:sp>
        <p:nvSpPr>
          <p:cNvPr id="8" name="ph_body_0">
            <a:extLst>
              <a:ext uri="{FF2B5EF4-FFF2-40B4-BE49-F238E27FC236}">
                <a16:creationId xmlns:a16="http://schemas.microsoft.com/office/drawing/2014/main" id="{51AAF03A-25D3-5D01-FCF9-2955539C92E3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1143000" y="3905250"/>
            <a:ext cx="9906000" cy="17145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Corrección razonada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2EC62D10-711F-D9B1-7D3A-18749CF1A784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BDAFD395-8463-4588-B260-79B86AAD3E51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14B_MINI_EJERCIC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EC11DF7D-DCF3-07BF-2350-3CEDB78BCA73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Mini ejercicio</a:t>
            </a:r>
          </a:p>
        </p:txBody>
      </p:sp>
      <p:sp>
        <p:nvSpPr>
          <p:cNvPr id="7" name="ph_body_0">
            <a:extLst>
              <a:ext uri="{FF2B5EF4-FFF2-40B4-BE49-F238E27FC236}">
                <a16:creationId xmlns:a16="http://schemas.microsoft.com/office/drawing/2014/main" id="{BFFBA6A1-CB2F-C08F-96BB-D862AE72699F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62000" y="1695450"/>
            <a:ext cx="6477000" cy="3429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Consigna y datos</a:t>
            </a:r>
          </a:p>
        </p:txBody>
      </p:sp>
      <p:sp>
        <p:nvSpPr>
          <p:cNvPr id="8" name="ph_content_0">
            <a:extLst>
              <a:ext uri="{FF2B5EF4-FFF2-40B4-BE49-F238E27FC236}">
                <a16:creationId xmlns:a16="http://schemas.microsoft.com/office/drawing/2014/main" id="{91DCAFC2-EA6E-2D23-3B41-A0752099656D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7620000" y="1695450"/>
            <a:ext cx="3810000" cy="34290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Espacio de resolución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A0621BFB-671E-D2BB-46AB-1C4FC0833871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81336448-9F7A-438A-9B1D-8F6491D87475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14_PREGUNTA_EJERCIC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622FF81E-C3C8-AD07-DE0B-DA2CA2611D15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Pregunta al curso</a:t>
            </a:r>
          </a:p>
        </p:txBody>
      </p:sp>
      <p:sp>
        <p:nvSpPr>
          <p:cNvPr id="7" name="ph_content_0">
            <a:extLst>
              <a:ext uri="{FF2B5EF4-FFF2-40B4-BE49-F238E27FC236}">
                <a16:creationId xmlns:a16="http://schemas.microsoft.com/office/drawing/2014/main" id="{FB5F4DDD-6CFB-7D47-14E7-EA043E89CA23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1333500" y="2000250"/>
            <a:ext cx="9525000" cy="20955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Pregunta</a:t>
            </a:r>
          </a:p>
        </p:txBody>
      </p:sp>
      <p:sp>
        <p:nvSpPr>
          <p:cNvPr id="8" name="ph_body_0">
            <a:extLst>
              <a:ext uri="{FF2B5EF4-FFF2-40B4-BE49-F238E27FC236}">
                <a16:creationId xmlns:a16="http://schemas.microsoft.com/office/drawing/2014/main" id="{543AE4C9-62D3-B123-DF7D-6CA4CFF8C65B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1524000" y="4457700"/>
            <a:ext cx="9144000" cy="10477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Pistas para discutir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81D1303B-53FE-8249-310B-E605F0EE1564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1CFE78DF-3976-48C8-961D-AA1C8CA99F09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13_APLICACION_CLINIC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DDD03774-96DE-DA2F-A511-71B36099D23A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Aplicación a Fonoaudiología</a:t>
            </a:r>
          </a:p>
        </p:txBody>
      </p:sp>
      <p:sp>
        <p:nvSpPr>
          <p:cNvPr id="7" name="ph_body_0">
            <a:extLst>
              <a:ext uri="{FF2B5EF4-FFF2-40B4-BE49-F238E27FC236}">
                <a16:creationId xmlns:a16="http://schemas.microsoft.com/office/drawing/2014/main" id="{BF907AE9-FAD6-BFC9-BD52-A97C988A7F59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62000" y="1714500"/>
            <a:ext cx="5715000" cy="39052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Concepto físico</a:t>
            </a:r>
          </a:p>
        </p:txBody>
      </p:sp>
      <p:sp>
        <p:nvSpPr>
          <p:cNvPr id="8" name="ph_content_0">
            <a:extLst>
              <a:ext uri="{FF2B5EF4-FFF2-40B4-BE49-F238E27FC236}">
                <a16:creationId xmlns:a16="http://schemas.microsoft.com/office/drawing/2014/main" id="{714E50E2-E1DA-3206-B850-EA65C2FD7D1A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6858000" y="1714500"/>
            <a:ext cx="4572000" cy="34290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Aplicación clínica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51F74211-E68E-8F63-B477-ED892A0B76ED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A330D82D-5740-4471-AF56-8696EEE2E4B5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12_PROCE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6A7C0E02-1009-E9C6-5ACC-80E7D6880A69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Proceso secuencial</a:t>
            </a:r>
          </a:p>
        </p:txBody>
      </p:sp>
      <p:sp>
        <p:nvSpPr>
          <p:cNvPr id="7" name="ph_content_0">
            <a:extLst>
              <a:ext uri="{FF2B5EF4-FFF2-40B4-BE49-F238E27FC236}">
                <a16:creationId xmlns:a16="http://schemas.microsoft.com/office/drawing/2014/main" id="{58205925-FD47-66F2-A802-416BCA053AEF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762000" y="1924050"/>
            <a:ext cx="10668000" cy="29527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Secuencia editable</a:t>
            </a:r>
          </a:p>
        </p:txBody>
      </p:sp>
      <p:sp>
        <p:nvSpPr>
          <p:cNvPr id="8" name="ph_body_0">
            <a:extLst>
              <a:ext uri="{FF2B5EF4-FFF2-40B4-BE49-F238E27FC236}">
                <a16:creationId xmlns:a16="http://schemas.microsoft.com/office/drawing/2014/main" id="{8685E304-E9CA-43F8-8930-8E0ED8BE7286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914400" y="5219700"/>
            <a:ext cx="10363200" cy="6096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Idea de cierre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0506C10D-1069-18D8-D511-E7658980284E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9CA5DB51-531C-4AFB-9FB5-87CA9A3111B8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11_COMPARAC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C3754BA9-BA43-89AA-C70D-83CA68AF3401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Comparación</a:t>
            </a:r>
          </a:p>
        </p:txBody>
      </p:sp>
      <p:sp>
        <p:nvSpPr>
          <p:cNvPr id="7" name="ph_body_0">
            <a:extLst>
              <a:ext uri="{FF2B5EF4-FFF2-40B4-BE49-F238E27FC236}">
                <a16:creationId xmlns:a16="http://schemas.microsoft.com/office/drawing/2014/main" id="{4E58697A-6AA1-094E-FB77-5ED2F72D0C96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62000" y="1695450"/>
            <a:ext cx="4953000" cy="39052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Caso A</a:t>
            </a:r>
          </a:p>
        </p:txBody>
      </p:sp>
      <p:sp>
        <p:nvSpPr>
          <p:cNvPr id="8" name="ph_body_1">
            <a:extLst>
              <a:ext uri="{FF2B5EF4-FFF2-40B4-BE49-F238E27FC236}">
                <a16:creationId xmlns:a16="http://schemas.microsoft.com/office/drawing/2014/main" id="{76A280CC-0448-5099-BD8C-5F5DA7427A41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6477000" y="1695450"/>
            <a:ext cx="4953000" cy="39052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Caso B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B22C4027-B511-C66A-3210-C4F977C71BF0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5DBCCD25-7213-4B32-B316-993301A50991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10_EJEMPLO_RESUEL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1EBA8C66-75F7-8786-62D4-8E39087D032A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Ejemplo resuelto</a:t>
            </a:r>
          </a:p>
        </p:txBody>
      </p:sp>
      <p:sp>
        <p:nvSpPr>
          <p:cNvPr id="7" name="ph_body_0">
            <a:extLst>
              <a:ext uri="{FF2B5EF4-FFF2-40B4-BE49-F238E27FC236}">
                <a16:creationId xmlns:a16="http://schemas.microsoft.com/office/drawing/2014/main" id="{B3761D8C-5D3D-B5FC-3088-D429C5A6F945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62000" y="1657350"/>
            <a:ext cx="4000500" cy="40005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Datos y pregunta</a:t>
            </a:r>
          </a:p>
        </p:txBody>
      </p:sp>
      <p:sp>
        <p:nvSpPr>
          <p:cNvPr id="8" name="ph_body_1">
            <a:extLst>
              <a:ext uri="{FF2B5EF4-FFF2-40B4-BE49-F238E27FC236}">
                <a16:creationId xmlns:a16="http://schemas.microsoft.com/office/drawing/2014/main" id="{72C3AA6E-744B-B585-1A7D-4DBA7725171B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5143500" y="1657350"/>
            <a:ext cx="6286500" cy="40005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Resolución paso a paso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F87FCAB0-F142-2C7C-6C7A-2118A60FE41C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1685110A-6086-4FE8-8F00-9DEAECCAACBB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09_ECUACION_INTERPRETAC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E55D978A-66A3-12DD-6D64-38108280AE38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Título informativo</a:t>
            </a:r>
          </a:p>
        </p:txBody>
      </p:sp>
      <p:sp>
        <p:nvSpPr>
          <p:cNvPr id="7" name="ph_content_0">
            <a:extLst>
              <a:ext uri="{FF2B5EF4-FFF2-40B4-BE49-F238E27FC236}">
                <a16:creationId xmlns:a16="http://schemas.microsoft.com/office/drawing/2014/main" id="{63049859-11E6-28FF-2063-7C84F2BCE7EA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762000" y="1752600"/>
            <a:ext cx="10668000" cy="15240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Ecuación editable</a:t>
            </a:r>
          </a:p>
        </p:txBody>
      </p:sp>
      <p:sp>
        <p:nvSpPr>
          <p:cNvPr id="8" name="ph_body_0">
            <a:extLst>
              <a:ext uri="{FF2B5EF4-FFF2-40B4-BE49-F238E27FC236}">
                <a16:creationId xmlns:a16="http://schemas.microsoft.com/office/drawing/2014/main" id="{27826603-AFCB-A7FC-DC5A-2E4905DA0F02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762000" y="3638550"/>
            <a:ext cx="10668000" cy="20002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Interpretación y unidades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554DD594-5FD7-1BA8-C390-3B2081E1BD93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D4E3DF21-1703-4AF3-A758-2190B581AEE3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08_DEFINIC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A64F010A-6A76-C440-2396-A624262AB04D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Concepto</a:t>
            </a:r>
          </a:p>
        </p:txBody>
      </p:sp>
      <p:sp>
        <p:nvSpPr>
          <p:cNvPr id="7" name="ph_content_0">
            <a:extLst>
              <a:ext uri="{FF2B5EF4-FFF2-40B4-BE49-F238E27FC236}">
                <a16:creationId xmlns:a16="http://schemas.microsoft.com/office/drawing/2014/main" id="{314101D8-2C06-19A3-8BA4-89816CC23386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1143000" y="1981200"/>
            <a:ext cx="9906000" cy="23812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Definición completa</a:t>
            </a:r>
          </a:p>
        </p:txBody>
      </p:sp>
      <p:sp>
        <p:nvSpPr>
          <p:cNvPr id="8" name="ph_body_0">
            <a:extLst>
              <a:ext uri="{FF2B5EF4-FFF2-40B4-BE49-F238E27FC236}">
                <a16:creationId xmlns:a16="http://schemas.microsoft.com/office/drawing/2014/main" id="{4D685FE1-58B7-9044-F0E6-24526BBA1CC2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1333500" y="4686300"/>
            <a:ext cx="9525000" cy="9525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Implicación o ejemplo breve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08CAD3E8-7C2E-D428-8533-9F43F7FD3565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EF7231C5-674D-43AF-A7BF-A95F7B1AC02E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07_GRAFICO_EXPLICAC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8E031ACD-0AD5-8809-0717-649540F4F383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Título informativo</a:t>
            </a:r>
          </a:p>
        </p:txBody>
      </p:sp>
      <p:sp>
        <p:nvSpPr>
          <p:cNvPr id="7" name="ph_chart_0">
            <a:extLst>
              <a:ext uri="{FF2B5EF4-FFF2-40B4-BE49-F238E27FC236}">
                <a16:creationId xmlns:a16="http://schemas.microsoft.com/office/drawing/2014/main" id="{5380A50B-6A0F-2DF2-CF30-B0F7001B31E2}"/>
              </a:ext>
            </a:extLst>
          </p:cNvPr>
          <p:cNvSpPr>
            <a:spLocks noGrp="1"/>
          </p:cNvSpPr>
          <p:nvPr>
            <p:ph type="chart" idx="11" hasCustomPrompt="1"/>
          </p:nvPr>
        </p:nvSpPr>
        <p:spPr>
          <a:xfrm>
            <a:off x="762000" y="1676400"/>
            <a:ext cx="6858000" cy="37147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r>
              <a:t>Gráfico editable</a:t>
            </a:r>
          </a:p>
        </p:txBody>
      </p:sp>
      <p:sp>
        <p:nvSpPr>
          <p:cNvPr id="8" name="ph_body_0">
            <a:extLst>
              <a:ext uri="{FF2B5EF4-FFF2-40B4-BE49-F238E27FC236}">
                <a16:creationId xmlns:a16="http://schemas.microsoft.com/office/drawing/2014/main" id="{1A6588E5-AEF0-6915-CE1D-570FEF5B4711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8039100" y="1676400"/>
            <a:ext cx="3390900" cy="39052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Lectura guiada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61303251-BC98-15C7-91D2-8A07695826A0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F56D38C4-B1D5-4C8E-BE72-930FD8BDBC8E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06B_DOS_COLUM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08ED06A4-5573-5517-B8B5-C2075DA96245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Título informativo</a:t>
            </a:r>
          </a:p>
        </p:txBody>
      </p:sp>
      <p:sp>
        <p:nvSpPr>
          <p:cNvPr id="7" name="ph_body_0">
            <a:extLst>
              <a:ext uri="{FF2B5EF4-FFF2-40B4-BE49-F238E27FC236}">
                <a16:creationId xmlns:a16="http://schemas.microsoft.com/office/drawing/2014/main" id="{CFF38B9F-A684-35A1-0FA9-F59A1B5AB4C6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62000" y="1676400"/>
            <a:ext cx="4953000" cy="40957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Columna izquierda</a:t>
            </a:r>
          </a:p>
        </p:txBody>
      </p:sp>
      <p:sp>
        <p:nvSpPr>
          <p:cNvPr id="8" name="ph_body_1">
            <a:extLst>
              <a:ext uri="{FF2B5EF4-FFF2-40B4-BE49-F238E27FC236}">
                <a16:creationId xmlns:a16="http://schemas.microsoft.com/office/drawing/2014/main" id="{8F895085-9CE5-6EE1-5F9D-097B6BDA3C7F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6477000" y="1676400"/>
            <a:ext cx="4953000" cy="40957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Columna derecha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BA13ABB1-00AB-594A-F558-8175EBCF3114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602F4707-DF6D-4294-BB93-51F5AE613322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06_VISUAL_TEXTO_40_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D5AED30D-A7BD-30DD-BE10-40C7E08936FE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Título informativo</a:t>
            </a:r>
          </a:p>
        </p:txBody>
      </p:sp>
      <p:sp>
        <p:nvSpPr>
          <p:cNvPr id="7" name="ph_picture_0">
            <a:extLst>
              <a:ext uri="{FF2B5EF4-FFF2-40B4-BE49-F238E27FC236}">
                <a16:creationId xmlns:a16="http://schemas.microsoft.com/office/drawing/2014/main" id="{6FA99C08-D6E3-4E98-F4FE-DDBFAED84D03}"/>
              </a:ext>
            </a:extLst>
          </p:cNvPr>
          <p:cNvSpPr>
            <a:spLocks noGrp="1"/>
          </p:cNvSpPr>
          <p:nvPr>
            <p:ph type="pic" idx="11" hasCustomPrompt="1"/>
          </p:nvPr>
        </p:nvSpPr>
        <p:spPr>
          <a:xfrm>
            <a:off x="762000" y="1676400"/>
            <a:ext cx="4095750" cy="33718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r>
              <a:t>Imagen o diagrama</a:t>
            </a:r>
          </a:p>
        </p:txBody>
      </p:sp>
      <p:sp>
        <p:nvSpPr>
          <p:cNvPr id="8" name="ph_body_0">
            <a:extLst>
              <a:ext uri="{FF2B5EF4-FFF2-40B4-BE49-F238E27FC236}">
                <a16:creationId xmlns:a16="http://schemas.microsoft.com/office/drawing/2014/main" id="{E5F7348D-D236-9EEA-2133-597F8B480978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5238750" y="1676400"/>
            <a:ext cx="6191250" cy="39052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Explicación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9B437985-0763-FCCF-F44F-242B6F5117A3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BA6B0A21-BCB8-4A3F-B261-5C6ED3AE2361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05_TEXTO_VISUAL_60_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3EF649E4-ADFE-13DB-6148-5183BBE49514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Título informativo</a:t>
            </a:r>
          </a:p>
        </p:txBody>
      </p:sp>
      <p:sp>
        <p:nvSpPr>
          <p:cNvPr id="7" name="ph_body_0">
            <a:extLst>
              <a:ext uri="{FF2B5EF4-FFF2-40B4-BE49-F238E27FC236}">
                <a16:creationId xmlns:a16="http://schemas.microsoft.com/office/drawing/2014/main" id="{8F472493-280E-0CA3-7AC8-E68E8FBDBFCC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62000" y="1676400"/>
            <a:ext cx="6191250" cy="39052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Explicación</a:t>
            </a:r>
          </a:p>
        </p:txBody>
      </p:sp>
      <p:sp>
        <p:nvSpPr>
          <p:cNvPr id="8" name="ph_picture_0">
            <a:extLst>
              <a:ext uri="{FF2B5EF4-FFF2-40B4-BE49-F238E27FC236}">
                <a16:creationId xmlns:a16="http://schemas.microsoft.com/office/drawing/2014/main" id="{79FC630C-AD55-24EA-E53D-308D86D07925}"/>
              </a:ext>
            </a:extLst>
          </p:cNvPr>
          <p:cNvSpPr>
            <a:spLocks noGrp="1"/>
          </p:cNvSpPr>
          <p:nvPr>
            <p:ph type="pic" idx="12" hasCustomPrompt="1"/>
          </p:nvPr>
        </p:nvSpPr>
        <p:spPr>
          <a:xfrm>
            <a:off x="7334250" y="1676400"/>
            <a:ext cx="4095750" cy="33718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r>
              <a:t>Imagen o diagrama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3545EB75-FA22-76BE-9CE1-5BBC0905B29C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1060B985-A0D6-43B6-9BE3-5D6CD61324BB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04_TITULO_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EA73D0B5-44ED-C607-E4A8-F4FDBA1B460F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Título informativo</a:t>
            </a:r>
          </a:p>
        </p:txBody>
      </p:sp>
      <p:sp>
        <p:nvSpPr>
          <p:cNvPr id="7" name="ph_body_0">
            <a:extLst>
              <a:ext uri="{FF2B5EF4-FFF2-40B4-BE49-F238E27FC236}">
                <a16:creationId xmlns:a16="http://schemas.microsoft.com/office/drawing/2014/main" id="{4067827F-3DFD-43A8-ED1D-4A061C6AADC3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62000" y="1695450"/>
            <a:ext cx="10668000" cy="41148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Idea principal y desarrollo</a:t>
            </a:r>
          </a:p>
        </p:txBody>
      </p:sp>
      <p:sp>
        <p:nvSpPr>
          <p:cNvPr id="8" name="fa_slide_number">
            <a:extLst>
              <a:ext uri="{FF2B5EF4-FFF2-40B4-BE49-F238E27FC236}">
                <a16:creationId xmlns:a16="http://schemas.microsoft.com/office/drawing/2014/main" id="{AB672653-EF56-0789-95CE-0ACA3972421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1113A982-D864-4714-BC0D-F64786B8C006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03_MAPA_CLA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774C0439-FC2E-F5D5-0F77-C83354962018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Mapa de la clase</a:t>
            </a:r>
          </a:p>
        </p:txBody>
      </p:sp>
      <p:sp>
        <p:nvSpPr>
          <p:cNvPr id="7" name="ph_content_0">
            <a:extLst>
              <a:ext uri="{FF2B5EF4-FFF2-40B4-BE49-F238E27FC236}">
                <a16:creationId xmlns:a16="http://schemas.microsoft.com/office/drawing/2014/main" id="{5D91A08B-7367-A177-D3A1-D4D0D4FD2923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762000" y="1790700"/>
            <a:ext cx="10668000" cy="373380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ctr">
              <a:buNone/>
              <a:defRPr sz="1650" b="0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Secuencia de bloques</a:t>
            </a:r>
          </a:p>
        </p:txBody>
      </p:sp>
      <p:sp>
        <p:nvSpPr>
          <p:cNvPr id="8" name="fa_slide_number">
            <a:extLst>
              <a:ext uri="{FF2B5EF4-FFF2-40B4-BE49-F238E27FC236}">
                <a16:creationId xmlns:a16="http://schemas.microsoft.com/office/drawing/2014/main" id="{CB1AB991-FF40-041B-F321-8D5FD603622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A4F5DA17-0689-46E4-8362-81AB21D91399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A_02B_CONOCIMIENTOS_PREVI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h_title_0">
            <a:extLst>
              <a:ext uri="{FF2B5EF4-FFF2-40B4-BE49-F238E27FC236}">
                <a16:creationId xmlns:a16="http://schemas.microsoft.com/office/drawing/2014/main" id="{E86E20EB-ACF6-E98B-A7F7-FAA63FE7A1AB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609600" y="695325"/>
            <a:ext cx="10972800" cy="590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4D1434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Conocimientos previos</a:t>
            </a:r>
          </a:p>
        </p:txBody>
      </p:sp>
      <p:sp>
        <p:nvSpPr>
          <p:cNvPr id="7" name="ph_body_0">
            <a:extLst>
              <a:ext uri="{FF2B5EF4-FFF2-40B4-BE49-F238E27FC236}">
                <a16:creationId xmlns:a16="http://schemas.microsoft.com/office/drawing/2014/main" id="{DA74F11D-A621-76AD-1939-D17C951722BA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62000" y="1714500"/>
            <a:ext cx="4953000" cy="40957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Ya conocemos</a:t>
            </a:r>
          </a:p>
        </p:txBody>
      </p:sp>
      <p:sp>
        <p:nvSpPr>
          <p:cNvPr id="8" name="ph_body_1">
            <a:extLst>
              <a:ext uri="{FF2B5EF4-FFF2-40B4-BE49-F238E27FC236}">
                <a16:creationId xmlns:a16="http://schemas.microsoft.com/office/drawing/2014/main" id="{3F301BAB-D31B-43BA-8C3E-29D441A86035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6477000" y="1714500"/>
            <a:ext cx="4953000" cy="40957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l">
              <a:buNone/>
              <a:defRPr sz="2250" b="0">
                <a:solidFill>
                  <a:srgbClr val="3D3D3D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>
              <a:buNone/>
            </a:pPr>
            <a:r>
              <a:t>Necesitamos recuperar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485A1487-76D9-6CD2-5B5D-641F847EEABE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66707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C017E5F8-CA14-4AD9-9C34-2654E5F0D860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_00_PORTA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h_title_0">
            <a:extLst>
              <a:ext uri="{FF2B5EF4-FFF2-40B4-BE49-F238E27FC236}">
                <a16:creationId xmlns:a16="http://schemas.microsoft.com/office/drawing/2014/main" id="{BBF699B4-1B17-0944-8A64-D6854D8D6D1E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800100" y="1543049"/>
            <a:ext cx="8572500" cy="14287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Título de la unidad</a:t>
            </a:r>
          </a:p>
        </p:txBody>
      </p:sp>
      <p:sp>
        <p:nvSpPr>
          <p:cNvPr id="8" name="ph_subtitle_0">
            <a:extLst>
              <a:ext uri="{FF2B5EF4-FFF2-40B4-BE49-F238E27FC236}">
                <a16:creationId xmlns:a16="http://schemas.microsoft.com/office/drawing/2014/main" id="{5EEB7C2E-BFEB-6726-9C51-28E1E3242D9B}"/>
              </a:ext>
            </a:extLst>
          </p:cNvPr>
          <p:cNvSpPr>
            <a:spLocks noGrp="1"/>
          </p:cNvSpPr>
          <p:nvPr>
            <p:ph type="subTitle" idx="11" hasCustomPrompt="1"/>
          </p:nvPr>
        </p:nvSpPr>
        <p:spPr>
          <a:xfrm>
            <a:off x="838200" y="3143250"/>
            <a:ext cx="7239000" cy="7239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 algn="l">
              <a:buNone/>
              <a:defRPr sz="21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t>Subtítulo o alcance</a:t>
            </a:r>
          </a:p>
        </p:txBody>
      </p:sp>
      <p:sp>
        <p:nvSpPr>
          <p:cNvPr id="9" name="fa_slide_number">
            <a:extLst>
              <a:ext uri="{FF2B5EF4-FFF2-40B4-BE49-F238E27FC236}">
                <a16:creationId xmlns:a16="http://schemas.microsoft.com/office/drawing/2014/main" id="{F9094F21-F8D4-117E-6486-B4FB78DA574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BFBD13B0-F1EE-46B2-9204-54BDCC94E2F7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_21_CIERRE_PUEN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0">
            <a:extLst>
              <a:ext uri="{FF2B5EF4-FFF2-40B4-BE49-F238E27FC236}">
                <a16:creationId xmlns:a16="http://schemas.microsoft.com/office/drawing/2014/main" id="{08E6C8A6-F9D3-7926-25DF-ED045F3A4CCD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800100" y="2019300"/>
            <a:ext cx="8953500" cy="11239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Cierre</a:t>
            </a:r>
          </a:p>
        </p:txBody>
      </p:sp>
      <p:sp>
        <p:nvSpPr>
          <p:cNvPr id="3" name="ph_subtitle_0">
            <a:extLst>
              <a:ext uri="{FF2B5EF4-FFF2-40B4-BE49-F238E27FC236}">
                <a16:creationId xmlns:a16="http://schemas.microsoft.com/office/drawing/2014/main" id="{7DB56B4A-8D9F-CA11-B9D5-A6125863F28F}"/>
              </a:ext>
            </a:extLst>
          </p:cNvPr>
          <p:cNvSpPr>
            <a:spLocks noGrp="1"/>
          </p:cNvSpPr>
          <p:nvPr>
            <p:ph type="subTitle" idx="11" hasCustomPrompt="1"/>
          </p:nvPr>
        </p:nvSpPr>
        <p:spPr>
          <a:xfrm>
            <a:off x="838200" y="3314700"/>
            <a:ext cx="8191500" cy="8191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 algn="l">
              <a:buNone/>
              <a:defRPr sz="21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t>Puente hacia la próxima clase</a:t>
            </a:r>
          </a:p>
        </p:txBody>
      </p:sp>
      <p:sp>
        <p:nvSpPr>
          <p:cNvPr id="4" name="fa_slide_number">
            <a:extLst>
              <a:ext uri="{FF2B5EF4-FFF2-40B4-BE49-F238E27FC236}">
                <a16:creationId xmlns:a16="http://schemas.microsoft.com/office/drawing/2014/main" id="{62762AF0-3B86-E082-1D9F-E94F6C836E6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1551B1DD-AE22-4797-A41E-B58F85D9714A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_01_DIVIS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0">
            <a:extLst>
              <a:ext uri="{FF2B5EF4-FFF2-40B4-BE49-F238E27FC236}">
                <a16:creationId xmlns:a16="http://schemas.microsoft.com/office/drawing/2014/main" id="{D1F88028-AD7E-5C80-FCA4-7044C14652DA}"/>
              </a:ext>
            </a:extLst>
          </p:cNvPr>
          <p:cNvSpPr>
            <a:spLocks noGrp="1"/>
          </p:cNvSpPr>
          <p:nvPr>
            <p:ph type="title" idx="10" hasCustomPrompt="1"/>
          </p:nvPr>
        </p:nvSpPr>
        <p:spPr>
          <a:xfrm>
            <a:off x="800100" y="2095500"/>
            <a:ext cx="9334500" cy="10477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buNone/>
              <a:defRPr sz="3600" b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lvl1pPr>
          </a:lstStyle>
          <a:p>
            <a:r>
              <a:t>Título del bloque</a:t>
            </a:r>
          </a:p>
        </p:txBody>
      </p:sp>
      <p:sp>
        <p:nvSpPr>
          <p:cNvPr id="3" name="ph_subtitle_0">
            <a:extLst>
              <a:ext uri="{FF2B5EF4-FFF2-40B4-BE49-F238E27FC236}">
                <a16:creationId xmlns:a16="http://schemas.microsoft.com/office/drawing/2014/main" id="{8858B713-BB8F-93CF-76E5-B16753D5870D}"/>
              </a:ext>
            </a:extLst>
          </p:cNvPr>
          <p:cNvSpPr>
            <a:spLocks noGrp="1"/>
          </p:cNvSpPr>
          <p:nvPr>
            <p:ph type="subTitle" idx="11" hasCustomPrompt="1"/>
          </p:nvPr>
        </p:nvSpPr>
        <p:spPr>
          <a:xfrm>
            <a:off x="838200" y="3295650"/>
            <a:ext cx="7810500" cy="5905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 algn="l">
              <a:buNone/>
              <a:defRPr sz="21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t>Pregunta guía o propósito</a:t>
            </a:r>
          </a:p>
        </p:txBody>
      </p:sp>
      <p:sp>
        <p:nvSpPr>
          <p:cNvPr id="4" name="fa_slide_number">
            <a:extLst>
              <a:ext uri="{FF2B5EF4-FFF2-40B4-BE49-F238E27FC236}">
                <a16:creationId xmlns:a16="http://schemas.microsoft.com/office/drawing/2014/main" id="{20025C06-92EB-B9DF-64E7-DAAC9343FA0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20450" y="6448425"/>
            <a:ext cx="361950" cy="209550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buNone/>
              <a:defRPr sz="10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60E8974C-1134-48A5-94B6-2428CCBD93A5}" type="slidenum">
              <a:t>‹Nº›</a:t>
            </a:fld>
            <a:endParaRPr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1.png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le_maroon">
            <a:extLst>
              <a:ext uri="{FF2B5EF4-FFF2-40B4-BE49-F238E27FC236}">
                <a16:creationId xmlns:a16="http://schemas.microsoft.com/office/drawing/2014/main" id="{7ED400B0-4650-BD81-8872-00CCE5394A4B}"/>
              </a:ext>
            </a:extLst>
          </p:cNvPr>
          <p:cNvSpPr>
            <a:spLocks noGrp="1"/>
          </p:cNvSpPr>
          <p:nvPr/>
        </p:nvSpPr>
        <p:spPr>
          <a:xfrm>
            <a:off x="609600" y="247650"/>
            <a:ext cx="3657600" cy="57150"/>
          </a:xfrm>
          <a:prstGeom prst="rect">
            <a:avLst/>
          </a:prstGeom>
          <a:solidFill>
            <a:srgbClr val="4D1434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rule_berry">
            <a:extLst>
              <a:ext uri="{FF2B5EF4-FFF2-40B4-BE49-F238E27FC236}">
                <a16:creationId xmlns:a16="http://schemas.microsoft.com/office/drawing/2014/main" id="{19067D9B-1D69-BEBD-53A6-E2EBCE31B809}"/>
              </a:ext>
            </a:extLst>
          </p:cNvPr>
          <p:cNvSpPr>
            <a:spLocks noGrp="1"/>
          </p:cNvSpPr>
          <p:nvPr/>
        </p:nvSpPr>
        <p:spPr>
          <a:xfrm>
            <a:off x="4362450" y="247650"/>
            <a:ext cx="3657600" cy="57150"/>
          </a:xfrm>
          <a:prstGeom prst="rect">
            <a:avLst/>
          </a:prstGeom>
          <a:solidFill>
            <a:srgbClr val="903163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rule_gray">
            <a:extLst>
              <a:ext uri="{FF2B5EF4-FFF2-40B4-BE49-F238E27FC236}">
                <a16:creationId xmlns:a16="http://schemas.microsoft.com/office/drawing/2014/main" id="{D5EE4B42-9A6B-A99D-63F0-0D1F0CDA593B}"/>
              </a:ext>
            </a:extLst>
          </p:cNvPr>
          <p:cNvSpPr>
            <a:spLocks noGrp="1"/>
          </p:cNvSpPr>
          <p:nvPr/>
        </p:nvSpPr>
        <p:spPr>
          <a:xfrm>
            <a:off x="8115300" y="247650"/>
            <a:ext cx="3467100" cy="57150"/>
          </a:xfrm>
          <a:prstGeom prst="rect">
            <a:avLst/>
          </a:prstGeom>
          <a:solidFill>
            <a:srgbClr val="969FA7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footer_rule">
            <a:extLst>
              <a:ext uri="{FF2B5EF4-FFF2-40B4-BE49-F238E27FC236}">
                <a16:creationId xmlns:a16="http://schemas.microsoft.com/office/drawing/2014/main" id="{967B707C-1A6F-0D89-F330-66B1FD9D5071}"/>
              </a:ext>
            </a:extLst>
          </p:cNvPr>
          <p:cNvSpPr>
            <a:spLocks noGrp="1"/>
          </p:cNvSpPr>
          <p:nvPr/>
        </p:nvSpPr>
        <p:spPr>
          <a:xfrm>
            <a:off x="609600" y="6353175"/>
            <a:ext cx="10972800" cy="14288"/>
          </a:xfrm>
          <a:prstGeom prst="rect">
            <a:avLst/>
          </a:prstGeom>
          <a:solidFill>
            <a:srgbClr val="D9DCE0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14" name="ucasal_logo_master_light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09600" y="6429375"/>
            <a:ext cx="1028700" cy="304800"/>
          </a:xfrm>
          <a:prstGeom prst="rect">
            <a:avLst/>
          </a:prstGeom>
        </p:spPr>
      </p:pic>
      <p:sp>
        <p:nvSpPr>
          <p:cNvPr id="8" name="footer_course_light">
            <a:extLst>
              <a:ext uri="{FF2B5EF4-FFF2-40B4-BE49-F238E27FC236}">
                <a16:creationId xmlns:a16="http://schemas.microsoft.com/office/drawing/2014/main" id="{63C3527D-F71A-255A-556A-E956A5B245FC}"/>
              </a:ext>
            </a:extLst>
          </p:cNvPr>
          <p:cNvSpPr>
            <a:spLocks noGrp="1"/>
          </p:cNvSpPr>
          <p:nvPr/>
        </p:nvSpPr>
        <p:spPr>
          <a:xfrm>
            <a:off x="1809750" y="6467475"/>
            <a:ext cx="4953000" cy="253916"/>
          </a:xfrm>
          <a:prstGeom prst="rect">
            <a:avLst/>
          </a:prstGeom>
          <a:noFill/>
        </p:spPr>
        <p:txBody>
          <a:bodyPr vert="horz" wrap="square" lIns="0" tIns="0" rIns="0" bIns="0" anchor="ctr">
            <a:noAutofit/>
          </a:bodyPr>
          <a:lstStyle/>
          <a:p>
            <a:pPr algn="l">
              <a:buNone/>
            </a:pPr>
            <a:r>
              <a:rPr sz="1050" b="0">
                <a:solidFill>
                  <a:srgbClr val="667079"/>
                </a:solidFill>
                <a:latin typeface="Calibri"/>
                <a:ea typeface="Calibri"/>
                <a:cs typeface="Calibri"/>
              </a:rPr>
              <a:t>Física Acústica · Licenciatura en Fonoaudiología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</p:sldLayoutIdLst>
  <p:hf hdr="0" ftr="0" dt="0"/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D14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ule_berry">
            <a:extLst>
              <a:ext uri="{FF2B5EF4-FFF2-40B4-BE49-F238E27FC236}">
                <a16:creationId xmlns:a16="http://schemas.microsoft.com/office/drawing/2014/main" id="{54233747-3B41-236E-F508-E312E7DCB9DF}"/>
              </a:ext>
            </a:extLst>
          </p:cNvPr>
          <p:cNvSpPr>
            <a:spLocks noGrp="1"/>
          </p:cNvSpPr>
          <p:nvPr/>
        </p:nvSpPr>
        <p:spPr>
          <a:xfrm>
            <a:off x="609600" y="247650"/>
            <a:ext cx="3657600" cy="57150"/>
          </a:xfrm>
          <a:prstGeom prst="rect">
            <a:avLst/>
          </a:prstGeom>
          <a:solidFill>
            <a:srgbClr val="903163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rule_white">
            <a:extLst>
              <a:ext uri="{FF2B5EF4-FFF2-40B4-BE49-F238E27FC236}">
                <a16:creationId xmlns:a16="http://schemas.microsoft.com/office/drawing/2014/main" id="{AB7800AF-4B8D-3775-268D-A94322560FCE}"/>
              </a:ext>
            </a:extLst>
          </p:cNvPr>
          <p:cNvSpPr>
            <a:spLocks noGrp="1"/>
          </p:cNvSpPr>
          <p:nvPr/>
        </p:nvSpPr>
        <p:spPr>
          <a:xfrm>
            <a:off x="4362450" y="247650"/>
            <a:ext cx="3657600" cy="57150"/>
          </a:xfrm>
          <a:prstGeom prst="rect">
            <a:avLst/>
          </a:prstGeom>
          <a:solidFill>
            <a:srgbClr val="FFFFFF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rule_gray">
            <a:extLst>
              <a:ext uri="{FF2B5EF4-FFF2-40B4-BE49-F238E27FC236}">
                <a16:creationId xmlns:a16="http://schemas.microsoft.com/office/drawing/2014/main" id="{092696FC-D673-2DD3-4FCF-4D8518D87390}"/>
              </a:ext>
            </a:extLst>
          </p:cNvPr>
          <p:cNvSpPr>
            <a:spLocks noGrp="1"/>
          </p:cNvSpPr>
          <p:nvPr/>
        </p:nvSpPr>
        <p:spPr>
          <a:xfrm>
            <a:off x="8115300" y="247650"/>
            <a:ext cx="3467100" cy="57150"/>
          </a:xfrm>
          <a:prstGeom prst="rect">
            <a:avLst/>
          </a:prstGeom>
          <a:solidFill>
            <a:srgbClr val="969FA7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footer_rule">
            <a:extLst>
              <a:ext uri="{FF2B5EF4-FFF2-40B4-BE49-F238E27FC236}">
                <a16:creationId xmlns:a16="http://schemas.microsoft.com/office/drawing/2014/main" id="{99D069AE-519E-8032-14CB-9643E0ECC0A3}"/>
              </a:ext>
            </a:extLst>
          </p:cNvPr>
          <p:cNvSpPr>
            <a:spLocks noGrp="1"/>
          </p:cNvSpPr>
          <p:nvPr/>
        </p:nvSpPr>
        <p:spPr>
          <a:xfrm>
            <a:off x="609600" y="6353175"/>
            <a:ext cx="10972800" cy="14288"/>
          </a:xfrm>
          <a:prstGeom prst="rect">
            <a:avLst/>
          </a:prstGeom>
          <a:solidFill>
            <a:srgbClr val="903163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logo_backing">
            <a:extLst>
              <a:ext uri="{FF2B5EF4-FFF2-40B4-BE49-F238E27FC236}">
                <a16:creationId xmlns:a16="http://schemas.microsoft.com/office/drawing/2014/main" id="{DED1A456-4096-91AC-8233-B33FFC94C295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104900" cy="323850"/>
          </a:xfrm>
          <a:prstGeom prst="rect">
            <a:avLst/>
          </a:prstGeom>
          <a:solidFill>
            <a:srgbClr val="FFFFFF"/>
          </a:solidFill>
          <a:ln w="19050" cmpd="sng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21" name="ucasal_logo_master_dark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750" y="6467475"/>
            <a:ext cx="990600" cy="228600"/>
          </a:xfrm>
          <a:prstGeom prst="rect">
            <a:avLst/>
          </a:prstGeom>
        </p:spPr>
      </p:pic>
      <p:sp>
        <p:nvSpPr>
          <p:cNvPr id="14" name="footer_course_dark">
            <a:extLst>
              <a:ext uri="{FF2B5EF4-FFF2-40B4-BE49-F238E27FC236}">
                <a16:creationId xmlns:a16="http://schemas.microsoft.com/office/drawing/2014/main" id="{D186B626-134A-FBCD-AEA0-4A2A93AA00A6}"/>
              </a:ext>
            </a:extLst>
          </p:cNvPr>
          <p:cNvSpPr>
            <a:spLocks noGrp="1"/>
          </p:cNvSpPr>
          <p:nvPr/>
        </p:nvSpPr>
        <p:spPr>
          <a:xfrm>
            <a:off x="1885950" y="6467475"/>
            <a:ext cx="4953000" cy="253916"/>
          </a:xfrm>
          <a:prstGeom prst="rect">
            <a:avLst/>
          </a:prstGeom>
          <a:noFill/>
        </p:spPr>
        <p:txBody>
          <a:bodyPr vert="horz" wrap="square" lIns="0" tIns="0" rIns="0" bIns="0" anchor="ctr">
            <a:noAutofit/>
          </a:bodyPr>
          <a:lstStyle/>
          <a:p>
            <a:pPr algn="l">
              <a:buNone/>
            </a:pPr>
            <a:r>
              <a:rPr sz="105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Física Acústica · Licenciatura en Fonoaudiología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</p:sldLayoutIdLst>
  <p:hf hdr="0" ftr="0" dt="0"/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8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0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9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8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8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6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8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4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6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5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6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8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8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8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8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9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0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8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7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8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6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9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8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7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8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16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14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16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16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16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3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15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10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8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27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17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14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14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3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9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15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5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11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19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8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27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13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3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17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16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15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9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6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11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8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27.xml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20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3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17.xml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notesSlide" Target="../notesSlides/notesSlide121.xml"/><Relationship Id="rId1" Type="http://schemas.openxmlformats.org/officeDocument/2006/relationships/slideLayout" Target="../slideLayouts/slideLayout15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2.xml"/><Relationship Id="rId1" Type="http://schemas.openxmlformats.org/officeDocument/2006/relationships/slideLayout" Target="../slideLayouts/slideLayout14.xml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123.xml"/><Relationship Id="rId1" Type="http://schemas.openxmlformats.org/officeDocument/2006/relationships/slideLayout" Target="../slideLayouts/slideLayout12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4.xml"/><Relationship Id="rId1" Type="http://schemas.openxmlformats.org/officeDocument/2006/relationships/slideLayout" Target="../slideLayouts/slideLayout8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5.xml"/><Relationship Id="rId1" Type="http://schemas.openxmlformats.org/officeDocument/2006/relationships/slideLayout" Target="../slideLayouts/slideLayout12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6.xml"/><Relationship Id="rId1" Type="http://schemas.openxmlformats.org/officeDocument/2006/relationships/slideLayout" Target="../slideLayouts/slideLayout11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7.xml"/><Relationship Id="rId1" Type="http://schemas.openxmlformats.org/officeDocument/2006/relationships/slideLayout" Target="../slideLayouts/slideLayout15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8.xml"/><Relationship Id="rId1" Type="http://schemas.openxmlformats.org/officeDocument/2006/relationships/slideLayout" Target="../slideLayouts/slideLayout9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9.xml"/><Relationship Id="rId1" Type="http://schemas.openxmlformats.org/officeDocument/2006/relationships/slideLayout" Target="../slideLayouts/slideLayout7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0.xml"/><Relationship Id="rId1" Type="http://schemas.openxmlformats.org/officeDocument/2006/relationships/slideLayout" Target="../slideLayouts/slideLayout11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1.xml"/><Relationship Id="rId1" Type="http://schemas.openxmlformats.org/officeDocument/2006/relationships/slideLayout" Target="../slideLayouts/slideLayout26.xml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hyperlink" Target="https://webstore.iec.ch/en/publication/5708" TargetMode="External"/><Relationship Id="rId2" Type="http://schemas.openxmlformats.org/officeDocument/2006/relationships/notesSlide" Target="../notesSlides/notesSlide132.xml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www.cdc.gov/niosh/noise/about/app.html" TargetMode="External"/><Relationship Id="rId4" Type="http://schemas.openxmlformats.org/officeDocument/2006/relationships/hyperlink" Target="https://webstore.iec.ch/en/publication/5063" TargetMode="Externa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3.xml"/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4.xml"/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5.xml"/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6.xml"/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137.xml"/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8.xml"/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9.xml"/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0.xml"/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1.xml"/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2.xml"/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3.xml"/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144.xml"/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5.xml"/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6.xml"/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7.xml"/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8.xml"/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9.xml"/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yebrow">
            <a:extLst>
              <a:ext uri="{FF2B5EF4-FFF2-40B4-BE49-F238E27FC236}">
                <a16:creationId xmlns:a16="http://schemas.microsoft.com/office/drawing/2014/main" id="{79C0E2EC-2C52-4FEF-855A-3221B40FB5D5}"/>
              </a:ext>
            </a:extLst>
          </p:cNvPr>
          <p:cNvSpPr>
            <a:spLocks noGrp="1"/>
          </p:cNvSpPr>
          <p:nvPr/>
        </p:nvSpPr>
        <p:spPr>
          <a:xfrm>
            <a:off x="514350" y="2095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1" i="0">
                <a:solidFill>
                  <a:srgbClr val="B9D8E7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B9D8E7"/>
                </a:solidFill>
                <a:latin typeface="Calibri"/>
                <a:ea typeface="Calibri"/>
                <a:cs typeface="Calibri"/>
              </a:rPr>
              <a:t>UNIDAD 5 · 001</a:t>
            </a:r>
          </a:p>
        </p:txBody>
      </p:sp>
      <p:sp>
        <p:nvSpPr>
          <p:cNvPr id="2" name="cover-title">
            <a:extLst>
              <a:ext uri="{FF2B5EF4-FFF2-40B4-BE49-F238E27FC236}">
                <a16:creationId xmlns:a16="http://schemas.microsoft.com/office/drawing/2014/main" id="{6E3EA8DA-18CF-49C7-B203-DA41D728993A}"/>
              </a:ext>
            </a:extLst>
          </p:cNvPr>
          <p:cNvSpPr>
            <a:spLocks noGrp="1"/>
          </p:cNvSpPr>
          <p:nvPr/>
        </p:nvSpPr>
        <p:spPr>
          <a:xfrm>
            <a:off x="666750" y="1762125"/>
            <a:ext cx="6667500" cy="1285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4350" b="1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4350" b="1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Unidad 5 · Análisis frecuencial de señales acústicas</a:t>
            </a:r>
          </a:p>
        </p:txBody>
      </p:sp>
      <p:sp>
        <p:nvSpPr>
          <p:cNvPr id="3" name="cover-subtitle">
            <a:extLst>
              <a:ext uri="{FF2B5EF4-FFF2-40B4-BE49-F238E27FC236}">
                <a16:creationId xmlns:a16="http://schemas.microsoft.com/office/drawing/2014/main" id="{4272B28E-56E1-49AD-97B3-5B65A19B6392}"/>
              </a:ext>
            </a:extLst>
          </p:cNvPr>
          <p:cNvSpPr>
            <a:spLocks noGrp="1"/>
          </p:cNvSpPr>
          <p:nvPr/>
        </p:nvSpPr>
        <p:spPr>
          <a:xfrm>
            <a:off x="714375" y="3286125"/>
            <a:ext cx="6000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250" b="0" i="0">
                <a:solidFill>
                  <a:srgbClr val="D8E5EB"/>
                </a:solidFill>
                <a:latin typeface="Calibri"/>
                <a:ea typeface="Calibri"/>
                <a:cs typeface="Calibri"/>
              </a:defRPr>
            </a:pPr>
            <a:r>
              <a:rPr sz="2250" b="0" i="0">
                <a:solidFill>
                  <a:srgbClr val="D8E5EB"/>
                </a:solidFill>
                <a:latin typeface="Calibri"/>
                <a:ea typeface="Calibri"/>
                <a:cs typeface="Calibri"/>
              </a:rPr>
              <a:t>De la señal registrada a una interpretación con límites.</a:t>
            </a:r>
          </a:p>
        </p:txBody>
      </p:sp>
      <p:sp>
        <p:nvSpPr>
          <p:cNvPr id="4" name="spectrum-bar-1">
            <a:extLst>
              <a:ext uri="{FF2B5EF4-FFF2-40B4-BE49-F238E27FC236}">
                <a16:creationId xmlns:a16="http://schemas.microsoft.com/office/drawing/2014/main" id="{CB4FDC2F-D62A-443A-8017-52642E46ADDB}"/>
              </a:ext>
            </a:extLst>
          </p:cNvPr>
          <p:cNvSpPr>
            <a:spLocks noGrp="1"/>
          </p:cNvSpPr>
          <p:nvPr/>
        </p:nvSpPr>
        <p:spPr>
          <a:xfrm>
            <a:off x="6858000" y="4476750"/>
            <a:ext cx="323850" cy="476250"/>
          </a:xfrm>
          <a:prstGeom prst="roundRect">
            <a:avLst>
              <a:gd name="adj" fmla="val 23529"/>
            </a:avLst>
          </a:prstGeom>
          <a:solidFill>
            <a:srgbClr val="3D617E"/>
          </a:solidFill>
          <a:ln w="0">
            <a:noFill/>
            <a:prstDash val="solid"/>
          </a:ln>
        </p:spPr>
      </p:sp>
      <p:sp>
        <p:nvSpPr>
          <p:cNvPr id="5" name="spectrum-bar-2">
            <a:extLst>
              <a:ext uri="{FF2B5EF4-FFF2-40B4-BE49-F238E27FC236}">
                <a16:creationId xmlns:a16="http://schemas.microsoft.com/office/drawing/2014/main" id="{33C733E7-04BC-4B88-B6E8-60264F66B437}"/>
              </a:ext>
            </a:extLst>
          </p:cNvPr>
          <p:cNvSpPr>
            <a:spLocks noGrp="1"/>
          </p:cNvSpPr>
          <p:nvPr/>
        </p:nvSpPr>
        <p:spPr>
          <a:xfrm>
            <a:off x="7715250" y="3810000"/>
            <a:ext cx="323850" cy="1143000"/>
          </a:xfrm>
          <a:prstGeom prst="roundRect">
            <a:avLst>
              <a:gd name="adj" fmla="val 23529"/>
            </a:avLst>
          </a:prstGeom>
          <a:solidFill>
            <a:srgbClr val="3D617E"/>
          </a:solidFill>
          <a:ln w="0">
            <a:noFill/>
            <a:prstDash val="solid"/>
          </a:ln>
        </p:spPr>
      </p:sp>
      <p:sp>
        <p:nvSpPr>
          <p:cNvPr id="6" name="spectrum-bar-3">
            <a:extLst>
              <a:ext uri="{FF2B5EF4-FFF2-40B4-BE49-F238E27FC236}">
                <a16:creationId xmlns:a16="http://schemas.microsoft.com/office/drawing/2014/main" id="{23DEA551-1BBF-4CB1-96F1-693A82925E48}"/>
              </a:ext>
            </a:extLst>
          </p:cNvPr>
          <p:cNvSpPr>
            <a:spLocks noGrp="1"/>
          </p:cNvSpPr>
          <p:nvPr/>
        </p:nvSpPr>
        <p:spPr>
          <a:xfrm>
            <a:off x="8572500" y="2952750"/>
            <a:ext cx="323850" cy="2000250"/>
          </a:xfrm>
          <a:prstGeom prst="roundRect">
            <a:avLst>
              <a:gd name="adj" fmla="val 23529"/>
            </a:avLst>
          </a:prstGeom>
          <a:solidFill>
            <a:srgbClr val="5AA6C8"/>
          </a:solidFill>
          <a:ln w="0">
            <a:noFill/>
            <a:prstDash val="solid"/>
          </a:ln>
        </p:spPr>
      </p:sp>
      <p:sp>
        <p:nvSpPr>
          <p:cNvPr id="7" name="spectrum-bar-4">
            <a:extLst>
              <a:ext uri="{FF2B5EF4-FFF2-40B4-BE49-F238E27FC236}">
                <a16:creationId xmlns:a16="http://schemas.microsoft.com/office/drawing/2014/main" id="{27483EF1-22DB-45EE-B4B7-022C6F600299}"/>
              </a:ext>
            </a:extLst>
          </p:cNvPr>
          <p:cNvSpPr>
            <a:spLocks noGrp="1"/>
          </p:cNvSpPr>
          <p:nvPr/>
        </p:nvSpPr>
        <p:spPr>
          <a:xfrm>
            <a:off x="9429750" y="3571875"/>
            <a:ext cx="323850" cy="1381125"/>
          </a:xfrm>
          <a:prstGeom prst="roundRect">
            <a:avLst>
              <a:gd name="adj" fmla="val 23529"/>
            </a:avLst>
          </a:prstGeom>
          <a:solidFill>
            <a:srgbClr val="3D617E"/>
          </a:solidFill>
          <a:ln w="0">
            <a:noFill/>
            <a:prstDash val="solid"/>
          </a:ln>
        </p:spPr>
      </p:sp>
      <p:sp>
        <p:nvSpPr>
          <p:cNvPr id="8" name="spectrum-bar-5">
            <a:extLst>
              <a:ext uri="{FF2B5EF4-FFF2-40B4-BE49-F238E27FC236}">
                <a16:creationId xmlns:a16="http://schemas.microsoft.com/office/drawing/2014/main" id="{3E12E1C5-D64C-4D3A-853E-C50F7A21A42C}"/>
              </a:ext>
            </a:extLst>
          </p:cNvPr>
          <p:cNvSpPr>
            <a:spLocks noGrp="1"/>
          </p:cNvSpPr>
          <p:nvPr/>
        </p:nvSpPr>
        <p:spPr>
          <a:xfrm>
            <a:off x="10287000" y="4143375"/>
            <a:ext cx="323850" cy="809625"/>
          </a:xfrm>
          <a:prstGeom prst="roundRect">
            <a:avLst>
              <a:gd name="adj" fmla="val 23529"/>
            </a:avLst>
          </a:prstGeom>
          <a:solidFill>
            <a:srgbClr val="3D617E"/>
          </a:solidFill>
          <a:ln w="0">
            <a:noFill/>
            <a:prstDash val="solid"/>
          </a:ln>
        </p:spPr>
      </p:sp>
      <p:sp>
        <p:nvSpPr>
          <p:cNvPr id="9" name="spectrum-bar-6">
            <a:extLst>
              <a:ext uri="{FF2B5EF4-FFF2-40B4-BE49-F238E27FC236}">
                <a16:creationId xmlns:a16="http://schemas.microsoft.com/office/drawing/2014/main" id="{7C68AF15-3C4F-4B77-B2AA-F281BFF8D143}"/>
              </a:ext>
            </a:extLst>
          </p:cNvPr>
          <p:cNvSpPr>
            <a:spLocks noGrp="1"/>
          </p:cNvSpPr>
          <p:nvPr/>
        </p:nvSpPr>
        <p:spPr>
          <a:xfrm>
            <a:off x="11144250" y="4619625"/>
            <a:ext cx="323850" cy="333375"/>
          </a:xfrm>
          <a:prstGeom prst="roundRect">
            <a:avLst>
              <a:gd name="adj" fmla="val 23529"/>
            </a:avLst>
          </a:prstGeom>
          <a:solidFill>
            <a:srgbClr val="3D617E"/>
          </a:solidFill>
          <a:ln w="0">
            <a:noFill/>
            <a:prstDash val="solid"/>
          </a:ln>
        </p:spPr>
      </p:sp>
      <p:sp>
        <p:nvSpPr>
          <p:cNvPr id="10" name="spectrum-axis">
            <a:extLst>
              <a:ext uri="{FF2B5EF4-FFF2-40B4-BE49-F238E27FC236}">
                <a16:creationId xmlns:a16="http://schemas.microsoft.com/office/drawing/2014/main" id="{92A9F8F7-F662-4927-B9D3-A5E0849B67D1}"/>
              </a:ext>
            </a:extLst>
          </p:cNvPr>
          <p:cNvSpPr>
            <a:spLocks noGrp="1"/>
          </p:cNvSpPr>
          <p:nvPr/>
        </p:nvSpPr>
        <p:spPr>
          <a:xfrm>
            <a:off x="6572250" y="4953000"/>
            <a:ext cx="4953000" cy="0"/>
          </a:xfrm>
          <a:prstGeom prst="line">
            <a:avLst/>
          </a:prstGeom>
          <a:noFill/>
          <a:ln w="19050">
            <a:solidFill>
              <a:srgbClr val="7896AA"/>
            </a:solidFill>
            <a:prstDash val="solid"/>
          </a:ln>
        </p:spPr>
      </p:sp>
      <p:sp>
        <p:nvSpPr>
          <p:cNvPr id="11" name="cover-sequence">
            <a:extLst>
              <a:ext uri="{FF2B5EF4-FFF2-40B4-BE49-F238E27FC236}">
                <a16:creationId xmlns:a16="http://schemas.microsoft.com/office/drawing/2014/main" id="{16633DA2-3436-417A-8E55-0E1921127B40}"/>
              </a:ext>
            </a:extLst>
          </p:cNvPr>
          <p:cNvSpPr>
            <a:spLocks noGrp="1"/>
          </p:cNvSpPr>
          <p:nvPr/>
        </p:nvSpPr>
        <p:spPr>
          <a:xfrm>
            <a:off x="6715125" y="5191125"/>
            <a:ext cx="476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ctr">
              <a:lnSpc>
                <a:spcPct val="102000"/>
              </a:lnSpc>
              <a:buNone/>
              <a:defRPr sz="1725" b="0" i="0">
                <a:solidFill>
                  <a:srgbClr val="DCE8EE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DCE8EE"/>
                </a:solidFill>
                <a:latin typeface="Calibri"/>
                <a:ea typeface="Calibri"/>
                <a:cs typeface="Calibri"/>
              </a:rPr>
              <a:t>tiempo → frecuencia → interpretación</a:t>
            </a:r>
          </a:p>
        </p:txBody>
      </p:sp>
      <p:sp>
        <p:nvSpPr>
          <p:cNvPr id="13" name="slide-alt-summary" descr="Forma temporal que se transforma en un espectro y conduce a las palabras señal, sistema y medición.">
            <a:extLst>
              <a:ext uri="{FF2B5EF4-FFF2-40B4-BE49-F238E27FC236}">
                <a16:creationId xmlns:a16="http://schemas.microsoft.com/office/drawing/2014/main" id="{8D8C1A6C-6320-6BAC-1B5C-3526E92B0DD2}"/>
              </a:ext>
            </a:extLst>
          </p:cNvPr>
          <p:cNvSpPr/>
          <p:nvPr/>
        </p:nvSpPr>
        <p:spPr>
          <a:xfrm>
            <a:off x="12700" y="12700"/>
            <a:ext cx="12700" cy="12700"/>
          </a:xfrm>
          <a:prstGeom prst="rect">
            <a:avLst/>
          </a:prstGeom>
          <a:noFill/>
          <a:ln w="19050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946631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yebrow">
            <a:extLst>
              <a:ext uri="{FF2B5EF4-FFF2-40B4-BE49-F238E27FC236}">
                <a16:creationId xmlns:a16="http://schemas.microsoft.com/office/drawing/2014/main" id="{A6F6C082-5C74-4CC4-AD77-1728D79BDEBB}"/>
              </a:ext>
            </a:extLst>
          </p:cNvPr>
          <p:cNvSpPr>
            <a:spLocks noGrp="1"/>
          </p:cNvSpPr>
          <p:nvPr/>
        </p:nvSpPr>
        <p:spPr>
          <a:xfrm>
            <a:off x="514350" y="2095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002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36509208-E4BE-4CD2-8DA8-C179359FA218}"/>
              </a:ext>
            </a:extLst>
          </p:cNvPr>
          <p:cNvSpPr>
            <a:spLocks noGrp="1"/>
          </p:cNvSpPr>
          <p:nvPr/>
        </p:nvSpPr>
        <p:spPr>
          <a:xfrm>
            <a:off x="495300" y="428625"/>
            <a:ext cx="11191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Dos señales tienen igual RMS: ¿son iguales?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9B846848-5FD8-4A43-8130-F1B0DA48BFA1}"/>
              </a:ext>
            </a:extLst>
          </p:cNvPr>
          <p:cNvSpPr>
            <a:spLocks noGrp="1"/>
          </p:cNvSpPr>
          <p:nvPr/>
        </p:nvSpPr>
        <p:spPr>
          <a:xfrm>
            <a:off x="523875" y="971550"/>
            <a:ext cx="11001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Un mismo descriptor global puede ocultar estructuras diferentes.</a:t>
            </a:r>
          </a:p>
        </p:txBody>
      </p:sp>
      <p:pic>
        <p:nvPicPr>
          <p:cNvPr id="10" name="Gráfico 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457200" y="1257300"/>
            <a:ext cx="11277600" cy="4686300"/>
          </a:xfrm>
          <a:prstGeom prst="rect">
            <a:avLst/>
          </a:prstGeom>
        </p:spPr>
      </p:pic>
      <p:sp>
        <p:nvSpPr>
          <p:cNvPr id="5" name="caption">
            <a:extLst>
              <a:ext uri="{FF2B5EF4-FFF2-40B4-BE49-F238E27FC236}">
                <a16:creationId xmlns:a16="http://schemas.microsoft.com/office/drawing/2014/main" id="{FFD193B0-C5A5-4645-B4CB-DAD51A6AEF51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876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Igual RMS, distinta evolución temporal.</a:t>
            </a:r>
          </a:p>
        </p:txBody>
      </p:sp>
      <p:sp>
        <p:nvSpPr>
          <p:cNvPr id="6" name="credit">
            <a:extLst>
              <a:ext uri="{FF2B5EF4-FFF2-40B4-BE49-F238E27FC236}">
                <a16:creationId xmlns:a16="http://schemas.microsoft.com/office/drawing/2014/main" id="{DD62331D-614A-4998-99BA-592BA56AF79A}"/>
              </a:ext>
            </a:extLst>
          </p:cNvPr>
          <p:cNvSpPr>
            <a:spLocks noGrp="1"/>
          </p:cNvSpPr>
          <p:nvPr/>
        </p:nvSpPr>
        <p:spPr>
          <a:xfrm>
            <a:off x="9382125" y="60769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PREV U04-109; BR; TEX 5.1.</a:t>
            </a:r>
          </a:p>
        </p:txBody>
      </p:sp>
      <p:sp>
        <p:nvSpPr>
          <p:cNvPr id="4" name="slide-alt-summary" descr="Dos gráficos temporales con igual RMS y formas diferentes.">
            <a:extLst>
              <a:ext uri="{FF2B5EF4-FFF2-40B4-BE49-F238E27FC236}">
                <a16:creationId xmlns:a16="http://schemas.microsoft.com/office/drawing/2014/main" id="{600E73AD-42A0-EFD9-C701-3C9831799093}"/>
              </a:ext>
            </a:extLst>
          </p:cNvPr>
          <p:cNvSpPr/>
          <p:nvPr/>
        </p:nvSpPr>
        <p:spPr>
          <a:xfrm>
            <a:off x="12700" y="12700"/>
            <a:ext cx="12700" cy="12700"/>
          </a:xfrm>
          <a:prstGeom prst="rect">
            <a:avLst/>
          </a:prstGeom>
          <a:noFill/>
          <a:ln w="19050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954492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eyebrow">
            <a:extLst>
              <a:ext uri="{FF2B5EF4-FFF2-40B4-BE49-F238E27FC236}">
                <a16:creationId xmlns:a16="http://schemas.microsoft.com/office/drawing/2014/main" id="{C8EFD1E3-6F29-4039-BE24-1FA182FA74B1}"/>
              </a:ext>
            </a:extLst>
          </p:cNvPr>
          <p:cNvSpPr>
            <a:spLocks noGrp="1"/>
          </p:cNvSpPr>
          <p:nvPr/>
        </p:nvSpPr>
        <p:spPr>
          <a:xfrm>
            <a:off x="514350" y="2095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003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FF9E1BC2-AC32-4587-AC57-B221B1ABB5BD}"/>
              </a:ext>
            </a:extLst>
          </p:cNvPr>
          <p:cNvSpPr>
            <a:spLocks noGrp="1"/>
          </p:cNvSpPr>
          <p:nvPr/>
        </p:nvSpPr>
        <p:spPr>
          <a:xfrm>
            <a:off x="495300" y="428625"/>
            <a:ext cx="11191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¿Qué representa cada gráfico?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A39D6E49-1107-4C19-9BCA-DD024ABBC475}"/>
              </a:ext>
            </a:extLst>
          </p:cNvPr>
          <p:cNvSpPr>
            <a:spLocks noGrp="1"/>
          </p:cNvSpPr>
          <p:nvPr/>
        </p:nvSpPr>
        <p:spPr>
          <a:xfrm>
            <a:off x="523875" y="971550"/>
            <a:ext cx="11001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Primero describimos; después interpretamos.</a:t>
            </a:r>
          </a:p>
        </p:txBody>
      </p:sp>
      <p:sp>
        <p:nvSpPr>
          <p:cNvPr id="4" name="U05-DG-002-read_object">
            <a:extLst>
              <a:ext uri="{FF2B5EF4-FFF2-40B4-BE49-F238E27FC236}">
                <a16:creationId xmlns:a16="http://schemas.microsoft.com/office/drawing/2014/main" id="{2F7750FB-69C1-4AFC-B5A6-925DC16F8E03}"/>
              </a:ext>
            </a:extLst>
          </p:cNvPr>
          <p:cNvSpPr>
            <a:spLocks noGrp="1"/>
          </p:cNvSpPr>
          <p:nvPr/>
        </p:nvSpPr>
        <p:spPr>
          <a:xfrm>
            <a:off x="857250" y="1476375"/>
            <a:ext cx="2857500" cy="1238250"/>
          </a:xfrm>
          <a:prstGeom prst="roundRect">
            <a:avLst>
              <a:gd name="adj" fmla="val 10769"/>
            </a:avLst>
          </a:prstGeom>
          <a:solidFill>
            <a:srgbClr val="EFF8FA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5" name="U05-DG-002-read_object-title">
            <a:extLst>
              <a:ext uri="{FF2B5EF4-FFF2-40B4-BE49-F238E27FC236}">
                <a16:creationId xmlns:a16="http://schemas.microsoft.com/office/drawing/2014/main" id="{C8666EA4-42C7-4A13-A147-81B38F939535}"/>
              </a:ext>
            </a:extLst>
          </p:cNvPr>
          <p:cNvSpPr>
            <a:spLocks noGrp="1"/>
          </p:cNvSpPr>
          <p:nvPr/>
        </p:nvSpPr>
        <p:spPr>
          <a:xfrm>
            <a:off x="1028700" y="1600200"/>
            <a:ext cx="25146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1 · Objeto</a:t>
            </a:r>
          </a:p>
        </p:txBody>
      </p:sp>
      <p:sp>
        <p:nvSpPr>
          <p:cNvPr id="6" name="U05-DG-002-read_object-body">
            <a:extLst>
              <a:ext uri="{FF2B5EF4-FFF2-40B4-BE49-F238E27FC236}">
                <a16:creationId xmlns:a16="http://schemas.microsoft.com/office/drawing/2014/main" id="{18A0ADC3-4ADF-4796-B78A-0DC9DFF14F03}"/>
              </a:ext>
            </a:extLst>
          </p:cNvPr>
          <p:cNvSpPr>
            <a:spLocks noGrp="1"/>
          </p:cNvSpPr>
          <p:nvPr/>
        </p:nvSpPr>
        <p:spPr>
          <a:xfrm>
            <a:off x="1028700" y="1971675"/>
            <a:ext cx="25146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¿señal o sistema?</a:t>
            </a:r>
          </a:p>
        </p:txBody>
      </p:sp>
      <p:sp>
        <p:nvSpPr>
          <p:cNvPr id="7" name="U05-DG-002-read_axes">
            <a:extLst>
              <a:ext uri="{FF2B5EF4-FFF2-40B4-BE49-F238E27FC236}">
                <a16:creationId xmlns:a16="http://schemas.microsoft.com/office/drawing/2014/main" id="{AFB3EC5C-90B6-477E-95E5-F1B22E885BEE}"/>
              </a:ext>
            </a:extLst>
          </p:cNvPr>
          <p:cNvSpPr>
            <a:spLocks noGrp="1"/>
          </p:cNvSpPr>
          <p:nvPr/>
        </p:nvSpPr>
        <p:spPr>
          <a:xfrm>
            <a:off x="4667250" y="1476375"/>
            <a:ext cx="2857500" cy="1238250"/>
          </a:xfrm>
          <a:prstGeom prst="roundRect">
            <a:avLst>
              <a:gd name="adj" fmla="val 10769"/>
            </a:avLst>
          </a:prstGeom>
          <a:solidFill>
            <a:srgbClr val="F3F6F8"/>
          </a:solidFill>
          <a:ln w="19050">
            <a:solidFill>
              <a:srgbClr val="8291A3"/>
            </a:solidFill>
            <a:prstDash val="solid"/>
          </a:ln>
        </p:spPr>
      </p:sp>
      <p:sp>
        <p:nvSpPr>
          <p:cNvPr id="8" name="U05-DG-002-read_axes-title">
            <a:extLst>
              <a:ext uri="{FF2B5EF4-FFF2-40B4-BE49-F238E27FC236}">
                <a16:creationId xmlns:a16="http://schemas.microsoft.com/office/drawing/2014/main" id="{41E42F4B-263C-48D4-9F81-1036679DBDCD}"/>
              </a:ext>
            </a:extLst>
          </p:cNvPr>
          <p:cNvSpPr>
            <a:spLocks noGrp="1"/>
          </p:cNvSpPr>
          <p:nvPr/>
        </p:nvSpPr>
        <p:spPr>
          <a:xfrm>
            <a:off x="4838700" y="1600200"/>
            <a:ext cx="25146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2 · Ejes</a:t>
            </a:r>
          </a:p>
        </p:txBody>
      </p:sp>
      <p:sp>
        <p:nvSpPr>
          <p:cNvPr id="9" name="U05-DG-002-read_axes-body">
            <a:extLst>
              <a:ext uri="{FF2B5EF4-FFF2-40B4-BE49-F238E27FC236}">
                <a16:creationId xmlns:a16="http://schemas.microsoft.com/office/drawing/2014/main" id="{279070B4-BA26-4524-95D1-280F74DDAA8F}"/>
              </a:ext>
            </a:extLst>
          </p:cNvPr>
          <p:cNvSpPr>
            <a:spLocks noGrp="1"/>
          </p:cNvSpPr>
          <p:nvPr/>
        </p:nvSpPr>
        <p:spPr>
          <a:xfrm>
            <a:off x="4838700" y="1971675"/>
            <a:ext cx="25146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t o f</a:t>
            </a:r>
          </a:p>
        </p:txBody>
      </p:sp>
      <p:sp>
        <p:nvSpPr>
          <p:cNvPr id="10" name="U05-DG-002-read_units">
            <a:extLst>
              <a:ext uri="{FF2B5EF4-FFF2-40B4-BE49-F238E27FC236}">
                <a16:creationId xmlns:a16="http://schemas.microsoft.com/office/drawing/2014/main" id="{153631C3-2270-40D8-9553-E75191CD4A3D}"/>
              </a:ext>
            </a:extLst>
          </p:cNvPr>
          <p:cNvSpPr>
            <a:spLocks noGrp="1"/>
          </p:cNvSpPr>
          <p:nvPr/>
        </p:nvSpPr>
        <p:spPr>
          <a:xfrm>
            <a:off x="8477250" y="1476375"/>
            <a:ext cx="2857500" cy="1238250"/>
          </a:xfrm>
          <a:prstGeom prst="roundRect">
            <a:avLst>
              <a:gd name="adj" fmla="val 10769"/>
            </a:avLst>
          </a:prstGeom>
          <a:solidFill>
            <a:srgbClr val="F3F6F8"/>
          </a:solidFill>
          <a:ln w="19050">
            <a:solidFill>
              <a:srgbClr val="8291A3"/>
            </a:solidFill>
            <a:prstDash val="solid"/>
          </a:ln>
        </p:spPr>
      </p:sp>
      <p:sp>
        <p:nvSpPr>
          <p:cNvPr id="11" name="U05-DG-002-read_units-title">
            <a:extLst>
              <a:ext uri="{FF2B5EF4-FFF2-40B4-BE49-F238E27FC236}">
                <a16:creationId xmlns:a16="http://schemas.microsoft.com/office/drawing/2014/main" id="{C8DBE6E6-0593-4423-AC8E-0572BB869971}"/>
              </a:ext>
            </a:extLst>
          </p:cNvPr>
          <p:cNvSpPr>
            <a:spLocks noGrp="1"/>
          </p:cNvSpPr>
          <p:nvPr/>
        </p:nvSpPr>
        <p:spPr>
          <a:xfrm>
            <a:off x="8648700" y="1600200"/>
            <a:ext cx="25146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3 · Unidades</a:t>
            </a:r>
          </a:p>
        </p:txBody>
      </p:sp>
      <p:sp>
        <p:nvSpPr>
          <p:cNvPr id="12" name="U05-DG-002-read_units-body">
            <a:extLst>
              <a:ext uri="{FF2B5EF4-FFF2-40B4-BE49-F238E27FC236}">
                <a16:creationId xmlns:a16="http://schemas.microsoft.com/office/drawing/2014/main" id="{ADFBC42F-446D-4CE2-9029-33B0C17399B7}"/>
              </a:ext>
            </a:extLst>
          </p:cNvPr>
          <p:cNvSpPr>
            <a:spLocks noGrp="1"/>
          </p:cNvSpPr>
          <p:nvPr/>
        </p:nvSpPr>
        <p:spPr>
          <a:xfrm>
            <a:off x="8648700" y="1971675"/>
            <a:ext cx="25146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s · Hz · Pa · dB</a:t>
            </a:r>
          </a:p>
        </p:txBody>
      </p:sp>
      <p:sp>
        <p:nvSpPr>
          <p:cNvPr id="13" name="U05-DG-002-read_conditions">
            <a:extLst>
              <a:ext uri="{FF2B5EF4-FFF2-40B4-BE49-F238E27FC236}">
                <a16:creationId xmlns:a16="http://schemas.microsoft.com/office/drawing/2014/main" id="{CC125A03-26F8-4B54-91A4-9EC158EA4863}"/>
              </a:ext>
            </a:extLst>
          </p:cNvPr>
          <p:cNvSpPr>
            <a:spLocks noGrp="1"/>
          </p:cNvSpPr>
          <p:nvPr/>
        </p:nvSpPr>
        <p:spPr>
          <a:xfrm>
            <a:off x="8477250" y="3714750"/>
            <a:ext cx="2857500" cy="1238250"/>
          </a:xfrm>
          <a:prstGeom prst="roundRect">
            <a:avLst>
              <a:gd name="adj" fmla="val 10769"/>
            </a:avLst>
          </a:prstGeom>
          <a:solidFill>
            <a:srgbClr val="DDEFF5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14" name="U05-DG-002-read_conditions-title">
            <a:extLst>
              <a:ext uri="{FF2B5EF4-FFF2-40B4-BE49-F238E27FC236}">
                <a16:creationId xmlns:a16="http://schemas.microsoft.com/office/drawing/2014/main" id="{F4EDF206-5438-4F7E-9CA7-B4F03CD106DA}"/>
              </a:ext>
            </a:extLst>
          </p:cNvPr>
          <p:cNvSpPr>
            <a:spLocks noGrp="1"/>
          </p:cNvSpPr>
          <p:nvPr/>
        </p:nvSpPr>
        <p:spPr>
          <a:xfrm>
            <a:off x="8648700" y="3838575"/>
            <a:ext cx="25146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4 · Condiciones</a:t>
            </a:r>
          </a:p>
        </p:txBody>
      </p:sp>
      <p:sp>
        <p:nvSpPr>
          <p:cNvPr id="15" name="U05-DG-002-read_conditions-body">
            <a:extLst>
              <a:ext uri="{FF2B5EF4-FFF2-40B4-BE49-F238E27FC236}">
                <a16:creationId xmlns:a16="http://schemas.microsoft.com/office/drawing/2014/main" id="{0276DADA-48D4-43C1-BE2A-4EA7E7FE80D2}"/>
              </a:ext>
            </a:extLst>
          </p:cNvPr>
          <p:cNvSpPr>
            <a:spLocks noGrp="1"/>
          </p:cNvSpPr>
          <p:nvPr/>
        </p:nvSpPr>
        <p:spPr>
          <a:xfrm>
            <a:off x="8648700" y="4210050"/>
            <a:ext cx="25146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ventana · ref.</a:t>
            </a:r>
          </a:p>
        </p:txBody>
      </p:sp>
      <p:sp>
        <p:nvSpPr>
          <p:cNvPr id="16" name="U05-DG-002-read_meaning">
            <a:extLst>
              <a:ext uri="{FF2B5EF4-FFF2-40B4-BE49-F238E27FC236}">
                <a16:creationId xmlns:a16="http://schemas.microsoft.com/office/drawing/2014/main" id="{31C5601E-A7D2-4822-975D-92CEB968AE55}"/>
              </a:ext>
            </a:extLst>
          </p:cNvPr>
          <p:cNvSpPr>
            <a:spLocks noGrp="1"/>
          </p:cNvSpPr>
          <p:nvPr/>
        </p:nvSpPr>
        <p:spPr>
          <a:xfrm>
            <a:off x="4667250" y="3714750"/>
            <a:ext cx="2857500" cy="1238250"/>
          </a:xfrm>
          <a:prstGeom prst="roundRect">
            <a:avLst>
              <a:gd name="adj" fmla="val 10769"/>
            </a:avLst>
          </a:prstGeom>
          <a:solidFill>
            <a:srgbClr val="E3F2ED"/>
          </a:solidFill>
          <a:ln w="19050">
            <a:solidFill>
              <a:srgbClr val="2D7867"/>
            </a:solidFill>
            <a:prstDash val="solid"/>
          </a:ln>
        </p:spPr>
      </p:sp>
      <p:sp>
        <p:nvSpPr>
          <p:cNvPr id="17" name="U05-DG-002-read_meaning-title">
            <a:extLst>
              <a:ext uri="{FF2B5EF4-FFF2-40B4-BE49-F238E27FC236}">
                <a16:creationId xmlns:a16="http://schemas.microsoft.com/office/drawing/2014/main" id="{DA28FB7E-4BBB-4B0A-AFD8-A6E42B751C97}"/>
              </a:ext>
            </a:extLst>
          </p:cNvPr>
          <p:cNvSpPr>
            <a:spLocks noGrp="1"/>
          </p:cNvSpPr>
          <p:nvPr/>
        </p:nvSpPr>
        <p:spPr>
          <a:xfrm>
            <a:off x="4838700" y="3838575"/>
            <a:ext cx="25146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5 · Interpretar</a:t>
            </a:r>
          </a:p>
        </p:txBody>
      </p:sp>
      <p:sp>
        <p:nvSpPr>
          <p:cNvPr id="18" name="U05-DG-002-read_meaning-body">
            <a:extLst>
              <a:ext uri="{FF2B5EF4-FFF2-40B4-BE49-F238E27FC236}">
                <a16:creationId xmlns:a16="http://schemas.microsoft.com/office/drawing/2014/main" id="{9FE7BF0B-84BF-4CFB-B4D6-6C39D3988565}"/>
              </a:ext>
            </a:extLst>
          </p:cNvPr>
          <p:cNvSpPr>
            <a:spLocks noGrp="1"/>
          </p:cNvSpPr>
          <p:nvPr/>
        </p:nvSpPr>
        <p:spPr>
          <a:xfrm>
            <a:off x="4838700" y="4210050"/>
            <a:ext cx="25146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alcance</a:t>
            </a:r>
          </a:p>
        </p:txBody>
      </p:sp>
      <p:cxnSp>
        <p:nvCxnSpPr>
          <p:cNvPr id="44" name="U05-DG-002-read_1"/>
          <p:cNvCxnSpPr>
            <a:stCxn id="4" idx="3"/>
            <a:endCxn id="7" idx="1"/>
          </p:cNvCxnSpPr>
          <p:nvPr/>
        </p:nvCxnSpPr>
        <p:spPr>
          <a:xfrm>
            <a:off x="3714750" y="2095500"/>
            <a:ext cx="952500" cy="0"/>
          </a:xfrm>
          <a:prstGeom prst="straightConnector1">
            <a:avLst/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cxnSp>
        <p:nvCxnSpPr>
          <p:cNvPr id="45" name="U05-DG-002-read_2"/>
          <p:cNvCxnSpPr>
            <a:stCxn id="7" idx="3"/>
            <a:endCxn id="10" idx="1"/>
          </p:cNvCxnSpPr>
          <p:nvPr/>
        </p:nvCxnSpPr>
        <p:spPr>
          <a:xfrm>
            <a:off x="7524750" y="2095500"/>
            <a:ext cx="952500" cy="0"/>
          </a:xfrm>
          <a:prstGeom prst="straightConnector1">
            <a:avLst/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cxnSp>
        <p:nvCxnSpPr>
          <p:cNvPr id="46" name="U05-DG-002-read_3"/>
          <p:cNvCxnSpPr>
            <a:stCxn id="10" idx="2"/>
            <a:endCxn id="13" idx="0"/>
          </p:cNvCxnSpPr>
          <p:nvPr/>
        </p:nvCxnSpPr>
        <p:spPr>
          <a:xfrm>
            <a:off x="9906000" y="2714625"/>
            <a:ext cx="0" cy="1000125"/>
          </a:xfrm>
          <a:prstGeom prst="straightConnector1">
            <a:avLst/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cxnSp>
        <p:nvCxnSpPr>
          <p:cNvPr id="47" name="U05-DG-002-read_4"/>
          <p:cNvCxnSpPr>
            <a:stCxn id="13" idx="1"/>
            <a:endCxn id="16" idx="3"/>
          </p:cNvCxnSpPr>
          <p:nvPr/>
        </p:nvCxnSpPr>
        <p:spPr>
          <a:xfrm flipH="1">
            <a:off x="7524750" y="4333875"/>
            <a:ext cx="952500" cy="0"/>
          </a:xfrm>
          <a:prstGeom prst="straightConnector1">
            <a:avLst/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sp>
        <p:nvSpPr>
          <p:cNvPr id="23" name="diagram-scale-note">
            <a:extLst>
              <a:ext uri="{FF2B5EF4-FFF2-40B4-BE49-F238E27FC236}">
                <a16:creationId xmlns:a16="http://schemas.microsoft.com/office/drawing/2014/main" id="{9C745573-17B8-4783-84D9-FA739A58787F}"/>
              </a:ext>
            </a:extLst>
          </p:cNvPr>
          <p:cNvSpPr>
            <a:spLocks noGrp="1"/>
          </p:cNvSpPr>
          <p:nvPr/>
        </p:nvSpPr>
        <p:spPr>
          <a:xfrm>
            <a:off x="552450" y="5829300"/>
            <a:ext cx="3905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05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Esquema conceptual · no está a escala</a:t>
            </a:r>
          </a:p>
        </p:txBody>
      </p:sp>
      <p:sp>
        <p:nvSpPr>
          <p:cNvPr id="24" name="caption">
            <a:extLst>
              <a:ext uri="{FF2B5EF4-FFF2-40B4-BE49-F238E27FC236}">
                <a16:creationId xmlns:a16="http://schemas.microsoft.com/office/drawing/2014/main" id="{1D744BCF-548A-4622-98D3-A85ACEF7B3B9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876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La apariencia no identifica por sí sola el objeto representado.</a:t>
            </a:r>
          </a:p>
        </p:txBody>
      </p:sp>
      <p:sp>
        <p:nvSpPr>
          <p:cNvPr id="25" name="credit">
            <a:extLst>
              <a:ext uri="{FF2B5EF4-FFF2-40B4-BE49-F238E27FC236}">
                <a16:creationId xmlns:a16="http://schemas.microsoft.com/office/drawing/2014/main" id="{33483ACF-7EBB-4E6D-9971-ECCD5A987D97}"/>
              </a:ext>
            </a:extLst>
          </p:cNvPr>
          <p:cNvSpPr>
            <a:spLocks noGrp="1"/>
          </p:cNvSpPr>
          <p:nvPr/>
        </p:nvSpPr>
        <p:spPr>
          <a:xfrm>
            <a:off x="9382125" y="60769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BR; CDM; EP.</a:t>
            </a:r>
          </a:p>
        </p:txBody>
      </p:sp>
      <p:sp>
        <p:nvSpPr>
          <p:cNvPr id="19" name="slide-alt-summary" descr="Cuatro mini gráficos para clasificar mediante una lista de lectura común.">
            <a:extLst>
              <a:ext uri="{FF2B5EF4-FFF2-40B4-BE49-F238E27FC236}">
                <a16:creationId xmlns:a16="http://schemas.microsoft.com/office/drawing/2014/main" id="{E06FBA88-F75B-1299-8CEE-7DFB20982CBE}"/>
              </a:ext>
            </a:extLst>
          </p:cNvPr>
          <p:cNvSpPr/>
          <p:nvPr/>
        </p:nvSpPr>
        <p:spPr>
          <a:xfrm>
            <a:off x="12700" y="12700"/>
            <a:ext cx="12700" cy="12700"/>
          </a:xfrm>
          <a:prstGeom prst="rect">
            <a:avLst/>
          </a:prstGeom>
          <a:noFill/>
          <a:ln w="19050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15463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eyebrow">
            <a:extLst>
              <a:ext uri="{FF2B5EF4-FFF2-40B4-BE49-F238E27FC236}">
                <a16:creationId xmlns:a16="http://schemas.microsoft.com/office/drawing/2014/main" id="{C0CF5C06-31ED-41B2-A139-861131584617}"/>
              </a:ext>
            </a:extLst>
          </p:cNvPr>
          <p:cNvSpPr>
            <a:spLocks noGrp="1"/>
          </p:cNvSpPr>
          <p:nvPr/>
        </p:nvSpPr>
        <p:spPr>
          <a:xfrm>
            <a:off x="514350" y="2095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004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313C174C-697F-44A7-9B4A-4525B338C29F}"/>
              </a:ext>
            </a:extLst>
          </p:cNvPr>
          <p:cNvSpPr>
            <a:spLocks noGrp="1"/>
          </p:cNvSpPr>
          <p:nvPr/>
        </p:nvSpPr>
        <p:spPr>
          <a:xfrm>
            <a:off x="495300" y="428625"/>
            <a:ext cx="11191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Lo que recuperamos de U3 y U4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42519AF6-270E-41A1-881D-382661356FD4}"/>
              </a:ext>
            </a:extLst>
          </p:cNvPr>
          <p:cNvSpPr>
            <a:spLocks noGrp="1"/>
          </p:cNvSpPr>
          <p:nvPr/>
        </p:nvSpPr>
        <p:spPr>
          <a:xfrm>
            <a:off x="523875" y="971550"/>
            <a:ext cx="11001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Dos caminos convergen en la señal compleja.</a:t>
            </a:r>
          </a:p>
        </p:txBody>
      </p:sp>
      <p:sp>
        <p:nvSpPr>
          <p:cNvPr id="4" name="U05-DG-002-read_object">
            <a:extLst>
              <a:ext uri="{FF2B5EF4-FFF2-40B4-BE49-F238E27FC236}">
                <a16:creationId xmlns:a16="http://schemas.microsoft.com/office/drawing/2014/main" id="{D585F853-555E-4B83-9EE0-3C1FDFEC9CC5}"/>
              </a:ext>
            </a:extLst>
          </p:cNvPr>
          <p:cNvSpPr>
            <a:spLocks noGrp="1"/>
          </p:cNvSpPr>
          <p:nvPr/>
        </p:nvSpPr>
        <p:spPr>
          <a:xfrm>
            <a:off x="857250" y="1476375"/>
            <a:ext cx="2857500" cy="1238250"/>
          </a:xfrm>
          <a:prstGeom prst="roundRect">
            <a:avLst>
              <a:gd name="adj" fmla="val 10769"/>
            </a:avLst>
          </a:prstGeom>
          <a:solidFill>
            <a:srgbClr val="EFF8FA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5" name="U05-DG-002-read_object-title">
            <a:extLst>
              <a:ext uri="{FF2B5EF4-FFF2-40B4-BE49-F238E27FC236}">
                <a16:creationId xmlns:a16="http://schemas.microsoft.com/office/drawing/2014/main" id="{E2B91F72-AFC8-4627-A5C2-87E42127A55F}"/>
              </a:ext>
            </a:extLst>
          </p:cNvPr>
          <p:cNvSpPr>
            <a:spLocks noGrp="1"/>
          </p:cNvSpPr>
          <p:nvPr/>
        </p:nvSpPr>
        <p:spPr>
          <a:xfrm>
            <a:off x="1028700" y="1600200"/>
            <a:ext cx="25146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1 · Objeto</a:t>
            </a:r>
          </a:p>
        </p:txBody>
      </p:sp>
      <p:sp>
        <p:nvSpPr>
          <p:cNvPr id="6" name="U05-DG-002-read_object-body">
            <a:extLst>
              <a:ext uri="{FF2B5EF4-FFF2-40B4-BE49-F238E27FC236}">
                <a16:creationId xmlns:a16="http://schemas.microsoft.com/office/drawing/2014/main" id="{50D32F7C-EB26-41E9-BF51-EF6D9B38AAD9}"/>
              </a:ext>
            </a:extLst>
          </p:cNvPr>
          <p:cNvSpPr>
            <a:spLocks noGrp="1"/>
          </p:cNvSpPr>
          <p:nvPr/>
        </p:nvSpPr>
        <p:spPr>
          <a:xfrm>
            <a:off x="1028700" y="1971675"/>
            <a:ext cx="25146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¿señal o sistema?</a:t>
            </a:r>
          </a:p>
        </p:txBody>
      </p:sp>
      <p:sp>
        <p:nvSpPr>
          <p:cNvPr id="7" name="U05-DG-002-read_axes">
            <a:extLst>
              <a:ext uri="{FF2B5EF4-FFF2-40B4-BE49-F238E27FC236}">
                <a16:creationId xmlns:a16="http://schemas.microsoft.com/office/drawing/2014/main" id="{3E909EFF-96D6-4C09-919B-3CF72F12B919}"/>
              </a:ext>
            </a:extLst>
          </p:cNvPr>
          <p:cNvSpPr>
            <a:spLocks noGrp="1"/>
          </p:cNvSpPr>
          <p:nvPr/>
        </p:nvSpPr>
        <p:spPr>
          <a:xfrm>
            <a:off x="4667250" y="1476375"/>
            <a:ext cx="2857500" cy="1238250"/>
          </a:xfrm>
          <a:prstGeom prst="roundRect">
            <a:avLst>
              <a:gd name="adj" fmla="val 10769"/>
            </a:avLst>
          </a:prstGeom>
          <a:solidFill>
            <a:srgbClr val="F3F6F8"/>
          </a:solidFill>
          <a:ln w="19050">
            <a:solidFill>
              <a:srgbClr val="8291A3"/>
            </a:solidFill>
            <a:prstDash val="solid"/>
          </a:ln>
        </p:spPr>
      </p:sp>
      <p:sp>
        <p:nvSpPr>
          <p:cNvPr id="8" name="U05-DG-002-read_axes-title">
            <a:extLst>
              <a:ext uri="{FF2B5EF4-FFF2-40B4-BE49-F238E27FC236}">
                <a16:creationId xmlns:a16="http://schemas.microsoft.com/office/drawing/2014/main" id="{E18C490C-7C2D-47FF-AFC8-5A633E859835}"/>
              </a:ext>
            </a:extLst>
          </p:cNvPr>
          <p:cNvSpPr>
            <a:spLocks noGrp="1"/>
          </p:cNvSpPr>
          <p:nvPr/>
        </p:nvSpPr>
        <p:spPr>
          <a:xfrm>
            <a:off x="4838700" y="1600200"/>
            <a:ext cx="25146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2 · Ejes</a:t>
            </a:r>
          </a:p>
        </p:txBody>
      </p:sp>
      <p:sp>
        <p:nvSpPr>
          <p:cNvPr id="9" name="U05-DG-002-read_axes-body">
            <a:extLst>
              <a:ext uri="{FF2B5EF4-FFF2-40B4-BE49-F238E27FC236}">
                <a16:creationId xmlns:a16="http://schemas.microsoft.com/office/drawing/2014/main" id="{16440CC0-5924-48A2-B6CA-DDA617A65D34}"/>
              </a:ext>
            </a:extLst>
          </p:cNvPr>
          <p:cNvSpPr>
            <a:spLocks noGrp="1"/>
          </p:cNvSpPr>
          <p:nvPr/>
        </p:nvSpPr>
        <p:spPr>
          <a:xfrm>
            <a:off x="4838700" y="1971675"/>
            <a:ext cx="25146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t o f</a:t>
            </a:r>
          </a:p>
        </p:txBody>
      </p:sp>
      <p:sp>
        <p:nvSpPr>
          <p:cNvPr id="10" name="U05-DG-002-read_units">
            <a:extLst>
              <a:ext uri="{FF2B5EF4-FFF2-40B4-BE49-F238E27FC236}">
                <a16:creationId xmlns:a16="http://schemas.microsoft.com/office/drawing/2014/main" id="{445A604D-4411-4C91-921A-07135421B127}"/>
              </a:ext>
            </a:extLst>
          </p:cNvPr>
          <p:cNvSpPr>
            <a:spLocks noGrp="1"/>
          </p:cNvSpPr>
          <p:nvPr/>
        </p:nvSpPr>
        <p:spPr>
          <a:xfrm>
            <a:off x="8477250" y="1476375"/>
            <a:ext cx="2857500" cy="1238250"/>
          </a:xfrm>
          <a:prstGeom prst="roundRect">
            <a:avLst>
              <a:gd name="adj" fmla="val 10769"/>
            </a:avLst>
          </a:prstGeom>
          <a:solidFill>
            <a:srgbClr val="F3F6F8"/>
          </a:solidFill>
          <a:ln w="19050">
            <a:solidFill>
              <a:srgbClr val="8291A3"/>
            </a:solidFill>
            <a:prstDash val="solid"/>
          </a:ln>
        </p:spPr>
      </p:sp>
      <p:sp>
        <p:nvSpPr>
          <p:cNvPr id="11" name="U05-DG-002-read_units-title">
            <a:extLst>
              <a:ext uri="{FF2B5EF4-FFF2-40B4-BE49-F238E27FC236}">
                <a16:creationId xmlns:a16="http://schemas.microsoft.com/office/drawing/2014/main" id="{606E8B0B-0313-43F1-97B6-931084615E1F}"/>
              </a:ext>
            </a:extLst>
          </p:cNvPr>
          <p:cNvSpPr>
            <a:spLocks noGrp="1"/>
          </p:cNvSpPr>
          <p:nvPr/>
        </p:nvSpPr>
        <p:spPr>
          <a:xfrm>
            <a:off x="8648700" y="1600200"/>
            <a:ext cx="25146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3 · Unidades</a:t>
            </a:r>
          </a:p>
        </p:txBody>
      </p:sp>
      <p:sp>
        <p:nvSpPr>
          <p:cNvPr id="12" name="U05-DG-002-read_units-body">
            <a:extLst>
              <a:ext uri="{FF2B5EF4-FFF2-40B4-BE49-F238E27FC236}">
                <a16:creationId xmlns:a16="http://schemas.microsoft.com/office/drawing/2014/main" id="{BF1FBCC5-1A1B-4399-BC00-CBE8F6156A0B}"/>
              </a:ext>
            </a:extLst>
          </p:cNvPr>
          <p:cNvSpPr>
            <a:spLocks noGrp="1"/>
          </p:cNvSpPr>
          <p:nvPr/>
        </p:nvSpPr>
        <p:spPr>
          <a:xfrm>
            <a:off x="8648700" y="1971675"/>
            <a:ext cx="25146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s · Hz · Pa · dB</a:t>
            </a:r>
          </a:p>
        </p:txBody>
      </p:sp>
      <p:sp>
        <p:nvSpPr>
          <p:cNvPr id="13" name="U05-DG-002-read_conditions">
            <a:extLst>
              <a:ext uri="{FF2B5EF4-FFF2-40B4-BE49-F238E27FC236}">
                <a16:creationId xmlns:a16="http://schemas.microsoft.com/office/drawing/2014/main" id="{BCB5317D-24CD-4299-A5C0-A0562368E816}"/>
              </a:ext>
            </a:extLst>
          </p:cNvPr>
          <p:cNvSpPr>
            <a:spLocks noGrp="1"/>
          </p:cNvSpPr>
          <p:nvPr/>
        </p:nvSpPr>
        <p:spPr>
          <a:xfrm>
            <a:off x="8477250" y="3714750"/>
            <a:ext cx="2857500" cy="1238250"/>
          </a:xfrm>
          <a:prstGeom prst="roundRect">
            <a:avLst>
              <a:gd name="adj" fmla="val 10769"/>
            </a:avLst>
          </a:prstGeom>
          <a:solidFill>
            <a:srgbClr val="DDEFF5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14" name="U05-DG-002-read_conditions-title">
            <a:extLst>
              <a:ext uri="{FF2B5EF4-FFF2-40B4-BE49-F238E27FC236}">
                <a16:creationId xmlns:a16="http://schemas.microsoft.com/office/drawing/2014/main" id="{E4DD57B6-2D1A-475E-AC50-72D9A2838A86}"/>
              </a:ext>
            </a:extLst>
          </p:cNvPr>
          <p:cNvSpPr>
            <a:spLocks noGrp="1"/>
          </p:cNvSpPr>
          <p:nvPr/>
        </p:nvSpPr>
        <p:spPr>
          <a:xfrm>
            <a:off x="8648700" y="3838575"/>
            <a:ext cx="25146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4 · Condiciones</a:t>
            </a:r>
          </a:p>
        </p:txBody>
      </p:sp>
      <p:sp>
        <p:nvSpPr>
          <p:cNvPr id="15" name="U05-DG-002-read_conditions-body">
            <a:extLst>
              <a:ext uri="{FF2B5EF4-FFF2-40B4-BE49-F238E27FC236}">
                <a16:creationId xmlns:a16="http://schemas.microsoft.com/office/drawing/2014/main" id="{736BF143-5093-4669-8438-78D61F7C1600}"/>
              </a:ext>
            </a:extLst>
          </p:cNvPr>
          <p:cNvSpPr>
            <a:spLocks noGrp="1"/>
          </p:cNvSpPr>
          <p:nvPr/>
        </p:nvSpPr>
        <p:spPr>
          <a:xfrm>
            <a:off x="8648700" y="4210050"/>
            <a:ext cx="25146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ventana · ref.</a:t>
            </a:r>
          </a:p>
        </p:txBody>
      </p:sp>
      <p:sp>
        <p:nvSpPr>
          <p:cNvPr id="16" name="U05-DG-002-read_meaning">
            <a:extLst>
              <a:ext uri="{FF2B5EF4-FFF2-40B4-BE49-F238E27FC236}">
                <a16:creationId xmlns:a16="http://schemas.microsoft.com/office/drawing/2014/main" id="{10DA1EE9-222D-4C7B-BA75-C4690AD2AA74}"/>
              </a:ext>
            </a:extLst>
          </p:cNvPr>
          <p:cNvSpPr>
            <a:spLocks noGrp="1"/>
          </p:cNvSpPr>
          <p:nvPr/>
        </p:nvSpPr>
        <p:spPr>
          <a:xfrm>
            <a:off x="4667250" y="3714750"/>
            <a:ext cx="2857500" cy="1238250"/>
          </a:xfrm>
          <a:prstGeom prst="roundRect">
            <a:avLst>
              <a:gd name="adj" fmla="val 10769"/>
            </a:avLst>
          </a:prstGeom>
          <a:solidFill>
            <a:srgbClr val="E3F2ED"/>
          </a:solidFill>
          <a:ln w="19050">
            <a:solidFill>
              <a:srgbClr val="2D7867"/>
            </a:solidFill>
            <a:prstDash val="solid"/>
          </a:ln>
        </p:spPr>
      </p:sp>
      <p:sp>
        <p:nvSpPr>
          <p:cNvPr id="17" name="U05-DG-002-read_meaning-title">
            <a:extLst>
              <a:ext uri="{FF2B5EF4-FFF2-40B4-BE49-F238E27FC236}">
                <a16:creationId xmlns:a16="http://schemas.microsoft.com/office/drawing/2014/main" id="{38130C7B-11F1-4D46-8FB7-B3F98FEBF3F9}"/>
              </a:ext>
            </a:extLst>
          </p:cNvPr>
          <p:cNvSpPr>
            <a:spLocks noGrp="1"/>
          </p:cNvSpPr>
          <p:nvPr/>
        </p:nvSpPr>
        <p:spPr>
          <a:xfrm>
            <a:off x="4838700" y="3838575"/>
            <a:ext cx="25146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5 · Interpretar</a:t>
            </a:r>
          </a:p>
        </p:txBody>
      </p:sp>
      <p:sp>
        <p:nvSpPr>
          <p:cNvPr id="18" name="U05-DG-002-read_meaning-body">
            <a:extLst>
              <a:ext uri="{FF2B5EF4-FFF2-40B4-BE49-F238E27FC236}">
                <a16:creationId xmlns:a16="http://schemas.microsoft.com/office/drawing/2014/main" id="{8205A7FD-123B-491F-9361-DD24B6C91A8D}"/>
              </a:ext>
            </a:extLst>
          </p:cNvPr>
          <p:cNvSpPr>
            <a:spLocks noGrp="1"/>
          </p:cNvSpPr>
          <p:nvPr/>
        </p:nvSpPr>
        <p:spPr>
          <a:xfrm>
            <a:off x="4838700" y="4210050"/>
            <a:ext cx="25146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alcance</a:t>
            </a:r>
          </a:p>
        </p:txBody>
      </p:sp>
      <p:cxnSp>
        <p:nvCxnSpPr>
          <p:cNvPr id="44" name="U05-DG-002-read_1"/>
          <p:cNvCxnSpPr>
            <a:stCxn id="4" idx="3"/>
            <a:endCxn id="7" idx="1"/>
          </p:cNvCxnSpPr>
          <p:nvPr/>
        </p:nvCxnSpPr>
        <p:spPr>
          <a:xfrm>
            <a:off x="3714750" y="2095500"/>
            <a:ext cx="952500" cy="0"/>
          </a:xfrm>
          <a:prstGeom prst="straightConnector1">
            <a:avLst/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cxnSp>
        <p:nvCxnSpPr>
          <p:cNvPr id="45" name="U05-DG-002-read_2"/>
          <p:cNvCxnSpPr>
            <a:stCxn id="7" idx="3"/>
            <a:endCxn id="10" idx="1"/>
          </p:cNvCxnSpPr>
          <p:nvPr/>
        </p:nvCxnSpPr>
        <p:spPr>
          <a:xfrm>
            <a:off x="7524750" y="2095500"/>
            <a:ext cx="952500" cy="0"/>
          </a:xfrm>
          <a:prstGeom prst="straightConnector1">
            <a:avLst/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cxnSp>
        <p:nvCxnSpPr>
          <p:cNvPr id="46" name="U05-DG-002-read_3"/>
          <p:cNvCxnSpPr>
            <a:stCxn id="10" idx="2"/>
            <a:endCxn id="13" idx="0"/>
          </p:cNvCxnSpPr>
          <p:nvPr/>
        </p:nvCxnSpPr>
        <p:spPr>
          <a:xfrm>
            <a:off x="9906000" y="2714625"/>
            <a:ext cx="0" cy="1000125"/>
          </a:xfrm>
          <a:prstGeom prst="straightConnector1">
            <a:avLst/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cxnSp>
        <p:nvCxnSpPr>
          <p:cNvPr id="47" name="U05-DG-002-read_4"/>
          <p:cNvCxnSpPr>
            <a:stCxn id="13" idx="1"/>
            <a:endCxn id="16" idx="3"/>
          </p:cNvCxnSpPr>
          <p:nvPr/>
        </p:nvCxnSpPr>
        <p:spPr>
          <a:xfrm flipH="1">
            <a:off x="7524750" y="4333875"/>
            <a:ext cx="952500" cy="0"/>
          </a:xfrm>
          <a:prstGeom prst="straightConnector1">
            <a:avLst/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sp>
        <p:nvSpPr>
          <p:cNvPr id="23" name="diagram-scale-note">
            <a:extLst>
              <a:ext uri="{FF2B5EF4-FFF2-40B4-BE49-F238E27FC236}">
                <a16:creationId xmlns:a16="http://schemas.microsoft.com/office/drawing/2014/main" id="{57EA5B13-15D3-4010-94E0-92E996375AA6}"/>
              </a:ext>
            </a:extLst>
          </p:cNvPr>
          <p:cNvSpPr>
            <a:spLocks noGrp="1"/>
          </p:cNvSpPr>
          <p:nvPr/>
        </p:nvSpPr>
        <p:spPr>
          <a:xfrm>
            <a:off x="552450" y="5829300"/>
            <a:ext cx="3905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05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Esquema conceptual · no está a escala</a:t>
            </a:r>
          </a:p>
        </p:txBody>
      </p:sp>
      <p:sp>
        <p:nvSpPr>
          <p:cNvPr id="24" name="caption">
            <a:extLst>
              <a:ext uri="{FF2B5EF4-FFF2-40B4-BE49-F238E27FC236}">
                <a16:creationId xmlns:a16="http://schemas.microsoft.com/office/drawing/2014/main" id="{7916A46C-15AF-4355-8CEA-DDD1EA0E6867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876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Conocimientos previos necesarios para analizar frecuencia.</a:t>
            </a:r>
          </a:p>
        </p:txBody>
      </p:sp>
      <p:sp>
        <p:nvSpPr>
          <p:cNvPr id="25" name="credit">
            <a:extLst>
              <a:ext uri="{FF2B5EF4-FFF2-40B4-BE49-F238E27FC236}">
                <a16:creationId xmlns:a16="http://schemas.microsoft.com/office/drawing/2014/main" id="{0B5C5436-C789-4E8D-8E57-3E26815E17AC}"/>
              </a:ext>
            </a:extLst>
          </p:cNvPr>
          <p:cNvSpPr>
            <a:spLocks noGrp="1"/>
          </p:cNvSpPr>
          <p:nvPr/>
        </p:nvSpPr>
        <p:spPr>
          <a:xfrm>
            <a:off x="9382125" y="60769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5.2; BR; NOT.</a:t>
            </a:r>
          </a:p>
        </p:txBody>
      </p:sp>
      <p:sp>
        <p:nvSpPr>
          <p:cNvPr id="19" name="slide-alt-summary" descr="Dos columnas de conceptos previos que convergen en señal compleja.">
            <a:extLst>
              <a:ext uri="{FF2B5EF4-FFF2-40B4-BE49-F238E27FC236}">
                <a16:creationId xmlns:a16="http://schemas.microsoft.com/office/drawing/2014/main" id="{B337E8ED-D120-32B2-91A9-2B51A3FDDC3D}"/>
              </a:ext>
            </a:extLst>
          </p:cNvPr>
          <p:cNvSpPr/>
          <p:nvPr/>
        </p:nvSpPr>
        <p:spPr>
          <a:xfrm>
            <a:off x="12700" y="12700"/>
            <a:ext cx="12700" cy="12700"/>
          </a:xfrm>
          <a:prstGeom prst="rect">
            <a:avLst/>
          </a:prstGeom>
          <a:noFill/>
          <a:ln w="19050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335951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yebrow">
            <a:extLst>
              <a:ext uri="{FF2B5EF4-FFF2-40B4-BE49-F238E27FC236}">
                <a16:creationId xmlns:a16="http://schemas.microsoft.com/office/drawing/2014/main" id="{126BD8D9-32DB-4F80-AA12-9538014BC5E7}"/>
              </a:ext>
            </a:extLst>
          </p:cNvPr>
          <p:cNvSpPr>
            <a:spLocks noGrp="1"/>
          </p:cNvSpPr>
          <p:nvPr/>
        </p:nvSpPr>
        <p:spPr>
          <a:xfrm>
            <a:off x="514350" y="2095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005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7371E3E8-AE0F-44B5-B548-1BD1A5822B63}"/>
              </a:ext>
            </a:extLst>
          </p:cNvPr>
          <p:cNvSpPr>
            <a:spLocks noGrp="1"/>
          </p:cNvSpPr>
          <p:nvPr/>
        </p:nvSpPr>
        <p:spPr>
          <a:xfrm>
            <a:off x="495300" y="428625"/>
            <a:ext cx="11191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Qué podremos interpretar, calcular y explicar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32CD4DB4-C7BE-48AE-8D3D-113E421F91D0}"/>
              </a:ext>
            </a:extLst>
          </p:cNvPr>
          <p:cNvSpPr>
            <a:spLocks noGrp="1"/>
          </p:cNvSpPr>
          <p:nvPr/>
        </p:nvSpPr>
        <p:spPr>
          <a:xfrm>
            <a:off x="523875" y="971550"/>
            <a:ext cx="11001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Ocho resultados observables.</a:t>
            </a:r>
          </a:p>
        </p:txBody>
      </p:sp>
      <p:sp>
        <p:nvSpPr>
          <p:cNvPr id="4" name="main-ideas">
            <a:extLst>
              <a:ext uri="{FF2B5EF4-FFF2-40B4-BE49-F238E27FC236}">
                <a16:creationId xmlns:a16="http://schemas.microsoft.com/office/drawing/2014/main" id="{D8B06B2D-0D8C-46FA-A1C3-598ACF2A6CEA}"/>
              </a:ext>
            </a:extLst>
          </p:cNvPr>
          <p:cNvSpPr>
            <a:spLocks noGrp="1"/>
          </p:cNvSpPr>
          <p:nvPr/>
        </p:nvSpPr>
        <p:spPr>
          <a:xfrm>
            <a:off x="666750" y="1476375"/>
            <a:ext cx="6762750" cy="3857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76200" rIns="76200" bIns="76200">
            <a:noAutofit/>
          </a:bodyPr>
          <a:lstStyle/>
          <a:p>
            <a:pPr marL="26" indent="-14">
              <a:lnSpc>
                <a:spcPct val="104000"/>
              </a:lnSpc>
              <a:spcAft>
                <a:spcPts val="10"/>
              </a:spcAft>
              <a:buNone/>
              <a:defRPr sz="195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95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Interpretar tiempo, frecuencia y fase.</a:t>
            </a:r>
          </a:p>
          <a:p>
            <a:pPr marL="26" indent="-14">
              <a:lnSpc>
                <a:spcPct val="104000"/>
              </a:lnSpc>
              <a:spcAft>
                <a:spcPts val="10"/>
              </a:spcAft>
              <a:buNone/>
              <a:defRPr sz="195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95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Distinguir serie, transformada, DFT y FFT.</a:t>
            </a:r>
          </a:p>
          <a:p>
            <a:pPr marL="26" indent="-14">
              <a:lnSpc>
                <a:spcPct val="104000"/>
              </a:lnSpc>
              <a:spcAft>
                <a:spcPts val="10"/>
              </a:spcAft>
              <a:buNone/>
              <a:defRPr sz="195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95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Calcular f_0, T_obs y Δf.</a:t>
            </a:r>
          </a:p>
          <a:p>
            <a:pPr marL="26" indent="-14">
              <a:lnSpc>
                <a:spcPct val="104000"/>
              </a:lnSpc>
              <a:spcAft>
                <a:spcPts val="10"/>
              </a:spcAft>
              <a:buNone/>
              <a:defRPr sz="195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95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Separar señal y sistema.</a:t>
            </a:r>
          </a:p>
          <a:p>
            <a:pPr marL="26" indent="-14">
              <a:lnSpc>
                <a:spcPct val="104000"/>
              </a:lnSpc>
              <a:spcAft>
                <a:spcPts val="10"/>
              </a:spcAft>
              <a:buNone/>
              <a:defRPr sz="195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95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Nombrar componentes.</a:t>
            </a:r>
          </a:p>
          <a:p>
            <a:pPr marL="26" indent="-14">
              <a:lnSpc>
                <a:spcPct val="104000"/>
              </a:lnSpc>
              <a:spcAft>
                <a:spcPts val="10"/>
              </a:spcAft>
              <a:buNone/>
              <a:defRPr sz="195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95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Interpretar rangos. Calcular bandas y reconocer filtros. Leer ponderaciones y sonometría.</a:t>
            </a:r>
          </a:p>
        </p:txBody>
      </p:sp>
      <p:sp>
        <p:nvSpPr>
          <p:cNvPr id="5" name="side-panel-box">
            <a:extLst>
              <a:ext uri="{FF2B5EF4-FFF2-40B4-BE49-F238E27FC236}">
                <a16:creationId xmlns:a16="http://schemas.microsoft.com/office/drawing/2014/main" id="{245FC587-4C6C-4E13-8AFB-02A92A268FE1}"/>
              </a:ext>
            </a:extLst>
          </p:cNvPr>
          <p:cNvSpPr>
            <a:spLocks noGrp="1"/>
          </p:cNvSpPr>
          <p:nvPr/>
        </p:nvSpPr>
        <p:spPr>
          <a:xfrm>
            <a:off x="7953375" y="1571625"/>
            <a:ext cx="3476625" cy="3381375"/>
          </a:xfrm>
          <a:prstGeom prst="roundRect">
            <a:avLst>
              <a:gd name="adj" fmla="val 3944"/>
            </a:avLst>
          </a:prstGeom>
          <a:solidFill>
            <a:srgbClr val="DDEFF5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6" name="side-panel-title">
            <a:extLst>
              <a:ext uri="{FF2B5EF4-FFF2-40B4-BE49-F238E27FC236}">
                <a16:creationId xmlns:a16="http://schemas.microsoft.com/office/drawing/2014/main" id="{66764153-8351-4473-B0CF-E18DEDC79F77}"/>
              </a:ext>
            </a:extLst>
          </p:cNvPr>
          <p:cNvSpPr>
            <a:spLocks noGrp="1"/>
          </p:cNvSpPr>
          <p:nvPr/>
        </p:nvSpPr>
        <p:spPr>
          <a:xfrm>
            <a:off x="8124825" y="1704975"/>
            <a:ext cx="31337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Idea central</a:t>
            </a:r>
          </a:p>
        </p:txBody>
      </p:sp>
      <p:sp>
        <p:nvSpPr>
          <p:cNvPr id="7" name="side-panel-body">
            <a:extLst>
              <a:ext uri="{FF2B5EF4-FFF2-40B4-BE49-F238E27FC236}">
                <a16:creationId xmlns:a16="http://schemas.microsoft.com/office/drawing/2014/main" id="{8C294E4C-4000-4D1D-9F9F-A7FFAC1B0897}"/>
              </a:ext>
            </a:extLst>
          </p:cNvPr>
          <p:cNvSpPr>
            <a:spLocks noGrp="1"/>
          </p:cNvSpPr>
          <p:nvPr/>
        </p:nvSpPr>
        <p:spPr>
          <a:xfrm>
            <a:off x="8124825" y="2085975"/>
            <a:ext cx="3133725" cy="2733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Ocho resultados observables.</a:t>
            </a:r>
          </a:p>
        </p:txBody>
      </p:sp>
      <p:sp>
        <p:nvSpPr>
          <p:cNvPr id="8" name="caption">
            <a:extLst>
              <a:ext uri="{FF2B5EF4-FFF2-40B4-BE49-F238E27FC236}">
                <a16:creationId xmlns:a16="http://schemas.microsoft.com/office/drawing/2014/main" id="{C87C5749-5FB0-42BC-A307-0E8FE38C778E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876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Las metas se comprobarán nuevamente al cierre.</a:t>
            </a:r>
          </a:p>
        </p:txBody>
      </p:sp>
      <p:sp>
        <p:nvSpPr>
          <p:cNvPr id="9" name="credit">
            <a:extLst>
              <a:ext uri="{FF2B5EF4-FFF2-40B4-BE49-F238E27FC236}">
                <a16:creationId xmlns:a16="http://schemas.microsoft.com/office/drawing/2014/main" id="{D048BB31-7C7C-4264-87BC-D5757C229136}"/>
              </a:ext>
            </a:extLst>
          </p:cNvPr>
          <p:cNvSpPr>
            <a:spLocks noGrp="1"/>
          </p:cNvSpPr>
          <p:nvPr/>
        </p:nvSpPr>
        <p:spPr>
          <a:xfrm>
            <a:off x="9382125" y="60769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BR objetivos; CM.</a:t>
            </a:r>
          </a:p>
        </p:txBody>
      </p:sp>
      <p:sp>
        <p:nvSpPr>
          <p:cNvPr id="11" name="slide-alt-summary" descr="Ocho objetivos agrupados en cuatro pares temáticos.">
            <a:extLst>
              <a:ext uri="{FF2B5EF4-FFF2-40B4-BE49-F238E27FC236}">
                <a16:creationId xmlns:a16="http://schemas.microsoft.com/office/drawing/2014/main" id="{4A9B318D-DFF5-C714-9CC9-3CC6BF4FA839}"/>
              </a:ext>
            </a:extLst>
          </p:cNvPr>
          <p:cNvSpPr/>
          <p:nvPr/>
        </p:nvSpPr>
        <p:spPr>
          <a:xfrm>
            <a:off x="12700" y="12700"/>
            <a:ext cx="12700" cy="12700"/>
          </a:xfrm>
          <a:prstGeom prst="rect">
            <a:avLst/>
          </a:prstGeom>
          <a:noFill/>
          <a:ln w="19050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619184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yebrow">
            <a:extLst>
              <a:ext uri="{FF2B5EF4-FFF2-40B4-BE49-F238E27FC236}">
                <a16:creationId xmlns:a16="http://schemas.microsoft.com/office/drawing/2014/main" id="{589FBB5A-A496-4E0F-9057-647B2121FBF5}"/>
              </a:ext>
            </a:extLst>
          </p:cNvPr>
          <p:cNvSpPr>
            <a:spLocks noGrp="1"/>
          </p:cNvSpPr>
          <p:nvPr/>
        </p:nvSpPr>
        <p:spPr>
          <a:xfrm>
            <a:off x="514350" y="2095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006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9C3F48F2-86A3-4988-8B98-F1F548D8E06F}"/>
              </a:ext>
            </a:extLst>
          </p:cNvPr>
          <p:cNvSpPr>
            <a:spLocks noGrp="1"/>
          </p:cNvSpPr>
          <p:nvPr/>
        </p:nvSpPr>
        <p:spPr>
          <a:xfrm>
            <a:off x="495300" y="428625"/>
            <a:ext cx="11191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Mapa de la unidad: de la señal a la decisión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F5626CC-60C9-40AC-BFF7-683F46170237}"/>
              </a:ext>
            </a:extLst>
          </p:cNvPr>
          <p:cNvSpPr>
            <a:spLocks noGrp="1"/>
          </p:cNvSpPr>
          <p:nvPr/>
        </p:nvSpPr>
        <p:spPr>
          <a:xfrm>
            <a:off x="523875" y="971550"/>
            <a:ext cx="11001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Cuatro tramos, una rutina de lectura.</a:t>
            </a:r>
          </a:p>
        </p:txBody>
      </p:sp>
      <p:sp>
        <p:nvSpPr>
          <p:cNvPr id="4" name="U05-DG-001-stage_signal">
            <a:extLst>
              <a:ext uri="{FF2B5EF4-FFF2-40B4-BE49-F238E27FC236}">
                <a16:creationId xmlns:a16="http://schemas.microsoft.com/office/drawing/2014/main" id="{0BB21ED7-4697-43EC-8A08-209387DE5EB4}"/>
              </a:ext>
            </a:extLst>
          </p:cNvPr>
          <p:cNvSpPr>
            <a:spLocks noGrp="1"/>
          </p:cNvSpPr>
          <p:nvPr/>
        </p:nvSpPr>
        <p:spPr>
          <a:xfrm>
            <a:off x="762000" y="2381250"/>
            <a:ext cx="2333625" cy="1428750"/>
          </a:xfrm>
          <a:prstGeom prst="roundRect">
            <a:avLst>
              <a:gd name="adj" fmla="val 9333"/>
            </a:avLst>
          </a:prstGeom>
          <a:solidFill>
            <a:srgbClr val="EFF8FA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5" name="U05-DG-001-stage_signal-title">
            <a:extLst>
              <a:ext uri="{FF2B5EF4-FFF2-40B4-BE49-F238E27FC236}">
                <a16:creationId xmlns:a16="http://schemas.microsoft.com/office/drawing/2014/main" id="{7F7B06A6-CE79-466C-8594-0C98465F55C2}"/>
              </a:ext>
            </a:extLst>
          </p:cNvPr>
          <p:cNvSpPr>
            <a:spLocks noGrp="1"/>
          </p:cNvSpPr>
          <p:nvPr/>
        </p:nvSpPr>
        <p:spPr>
          <a:xfrm>
            <a:off x="933450" y="2505075"/>
            <a:ext cx="199072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1 · Señal</a:t>
            </a:r>
          </a:p>
        </p:txBody>
      </p:sp>
      <p:sp>
        <p:nvSpPr>
          <p:cNvPr id="6" name="U05-DG-001-stage_signal-body">
            <a:extLst>
              <a:ext uri="{FF2B5EF4-FFF2-40B4-BE49-F238E27FC236}">
                <a16:creationId xmlns:a16="http://schemas.microsoft.com/office/drawing/2014/main" id="{6C14ACBC-85CC-471A-BBE0-4E339ADDA4E5}"/>
              </a:ext>
            </a:extLst>
          </p:cNvPr>
          <p:cNvSpPr>
            <a:spLocks noGrp="1"/>
          </p:cNvSpPr>
          <p:nvPr/>
        </p:nvSpPr>
        <p:spPr>
          <a:xfrm>
            <a:off x="933450" y="2933700"/>
            <a:ext cx="1990725" cy="752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tiempo · RMS</a:t>
            </a:r>
          </a:p>
        </p:txBody>
      </p:sp>
      <p:sp>
        <p:nvSpPr>
          <p:cNvPr id="7" name="U05-DG-001-stage_repr">
            <a:extLst>
              <a:ext uri="{FF2B5EF4-FFF2-40B4-BE49-F238E27FC236}">
                <a16:creationId xmlns:a16="http://schemas.microsoft.com/office/drawing/2014/main" id="{014C9022-FFAA-444A-B617-99515979E19F}"/>
              </a:ext>
            </a:extLst>
          </p:cNvPr>
          <p:cNvSpPr>
            <a:spLocks noGrp="1"/>
          </p:cNvSpPr>
          <p:nvPr/>
        </p:nvSpPr>
        <p:spPr>
          <a:xfrm>
            <a:off x="3524250" y="2381250"/>
            <a:ext cx="2333625" cy="1428750"/>
          </a:xfrm>
          <a:prstGeom prst="roundRect">
            <a:avLst>
              <a:gd name="adj" fmla="val 9333"/>
            </a:avLst>
          </a:prstGeom>
          <a:solidFill>
            <a:srgbClr val="DDEFF5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8" name="U05-DG-001-stage_repr-title">
            <a:extLst>
              <a:ext uri="{FF2B5EF4-FFF2-40B4-BE49-F238E27FC236}">
                <a16:creationId xmlns:a16="http://schemas.microsoft.com/office/drawing/2014/main" id="{B995EFB9-44CD-44D0-8B9C-CDEE6BA5ABD6}"/>
              </a:ext>
            </a:extLst>
          </p:cNvPr>
          <p:cNvSpPr>
            <a:spLocks noGrp="1"/>
          </p:cNvSpPr>
          <p:nvPr/>
        </p:nvSpPr>
        <p:spPr>
          <a:xfrm>
            <a:off x="3695700" y="2505075"/>
            <a:ext cx="199072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2 · Fourier</a:t>
            </a:r>
          </a:p>
        </p:txBody>
      </p:sp>
      <p:sp>
        <p:nvSpPr>
          <p:cNvPr id="9" name="U05-DG-001-stage_repr-body">
            <a:extLst>
              <a:ext uri="{FF2B5EF4-FFF2-40B4-BE49-F238E27FC236}">
                <a16:creationId xmlns:a16="http://schemas.microsoft.com/office/drawing/2014/main" id="{CA12FCB9-CDBE-41BB-9B3F-318C14881159}"/>
              </a:ext>
            </a:extLst>
          </p:cNvPr>
          <p:cNvSpPr>
            <a:spLocks noGrp="1"/>
          </p:cNvSpPr>
          <p:nvPr/>
        </p:nvSpPr>
        <p:spPr>
          <a:xfrm>
            <a:off x="3695700" y="2933700"/>
            <a:ext cx="1990725" cy="752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serie · DFT</a:t>
            </a:r>
          </a:p>
        </p:txBody>
      </p:sp>
      <p:sp>
        <p:nvSpPr>
          <p:cNvPr id="10" name="U05-DG-001-stage_interpret">
            <a:extLst>
              <a:ext uri="{FF2B5EF4-FFF2-40B4-BE49-F238E27FC236}">
                <a16:creationId xmlns:a16="http://schemas.microsoft.com/office/drawing/2014/main" id="{8E6B2080-2B50-4B86-A54D-30E5A4A62E83}"/>
              </a:ext>
            </a:extLst>
          </p:cNvPr>
          <p:cNvSpPr>
            <a:spLocks noGrp="1"/>
          </p:cNvSpPr>
          <p:nvPr/>
        </p:nvSpPr>
        <p:spPr>
          <a:xfrm>
            <a:off x="6286500" y="2381250"/>
            <a:ext cx="2333625" cy="1428750"/>
          </a:xfrm>
          <a:prstGeom prst="roundRect">
            <a:avLst>
              <a:gd name="adj" fmla="val 9333"/>
            </a:avLst>
          </a:prstGeom>
          <a:solidFill>
            <a:srgbClr val="F3F6F8"/>
          </a:solidFill>
          <a:ln w="19050">
            <a:solidFill>
              <a:srgbClr val="8291A3"/>
            </a:solidFill>
            <a:prstDash val="solid"/>
          </a:ln>
        </p:spPr>
      </p:sp>
      <p:sp>
        <p:nvSpPr>
          <p:cNvPr id="11" name="U05-DG-001-stage_interpret-title">
            <a:extLst>
              <a:ext uri="{FF2B5EF4-FFF2-40B4-BE49-F238E27FC236}">
                <a16:creationId xmlns:a16="http://schemas.microsoft.com/office/drawing/2014/main" id="{20DAA54C-A4BC-4D74-A484-FD32F6023758}"/>
              </a:ext>
            </a:extLst>
          </p:cNvPr>
          <p:cNvSpPr>
            <a:spLocks noGrp="1"/>
          </p:cNvSpPr>
          <p:nvPr/>
        </p:nvSpPr>
        <p:spPr>
          <a:xfrm>
            <a:off x="6457950" y="2505075"/>
            <a:ext cx="199072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3 · Lectura</a:t>
            </a:r>
          </a:p>
        </p:txBody>
      </p:sp>
      <p:sp>
        <p:nvSpPr>
          <p:cNvPr id="12" name="U05-DG-001-stage_interpret-body">
            <a:extLst>
              <a:ext uri="{FF2B5EF4-FFF2-40B4-BE49-F238E27FC236}">
                <a16:creationId xmlns:a16="http://schemas.microsoft.com/office/drawing/2014/main" id="{D5F80A73-EEE8-4E4E-811D-3ECD7083C451}"/>
              </a:ext>
            </a:extLst>
          </p:cNvPr>
          <p:cNvSpPr>
            <a:spLocks noGrp="1"/>
          </p:cNvSpPr>
          <p:nvPr/>
        </p:nvSpPr>
        <p:spPr>
          <a:xfrm>
            <a:off x="6457950" y="2933700"/>
            <a:ext cx="1990725" cy="752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sistemas · bandas</a:t>
            </a:r>
          </a:p>
        </p:txBody>
      </p:sp>
      <p:sp>
        <p:nvSpPr>
          <p:cNvPr id="13" name="U05-DG-001-stage_measure">
            <a:extLst>
              <a:ext uri="{FF2B5EF4-FFF2-40B4-BE49-F238E27FC236}">
                <a16:creationId xmlns:a16="http://schemas.microsoft.com/office/drawing/2014/main" id="{4C8A338C-B3E9-4BB9-AF7D-3787E9C53EA5}"/>
              </a:ext>
            </a:extLst>
          </p:cNvPr>
          <p:cNvSpPr>
            <a:spLocks noGrp="1"/>
          </p:cNvSpPr>
          <p:nvPr/>
        </p:nvSpPr>
        <p:spPr>
          <a:xfrm>
            <a:off x="9048750" y="2381250"/>
            <a:ext cx="2333625" cy="1428750"/>
          </a:xfrm>
          <a:prstGeom prst="roundRect">
            <a:avLst>
              <a:gd name="adj" fmla="val 9333"/>
            </a:avLst>
          </a:prstGeom>
          <a:solidFill>
            <a:srgbClr val="E3F2ED"/>
          </a:solidFill>
          <a:ln w="19050">
            <a:solidFill>
              <a:srgbClr val="2D7867"/>
            </a:solidFill>
            <a:prstDash val="solid"/>
          </a:ln>
        </p:spPr>
      </p:sp>
      <p:sp>
        <p:nvSpPr>
          <p:cNvPr id="14" name="U05-DG-001-stage_measure-title">
            <a:extLst>
              <a:ext uri="{FF2B5EF4-FFF2-40B4-BE49-F238E27FC236}">
                <a16:creationId xmlns:a16="http://schemas.microsoft.com/office/drawing/2014/main" id="{C3A2F086-2070-4D01-91C5-6BAAFE5B68B0}"/>
              </a:ext>
            </a:extLst>
          </p:cNvPr>
          <p:cNvSpPr>
            <a:spLocks noGrp="1"/>
          </p:cNvSpPr>
          <p:nvPr/>
        </p:nvSpPr>
        <p:spPr>
          <a:xfrm>
            <a:off x="9220200" y="2505075"/>
            <a:ext cx="199072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4 · Medición</a:t>
            </a:r>
          </a:p>
        </p:txBody>
      </p:sp>
      <p:sp>
        <p:nvSpPr>
          <p:cNvPr id="15" name="U05-DG-001-stage_measure-body">
            <a:extLst>
              <a:ext uri="{FF2B5EF4-FFF2-40B4-BE49-F238E27FC236}">
                <a16:creationId xmlns:a16="http://schemas.microsoft.com/office/drawing/2014/main" id="{1CBEA800-5591-40C2-919D-572263CCE916}"/>
              </a:ext>
            </a:extLst>
          </p:cNvPr>
          <p:cNvSpPr>
            <a:spLocks noGrp="1"/>
          </p:cNvSpPr>
          <p:nvPr/>
        </p:nvSpPr>
        <p:spPr>
          <a:xfrm>
            <a:off x="9220200" y="2933700"/>
            <a:ext cx="1990725" cy="752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ponderación sonómetro</a:t>
            </a:r>
          </a:p>
        </p:txBody>
      </p:sp>
      <p:cxnSp>
        <p:nvCxnSpPr>
          <p:cNvPr id="37" name="U05-DG-001-edge_1"/>
          <p:cNvCxnSpPr>
            <a:stCxn id="4" idx="3"/>
            <a:endCxn id="7" idx="1"/>
          </p:cNvCxnSpPr>
          <p:nvPr/>
        </p:nvCxnSpPr>
        <p:spPr>
          <a:xfrm>
            <a:off x="3095625" y="3095625"/>
            <a:ext cx="428625" cy="0"/>
          </a:xfrm>
          <a:prstGeom prst="straightConnector1">
            <a:avLst/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cxnSp>
        <p:nvCxnSpPr>
          <p:cNvPr id="38" name="U05-DG-001-edge_2"/>
          <p:cNvCxnSpPr>
            <a:stCxn id="7" idx="3"/>
            <a:endCxn id="10" idx="1"/>
          </p:cNvCxnSpPr>
          <p:nvPr/>
        </p:nvCxnSpPr>
        <p:spPr>
          <a:xfrm>
            <a:off x="5857875" y="3095625"/>
            <a:ext cx="428625" cy="0"/>
          </a:xfrm>
          <a:prstGeom prst="straightConnector1">
            <a:avLst/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cxnSp>
        <p:nvCxnSpPr>
          <p:cNvPr id="39" name="U05-DG-001-edge_3"/>
          <p:cNvCxnSpPr>
            <a:stCxn id="10" idx="3"/>
            <a:endCxn id="13" idx="1"/>
          </p:cNvCxnSpPr>
          <p:nvPr/>
        </p:nvCxnSpPr>
        <p:spPr>
          <a:xfrm>
            <a:off x="8620125" y="3095625"/>
            <a:ext cx="428625" cy="0"/>
          </a:xfrm>
          <a:prstGeom prst="straightConnector1">
            <a:avLst/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sp>
        <p:nvSpPr>
          <p:cNvPr id="19" name="diagram-scale-note">
            <a:extLst>
              <a:ext uri="{FF2B5EF4-FFF2-40B4-BE49-F238E27FC236}">
                <a16:creationId xmlns:a16="http://schemas.microsoft.com/office/drawing/2014/main" id="{FC218612-3C7C-493C-B459-7A60AA767A18}"/>
              </a:ext>
            </a:extLst>
          </p:cNvPr>
          <p:cNvSpPr>
            <a:spLocks noGrp="1"/>
          </p:cNvSpPr>
          <p:nvPr/>
        </p:nvSpPr>
        <p:spPr>
          <a:xfrm>
            <a:off x="552450" y="5829300"/>
            <a:ext cx="3905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05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Esquema conceptual · no está a escala</a:t>
            </a:r>
          </a:p>
        </p:txBody>
      </p:sp>
      <p:sp>
        <p:nvSpPr>
          <p:cNvPr id="20" name="caption">
            <a:extLst>
              <a:ext uri="{FF2B5EF4-FFF2-40B4-BE49-F238E27FC236}">
                <a16:creationId xmlns:a16="http://schemas.microsoft.com/office/drawing/2014/main" id="{D689CEFA-775F-44DC-917C-B86A5A9B1604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876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Cada tramo responde una pregunta distinta sobre señal, sistema o medición.</a:t>
            </a:r>
          </a:p>
        </p:txBody>
      </p:sp>
      <p:sp>
        <p:nvSpPr>
          <p:cNvPr id="21" name="credit">
            <a:extLst>
              <a:ext uri="{FF2B5EF4-FFF2-40B4-BE49-F238E27FC236}">
                <a16:creationId xmlns:a16="http://schemas.microsoft.com/office/drawing/2014/main" id="{2EEF5F64-4395-4CD2-A6D1-E9614456546C}"/>
              </a:ext>
            </a:extLst>
          </p:cNvPr>
          <p:cNvSpPr>
            <a:spLocks noGrp="1"/>
          </p:cNvSpPr>
          <p:nvPr/>
        </p:nvSpPr>
        <p:spPr>
          <a:xfrm>
            <a:off x="9382125" y="60769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BR; CM; CDM.</a:t>
            </a:r>
          </a:p>
        </p:txBody>
      </p:sp>
      <p:sp>
        <p:nvSpPr>
          <p:cNvPr id="16" name="slide-alt-summary" descr="Mapa narrativo con cuatro etapas desde representación hasta decisión profesional.">
            <a:extLst>
              <a:ext uri="{FF2B5EF4-FFF2-40B4-BE49-F238E27FC236}">
                <a16:creationId xmlns:a16="http://schemas.microsoft.com/office/drawing/2014/main" id="{9B24483B-1A0E-3A2A-08EE-4B67F280408A}"/>
              </a:ext>
            </a:extLst>
          </p:cNvPr>
          <p:cNvSpPr/>
          <p:nvPr/>
        </p:nvSpPr>
        <p:spPr>
          <a:xfrm>
            <a:off x="12700" y="12700"/>
            <a:ext cx="12700" cy="12700"/>
          </a:xfrm>
          <a:prstGeom prst="rect">
            <a:avLst/>
          </a:prstGeom>
          <a:noFill/>
          <a:ln w="19050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714790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eyebrow">
            <a:extLst>
              <a:ext uri="{FF2B5EF4-FFF2-40B4-BE49-F238E27FC236}">
                <a16:creationId xmlns:a16="http://schemas.microsoft.com/office/drawing/2014/main" id="{6B355D21-FC05-48E9-ADDA-B7FA22FB4E42}"/>
              </a:ext>
            </a:extLst>
          </p:cNvPr>
          <p:cNvSpPr>
            <a:spLocks noGrp="1"/>
          </p:cNvSpPr>
          <p:nvPr/>
        </p:nvSpPr>
        <p:spPr>
          <a:xfrm>
            <a:off x="514350" y="2095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007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FF33DC88-EAC2-4572-AC50-3F3F35530D79}"/>
              </a:ext>
            </a:extLst>
          </p:cNvPr>
          <p:cNvSpPr>
            <a:spLocks noGrp="1"/>
          </p:cNvSpPr>
          <p:nvPr/>
        </p:nvSpPr>
        <p:spPr>
          <a:xfrm>
            <a:off x="495300" y="428625"/>
            <a:ext cx="11191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Cinco preguntas para leer cualquier gráfico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D3B71DC9-411A-482B-8AB9-B2F100F7C68B}"/>
              </a:ext>
            </a:extLst>
          </p:cNvPr>
          <p:cNvSpPr>
            <a:spLocks noGrp="1"/>
          </p:cNvSpPr>
          <p:nvPr/>
        </p:nvSpPr>
        <p:spPr>
          <a:xfrm>
            <a:off x="523875" y="971550"/>
            <a:ext cx="11001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Una lectura válida empieza antes de mirar la curva.</a:t>
            </a:r>
          </a:p>
        </p:txBody>
      </p:sp>
      <p:sp>
        <p:nvSpPr>
          <p:cNvPr id="4" name="U05-DG-002-read_object">
            <a:extLst>
              <a:ext uri="{FF2B5EF4-FFF2-40B4-BE49-F238E27FC236}">
                <a16:creationId xmlns:a16="http://schemas.microsoft.com/office/drawing/2014/main" id="{7C5328BB-8F63-4CD3-B6DF-D3B0D293E4CE}"/>
              </a:ext>
            </a:extLst>
          </p:cNvPr>
          <p:cNvSpPr>
            <a:spLocks noGrp="1"/>
          </p:cNvSpPr>
          <p:nvPr/>
        </p:nvSpPr>
        <p:spPr>
          <a:xfrm>
            <a:off x="857250" y="1476375"/>
            <a:ext cx="2857500" cy="1238250"/>
          </a:xfrm>
          <a:prstGeom prst="roundRect">
            <a:avLst>
              <a:gd name="adj" fmla="val 10769"/>
            </a:avLst>
          </a:prstGeom>
          <a:solidFill>
            <a:srgbClr val="EFF8FA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5" name="U05-DG-002-read_object-title">
            <a:extLst>
              <a:ext uri="{FF2B5EF4-FFF2-40B4-BE49-F238E27FC236}">
                <a16:creationId xmlns:a16="http://schemas.microsoft.com/office/drawing/2014/main" id="{0267F102-C371-44A1-980B-79CEE253F8C6}"/>
              </a:ext>
            </a:extLst>
          </p:cNvPr>
          <p:cNvSpPr>
            <a:spLocks noGrp="1"/>
          </p:cNvSpPr>
          <p:nvPr/>
        </p:nvSpPr>
        <p:spPr>
          <a:xfrm>
            <a:off x="1028700" y="1600200"/>
            <a:ext cx="25146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1 · Objeto</a:t>
            </a:r>
          </a:p>
        </p:txBody>
      </p:sp>
      <p:sp>
        <p:nvSpPr>
          <p:cNvPr id="6" name="U05-DG-002-read_object-body">
            <a:extLst>
              <a:ext uri="{FF2B5EF4-FFF2-40B4-BE49-F238E27FC236}">
                <a16:creationId xmlns:a16="http://schemas.microsoft.com/office/drawing/2014/main" id="{A583B1CF-CFC3-483B-B21B-14C0C2E0325F}"/>
              </a:ext>
            </a:extLst>
          </p:cNvPr>
          <p:cNvSpPr>
            <a:spLocks noGrp="1"/>
          </p:cNvSpPr>
          <p:nvPr/>
        </p:nvSpPr>
        <p:spPr>
          <a:xfrm>
            <a:off x="1028700" y="1971675"/>
            <a:ext cx="25146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¿señal o sistema?</a:t>
            </a:r>
          </a:p>
        </p:txBody>
      </p:sp>
      <p:sp>
        <p:nvSpPr>
          <p:cNvPr id="7" name="U05-DG-002-read_axes">
            <a:extLst>
              <a:ext uri="{FF2B5EF4-FFF2-40B4-BE49-F238E27FC236}">
                <a16:creationId xmlns:a16="http://schemas.microsoft.com/office/drawing/2014/main" id="{542B4A7C-A7C5-43F7-9666-9BD9F3B8969B}"/>
              </a:ext>
            </a:extLst>
          </p:cNvPr>
          <p:cNvSpPr>
            <a:spLocks noGrp="1"/>
          </p:cNvSpPr>
          <p:nvPr/>
        </p:nvSpPr>
        <p:spPr>
          <a:xfrm>
            <a:off x="4667250" y="1476375"/>
            <a:ext cx="2857500" cy="1238250"/>
          </a:xfrm>
          <a:prstGeom prst="roundRect">
            <a:avLst>
              <a:gd name="adj" fmla="val 10769"/>
            </a:avLst>
          </a:prstGeom>
          <a:solidFill>
            <a:srgbClr val="F3F6F8"/>
          </a:solidFill>
          <a:ln w="19050">
            <a:solidFill>
              <a:srgbClr val="8291A3"/>
            </a:solidFill>
            <a:prstDash val="solid"/>
          </a:ln>
        </p:spPr>
      </p:sp>
      <p:sp>
        <p:nvSpPr>
          <p:cNvPr id="8" name="U05-DG-002-read_axes-title">
            <a:extLst>
              <a:ext uri="{FF2B5EF4-FFF2-40B4-BE49-F238E27FC236}">
                <a16:creationId xmlns:a16="http://schemas.microsoft.com/office/drawing/2014/main" id="{AE4A7A7F-4C4D-479B-96F5-B987D2908ED4}"/>
              </a:ext>
            </a:extLst>
          </p:cNvPr>
          <p:cNvSpPr>
            <a:spLocks noGrp="1"/>
          </p:cNvSpPr>
          <p:nvPr/>
        </p:nvSpPr>
        <p:spPr>
          <a:xfrm>
            <a:off x="4838700" y="1600200"/>
            <a:ext cx="25146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2 · Ejes</a:t>
            </a:r>
          </a:p>
        </p:txBody>
      </p:sp>
      <p:sp>
        <p:nvSpPr>
          <p:cNvPr id="9" name="U05-DG-002-read_axes-body">
            <a:extLst>
              <a:ext uri="{FF2B5EF4-FFF2-40B4-BE49-F238E27FC236}">
                <a16:creationId xmlns:a16="http://schemas.microsoft.com/office/drawing/2014/main" id="{744504A9-A37E-4E07-9474-FA70C210C177}"/>
              </a:ext>
            </a:extLst>
          </p:cNvPr>
          <p:cNvSpPr>
            <a:spLocks noGrp="1"/>
          </p:cNvSpPr>
          <p:nvPr/>
        </p:nvSpPr>
        <p:spPr>
          <a:xfrm>
            <a:off x="4838700" y="1971675"/>
            <a:ext cx="25146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t o f</a:t>
            </a:r>
          </a:p>
        </p:txBody>
      </p:sp>
      <p:sp>
        <p:nvSpPr>
          <p:cNvPr id="10" name="U05-DG-002-read_units">
            <a:extLst>
              <a:ext uri="{FF2B5EF4-FFF2-40B4-BE49-F238E27FC236}">
                <a16:creationId xmlns:a16="http://schemas.microsoft.com/office/drawing/2014/main" id="{5C89B80F-8136-4DDE-88B4-AED4EC951DD5}"/>
              </a:ext>
            </a:extLst>
          </p:cNvPr>
          <p:cNvSpPr>
            <a:spLocks noGrp="1"/>
          </p:cNvSpPr>
          <p:nvPr/>
        </p:nvSpPr>
        <p:spPr>
          <a:xfrm>
            <a:off x="8477250" y="1476375"/>
            <a:ext cx="2857500" cy="1238250"/>
          </a:xfrm>
          <a:prstGeom prst="roundRect">
            <a:avLst>
              <a:gd name="adj" fmla="val 10769"/>
            </a:avLst>
          </a:prstGeom>
          <a:solidFill>
            <a:srgbClr val="F3F6F8"/>
          </a:solidFill>
          <a:ln w="19050">
            <a:solidFill>
              <a:srgbClr val="8291A3"/>
            </a:solidFill>
            <a:prstDash val="solid"/>
          </a:ln>
        </p:spPr>
      </p:sp>
      <p:sp>
        <p:nvSpPr>
          <p:cNvPr id="11" name="U05-DG-002-read_units-title">
            <a:extLst>
              <a:ext uri="{FF2B5EF4-FFF2-40B4-BE49-F238E27FC236}">
                <a16:creationId xmlns:a16="http://schemas.microsoft.com/office/drawing/2014/main" id="{736BFEAA-E256-4E7D-B7B2-B13F13F41A6E}"/>
              </a:ext>
            </a:extLst>
          </p:cNvPr>
          <p:cNvSpPr>
            <a:spLocks noGrp="1"/>
          </p:cNvSpPr>
          <p:nvPr/>
        </p:nvSpPr>
        <p:spPr>
          <a:xfrm>
            <a:off x="8648700" y="1600200"/>
            <a:ext cx="25146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3 · Unidades</a:t>
            </a:r>
          </a:p>
        </p:txBody>
      </p:sp>
      <p:sp>
        <p:nvSpPr>
          <p:cNvPr id="12" name="U05-DG-002-read_units-body">
            <a:extLst>
              <a:ext uri="{FF2B5EF4-FFF2-40B4-BE49-F238E27FC236}">
                <a16:creationId xmlns:a16="http://schemas.microsoft.com/office/drawing/2014/main" id="{D0F79A3D-B64E-4B79-AE12-89ADCAF008F2}"/>
              </a:ext>
            </a:extLst>
          </p:cNvPr>
          <p:cNvSpPr>
            <a:spLocks noGrp="1"/>
          </p:cNvSpPr>
          <p:nvPr/>
        </p:nvSpPr>
        <p:spPr>
          <a:xfrm>
            <a:off x="8648700" y="1971675"/>
            <a:ext cx="25146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s · Hz · Pa · dB</a:t>
            </a:r>
          </a:p>
        </p:txBody>
      </p:sp>
      <p:sp>
        <p:nvSpPr>
          <p:cNvPr id="13" name="U05-DG-002-read_conditions">
            <a:extLst>
              <a:ext uri="{FF2B5EF4-FFF2-40B4-BE49-F238E27FC236}">
                <a16:creationId xmlns:a16="http://schemas.microsoft.com/office/drawing/2014/main" id="{D4A0503A-9568-4A59-BD1E-1A993A16C175}"/>
              </a:ext>
            </a:extLst>
          </p:cNvPr>
          <p:cNvSpPr>
            <a:spLocks noGrp="1"/>
          </p:cNvSpPr>
          <p:nvPr/>
        </p:nvSpPr>
        <p:spPr>
          <a:xfrm>
            <a:off x="8477250" y="3714750"/>
            <a:ext cx="2857500" cy="1238250"/>
          </a:xfrm>
          <a:prstGeom prst="roundRect">
            <a:avLst>
              <a:gd name="adj" fmla="val 10769"/>
            </a:avLst>
          </a:prstGeom>
          <a:solidFill>
            <a:srgbClr val="DDEFF5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14" name="U05-DG-002-read_conditions-title">
            <a:extLst>
              <a:ext uri="{FF2B5EF4-FFF2-40B4-BE49-F238E27FC236}">
                <a16:creationId xmlns:a16="http://schemas.microsoft.com/office/drawing/2014/main" id="{15F75CA2-DAF0-4B4E-9AF2-66F83B5E60D4}"/>
              </a:ext>
            </a:extLst>
          </p:cNvPr>
          <p:cNvSpPr>
            <a:spLocks noGrp="1"/>
          </p:cNvSpPr>
          <p:nvPr/>
        </p:nvSpPr>
        <p:spPr>
          <a:xfrm>
            <a:off x="8648700" y="3838575"/>
            <a:ext cx="25146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4 · Condiciones</a:t>
            </a:r>
          </a:p>
        </p:txBody>
      </p:sp>
      <p:sp>
        <p:nvSpPr>
          <p:cNvPr id="15" name="U05-DG-002-read_conditions-body">
            <a:extLst>
              <a:ext uri="{FF2B5EF4-FFF2-40B4-BE49-F238E27FC236}">
                <a16:creationId xmlns:a16="http://schemas.microsoft.com/office/drawing/2014/main" id="{E45FA766-D8EE-44D7-89B8-2A837889D2A7}"/>
              </a:ext>
            </a:extLst>
          </p:cNvPr>
          <p:cNvSpPr>
            <a:spLocks noGrp="1"/>
          </p:cNvSpPr>
          <p:nvPr/>
        </p:nvSpPr>
        <p:spPr>
          <a:xfrm>
            <a:off x="8648700" y="4210050"/>
            <a:ext cx="25146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ventana · ref.</a:t>
            </a:r>
          </a:p>
        </p:txBody>
      </p:sp>
      <p:sp>
        <p:nvSpPr>
          <p:cNvPr id="16" name="U05-DG-002-read_meaning">
            <a:extLst>
              <a:ext uri="{FF2B5EF4-FFF2-40B4-BE49-F238E27FC236}">
                <a16:creationId xmlns:a16="http://schemas.microsoft.com/office/drawing/2014/main" id="{EDE34C79-1D1C-45DA-A0E4-DCC78A3A7AE6}"/>
              </a:ext>
            </a:extLst>
          </p:cNvPr>
          <p:cNvSpPr>
            <a:spLocks noGrp="1"/>
          </p:cNvSpPr>
          <p:nvPr/>
        </p:nvSpPr>
        <p:spPr>
          <a:xfrm>
            <a:off x="4667250" y="3714750"/>
            <a:ext cx="2857500" cy="1238250"/>
          </a:xfrm>
          <a:prstGeom prst="roundRect">
            <a:avLst>
              <a:gd name="adj" fmla="val 10769"/>
            </a:avLst>
          </a:prstGeom>
          <a:solidFill>
            <a:srgbClr val="E3F2ED"/>
          </a:solidFill>
          <a:ln w="19050">
            <a:solidFill>
              <a:srgbClr val="2D7867"/>
            </a:solidFill>
            <a:prstDash val="solid"/>
          </a:ln>
        </p:spPr>
      </p:sp>
      <p:sp>
        <p:nvSpPr>
          <p:cNvPr id="17" name="U05-DG-002-read_meaning-title">
            <a:extLst>
              <a:ext uri="{FF2B5EF4-FFF2-40B4-BE49-F238E27FC236}">
                <a16:creationId xmlns:a16="http://schemas.microsoft.com/office/drawing/2014/main" id="{E75C7CC5-4A08-4E59-B89E-D8EF84343283}"/>
              </a:ext>
            </a:extLst>
          </p:cNvPr>
          <p:cNvSpPr>
            <a:spLocks noGrp="1"/>
          </p:cNvSpPr>
          <p:nvPr/>
        </p:nvSpPr>
        <p:spPr>
          <a:xfrm>
            <a:off x="4838700" y="3838575"/>
            <a:ext cx="25146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5 · Interpretar</a:t>
            </a:r>
          </a:p>
        </p:txBody>
      </p:sp>
      <p:sp>
        <p:nvSpPr>
          <p:cNvPr id="18" name="U05-DG-002-read_meaning-body">
            <a:extLst>
              <a:ext uri="{FF2B5EF4-FFF2-40B4-BE49-F238E27FC236}">
                <a16:creationId xmlns:a16="http://schemas.microsoft.com/office/drawing/2014/main" id="{F4D3C6BB-0647-47A7-9B9E-63FFBF89A0D9}"/>
              </a:ext>
            </a:extLst>
          </p:cNvPr>
          <p:cNvSpPr>
            <a:spLocks noGrp="1"/>
          </p:cNvSpPr>
          <p:nvPr/>
        </p:nvSpPr>
        <p:spPr>
          <a:xfrm>
            <a:off x="4838700" y="4210050"/>
            <a:ext cx="25146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alcance</a:t>
            </a:r>
          </a:p>
        </p:txBody>
      </p:sp>
      <p:cxnSp>
        <p:nvCxnSpPr>
          <p:cNvPr id="44" name="U05-DG-002-read_1"/>
          <p:cNvCxnSpPr>
            <a:stCxn id="4" idx="3"/>
            <a:endCxn id="7" idx="1"/>
          </p:cNvCxnSpPr>
          <p:nvPr/>
        </p:nvCxnSpPr>
        <p:spPr>
          <a:xfrm>
            <a:off x="3714750" y="2095500"/>
            <a:ext cx="952500" cy="0"/>
          </a:xfrm>
          <a:prstGeom prst="straightConnector1">
            <a:avLst/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cxnSp>
        <p:nvCxnSpPr>
          <p:cNvPr id="45" name="U05-DG-002-read_2"/>
          <p:cNvCxnSpPr>
            <a:stCxn id="7" idx="3"/>
            <a:endCxn id="10" idx="1"/>
          </p:cNvCxnSpPr>
          <p:nvPr/>
        </p:nvCxnSpPr>
        <p:spPr>
          <a:xfrm>
            <a:off x="7524750" y="2095500"/>
            <a:ext cx="952500" cy="0"/>
          </a:xfrm>
          <a:prstGeom prst="straightConnector1">
            <a:avLst/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cxnSp>
        <p:nvCxnSpPr>
          <p:cNvPr id="46" name="U05-DG-002-read_3"/>
          <p:cNvCxnSpPr>
            <a:stCxn id="10" idx="2"/>
            <a:endCxn id="13" idx="0"/>
          </p:cNvCxnSpPr>
          <p:nvPr/>
        </p:nvCxnSpPr>
        <p:spPr>
          <a:xfrm>
            <a:off x="9906000" y="2714625"/>
            <a:ext cx="0" cy="1000125"/>
          </a:xfrm>
          <a:prstGeom prst="straightConnector1">
            <a:avLst/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cxnSp>
        <p:nvCxnSpPr>
          <p:cNvPr id="47" name="U05-DG-002-read_4"/>
          <p:cNvCxnSpPr>
            <a:stCxn id="13" idx="1"/>
            <a:endCxn id="16" idx="3"/>
          </p:cNvCxnSpPr>
          <p:nvPr/>
        </p:nvCxnSpPr>
        <p:spPr>
          <a:xfrm flipH="1">
            <a:off x="7524750" y="4333875"/>
            <a:ext cx="952500" cy="0"/>
          </a:xfrm>
          <a:prstGeom prst="straightConnector1">
            <a:avLst/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sp>
        <p:nvSpPr>
          <p:cNvPr id="23" name="diagram-scale-note">
            <a:extLst>
              <a:ext uri="{FF2B5EF4-FFF2-40B4-BE49-F238E27FC236}">
                <a16:creationId xmlns:a16="http://schemas.microsoft.com/office/drawing/2014/main" id="{596CFC1D-12EC-4297-99BC-02F90FA4C7BA}"/>
              </a:ext>
            </a:extLst>
          </p:cNvPr>
          <p:cNvSpPr>
            <a:spLocks noGrp="1"/>
          </p:cNvSpPr>
          <p:nvPr/>
        </p:nvSpPr>
        <p:spPr>
          <a:xfrm>
            <a:off x="552450" y="5829300"/>
            <a:ext cx="3905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05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Esquema conceptual · no está a escala</a:t>
            </a:r>
          </a:p>
        </p:txBody>
      </p:sp>
      <p:sp>
        <p:nvSpPr>
          <p:cNvPr id="24" name="caption">
            <a:extLst>
              <a:ext uri="{FF2B5EF4-FFF2-40B4-BE49-F238E27FC236}">
                <a16:creationId xmlns:a16="http://schemas.microsoft.com/office/drawing/2014/main" id="{7FCFD975-60EE-47D1-960A-1EBF4B77E7C6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876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Rutina transversal de lectura.</a:t>
            </a:r>
          </a:p>
        </p:txBody>
      </p:sp>
      <p:sp>
        <p:nvSpPr>
          <p:cNvPr id="25" name="credit">
            <a:extLst>
              <a:ext uri="{FF2B5EF4-FFF2-40B4-BE49-F238E27FC236}">
                <a16:creationId xmlns:a16="http://schemas.microsoft.com/office/drawing/2014/main" id="{31400569-C076-4418-8EEC-30F0458498BE}"/>
              </a:ext>
            </a:extLst>
          </p:cNvPr>
          <p:cNvSpPr>
            <a:spLocks noGrp="1"/>
          </p:cNvSpPr>
          <p:nvPr/>
        </p:nvSpPr>
        <p:spPr>
          <a:xfrm>
            <a:off x="9382125" y="60769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BR; NOT; GLO.</a:t>
            </a:r>
          </a:p>
        </p:txBody>
      </p:sp>
      <p:sp>
        <p:nvSpPr>
          <p:cNvPr id="19" name="slide-alt-summary" descr="Secuencia de cinco preguntas conectadas de izquierda a derecha.">
            <a:extLst>
              <a:ext uri="{FF2B5EF4-FFF2-40B4-BE49-F238E27FC236}">
                <a16:creationId xmlns:a16="http://schemas.microsoft.com/office/drawing/2014/main" id="{F01B4D27-B3F6-36B2-0F9E-211ED52B303B}"/>
              </a:ext>
            </a:extLst>
          </p:cNvPr>
          <p:cNvSpPr/>
          <p:nvPr/>
        </p:nvSpPr>
        <p:spPr>
          <a:xfrm>
            <a:off x="12700" y="12700"/>
            <a:ext cx="12700" cy="12700"/>
          </a:xfrm>
          <a:prstGeom prst="rect">
            <a:avLst/>
          </a:prstGeom>
          <a:noFill/>
          <a:ln w="19050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674383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yebrow">
            <a:extLst>
              <a:ext uri="{FF2B5EF4-FFF2-40B4-BE49-F238E27FC236}">
                <a16:creationId xmlns:a16="http://schemas.microsoft.com/office/drawing/2014/main" id="{69EE2DC5-FB07-4E9D-B085-C742DD83F157}"/>
              </a:ext>
            </a:extLst>
          </p:cNvPr>
          <p:cNvSpPr>
            <a:spLocks noGrp="1"/>
          </p:cNvSpPr>
          <p:nvPr/>
        </p:nvSpPr>
        <p:spPr>
          <a:xfrm>
            <a:off x="514350" y="2095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1" i="0">
                <a:solidFill>
                  <a:srgbClr val="B9D8E7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B9D8E7"/>
                </a:solidFill>
                <a:latin typeface="Calibri"/>
                <a:ea typeface="Calibri"/>
                <a:cs typeface="Calibri"/>
              </a:rPr>
              <a:t>UNIDAD 5 · 008</a:t>
            </a:r>
          </a:p>
        </p:txBody>
      </p:sp>
      <p:sp>
        <p:nvSpPr>
          <p:cNvPr id="2" name="divider-title">
            <a:extLst>
              <a:ext uri="{FF2B5EF4-FFF2-40B4-BE49-F238E27FC236}">
                <a16:creationId xmlns:a16="http://schemas.microsoft.com/office/drawing/2014/main" id="{E523076C-0C12-4BD9-AF22-ADEB2E14064A}"/>
              </a:ext>
            </a:extLst>
          </p:cNvPr>
          <p:cNvSpPr>
            <a:spLocks noGrp="1"/>
          </p:cNvSpPr>
          <p:nvPr/>
        </p:nvSpPr>
        <p:spPr>
          <a:xfrm>
            <a:off x="714375" y="2190750"/>
            <a:ext cx="104775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lnSpc>
                <a:spcPct val="102000"/>
              </a:lnSpc>
              <a:buNone/>
              <a:defRPr sz="4050" b="1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4050" b="1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Una señal, varias representaciones</a:t>
            </a:r>
          </a:p>
        </p:txBody>
      </p:sp>
      <p:sp>
        <p:nvSpPr>
          <p:cNvPr id="3" name="divider-subtitle">
            <a:extLst>
              <a:ext uri="{FF2B5EF4-FFF2-40B4-BE49-F238E27FC236}">
                <a16:creationId xmlns:a16="http://schemas.microsoft.com/office/drawing/2014/main" id="{1DB9F52E-CF11-4BA0-820F-8C6370DE7FD3}"/>
              </a:ext>
            </a:extLst>
          </p:cNvPr>
          <p:cNvSpPr>
            <a:spLocks noGrp="1"/>
          </p:cNvSpPr>
          <p:nvPr/>
        </p:nvSpPr>
        <p:spPr>
          <a:xfrm>
            <a:off x="1714500" y="3429000"/>
            <a:ext cx="8763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100" b="0" i="0">
                <a:solidFill>
                  <a:srgbClr val="D6E4EA"/>
                </a:solidFill>
                <a:latin typeface="Calibri"/>
                <a:ea typeface="Calibri"/>
                <a:cs typeface="Calibri"/>
              </a:defRPr>
            </a:pPr>
            <a:r>
              <a:rPr sz="2100" b="0" i="0">
                <a:solidFill>
                  <a:srgbClr val="D6E4EA"/>
                </a:solidFill>
                <a:latin typeface="Calibri"/>
                <a:ea typeface="Calibri"/>
                <a:cs typeface="Calibri"/>
              </a:rPr>
              <a:t>¿Qué pregunta responde cada vista?</a:t>
            </a:r>
          </a:p>
        </p:txBody>
      </p:sp>
      <p:sp>
        <p:nvSpPr>
          <p:cNvPr id="4" name="divider-content">
            <a:extLst>
              <a:ext uri="{FF2B5EF4-FFF2-40B4-BE49-F238E27FC236}">
                <a16:creationId xmlns:a16="http://schemas.microsoft.com/office/drawing/2014/main" id="{2E7B3C99-8F23-428A-AB26-8CCCBFE51A5D}"/>
              </a:ext>
            </a:extLst>
          </p:cNvPr>
          <p:cNvSpPr>
            <a:spLocks noGrp="1"/>
          </p:cNvSpPr>
          <p:nvPr/>
        </p:nvSpPr>
        <p:spPr>
          <a:xfrm>
            <a:off x="2190750" y="4333875"/>
            <a:ext cx="781050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ctr">
              <a:lnSpc>
                <a:spcPct val="102000"/>
              </a:lnSpc>
              <a:buNone/>
              <a:defRPr sz="1875" b="0" i="0">
                <a:solidFill>
                  <a:srgbClr val="BDD0DA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BDD0DA"/>
                </a:solidFill>
                <a:latin typeface="Calibri"/>
                <a:ea typeface="Calibri"/>
                <a:cs typeface="Calibri"/>
              </a:rPr>
              <a:t>Tiempo · Frecuencia · Fase.</a:t>
            </a:r>
          </a:p>
        </p:txBody>
      </p:sp>
      <p:sp>
        <p:nvSpPr>
          <p:cNvPr id="6" name="slide-alt-summary" descr="Señal temporal acompañada por las palabras tiempo, frecuencia y fase.">
            <a:extLst>
              <a:ext uri="{FF2B5EF4-FFF2-40B4-BE49-F238E27FC236}">
                <a16:creationId xmlns:a16="http://schemas.microsoft.com/office/drawing/2014/main" id="{93599618-650A-ECCB-04CD-3470CDBFAF88}"/>
              </a:ext>
            </a:extLst>
          </p:cNvPr>
          <p:cNvSpPr/>
          <p:nvPr/>
        </p:nvSpPr>
        <p:spPr>
          <a:xfrm>
            <a:off x="12700" y="12700"/>
            <a:ext cx="12700" cy="12700"/>
          </a:xfrm>
          <a:prstGeom prst="rect">
            <a:avLst/>
          </a:prstGeom>
          <a:noFill/>
          <a:ln w="19050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yebrow">
            <a:extLst>
              <a:ext uri="{FF2B5EF4-FFF2-40B4-BE49-F238E27FC236}">
                <a16:creationId xmlns:a16="http://schemas.microsoft.com/office/drawing/2014/main" id="{D35BE90E-7A7C-4850-9094-5E04FB248404}"/>
              </a:ext>
            </a:extLst>
          </p:cNvPr>
          <p:cNvSpPr>
            <a:spLocks noGrp="1"/>
          </p:cNvSpPr>
          <p:nvPr/>
        </p:nvSpPr>
        <p:spPr>
          <a:xfrm>
            <a:off x="514350" y="2095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009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DCD98F6B-AAA9-437D-9B48-0B65371B54E8}"/>
              </a:ext>
            </a:extLst>
          </p:cNvPr>
          <p:cNvSpPr>
            <a:spLocks noGrp="1"/>
          </p:cNvSpPr>
          <p:nvPr/>
        </p:nvSpPr>
        <p:spPr>
          <a:xfrm>
            <a:off x="495300" y="428625"/>
            <a:ext cx="11191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El dominio temporal muestra cuándo cambia la señal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48D10743-54E0-4AA6-8214-E84E2B42C5C5}"/>
              </a:ext>
            </a:extLst>
          </p:cNvPr>
          <p:cNvSpPr>
            <a:spLocks noGrp="1"/>
          </p:cNvSpPr>
          <p:nvPr/>
        </p:nvSpPr>
        <p:spPr>
          <a:xfrm>
            <a:off x="523875" y="971550"/>
            <a:ext cx="11001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Leemos evolución, duración y transitorios.</a:t>
            </a:r>
          </a:p>
        </p:txBody>
      </p:sp>
      <p:pic>
        <p:nvPicPr>
          <p:cNvPr id="13" name="Gráfico 1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457200" y="1381125"/>
            <a:ext cx="7524750" cy="4429125"/>
          </a:xfrm>
          <a:prstGeom prst="rect">
            <a:avLst/>
          </a:prstGeom>
        </p:spPr>
      </p:pic>
      <p:sp>
        <p:nvSpPr>
          <p:cNvPr id="5" name="chart-reading-box">
            <a:extLst>
              <a:ext uri="{FF2B5EF4-FFF2-40B4-BE49-F238E27FC236}">
                <a16:creationId xmlns:a16="http://schemas.microsoft.com/office/drawing/2014/main" id="{A0818682-CB7D-41DB-8968-ABC5CAE4E68E}"/>
              </a:ext>
            </a:extLst>
          </p:cNvPr>
          <p:cNvSpPr>
            <a:spLocks noGrp="1"/>
          </p:cNvSpPr>
          <p:nvPr/>
        </p:nvSpPr>
        <p:spPr>
          <a:xfrm>
            <a:off x="8239125" y="1476375"/>
            <a:ext cx="3190875" cy="3857625"/>
          </a:xfrm>
          <a:prstGeom prst="roundRect">
            <a:avLst>
              <a:gd name="adj" fmla="val 4179"/>
            </a:avLst>
          </a:prstGeom>
          <a:solidFill>
            <a:srgbClr val="DDEFF5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6" name="chart-reading-title">
            <a:extLst>
              <a:ext uri="{FF2B5EF4-FFF2-40B4-BE49-F238E27FC236}">
                <a16:creationId xmlns:a16="http://schemas.microsoft.com/office/drawing/2014/main" id="{41E2D52C-E192-47C7-8904-0364FC73CDF1}"/>
              </a:ext>
            </a:extLst>
          </p:cNvPr>
          <p:cNvSpPr>
            <a:spLocks noGrp="1"/>
          </p:cNvSpPr>
          <p:nvPr/>
        </p:nvSpPr>
        <p:spPr>
          <a:xfrm>
            <a:off x="8410575" y="1609725"/>
            <a:ext cx="28479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Qué leer</a:t>
            </a:r>
          </a:p>
        </p:txBody>
      </p:sp>
      <p:sp>
        <p:nvSpPr>
          <p:cNvPr id="7" name="chart-reading-body">
            <a:extLst>
              <a:ext uri="{FF2B5EF4-FFF2-40B4-BE49-F238E27FC236}">
                <a16:creationId xmlns:a16="http://schemas.microsoft.com/office/drawing/2014/main" id="{ECB5118E-65E3-414C-A6F7-587DC93AE20B}"/>
              </a:ext>
            </a:extLst>
          </p:cNvPr>
          <p:cNvSpPr>
            <a:spLocks noGrp="1"/>
          </p:cNvSpPr>
          <p:nvPr/>
        </p:nvSpPr>
        <p:spPr>
          <a:xfrm>
            <a:off x="8410575" y="1990725"/>
            <a:ext cx="2847975" cy="3209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Eje horizontal: tiempo t en segundos. Eje vertical: presión p(t) en pascales. Preguntas: ¿cuánto dura?, ¿se repite?, ¿dónde cambia rápidamente?</a:t>
            </a:r>
          </a:p>
        </p:txBody>
      </p:sp>
      <p:sp>
        <p:nvSpPr>
          <p:cNvPr id="8" name="caption">
            <a:extLst>
              <a:ext uri="{FF2B5EF4-FFF2-40B4-BE49-F238E27FC236}">
                <a16:creationId xmlns:a16="http://schemas.microsoft.com/office/drawing/2014/main" id="{F9B22249-EB77-46DD-8F14-8A7657181053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876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La forma temporal no muestra directamente cómo se distribuyen las frecuencias.</a:t>
            </a:r>
          </a:p>
        </p:txBody>
      </p:sp>
      <p:sp>
        <p:nvSpPr>
          <p:cNvPr id="9" name="credit">
            <a:extLst>
              <a:ext uri="{FF2B5EF4-FFF2-40B4-BE49-F238E27FC236}">
                <a16:creationId xmlns:a16="http://schemas.microsoft.com/office/drawing/2014/main" id="{5B04BD8C-33ED-4770-B10D-B49A0B37DF10}"/>
              </a:ext>
            </a:extLst>
          </p:cNvPr>
          <p:cNvSpPr>
            <a:spLocks noGrp="1"/>
          </p:cNvSpPr>
          <p:nvPr/>
        </p:nvSpPr>
        <p:spPr>
          <a:xfrm>
            <a:off x="9382125" y="60769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5.3; NOT.</a:t>
            </a:r>
          </a:p>
        </p:txBody>
      </p:sp>
      <p:sp>
        <p:nvSpPr>
          <p:cNvPr id="4" name="slide-alt-summary" descr="Presión en pascales frente a tiempo en segundos con duración y transitorios señalados.">
            <a:extLst>
              <a:ext uri="{FF2B5EF4-FFF2-40B4-BE49-F238E27FC236}">
                <a16:creationId xmlns:a16="http://schemas.microsoft.com/office/drawing/2014/main" id="{AB454B70-1811-D7C8-C8AD-E03628A85F9B}"/>
              </a:ext>
            </a:extLst>
          </p:cNvPr>
          <p:cNvSpPr/>
          <p:nvPr/>
        </p:nvSpPr>
        <p:spPr>
          <a:xfrm>
            <a:off x="12700" y="12700"/>
            <a:ext cx="12700" cy="12700"/>
          </a:xfrm>
          <a:prstGeom prst="rect">
            <a:avLst/>
          </a:prstGeom>
          <a:noFill/>
          <a:ln w="19050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866304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eyebrow">
            <a:extLst>
              <a:ext uri="{FF2B5EF4-FFF2-40B4-BE49-F238E27FC236}">
                <a16:creationId xmlns:a16="http://schemas.microsoft.com/office/drawing/2014/main" id="{6CEFA14B-439D-4198-911A-38D9E402F409}"/>
              </a:ext>
            </a:extLst>
          </p:cNvPr>
          <p:cNvSpPr>
            <a:spLocks noGrp="1"/>
          </p:cNvSpPr>
          <p:nvPr/>
        </p:nvSpPr>
        <p:spPr>
          <a:xfrm>
            <a:off x="514350" y="2095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010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1F2EA07B-8BC3-429A-8FE2-703E358F9BA4}"/>
              </a:ext>
            </a:extLst>
          </p:cNvPr>
          <p:cNvSpPr>
            <a:spLocks noGrp="1"/>
          </p:cNvSpPr>
          <p:nvPr/>
        </p:nvSpPr>
        <p:spPr>
          <a:xfrm>
            <a:off x="495300" y="428625"/>
            <a:ext cx="11191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El dominio frecuencial organiza contribuciones por frecuencia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4C89537F-8B88-4800-89D6-2549F857CCAB}"/>
              </a:ext>
            </a:extLst>
          </p:cNvPr>
          <p:cNvSpPr>
            <a:spLocks noGrp="1"/>
          </p:cNvSpPr>
          <p:nvPr/>
        </p:nvSpPr>
        <p:spPr>
          <a:xfrm>
            <a:off x="523875" y="971550"/>
            <a:ext cx="11001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El eje vertical debe nombrarse: no es automáticamente intensidad.</a:t>
            </a:r>
          </a:p>
        </p:txBody>
      </p:sp>
      <p:sp>
        <p:nvSpPr>
          <p:cNvPr id="4" name="U05-DG-003-eq_x">
            <a:extLst>
              <a:ext uri="{FF2B5EF4-FFF2-40B4-BE49-F238E27FC236}">
                <a16:creationId xmlns:a16="http://schemas.microsoft.com/office/drawing/2014/main" id="{8D090F5E-BA2F-4F75-92CC-7C67E03BA143}"/>
              </a:ext>
            </a:extLst>
          </p:cNvPr>
          <p:cNvSpPr>
            <a:spLocks noGrp="1"/>
          </p:cNvSpPr>
          <p:nvPr/>
        </p:nvSpPr>
        <p:spPr>
          <a:xfrm>
            <a:off x="2381250" y="2667000"/>
            <a:ext cx="1571625" cy="1000125"/>
          </a:xfrm>
          <a:prstGeom prst="roundRect">
            <a:avLst>
              <a:gd name="adj" fmla="val 13333"/>
            </a:avLst>
          </a:prstGeom>
          <a:solidFill>
            <a:srgbClr val="EFECF7"/>
          </a:solidFill>
          <a:ln w="19050">
            <a:solidFill>
              <a:srgbClr val="65539A"/>
            </a:solidFill>
            <a:prstDash val="solid"/>
          </a:ln>
        </p:spPr>
      </p:sp>
      <p:sp>
        <p:nvSpPr>
          <p:cNvPr id="5" name="U05-DG-003-eq_x-title">
            <a:extLst>
              <a:ext uri="{FF2B5EF4-FFF2-40B4-BE49-F238E27FC236}">
                <a16:creationId xmlns:a16="http://schemas.microsoft.com/office/drawing/2014/main" id="{04B30781-508C-40D5-9B4A-377FD75B52FC}"/>
              </a:ext>
            </a:extLst>
          </p:cNvPr>
          <p:cNvSpPr>
            <a:spLocks noGrp="1"/>
          </p:cNvSpPr>
          <p:nvPr/>
        </p:nvSpPr>
        <p:spPr>
          <a:xfrm>
            <a:off x="2552700" y="2790825"/>
            <a:ext cx="1228725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2000"/>
              </a:lnSpc>
              <a:buNone/>
              <a:defRPr sz="2850" b="1" i="0">
                <a:solidFill>
                  <a:srgbClr val="65539A"/>
                </a:solidFill>
                <a:latin typeface="Cambria Math"/>
                <a:ea typeface="Cambria Math"/>
                <a:cs typeface="Cambria Math"/>
              </a:defRPr>
            </a:pPr>
            <a:r>
              <a:rPr sz="2850" b="1" i="0">
                <a:solidFill>
                  <a:srgbClr val="65539A"/>
                </a:solidFill>
                <a:latin typeface="Cambria Math"/>
                <a:ea typeface="Cambria Math"/>
                <a:cs typeface="Cambria Math"/>
              </a:rPr>
              <a:t>X(f)</a:t>
            </a:r>
          </a:p>
        </p:txBody>
      </p:sp>
      <p:sp>
        <p:nvSpPr>
          <p:cNvPr id="6" name="U05-DG-003-eq_equal">
            <a:extLst>
              <a:ext uri="{FF2B5EF4-FFF2-40B4-BE49-F238E27FC236}">
                <a16:creationId xmlns:a16="http://schemas.microsoft.com/office/drawing/2014/main" id="{47E22DB0-731D-41A1-8CDA-11C01D1D3513}"/>
              </a:ext>
            </a:extLst>
          </p:cNvPr>
          <p:cNvSpPr>
            <a:spLocks noGrp="1"/>
          </p:cNvSpPr>
          <p:nvPr/>
        </p:nvSpPr>
        <p:spPr>
          <a:xfrm>
            <a:off x="4095750" y="2667000"/>
            <a:ext cx="571500" cy="1000125"/>
          </a:xfrm>
          <a:prstGeom prst="roundRect">
            <a:avLst>
              <a:gd name="adj" fmla="val 23333"/>
            </a:avLst>
          </a:prstGeom>
          <a:solidFill>
            <a:srgbClr val="EFECF7"/>
          </a:solidFill>
          <a:ln w="19050">
            <a:solidFill>
              <a:srgbClr val="65539A"/>
            </a:solidFill>
            <a:prstDash val="solid"/>
          </a:ln>
        </p:spPr>
      </p:sp>
      <p:sp>
        <p:nvSpPr>
          <p:cNvPr id="7" name="U05-DG-003-eq_equal-title">
            <a:extLst>
              <a:ext uri="{FF2B5EF4-FFF2-40B4-BE49-F238E27FC236}">
                <a16:creationId xmlns:a16="http://schemas.microsoft.com/office/drawing/2014/main" id="{FE99CE5E-0E93-4419-8D1C-1F13F68C72E2}"/>
              </a:ext>
            </a:extLst>
          </p:cNvPr>
          <p:cNvSpPr>
            <a:spLocks noGrp="1"/>
          </p:cNvSpPr>
          <p:nvPr/>
        </p:nvSpPr>
        <p:spPr>
          <a:xfrm>
            <a:off x="4267200" y="2790825"/>
            <a:ext cx="22860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2000"/>
              </a:lnSpc>
              <a:buNone/>
              <a:defRPr sz="2850" b="1" i="0">
                <a:solidFill>
                  <a:srgbClr val="65539A"/>
                </a:solidFill>
                <a:latin typeface="Cambria Math"/>
                <a:ea typeface="Cambria Math"/>
                <a:cs typeface="Cambria Math"/>
              </a:defRPr>
            </a:pPr>
            <a:r>
              <a:rPr sz="2850" b="1" i="0">
                <a:solidFill>
                  <a:srgbClr val="65539A"/>
                </a:solidFill>
                <a:latin typeface="Cambria Math"/>
                <a:ea typeface="Cambria Math"/>
                <a:cs typeface="Cambria Math"/>
              </a:rPr>
              <a:t>=</a:t>
            </a:r>
          </a:p>
        </p:txBody>
      </p:sp>
      <p:sp>
        <p:nvSpPr>
          <p:cNvPr id="8" name="U05-DG-003-eq_mag">
            <a:extLst>
              <a:ext uri="{FF2B5EF4-FFF2-40B4-BE49-F238E27FC236}">
                <a16:creationId xmlns:a16="http://schemas.microsoft.com/office/drawing/2014/main" id="{718F4D0B-26D5-450A-868A-6857134D0513}"/>
              </a:ext>
            </a:extLst>
          </p:cNvPr>
          <p:cNvSpPr>
            <a:spLocks noGrp="1"/>
          </p:cNvSpPr>
          <p:nvPr/>
        </p:nvSpPr>
        <p:spPr>
          <a:xfrm>
            <a:off x="4810125" y="2667000"/>
            <a:ext cx="2000250" cy="1000125"/>
          </a:xfrm>
          <a:prstGeom prst="roundRect">
            <a:avLst>
              <a:gd name="adj" fmla="val 13333"/>
            </a:avLst>
          </a:prstGeom>
          <a:solidFill>
            <a:srgbClr val="EFECF7"/>
          </a:solidFill>
          <a:ln w="19050">
            <a:solidFill>
              <a:srgbClr val="65539A"/>
            </a:solidFill>
            <a:prstDash val="solid"/>
          </a:ln>
        </p:spPr>
      </p:sp>
      <p:sp>
        <p:nvSpPr>
          <p:cNvPr id="9" name="U05-DG-003-eq_mag-title">
            <a:extLst>
              <a:ext uri="{FF2B5EF4-FFF2-40B4-BE49-F238E27FC236}">
                <a16:creationId xmlns:a16="http://schemas.microsoft.com/office/drawing/2014/main" id="{B365E3AA-BAEF-41E5-9819-71D3B9FAE48A}"/>
              </a:ext>
            </a:extLst>
          </p:cNvPr>
          <p:cNvSpPr>
            <a:spLocks noGrp="1"/>
          </p:cNvSpPr>
          <p:nvPr/>
        </p:nvSpPr>
        <p:spPr>
          <a:xfrm>
            <a:off x="4981575" y="2790825"/>
            <a:ext cx="165735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2000"/>
              </a:lnSpc>
              <a:buNone/>
              <a:defRPr sz="2850" b="1" i="0">
                <a:solidFill>
                  <a:srgbClr val="65539A"/>
                </a:solidFill>
                <a:latin typeface="Cambria Math"/>
                <a:ea typeface="Cambria Math"/>
                <a:cs typeface="Cambria Math"/>
              </a:defRPr>
            </a:pPr>
            <a:r>
              <a:rPr sz="2850" b="1" i="0">
                <a:solidFill>
                  <a:srgbClr val="65539A"/>
                </a:solidFill>
                <a:latin typeface="Cambria Math"/>
                <a:ea typeface="Cambria Math"/>
                <a:cs typeface="Cambria Math"/>
              </a:rPr>
              <a:t>|X(f)|</a:t>
            </a:r>
          </a:p>
        </p:txBody>
      </p:sp>
      <p:sp>
        <p:nvSpPr>
          <p:cNvPr id="10" name="U05-DG-003-eq_phase">
            <a:extLst>
              <a:ext uri="{FF2B5EF4-FFF2-40B4-BE49-F238E27FC236}">
                <a16:creationId xmlns:a16="http://schemas.microsoft.com/office/drawing/2014/main" id="{D8A5E163-495C-446B-BAC6-D702F813AE86}"/>
              </a:ext>
            </a:extLst>
          </p:cNvPr>
          <p:cNvSpPr>
            <a:spLocks noGrp="1"/>
          </p:cNvSpPr>
          <p:nvPr/>
        </p:nvSpPr>
        <p:spPr>
          <a:xfrm>
            <a:off x="7096125" y="2667000"/>
            <a:ext cx="2333625" cy="1000125"/>
          </a:xfrm>
          <a:prstGeom prst="roundRect">
            <a:avLst>
              <a:gd name="adj" fmla="val 13333"/>
            </a:avLst>
          </a:prstGeom>
          <a:solidFill>
            <a:srgbClr val="EFECF7"/>
          </a:solidFill>
          <a:ln w="19050">
            <a:solidFill>
              <a:srgbClr val="65539A"/>
            </a:solidFill>
            <a:prstDash val="solid"/>
          </a:ln>
        </p:spPr>
      </p:sp>
      <p:sp>
        <p:nvSpPr>
          <p:cNvPr id="11" name="U05-DG-003-eq_phase-title">
            <a:extLst>
              <a:ext uri="{FF2B5EF4-FFF2-40B4-BE49-F238E27FC236}">
                <a16:creationId xmlns:a16="http://schemas.microsoft.com/office/drawing/2014/main" id="{847B3FA5-00A3-4102-BA29-5881CCD11C27}"/>
              </a:ext>
            </a:extLst>
          </p:cNvPr>
          <p:cNvSpPr>
            <a:spLocks noGrp="1"/>
          </p:cNvSpPr>
          <p:nvPr/>
        </p:nvSpPr>
        <p:spPr>
          <a:xfrm>
            <a:off x="7267575" y="2790825"/>
            <a:ext cx="1990725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2000"/>
              </a:lnSpc>
              <a:buNone/>
              <a:defRPr sz="2850" b="1" i="0">
                <a:solidFill>
                  <a:srgbClr val="65539A"/>
                </a:solidFill>
                <a:latin typeface="Cambria Math"/>
                <a:ea typeface="Cambria Math"/>
                <a:cs typeface="Cambria Math"/>
              </a:defRPr>
            </a:pPr>
            <a:r>
              <a:rPr sz="2850" b="1" i="0">
                <a:solidFill>
                  <a:srgbClr val="65539A"/>
                </a:solidFill>
                <a:latin typeface="Cambria Math"/>
                <a:ea typeface="Cambria Math"/>
                <a:cs typeface="Cambria Math"/>
              </a:rPr>
              <a:t>eʲφˣ⁽ᶠ⁾</a:t>
            </a:r>
          </a:p>
        </p:txBody>
      </p:sp>
      <p:sp>
        <p:nvSpPr>
          <p:cNvPr id="12" name="U05-DG-003-callout_quantity">
            <a:extLst>
              <a:ext uri="{FF2B5EF4-FFF2-40B4-BE49-F238E27FC236}">
                <a16:creationId xmlns:a16="http://schemas.microsoft.com/office/drawing/2014/main" id="{8E114E6A-6915-4B5A-B2D7-2BD25705F10B}"/>
              </a:ext>
            </a:extLst>
          </p:cNvPr>
          <p:cNvSpPr>
            <a:spLocks noGrp="1"/>
          </p:cNvSpPr>
          <p:nvPr/>
        </p:nvSpPr>
        <p:spPr>
          <a:xfrm>
            <a:off x="857250" y="1285875"/>
            <a:ext cx="2333625" cy="1000125"/>
          </a:xfrm>
          <a:prstGeom prst="roundRect">
            <a:avLst>
              <a:gd name="adj" fmla="val 13333"/>
            </a:avLst>
          </a:prstGeom>
          <a:solidFill>
            <a:srgbClr val="F3F6F8"/>
          </a:solidFill>
          <a:ln w="19050">
            <a:solidFill>
              <a:srgbClr val="8291A3"/>
            </a:solidFill>
            <a:prstDash val="solid"/>
          </a:ln>
        </p:spPr>
      </p:sp>
      <p:sp>
        <p:nvSpPr>
          <p:cNvPr id="13" name="U05-DG-003-callout_quantity-title">
            <a:extLst>
              <a:ext uri="{FF2B5EF4-FFF2-40B4-BE49-F238E27FC236}">
                <a16:creationId xmlns:a16="http://schemas.microsoft.com/office/drawing/2014/main" id="{9518ED02-5668-4EFA-96B5-22B22B7B882F}"/>
              </a:ext>
            </a:extLst>
          </p:cNvPr>
          <p:cNvSpPr>
            <a:spLocks noGrp="1"/>
          </p:cNvSpPr>
          <p:nvPr/>
        </p:nvSpPr>
        <p:spPr>
          <a:xfrm>
            <a:off x="1028700" y="1409700"/>
            <a:ext cx="19907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Transformada</a:t>
            </a:r>
          </a:p>
        </p:txBody>
      </p:sp>
      <p:sp>
        <p:nvSpPr>
          <p:cNvPr id="14" name="U05-DG-003-callout_quantity-body">
            <a:extLst>
              <a:ext uri="{FF2B5EF4-FFF2-40B4-BE49-F238E27FC236}">
                <a16:creationId xmlns:a16="http://schemas.microsoft.com/office/drawing/2014/main" id="{D3FA4FC8-AF50-4D30-9082-57E0AB3AD2D0}"/>
              </a:ext>
            </a:extLst>
          </p:cNvPr>
          <p:cNvSpPr>
            <a:spLocks noGrp="1"/>
          </p:cNvSpPr>
          <p:nvPr/>
        </p:nvSpPr>
        <p:spPr>
          <a:xfrm>
            <a:off x="1028700" y="1733550"/>
            <a:ext cx="199072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unidad U·s</a:t>
            </a:r>
          </a:p>
        </p:txBody>
      </p:sp>
      <p:sp>
        <p:nvSpPr>
          <p:cNvPr id="15" name="U05-DG-003-callout_magnitude">
            <a:extLst>
              <a:ext uri="{FF2B5EF4-FFF2-40B4-BE49-F238E27FC236}">
                <a16:creationId xmlns:a16="http://schemas.microsoft.com/office/drawing/2014/main" id="{0BC77DDB-DEEF-4050-BC19-C9C81A023A38}"/>
              </a:ext>
            </a:extLst>
          </p:cNvPr>
          <p:cNvSpPr>
            <a:spLocks noGrp="1"/>
          </p:cNvSpPr>
          <p:nvPr/>
        </p:nvSpPr>
        <p:spPr>
          <a:xfrm>
            <a:off x="3905250" y="4333875"/>
            <a:ext cx="2476500" cy="1000125"/>
          </a:xfrm>
          <a:prstGeom prst="roundRect">
            <a:avLst>
              <a:gd name="adj" fmla="val 13333"/>
            </a:avLst>
          </a:prstGeom>
          <a:solidFill>
            <a:srgbClr val="EFF8FA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16" name="U05-DG-003-callout_magnitude-title">
            <a:extLst>
              <a:ext uri="{FF2B5EF4-FFF2-40B4-BE49-F238E27FC236}">
                <a16:creationId xmlns:a16="http://schemas.microsoft.com/office/drawing/2014/main" id="{418FCD05-E362-4446-BCE4-5808E92814BD}"/>
              </a:ext>
            </a:extLst>
          </p:cNvPr>
          <p:cNvSpPr>
            <a:spLocks noGrp="1"/>
          </p:cNvSpPr>
          <p:nvPr/>
        </p:nvSpPr>
        <p:spPr>
          <a:xfrm>
            <a:off x="4076700" y="4457700"/>
            <a:ext cx="2133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Magnitud</a:t>
            </a:r>
          </a:p>
        </p:txBody>
      </p:sp>
      <p:sp>
        <p:nvSpPr>
          <p:cNvPr id="17" name="U05-DG-003-callout_magnitude-body">
            <a:extLst>
              <a:ext uri="{FF2B5EF4-FFF2-40B4-BE49-F238E27FC236}">
                <a16:creationId xmlns:a16="http://schemas.microsoft.com/office/drawing/2014/main" id="{F548716F-D328-43C7-8FDC-0E5291F51B73}"/>
              </a:ext>
            </a:extLst>
          </p:cNvPr>
          <p:cNvSpPr>
            <a:spLocks noGrp="1"/>
          </p:cNvSpPr>
          <p:nvPr/>
        </p:nvSpPr>
        <p:spPr>
          <a:xfrm>
            <a:off x="4076700" y="4781550"/>
            <a:ext cx="21336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escala declarada</a:t>
            </a:r>
          </a:p>
        </p:txBody>
      </p:sp>
      <p:sp>
        <p:nvSpPr>
          <p:cNvPr id="18" name="U05-DG-003-callout_phase">
            <a:extLst>
              <a:ext uri="{FF2B5EF4-FFF2-40B4-BE49-F238E27FC236}">
                <a16:creationId xmlns:a16="http://schemas.microsoft.com/office/drawing/2014/main" id="{3D0FCD71-7549-4732-B64F-CD6A5727B70A}"/>
              </a:ext>
            </a:extLst>
          </p:cNvPr>
          <p:cNvSpPr>
            <a:spLocks noGrp="1"/>
          </p:cNvSpPr>
          <p:nvPr/>
        </p:nvSpPr>
        <p:spPr>
          <a:xfrm>
            <a:off x="7239000" y="4333875"/>
            <a:ext cx="2381250" cy="1000125"/>
          </a:xfrm>
          <a:prstGeom prst="roundRect">
            <a:avLst>
              <a:gd name="adj" fmla="val 13333"/>
            </a:avLst>
          </a:prstGeom>
          <a:solidFill>
            <a:srgbClr val="E3F2ED"/>
          </a:solidFill>
          <a:ln w="19050">
            <a:solidFill>
              <a:srgbClr val="2D7867"/>
            </a:solidFill>
            <a:prstDash val="solid"/>
          </a:ln>
        </p:spPr>
      </p:sp>
      <p:sp>
        <p:nvSpPr>
          <p:cNvPr id="19" name="U05-DG-003-callout_phase-title">
            <a:extLst>
              <a:ext uri="{FF2B5EF4-FFF2-40B4-BE49-F238E27FC236}">
                <a16:creationId xmlns:a16="http://schemas.microsoft.com/office/drawing/2014/main" id="{BFD12563-812B-46D6-998B-8F81D3C2AB42}"/>
              </a:ext>
            </a:extLst>
          </p:cNvPr>
          <p:cNvSpPr>
            <a:spLocks noGrp="1"/>
          </p:cNvSpPr>
          <p:nvPr/>
        </p:nvSpPr>
        <p:spPr>
          <a:xfrm>
            <a:off x="7410450" y="4457700"/>
            <a:ext cx="2038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Fase relativa</a:t>
            </a:r>
          </a:p>
        </p:txBody>
      </p:sp>
      <p:sp>
        <p:nvSpPr>
          <p:cNvPr id="20" name="U05-DG-003-callout_phase-body">
            <a:extLst>
              <a:ext uri="{FF2B5EF4-FFF2-40B4-BE49-F238E27FC236}">
                <a16:creationId xmlns:a16="http://schemas.microsoft.com/office/drawing/2014/main" id="{629C8D3C-423B-42B7-AC9D-2BF151B9C333}"/>
              </a:ext>
            </a:extLst>
          </p:cNvPr>
          <p:cNvSpPr>
            <a:spLocks noGrp="1"/>
          </p:cNvSpPr>
          <p:nvPr/>
        </p:nvSpPr>
        <p:spPr>
          <a:xfrm>
            <a:off x="7410450" y="4781550"/>
            <a:ext cx="20383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φₓ(f) en rad</a:t>
            </a:r>
          </a:p>
        </p:txBody>
      </p:sp>
      <p:sp>
        <p:nvSpPr>
          <p:cNvPr id="21" name="U05-DG-003-callout_frequency">
            <a:extLst>
              <a:ext uri="{FF2B5EF4-FFF2-40B4-BE49-F238E27FC236}">
                <a16:creationId xmlns:a16="http://schemas.microsoft.com/office/drawing/2014/main" id="{7F19A23D-2811-48BF-8D0F-83FAD869C830}"/>
              </a:ext>
            </a:extLst>
          </p:cNvPr>
          <p:cNvSpPr>
            <a:spLocks noGrp="1"/>
          </p:cNvSpPr>
          <p:nvPr/>
        </p:nvSpPr>
        <p:spPr>
          <a:xfrm>
            <a:off x="9572625" y="1285875"/>
            <a:ext cx="1905000" cy="1000125"/>
          </a:xfrm>
          <a:prstGeom prst="roundRect">
            <a:avLst>
              <a:gd name="adj" fmla="val 13333"/>
            </a:avLst>
          </a:prstGeom>
          <a:solidFill>
            <a:srgbClr val="DDEFF5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22" name="U05-DG-003-callout_frequency-title">
            <a:extLst>
              <a:ext uri="{FF2B5EF4-FFF2-40B4-BE49-F238E27FC236}">
                <a16:creationId xmlns:a16="http://schemas.microsoft.com/office/drawing/2014/main" id="{BF7D23EF-52AE-4672-AF1E-14B2C3C40F3C}"/>
              </a:ext>
            </a:extLst>
          </p:cNvPr>
          <p:cNvSpPr>
            <a:spLocks noGrp="1"/>
          </p:cNvSpPr>
          <p:nvPr/>
        </p:nvSpPr>
        <p:spPr>
          <a:xfrm>
            <a:off x="9744075" y="1409700"/>
            <a:ext cx="1562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Variable</a:t>
            </a:r>
          </a:p>
        </p:txBody>
      </p:sp>
      <p:sp>
        <p:nvSpPr>
          <p:cNvPr id="23" name="U05-DG-003-callout_frequency-body">
            <a:extLst>
              <a:ext uri="{FF2B5EF4-FFF2-40B4-BE49-F238E27FC236}">
                <a16:creationId xmlns:a16="http://schemas.microsoft.com/office/drawing/2014/main" id="{47D3B10A-917E-460B-B503-3321AC4F415F}"/>
              </a:ext>
            </a:extLst>
          </p:cNvPr>
          <p:cNvSpPr>
            <a:spLocks noGrp="1"/>
          </p:cNvSpPr>
          <p:nvPr/>
        </p:nvSpPr>
        <p:spPr>
          <a:xfrm>
            <a:off x="9744075" y="1733550"/>
            <a:ext cx="15621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f en Hz</a:t>
            </a:r>
          </a:p>
        </p:txBody>
      </p:sp>
      <p:cxnSp>
        <p:nvCxnSpPr>
          <p:cNvPr id="54" name="U05-DG-003-lead_quantity"/>
          <p:cNvCxnSpPr>
            <a:stCxn id="12" idx="3"/>
            <a:endCxn id="4" idx="1"/>
          </p:cNvCxnSpPr>
          <p:nvPr/>
        </p:nvCxnSpPr>
        <p:spPr>
          <a:xfrm flipH="1">
            <a:off x="2152650" y="1785938"/>
            <a:ext cx="1266825" cy="1381125"/>
          </a:xfrm>
          <a:prstGeom prst="bentConnector4">
            <a:avLst/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cxnSp>
        <p:nvCxnSpPr>
          <p:cNvPr id="55" name="U05-DG-003-lead_magnitude"/>
          <p:cNvCxnSpPr>
            <a:stCxn id="15" idx="0"/>
            <a:endCxn id="8" idx="2"/>
          </p:cNvCxnSpPr>
          <p:nvPr/>
        </p:nvCxnSpPr>
        <p:spPr>
          <a:xfrm flipV="1">
            <a:off x="5143500" y="3667125"/>
            <a:ext cx="666750" cy="666750"/>
          </a:xfrm>
          <a:prstGeom prst="bentConnector4">
            <a:avLst>
              <a:gd name="adj1" fmla="val 0"/>
              <a:gd name="adj2" fmla="val 50000"/>
            </a:avLst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cxnSp>
        <p:nvCxnSpPr>
          <p:cNvPr id="56" name="U05-DG-003-lead_phase"/>
          <p:cNvCxnSpPr>
            <a:stCxn id="18" idx="0"/>
            <a:endCxn id="10" idx="2"/>
          </p:cNvCxnSpPr>
          <p:nvPr/>
        </p:nvCxnSpPr>
        <p:spPr>
          <a:xfrm flipH="1" flipV="1">
            <a:off x="8262938" y="3667125"/>
            <a:ext cx="166688" cy="666750"/>
          </a:xfrm>
          <a:prstGeom prst="bentConnector4">
            <a:avLst>
              <a:gd name="adj1" fmla="val 0"/>
              <a:gd name="adj2" fmla="val 50000"/>
            </a:avLst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cxnSp>
        <p:nvCxnSpPr>
          <p:cNvPr id="57" name="U05-DG-003-lead_frequency"/>
          <p:cNvCxnSpPr>
            <a:stCxn id="21" idx="1"/>
            <a:endCxn id="10" idx="3"/>
          </p:cNvCxnSpPr>
          <p:nvPr/>
        </p:nvCxnSpPr>
        <p:spPr>
          <a:xfrm flipH="1">
            <a:off x="9429750" y="1785938"/>
            <a:ext cx="142875" cy="1381125"/>
          </a:xfrm>
          <a:prstGeom prst="bentConnector4">
            <a:avLst/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sp>
        <p:nvSpPr>
          <p:cNvPr id="28" name="diagram-scale-note">
            <a:extLst>
              <a:ext uri="{FF2B5EF4-FFF2-40B4-BE49-F238E27FC236}">
                <a16:creationId xmlns:a16="http://schemas.microsoft.com/office/drawing/2014/main" id="{8723F41B-EA57-4093-BE6F-A78F9CCBBB7D}"/>
              </a:ext>
            </a:extLst>
          </p:cNvPr>
          <p:cNvSpPr>
            <a:spLocks noGrp="1"/>
          </p:cNvSpPr>
          <p:nvPr/>
        </p:nvSpPr>
        <p:spPr>
          <a:xfrm>
            <a:off x="552450" y="5829300"/>
            <a:ext cx="3905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05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Esquema conceptual · no está a escala</a:t>
            </a:r>
          </a:p>
        </p:txBody>
      </p:sp>
      <p:sp>
        <p:nvSpPr>
          <p:cNvPr id="29" name="caption">
            <a:extLst>
              <a:ext uri="{FF2B5EF4-FFF2-40B4-BE49-F238E27FC236}">
                <a16:creationId xmlns:a16="http://schemas.microsoft.com/office/drawing/2014/main" id="{24D32481-E60F-45EF-A864-0934A55EFF0F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876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La frecuencia ubica componentes; la ordenada dice cuánto representa cada una.</a:t>
            </a:r>
          </a:p>
        </p:txBody>
      </p:sp>
      <p:sp>
        <p:nvSpPr>
          <p:cNvPr id="30" name="credit">
            <a:extLst>
              <a:ext uri="{FF2B5EF4-FFF2-40B4-BE49-F238E27FC236}">
                <a16:creationId xmlns:a16="http://schemas.microsoft.com/office/drawing/2014/main" id="{4A59F54F-BC2C-4DD1-9738-745301270558}"/>
              </a:ext>
            </a:extLst>
          </p:cNvPr>
          <p:cNvSpPr>
            <a:spLocks noGrp="1"/>
          </p:cNvSpPr>
          <p:nvPr/>
        </p:nvSpPr>
        <p:spPr>
          <a:xfrm>
            <a:off x="9382125" y="60769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5.3; NOT; GLO.</a:t>
            </a:r>
          </a:p>
        </p:txBody>
      </p:sp>
      <p:sp>
        <p:nvSpPr>
          <p:cNvPr id="24" name="slide-alt-summary" descr="Espectro de líneas con eje de frecuencia y distintas etiquetas posibles para la ordenada.">
            <a:extLst>
              <a:ext uri="{FF2B5EF4-FFF2-40B4-BE49-F238E27FC236}">
                <a16:creationId xmlns:a16="http://schemas.microsoft.com/office/drawing/2014/main" id="{3FF01171-364C-11DE-A2C3-71055FA393A2}"/>
              </a:ext>
            </a:extLst>
          </p:cNvPr>
          <p:cNvSpPr/>
          <p:nvPr/>
        </p:nvSpPr>
        <p:spPr>
          <a:xfrm>
            <a:off x="12700" y="12700"/>
            <a:ext cx="12700" cy="12700"/>
          </a:xfrm>
          <a:prstGeom prst="rect">
            <a:avLst/>
          </a:prstGeom>
          <a:noFill/>
          <a:ln w="19050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866304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yebrow">
            <a:extLst>
              <a:ext uri="{FF2B5EF4-FFF2-40B4-BE49-F238E27FC236}">
                <a16:creationId xmlns:a16="http://schemas.microsoft.com/office/drawing/2014/main" id="{A67749CB-2121-4557-8649-4AF8A3719522}"/>
              </a:ext>
            </a:extLst>
          </p:cNvPr>
          <p:cNvSpPr>
            <a:spLocks noGrp="1"/>
          </p:cNvSpPr>
          <p:nvPr/>
        </p:nvSpPr>
        <p:spPr>
          <a:xfrm>
            <a:off x="514350" y="2095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011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661C3B3A-00FA-4CBC-83A6-9BE989E439F8}"/>
              </a:ext>
            </a:extLst>
          </p:cNvPr>
          <p:cNvSpPr>
            <a:spLocks noGrp="1"/>
          </p:cNvSpPr>
          <p:nvPr/>
        </p:nvSpPr>
        <p:spPr>
          <a:xfrm>
            <a:off x="495300" y="428625"/>
            <a:ext cx="11191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Una presión, tres lecturas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200D654F-B829-4781-8811-CF25A8446197}"/>
              </a:ext>
            </a:extLst>
          </p:cNvPr>
          <p:cNvSpPr>
            <a:spLocks noGrp="1"/>
          </p:cNvSpPr>
          <p:nvPr/>
        </p:nvSpPr>
        <p:spPr>
          <a:xfrm>
            <a:off x="523875" y="971550"/>
            <a:ext cx="11001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Tiempo, magnitud y fase describen la misma señal.</a:t>
            </a:r>
          </a:p>
        </p:txBody>
      </p:sp>
      <p:pic>
        <p:nvPicPr>
          <p:cNvPr id="10" name="Gráfico 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457200" y="1257300"/>
            <a:ext cx="11277600" cy="4686300"/>
          </a:xfrm>
          <a:prstGeom prst="rect">
            <a:avLst/>
          </a:prstGeom>
        </p:spPr>
      </p:pic>
      <p:sp>
        <p:nvSpPr>
          <p:cNvPr id="5" name="caption">
            <a:extLst>
              <a:ext uri="{FF2B5EF4-FFF2-40B4-BE49-F238E27FC236}">
                <a16:creationId xmlns:a16="http://schemas.microsoft.com/office/drawing/2014/main" id="{4E094F6A-396C-4BEA-BECC-6E8517DC1148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876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Misma señal, tres preguntas complementarias.</a:t>
            </a:r>
          </a:p>
        </p:txBody>
      </p:sp>
      <p:sp>
        <p:nvSpPr>
          <p:cNvPr id="6" name="credit">
            <a:extLst>
              <a:ext uri="{FF2B5EF4-FFF2-40B4-BE49-F238E27FC236}">
                <a16:creationId xmlns:a16="http://schemas.microsoft.com/office/drawing/2014/main" id="{92E40A17-75EA-4FAF-BEBE-4F9C6B22DE8F}"/>
              </a:ext>
            </a:extLst>
          </p:cNvPr>
          <p:cNvSpPr>
            <a:spLocks noGrp="1"/>
          </p:cNvSpPr>
          <p:nvPr/>
        </p:nvSpPr>
        <p:spPr>
          <a:xfrm>
            <a:off x="9382125" y="60769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fig. 5.1; PDF p. 122.</a:t>
            </a:r>
          </a:p>
        </p:txBody>
      </p:sp>
      <p:sp>
        <p:nvSpPr>
          <p:cNvPr id="4" name="slide-alt-summary" descr="Tres paneles coordinados muestran forma temporal, magnitud y fase de una misma presión.">
            <a:extLst>
              <a:ext uri="{FF2B5EF4-FFF2-40B4-BE49-F238E27FC236}">
                <a16:creationId xmlns:a16="http://schemas.microsoft.com/office/drawing/2014/main" id="{BA43CDBB-C226-D6E5-80BA-259560B31347}"/>
              </a:ext>
            </a:extLst>
          </p:cNvPr>
          <p:cNvSpPr/>
          <p:nvPr/>
        </p:nvSpPr>
        <p:spPr>
          <a:xfrm>
            <a:off x="12700" y="12700"/>
            <a:ext cx="12700" cy="12700"/>
          </a:xfrm>
          <a:prstGeom prst="rect">
            <a:avLst/>
          </a:prstGeom>
          <a:noFill/>
          <a:ln w="19050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954492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yebrow">
            <a:extLst>
              <a:ext uri="{FF2B5EF4-FFF2-40B4-BE49-F238E27FC236}">
                <a16:creationId xmlns:a16="http://schemas.microsoft.com/office/drawing/2014/main" id="{9F848AF6-8935-46E5-8E7C-68B92E6C2054}"/>
              </a:ext>
            </a:extLst>
          </p:cNvPr>
          <p:cNvSpPr>
            <a:spLocks noGrp="1"/>
          </p:cNvSpPr>
          <p:nvPr/>
        </p:nvSpPr>
        <p:spPr>
          <a:xfrm>
            <a:off x="514350" y="2095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012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CF03E01A-8A28-44D4-9C32-8BA9C2AA6B59}"/>
              </a:ext>
            </a:extLst>
          </p:cNvPr>
          <p:cNvSpPr>
            <a:spLocks noGrp="1"/>
          </p:cNvSpPr>
          <p:nvPr/>
        </p:nvSpPr>
        <p:spPr>
          <a:xfrm>
            <a:off x="495300" y="428625"/>
            <a:ext cx="11191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Leamos el gráfico antes de interpretarlo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651F6909-DB16-4EEA-A4CE-99D916565058}"/>
              </a:ext>
            </a:extLst>
          </p:cNvPr>
          <p:cNvSpPr>
            <a:spLocks noGrp="1"/>
          </p:cNvSpPr>
          <p:nvPr/>
        </p:nvSpPr>
        <p:spPr>
          <a:xfrm>
            <a:off x="523875" y="971550"/>
            <a:ext cx="11001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Describir no es todavía explicar una causa.</a:t>
            </a:r>
          </a:p>
        </p:txBody>
      </p:sp>
      <p:pic>
        <p:nvPicPr>
          <p:cNvPr id="13" name="Gráfico 1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457200" y="1381125"/>
            <a:ext cx="7524750" cy="4429125"/>
          </a:xfrm>
          <a:prstGeom prst="rect">
            <a:avLst/>
          </a:prstGeom>
        </p:spPr>
      </p:pic>
      <p:sp>
        <p:nvSpPr>
          <p:cNvPr id="5" name="chart-reading-box">
            <a:extLst>
              <a:ext uri="{FF2B5EF4-FFF2-40B4-BE49-F238E27FC236}">
                <a16:creationId xmlns:a16="http://schemas.microsoft.com/office/drawing/2014/main" id="{041FA873-DA0C-477C-8C07-53806E2FD736}"/>
              </a:ext>
            </a:extLst>
          </p:cNvPr>
          <p:cNvSpPr>
            <a:spLocks noGrp="1"/>
          </p:cNvSpPr>
          <p:nvPr/>
        </p:nvSpPr>
        <p:spPr>
          <a:xfrm>
            <a:off x="8239125" y="1476375"/>
            <a:ext cx="3190875" cy="3857625"/>
          </a:xfrm>
          <a:prstGeom prst="roundRect">
            <a:avLst>
              <a:gd name="adj" fmla="val 4179"/>
            </a:avLst>
          </a:prstGeom>
          <a:solidFill>
            <a:srgbClr val="DDEFF5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6" name="chart-reading-title">
            <a:extLst>
              <a:ext uri="{FF2B5EF4-FFF2-40B4-BE49-F238E27FC236}">
                <a16:creationId xmlns:a16="http://schemas.microsoft.com/office/drawing/2014/main" id="{E26D93CC-DC05-4126-AD0A-8E47786500FE}"/>
              </a:ext>
            </a:extLst>
          </p:cNvPr>
          <p:cNvSpPr>
            <a:spLocks noGrp="1"/>
          </p:cNvSpPr>
          <p:nvPr/>
        </p:nvSpPr>
        <p:spPr>
          <a:xfrm>
            <a:off x="8410575" y="1609725"/>
            <a:ext cx="28479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Qué leer</a:t>
            </a:r>
          </a:p>
        </p:txBody>
      </p:sp>
      <p:sp>
        <p:nvSpPr>
          <p:cNvPr id="7" name="chart-reading-body">
            <a:extLst>
              <a:ext uri="{FF2B5EF4-FFF2-40B4-BE49-F238E27FC236}">
                <a16:creationId xmlns:a16="http://schemas.microsoft.com/office/drawing/2014/main" id="{3ACDD187-7E25-4ABF-B94C-D12E9D5913F8}"/>
              </a:ext>
            </a:extLst>
          </p:cNvPr>
          <p:cNvSpPr>
            <a:spLocks noGrp="1"/>
          </p:cNvSpPr>
          <p:nvPr/>
        </p:nvSpPr>
        <p:spPr>
          <a:xfrm>
            <a:off x="8410575" y="1990725"/>
            <a:ext cx="2847975" cy="3209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Identifique variable, unidades, frecuencias y amplitudes. ¿Qué fase tiene cada componente? ¿Qué conclusión no puede obtenerse solo con estos paneles?</a:t>
            </a:r>
          </a:p>
        </p:txBody>
      </p:sp>
      <p:sp>
        <p:nvSpPr>
          <p:cNvPr id="8" name="caption">
            <a:extLst>
              <a:ext uri="{FF2B5EF4-FFF2-40B4-BE49-F238E27FC236}">
                <a16:creationId xmlns:a16="http://schemas.microsoft.com/office/drawing/2014/main" id="{4EDA485D-B6F4-4E13-9674-9C17B98A20BF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876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Primero ejes y datos; después interpretación.</a:t>
            </a:r>
          </a:p>
        </p:txBody>
      </p:sp>
      <p:sp>
        <p:nvSpPr>
          <p:cNvPr id="9" name="credit">
            <a:extLst>
              <a:ext uri="{FF2B5EF4-FFF2-40B4-BE49-F238E27FC236}">
                <a16:creationId xmlns:a16="http://schemas.microsoft.com/office/drawing/2014/main" id="{35C733CA-7AF0-40FA-90C3-9253D433E420}"/>
              </a:ext>
            </a:extLst>
          </p:cNvPr>
          <p:cNvSpPr>
            <a:spLocks noGrp="1"/>
          </p:cNvSpPr>
          <p:nvPr/>
        </p:nvSpPr>
        <p:spPr>
          <a:xfrm>
            <a:off x="9382125" y="60769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ejercicios L1.</a:t>
            </a:r>
          </a:p>
        </p:txBody>
      </p:sp>
      <p:sp>
        <p:nvSpPr>
          <p:cNvPr id="4" name="slide-alt-summary" descr="Figura de tres paneles con cinco números que señalan ejes y componentes.">
            <a:extLst>
              <a:ext uri="{FF2B5EF4-FFF2-40B4-BE49-F238E27FC236}">
                <a16:creationId xmlns:a16="http://schemas.microsoft.com/office/drawing/2014/main" id="{7FB6D2A8-07C2-8A6B-1443-44F8D0CA2994}"/>
              </a:ext>
            </a:extLst>
          </p:cNvPr>
          <p:cNvSpPr/>
          <p:nvPr/>
        </p:nvSpPr>
        <p:spPr>
          <a:xfrm>
            <a:off x="12700" y="12700"/>
            <a:ext cx="12700" cy="12700"/>
          </a:xfrm>
          <a:prstGeom prst="rect">
            <a:avLst/>
          </a:prstGeom>
          <a:noFill/>
          <a:ln w="19050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732971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yebrow">
            <a:extLst>
              <a:ext uri="{FF2B5EF4-FFF2-40B4-BE49-F238E27FC236}">
                <a16:creationId xmlns:a16="http://schemas.microsoft.com/office/drawing/2014/main" id="{00312DB3-5063-4838-956E-0E8C34D7DDBB}"/>
              </a:ext>
            </a:extLst>
          </p:cNvPr>
          <p:cNvSpPr>
            <a:spLocks noGrp="1"/>
          </p:cNvSpPr>
          <p:nvPr/>
        </p:nvSpPr>
        <p:spPr>
          <a:xfrm>
            <a:off x="514350" y="2095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013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7B8860CA-1792-48B1-9FBD-2F5DFEDF47BB}"/>
              </a:ext>
            </a:extLst>
          </p:cNvPr>
          <p:cNvSpPr>
            <a:spLocks noGrp="1"/>
          </p:cNvSpPr>
          <p:nvPr/>
        </p:nvSpPr>
        <p:spPr>
          <a:xfrm>
            <a:off x="495300" y="428625"/>
            <a:ext cx="11191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La fase cambia la forma sin cambiar las magnitudes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60F7588A-6909-4E50-8B46-830FE15E66AC}"/>
              </a:ext>
            </a:extLst>
          </p:cNvPr>
          <p:cNvSpPr>
            <a:spLocks noGrp="1"/>
          </p:cNvSpPr>
          <p:nvPr/>
        </p:nvSpPr>
        <p:spPr>
          <a:xfrm>
            <a:off x="523875" y="971550"/>
            <a:ext cx="11001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“Cuánto” y “cuándo dentro del ciclo” son informaciones distintas.</a:t>
            </a:r>
          </a:p>
        </p:txBody>
      </p:sp>
      <p:pic>
        <p:nvPicPr>
          <p:cNvPr id="13" name="Gráfico 1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457200" y="1381125"/>
            <a:ext cx="7524750" cy="4429125"/>
          </a:xfrm>
          <a:prstGeom prst="rect">
            <a:avLst/>
          </a:prstGeom>
        </p:spPr>
      </p:pic>
      <p:sp>
        <p:nvSpPr>
          <p:cNvPr id="5" name="chart-reading-box">
            <a:extLst>
              <a:ext uri="{FF2B5EF4-FFF2-40B4-BE49-F238E27FC236}">
                <a16:creationId xmlns:a16="http://schemas.microsoft.com/office/drawing/2014/main" id="{9162F64F-C66A-4E53-91D4-C6651C805467}"/>
              </a:ext>
            </a:extLst>
          </p:cNvPr>
          <p:cNvSpPr>
            <a:spLocks noGrp="1"/>
          </p:cNvSpPr>
          <p:nvPr/>
        </p:nvSpPr>
        <p:spPr>
          <a:xfrm>
            <a:off x="8239125" y="1476375"/>
            <a:ext cx="3190875" cy="3857625"/>
          </a:xfrm>
          <a:prstGeom prst="roundRect">
            <a:avLst>
              <a:gd name="adj" fmla="val 4179"/>
            </a:avLst>
          </a:prstGeom>
          <a:solidFill>
            <a:srgbClr val="DDEFF5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6" name="chart-reading-title">
            <a:extLst>
              <a:ext uri="{FF2B5EF4-FFF2-40B4-BE49-F238E27FC236}">
                <a16:creationId xmlns:a16="http://schemas.microsoft.com/office/drawing/2014/main" id="{52210A25-75A8-4757-87E2-CCFA7D24F8AB}"/>
              </a:ext>
            </a:extLst>
          </p:cNvPr>
          <p:cNvSpPr>
            <a:spLocks noGrp="1"/>
          </p:cNvSpPr>
          <p:nvPr/>
        </p:nvSpPr>
        <p:spPr>
          <a:xfrm>
            <a:off x="8410575" y="1609725"/>
            <a:ext cx="28479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Qué leer</a:t>
            </a:r>
          </a:p>
        </p:txBody>
      </p:sp>
      <p:sp>
        <p:nvSpPr>
          <p:cNvPr id="7" name="chart-reading-body">
            <a:extLst>
              <a:ext uri="{FF2B5EF4-FFF2-40B4-BE49-F238E27FC236}">
                <a16:creationId xmlns:a16="http://schemas.microsoft.com/office/drawing/2014/main" id="{463702AD-76F6-4621-A818-2BD2F1D6922F}"/>
              </a:ext>
            </a:extLst>
          </p:cNvPr>
          <p:cNvSpPr>
            <a:spLocks noGrp="1"/>
          </p:cNvSpPr>
          <p:nvPr/>
        </p:nvSpPr>
        <p:spPr>
          <a:xfrm>
            <a:off x="8410575" y="1990725"/>
            <a:ext cx="2847975" cy="3209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Misma frecuencia y magnitud. Fases diferentes. Formas temporales diferentes.</a:t>
            </a:r>
          </a:p>
        </p:txBody>
      </p:sp>
      <p:sp>
        <p:nvSpPr>
          <p:cNvPr id="8" name="caption">
            <a:extLst>
              <a:ext uri="{FF2B5EF4-FFF2-40B4-BE49-F238E27FC236}">
                <a16:creationId xmlns:a16="http://schemas.microsoft.com/office/drawing/2014/main" id="{A9538D08-D176-4AA5-9D6E-A8547A0BB204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876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Igual magnitud espectral no implica igual forma temporal.</a:t>
            </a:r>
          </a:p>
        </p:txBody>
      </p:sp>
      <p:sp>
        <p:nvSpPr>
          <p:cNvPr id="9" name="credit">
            <a:extLst>
              <a:ext uri="{FF2B5EF4-FFF2-40B4-BE49-F238E27FC236}">
                <a16:creationId xmlns:a16="http://schemas.microsoft.com/office/drawing/2014/main" id="{3603E532-8302-4415-A18D-7E866989EC6D}"/>
              </a:ext>
            </a:extLst>
          </p:cNvPr>
          <p:cNvSpPr>
            <a:spLocks noGrp="1"/>
          </p:cNvSpPr>
          <p:nvPr/>
        </p:nvSpPr>
        <p:spPr>
          <a:xfrm>
            <a:off x="9382125" y="60769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5.4.3; BR.</a:t>
            </a:r>
          </a:p>
        </p:txBody>
      </p:sp>
      <p:sp>
        <p:nvSpPr>
          <p:cNvPr id="4" name="slide-alt-summary" descr="Dos señales temporales diferentes comparten magnitudes espectrales y muestran fases distintas.">
            <a:extLst>
              <a:ext uri="{FF2B5EF4-FFF2-40B4-BE49-F238E27FC236}">
                <a16:creationId xmlns:a16="http://schemas.microsoft.com/office/drawing/2014/main" id="{7B4A1E9A-1395-8B8F-95FA-0D7C5D05C2C3}"/>
              </a:ext>
            </a:extLst>
          </p:cNvPr>
          <p:cNvSpPr/>
          <p:nvPr/>
        </p:nvSpPr>
        <p:spPr>
          <a:xfrm>
            <a:off x="12700" y="12700"/>
            <a:ext cx="12700" cy="12700"/>
          </a:xfrm>
          <a:prstGeom prst="rect">
            <a:avLst/>
          </a:prstGeom>
          <a:noFill/>
          <a:ln w="19050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86490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yebrow">
            <a:extLst>
              <a:ext uri="{FF2B5EF4-FFF2-40B4-BE49-F238E27FC236}">
                <a16:creationId xmlns:a16="http://schemas.microsoft.com/office/drawing/2014/main" id="{00AF041A-F81C-42DA-9475-12A5DCA270A8}"/>
              </a:ext>
            </a:extLst>
          </p:cNvPr>
          <p:cNvSpPr>
            <a:spLocks noGrp="1"/>
          </p:cNvSpPr>
          <p:nvPr/>
        </p:nvSpPr>
        <p:spPr>
          <a:xfrm>
            <a:off x="514350" y="2095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014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4447DF81-2337-4AD0-BAA4-41AA88633B4B}"/>
              </a:ext>
            </a:extLst>
          </p:cNvPr>
          <p:cNvSpPr>
            <a:spLocks noGrp="1"/>
          </p:cNvSpPr>
          <p:nvPr/>
        </p:nvSpPr>
        <p:spPr>
          <a:xfrm>
            <a:off x="495300" y="428625"/>
            <a:ext cx="11191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Igual magnitud espectral no significa igual señal temporal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B4B7EF7E-C2BB-4BDE-8CC4-6926B25480D0}"/>
              </a:ext>
            </a:extLst>
          </p:cNvPr>
          <p:cNvSpPr>
            <a:spLocks noGrp="1"/>
          </p:cNvSpPr>
          <p:nvPr/>
        </p:nvSpPr>
        <p:spPr>
          <a:xfrm>
            <a:off x="523875" y="971550"/>
            <a:ext cx="11001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Para reconstruir la forma se necesitan magnitud y fase.</a:t>
            </a:r>
          </a:p>
        </p:txBody>
      </p:sp>
      <p:pic>
        <p:nvPicPr>
          <p:cNvPr id="13" name="Gráfico 1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457200" y="1381125"/>
            <a:ext cx="7524750" cy="4429125"/>
          </a:xfrm>
          <a:prstGeom prst="rect">
            <a:avLst/>
          </a:prstGeom>
        </p:spPr>
      </p:pic>
      <p:sp>
        <p:nvSpPr>
          <p:cNvPr id="5" name="chart-reading-box">
            <a:extLst>
              <a:ext uri="{FF2B5EF4-FFF2-40B4-BE49-F238E27FC236}">
                <a16:creationId xmlns:a16="http://schemas.microsoft.com/office/drawing/2014/main" id="{0175BF4C-C28C-4F17-92DC-5AF4627039FD}"/>
              </a:ext>
            </a:extLst>
          </p:cNvPr>
          <p:cNvSpPr>
            <a:spLocks noGrp="1"/>
          </p:cNvSpPr>
          <p:nvPr/>
        </p:nvSpPr>
        <p:spPr>
          <a:xfrm>
            <a:off x="8239125" y="1476375"/>
            <a:ext cx="3190875" cy="3857625"/>
          </a:xfrm>
          <a:prstGeom prst="roundRect">
            <a:avLst>
              <a:gd name="adj" fmla="val 4179"/>
            </a:avLst>
          </a:prstGeom>
          <a:solidFill>
            <a:srgbClr val="DDEFF5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6" name="chart-reading-title">
            <a:extLst>
              <a:ext uri="{FF2B5EF4-FFF2-40B4-BE49-F238E27FC236}">
                <a16:creationId xmlns:a16="http://schemas.microsoft.com/office/drawing/2014/main" id="{5F532907-9D3D-430A-80D9-869342E2315E}"/>
              </a:ext>
            </a:extLst>
          </p:cNvPr>
          <p:cNvSpPr>
            <a:spLocks noGrp="1"/>
          </p:cNvSpPr>
          <p:nvPr/>
        </p:nvSpPr>
        <p:spPr>
          <a:xfrm>
            <a:off x="8410575" y="1609725"/>
            <a:ext cx="28479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Qué leer</a:t>
            </a:r>
          </a:p>
        </p:txBody>
      </p:sp>
      <p:sp>
        <p:nvSpPr>
          <p:cNvPr id="7" name="chart-reading-body">
            <a:extLst>
              <a:ext uri="{FF2B5EF4-FFF2-40B4-BE49-F238E27FC236}">
                <a16:creationId xmlns:a16="http://schemas.microsoft.com/office/drawing/2014/main" id="{5C0410DB-55B4-4267-A745-B872C8EF7A4C}"/>
              </a:ext>
            </a:extLst>
          </p:cNvPr>
          <p:cNvSpPr>
            <a:spLocks noGrp="1"/>
          </p:cNvSpPr>
          <p:nvPr/>
        </p:nvSpPr>
        <p:spPr>
          <a:xfrm>
            <a:off x="8410575" y="1990725"/>
            <a:ext cx="2847975" cy="3209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Compare: forma temporal magnitud común fase A fase B. La conclusión solo vale bajo la misma convención de representación.</a:t>
            </a:r>
          </a:p>
        </p:txBody>
      </p:sp>
      <p:sp>
        <p:nvSpPr>
          <p:cNvPr id="8" name="caption">
            <a:extLst>
              <a:ext uri="{FF2B5EF4-FFF2-40B4-BE49-F238E27FC236}">
                <a16:creationId xmlns:a16="http://schemas.microsoft.com/office/drawing/2014/main" id="{65450A99-0E7E-4C3A-98E8-0DDD1BBAE3DC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876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La fase conserva información que la magnitud no muestra.</a:t>
            </a:r>
          </a:p>
        </p:txBody>
      </p:sp>
      <p:sp>
        <p:nvSpPr>
          <p:cNvPr id="9" name="credit">
            <a:extLst>
              <a:ext uri="{FF2B5EF4-FFF2-40B4-BE49-F238E27FC236}">
                <a16:creationId xmlns:a16="http://schemas.microsoft.com/office/drawing/2014/main" id="{9646177D-D92B-46C2-B77C-45979D34B88B}"/>
              </a:ext>
            </a:extLst>
          </p:cNvPr>
          <p:cNvSpPr>
            <a:spLocks noGrp="1"/>
          </p:cNvSpPr>
          <p:nvPr/>
        </p:nvSpPr>
        <p:spPr>
          <a:xfrm>
            <a:off x="9382125" y="60769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5.4.3; EP.</a:t>
            </a:r>
          </a:p>
        </p:txBody>
      </p:sp>
      <p:sp>
        <p:nvSpPr>
          <p:cNvPr id="4" name="slide-alt-summary" descr="Cuatro paneles comparan dos formas temporales, una magnitud común y dos fases.">
            <a:extLst>
              <a:ext uri="{FF2B5EF4-FFF2-40B4-BE49-F238E27FC236}">
                <a16:creationId xmlns:a16="http://schemas.microsoft.com/office/drawing/2014/main" id="{09E09995-D238-F39E-9FBC-84DFCD907555}"/>
              </a:ext>
            </a:extLst>
          </p:cNvPr>
          <p:cNvSpPr/>
          <p:nvPr/>
        </p:nvSpPr>
        <p:spPr>
          <a:xfrm>
            <a:off x="12700" y="12700"/>
            <a:ext cx="12700" cy="12700"/>
          </a:xfrm>
          <a:prstGeom prst="rect">
            <a:avLst/>
          </a:prstGeom>
          <a:noFill/>
          <a:ln w="19050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eyebrow">
            <a:extLst>
              <a:ext uri="{FF2B5EF4-FFF2-40B4-BE49-F238E27FC236}">
                <a16:creationId xmlns:a16="http://schemas.microsoft.com/office/drawing/2014/main" id="{9B6B0B2B-FA55-4D19-BCAA-922347B88F03}"/>
              </a:ext>
            </a:extLst>
          </p:cNvPr>
          <p:cNvSpPr>
            <a:spLocks noGrp="1"/>
          </p:cNvSpPr>
          <p:nvPr/>
        </p:nvSpPr>
        <p:spPr>
          <a:xfrm>
            <a:off x="514350" y="2095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015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9AFF4317-C0D0-4AA9-A1D1-7581C72F5BA6}"/>
              </a:ext>
            </a:extLst>
          </p:cNvPr>
          <p:cNvSpPr>
            <a:spLocks noGrp="1"/>
          </p:cNvSpPr>
          <p:nvPr/>
        </p:nvSpPr>
        <p:spPr>
          <a:xfrm>
            <a:off x="495300" y="428625"/>
            <a:ext cx="11191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Una señal periódica repite un patrón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CD2090BF-F0CC-45EB-A71A-47F6846B78EE}"/>
              </a:ext>
            </a:extLst>
          </p:cNvPr>
          <p:cNvSpPr>
            <a:spLocks noGrp="1"/>
          </p:cNvSpPr>
          <p:nvPr/>
        </p:nvSpPr>
        <p:spPr>
          <a:xfrm>
            <a:off x="523875" y="971550"/>
            <a:ext cx="11001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El menor período define la frecuencia fundamental.</a:t>
            </a:r>
          </a:p>
        </p:txBody>
      </p:sp>
      <p:sp>
        <p:nvSpPr>
          <p:cNvPr id="4" name="U05-DG-003-eq_x">
            <a:extLst>
              <a:ext uri="{FF2B5EF4-FFF2-40B4-BE49-F238E27FC236}">
                <a16:creationId xmlns:a16="http://schemas.microsoft.com/office/drawing/2014/main" id="{6D49E37A-BA81-4F3C-9D7D-6EF58B5B0DB2}"/>
              </a:ext>
            </a:extLst>
          </p:cNvPr>
          <p:cNvSpPr>
            <a:spLocks noGrp="1"/>
          </p:cNvSpPr>
          <p:nvPr/>
        </p:nvSpPr>
        <p:spPr>
          <a:xfrm>
            <a:off x="2381250" y="2667000"/>
            <a:ext cx="1571625" cy="1000125"/>
          </a:xfrm>
          <a:prstGeom prst="roundRect">
            <a:avLst>
              <a:gd name="adj" fmla="val 13333"/>
            </a:avLst>
          </a:prstGeom>
          <a:solidFill>
            <a:srgbClr val="EFECF7"/>
          </a:solidFill>
          <a:ln w="19050">
            <a:solidFill>
              <a:srgbClr val="65539A"/>
            </a:solidFill>
            <a:prstDash val="solid"/>
          </a:ln>
        </p:spPr>
      </p:sp>
      <p:sp>
        <p:nvSpPr>
          <p:cNvPr id="5" name="U05-DG-003-eq_x-title">
            <a:extLst>
              <a:ext uri="{FF2B5EF4-FFF2-40B4-BE49-F238E27FC236}">
                <a16:creationId xmlns:a16="http://schemas.microsoft.com/office/drawing/2014/main" id="{5EA922E8-8FF8-4053-A4A7-27B553FAA757}"/>
              </a:ext>
            </a:extLst>
          </p:cNvPr>
          <p:cNvSpPr>
            <a:spLocks noGrp="1"/>
          </p:cNvSpPr>
          <p:nvPr/>
        </p:nvSpPr>
        <p:spPr>
          <a:xfrm>
            <a:off x="2552700" y="2790825"/>
            <a:ext cx="1228725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2000"/>
              </a:lnSpc>
              <a:buNone/>
              <a:defRPr sz="2850" b="1" i="0">
                <a:solidFill>
                  <a:srgbClr val="65539A"/>
                </a:solidFill>
                <a:latin typeface="Cambria Math"/>
                <a:ea typeface="Cambria Math"/>
                <a:cs typeface="Cambria Math"/>
              </a:defRPr>
            </a:pPr>
            <a:r>
              <a:rPr sz="2850" b="1" i="0">
                <a:solidFill>
                  <a:srgbClr val="65539A"/>
                </a:solidFill>
                <a:latin typeface="Cambria Math"/>
                <a:ea typeface="Cambria Math"/>
                <a:cs typeface="Cambria Math"/>
              </a:rPr>
              <a:t>X(f)</a:t>
            </a:r>
          </a:p>
        </p:txBody>
      </p:sp>
      <p:sp>
        <p:nvSpPr>
          <p:cNvPr id="6" name="U05-DG-003-eq_equal">
            <a:extLst>
              <a:ext uri="{FF2B5EF4-FFF2-40B4-BE49-F238E27FC236}">
                <a16:creationId xmlns:a16="http://schemas.microsoft.com/office/drawing/2014/main" id="{C14D77F9-4AFE-43A2-BEA6-52C5646BD28E}"/>
              </a:ext>
            </a:extLst>
          </p:cNvPr>
          <p:cNvSpPr>
            <a:spLocks noGrp="1"/>
          </p:cNvSpPr>
          <p:nvPr/>
        </p:nvSpPr>
        <p:spPr>
          <a:xfrm>
            <a:off x="4095750" y="2667000"/>
            <a:ext cx="571500" cy="1000125"/>
          </a:xfrm>
          <a:prstGeom prst="roundRect">
            <a:avLst>
              <a:gd name="adj" fmla="val 23333"/>
            </a:avLst>
          </a:prstGeom>
          <a:solidFill>
            <a:srgbClr val="EFECF7"/>
          </a:solidFill>
          <a:ln w="19050">
            <a:solidFill>
              <a:srgbClr val="65539A"/>
            </a:solidFill>
            <a:prstDash val="solid"/>
          </a:ln>
        </p:spPr>
      </p:sp>
      <p:sp>
        <p:nvSpPr>
          <p:cNvPr id="7" name="U05-DG-003-eq_equal-title">
            <a:extLst>
              <a:ext uri="{FF2B5EF4-FFF2-40B4-BE49-F238E27FC236}">
                <a16:creationId xmlns:a16="http://schemas.microsoft.com/office/drawing/2014/main" id="{B9F1D418-17F9-41E1-B8B5-A35B211DCBF3}"/>
              </a:ext>
            </a:extLst>
          </p:cNvPr>
          <p:cNvSpPr>
            <a:spLocks noGrp="1"/>
          </p:cNvSpPr>
          <p:nvPr/>
        </p:nvSpPr>
        <p:spPr>
          <a:xfrm>
            <a:off x="4267200" y="2790825"/>
            <a:ext cx="22860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2000"/>
              </a:lnSpc>
              <a:buNone/>
              <a:defRPr sz="2850" b="1" i="0">
                <a:solidFill>
                  <a:srgbClr val="65539A"/>
                </a:solidFill>
                <a:latin typeface="Cambria Math"/>
                <a:ea typeface="Cambria Math"/>
                <a:cs typeface="Cambria Math"/>
              </a:defRPr>
            </a:pPr>
            <a:r>
              <a:rPr sz="2850" b="1" i="0">
                <a:solidFill>
                  <a:srgbClr val="65539A"/>
                </a:solidFill>
                <a:latin typeface="Cambria Math"/>
                <a:ea typeface="Cambria Math"/>
                <a:cs typeface="Cambria Math"/>
              </a:rPr>
              <a:t>=</a:t>
            </a:r>
          </a:p>
        </p:txBody>
      </p:sp>
      <p:sp>
        <p:nvSpPr>
          <p:cNvPr id="8" name="U05-DG-003-eq_mag">
            <a:extLst>
              <a:ext uri="{FF2B5EF4-FFF2-40B4-BE49-F238E27FC236}">
                <a16:creationId xmlns:a16="http://schemas.microsoft.com/office/drawing/2014/main" id="{2BA3E9DE-0510-4716-B6B0-B6722D9DBD92}"/>
              </a:ext>
            </a:extLst>
          </p:cNvPr>
          <p:cNvSpPr>
            <a:spLocks noGrp="1"/>
          </p:cNvSpPr>
          <p:nvPr/>
        </p:nvSpPr>
        <p:spPr>
          <a:xfrm>
            <a:off x="4810125" y="2667000"/>
            <a:ext cx="2000250" cy="1000125"/>
          </a:xfrm>
          <a:prstGeom prst="roundRect">
            <a:avLst>
              <a:gd name="adj" fmla="val 13333"/>
            </a:avLst>
          </a:prstGeom>
          <a:solidFill>
            <a:srgbClr val="EFECF7"/>
          </a:solidFill>
          <a:ln w="19050">
            <a:solidFill>
              <a:srgbClr val="65539A"/>
            </a:solidFill>
            <a:prstDash val="solid"/>
          </a:ln>
        </p:spPr>
      </p:sp>
      <p:sp>
        <p:nvSpPr>
          <p:cNvPr id="9" name="U05-DG-003-eq_mag-title">
            <a:extLst>
              <a:ext uri="{FF2B5EF4-FFF2-40B4-BE49-F238E27FC236}">
                <a16:creationId xmlns:a16="http://schemas.microsoft.com/office/drawing/2014/main" id="{EE7C1F55-6921-4590-A966-16A7B39617D1}"/>
              </a:ext>
            </a:extLst>
          </p:cNvPr>
          <p:cNvSpPr>
            <a:spLocks noGrp="1"/>
          </p:cNvSpPr>
          <p:nvPr/>
        </p:nvSpPr>
        <p:spPr>
          <a:xfrm>
            <a:off x="4981575" y="2790825"/>
            <a:ext cx="165735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2000"/>
              </a:lnSpc>
              <a:buNone/>
              <a:defRPr sz="2850" b="1" i="0">
                <a:solidFill>
                  <a:srgbClr val="65539A"/>
                </a:solidFill>
                <a:latin typeface="Cambria Math"/>
                <a:ea typeface="Cambria Math"/>
                <a:cs typeface="Cambria Math"/>
              </a:defRPr>
            </a:pPr>
            <a:r>
              <a:rPr sz="2850" b="1" i="0">
                <a:solidFill>
                  <a:srgbClr val="65539A"/>
                </a:solidFill>
                <a:latin typeface="Cambria Math"/>
                <a:ea typeface="Cambria Math"/>
                <a:cs typeface="Cambria Math"/>
              </a:rPr>
              <a:t>|X(f)|</a:t>
            </a:r>
          </a:p>
        </p:txBody>
      </p:sp>
      <p:sp>
        <p:nvSpPr>
          <p:cNvPr id="10" name="U05-DG-003-eq_phase">
            <a:extLst>
              <a:ext uri="{FF2B5EF4-FFF2-40B4-BE49-F238E27FC236}">
                <a16:creationId xmlns:a16="http://schemas.microsoft.com/office/drawing/2014/main" id="{E9126BD3-C8CA-43E3-B844-FD21E54A888C}"/>
              </a:ext>
            </a:extLst>
          </p:cNvPr>
          <p:cNvSpPr>
            <a:spLocks noGrp="1"/>
          </p:cNvSpPr>
          <p:nvPr/>
        </p:nvSpPr>
        <p:spPr>
          <a:xfrm>
            <a:off x="7096125" y="2667000"/>
            <a:ext cx="2333625" cy="1000125"/>
          </a:xfrm>
          <a:prstGeom prst="roundRect">
            <a:avLst>
              <a:gd name="adj" fmla="val 13333"/>
            </a:avLst>
          </a:prstGeom>
          <a:solidFill>
            <a:srgbClr val="EFECF7"/>
          </a:solidFill>
          <a:ln w="19050">
            <a:solidFill>
              <a:srgbClr val="65539A"/>
            </a:solidFill>
            <a:prstDash val="solid"/>
          </a:ln>
        </p:spPr>
      </p:sp>
      <p:sp>
        <p:nvSpPr>
          <p:cNvPr id="11" name="U05-DG-003-eq_phase-title">
            <a:extLst>
              <a:ext uri="{FF2B5EF4-FFF2-40B4-BE49-F238E27FC236}">
                <a16:creationId xmlns:a16="http://schemas.microsoft.com/office/drawing/2014/main" id="{F3CBF443-A244-438F-B443-E8D4F277EE79}"/>
              </a:ext>
            </a:extLst>
          </p:cNvPr>
          <p:cNvSpPr>
            <a:spLocks noGrp="1"/>
          </p:cNvSpPr>
          <p:nvPr/>
        </p:nvSpPr>
        <p:spPr>
          <a:xfrm>
            <a:off x="7267575" y="2790825"/>
            <a:ext cx="1990725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2000"/>
              </a:lnSpc>
              <a:buNone/>
              <a:defRPr sz="2850" b="1" i="0">
                <a:solidFill>
                  <a:srgbClr val="65539A"/>
                </a:solidFill>
                <a:latin typeface="Cambria Math"/>
                <a:ea typeface="Cambria Math"/>
                <a:cs typeface="Cambria Math"/>
              </a:defRPr>
            </a:pPr>
            <a:r>
              <a:rPr sz="2850" b="1" i="0">
                <a:solidFill>
                  <a:srgbClr val="65539A"/>
                </a:solidFill>
                <a:latin typeface="Cambria Math"/>
                <a:ea typeface="Cambria Math"/>
                <a:cs typeface="Cambria Math"/>
              </a:rPr>
              <a:t>eʲφˣ⁽ᶠ⁾</a:t>
            </a:r>
          </a:p>
        </p:txBody>
      </p:sp>
      <p:sp>
        <p:nvSpPr>
          <p:cNvPr id="12" name="U05-DG-003-callout_quantity">
            <a:extLst>
              <a:ext uri="{FF2B5EF4-FFF2-40B4-BE49-F238E27FC236}">
                <a16:creationId xmlns:a16="http://schemas.microsoft.com/office/drawing/2014/main" id="{25E56618-7EA7-4307-A8D7-59E38B9605B8}"/>
              </a:ext>
            </a:extLst>
          </p:cNvPr>
          <p:cNvSpPr>
            <a:spLocks noGrp="1"/>
          </p:cNvSpPr>
          <p:nvPr/>
        </p:nvSpPr>
        <p:spPr>
          <a:xfrm>
            <a:off x="857250" y="1285875"/>
            <a:ext cx="2333625" cy="1000125"/>
          </a:xfrm>
          <a:prstGeom prst="roundRect">
            <a:avLst>
              <a:gd name="adj" fmla="val 13333"/>
            </a:avLst>
          </a:prstGeom>
          <a:solidFill>
            <a:srgbClr val="F3F6F8"/>
          </a:solidFill>
          <a:ln w="19050">
            <a:solidFill>
              <a:srgbClr val="8291A3"/>
            </a:solidFill>
            <a:prstDash val="solid"/>
          </a:ln>
        </p:spPr>
      </p:sp>
      <p:sp>
        <p:nvSpPr>
          <p:cNvPr id="13" name="U05-DG-003-callout_quantity-title">
            <a:extLst>
              <a:ext uri="{FF2B5EF4-FFF2-40B4-BE49-F238E27FC236}">
                <a16:creationId xmlns:a16="http://schemas.microsoft.com/office/drawing/2014/main" id="{191928F8-A831-4FAB-B03C-78E96A615E4C}"/>
              </a:ext>
            </a:extLst>
          </p:cNvPr>
          <p:cNvSpPr>
            <a:spLocks noGrp="1"/>
          </p:cNvSpPr>
          <p:nvPr/>
        </p:nvSpPr>
        <p:spPr>
          <a:xfrm>
            <a:off x="1028700" y="1409700"/>
            <a:ext cx="19907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Transformada</a:t>
            </a:r>
          </a:p>
        </p:txBody>
      </p:sp>
      <p:sp>
        <p:nvSpPr>
          <p:cNvPr id="14" name="U05-DG-003-callout_quantity-body">
            <a:extLst>
              <a:ext uri="{FF2B5EF4-FFF2-40B4-BE49-F238E27FC236}">
                <a16:creationId xmlns:a16="http://schemas.microsoft.com/office/drawing/2014/main" id="{98BD21DE-86C3-4D10-906A-4D9C12D1C656}"/>
              </a:ext>
            </a:extLst>
          </p:cNvPr>
          <p:cNvSpPr>
            <a:spLocks noGrp="1"/>
          </p:cNvSpPr>
          <p:nvPr/>
        </p:nvSpPr>
        <p:spPr>
          <a:xfrm>
            <a:off x="1028700" y="1733550"/>
            <a:ext cx="199072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unidad U·s</a:t>
            </a:r>
          </a:p>
        </p:txBody>
      </p:sp>
      <p:sp>
        <p:nvSpPr>
          <p:cNvPr id="15" name="U05-DG-003-callout_magnitude">
            <a:extLst>
              <a:ext uri="{FF2B5EF4-FFF2-40B4-BE49-F238E27FC236}">
                <a16:creationId xmlns:a16="http://schemas.microsoft.com/office/drawing/2014/main" id="{D76446B2-51C4-48E7-BBF4-52BA56F0E81C}"/>
              </a:ext>
            </a:extLst>
          </p:cNvPr>
          <p:cNvSpPr>
            <a:spLocks noGrp="1"/>
          </p:cNvSpPr>
          <p:nvPr/>
        </p:nvSpPr>
        <p:spPr>
          <a:xfrm>
            <a:off x="3905250" y="4333875"/>
            <a:ext cx="2476500" cy="1000125"/>
          </a:xfrm>
          <a:prstGeom prst="roundRect">
            <a:avLst>
              <a:gd name="adj" fmla="val 13333"/>
            </a:avLst>
          </a:prstGeom>
          <a:solidFill>
            <a:srgbClr val="EFF8FA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16" name="U05-DG-003-callout_magnitude-title">
            <a:extLst>
              <a:ext uri="{FF2B5EF4-FFF2-40B4-BE49-F238E27FC236}">
                <a16:creationId xmlns:a16="http://schemas.microsoft.com/office/drawing/2014/main" id="{2E45F185-74CB-485B-8B72-A36628C07F5E}"/>
              </a:ext>
            </a:extLst>
          </p:cNvPr>
          <p:cNvSpPr>
            <a:spLocks noGrp="1"/>
          </p:cNvSpPr>
          <p:nvPr/>
        </p:nvSpPr>
        <p:spPr>
          <a:xfrm>
            <a:off x="4076700" y="4457700"/>
            <a:ext cx="2133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Magnitud</a:t>
            </a:r>
          </a:p>
        </p:txBody>
      </p:sp>
      <p:sp>
        <p:nvSpPr>
          <p:cNvPr id="17" name="U05-DG-003-callout_magnitude-body">
            <a:extLst>
              <a:ext uri="{FF2B5EF4-FFF2-40B4-BE49-F238E27FC236}">
                <a16:creationId xmlns:a16="http://schemas.microsoft.com/office/drawing/2014/main" id="{CB2154EF-1794-4F46-97BB-D38515312E02}"/>
              </a:ext>
            </a:extLst>
          </p:cNvPr>
          <p:cNvSpPr>
            <a:spLocks noGrp="1"/>
          </p:cNvSpPr>
          <p:nvPr/>
        </p:nvSpPr>
        <p:spPr>
          <a:xfrm>
            <a:off x="4076700" y="4781550"/>
            <a:ext cx="21336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escala declarada</a:t>
            </a:r>
          </a:p>
        </p:txBody>
      </p:sp>
      <p:sp>
        <p:nvSpPr>
          <p:cNvPr id="18" name="U05-DG-003-callout_phase">
            <a:extLst>
              <a:ext uri="{FF2B5EF4-FFF2-40B4-BE49-F238E27FC236}">
                <a16:creationId xmlns:a16="http://schemas.microsoft.com/office/drawing/2014/main" id="{D2801E6A-371B-486A-94C1-ACBB935D249C}"/>
              </a:ext>
            </a:extLst>
          </p:cNvPr>
          <p:cNvSpPr>
            <a:spLocks noGrp="1"/>
          </p:cNvSpPr>
          <p:nvPr/>
        </p:nvSpPr>
        <p:spPr>
          <a:xfrm>
            <a:off x="7239000" y="4333875"/>
            <a:ext cx="2381250" cy="1000125"/>
          </a:xfrm>
          <a:prstGeom prst="roundRect">
            <a:avLst>
              <a:gd name="adj" fmla="val 13333"/>
            </a:avLst>
          </a:prstGeom>
          <a:solidFill>
            <a:srgbClr val="E3F2ED"/>
          </a:solidFill>
          <a:ln w="19050">
            <a:solidFill>
              <a:srgbClr val="2D7867"/>
            </a:solidFill>
            <a:prstDash val="solid"/>
          </a:ln>
        </p:spPr>
      </p:sp>
      <p:sp>
        <p:nvSpPr>
          <p:cNvPr id="19" name="U05-DG-003-callout_phase-title">
            <a:extLst>
              <a:ext uri="{FF2B5EF4-FFF2-40B4-BE49-F238E27FC236}">
                <a16:creationId xmlns:a16="http://schemas.microsoft.com/office/drawing/2014/main" id="{B526FC5F-DF75-4EC6-A90D-8775752EBA0F}"/>
              </a:ext>
            </a:extLst>
          </p:cNvPr>
          <p:cNvSpPr>
            <a:spLocks noGrp="1"/>
          </p:cNvSpPr>
          <p:nvPr/>
        </p:nvSpPr>
        <p:spPr>
          <a:xfrm>
            <a:off x="7410450" y="4457700"/>
            <a:ext cx="2038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Fase relativa</a:t>
            </a:r>
          </a:p>
        </p:txBody>
      </p:sp>
      <p:sp>
        <p:nvSpPr>
          <p:cNvPr id="20" name="U05-DG-003-callout_phase-body">
            <a:extLst>
              <a:ext uri="{FF2B5EF4-FFF2-40B4-BE49-F238E27FC236}">
                <a16:creationId xmlns:a16="http://schemas.microsoft.com/office/drawing/2014/main" id="{74826462-4D0B-47A0-8E30-EF66D6585410}"/>
              </a:ext>
            </a:extLst>
          </p:cNvPr>
          <p:cNvSpPr>
            <a:spLocks noGrp="1"/>
          </p:cNvSpPr>
          <p:nvPr/>
        </p:nvSpPr>
        <p:spPr>
          <a:xfrm>
            <a:off x="7410450" y="4781550"/>
            <a:ext cx="20383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φₓ(f) en rad</a:t>
            </a:r>
          </a:p>
        </p:txBody>
      </p:sp>
      <p:sp>
        <p:nvSpPr>
          <p:cNvPr id="21" name="U05-DG-003-callout_frequency">
            <a:extLst>
              <a:ext uri="{FF2B5EF4-FFF2-40B4-BE49-F238E27FC236}">
                <a16:creationId xmlns:a16="http://schemas.microsoft.com/office/drawing/2014/main" id="{494D8073-DA74-4B1E-A428-30BFDB97297A}"/>
              </a:ext>
            </a:extLst>
          </p:cNvPr>
          <p:cNvSpPr>
            <a:spLocks noGrp="1"/>
          </p:cNvSpPr>
          <p:nvPr/>
        </p:nvSpPr>
        <p:spPr>
          <a:xfrm>
            <a:off x="9572625" y="1285875"/>
            <a:ext cx="1905000" cy="1000125"/>
          </a:xfrm>
          <a:prstGeom prst="roundRect">
            <a:avLst>
              <a:gd name="adj" fmla="val 13333"/>
            </a:avLst>
          </a:prstGeom>
          <a:solidFill>
            <a:srgbClr val="DDEFF5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22" name="U05-DG-003-callout_frequency-title">
            <a:extLst>
              <a:ext uri="{FF2B5EF4-FFF2-40B4-BE49-F238E27FC236}">
                <a16:creationId xmlns:a16="http://schemas.microsoft.com/office/drawing/2014/main" id="{2D323BB3-EC12-4A3C-81A9-144BACDC2879}"/>
              </a:ext>
            </a:extLst>
          </p:cNvPr>
          <p:cNvSpPr>
            <a:spLocks noGrp="1"/>
          </p:cNvSpPr>
          <p:nvPr/>
        </p:nvSpPr>
        <p:spPr>
          <a:xfrm>
            <a:off x="9744075" y="1409700"/>
            <a:ext cx="1562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Variable</a:t>
            </a:r>
          </a:p>
        </p:txBody>
      </p:sp>
      <p:sp>
        <p:nvSpPr>
          <p:cNvPr id="23" name="U05-DG-003-callout_frequency-body">
            <a:extLst>
              <a:ext uri="{FF2B5EF4-FFF2-40B4-BE49-F238E27FC236}">
                <a16:creationId xmlns:a16="http://schemas.microsoft.com/office/drawing/2014/main" id="{262B1720-AA7D-4F19-81E2-C070AA414137}"/>
              </a:ext>
            </a:extLst>
          </p:cNvPr>
          <p:cNvSpPr>
            <a:spLocks noGrp="1"/>
          </p:cNvSpPr>
          <p:nvPr/>
        </p:nvSpPr>
        <p:spPr>
          <a:xfrm>
            <a:off x="9744075" y="1733550"/>
            <a:ext cx="15621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f en Hz</a:t>
            </a:r>
          </a:p>
        </p:txBody>
      </p:sp>
      <p:cxnSp>
        <p:nvCxnSpPr>
          <p:cNvPr id="54" name="U05-DG-003-lead_quantity"/>
          <p:cNvCxnSpPr>
            <a:stCxn id="12" idx="3"/>
            <a:endCxn id="4" idx="1"/>
          </p:cNvCxnSpPr>
          <p:nvPr/>
        </p:nvCxnSpPr>
        <p:spPr>
          <a:xfrm flipH="1">
            <a:off x="2152650" y="1785938"/>
            <a:ext cx="1266825" cy="1381125"/>
          </a:xfrm>
          <a:prstGeom prst="bentConnector4">
            <a:avLst/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cxnSp>
        <p:nvCxnSpPr>
          <p:cNvPr id="55" name="U05-DG-003-lead_magnitude"/>
          <p:cNvCxnSpPr>
            <a:stCxn id="15" idx="0"/>
            <a:endCxn id="8" idx="2"/>
          </p:cNvCxnSpPr>
          <p:nvPr/>
        </p:nvCxnSpPr>
        <p:spPr>
          <a:xfrm flipV="1">
            <a:off x="5143500" y="3667125"/>
            <a:ext cx="666750" cy="666750"/>
          </a:xfrm>
          <a:prstGeom prst="bentConnector4">
            <a:avLst>
              <a:gd name="adj1" fmla="val 0"/>
              <a:gd name="adj2" fmla="val 50000"/>
            </a:avLst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cxnSp>
        <p:nvCxnSpPr>
          <p:cNvPr id="56" name="U05-DG-003-lead_phase"/>
          <p:cNvCxnSpPr>
            <a:stCxn id="18" idx="0"/>
            <a:endCxn id="10" idx="2"/>
          </p:cNvCxnSpPr>
          <p:nvPr/>
        </p:nvCxnSpPr>
        <p:spPr>
          <a:xfrm flipH="1" flipV="1">
            <a:off x="8262938" y="3667125"/>
            <a:ext cx="166688" cy="666750"/>
          </a:xfrm>
          <a:prstGeom prst="bentConnector4">
            <a:avLst>
              <a:gd name="adj1" fmla="val 0"/>
              <a:gd name="adj2" fmla="val 50000"/>
            </a:avLst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cxnSp>
        <p:nvCxnSpPr>
          <p:cNvPr id="57" name="U05-DG-003-lead_frequency"/>
          <p:cNvCxnSpPr>
            <a:stCxn id="21" idx="1"/>
            <a:endCxn id="10" idx="3"/>
          </p:cNvCxnSpPr>
          <p:nvPr/>
        </p:nvCxnSpPr>
        <p:spPr>
          <a:xfrm flipH="1">
            <a:off x="9429750" y="1785938"/>
            <a:ext cx="142875" cy="1381125"/>
          </a:xfrm>
          <a:prstGeom prst="bentConnector4">
            <a:avLst/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sp>
        <p:nvSpPr>
          <p:cNvPr id="28" name="diagram-scale-note">
            <a:extLst>
              <a:ext uri="{FF2B5EF4-FFF2-40B4-BE49-F238E27FC236}">
                <a16:creationId xmlns:a16="http://schemas.microsoft.com/office/drawing/2014/main" id="{B63DED9F-7B2E-429D-8E73-1D594F89C704}"/>
              </a:ext>
            </a:extLst>
          </p:cNvPr>
          <p:cNvSpPr>
            <a:spLocks noGrp="1"/>
          </p:cNvSpPr>
          <p:nvPr/>
        </p:nvSpPr>
        <p:spPr>
          <a:xfrm>
            <a:off x="552450" y="5829300"/>
            <a:ext cx="3905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05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Esquema conceptual · no está a escala</a:t>
            </a:r>
          </a:p>
        </p:txBody>
      </p:sp>
      <p:sp>
        <p:nvSpPr>
          <p:cNvPr id="29" name="caption">
            <a:extLst>
              <a:ext uri="{FF2B5EF4-FFF2-40B4-BE49-F238E27FC236}">
                <a16:creationId xmlns:a16="http://schemas.microsoft.com/office/drawing/2014/main" id="{B06BE2D8-6E6E-429A-A7F2-22473CB8AF6E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876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Un período completo contiene el patrón que vuelve a repetirse.</a:t>
            </a:r>
          </a:p>
        </p:txBody>
      </p:sp>
      <p:sp>
        <p:nvSpPr>
          <p:cNvPr id="30" name="credit">
            <a:extLst>
              <a:ext uri="{FF2B5EF4-FFF2-40B4-BE49-F238E27FC236}">
                <a16:creationId xmlns:a16="http://schemas.microsoft.com/office/drawing/2014/main" id="{87316C8E-6578-418E-82AE-E1B85C71B212}"/>
              </a:ext>
            </a:extLst>
          </p:cNvPr>
          <p:cNvSpPr>
            <a:spLocks noGrp="1"/>
          </p:cNvSpPr>
          <p:nvPr/>
        </p:nvSpPr>
        <p:spPr>
          <a:xfrm>
            <a:off x="9382125" y="60769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5.3.1, ecs. 5.1–5.2.</a:t>
            </a:r>
          </a:p>
        </p:txBody>
      </p:sp>
      <p:sp>
        <p:nvSpPr>
          <p:cNvPr id="24" name="slide-alt-summary" descr="Señal temporal con un período resaltado y ecuaciones anotadas.">
            <a:extLst>
              <a:ext uri="{FF2B5EF4-FFF2-40B4-BE49-F238E27FC236}">
                <a16:creationId xmlns:a16="http://schemas.microsoft.com/office/drawing/2014/main" id="{220B48D0-2972-A7B9-BD30-D2B45A946617}"/>
              </a:ext>
            </a:extLst>
          </p:cNvPr>
          <p:cNvSpPr/>
          <p:nvPr/>
        </p:nvSpPr>
        <p:spPr>
          <a:xfrm>
            <a:off x="12700" y="12700"/>
            <a:ext cx="12700" cy="12700"/>
          </a:xfrm>
          <a:prstGeom prst="rect">
            <a:avLst/>
          </a:prstGeom>
          <a:noFill/>
          <a:ln w="19050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yebrow">
            <a:extLst>
              <a:ext uri="{FF2B5EF4-FFF2-40B4-BE49-F238E27FC236}">
                <a16:creationId xmlns:a16="http://schemas.microsoft.com/office/drawing/2014/main" id="{CC6F95AD-0AE8-43A7-8EF8-F3E8BF3FD74B}"/>
              </a:ext>
            </a:extLst>
          </p:cNvPr>
          <p:cNvSpPr>
            <a:spLocks noGrp="1"/>
          </p:cNvSpPr>
          <p:nvPr/>
        </p:nvSpPr>
        <p:spPr>
          <a:xfrm>
            <a:off x="514350" y="2095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016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C0CE01BE-C8A1-473F-BB29-7773F0AEA145}"/>
              </a:ext>
            </a:extLst>
          </p:cNvPr>
          <p:cNvSpPr>
            <a:spLocks noGrp="1"/>
          </p:cNvSpPr>
          <p:nvPr/>
        </p:nvSpPr>
        <p:spPr>
          <a:xfrm>
            <a:off x="495300" y="428625"/>
            <a:ext cx="11191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Periódica, aperiódica y transitoria no son etiquetas excluyentes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A65F1207-AC39-4239-A997-D03182787314}"/>
              </a:ext>
            </a:extLst>
          </p:cNvPr>
          <p:cNvSpPr>
            <a:spLocks noGrp="1"/>
          </p:cNvSpPr>
          <p:nvPr/>
        </p:nvSpPr>
        <p:spPr>
          <a:xfrm>
            <a:off x="523875" y="971550"/>
            <a:ext cx="11001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Una vocal puede ser casi periódica en un tramo y transitoria en sus bordes.</a:t>
            </a:r>
          </a:p>
        </p:txBody>
      </p:sp>
      <p:sp>
        <p:nvSpPr>
          <p:cNvPr id="4" name="compare-a-box">
            <a:extLst>
              <a:ext uri="{FF2B5EF4-FFF2-40B4-BE49-F238E27FC236}">
                <a16:creationId xmlns:a16="http://schemas.microsoft.com/office/drawing/2014/main" id="{49178BC7-6D7E-4C30-A3DD-234361E7370D}"/>
              </a:ext>
            </a:extLst>
          </p:cNvPr>
          <p:cNvSpPr>
            <a:spLocks noGrp="1"/>
          </p:cNvSpPr>
          <p:nvPr/>
        </p:nvSpPr>
        <p:spPr>
          <a:xfrm>
            <a:off x="619125" y="1476375"/>
            <a:ext cx="5191125" cy="3810000"/>
          </a:xfrm>
          <a:prstGeom prst="roundRect">
            <a:avLst>
              <a:gd name="adj" fmla="val 3500"/>
            </a:avLst>
          </a:prstGeom>
          <a:solidFill>
            <a:srgbClr val="EFF8FA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5" name="compare-a-title">
            <a:extLst>
              <a:ext uri="{FF2B5EF4-FFF2-40B4-BE49-F238E27FC236}">
                <a16:creationId xmlns:a16="http://schemas.microsoft.com/office/drawing/2014/main" id="{A97E1CF9-EF55-4501-B879-02C74CC712DA}"/>
              </a:ext>
            </a:extLst>
          </p:cNvPr>
          <p:cNvSpPr>
            <a:spLocks noGrp="1"/>
          </p:cNvSpPr>
          <p:nvPr/>
        </p:nvSpPr>
        <p:spPr>
          <a:xfrm>
            <a:off x="790575" y="1609725"/>
            <a:ext cx="48482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Primera lectura</a:t>
            </a:r>
          </a:p>
        </p:txBody>
      </p:sp>
      <p:sp>
        <p:nvSpPr>
          <p:cNvPr id="6" name="compare-a-body">
            <a:extLst>
              <a:ext uri="{FF2B5EF4-FFF2-40B4-BE49-F238E27FC236}">
                <a16:creationId xmlns:a16="http://schemas.microsoft.com/office/drawing/2014/main" id="{940462BD-C04C-448D-806D-C8E91C65DDB4}"/>
              </a:ext>
            </a:extLst>
          </p:cNvPr>
          <p:cNvSpPr>
            <a:spLocks noGrp="1"/>
          </p:cNvSpPr>
          <p:nvPr/>
        </p:nvSpPr>
        <p:spPr>
          <a:xfrm>
            <a:off x="790575" y="1990725"/>
            <a:ext cx="4848225" cy="3162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95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Periódica: repite un patrón. Aperiódica: no presenta repetición exacta.</a:t>
            </a:r>
          </a:p>
        </p:txBody>
      </p:sp>
      <p:sp>
        <p:nvSpPr>
          <p:cNvPr id="7" name="compare-b-box">
            <a:extLst>
              <a:ext uri="{FF2B5EF4-FFF2-40B4-BE49-F238E27FC236}">
                <a16:creationId xmlns:a16="http://schemas.microsoft.com/office/drawing/2014/main" id="{0A239D72-DA7E-4CA3-9B02-F13BB3FBD6AE}"/>
              </a:ext>
            </a:extLst>
          </p:cNvPr>
          <p:cNvSpPr>
            <a:spLocks noGrp="1"/>
          </p:cNvSpPr>
          <p:nvPr/>
        </p:nvSpPr>
        <p:spPr>
          <a:xfrm>
            <a:off x="6381750" y="1476375"/>
            <a:ext cx="5191125" cy="3810000"/>
          </a:xfrm>
          <a:prstGeom prst="roundRect">
            <a:avLst>
              <a:gd name="adj" fmla="val 3500"/>
            </a:avLst>
          </a:prstGeom>
          <a:solidFill>
            <a:srgbClr val="E3F2ED"/>
          </a:solidFill>
          <a:ln w="19050">
            <a:solidFill>
              <a:srgbClr val="2D7867"/>
            </a:solidFill>
            <a:prstDash val="solid"/>
          </a:ln>
        </p:spPr>
      </p:sp>
      <p:sp>
        <p:nvSpPr>
          <p:cNvPr id="8" name="compare-b-title">
            <a:extLst>
              <a:ext uri="{FF2B5EF4-FFF2-40B4-BE49-F238E27FC236}">
                <a16:creationId xmlns:a16="http://schemas.microsoft.com/office/drawing/2014/main" id="{D07F126A-E5EF-4D5B-AFA9-92270BE7802C}"/>
              </a:ext>
            </a:extLst>
          </p:cNvPr>
          <p:cNvSpPr>
            <a:spLocks noGrp="1"/>
          </p:cNvSpPr>
          <p:nvPr/>
        </p:nvSpPr>
        <p:spPr>
          <a:xfrm>
            <a:off x="6553200" y="1609725"/>
            <a:ext cx="48482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Segunda lectura</a:t>
            </a:r>
          </a:p>
        </p:txBody>
      </p:sp>
      <p:sp>
        <p:nvSpPr>
          <p:cNvPr id="9" name="compare-b-body">
            <a:extLst>
              <a:ext uri="{FF2B5EF4-FFF2-40B4-BE49-F238E27FC236}">
                <a16:creationId xmlns:a16="http://schemas.microsoft.com/office/drawing/2014/main" id="{E81F747E-E7C2-42DF-95B6-9D23FA9AD2F1}"/>
              </a:ext>
            </a:extLst>
          </p:cNvPr>
          <p:cNvSpPr>
            <a:spLocks noGrp="1"/>
          </p:cNvSpPr>
          <p:nvPr/>
        </p:nvSpPr>
        <p:spPr>
          <a:xfrm>
            <a:off x="6553200" y="1990725"/>
            <a:ext cx="4848225" cy="3162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95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Transitoria: cambia durante un intervalo breve.</a:t>
            </a:r>
          </a:p>
        </p:txBody>
      </p:sp>
      <p:sp>
        <p:nvSpPr>
          <p:cNvPr id="10" name="caption">
            <a:extLst>
              <a:ext uri="{FF2B5EF4-FFF2-40B4-BE49-F238E27FC236}">
                <a16:creationId xmlns:a16="http://schemas.microsoft.com/office/drawing/2014/main" id="{AD87B33F-494D-44B7-A025-346576A083EE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876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La clasificación depende del tramo y de la escala temporal observada.</a:t>
            </a:r>
          </a:p>
        </p:txBody>
      </p:sp>
      <p:sp>
        <p:nvSpPr>
          <p:cNvPr id="11" name="credit">
            <a:extLst>
              <a:ext uri="{FF2B5EF4-FFF2-40B4-BE49-F238E27FC236}">
                <a16:creationId xmlns:a16="http://schemas.microsoft.com/office/drawing/2014/main" id="{70CDEA40-4EF5-4E62-BEBD-3F88B64181FC}"/>
              </a:ext>
            </a:extLst>
          </p:cNvPr>
          <p:cNvSpPr>
            <a:spLocks noGrp="1"/>
          </p:cNvSpPr>
          <p:nvPr/>
        </p:nvSpPr>
        <p:spPr>
          <a:xfrm>
            <a:off x="9382125" y="60769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5.3.1; GLO.</a:t>
            </a:r>
          </a:p>
        </p:txBody>
      </p:sp>
      <p:sp>
        <p:nvSpPr>
          <p:cNvPr id="13" name="slide-alt-summary" descr="Envolvente conceptual de una vocal dividida en ataque, tramo estable y final.">
            <a:extLst>
              <a:ext uri="{FF2B5EF4-FFF2-40B4-BE49-F238E27FC236}">
                <a16:creationId xmlns:a16="http://schemas.microsoft.com/office/drawing/2014/main" id="{E84186E4-FFD1-5E16-052A-DC48F060276B}"/>
              </a:ext>
            </a:extLst>
          </p:cNvPr>
          <p:cNvSpPr/>
          <p:nvPr/>
        </p:nvSpPr>
        <p:spPr>
          <a:xfrm>
            <a:off x="12700" y="12700"/>
            <a:ext cx="12700" cy="12700"/>
          </a:xfrm>
          <a:prstGeom prst="rect">
            <a:avLst/>
          </a:prstGeom>
          <a:noFill/>
          <a:ln w="19050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yebrow">
            <a:extLst>
              <a:ext uri="{FF2B5EF4-FFF2-40B4-BE49-F238E27FC236}">
                <a16:creationId xmlns:a16="http://schemas.microsoft.com/office/drawing/2014/main" id="{3BD3214D-90BB-4761-92DC-341A542A0BC5}"/>
              </a:ext>
            </a:extLst>
          </p:cNvPr>
          <p:cNvSpPr>
            <a:spLocks noGrp="1"/>
          </p:cNvSpPr>
          <p:nvPr/>
        </p:nvSpPr>
        <p:spPr>
          <a:xfrm>
            <a:off x="514350" y="2095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017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C27F4282-0E52-41F7-8E36-19FFF303426A}"/>
              </a:ext>
            </a:extLst>
          </p:cNvPr>
          <p:cNvSpPr>
            <a:spLocks noGrp="1"/>
          </p:cNvSpPr>
          <p:nvPr/>
        </p:nvSpPr>
        <p:spPr>
          <a:xfrm>
            <a:off x="495300" y="428625"/>
            <a:ext cx="11191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Hasta acá: tiempo, frecuencia y fase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EA06911C-42DD-4766-A53B-2C409306048B}"/>
              </a:ext>
            </a:extLst>
          </p:cNvPr>
          <p:cNvSpPr>
            <a:spLocks noGrp="1"/>
          </p:cNvSpPr>
          <p:nvPr/>
        </p:nvSpPr>
        <p:spPr>
          <a:xfrm>
            <a:off x="523875" y="971550"/>
            <a:ext cx="11001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Elegimos la vista según la pregunta.</a:t>
            </a:r>
          </a:p>
        </p:txBody>
      </p:sp>
      <p:sp>
        <p:nvSpPr>
          <p:cNvPr id="4" name="U05-DG-014-recap_object">
            <a:extLst>
              <a:ext uri="{FF2B5EF4-FFF2-40B4-BE49-F238E27FC236}">
                <a16:creationId xmlns:a16="http://schemas.microsoft.com/office/drawing/2014/main" id="{657A270B-C3B8-461F-824F-09D78DE21D06}"/>
              </a:ext>
            </a:extLst>
          </p:cNvPr>
          <p:cNvSpPr>
            <a:spLocks noGrp="1"/>
          </p:cNvSpPr>
          <p:nvPr/>
        </p:nvSpPr>
        <p:spPr>
          <a:xfrm>
            <a:off x="857250" y="1714500"/>
            <a:ext cx="3048000" cy="1238250"/>
          </a:xfrm>
          <a:prstGeom prst="roundRect">
            <a:avLst>
              <a:gd name="adj" fmla="val 10769"/>
            </a:avLst>
          </a:prstGeom>
          <a:solidFill>
            <a:srgbClr val="EFF8FA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5" name="U05-DG-014-recap_object-title">
            <a:extLst>
              <a:ext uri="{FF2B5EF4-FFF2-40B4-BE49-F238E27FC236}">
                <a16:creationId xmlns:a16="http://schemas.microsoft.com/office/drawing/2014/main" id="{62D07D3A-B12B-46FF-8609-3D9E6BB4FD5D}"/>
              </a:ext>
            </a:extLst>
          </p:cNvPr>
          <p:cNvSpPr>
            <a:spLocks noGrp="1"/>
          </p:cNvSpPr>
          <p:nvPr/>
        </p:nvSpPr>
        <p:spPr>
          <a:xfrm>
            <a:off x="1028700" y="1838325"/>
            <a:ext cx="27051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Objeto</a:t>
            </a:r>
          </a:p>
        </p:txBody>
      </p:sp>
      <p:sp>
        <p:nvSpPr>
          <p:cNvPr id="6" name="U05-DG-014-recap_object-body">
            <a:extLst>
              <a:ext uri="{FF2B5EF4-FFF2-40B4-BE49-F238E27FC236}">
                <a16:creationId xmlns:a16="http://schemas.microsoft.com/office/drawing/2014/main" id="{641B97ED-A7CD-47B6-82D6-42912AB583B2}"/>
              </a:ext>
            </a:extLst>
          </p:cNvPr>
          <p:cNvSpPr>
            <a:spLocks noGrp="1"/>
          </p:cNvSpPr>
          <p:nvPr/>
        </p:nvSpPr>
        <p:spPr>
          <a:xfrm>
            <a:off x="1028700" y="2209800"/>
            <a:ext cx="27051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señal / sistema</a:t>
            </a:r>
          </a:p>
        </p:txBody>
      </p:sp>
      <p:sp>
        <p:nvSpPr>
          <p:cNvPr id="7" name="U05-DG-014-recap_axes">
            <a:extLst>
              <a:ext uri="{FF2B5EF4-FFF2-40B4-BE49-F238E27FC236}">
                <a16:creationId xmlns:a16="http://schemas.microsoft.com/office/drawing/2014/main" id="{EC724DA5-AD5D-4F30-B5F2-43FF35E7EAB0}"/>
              </a:ext>
            </a:extLst>
          </p:cNvPr>
          <p:cNvSpPr>
            <a:spLocks noGrp="1"/>
          </p:cNvSpPr>
          <p:nvPr/>
        </p:nvSpPr>
        <p:spPr>
          <a:xfrm>
            <a:off x="4572000" y="1714500"/>
            <a:ext cx="3048000" cy="1238250"/>
          </a:xfrm>
          <a:prstGeom prst="roundRect">
            <a:avLst>
              <a:gd name="adj" fmla="val 10769"/>
            </a:avLst>
          </a:prstGeom>
          <a:solidFill>
            <a:srgbClr val="F3F6F8"/>
          </a:solidFill>
          <a:ln w="19050">
            <a:solidFill>
              <a:srgbClr val="8291A3"/>
            </a:solidFill>
            <a:prstDash val="solid"/>
          </a:ln>
        </p:spPr>
      </p:sp>
      <p:sp>
        <p:nvSpPr>
          <p:cNvPr id="8" name="U05-DG-014-recap_axes-title">
            <a:extLst>
              <a:ext uri="{FF2B5EF4-FFF2-40B4-BE49-F238E27FC236}">
                <a16:creationId xmlns:a16="http://schemas.microsoft.com/office/drawing/2014/main" id="{E1F8C26A-3484-474E-9DBA-937DD6CEEE0E}"/>
              </a:ext>
            </a:extLst>
          </p:cNvPr>
          <p:cNvSpPr>
            <a:spLocks noGrp="1"/>
          </p:cNvSpPr>
          <p:nvPr/>
        </p:nvSpPr>
        <p:spPr>
          <a:xfrm>
            <a:off x="4743450" y="1838325"/>
            <a:ext cx="27051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Ejes</a:t>
            </a:r>
          </a:p>
        </p:txBody>
      </p:sp>
      <p:sp>
        <p:nvSpPr>
          <p:cNvPr id="9" name="U05-DG-014-recap_axes-body">
            <a:extLst>
              <a:ext uri="{FF2B5EF4-FFF2-40B4-BE49-F238E27FC236}">
                <a16:creationId xmlns:a16="http://schemas.microsoft.com/office/drawing/2014/main" id="{226C085D-8AAE-420E-9221-67DF7B366CC7}"/>
              </a:ext>
            </a:extLst>
          </p:cNvPr>
          <p:cNvSpPr>
            <a:spLocks noGrp="1"/>
          </p:cNvSpPr>
          <p:nvPr/>
        </p:nvSpPr>
        <p:spPr>
          <a:xfrm>
            <a:off x="4743450" y="2209800"/>
            <a:ext cx="27051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t / f</a:t>
            </a:r>
          </a:p>
        </p:txBody>
      </p:sp>
      <p:sp>
        <p:nvSpPr>
          <p:cNvPr id="10" name="U05-DG-014-recap_units">
            <a:extLst>
              <a:ext uri="{FF2B5EF4-FFF2-40B4-BE49-F238E27FC236}">
                <a16:creationId xmlns:a16="http://schemas.microsoft.com/office/drawing/2014/main" id="{E028B76C-E531-4054-9C0E-7C9550D98105}"/>
              </a:ext>
            </a:extLst>
          </p:cNvPr>
          <p:cNvSpPr>
            <a:spLocks noGrp="1"/>
          </p:cNvSpPr>
          <p:nvPr/>
        </p:nvSpPr>
        <p:spPr>
          <a:xfrm>
            <a:off x="8286750" y="1714500"/>
            <a:ext cx="3048000" cy="1238250"/>
          </a:xfrm>
          <a:prstGeom prst="roundRect">
            <a:avLst>
              <a:gd name="adj" fmla="val 10769"/>
            </a:avLst>
          </a:prstGeom>
          <a:solidFill>
            <a:srgbClr val="F3F6F8"/>
          </a:solidFill>
          <a:ln w="19050">
            <a:solidFill>
              <a:srgbClr val="8291A3"/>
            </a:solidFill>
            <a:prstDash val="solid"/>
          </a:ln>
        </p:spPr>
      </p:sp>
      <p:sp>
        <p:nvSpPr>
          <p:cNvPr id="11" name="U05-DG-014-recap_units-title">
            <a:extLst>
              <a:ext uri="{FF2B5EF4-FFF2-40B4-BE49-F238E27FC236}">
                <a16:creationId xmlns:a16="http://schemas.microsoft.com/office/drawing/2014/main" id="{9A29938B-43CF-4B3E-922C-3F070B204ECB}"/>
              </a:ext>
            </a:extLst>
          </p:cNvPr>
          <p:cNvSpPr>
            <a:spLocks noGrp="1"/>
          </p:cNvSpPr>
          <p:nvPr/>
        </p:nvSpPr>
        <p:spPr>
          <a:xfrm>
            <a:off x="8458200" y="1838325"/>
            <a:ext cx="27051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Unidades</a:t>
            </a:r>
          </a:p>
        </p:txBody>
      </p:sp>
      <p:sp>
        <p:nvSpPr>
          <p:cNvPr id="12" name="U05-DG-014-recap_units-body">
            <a:extLst>
              <a:ext uri="{FF2B5EF4-FFF2-40B4-BE49-F238E27FC236}">
                <a16:creationId xmlns:a16="http://schemas.microsoft.com/office/drawing/2014/main" id="{B6D644BF-860C-4E93-B96A-9A635D4F1F41}"/>
              </a:ext>
            </a:extLst>
          </p:cNvPr>
          <p:cNvSpPr>
            <a:spLocks noGrp="1"/>
          </p:cNvSpPr>
          <p:nvPr/>
        </p:nvSpPr>
        <p:spPr>
          <a:xfrm>
            <a:off x="8458200" y="2209800"/>
            <a:ext cx="27051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s · Hz · Pa · dB</a:t>
            </a:r>
          </a:p>
        </p:txBody>
      </p:sp>
      <p:sp>
        <p:nvSpPr>
          <p:cNvPr id="13" name="U05-DG-014-recap_params">
            <a:extLst>
              <a:ext uri="{FF2B5EF4-FFF2-40B4-BE49-F238E27FC236}">
                <a16:creationId xmlns:a16="http://schemas.microsoft.com/office/drawing/2014/main" id="{70098386-1C38-408A-A5CE-EA34DB61AFC1}"/>
              </a:ext>
            </a:extLst>
          </p:cNvPr>
          <p:cNvSpPr>
            <a:spLocks noGrp="1"/>
          </p:cNvSpPr>
          <p:nvPr/>
        </p:nvSpPr>
        <p:spPr>
          <a:xfrm>
            <a:off x="2667000" y="3905250"/>
            <a:ext cx="3048000" cy="1238250"/>
          </a:xfrm>
          <a:prstGeom prst="roundRect">
            <a:avLst>
              <a:gd name="adj" fmla="val 10769"/>
            </a:avLst>
          </a:prstGeom>
          <a:solidFill>
            <a:srgbClr val="DDEFF5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14" name="U05-DG-014-recap_params-title">
            <a:extLst>
              <a:ext uri="{FF2B5EF4-FFF2-40B4-BE49-F238E27FC236}">
                <a16:creationId xmlns:a16="http://schemas.microsoft.com/office/drawing/2014/main" id="{C1A58D6D-F53F-471A-8B3F-05849CCACB1D}"/>
              </a:ext>
            </a:extLst>
          </p:cNvPr>
          <p:cNvSpPr>
            <a:spLocks noGrp="1"/>
          </p:cNvSpPr>
          <p:nvPr/>
        </p:nvSpPr>
        <p:spPr>
          <a:xfrm>
            <a:off x="2838450" y="4029075"/>
            <a:ext cx="27051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Parámetros</a:t>
            </a:r>
          </a:p>
        </p:txBody>
      </p:sp>
      <p:sp>
        <p:nvSpPr>
          <p:cNvPr id="15" name="U05-DG-014-recap_params-body">
            <a:extLst>
              <a:ext uri="{FF2B5EF4-FFF2-40B4-BE49-F238E27FC236}">
                <a16:creationId xmlns:a16="http://schemas.microsoft.com/office/drawing/2014/main" id="{D1B353A1-C62F-41EC-848D-1C92EC8C337B}"/>
              </a:ext>
            </a:extLst>
          </p:cNvPr>
          <p:cNvSpPr>
            <a:spLocks noGrp="1"/>
          </p:cNvSpPr>
          <p:nvPr/>
        </p:nvSpPr>
        <p:spPr>
          <a:xfrm>
            <a:off x="2838450" y="4400550"/>
            <a:ext cx="27051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ventana · N · fₛ</a:t>
            </a:r>
          </a:p>
        </p:txBody>
      </p:sp>
      <p:sp>
        <p:nvSpPr>
          <p:cNvPr id="16" name="U05-DG-014-recap_limit">
            <a:extLst>
              <a:ext uri="{FF2B5EF4-FFF2-40B4-BE49-F238E27FC236}">
                <a16:creationId xmlns:a16="http://schemas.microsoft.com/office/drawing/2014/main" id="{A88E3E0E-1A98-4FE2-A25E-EA598ACF3019}"/>
              </a:ext>
            </a:extLst>
          </p:cNvPr>
          <p:cNvSpPr>
            <a:spLocks noGrp="1"/>
          </p:cNvSpPr>
          <p:nvPr/>
        </p:nvSpPr>
        <p:spPr>
          <a:xfrm>
            <a:off x="6477000" y="3905250"/>
            <a:ext cx="3048000" cy="1238250"/>
          </a:xfrm>
          <a:prstGeom prst="roundRect">
            <a:avLst>
              <a:gd name="adj" fmla="val 10769"/>
            </a:avLst>
          </a:prstGeom>
          <a:solidFill>
            <a:srgbClr val="E3F2ED"/>
          </a:solidFill>
          <a:ln w="19050">
            <a:solidFill>
              <a:srgbClr val="2D7867"/>
            </a:solidFill>
            <a:prstDash val="solid"/>
          </a:ln>
        </p:spPr>
      </p:sp>
      <p:sp>
        <p:nvSpPr>
          <p:cNvPr id="17" name="U05-DG-014-recap_limit-title">
            <a:extLst>
              <a:ext uri="{FF2B5EF4-FFF2-40B4-BE49-F238E27FC236}">
                <a16:creationId xmlns:a16="http://schemas.microsoft.com/office/drawing/2014/main" id="{6C7E1198-1ADF-494B-8CC0-767DE7E440F0}"/>
              </a:ext>
            </a:extLst>
          </p:cNvPr>
          <p:cNvSpPr>
            <a:spLocks noGrp="1"/>
          </p:cNvSpPr>
          <p:nvPr/>
        </p:nvSpPr>
        <p:spPr>
          <a:xfrm>
            <a:off x="6648450" y="4029075"/>
            <a:ext cx="27051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Límite</a:t>
            </a:r>
          </a:p>
        </p:txBody>
      </p:sp>
      <p:sp>
        <p:nvSpPr>
          <p:cNvPr id="18" name="U05-DG-014-recap_limit-body">
            <a:extLst>
              <a:ext uri="{FF2B5EF4-FFF2-40B4-BE49-F238E27FC236}">
                <a16:creationId xmlns:a16="http://schemas.microsoft.com/office/drawing/2014/main" id="{6B903E19-84F7-4FF3-9396-7524FFBABD4D}"/>
              </a:ext>
            </a:extLst>
          </p:cNvPr>
          <p:cNvSpPr>
            <a:spLocks noGrp="1"/>
          </p:cNvSpPr>
          <p:nvPr/>
        </p:nvSpPr>
        <p:spPr>
          <a:xfrm>
            <a:off x="6648450" y="4400550"/>
            <a:ext cx="27051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alcance declarado</a:t>
            </a:r>
          </a:p>
        </p:txBody>
      </p:sp>
      <p:sp>
        <p:nvSpPr>
          <p:cNvPr id="19" name="diagram-scale-note">
            <a:extLst>
              <a:ext uri="{FF2B5EF4-FFF2-40B4-BE49-F238E27FC236}">
                <a16:creationId xmlns:a16="http://schemas.microsoft.com/office/drawing/2014/main" id="{1C7CE1B2-ABE8-4537-BE61-855BA094EFB8}"/>
              </a:ext>
            </a:extLst>
          </p:cNvPr>
          <p:cNvSpPr>
            <a:spLocks noGrp="1"/>
          </p:cNvSpPr>
          <p:nvPr/>
        </p:nvSpPr>
        <p:spPr>
          <a:xfrm>
            <a:off x="552450" y="5829300"/>
            <a:ext cx="3905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05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Esquema conceptual · no está a escala</a:t>
            </a:r>
          </a:p>
        </p:txBody>
      </p:sp>
      <p:sp>
        <p:nvSpPr>
          <p:cNvPr id="20" name="caption">
            <a:extLst>
              <a:ext uri="{FF2B5EF4-FFF2-40B4-BE49-F238E27FC236}">
                <a16:creationId xmlns:a16="http://schemas.microsoft.com/office/drawing/2014/main" id="{20894439-722C-439E-82FC-257EA026DB5E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876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Tres vistas, un mismo objeto: la señal.</a:t>
            </a:r>
          </a:p>
        </p:txBody>
      </p:sp>
      <p:sp>
        <p:nvSpPr>
          <p:cNvPr id="21" name="credit">
            <a:extLst>
              <a:ext uri="{FF2B5EF4-FFF2-40B4-BE49-F238E27FC236}">
                <a16:creationId xmlns:a16="http://schemas.microsoft.com/office/drawing/2014/main" id="{89D2ABDA-8A0B-4F84-A6AA-067B5B799CBF}"/>
              </a:ext>
            </a:extLst>
          </p:cNvPr>
          <p:cNvSpPr>
            <a:spLocks noGrp="1"/>
          </p:cNvSpPr>
          <p:nvPr/>
        </p:nvSpPr>
        <p:spPr>
          <a:xfrm>
            <a:off x="9382125" y="60769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5.3; U05-007–016.</a:t>
            </a:r>
          </a:p>
        </p:txBody>
      </p:sp>
      <p:sp>
        <p:nvSpPr>
          <p:cNvPr id="23" name="slide-alt-summary" descr="Mapa de recapitulación con tres representaciones conectadas a una señal común.">
            <a:extLst>
              <a:ext uri="{FF2B5EF4-FFF2-40B4-BE49-F238E27FC236}">
                <a16:creationId xmlns:a16="http://schemas.microsoft.com/office/drawing/2014/main" id="{08FAF74C-CEF8-29BA-BA53-341516C8F422}"/>
              </a:ext>
            </a:extLst>
          </p:cNvPr>
          <p:cNvSpPr/>
          <p:nvPr/>
        </p:nvSpPr>
        <p:spPr>
          <a:xfrm>
            <a:off x="12700" y="12700"/>
            <a:ext cx="12700" cy="12700"/>
          </a:xfrm>
          <a:prstGeom prst="rect">
            <a:avLst/>
          </a:prstGeom>
          <a:noFill/>
          <a:ln w="19050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202036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yebrow">
            <a:extLst>
              <a:ext uri="{FF2B5EF4-FFF2-40B4-BE49-F238E27FC236}">
                <a16:creationId xmlns:a16="http://schemas.microsoft.com/office/drawing/2014/main" id="{DD08E0CD-FF61-458A-99CE-8A35A51F1E74}"/>
              </a:ext>
            </a:extLst>
          </p:cNvPr>
          <p:cNvSpPr>
            <a:spLocks noGrp="1"/>
          </p:cNvSpPr>
          <p:nvPr/>
        </p:nvSpPr>
        <p:spPr>
          <a:xfrm>
            <a:off x="514350" y="2095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1" i="0">
                <a:solidFill>
                  <a:srgbClr val="B9D8E7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B9D8E7"/>
                </a:solidFill>
                <a:latin typeface="Calibri"/>
                <a:ea typeface="Calibri"/>
                <a:cs typeface="Calibri"/>
              </a:rPr>
              <a:t>UNIDAD 5 · 018</a:t>
            </a:r>
          </a:p>
        </p:txBody>
      </p:sp>
      <p:sp>
        <p:nvSpPr>
          <p:cNvPr id="2" name="divider-title">
            <a:extLst>
              <a:ext uri="{FF2B5EF4-FFF2-40B4-BE49-F238E27FC236}">
                <a16:creationId xmlns:a16="http://schemas.microsoft.com/office/drawing/2014/main" id="{9856DD47-93B1-475C-8B5C-C658B55308BD}"/>
              </a:ext>
            </a:extLst>
          </p:cNvPr>
          <p:cNvSpPr>
            <a:spLocks noGrp="1"/>
          </p:cNvSpPr>
          <p:nvPr/>
        </p:nvSpPr>
        <p:spPr>
          <a:xfrm>
            <a:off x="714375" y="2190750"/>
            <a:ext cx="104775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lnSpc>
                <a:spcPct val="102000"/>
              </a:lnSpc>
              <a:buNone/>
              <a:defRPr sz="4050" b="1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4050" b="1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Fourier: representar una señal con sinusoides</a:t>
            </a:r>
          </a:p>
        </p:txBody>
      </p:sp>
      <p:sp>
        <p:nvSpPr>
          <p:cNvPr id="3" name="divider-subtitle">
            <a:extLst>
              <a:ext uri="{FF2B5EF4-FFF2-40B4-BE49-F238E27FC236}">
                <a16:creationId xmlns:a16="http://schemas.microsoft.com/office/drawing/2014/main" id="{824CB178-A538-468A-BC25-EA3BF08809EC}"/>
              </a:ext>
            </a:extLst>
          </p:cNvPr>
          <p:cNvSpPr>
            <a:spLocks noGrp="1"/>
          </p:cNvSpPr>
          <p:nvPr/>
        </p:nvSpPr>
        <p:spPr>
          <a:xfrm>
            <a:off x="1714500" y="3429000"/>
            <a:ext cx="8763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100" b="0" i="0">
                <a:solidFill>
                  <a:srgbClr val="D6E4EA"/>
                </a:solidFill>
                <a:latin typeface="Calibri"/>
                <a:ea typeface="Calibri"/>
                <a:cs typeface="Calibri"/>
              </a:defRPr>
            </a:pPr>
            <a:r>
              <a:rPr sz="2100" b="0" i="0">
                <a:solidFill>
                  <a:srgbClr val="D6E4EA"/>
                </a:solidFill>
                <a:latin typeface="Calibri"/>
                <a:ea typeface="Calibri"/>
                <a:cs typeface="Calibri"/>
              </a:rPr>
              <a:t>Cambiamos la forma de describir; no modificamos la señal.</a:t>
            </a:r>
          </a:p>
        </p:txBody>
      </p:sp>
      <p:sp>
        <p:nvSpPr>
          <p:cNvPr id="4" name="divider-content">
            <a:extLst>
              <a:ext uri="{FF2B5EF4-FFF2-40B4-BE49-F238E27FC236}">
                <a16:creationId xmlns:a16="http://schemas.microsoft.com/office/drawing/2014/main" id="{A5CDA11B-B987-4D6A-90D8-3D5B64CFF49D}"/>
              </a:ext>
            </a:extLst>
          </p:cNvPr>
          <p:cNvSpPr>
            <a:spLocks noGrp="1"/>
          </p:cNvSpPr>
          <p:nvPr/>
        </p:nvSpPr>
        <p:spPr>
          <a:xfrm>
            <a:off x="2190750" y="4333875"/>
            <a:ext cx="781050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ctr">
              <a:lnSpc>
                <a:spcPct val="102000"/>
              </a:lnSpc>
              <a:buNone/>
              <a:defRPr sz="1875" b="0" i="0">
                <a:solidFill>
                  <a:srgbClr val="BDD0DA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BDD0DA"/>
                </a:solidFill>
                <a:latin typeface="Calibri"/>
                <a:ea typeface="Calibri"/>
                <a:cs typeface="Calibri"/>
              </a:rPr>
              <a:t>¿Cómo puede una suma de componentes simples representar una forma compleja?</a:t>
            </a:r>
          </a:p>
        </p:txBody>
      </p:sp>
      <p:sp>
        <p:nvSpPr>
          <p:cNvPr id="6" name="slide-alt-summary" descr="Varias senoides convergen visualmente en una forma compleja.">
            <a:extLst>
              <a:ext uri="{FF2B5EF4-FFF2-40B4-BE49-F238E27FC236}">
                <a16:creationId xmlns:a16="http://schemas.microsoft.com/office/drawing/2014/main" id="{FC207325-F1F9-2D54-80F6-45C2218FFCE3}"/>
              </a:ext>
            </a:extLst>
          </p:cNvPr>
          <p:cNvSpPr/>
          <p:nvPr/>
        </p:nvSpPr>
        <p:spPr>
          <a:xfrm>
            <a:off x="12700" y="12700"/>
            <a:ext cx="12700" cy="12700"/>
          </a:xfrm>
          <a:prstGeom prst="rect">
            <a:avLst/>
          </a:prstGeom>
          <a:noFill/>
          <a:ln w="19050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yebrow">
            <a:extLst>
              <a:ext uri="{FF2B5EF4-FFF2-40B4-BE49-F238E27FC236}">
                <a16:creationId xmlns:a16="http://schemas.microsoft.com/office/drawing/2014/main" id="{51FD8D37-0FB1-4917-8A13-B28BD9215166}"/>
              </a:ext>
            </a:extLst>
          </p:cNvPr>
          <p:cNvSpPr>
            <a:spLocks noGrp="1"/>
          </p:cNvSpPr>
          <p:nvPr/>
        </p:nvSpPr>
        <p:spPr>
          <a:xfrm>
            <a:off x="514350" y="2095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019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E49E8C42-B9E3-4A9A-9DF9-433CFAB652EC}"/>
              </a:ext>
            </a:extLst>
          </p:cNvPr>
          <p:cNvSpPr>
            <a:spLocks noGrp="1"/>
          </p:cNvSpPr>
          <p:nvPr/>
        </p:nvSpPr>
        <p:spPr>
          <a:xfrm>
            <a:off x="495300" y="428625"/>
            <a:ext cx="11191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¿Podemos construir una forma compleja sumando tonos?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6C1DA091-2029-4C54-9E37-21730D773A8B}"/>
              </a:ext>
            </a:extLst>
          </p:cNvPr>
          <p:cNvSpPr>
            <a:spLocks noGrp="1"/>
          </p:cNvSpPr>
          <p:nvPr/>
        </p:nvSpPr>
        <p:spPr>
          <a:xfrm>
            <a:off x="523875" y="971550"/>
            <a:ext cx="11001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Prediga antes de observar el resultado.</a:t>
            </a:r>
          </a:p>
        </p:txBody>
      </p:sp>
      <p:pic>
        <p:nvPicPr>
          <p:cNvPr id="13" name="Gráfico 1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457200" y="1381125"/>
            <a:ext cx="7524750" cy="4429125"/>
          </a:xfrm>
          <a:prstGeom prst="rect">
            <a:avLst/>
          </a:prstGeom>
        </p:spPr>
      </p:pic>
      <p:sp>
        <p:nvSpPr>
          <p:cNvPr id="5" name="chart-reading-box">
            <a:extLst>
              <a:ext uri="{FF2B5EF4-FFF2-40B4-BE49-F238E27FC236}">
                <a16:creationId xmlns:a16="http://schemas.microsoft.com/office/drawing/2014/main" id="{6FFB7335-0EEF-45F5-9A59-B6E3C7FCE597}"/>
              </a:ext>
            </a:extLst>
          </p:cNvPr>
          <p:cNvSpPr>
            <a:spLocks noGrp="1"/>
          </p:cNvSpPr>
          <p:nvPr/>
        </p:nvSpPr>
        <p:spPr>
          <a:xfrm>
            <a:off x="8239125" y="1476375"/>
            <a:ext cx="3190875" cy="3857625"/>
          </a:xfrm>
          <a:prstGeom prst="roundRect">
            <a:avLst>
              <a:gd name="adj" fmla="val 4179"/>
            </a:avLst>
          </a:prstGeom>
          <a:solidFill>
            <a:srgbClr val="DDEFF5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6" name="chart-reading-title">
            <a:extLst>
              <a:ext uri="{FF2B5EF4-FFF2-40B4-BE49-F238E27FC236}">
                <a16:creationId xmlns:a16="http://schemas.microsoft.com/office/drawing/2014/main" id="{0B40735E-D266-49C2-898D-EC228E096E81}"/>
              </a:ext>
            </a:extLst>
          </p:cNvPr>
          <p:cNvSpPr>
            <a:spLocks noGrp="1"/>
          </p:cNvSpPr>
          <p:nvPr/>
        </p:nvSpPr>
        <p:spPr>
          <a:xfrm>
            <a:off x="8410575" y="1609725"/>
            <a:ext cx="28479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Qué leer</a:t>
            </a:r>
          </a:p>
        </p:txBody>
      </p:sp>
      <p:sp>
        <p:nvSpPr>
          <p:cNvPr id="7" name="chart-reading-body">
            <a:extLst>
              <a:ext uri="{FF2B5EF4-FFF2-40B4-BE49-F238E27FC236}">
                <a16:creationId xmlns:a16="http://schemas.microsoft.com/office/drawing/2014/main" id="{42423A70-D5F1-4807-ADBD-7B70056FFBFF}"/>
              </a:ext>
            </a:extLst>
          </p:cNvPr>
          <p:cNvSpPr>
            <a:spLocks noGrp="1"/>
          </p:cNvSpPr>
          <p:nvPr/>
        </p:nvSpPr>
        <p:spPr>
          <a:xfrm>
            <a:off x="8410575" y="1990725"/>
            <a:ext cx="2847975" cy="3209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Compare frecuencia, amplitud y fase de tres tonos. Dibuje o describa la suma esperada. ¿Qué parámetro cambiaría más la forma?</a:t>
            </a:r>
          </a:p>
        </p:txBody>
      </p:sp>
      <p:sp>
        <p:nvSpPr>
          <p:cNvPr id="8" name="caption">
            <a:extLst>
              <a:ext uri="{FF2B5EF4-FFF2-40B4-BE49-F238E27FC236}">
                <a16:creationId xmlns:a16="http://schemas.microsoft.com/office/drawing/2014/main" id="{6E7C0CD0-141E-40F6-805E-89B8910A22FC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876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Las componentes se suman en cada instante.</a:t>
            </a:r>
          </a:p>
        </p:txBody>
      </p:sp>
      <p:sp>
        <p:nvSpPr>
          <p:cNvPr id="9" name="credit">
            <a:extLst>
              <a:ext uri="{FF2B5EF4-FFF2-40B4-BE49-F238E27FC236}">
                <a16:creationId xmlns:a16="http://schemas.microsoft.com/office/drawing/2014/main" id="{F7612D92-5200-4A82-BA9B-7B75E295EB71}"/>
              </a:ext>
            </a:extLst>
          </p:cNvPr>
          <p:cNvSpPr>
            <a:spLocks noGrp="1"/>
          </p:cNvSpPr>
          <p:nvPr/>
        </p:nvSpPr>
        <p:spPr>
          <a:xfrm>
            <a:off x="9382125" y="60769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U3; TEX 5.4; EP.</a:t>
            </a:r>
          </a:p>
        </p:txBody>
      </p:sp>
      <p:sp>
        <p:nvSpPr>
          <p:cNvPr id="4" name="slide-alt-summary" descr="Tres senoides coordinadas y un espacio reservado para predecir la suma.">
            <a:extLst>
              <a:ext uri="{FF2B5EF4-FFF2-40B4-BE49-F238E27FC236}">
                <a16:creationId xmlns:a16="http://schemas.microsoft.com/office/drawing/2014/main" id="{89047260-464F-C267-F7A9-119EFBAF800D}"/>
              </a:ext>
            </a:extLst>
          </p:cNvPr>
          <p:cNvSpPr/>
          <p:nvPr/>
        </p:nvSpPr>
        <p:spPr>
          <a:xfrm>
            <a:off x="12700" y="12700"/>
            <a:ext cx="12700" cy="12700"/>
          </a:xfrm>
          <a:prstGeom prst="rect">
            <a:avLst/>
          </a:prstGeom>
          <a:noFill/>
          <a:ln w="19050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732971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yebrow">
            <a:extLst>
              <a:ext uri="{FF2B5EF4-FFF2-40B4-BE49-F238E27FC236}">
                <a16:creationId xmlns:a16="http://schemas.microsoft.com/office/drawing/2014/main" id="{08043CF4-7EF5-47D6-8B63-20842CC5E1E6}"/>
              </a:ext>
            </a:extLst>
          </p:cNvPr>
          <p:cNvSpPr>
            <a:spLocks noGrp="1"/>
          </p:cNvSpPr>
          <p:nvPr/>
        </p:nvSpPr>
        <p:spPr>
          <a:xfrm>
            <a:off x="514350" y="2095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020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EEE4A9CC-90D8-4BC6-BAFB-067B0B5A57DA}"/>
              </a:ext>
            </a:extLst>
          </p:cNvPr>
          <p:cNvSpPr>
            <a:spLocks noGrp="1"/>
          </p:cNvSpPr>
          <p:nvPr/>
        </p:nvSpPr>
        <p:spPr>
          <a:xfrm>
            <a:off x="495300" y="428625"/>
            <a:ext cx="11191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Escuchar componentes y suma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116DFCF5-A790-48A1-9BAC-76A477CACE15}"/>
              </a:ext>
            </a:extLst>
          </p:cNvPr>
          <p:cNvSpPr>
            <a:spLocks noGrp="1"/>
          </p:cNvSpPr>
          <p:nvPr/>
        </p:nvSpPr>
        <p:spPr>
          <a:xfrm>
            <a:off x="523875" y="971550"/>
            <a:ext cx="11001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La escucha ilustra la suma; no demuestra una teoría perceptual.</a:t>
            </a:r>
          </a:p>
        </p:txBody>
      </p:sp>
      <p:pic>
        <p:nvPicPr>
          <p:cNvPr id="10" name="Gráfico 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457200" y="1257300"/>
            <a:ext cx="11277600" cy="4686300"/>
          </a:xfrm>
          <a:prstGeom prst="rect">
            <a:avLst/>
          </a:prstGeom>
        </p:spPr>
      </p:pic>
      <p:sp>
        <p:nvSpPr>
          <p:cNvPr id="5" name="caption">
            <a:extLst>
              <a:ext uri="{FF2B5EF4-FFF2-40B4-BE49-F238E27FC236}">
                <a16:creationId xmlns:a16="http://schemas.microsoft.com/office/drawing/2014/main" id="{E239944F-7806-4162-AE35-841C890EACEC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876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Una señal resultante puede representarse mediante varias componentes.</a:t>
            </a:r>
          </a:p>
        </p:txBody>
      </p:sp>
      <p:sp>
        <p:nvSpPr>
          <p:cNvPr id="6" name="credit">
            <a:extLst>
              <a:ext uri="{FF2B5EF4-FFF2-40B4-BE49-F238E27FC236}">
                <a16:creationId xmlns:a16="http://schemas.microsoft.com/office/drawing/2014/main" id="{E5BB2A8B-9D87-4EE9-B6CC-0E4EC41A36E9}"/>
              </a:ext>
            </a:extLst>
          </p:cNvPr>
          <p:cNvSpPr>
            <a:spLocks noGrp="1"/>
          </p:cNvSpPr>
          <p:nvPr/>
        </p:nvSpPr>
        <p:spPr>
          <a:xfrm>
            <a:off x="9382125" y="60769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5.4; EP.</a:t>
            </a:r>
          </a:p>
        </p:txBody>
      </p:sp>
      <p:sp>
        <p:nvSpPr>
          <p:cNvPr id="4" name="slide-alt-summary" descr="Cuatro paneles estáticos muestran tres componentes y su suma.">
            <a:extLst>
              <a:ext uri="{FF2B5EF4-FFF2-40B4-BE49-F238E27FC236}">
                <a16:creationId xmlns:a16="http://schemas.microsoft.com/office/drawing/2014/main" id="{41F8C6B3-E867-F0BB-1F6B-1E01D49AC2B5}"/>
              </a:ext>
            </a:extLst>
          </p:cNvPr>
          <p:cNvSpPr/>
          <p:nvPr/>
        </p:nvSpPr>
        <p:spPr>
          <a:xfrm>
            <a:off x="12700" y="12700"/>
            <a:ext cx="12700" cy="12700"/>
          </a:xfrm>
          <a:prstGeom prst="rect">
            <a:avLst/>
          </a:prstGeom>
          <a:noFill/>
          <a:ln w="19050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462133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yebrow">
            <a:extLst>
              <a:ext uri="{FF2B5EF4-FFF2-40B4-BE49-F238E27FC236}">
                <a16:creationId xmlns:a16="http://schemas.microsoft.com/office/drawing/2014/main" id="{8D012343-D391-4C3F-AA86-C5B5AA032C95}"/>
              </a:ext>
            </a:extLst>
          </p:cNvPr>
          <p:cNvSpPr>
            <a:spLocks noGrp="1"/>
          </p:cNvSpPr>
          <p:nvPr/>
        </p:nvSpPr>
        <p:spPr>
          <a:xfrm>
            <a:off x="514350" y="2095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021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10166F16-E35B-4B1C-965B-300EC40FE602}"/>
              </a:ext>
            </a:extLst>
          </p:cNvPr>
          <p:cNvSpPr>
            <a:spLocks noGrp="1"/>
          </p:cNvSpPr>
          <p:nvPr/>
        </p:nvSpPr>
        <p:spPr>
          <a:xfrm>
            <a:off x="495300" y="428625"/>
            <a:ext cx="11191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Agregar componentes aproxima una forma no sinusoidal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62FDD3D-9125-4AFC-ACA1-E5B124329F29}"/>
              </a:ext>
            </a:extLst>
          </p:cNvPr>
          <p:cNvSpPr>
            <a:spLocks noGrp="1"/>
          </p:cNvSpPr>
          <p:nvPr/>
        </p:nvSpPr>
        <p:spPr>
          <a:xfrm>
            <a:off x="523875" y="971550"/>
            <a:ext cx="11001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La escala permanece fija para comparar la aproximación.</a:t>
            </a:r>
          </a:p>
        </p:txBody>
      </p:sp>
      <p:pic>
        <p:nvPicPr>
          <p:cNvPr id="10" name="Gráfico 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457200" y="1257300"/>
            <a:ext cx="11277600" cy="4686300"/>
          </a:xfrm>
          <a:prstGeom prst="rect">
            <a:avLst/>
          </a:prstGeom>
        </p:spPr>
      </p:pic>
      <p:sp>
        <p:nvSpPr>
          <p:cNvPr id="5" name="caption">
            <a:extLst>
              <a:ext uri="{FF2B5EF4-FFF2-40B4-BE49-F238E27FC236}">
                <a16:creationId xmlns:a16="http://schemas.microsoft.com/office/drawing/2014/main" id="{8568720B-6617-45FA-AE78-72398552A63D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876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Más términos mejoran la aproximación, pero no eliminan las oscilaciones de borde.</a:t>
            </a:r>
          </a:p>
        </p:txBody>
      </p:sp>
      <p:sp>
        <p:nvSpPr>
          <p:cNvPr id="6" name="credit">
            <a:extLst>
              <a:ext uri="{FF2B5EF4-FFF2-40B4-BE49-F238E27FC236}">
                <a16:creationId xmlns:a16="http://schemas.microsoft.com/office/drawing/2014/main" id="{DB699D8C-6972-4570-81EA-53AEC28E8813}"/>
              </a:ext>
            </a:extLst>
          </p:cNvPr>
          <p:cNvSpPr>
            <a:spLocks noGrp="1"/>
          </p:cNvSpPr>
          <p:nvPr/>
        </p:nvSpPr>
        <p:spPr>
          <a:xfrm>
            <a:off x="9382125" y="60769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fig. 5.2; PDF p. 124.</a:t>
            </a:r>
          </a:p>
        </p:txBody>
      </p:sp>
      <p:sp>
        <p:nvSpPr>
          <p:cNvPr id="4" name="slide-alt-summary" descr="Cuatro paneles muestran una onda rectangular aproximada con cantidades crecientes de armónicos impares.">
            <a:extLst>
              <a:ext uri="{FF2B5EF4-FFF2-40B4-BE49-F238E27FC236}">
                <a16:creationId xmlns:a16="http://schemas.microsoft.com/office/drawing/2014/main" id="{3783D693-114D-D865-E675-B41561B7AD93}"/>
              </a:ext>
            </a:extLst>
          </p:cNvPr>
          <p:cNvSpPr/>
          <p:nvPr/>
        </p:nvSpPr>
        <p:spPr>
          <a:xfrm>
            <a:off x="12700" y="12700"/>
            <a:ext cx="12700" cy="12700"/>
          </a:xfrm>
          <a:prstGeom prst="rect">
            <a:avLst/>
          </a:prstGeom>
          <a:noFill/>
          <a:ln w="19050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954492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eyebrow">
            <a:extLst>
              <a:ext uri="{FF2B5EF4-FFF2-40B4-BE49-F238E27FC236}">
                <a16:creationId xmlns:a16="http://schemas.microsoft.com/office/drawing/2014/main" id="{BFC35A64-4BD4-465B-9F48-B12A645EC25B}"/>
              </a:ext>
            </a:extLst>
          </p:cNvPr>
          <p:cNvSpPr>
            <a:spLocks noGrp="1"/>
          </p:cNvSpPr>
          <p:nvPr/>
        </p:nvSpPr>
        <p:spPr>
          <a:xfrm>
            <a:off x="514350" y="2095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022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18FF8806-05BE-4C74-885D-B24AC79B2C89}"/>
              </a:ext>
            </a:extLst>
          </p:cNvPr>
          <p:cNvSpPr>
            <a:spLocks noGrp="1"/>
          </p:cNvSpPr>
          <p:nvPr/>
        </p:nvSpPr>
        <p:spPr>
          <a:xfrm>
            <a:off x="495300" y="428625"/>
            <a:ext cx="11191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La serie ubica componentes en múltiplos de f_0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7DEF1F81-0CCE-4880-84C8-58EEBC269C28}"/>
              </a:ext>
            </a:extLst>
          </p:cNvPr>
          <p:cNvSpPr>
            <a:spLocks noGrp="1"/>
          </p:cNvSpPr>
          <p:nvPr/>
        </p:nvSpPr>
        <p:spPr>
          <a:xfrm>
            <a:off x="523875" y="971550"/>
            <a:ext cx="11001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La ecuación compacta una idea ya observada.</a:t>
            </a:r>
          </a:p>
        </p:txBody>
      </p:sp>
      <p:sp>
        <p:nvSpPr>
          <p:cNvPr id="4" name="U05-DG-003-eq_x">
            <a:extLst>
              <a:ext uri="{FF2B5EF4-FFF2-40B4-BE49-F238E27FC236}">
                <a16:creationId xmlns:a16="http://schemas.microsoft.com/office/drawing/2014/main" id="{9C150D48-9928-4591-9E33-2069632F342A}"/>
              </a:ext>
            </a:extLst>
          </p:cNvPr>
          <p:cNvSpPr>
            <a:spLocks noGrp="1"/>
          </p:cNvSpPr>
          <p:nvPr/>
        </p:nvSpPr>
        <p:spPr>
          <a:xfrm>
            <a:off x="2381250" y="2667000"/>
            <a:ext cx="1571625" cy="1000125"/>
          </a:xfrm>
          <a:prstGeom prst="roundRect">
            <a:avLst>
              <a:gd name="adj" fmla="val 13333"/>
            </a:avLst>
          </a:prstGeom>
          <a:solidFill>
            <a:srgbClr val="EFECF7"/>
          </a:solidFill>
          <a:ln w="19050">
            <a:solidFill>
              <a:srgbClr val="65539A"/>
            </a:solidFill>
            <a:prstDash val="solid"/>
          </a:ln>
        </p:spPr>
      </p:sp>
      <p:sp>
        <p:nvSpPr>
          <p:cNvPr id="5" name="U05-DG-003-eq_x-title">
            <a:extLst>
              <a:ext uri="{FF2B5EF4-FFF2-40B4-BE49-F238E27FC236}">
                <a16:creationId xmlns:a16="http://schemas.microsoft.com/office/drawing/2014/main" id="{200320F7-0F12-490A-B0E4-4740040750A5}"/>
              </a:ext>
            </a:extLst>
          </p:cNvPr>
          <p:cNvSpPr>
            <a:spLocks noGrp="1"/>
          </p:cNvSpPr>
          <p:nvPr/>
        </p:nvSpPr>
        <p:spPr>
          <a:xfrm>
            <a:off x="2552700" y="2790825"/>
            <a:ext cx="1228725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2000"/>
              </a:lnSpc>
              <a:buNone/>
              <a:defRPr sz="2850" b="1" i="0">
                <a:solidFill>
                  <a:srgbClr val="65539A"/>
                </a:solidFill>
                <a:latin typeface="Cambria Math"/>
                <a:ea typeface="Cambria Math"/>
                <a:cs typeface="Cambria Math"/>
              </a:defRPr>
            </a:pPr>
            <a:r>
              <a:rPr sz="2850" b="1" i="0">
                <a:solidFill>
                  <a:srgbClr val="65539A"/>
                </a:solidFill>
                <a:latin typeface="Cambria Math"/>
                <a:ea typeface="Cambria Math"/>
                <a:cs typeface="Cambria Math"/>
              </a:rPr>
              <a:t>X(f)</a:t>
            </a:r>
          </a:p>
        </p:txBody>
      </p:sp>
      <p:sp>
        <p:nvSpPr>
          <p:cNvPr id="6" name="U05-DG-003-eq_equal">
            <a:extLst>
              <a:ext uri="{FF2B5EF4-FFF2-40B4-BE49-F238E27FC236}">
                <a16:creationId xmlns:a16="http://schemas.microsoft.com/office/drawing/2014/main" id="{B9ABE5AA-D1D0-4B5E-8114-6F6F6FAF4F31}"/>
              </a:ext>
            </a:extLst>
          </p:cNvPr>
          <p:cNvSpPr>
            <a:spLocks noGrp="1"/>
          </p:cNvSpPr>
          <p:nvPr/>
        </p:nvSpPr>
        <p:spPr>
          <a:xfrm>
            <a:off x="4095750" y="2667000"/>
            <a:ext cx="571500" cy="1000125"/>
          </a:xfrm>
          <a:prstGeom prst="roundRect">
            <a:avLst>
              <a:gd name="adj" fmla="val 23333"/>
            </a:avLst>
          </a:prstGeom>
          <a:solidFill>
            <a:srgbClr val="EFECF7"/>
          </a:solidFill>
          <a:ln w="19050">
            <a:solidFill>
              <a:srgbClr val="65539A"/>
            </a:solidFill>
            <a:prstDash val="solid"/>
          </a:ln>
        </p:spPr>
      </p:sp>
      <p:sp>
        <p:nvSpPr>
          <p:cNvPr id="7" name="U05-DG-003-eq_equal-title">
            <a:extLst>
              <a:ext uri="{FF2B5EF4-FFF2-40B4-BE49-F238E27FC236}">
                <a16:creationId xmlns:a16="http://schemas.microsoft.com/office/drawing/2014/main" id="{A9449F56-9ABA-4AD7-984C-F3F431D794D2}"/>
              </a:ext>
            </a:extLst>
          </p:cNvPr>
          <p:cNvSpPr>
            <a:spLocks noGrp="1"/>
          </p:cNvSpPr>
          <p:nvPr/>
        </p:nvSpPr>
        <p:spPr>
          <a:xfrm>
            <a:off x="4267200" y="2790825"/>
            <a:ext cx="22860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2000"/>
              </a:lnSpc>
              <a:buNone/>
              <a:defRPr sz="2850" b="1" i="0">
                <a:solidFill>
                  <a:srgbClr val="65539A"/>
                </a:solidFill>
                <a:latin typeface="Cambria Math"/>
                <a:ea typeface="Cambria Math"/>
                <a:cs typeface="Cambria Math"/>
              </a:defRPr>
            </a:pPr>
            <a:r>
              <a:rPr sz="2850" b="1" i="0">
                <a:solidFill>
                  <a:srgbClr val="65539A"/>
                </a:solidFill>
                <a:latin typeface="Cambria Math"/>
                <a:ea typeface="Cambria Math"/>
                <a:cs typeface="Cambria Math"/>
              </a:rPr>
              <a:t>=</a:t>
            </a:r>
          </a:p>
        </p:txBody>
      </p:sp>
      <p:sp>
        <p:nvSpPr>
          <p:cNvPr id="8" name="U05-DG-003-eq_mag">
            <a:extLst>
              <a:ext uri="{FF2B5EF4-FFF2-40B4-BE49-F238E27FC236}">
                <a16:creationId xmlns:a16="http://schemas.microsoft.com/office/drawing/2014/main" id="{91E89380-5FD1-43F2-8567-F788708C2FFC}"/>
              </a:ext>
            </a:extLst>
          </p:cNvPr>
          <p:cNvSpPr>
            <a:spLocks noGrp="1"/>
          </p:cNvSpPr>
          <p:nvPr/>
        </p:nvSpPr>
        <p:spPr>
          <a:xfrm>
            <a:off x="4810125" y="2667000"/>
            <a:ext cx="2000250" cy="1000125"/>
          </a:xfrm>
          <a:prstGeom prst="roundRect">
            <a:avLst>
              <a:gd name="adj" fmla="val 13333"/>
            </a:avLst>
          </a:prstGeom>
          <a:solidFill>
            <a:srgbClr val="EFECF7"/>
          </a:solidFill>
          <a:ln w="19050">
            <a:solidFill>
              <a:srgbClr val="65539A"/>
            </a:solidFill>
            <a:prstDash val="solid"/>
          </a:ln>
        </p:spPr>
      </p:sp>
      <p:sp>
        <p:nvSpPr>
          <p:cNvPr id="9" name="U05-DG-003-eq_mag-title">
            <a:extLst>
              <a:ext uri="{FF2B5EF4-FFF2-40B4-BE49-F238E27FC236}">
                <a16:creationId xmlns:a16="http://schemas.microsoft.com/office/drawing/2014/main" id="{4A972888-2035-4678-8A31-E5FA4750EA5C}"/>
              </a:ext>
            </a:extLst>
          </p:cNvPr>
          <p:cNvSpPr>
            <a:spLocks noGrp="1"/>
          </p:cNvSpPr>
          <p:nvPr/>
        </p:nvSpPr>
        <p:spPr>
          <a:xfrm>
            <a:off x="4981575" y="2790825"/>
            <a:ext cx="165735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2000"/>
              </a:lnSpc>
              <a:buNone/>
              <a:defRPr sz="2850" b="1" i="0">
                <a:solidFill>
                  <a:srgbClr val="65539A"/>
                </a:solidFill>
                <a:latin typeface="Cambria Math"/>
                <a:ea typeface="Cambria Math"/>
                <a:cs typeface="Cambria Math"/>
              </a:defRPr>
            </a:pPr>
            <a:r>
              <a:rPr sz="2850" b="1" i="0">
                <a:solidFill>
                  <a:srgbClr val="65539A"/>
                </a:solidFill>
                <a:latin typeface="Cambria Math"/>
                <a:ea typeface="Cambria Math"/>
                <a:cs typeface="Cambria Math"/>
              </a:rPr>
              <a:t>|X(f)|</a:t>
            </a:r>
          </a:p>
        </p:txBody>
      </p:sp>
      <p:sp>
        <p:nvSpPr>
          <p:cNvPr id="10" name="U05-DG-003-eq_phase">
            <a:extLst>
              <a:ext uri="{FF2B5EF4-FFF2-40B4-BE49-F238E27FC236}">
                <a16:creationId xmlns:a16="http://schemas.microsoft.com/office/drawing/2014/main" id="{6BF77543-A48E-4DB2-999C-F7BEA769FC1C}"/>
              </a:ext>
            </a:extLst>
          </p:cNvPr>
          <p:cNvSpPr>
            <a:spLocks noGrp="1"/>
          </p:cNvSpPr>
          <p:nvPr/>
        </p:nvSpPr>
        <p:spPr>
          <a:xfrm>
            <a:off x="7096125" y="2667000"/>
            <a:ext cx="2333625" cy="1000125"/>
          </a:xfrm>
          <a:prstGeom prst="roundRect">
            <a:avLst>
              <a:gd name="adj" fmla="val 13333"/>
            </a:avLst>
          </a:prstGeom>
          <a:solidFill>
            <a:srgbClr val="EFECF7"/>
          </a:solidFill>
          <a:ln w="19050">
            <a:solidFill>
              <a:srgbClr val="65539A"/>
            </a:solidFill>
            <a:prstDash val="solid"/>
          </a:ln>
        </p:spPr>
      </p:sp>
      <p:sp>
        <p:nvSpPr>
          <p:cNvPr id="11" name="U05-DG-003-eq_phase-title">
            <a:extLst>
              <a:ext uri="{FF2B5EF4-FFF2-40B4-BE49-F238E27FC236}">
                <a16:creationId xmlns:a16="http://schemas.microsoft.com/office/drawing/2014/main" id="{0FB7E4C5-D218-4EE1-8386-30C28D5BDD85}"/>
              </a:ext>
            </a:extLst>
          </p:cNvPr>
          <p:cNvSpPr>
            <a:spLocks noGrp="1"/>
          </p:cNvSpPr>
          <p:nvPr/>
        </p:nvSpPr>
        <p:spPr>
          <a:xfrm>
            <a:off x="7267575" y="2790825"/>
            <a:ext cx="1990725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2000"/>
              </a:lnSpc>
              <a:buNone/>
              <a:defRPr sz="2850" b="1" i="0">
                <a:solidFill>
                  <a:srgbClr val="65539A"/>
                </a:solidFill>
                <a:latin typeface="Cambria Math"/>
                <a:ea typeface="Cambria Math"/>
                <a:cs typeface="Cambria Math"/>
              </a:defRPr>
            </a:pPr>
            <a:r>
              <a:rPr sz="2850" b="1" i="0">
                <a:solidFill>
                  <a:srgbClr val="65539A"/>
                </a:solidFill>
                <a:latin typeface="Cambria Math"/>
                <a:ea typeface="Cambria Math"/>
                <a:cs typeface="Cambria Math"/>
              </a:rPr>
              <a:t>eʲφˣ⁽ᶠ⁾</a:t>
            </a:r>
          </a:p>
        </p:txBody>
      </p:sp>
      <p:sp>
        <p:nvSpPr>
          <p:cNvPr id="12" name="U05-DG-003-callout_quantity">
            <a:extLst>
              <a:ext uri="{FF2B5EF4-FFF2-40B4-BE49-F238E27FC236}">
                <a16:creationId xmlns:a16="http://schemas.microsoft.com/office/drawing/2014/main" id="{2A343A4E-4F68-4B74-BBB1-8669939CB771}"/>
              </a:ext>
            </a:extLst>
          </p:cNvPr>
          <p:cNvSpPr>
            <a:spLocks noGrp="1"/>
          </p:cNvSpPr>
          <p:nvPr/>
        </p:nvSpPr>
        <p:spPr>
          <a:xfrm>
            <a:off x="857250" y="1285875"/>
            <a:ext cx="2333625" cy="1000125"/>
          </a:xfrm>
          <a:prstGeom prst="roundRect">
            <a:avLst>
              <a:gd name="adj" fmla="val 13333"/>
            </a:avLst>
          </a:prstGeom>
          <a:solidFill>
            <a:srgbClr val="F3F6F8"/>
          </a:solidFill>
          <a:ln w="19050">
            <a:solidFill>
              <a:srgbClr val="8291A3"/>
            </a:solidFill>
            <a:prstDash val="solid"/>
          </a:ln>
        </p:spPr>
      </p:sp>
      <p:sp>
        <p:nvSpPr>
          <p:cNvPr id="13" name="U05-DG-003-callout_quantity-title">
            <a:extLst>
              <a:ext uri="{FF2B5EF4-FFF2-40B4-BE49-F238E27FC236}">
                <a16:creationId xmlns:a16="http://schemas.microsoft.com/office/drawing/2014/main" id="{4C82F9E0-C941-4510-B81D-C4447ECE5B3D}"/>
              </a:ext>
            </a:extLst>
          </p:cNvPr>
          <p:cNvSpPr>
            <a:spLocks noGrp="1"/>
          </p:cNvSpPr>
          <p:nvPr/>
        </p:nvSpPr>
        <p:spPr>
          <a:xfrm>
            <a:off x="1028700" y="1409700"/>
            <a:ext cx="19907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Transformada</a:t>
            </a:r>
          </a:p>
        </p:txBody>
      </p:sp>
      <p:sp>
        <p:nvSpPr>
          <p:cNvPr id="14" name="U05-DG-003-callout_quantity-body">
            <a:extLst>
              <a:ext uri="{FF2B5EF4-FFF2-40B4-BE49-F238E27FC236}">
                <a16:creationId xmlns:a16="http://schemas.microsoft.com/office/drawing/2014/main" id="{47BF0492-CEE9-4F14-9BA3-A4BC5204ED11}"/>
              </a:ext>
            </a:extLst>
          </p:cNvPr>
          <p:cNvSpPr>
            <a:spLocks noGrp="1"/>
          </p:cNvSpPr>
          <p:nvPr/>
        </p:nvSpPr>
        <p:spPr>
          <a:xfrm>
            <a:off x="1028700" y="1733550"/>
            <a:ext cx="199072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unidad U·s</a:t>
            </a:r>
          </a:p>
        </p:txBody>
      </p:sp>
      <p:sp>
        <p:nvSpPr>
          <p:cNvPr id="15" name="U05-DG-003-callout_magnitude">
            <a:extLst>
              <a:ext uri="{FF2B5EF4-FFF2-40B4-BE49-F238E27FC236}">
                <a16:creationId xmlns:a16="http://schemas.microsoft.com/office/drawing/2014/main" id="{0CE58118-6598-4396-9305-BEE259B1EC8D}"/>
              </a:ext>
            </a:extLst>
          </p:cNvPr>
          <p:cNvSpPr>
            <a:spLocks noGrp="1"/>
          </p:cNvSpPr>
          <p:nvPr/>
        </p:nvSpPr>
        <p:spPr>
          <a:xfrm>
            <a:off x="3905250" y="4333875"/>
            <a:ext cx="2476500" cy="1000125"/>
          </a:xfrm>
          <a:prstGeom prst="roundRect">
            <a:avLst>
              <a:gd name="adj" fmla="val 13333"/>
            </a:avLst>
          </a:prstGeom>
          <a:solidFill>
            <a:srgbClr val="EFF8FA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16" name="U05-DG-003-callout_magnitude-title">
            <a:extLst>
              <a:ext uri="{FF2B5EF4-FFF2-40B4-BE49-F238E27FC236}">
                <a16:creationId xmlns:a16="http://schemas.microsoft.com/office/drawing/2014/main" id="{DFC34B26-399C-46AE-A991-856DEF726E98}"/>
              </a:ext>
            </a:extLst>
          </p:cNvPr>
          <p:cNvSpPr>
            <a:spLocks noGrp="1"/>
          </p:cNvSpPr>
          <p:nvPr/>
        </p:nvSpPr>
        <p:spPr>
          <a:xfrm>
            <a:off x="4076700" y="4457700"/>
            <a:ext cx="2133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Magnitud</a:t>
            </a:r>
          </a:p>
        </p:txBody>
      </p:sp>
      <p:sp>
        <p:nvSpPr>
          <p:cNvPr id="17" name="U05-DG-003-callout_magnitude-body">
            <a:extLst>
              <a:ext uri="{FF2B5EF4-FFF2-40B4-BE49-F238E27FC236}">
                <a16:creationId xmlns:a16="http://schemas.microsoft.com/office/drawing/2014/main" id="{D97F4C97-214A-47EE-BFE4-060A19C70214}"/>
              </a:ext>
            </a:extLst>
          </p:cNvPr>
          <p:cNvSpPr>
            <a:spLocks noGrp="1"/>
          </p:cNvSpPr>
          <p:nvPr/>
        </p:nvSpPr>
        <p:spPr>
          <a:xfrm>
            <a:off x="4076700" y="4781550"/>
            <a:ext cx="21336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escala declarada</a:t>
            </a:r>
          </a:p>
        </p:txBody>
      </p:sp>
      <p:sp>
        <p:nvSpPr>
          <p:cNvPr id="18" name="U05-DG-003-callout_phase">
            <a:extLst>
              <a:ext uri="{FF2B5EF4-FFF2-40B4-BE49-F238E27FC236}">
                <a16:creationId xmlns:a16="http://schemas.microsoft.com/office/drawing/2014/main" id="{EE07226A-5B94-453C-B00B-529AC0046F7B}"/>
              </a:ext>
            </a:extLst>
          </p:cNvPr>
          <p:cNvSpPr>
            <a:spLocks noGrp="1"/>
          </p:cNvSpPr>
          <p:nvPr/>
        </p:nvSpPr>
        <p:spPr>
          <a:xfrm>
            <a:off x="7239000" y="4333875"/>
            <a:ext cx="2381250" cy="1000125"/>
          </a:xfrm>
          <a:prstGeom prst="roundRect">
            <a:avLst>
              <a:gd name="adj" fmla="val 13333"/>
            </a:avLst>
          </a:prstGeom>
          <a:solidFill>
            <a:srgbClr val="E3F2ED"/>
          </a:solidFill>
          <a:ln w="19050">
            <a:solidFill>
              <a:srgbClr val="2D7867"/>
            </a:solidFill>
            <a:prstDash val="solid"/>
          </a:ln>
        </p:spPr>
      </p:sp>
      <p:sp>
        <p:nvSpPr>
          <p:cNvPr id="19" name="U05-DG-003-callout_phase-title">
            <a:extLst>
              <a:ext uri="{FF2B5EF4-FFF2-40B4-BE49-F238E27FC236}">
                <a16:creationId xmlns:a16="http://schemas.microsoft.com/office/drawing/2014/main" id="{5AB131FD-1802-4496-8372-1D8A6D103C4C}"/>
              </a:ext>
            </a:extLst>
          </p:cNvPr>
          <p:cNvSpPr>
            <a:spLocks noGrp="1"/>
          </p:cNvSpPr>
          <p:nvPr/>
        </p:nvSpPr>
        <p:spPr>
          <a:xfrm>
            <a:off x="7410450" y="4457700"/>
            <a:ext cx="2038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Fase relativa</a:t>
            </a:r>
          </a:p>
        </p:txBody>
      </p:sp>
      <p:sp>
        <p:nvSpPr>
          <p:cNvPr id="20" name="U05-DG-003-callout_phase-body">
            <a:extLst>
              <a:ext uri="{FF2B5EF4-FFF2-40B4-BE49-F238E27FC236}">
                <a16:creationId xmlns:a16="http://schemas.microsoft.com/office/drawing/2014/main" id="{D7B5C6A7-2C8B-4E4D-A257-B6EC5E057D8D}"/>
              </a:ext>
            </a:extLst>
          </p:cNvPr>
          <p:cNvSpPr>
            <a:spLocks noGrp="1"/>
          </p:cNvSpPr>
          <p:nvPr/>
        </p:nvSpPr>
        <p:spPr>
          <a:xfrm>
            <a:off x="7410450" y="4781550"/>
            <a:ext cx="20383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φₓ(f) en rad</a:t>
            </a:r>
          </a:p>
        </p:txBody>
      </p:sp>
      <p:sp>
        <p:nvSpPr>
          <p:cNvPr id="21" name="U05-DG-003-callout_frequency">
            <a:extLst>
              <a:ext uri="{FF2B5EF4-FFF2-40B4-BE49-F238E27FC236}">
                <a16:creationId xmlns:a16="http://schemas.microsoft.com/office/drawing/2014/main" id="{A3BF17BB-D718-404C-B00F-CC4A097529EE}"/>
              </a:ext>
            </a:extLst>
          </p:cNvPr>
          <p:cNvSpPr>
            <a:spLocks noGrp="1"/>
          </p:cNvSpPr>
          <p:nvPr/>
        </p:nvSpPr>
        <p:spPr>
          <a:xfrm>
            <a:off x="9572625" y="1285875"/>
            <a:ext cx="1905000" cy="1000125"/>
          </a:xfrm>
          <a:prstGeom prst="roundRect">
            <a:avLst>
              <a:gd name="adj" fmla="val 13333"/>
            </a:avLst>
          </a:prstGeom>
          <a:solidFill>
            <a:srgbClr val="DDEFF5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22" name="U05-DG-003-callout_frequency-title">
            <a:extLst>
              <a:ext uri="{FF2B5EF4-FFF2-40B4-BE49-F238E27FC236}">
                <a16:creationId xmlns:a16="http://schemas.microsoft.com/office/drawing/2014/main" id="{3F8D5952-DB88-4B8C-8D87-2FF48B0E006E}"/>
              </a:ext>
            </a:extLst>
          </p:cNvPr>
          <p:cNvSpPr>
            <a:spLocks noGrp="1"/>
          </p:cNvSpPr>
          <p:nvPr/>
        </p:nvSpPr>
        <p:spPr>
          <a:xfrm>
            <a:off x="9744075" y="1409700"/>
            <a:ext cx="1562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Variable</a:t>
            </a:r>
          </a:p>
        </p:txBody>
      </p:sp>
      <p:sp>
        <p:nvSpPr>
          <p:cNvPr id="23" name="U05-DG-003-callout_frequency-body">
            <a:extLst>
              <a:ext uri="{FF2B5EF4-FFF2-40B4-BE49-F238E27FC236}">
                <a16:creationId xmlns:a16="http://schemas.microsoft.com/office/drawing/2014/main" id="{63116446-20CD-4F48-8F8B-5AEB20DC0AC9}"/>
              </a:ext>
            </a:extLst>
          </p:cNvPr>
          <p:cNvSpPr>
            <a:spLocks noGrp="1"/>
          </p:cNvSpPr>
          <p:nvPr/>
        </p:nvSpPr>
        <p:spPr>
          <a:xfrm>
            <a:off x="9744075" y="1733550"/>
            <a:ext cx="15621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f en Hz</a:t>
            </a:r>
          </a:p>
        </p:txBody>
      </p:sp>
      <p:cxnSp>
        <p:nvCxnSpPr>
          <p:cNvPr id="54" name="U05-DG-003-lead_quantity"/>
          <p:cNvCxnSpPr>
            <a:stCxn id="12" idx="3"/>
            <a:endCxn id="4" idx="1"/>
          </p:cNvCxnSpPr>
          <p:nvPr/>
        </p:nvCxnSpPr>
        <p:spPr>
          <a:xfrm flipH="1">
            <a:off x="2152650" y="1785938"/>
            <a:ext cx="1266825" cy="1381125"/>
          </a:xfrm>
          <a:prstGeom prst="bentConnector4">
            <a:avLst/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cxnSp>
        <p:nvCxnSpPr>
          <p:cNvPr id="55" name="U05-DG-003-lead_magnitude"/>
          <p:cNvCxnSpPr>
            <a:stCxn id="15" idx="0"/>
            <a:endCxn id="8" idx="2"/>
          </p:cNvCxnSpPr>
          <p:nvPr/>
        </p:nvCxnSpPr>
        <p:spPr>
          <a:xfrm flipV="1">
            <a:off x="5143500" y="3667125"/>
            <a:ext cx="666750" cy="666750"/>
          </a:xfrm>
          <a:prstGeom prst="bentConnector4">
            <a:avLst>
              <a:gd name="adj1" fmla="val 0"/>
              <a:gd name="adj2" fmla="val 50000"/>
            </a:avLst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cxnSp>
        <p:nvCxnSpPr>
          <p:cNvPr id="56" name="U05-DG-003-lead_phase"/>
          <p:cNvCxnSpPr>
            <a:stCxn id="18" idx="0"/>
            <a:endCxn id="10" idx="2"/>
          </p:cNvCxnSpPr>
          <p:nvPr/>
        </p:nvCxnSpPr>
        <p:spPr>
          <a:xfrm flipH="1" flipV="1">
            <a:off x="8262938" y="3667125"/>
            <a:ext cx="166688" cy="666750"/>
          </a:xfrm>
          <a:prstGeom prst="bentConnector4">
            <a:avLst>
              <a:gd name="adj1" fmla="val 0"/>
              <a:gd name="adj2" fmla="val 50000"/>
            </a:avLst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cxnSp>
        <p:nvCxnSpPr>
          <p:cNvPr id="57" name="U05-DG-003-lead_frequency"/>
          <p:cNvCxnSpPr>
            <a:stCxn id="21" idx="1"/>
            <a:endCxn id="10" idx="3"/>
          </p:cNvCxnSpPr>
          <p:nvPr/>
        </p:nvCxnSpPr>
        <p:spPr>
          <a:xfrm flipH="1">
            <a:off x="9429750" y="1785938"/>
            <a:ext cx="142875" cy="1381125"/>
          </a:xfrm>
          <a:prstGeom prst="bentConnector4">
            <a:avLst/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sp>
        <p:nvSpPr>
          <p:cNvPr id="28" name="diagram-scale-note">
            <a:extLst>
              <a:ext uri="{FF2B5EF4-FFF2-40B4-BE49-F238E27FC236}">
                <a16:creationId xmlns:a16="http://schemas.microsoft.com/office/drawing/2014/main" id="{6162EB55-109E-49C8-A2D0-8393CD6190A7}"/>
              </a:ext>
            </a:extLst>
          </p:cNvPr>
          <p:cNvSpPr>
            <a:spLocks noGrp="1"/>
          </p:cNvSpPr>
          <p:nvPr/>
        </p:nvSpPr>
        <p:spPr>
          <a:xfrm>
            <a:off x="552450" y="5829300"/>
            <a:ext cx="3905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05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Esquema conceptual · no está a escala</a:t>
            </a:r>
          </a:p>
        </p:txBody>
      </p:sp>
      <p:sp>
        <p:nvSpPr>
          <p:cNvPr id="29" name="caption">
            <a:extLst>
              <a:ext uri="{FF2B5EF4-FFF2-40B4-BE49-F238E27FC236}">
                <a16:creationId xmlns:a16="http://schemas.microsoft.com/office/drawing/2014/main" id="{18CBBE14-6C7F-4456-A373-208F6AE39C87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876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La serie organiza una señal periódica en componentes armónicas.</a:t>
            </a:r>
          </a:p>
        </p:txBody>
      </p:sp>
      <p:sp>
        <p:nvSpPr>
          <p:cNvPr id="30" name="credit">
            <a:extLst>
              <a:ext uri="{FF2B5EF4-FFF2-40B4-BE49-F238E27FC236}">
                <a16:creationId xmlns:a16="http://schemas.microsoft.com/office/drawing/2014/main" id="{1A46E392-1D13-4A85-9084-2BB92F9AE413}"/>
              </a:ext>
            </a:extLst>
          </p:cNvPr>
          <p:cNvSpPr>
            <a:spLocks noGrp="1"/>
          </p:cNvSpPr>
          <p:nvPr/>
        </p:nvSpPr>
        <p:spPr>
          <a:xfrm>
            <a:off x="9382125" y="60769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5.4.1, ec. 5.3.</a:t>
            </a:r>
          </a:p>
        </p:txBody>
      </p:sp>
      <p:sp>
        <p:nvSpPr>
          <p:cNvPr id="24" name="slide-alt-summary" descr="Ecuación central con callouts para media, índice, frecuencia y coeficientes.">
            <a:extLst>
              <a:ext uri="{FF2B5EF4-FFF2-40B4-BE49-F238E27FC236}">
                <a16:creationId xmlns:a16="http://schemas.microsoft.com/office/drawing/2014/main" id="{2709C5D2-261B-91C2-2660-2365516A0C00}"/>
              </a:ext>
            </a:extLst>
          </p:cNvPr>
          <p:cNvSpPr/>
          <p:nvPr/>
        </p:nvSpPr>
        <p:spPr>
          <a:xfrm>
            <a:off x="12700" y="12700"/>
            <a:ext cx="12700" cy="12700"/>
          </a:xfrm>
          <a:prstGeom prst="rect">
            <a:avLst/>
          </a:prstGeom>
          <a:noFill/>
          <a:ln w="19050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eyebrow">
            <a:extLst>
              <a:ext uri="{FF2B5EF4-FFF2-40B4-BE49-F238E27FC236}">
                <a16:creationId xmlns:a16="http://schemas.microsoft.com/office/drawing/2014/main" id="{65BE1DAC-E8C1-44C5-9BF6-5A353C354033}"/>
              </a:ext>
            </a:extLst>
          </p:cNvPr>
          <p:cNvSpPr>
            <a:spLocks noGrp="1"/>
          </p:cNvSpPr>
          <p:nvPr/>
        </p:nvSpPr>
        <p:spPr>
          <a:xfrm>
            <a:off x="514350" y="2095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023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A320D7E7-1477-4643-A36E-509FADCDF97C}"/>
              </a:ext>
            </a:extLst>
          </p:cNvPr>
          <p:cNvSpPr>
            <a:spLocks noGrp="1"/>
          </p:cNvSpPr>
          <p:nvPr/>
        </p:nvSpPr>
        <p:spPr>
          <a:xfrm>
            <a:off x="495300" y="428625"/>
            <a:ext cx="11191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Los coeficientes indican cuánto aporta cada componente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43B2905A-E3BF-432F-B236-1857D472A026}"/>
              </a:ext>
            </a:extLst>
          </p:cNvPr>
          <p:cNvSpPr>
            <a:spLocks noGrp="1"/>
          </p:cNvSpPr>
          <p:nvPr/>
        </p:nvSpPr>
        <p:spPr>
          <a:xfrm>
            <a:off x="523875" y="971550"/>
            <a:ext cx="11001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Se obtienen comparando la señal con seno y coseno durante un período.</a:t>
            </a:r>
          </a:p>
        </p:txBody>
      </p:sp>
      <p:sp>
        <p:nvSpPr>
          <p:cNvPr id="4" name="U05-DG-003-eq_x">
            <a:extLst>
              <a:ext uri="{FF2B5EF4-FFF2-40B4-BE49-F238E27FC236}">
                <a16:creationId xmlns:a16="http://schemas.microsoft.com/office/drawing/2014/main" id="{19CF7DF8-6ECB-4DA6-B125-36267DC0F5B2}"/>
              </a:ext>
            </a:extLst>
          </p:cNvPr>
          <p:cNvSpPr>
            <a:spLocks noGrp="1"/>
          </p:cNvSpPr>
          <p:nvPr/>
        </p:nvSpPr>
        <p:spPr>
          <a:xfrm>
            <a:off x="2381250" y="2667000"/>
            <a:ext cx="1571625" cy="1000125"/>
          </a:xfrm>
          <a:prstGeom prst="roundRect">
            <a:avLst>
              <a:gd name="adj" fmla="val 13333"/>
            </a:avLst>
          </a:prstGeom>
          <a:solidFill>
            <a:srgbClr val="EFECF7"/>
          </a:solidFill>
          <a:ln w="19050">
            <a:solidFill>
              <a:srgbClr val="65539A"/>
            </a:solidFill>
            <a:prstDash val="solid"/>
          </a:ln>
        </p:spPr>
      </p:sp>
      <p:sp>
        <p:nvSpPr>
          <p:cNvPr id="5" name="U05-DG-003-eq_x-title">
            <a:extLst>
              <a:ext uri="{FF2B5EF4-FFF2-40B4-BE49-F238E27FC236}">
                <a16:creationId xmlns:a16="http://schemas.microsoft.com/office/drawing/2014/main" id="{5F7E9AF9-B943-42DF-ABE0-DBC2C6B35480}"/>
              </a:ext>
            </a:extLst>
          </p:cNvPr>
          <p:cNvSpPr>
            <a:spLocks noGrp="1"/>
          </p:cNvSpPr>
          <p:nvPr/>
        </p:nvSpPr>
        <p:spPr>
          <a:xfrm>
            <a:off x="2552700" y="2790825"/>
            <a:ext cx="1228725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2000"/>
              </a:lnSpc>
              <a:buNone/>
              <a:defRPr sz="2850" b="1" i="0">
                <a:solidFill>
                  <a:srgbClr val="65539A"/>
                </a:solidFill>
                <a:latin typeface="Cambria Math"/>
                <a:ea typeface="Cambria Math"/>
                <a:cs typeface="Cambria Math"/>
              </a:defRPr>
            </a:pPr>
            <a:r>
              <a:rPr sz="2850" b="1" i="0">
                <a:solidFill>
                  <a:srgbClr val="65539A"/>
                </a:solidFill>
                <a:latin typeface="Cambria Math"/>
                <a:ea typeface="Cambria Math"/>
                <a:cs typeface="Cambria Math"/>
              </a:rPr>
              <a:t>X(f)</a:t>
            </a:r>
          </a:p>
        </p:txBody>
      </p:sp>
      <p:sp>
        <p:nvSpPr>
          <p:cNvPr id="6" name="U05-DG-003-eq_equal">
            <a:extLst>
              <a:ext uri="{FF2B5EF4-FFF2-40B4-BE49-F238E27FC236}">
                <a16:creationId xmlns:a16="http://schemas.microsoft.com/office/drawing/2014/main" id="{A8DB058E-690B-47F5-97C0-A92ABBF57E6B}"/>
              </a:ext>
            </a:extLst>
          </p:cNvPr>
          <p:cNvSpPr>
            <a:spLocks noGrp="1"/>
          </p:cNvSpPr>
          <p:nvPr/>
        </p:nvSpPr>
        <p:spPr>
          <a:xfrm>
            <a:off x="4095750" y="2667000"/>
            <a:ext cx="571500" cy="1000125"/>
          </a:xfrm>
          <a:prstGeom prst="roundRect">
            <a:avLst>
              <a:gd name="adj" fmla="val 23333"/>
            </a:avLst>
          </a:prstGeom>
          <a:solidFill>
            <a:srgbClr val="EFECF7"/>
          </a:solidFill>
          <a:ln w="19050">
            <a:solidFill>
              <a:srgbClr val="65539A"/>
            </a:solidFill>
            <a:prstDash val="solid"/>
          </a:ln>
        </p:spPr>
      </p:sp>
      <p:sp>
        <p:nvSpPr>
          <p:cNvPr id="7" name="U05-DG-003-eq_equal-title">
            <a:extLst>
              <a:ext uri="{FF2B5EF4-FFF2-40B4-BE49-F238E27FC236}">
                <a16:creationId xmlns:a16="http://schemas.microsoft.com/office/drawing/2014/main" id="{B5C7BE65-AC0E-4242-904D-412C3D04726E}"/>
              </a:ext>
            </a:extLst>
          </p:cNvPr>
          <p:cNvSpPr>
            <a:spLocks noGrp="1"/>
          </p:cNvSpPr>
          <p:nvPr/>
        </p:nvSpPr>
        <p:spPr>
          <a:xfrm>
            <a:off x="4267200" y="2790825"/>
            <a:ext cx="22860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2000"/>
              </a:lnSpc>
              <a:buNone/>
              <a:defRPr sz="2850" b="1" i="0">
                <a:solidFill>
                  <a:srgbClr val="65539A"/>
                </a:solidFill>
                <a:latin typeface="Cambria Math"/>
                <a:ea typeface="Cambria Math"/>
                <a:cs typeface="Cambria Math"/>
              </a:defRPr>
            </a:pPr>
            <a:r>
              <a:rPr sz="2850" b="1" i="0">
                <a:solidFill>
                  <a:srgbClr val="65539A"/>
                </a:solidFill>
                <a:latin typeface="Cambria Math"/>
                <a:ea typeface="Cambria Math"/>
                <a:cs typeface="Cambria Math"/>
              </a:rPr>
              <a:t>=</a:t>
            </a:r>
          </a:p>
        </p:txBody>
      </p:sp>
      <p:sp>
        <p:nvSpPr>
          <p:cNvPr id="8" name="U05-DG-003-eq_mag">
            <a:extLst>
              <a:ext uri="{FF2B5EF4-FFF2-40B4-BE49-F238E27FC236}">
                <a16:creationId xmlns:a16="http://schemas.microsoft.com/office/drawing/2014/main" id="{63F982D0-EABA-4DFF-9F0A-98A0A31FA245}"/>
              </a:ext>
            </a:extLst>
          </p:cNvPr>
          <p:cNvSpPr>
            <a:spLocks noGrp="1"/>
          </p:cNvSpPr>
          <p:nvPr/>
        </p:nvSpPr>
        <p:spPr>
          <a:xfrm>
            <a:off x="4810125" y="2667000"/>
            <a:ext cx="2000250" cy="1000125"/>
          </a:xfrm>
          <a:prstGeom prst="roundRect">
            <a:avLst>
              <a:gd name="adj" fmla="val 13333"/>
            </a:avLst>
          </a:prstGeom>
          <a:solidFill>
            <a:srgbClr val="EFECF7"/>
          </a:solidFill>
          <a:ln w="19050">
            <a:solidFill>
              <a:srgbClr val="65539A"/>
            </a:solidFill>
            <a:prstDash val="solid"/>
          </a:ln>
        </p:spPr>
      </p:sp>
      <p:sp>
        <p:nvSpPr>
          <p:cNvPr id="9" name="U05-DG-003-eq_mag-title">
            <a:extLst>
              <a:ext uri="{FF2B5EF4-FFF2-40B4-BE49-F238E27FC236}">
                <a16:creationId xmlns:a16="http://schemas.microsoft.com/office/drawing/2014/main" id="{60A9670F-E9EC-4A0F-900D-7C9E0CBDD435}"/>
              </a:ext>
            </a:extLst>
          </p:cNvPr>
          <p:cNvSpPr>
            <a:spLocks noGrp="1"/>
          </p:cNvSpPr>
          <p:nvPr/>
        </p:nvSpPr>
        <p:spPr>
          <a:xfrm>
            <a:off x="4981575" y="2790825"/>
            <a:ext cx="165735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2000"/>
              </a:lnSpc>
              <a:buNone/>
              <a:defRPr sz="2850" b="1" i="0">
                <a:solidFill>
                  <a:srgbClr val="65539A"/>
                </a:solidFill>
                <a:latin typeface="Cambria Math"/>
                <a:ea typeface="Cambria Math"/>
                <a:cs typeface="Cambria Math"/>
              </a:defRPr>
            </a:pPr>
            <a:r>
              <a:rPr sz="2850" b="1" i="0">
                <a:solidFill>
                  <a:srgbClr val="65539A"/>
                </a:solidFill>
                <a:latin typeface="Cambria Math"/>
                <a:ea typeface="Cambria Math"/>
                <a:cs typeface="Cambria Math"/>
              </a:rPr>
              <a:t>|X(f)|</a:t>
            </a:r>
          </a:p>
        </p:txBody>
      </p:sp>
      <p:sp>
        <p:nvSpPr>
          <p:cNvPr id="10" name="U05-DG-003-eq_phase">
            <a:extLst>
              <a:ext uri="{FF2B5EF4-FFF2-40B4-BE49-F238E27FC236}">
                <a16:creationId xmlns:a16="http://schemas.microsoft.com/office/drawing/2014/main" id="{90244667-92BC-47D2-ADA5-7421DD11C137}"/>
              </a:ext>
            </a:extLst>
          </p:cNvPr>
          <p:cNvSpPr>
            <a:spLocks noGrp="1"/>
          </p:cNvSpPr>
          <p:nvPr/>
        </p:nvSpPr>
        <p:spPr>
          <a:xfrm>
            <a:off x="7096125" y="2667000"/>
            <a:ext cx="2333625" cy="1000125"/>
          </a:xfrm>
          <a:prstGeom prst="roundRect">
            <a:avLst>
              <a:gd name="adj" fmla="val 13333"/>
            </a:avLst>
          </a:prstGeom>
          <a:solidFill>
            <a:srgbClr val="EFECF7"/>
          </a:solidFill>
          <a:ln w="19050">
            <a:solidFill>
              <a:srgbClr val="65539A"/>
            </a:solidFill>
            <a:prstDash val="solid"/>
          </a:ln>
        </p:spPr>
      </p:sp>
      <p:sp>
        <p:nvSpPr>
          <p:cNvPr id="11" name="U05-DG-003-eq_phase-title">
            <a:extLst>
              <a:ext uri="{FF2B5EF4-FFF2-40B4-BE49-F238E27FC236}">
                <a16:creationId xmlns:a16="http://schemas.microsoft.com/office/drawing/2014/main" id="{DB7189FC-CA79-4975-A56C-1D5E165985F9}"/>
              </a:ext>
            </a:extLst>
          </p:cNvPr>
          <p:cNvSpPr>
            <a:spLocks noGrp="1"/>
          </p:cNvSpPr>
          <p:nvPr/>
        </p:nvSpPr>
        <p:spPr>
          <a:xfrm>
            <a:off x="7267575" y="2790825"/>
            <a:ext cx="1990725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2000"/>
              </a:lnSpc>
              <a:buNone/>
              <a:defRPr sz="2850" b="1" i="0">
                <a:solidFill>
                  <a:srgbClr val="65539A"/>
                </a:solidFill>
                <a:latin typeface="Cambria Math"/>
                <a:ea typeface="Cambria Math"/>
                <a:cs typeface="Cambria Math"/>
              </a:defRPr>
            </a:pPr>
            <a:r>
              <a:rPr sz="2850" b="1" i="0">
                <a:solidFill>
                  <a:srgbClr val="65539A"/>
                </a:solidFill>
                <a:latin typeface="Cambria Math"/>
                <a:ea typeface="Cambria Math"/>
                <a:cs typeface="Cambria Math"/>
              </a:rPr>
              <a:t>eʲφˣ⁽ᶠ⁾</a:t>
            </a:r>
          </a:p>
        </p:txBody>
      </p:sp>
      <p:sp>
        <p:nvSpPr>
          <p:cNvPr id="12" name="U05-DG-003-callout_quantity">
            <a:extLst>
              <a:ext uri="{FF2B5EF4-FFF2-40B4-BE49-F238E27FC236}">
                <a16:creationId xmlns:a16="http://schemas.microsoft.com/office/drawing/2014/main" id="{36FEB7B5-33AA-479D-8442-6171E8D22200}"/>
              </a:ext>
            </a:extLst>
          </p:cNvPr>
          <p:cNvSpPr>
            <a:spLocks noGrp="1"/>
          </p:cNvSpPr>
          <p:nvPr/>
        </p:nvSpPr>
        <p:spPr>
          <a:xfrm>
            <a:off x="857250" y="1285875"/>
            <a:ext cx="2333625" cy="1000125"/>
          </a:xfrm>
          <a:prstGeom prst="roundRect">
            <a:avLst>
              <a:gd name="adj" fmla="val 13333"/>
            </a:avLst>
          </a:prstGeom>
          <a:solidFill>
            <a:srgbClr val="F3F6F8"/>
          </a:solidFill>
          <a:ln w="19050">
            <a:solidFill>
              <a:srgbClr val="8291A3"/>
            </a:solidFill>
            <a:prstDash val="solid"/>
          </a:ln>
        </p:spPr>
      </p:sp>
      <p:sp>
        <p:nvSpPr>
          <p:cNvPr id="13" name="U05-DG-003-callout_quantity-title">
            <a:extLst>
              <a:ext uri="{FF2B5EF4-FFF2-40B4-BE49-F238E27FC236}">
                <a16:creationId xmlns:a16="http://schemas.microsoft.com/office/drawing/2014/main" id="{FE6E6B48-4BE0-4D78-A271-E0C43C44354D}"/>
              </a:ext>
            </a:extLst>
          </p:cNvPr>
          <p:cNvSpPr>
            <a:spLocks noGrp="1"/>
          </p:cNvSpPr>
          <p:nvPr/>
        </p:nvSpPr>
        <p:spPr>
          <a:xfrm>
            <a:off x="1028700" y="1409700"/>
            <a:ext cx="19907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Transformada</a:t>
            </a:r>
          </a:p>
        </p:txBody>
      </p:sp>
      <p:sp>
        <p:nvSpPr>
          <p:cNvPr id="14" name="U05-DG-003-callout_quantity-body">
            <a:extLst>
              <a:ext uri="{FF2B5EF4-FFF2-40B4-BE49-F238E27FC236}">
                <a16:creationId xmlns:a16="http://schemas.microsoft.com/office/drawing/2014/main" id="{A7415F29-3C3D-4FF6-A367-AC96A9D26269}"/>
              </a:ext>
            </a:extLst>
          </p:cNvPr>
          <p:cNvSpPr>
            <a:spLocks noGrp="1"/>
          </p:cNvSpPr>
          <p:nvPr/>
        </p:nvSpPr>
        <p:spPr>
          <a:xfrm>
            <a:off x="1028700" y="1733550"/>
            <a:ext cx="199072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unidad U·s</a:t>
            </a:r>
          </a:p>
        </p:txBody>
      </p:sp>
      <p:sp>
        <p:nvSpPr>
          <p:cNvPr id="15" name="U05-DG-003-callout_magnitude">
            <a:extLst>
              <a:ext uri="{FF2B5EF4-FFF2-40B4-BE49-F238E27FC236}">
                <a16:creationId xmlns:a16="http://schemas.microsoft.com/office/drawing/2014/main" id="{4F111C77-A7C6-421C-91E6-C38EF5F9A745}"/>
              </a:ext>
            </a:extLst>
          </p:cNvPr>
          <p:cNvSpPr>
            <a:spLocks noGrp="1"/>
          </p:cNvSpPr>
          <p:nvPr/>
        </p:nvSpPr>
        <p:spPr>
          <a:xfrm>
            <a:off x="3905250" y="4333875"/>
            <a:ext cx="2476500" cy="1000125"/>
          </a:xfrm>
          <a:prstGeom prst="roundRect">
            <a:avLst>
              <a:gd name="adj" fmla="val 13333"/>
            </a:avLst>
          </a:prstGeom>
          <a:solidFill>
            <a:srgbClr val="EFF8FA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16" name="U05-DG-003-callout_magnitude-title">
            <a:extLst>
              <a:ext uri="{FF2B5EF4-FFF2-40B4-BE49-F238E27FC236}">
                <a16:creationId xmlns:a16="http://schemas.microsoft.com/office/drawing/2014/main" id="{F464C19D-E258-4187-B0B8-D981FCC2DDD8}"/>
              </a:ext>
            </a:extLst>
          </p:cNvPr>
          <p:cNvSpPr>
            <a:spLocks noGrp="1"/>
          </p:cNvSpPr>
          <p:nvPr/>
        </p:nvSpPr>
        <p:spPr>
          <a:xfrm>
            <a:off x="4076700" y="4457700"/>
            <a:ext cx="2133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Magnitud</a:t>
            </a:r>
          </a:p>
        </p:txBody>
      </p:sp>
      <p:sp>
        <p:nvSpPr>
          <p:cNvPr id="17" name="U05-DG-003-callout_magnitude-body">
            <a:extLst>
              <a:ext uri="{FF2B5EF4-FFF2-40B4-BE49-F238E27FC236}">
                <a16:creationId xmlns:a16="http://schemas.microsoft.com/office/drawing/2014/main" id="{3047448C-B1FE-4BCC-BBE8-EB6FFCF43338}"/>
              </a:ext>
            </a:extLst>
          </p:cNvPr>
          <p:cNvSpPr>
            <a:spLocks noGrp="1"/>
          </p:cNvSpPr>
          <p:nvPr/>
        </p:nvSpPr>
        <p:spPr>
          <a:xfrm>
            <a:off x="4076700" y="4781550"/>
            <a:ext cx="21336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escala declarada</a:t>
            </a:r>
          </a:p>
        </p:txBody>
      </p:sp>
      <p:sp>
        <p:nvSpPr>
          <p:cNvPr id="18" name="U05-DG-003-callout_phase">
            <a:extLst>
              <a:ext uri="{FF2B5EF4-FFF2-40B4-BE49-F238E27FC236}">
                <a16:creationId xmlns:a16="http://schemas.microsoft.com/office/drawing/2014/main" id="{15437EB0-7EEC-4F3C-8A0E-7E7D026023A6}"/>
              </a:ext>
            </a:extLst>
          </p:cNvPr>
          <p:cNvSpPr>
            <a:spLocks noGrp="1"/>
          </p:cNvSpPr>
          <p:nvPr/>
        </p:nvSpPr>
        <p:spPr>
          <a:xfrm>
            <a:off x="7239000" y="4333875"/>
            <a:ext cx="2381250" cy="1000125"/>
          </a:xfrm>
          <a:prstGeom prst="roundRect">
            <a:avLst>
              <a:gd name="adj" fmla="val 13333"/>
            </a:avLst>
          </a:prstGeom>
          <a:solidFill>
            <a:srgbClr val="E3F2ED"/>
          </a:solidFill>
          <a:ln w="19050">
            <a:solidFill>
              <a:srgbClr val="2D7867"/>
            </a:solidFill>
            <a:prstDash val="solid"/>
          </a:ln>
        </p:spPr>
      </p:sp>
      <p:sp>
        <p:nvSpPr>
          <p:cNvPr id="19" name="U05-DG-003-callout_phase-title">
            <a:extLst>
              <a:ext uri="{FF2B5EF4-FFF2-40B4-BE49-F238E27FC236}">
                <a16:creationId xmlns:a16="http://schemas.microsoft.com/office/drawing/2014/main" id="{0B10C353-7794-4F05-88DC-0E548DFCE1AA}"/>
              </a:ext>
            </a:extLst>
          </p:cNvPr>
          <p:cNvSpPr>
            <a:spLocks noGrp="1"/>
          </p:cNvSpPr>
          <p:nvPr/>
        </p:nvSpPr>
        <p:spPr>
          <a:xfrm>
            <a:off x="7410450" y="4457700"/>
            <a:ext cx="2038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Fase relativa</a:t>
            </a:r>
          </a:p>
        </p:txBody>
      </p:sp>
      <p:sp>
        <p:nvSpPr>
          <p:cNvPr id="20" name="U05-DG-003-callout_phase-body">
            <a:extLst>
              <a:ext uri="{FF2B5EF4-FFF2-40B4-BE49-F238E27FC236}">
                <a16:creationId xmlns:a16="http://schemas.microsoft.com/office/drawing/2014/main" id="{AE830105-3213-4006-B45A-BEDB847CB6B4}"/>
              </a:ext>
            </a:extLst>
          </p:cNvPr>
          <p:cNvSpPr>
            <a:spLocks noGrp="1"/>
          </p:cNvSpPr>
          <p:nvPr/>
        </p:nvSpPr>
        <p:spPr>
          <a:xfrm>
            <a:off x="7410450" y="4781550"/>
            <a:ext cx="20383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φₓ(f) en rad</a:t>
            </a:r>
          </a:p>
        </p:txBody>
      </p:sp>
      <p:sp>
        <p:nvSpPr>
          <p:cNvPr id="21" name="U05-DG-003-callout_frequency">
            <a:extLst>
              <a:ext uri="{FF2B5EF4-FFF2-40B4-BE49-F238E27FC236}">
                <a16:creationId xmlns:a16="http://schemas.microsoft.com/office/drawing/2014/main" id="{3A9E78E5-F656-4838-91A4-BC7B8F2F68D8}"/>
              </a:ext>
            </a:extLst>
          </p:cNvPr>
          <p:cNvSpPr>
            <a:spLocks noGrp="1"/>
          </p:cNvSpPr>
          <p:nvPr/>
        </p:nvSpPr>
        <p:spPr>
          <a:xfrm>
            <a:off x="9572625" y="1285875"/>
            <a:ext cx="1905000" cy="1000125"/>
          </a:xfrm>
          <a:prstGeom prst="roundRect">
            <a:avLst>
              <a:gd name="adj" fmla="val 13333"/>
            </a:avLst>
          </a:prstGeom>
          <a:solidFill>
            <a:srgbClr val="DDEFF5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22" name="U05-DG-003-callout_frequency-title">
            <a:extLst>
              <a:ext uri="{FF2B5EF4-FFF2-40B4-BE49-F238E27FC236}">
                <a16:creationId xmlns:a16="http://schemas.microsoft.com/office/drawing/2014/main" id="{3B4EA8BC-ED60-4785-8D2C-B9D458E08B87}"/>
              </a:ext>
            </a:extLst>
          </p:cNvPr>
          <p:cNvSpPr>
            <a:spLocks noGrp="1"/>
          </p:cNvSpPr>
          <p:nvPr/>
        </p:nvSpPr>
        <p:spPr>
          <a:xfrm>
            <a:off x="9744075" y="1409700"/>
            <a:ext cx="1562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Variable</a:t>
            </a:r>
          </a:p>
        </p:txBody>
      </p:sp>
      <p:sp>
        <p:nvSpPr>
          <p:cNvPr id="23" name="U05-DG-003-callout_frequency-body">
            <a:extLst>
              <a:ext uri="{FF2B5EF4-FFF2-40B4-BE49-F238E27FC236}">
                <a16:creationId xmlns:a16="http://schemas.microsoft.com/office/drawing/2014/main" id="{B4F6CB11-1E28-47E9-AD50-4933BD4EF93E}"/>
              </a:ext>
            </a:extLst>
          </p:cNvPr>
          <p:cNvSpPr>
            <a:spLocks noGrp="1"/>
          </p:cNvSpPr>
          <p:nvPr/>
        </p:nvSpPr>
        <p:spPr>
          <a:xfrm>
            <a:off x="9744075" y="1733550"/>
            <a:ext cx="15621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f en Hz</a:t>
            </a:r>
          </a:p>
        </p:txBody>
      </p:sp>
      <p:cxnSp>
        <p:nvCxnSpPr>
          <p:cNvPr id="54" name="U05-DG-003-lead_quantity"/>
          <p:cNvCxnSpPr>
            <a:stCxn id="12" idx="3"/>
            <a:endCxn id="4" idx="1"/>
          </p:cNvCxnSpPr>
          <p:nvPr/>
        </p:nvCxnSpPr>
        <p:spPr>
          <a:xfrm flipH="1">
            <a:off x="2152650" y="1785938"/>
            <a:ext cx="1266825" cy="1381125"/>
          </a:xfrm>
          <a:prstGeom prst="bentConnector4">
            <a:avLst/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cxnSp>
        <p:nvCxnSpPr>
          <p:cNvPr id="55" name="U05-DG-003-lead_magnitude"/>
          <p:cNvCxnSpPr>
            <a:stCxn id="15" idx="0"/>
            <a:endCxn id="8" idx="2"/>
          </p:cNvCxnSpPr>
          <p:nvPr/>
        </p:nvCxnSpPr>
        <p:spPr>
          <a:xfrm flipV="1">
            <a:off x="5143500" y="3667125"/>
            <a:ext cx="666750" cy="666750"/>
          </a:xfrm>
          <a:prstGeom prst="bentConnector4">
            <a:avLst>
              <a:gd name="adj1" fmla="val 0"/>
              <a:gd name="adj2" fmla="val 50000"/>
            </a:avLst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cxnSp>
        <p:nvCxnSpPr>
          <p:cNvPr id="56" name="U05-DG-003-lead_phase"/>
          <p:cNvCxnSpPr>
            <a:stCxn id="18" idx="0"/>
            <a:endCxn id="10" idx="2"/>
          </p:cNvCxnSpPr>
          <p:nvPr/>
        </p:nvCxnSpPr>
        <p:spPr>
          <a:xfrm flipH="1" flipV="1">
            <a:off x="8262938" y="3667125"/>
            <a:ext cx="166688" cy="666750"/>
          </a:xfrm>
          <a:prstGeom prst="bentConnector4">
            <a:avLst>
              <a:gd name="adj1" fmla="val 0"/>
              <a:gd name="adj2" fmla="val 50000"/>
            </a:avLst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cxnSp>
        <p:nvCxnSpPr>
          <p:cNvPr id="57" name="U05-DG-003-lead_frequency"/>
          <p:cNvCxnSpPr>
            <a:stCxn id="21" idx="1"/>
            <a:endCxn id="10" idx="3"/>
          </p:cNvCxnSpPr>
          <p:nvPr/>
        </p:nvCxnSpPr>
        <p:spPr>
          <a:xfrm flipH="1">
            <a:off x="9429750" y="1785938"/>
            <a:ext cx="142875" cy="1381125"/>
          </a:xfrm>
          <a:prstGeom prst="bentConnector4">
            <a:avLst/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sp>
        <p:nvSpPr>
          <p:cNvPr id="28" name="diagram-scale-note">
            <a:extLst>
              <a:ext uri="{FF2B5EF4-FFF2-40B4-BE49-F238E27FC236}">
                <a16:creationId xmlns:a16="http://schemas.microsoft.com/office/drawing/2014/main" id="{6693C976-960C-40A7-94EC-D39879932D94}"/>
              </a:ext>
            </a:extLst>
          </p:cNvPr>
          <p:cNvSpPr>
            <a:spLocks noGrp="1"/>
          </p:cNvSpPr>
          <p:nvPr/>
        </p:nvSpPr>
        <p:spPr>
          <a:xfrm>
            <a:off x="552450" y="5829300"/>
            <a:ext cx="3905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05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Esquema conceptual · no está a escala</a:t>
            </a:r>
          </a:p>
        </p:txBody>
      </p:sp>
      <p:sp>
        <p:nvSpPr>
          <p:cNvPr id="29" name="caption">
            <a:extLst>
              <a:ext uri="{FF2B5EF4-FFF2-40B4-BE49-F238E27FC236}">
                <a16:creationId xmlns:a16="http://schemas.microsoft.com/office/drawing/2014/main" id="{031560F0-B81C-4694-8EE1-CDC38E12A233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876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Profundización no evaluable mediante integración.</a:t>
            </a:r>
          </a:p>
        </p:txBody>
      </p:sp>
      <p:sp>
        <p:nvSpPr>
          <p:cNvPr id="30" name="credit">
            <a:extLst>
              <a:ext uri="{FF2B5EF4-FFF2-40B4-BE49-F238E27FC236}">
                <a16:creationId xmlns:a16="http://schemas.microsoft.com/office/drawing/2014/main" id="{C3905E2F-A15D-464A-BB98-F9F3D13C9966}"/>
              </a:ext>
            </a:extLst>
          </p:cNvPr>
          <p:cNvSpPr>
            <a:spLocks noGrp="1"/>
          </p:cNvSpPr>
          <p:nvPr/>
        </p:nvSpPr>
        <p:spPr>
          <a:xfrm>
            <a:off x="9382125" y="60769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5.4.1, ecs. 5.4–5.5.</a:t>
            </a:r>
          </a:p>
        </p:txBody>
      </p:sp>
      <p:sp>
        <p:nvSpPr>
          <p:cNvPr id="24" name="slide-alt-summary" descr="Dos integrales anotadas comparten un período resaltado.">
            <a:extLst>
              <a:ext uri="{FF2B5EF4-FFF2-40B4-BE49-F238E27FC236}">
                <a16:creationId xmlns:a16="http://schemas.microsoft.com/office/drawing/2014/main" id="{1D3CA93B-E5E0-3710-2797-0C4D44600ECB}"/>
              </a:ext>
            </a:extLst>
          </p:cNvPr>
          <p:cNvSpPr/>
          <p:nvPr/>
        </p:nvSpPr>
        <p:spPr>
          <a:xfrm>
            <a:off x="12700" y="12700"/>
            <a:ext cx="12700" cy="12700"/>
          </a:xfrm>
          <a:prstGeom prst="rect">
            <a:avLst/>
          </a:prstGeom>
          <a:noFill/>
          <a:ln w="19050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eyebrow">
            <a:extLst>
              <a:ext uri="{FF2B5EF4-FFF2-40B4-BE49-F238E27FC236}">
                <a16:creationId xmlns:a16="http://schemas.microsoft.com/office/drawing/2014/main" id="{09AC934C-05DE-4FFC-BB0B-5F9D2FCD667A}"/>
              </a:ext>
            </a:extLst>
          </p:cNvPr>
          <p:cNvSpPr>
            <a:spLocks noGrp="1"/>
          </p:cNvSpPr>
          <p:nvPr/>
        </p:nvSpPr>
        <p:spPr>
          <a:xfrm>
            <a:off x="514350" y="2095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024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D866A8FC-ADFC-41D3-9C92-4A43D5D99727}"/>
              </a:ext>
            </a:extLst>
          </p:cNvPr>
          <p:cNvSpPr>
            <a:spLocks noGrp="1"/>
          </p:cNvSpPr>
          <p:nvPr/>
        </p:nvSpPr>
        <p:spPr>
          <a:xfrm>
            <a:off x="495300" y="428625"/>
            <a:ext cx="11191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Dos componentes, un período fundamental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039996C4-0085-4CC3-90BD-C399A67FF9BA}"/>
              </a:ext>
            </a:extLst>
          </p:cNvPr>
          <p:cNvSpPr>
            <a:spLocks noGrp="1"/>
          </p:cNvSpPr>
          <p:nvPr/>
        </p:nvSpPr>
        <p:spPr>
          <a:xfrm>
            <a:off x="523875" y="971550"/>
            <a:ext cx="11001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Buscamos la repetición común, no el pico más alto.</a:t>
            </a:r>
          </a:p>
        </p:txBody>
      </p:sp>
      <p:sp>
        <p:nvSpPr>
          <p:cNvPr id="4" name="U05-DG-003-eq_x">
            <a:extLst>
              <a:ext uri="{FF2B5EF4-FFF2-40B4-BE49-F238E27FC236}">
                <a16:creationId xmlns:a16="http://schemas.microsoft.com/office/drawing/2014/main" id="{B485F6C0-FFB3-433B-861E-0424300E044C}"/>
              </a:ext>
            </a:extLst>
          </p:cNvPr>
          <p:cNvSpPr>
            <a:spLocks noGrp="1"/>
          </p:cNvSpPr>
          <p:nvPr/>
        </p:nvSpPr>
        <p:spPr>
          <a:xfrm>
            <a:off x="2381250" y="2667000"/>
            <a:ext cx="1571625" cy="1000125"/>
          </a:xfrm>
          <a:prstGeom prst="roundRect">
            <a:avLst>
              <a:gd name="adj" fmla="val 13333"/>
            </a:avLst>
          </a:prstGeom>
          <a:solidFill>
            <a:srgbClr val="EFECF7"/>
          </a:solidFill>
          <a:ln w="19050">
            <a:solidFill>
              <a:srgbClr val="65539A"/>
            </a:solidFill>
            <a:prstDash val="solid"/>
          </a:ln>
        </p:spPr>
      </p:sp>
      <p:sp>
        <p:nvSpPr>
          <p:cNvPr id="5" name="U05-DG-003-eq_x-title">
            <a:extLst>
              <a:ext uri="{FF2B5EF4-FFF2-40B4-BE49-F238E27FC236}">
                <a16:creationId xmlns:a16="http://schemas.microsoft.com/office/drawing/2014/main" id="{BD3C99AC-CA3E-4D3F-A319-AC0D100B0A2F}"/>
              </a:ext>
            </a:extLst>
          </p:cNvPr>
          <p:cNvSpPr>
            <a:spLocks noGrp="1"/>
          </p:cNvSpPr>
          <p:nvPr/>
        </p:nvSpPr>
        <p:spPr>
          <a:xfrm>
            <a:off x="2552700" y="2790825"/>
            <a:ext cx="1228725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2000"/>
              </a:lnSpc>
              <a:buNone/>
              <a:defRPr sz="2850" b="1" i="0">
                <a:solidFill>
                  <a:srgbClr val="65539A"/>
                </a:solidFill>
                <a:latin typeface="Cambria Math"/>
                <a:ea typeface="Cambria Math"/>
                <a:cs typeface="Cambria Math"/>
              </a:defRPr>
            </a:pPr>
            <a:r>
              <a:rPr sz="2850" b="1" i="0">
                <a:solidFill>
                  <a:srgbClr val="65539A"/>
                </a:solidFill>
                <a:latin typeface="Cambria Math"/>
                <a:ea typeface="Cambria Math"/>
                <a:cs typeface="Cambria Math"/>
              </a:rPr>
              <a:t>X(f)</a:t>
            </a:r>
          </a:p>
        </p:txBody>
      </p:sp>
      <p:sp>
        <p:nvSpPr>
          <p:cNvPr id="6" name="U05-DG-003-eq_equal">
            <a:extLst>
              <a:ext uri="{FF2B5EF4-FFF2-40B4-BE49-F238E27FC236}">
                <a16:creationId xmlns:a16="http://schemas.microsoft.com/office/drawing/2014/main" id="{DB91E1CC-10BA-4C19-BB2D-73514B4BE7D7}"/>
              </a:ext>
            </a:extLst>
          </p:cNvPr>
          <p:cNvSpPr>
            <a:spLocks noGrp="1"/>
          </p:cNvSpPr>
          <p:nvPr/>
        </p:nvSpPr>
        <p:spPr>
          <a:xfrm>
            <a:off x="4095750" y="2667000"/>
            <a:ext cx="571500" cy="1000125"/>
          </a:xfrm>
          <a:prstGeom prst="roundRect">
            <a:avLst>
              <a:gd name="adj" fmla="val 23333"/>
            </a:avLst>
          </a:prstGeom>
          <a:solidFill>
            <a:srgbClr val="EFECF7"/>
          </a:solidFill>
          <a:ln w="19050">
            <a:solidFill>
              <a:srgbClr val="65539A"/>
            </a:solidFill>
            <a:prstDash val="solid"/>
          </a:ln>
        </p:spPr>
      </p:sp>
      <p:sp>
        <p:nvSpPr>
          <p:cNvPr id="7" name="U05-DG-003-eq_equal-title">
            <a:extLst>
              <a:ext uri="{FF2B5EF4-FFF2-40B4-BE49-F238E27FC236}">
                <a16:creationId xmlns:a16="http://schemas.microsoft.com/office/drawing/2014/main" id="{B1B32236-1A80-4061-A2AD-A1014F660ACB}"/>
              </a:ext>
            </a:extLst>
          </p:cNvPr>
          <p:cNvSpPr>
            <a:spLocks noGrp="1"/>
          </p:cNvSpPr>
          <p:nvPr/>
        </p:nvSpPr>
        <p:spPr>
          <a:xfrm>
            <a:off x="4267200" y="2790825"/>
            <a:ext cx="22860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2000"/>
              </a:lnSpc>
              <a:buNone/>
              <a:defRPr sz="2850" b="1" i="0">
                <a:solidFill>
                  <a:srgbClr val="65539A"/>
                </a:solidFill>
                <a:latin typeface="Cambria Math"/>
                <a:ea typeface="Cambria Math"/>
                <a:cs typeface="Cambria Math"/>
              </a:defRPr>
            </a:pPr>
            <a:r>
              <a:rPr sz="2850" b="1" i="0">
                <a:solidFill>
                  <a:srgbClr val="65539A"/>
                </a:solidFill>
                <a:latin typeface="Cambria Math"/>
                <a:ea typeface="Cambria Math"/>
                <a:cs typeface="Cambria Math"/>
              </a:rPr>
              <a:t>=</a:t>
            </a:r>
          </a:p>
        </p:txBody>
      </p:sp>
      <p:sp>
        <p:nvSpPr>
          <p:cNvPr id="8" name="U05-DG-003-eq_mag">
            <a:extLst>
              <a:ext uri="{FF2B5EF4-FFF2-40B4-BE49-F238E27FC236}">
                <a16:creationId xmlns:a16="http://schemas.microsoft.com/office/drawing/2014/main" id="{9F48F157-D682-42FE-B95B-BFA11B139465}"/>
              </a:ext>
            </a:extLst>
          </p:cNvPr>
          <p:cNvSpPr>
            <a:spLocks noGrp="1"/>
          </p:cNvSpPr>
          <p:nvPr/>
        </p:nvSpPr>
        <p:spPr>
          <a:xfrm>
            <a:off x="4810125" y="2667000"/>
            <a:ext cx="2000250" cy="1000125"/>
          </a:xfrm>
          <a:prstGeom prst="roundRect">
            <a:avLst>
              <a:gd name="adj" fmla="val 13333"/>
            </a:avLst>
          </a:prstGeom>
          <a:solidFill>
            <a:srgbClr val="EFECF7"/>
          </a:solidFill>
          <a:ln w="19050">
            <a:solidFill>
              <a:srgbClr val="65539A"/>
            </a:solidFill>
            <a:prstDash val="solid"/>
          </a:ln>
        </p:spPr>
      </p:sp>
      <p:sp>
        <p:nvSpPr>
          <p:cNvPr id="9" name="U05-DG-003-eq_mag-title">
            <a:extLst>
              <a:ext uri="{FF2B5EF4-FFF2-40B4-BE49-F238E27FC236}">
                <a16:creationId xmlns:a16="http://schemas.microsoft.com/office/drawing/2014/main" id="{FA584C46-E8BB-4FC3-BBCE-5BE8ACA00954}"/>
              </a:ext>
            </a:extLst>
          </p:cNvPr>
          <p:cNvSpPr>
            <a:spLocks noGrp="1"/>
          </p:cNvSpPr>
          <p:nvPr/>
        </p:nvSpPr>
        <p:spPr>
          <a:xfrm>
            <a:off x="4981575" y="2790825"/>
            <a:ext cx="165735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2000"/>
              </a:lnSpc>
              <a:buNone/>
              <a:defRPr sz="2850" b="1" i="0">
                <a:solidFill>
                  <a:srgbClr val="65539A"/>
                </a:solidFill>
                <a:latin typeface="Cambria Math"/>
                <a:ea typeface="Cambria Math"/>
                <a:cs typeface="Cambria Math"/>
              </a:defRPr>
            </a:pPr>
            <a:r>
              <a:rPr sz="2850" b="1" i="0">
                <a:solidFill>
                  <a:srgbClr val="65539A"/>
                </a:solidFill>
                <a:latin typeface="Cambria Math"/>
                <a:ea typeface="Cambria Math"/>
                <a:cs typeface="Cambria Math"/>
              </a:rPr>
              <a:t>|X(f)|</a:t>
            </a:r>
          </a:p>
        </p:txBody>
      </p:sp>
      <p:sp>
        <p:nvSpPr>
          <p:cNvPr id="10" name="U05-DG-003-eq_phase">
            <a:extLst>
              <a:ext uri="{FF2B5EF4-FFF2-40B4-BE49-F238E27FC236}">
                <a16:creationId xmlns:a16="http://schemas.microsoft.com/office/drawing/2014/main" id="{F98DE315-1A5B-4A39-8457-1E3E46B1137F}"/>
              </a:ext>
            </a:extLst>
          </p:cNvPr>
          <p:cNvSpPr>
            <a:spLocks noGrp="1"/>
          </p:cNvSpPr>
          <p:nvPr/>
        </p:nvSpPr>
        <p:spPr>
          <a:xfrm>
            <a:off x="7096125" y="2667000"/>
            <a:ext cx="2333625" cy="1000125"/>
          </a:xfrm>
          <a:prstGeom prst="roundRect">
            <a:avLst>
              <a:gd name="adj" fmla="val 13333"/>
            </a:avLst>
          </a:prstGeom>
          <a:solidFill>
            <a:srgbClr val="EFECF7"/>
          </a:solidFill>
          <a:ln w="19050">
            <a:solidFill>
              <a:srgbClr val="65539A"/>
            </a:solidFill>
            <a:prstDash val="solid"/>
          </a:ln>
        </p:spPr>
      </p:sp>
      <p:sp>
        <p:nvSpPr>
          <p:cNvPr id="11" name="U05-DG-003-eq_phase-title">
            <a:extLst>
              <a:ext uri="{FF2B5EF4-FFF2-40B4-BE49-F238E27FC236}">
                <a16:creationId xmlns:a16="http://schemas.microsoft.com/office/drawing/2014/main" id="{48BD7A7D-0E44-46DA-9C1F-B419E37A268B}"/>
              </a:ext>
            </a:extLst>
          </p:cNvPr>
          <p:cNvSpPr>
            <a:spLocks noGrp="1"/>
          </p:cNvSpPr>
          <p:nvPr/>
        </p:nvSpPr>
        <p:spPr>
          <a:xfrm>
            <a:off x="7267575" y="2790825"/>
            <a:ext cx="1990725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2000"/>
              </a:lnSpc>
              <a:buNone/>
              <a:defRPr sz="2850" b="1" i="0">
                <a:solidFill>
                  <a:srgbClr val="65539A"/>
                </a:solidFill>
                <a:latin typeface="Cambria Math"/>
                <a:ea typeface="Cambria Math"/>
                <a:cs typeface="Cambria Math"/>
              </a:defRPr>
            </a:pPr>
            <a:r>
              <a:rPr sz="2850" b="1" i="0">
                <a:solidFill>
                  <a:srgbClr val="65539A"/>
                </a:solidFill>
                <a:latin typeface="Cambria Math"/>
                <a:ea typeface="Cambria Math"/>
                <a:cs typeface="Cambria Math"/>
              </a:rPr>
              <a:t>eʲφˣ⁽ᶠ⁾</a:t>
            </a:r>
          </a:p>
        </p:txBody>
      </p:sp>
      <p:sp>
        <p:nvSpPr>
          <p:cNvPr id="12" name="U05-DG-003-callout_quantity">
            <a:extLst>
              <a:ext uri="{FF2B5EF4-FFF2-40B4-BE49-F238E27FC236}">
                <a16:creationId xmlns:a16="http://schemas.microsoft.com/office/drawing/2014/main" id="{FEAB7BFC-51F4-4C6F-BA68-689583D903B1}"/>
              </a:ext>
            </a:extLst>
          </p:cNvPr>
          <p:cNvSpPr>
            <a:spLocks noGrp="1"/>
          </p:cNvSpPr>
          <p:nvPr/>
        </p:nvSpPr>
        <p:spPr>
          <a:xfrm>
            <a:off x="857250" y="1285875"/>
            <a:ext cx="2333625" cy="1000125"/>
          </a:xfrm>
          <a:prstGeom prst="roundRect">
            <a:avLst>
              <a:gd name="adj" fmla="val 13333"/>
            </a:avLst>
          </a:prstGeom>
          <a:solidFill>
            <a:srgbClr val="F3F6F8"/>
          </a:solidFill>
          <a:ln w="19050">
            <a:solidFill>
              <a:srgbClr val="8291A3"/>
            </a:solidFill>
            <a:prstDash val="solid"/>
          </a:ln>
        </p:spPr>
      </p:sp>
      <p:sp>
        <p:nvSpPr>
          <p:cNvPr id="13" name="U05-DG-003-callout_quantity-title">
            <a:extLst>
              <a:ext uri="{FF2B5EF4-FFF2-40B4-BE49-F238E27FC236}">
                <a16:creationId xmlns:a16="http://schemas.microsoft.com/office/drawing/2014/main" id="{890B16D8-3AB1-4958-A7DC-8A10ACF74543}"/>
              </a:ext>
            </a:extLst>
          </p:cNvPr>
          <p:cNvSpPr>
            <a:spLocks noGrp="1"/>
          </p:cNvSpPr>
          <p:nvPr/>
        </p:nvSpPr>
        <p:spPr>
          <a:xfrm>
            <a:off x="1028700" y="1409700"/>
            <a:ext cx="19907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Transformada</a:t>
            </a:r>
          </a:p>
        </p:txBody>
      </p:sp>
      <p:sp>
        <p:nvSpPr>
          <p:cNvPr id="14" name="U05-DG-003-callout_quantity-body">
            <a:extLst>
              <a:ext uri="{FF2B5EF4-FFF2-40B4-BE49-F238E27FC236}">
                <a16:creationId xmlns:a16="http://schemas.microsoft.com/office/drawing/2014/main" id="{9CE24C58-32FE-494F-9B8A-FEC8A70CBDDB}"/>
              </a:ext>
            </a:extLst>
          </p:cNvPr>
          <p:cNvSpPr>
            <a:spLocks noGrp="1"/>
          </p:cNvSpPr>
          <p:nvPr/>
        </p:nvSpPr>
        <p:spPr>
          <a:xfrm>
            <a:off x="1028700" y="1733550"/>
            <a:ext cx="199072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unidad U·s</a:t>
            </a:r>
          </a:p>
        </p:txBody>
      </p:sp>
      <p:sp>
        <p:nvSpPr>
          <p:cNvPr id="15" name="U05-DG-003-callout_magnitude">
            <a:extLst>
              <a:ext uri="{FF2B5EF4-FFF2-40B4-BE49-F238E27FC236}">
                <a16:creationId xmlns:a16="http://schemas.microsoft.com/office/drawing/2014/main" id="{F8FD84A5-CE86-4FBE-B115-519D5473AEBF}"/>
              </a:ext>
            </a:extLst>
          </p:cNvPr>
          <p:cNvSpPr>
            <a:spLocks noGrp="1"/>
          </p:cNvSpPr>
          <p:nvPr/>
        </p:nvSpPr>
        <p:spPr>
          <a:xfrm>
            <a:off x="3905250" y="4333875"/>
            <a:ext cx="2476500" cy="1000125"/>
          </a:xfrm>
          <a:prstGeom prst="roundRect">
            <a:avLst>
              <a:gd name="adj" fmla="val 13333"/>
            </a:avLst>
          </a:prstGeom>
          <a:solidFill>
            <a:srgbClr val="EFF8FA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16" name="U05-DG-003-callout_magnitude-title">
            <a:extLst>
              <a:ext uri="{FF2B5EF4-FFF2-40B4-BE49-F238E27FC236}">
                <a16:creationId xmlns:a16="http://schemas.microsoft.com/office/drawing/2014/main" id="{B6A15636-B639-4292-AF21-DAA4B5FEF17B}"/>
              </a:ext>
            </a:extLst>
          </p:cNvPr>
          <p:cNvSpPr>
            <a:spLocks noGrp="1"/>
          </p:cNvSpPr>
          <p:nvPr/>
        </p:nvSpPr>
        <p:spPr>
          <a:xfrm>
            <a:off x="4076700" y="4457700"/>
            <a:ext cx="2133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Magnitud</a:t>
            </a:r>
          </a:p>
        </p:txBody>
      </p:sp>
      <p:sp>
        <p:nvSpPr>
          <p:cNvPr id="17" name="U05-DG-003-callout_magnitude-body">
            <a:extLst>
              <a:ext uri="{FF2B5EF4-FFF2-40B4-BE49-F238E27FC236}">
                <a16:creationId xmlns:a16="http://schemas.microsoft.com/office/drawing/2014/main" id="{E377D91B-39B5-4B89-8D45-273DAA55F5B8}"/>
              </a:ext>
            </a:extLst>
          </p:cNvPr>
          <p:cNvSpPr>
            <a:spLocks noGrp="1"/>
          </p:cNvSpPr>
          <p:nvPr/>
        </p:nvSpPr>
        <p:spPr>
          <a:xfrm>
            <a:off x="4076700" y="4781550"/>
            <a:ext cx="21336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escala declarada</a:t>
            </a:r>
          </a:p>
        </p:txBody>
      </p:sp>
      <p:sp>
        <p:nvSpPr>
          <p:cNvPr id="18" name="U05-DG-003-callout_phase">
            <a:extLst>
              <a:ext uri="{FF2B5EF4-FFF2-40B4-BE49-F238E27FC236}">
                <a16:creationId xmlns:a16="http://schemas.microsoft.com/office/drawing/2014/main" id="{0BE69064-1BC3-48F1-9938-805B863542DF}"/>
              </a:ext>
            </a:extLst>
          </p:cNvPr>
          <p:cNvSpPr>
            <a:spLocks noGrp="1"/>
          </p:cNvSpPr>
          <p:nvPr/>
        </p:nvSpPr>
        <p:spPr>
          <a:xfrm>
            <a:off x="7239000" y="4333875"/>
            <a:ext cx="2381250" cy="1000125"/>
          </a:xfrm>
          <a:prstGeom prst="roundRect">
            <a:avLst>
              <a:gd name="adj" fmla="val 13333"/>
            </a:avLst>
          </a:prstGeom>
          <a:solidFill>
            <a:srgbClr val="E3F2ED"/>
          </a:solidFill>
          <a:ln w="19050">
            <a:solidFill>
              <a:srgbClr val="2D7867"/>
            </a:solidFill>
            <a:prstDash val="solid"/>
          </a:ln>
        </p:spPr>
      </p:sp>
      <p:sp>
        <p:nvSpPr>
          <p:cNvPr id="19" name="U05-DG-003-callout_phase-title">
            <a:extLst>
              <a:ext uri="{FF2B5EF4-FFF2-40B4-BE49-F238E27FC236}">
                <a16:creationId xmlns:a16="http://schemas.microsoft.com/office/drawing/2014/main" id="{07C02ACA-35F5-4F13-9876-F70E87074F38}"/>
              </a:ext>
            </a:extLst>
          </p:cNvPr>
          <p:cNvSpPr>
            <a:spLocks noGrp="1"/>
          </p:cNvSpPr>
          <p:nvPr/>
        </p:nvSpPr>
        <p:spPr>
          <a:xfrm>
            <a:off x="7410450" y="4457700"/>
            <a:ext cx="2038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Fase relativa</a:t>
            </a:r>
          </a:p>
        </p:txBody>
      </p:sp>
      <p:sp>
        <p:nvSpPr>
          <p:cNvPr id="20" name="U05-DG-003-callout_phase-body">
            <a:extLst>
              <a:ext uri="{FF2B5EF4-FFF2-40B4-BE49-F238E27FC236}">
                <a16:creationId xmlns:a16="http://schemas.microsoft.com/office/drawing/2014/main" id="{5ABD2E3D-6402-47BE-9488-BE11DA613BD4}"/>
              </a:ext>
            </a:extLst>
          </p:cNvPr>
          <p:cNvSpPr>
            <a:spLocks noGrp="1"/>
          </p:cNvSpPr>
          <p:nvPr/>
        </p:nvSpPr>
        <p:spPr>
          <a:xfrm>
            <a:off x="7410450" y="4781550"/>
            <a:ext cx="20383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φₓ(f) en rad</a:t>
            </a:r>
          </a:p>
        </p:txBody>
      </p:sp>
      <p:sp>
        <p:nvSpPr>
          <p:cNvPr id="21" name="U05-DG-003-callout_frequency">
            <a:extLst>
              <a:ext uri="{FF2B5EF4-FFF2-40B4-BE49-F238E27FC236}">
                <a16:creationId xmlns:a16="http://schemas.microsoft.com/office/drawing/2014/main" id="{44B99EE2-81B5-4B1E-9137-BE2C86906271}"/>
              </a:ext>
            </a:extLst>
          </p:cNvPr>
          <p:cNvSpPr>
            <a:spLocks noGrp="1"/>
          </p:cNvSpPr>
          <p:nvPr/>
        </p:nvSpPr>
        <p:spPr>
          <a:xfrm>
            <a:off x="9572625" y="1285875"/>
            <a:ext cx="1905000" cy="1000125"/>
          </a:xfrm>
          <a:prstGeom prst="roundRect">
            <a:avLst>
              <a:gd name="adj" fmla="val 13333"/>
            </a:avLst>
          </a:prstGeom>
          <a:solidFill>
            <a:srgbClr val="DDEFF5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22" name="U05-DG-003-callout_frequency-title">
            <a:extLst>
              <a:ext uri="{FF2B5EF4-FFF2-40B4-BE49-F238E27FC236}">
                <a16:creationId xmlns:a16="http://schemas.microsoft.com/office/drawing/2014/main" id="{F995C9AC-DD88-45B2-B718-6E5FCD5609B2}"/>
              </a:ext>
            </a:extLst>
          </p:cNvPr>
          <p:cNvSpPr>
            <a:spLocks noGrp="1"/>
          </p:cNvSpPr>
          <p:nvPr/>
        </p:nvSpPr>
        <p:spPr>
          <a:xfrm>
            <a:off x="9744075" y="1409700"/>
            <a:ext cx="1562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Variable</a:t>
            </a:r>
          </a:p>
        </p:txBody>
      </p:sp>
      <p:sp>
        <p:nvSpPr>
          <p:cNvPr id="23" name="U05-DG-003-callout_frequency-body">
            <a:extLst>
              <a:ext uri="{FF2B5EF4-FFF2-40B4-BE49-F238E27FC236}">
                <a16:creationId xmlns:a16="http://schemas.microsoft.com/office/drawing/2014/main" id="{C2BAF0DD-B362-4A96-96FA-25E8244AF127}"/>
              </a:ext>
            </a:extLst>
          </p:cNvPr>
          <p:cNvSpPr>
            <a:spLocks noGrp="1"/>
          </p:cNvSpPr>
          <p:nvPr/>
        </p:nvSpPr>
        <p:spPr>
          <a:xfrm>
            <a:off x="9744075" y="1733550"/>
            <a:ext cx="15621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f en Hz</a:t>
            </a:r>
          </a:p>
        </p:txBody>
      </p:sp>
      <p:cxnSp>
        <p:nvCxnSpPr>
          <p:cNvPr id="54" name="U05-DG-003-lead_quantity"/>
          <p:cNvCxnSpPr>
            <a:stCxn id="12" idx="3"/>
            <a:endCxn id="4" idx="1"/>
          </p:cNvCxnSpPr>
          <p:nvPr/>
        </p:nvCxnSpPr>
        <p:spPr>
          <a:xfrm flipH="1">
            <a:off x="2152650" y="1785938"/>
            <a:ext cx="1266825" cy="1381125"/>
          </a:xfrm>
          <a:prstGeom prst="bentConnector4">
            <a:avLst/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cxnSp>
        <p:nvCxnSpPr>
          <p:cNvPr id="55" name="U05-DG-003-lead_magnitude"/>
          <p:cNvCxnSpPr>
            <a:stCxn id="15" idx="0"/>
            <a:endCxn id="8" idx="2"/>
          </p:cNvCxnSpPr>
          <p:nvPr/>
        </p:nvCxnSpPr>
        <p:spPr>
          <a:xfrm flipV="1">
            <a:off x="5143500" y="3667125"/>
            <a:ext cx="666750" cy="666750"/>
          </a:xfrm>
          <a:prstGeom prst="bentConnector4">
            <a:avLst>
              <a:gd name="adj1" fmla="val 0"/>
              <a:gd name="adj2" fmla="val 50000"/>
            </a:avLst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cxnSp>
        <p:nvCxnSpPr>
          <p:cNvPr id="56" name="U05-DG-003-lead_phase"/>
          <p:cNvCxnSpPr>
            <a:stCxn id="18" idx="0"/>
            <a:endCxn id="10" idx="2"/>
          </p:cNvCxnSpPr>
          <p:nvPr/>
        </p:nvCxnSpPr>
        <p:spPr>
          <a:xfrm flipH="1" flipV="1">
            <a:off x="8262938" y="3667125"/>
            <a:ext cx="166688" cy="666750"/>
          </a:xfrm>
          <a:prstGeom prst="bentConnector4">
            <a:avLst>
              <a:gd name="adj1" fmla="val 0"/>
              <a:gd name="adj2" fmla="val 50000"/>
            </a:avLst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cxnSp>
        <p:nvCxnSpPr>
          <p:cNvPr id="57" name="U05-DG-003-lead_frequency"/>
          <p:cNvCxnSpPr>
            <a:stCxn id="21" idx="1"/>
            <a:endCxn id="10" idx="3"/>
          </p:cNvCxnSpPr>
          <p:nvPr/>
        </p:nvCxnSpPr>
        <p:spPr>
          <a:xfrm flipH="1">
            <a:off x="9429750" y="1785938"/>
            <a:ext cx="142875" cy="1381125"/>
          </a:xfrm>
          <a:prstGeom prst="bentConnector4">
            <a:avLst/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sp>
        <p:nvSpPr>
          <p:cNvPr id="28" name="diagram-scale-note">
            <a:extLst>
              <a:ext uri="{FF2B5EF4-FFF2-40B4-BE49-F238E27FC236}">
                <a16:creationId xmlns:a16="http://schemas.microsoft.com/office/drawing/2014/main" id="{6E7FA4CD-9F11-4005-931D-7A18B3DBD27F}"/>
              </a:ext>
            </a:extLst>
          </p:cNvPr>
          <p:cNvSpPr>
            <a:spLocks noGrp="1"/>
          </p:cNvSpPr>
          <p:nvPr/>
        </p:nvSpPr>
        <p:spPr>
          <a:xfrm>
            <a:off x="552450" y="5829300"/>
            <a:ext cx="3905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05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Esquema conceptual · no está a escala</a:t>
            </a:r>
          </a:p>
        </p:txBody>
      </p:sp>
      <p:sp>
        <p:nvSpPr>
          <p:cNvPr id="29" name="caption">
            <a:extLst>
              <a:ext uri="{FF2B5EF4-FFF2-40B4-BE49-F238E27FC236}">
                <a16:creationId xmlns:a16="http://schemas.microsoft.com/office/drawing/2014/main" id="{76F572F9-A08F-4A74-B825-F10696C3DEAE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876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La fundamental se obtiene de la periodicidad común.</a:t>
            </a:r>
          </a:p>
        </p:txBody>
      </p:sp>
      <p:sp>
        <p:nvSpPr>
          <p:cNvPr id="30" name="credit">
            <a:extLst>
              <a:ext uri="{FF2B5EF4-FFF2-40B4-BE49-F238E27FC236}">
                <a16:creationId xmlns:a16="http://schemas.microsoft.com/office/drawing/2014/main" id="{34806C5C-2BD5-4B94-B6FF-039DDB378D05}"/>
              </a:ext>
            </a:extLst>
          </p:cNvPr>
          <p:cNvSpPr>
            <a:spLocks noGrp="1"/>
          </p:cNvSpPr>
          <p:nvPr/>
        </p:nvSpPr>
        <p:spPr>
          <a:xfrm>
            <a:off x="9382125" y="60769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5.4.2.</a:t>
            </a:r>
          </a:p>
        </p:txBody>
      </p:sp>
      <p:sp>
        <p:nvSpPr>
          <p:cNvPr id="24" name="slide-alt-summary" descr="Tres pasos de cálculo junto a un espectro con líneas en 100 y 200 Hz.">
            <a:extLst>
              <a:ext uri="{FF2B5EF4-FFF2-40B4-BE49-F238E27FC236}">
                <a16:creationId xmlns:a16="http://schemas.microsoft.com/office/drawing/2014/main" id="{4CCECD68-50DC-F2C0-4CFA-C81587747CD6}"/>
              </a:ext>
            </a:extLst>
          </p:cNvPr>
          <p:cNvSpPr/>
          <p:nvPr/>
        </p:nvSpPr>
        <p:spPr>
          <a:xfrm>
            <a:off x="12700" y="12700"/>
            <a:ext cx="12700" cy="12700"/>
          </a:xfrm>
          <a:prstGeom prst="rect">
            <a:avLst/>
          </a:prstGeom>
          <a:noFill/>
          <a:ln w="19050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336356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yebrow">
            <a:extLst>
              <a:ext uri="{FF2B5EF4-FFF2-40B4-BE49-F238E27FC236}">
                <a16:creationId xmlns:a16="http://schemas.microsoft.com/office/drawing/2014/main" id="{BD7BDEA1-017F-4443-8E43-B47B45DB588F}"/>
              </a:ext>
            </a:extLst>
          </p:cNvPr>
          <p:cNvSpPr>
            <a:spLocks noGrp="1"/>
          </p:cNvSpPr>
          <p:nvPr/>
        </p:nvSpPr>
        <p:spPr>
          <a:xfrm>
            <a:off x="514350" y="2095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025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EB7B8B41-DA1B-4F0A-8293-0A631741805B}"/>
              </a:ext>
            </a:extLst>
          </p:cNvPr>
          <p:cNvSpPr>
            <a:spLocks noGrp="1"/>
          </p:cNvSpPr>
          <p:nvPr/>
        </p:nvSpPr>
        <p:spPr>
          <a:xfrm>
            <a:off x="495300" y="428625"/>
            <a:ext cx="11191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¿Qué mejora al sumar más términos?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6F37A46F-9371-4A5A-8838-E88219F6B65D}"/>
              </a:ext>
            </a:extLst>
          </p:cNvPr>
          <p:cNvSpPr>
            <a:spLocks noGrp="1"/>
          </p:cNvSpPr>
          <p:nvPr/>
        </p:nvSpPr>
        <p:spPr>
          <a:xfrm>
            <a:off x="523875" y="971550"/>
            <a:ext cx="11001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Observe tramos suaves y vecindades de discontinuidades.</a:t>
            </a:r>
          </a:p>
        </p:txBody>
      </p:sp>
      <p:pic>
        <p:nvPicPr>
          <p:cNvPr id="13" name="Gráfico 1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457200" y="1381125"/>
            <a:ext cx="7524750" cy="4429125"/>
          </a:xfrm>
          <a:prstGeom prst="rect">
            <a:avLst/>
          </a:prstGeom>
        </p:spPr>
      </p:pic>
      <p:sp>
        <p:nvSpPr>
          <p:cNvPr id="5" name="chart-reading-box">
            <a:extLst>
              <a:ext uri="{FF2B5EF4-FFF2-40B4-BE49-F238E27FC236}">
                <a16:creationId xmlns:a16="http://schemas.microsoft.com/office/drawing/2014/main" id="{6E75DD37-477E-4A75-8F99-F6F1369CF05B}"/>
              </a:ext>
            </a:extLst>
          </p:cNvPr>
          <p:cNvSpPr>
            <a:spLocks noGrp="1"/>
          </p:cNvSpPr>
          <p:nvPr/>
        </p:nvSpPr>
        <p:spPr>
          <a:xfrm>
            <a:off x="8239125" y="1476375"/>
            <a:ext cx="3190875" cy="3857625"/>
          </a:xfrm>
          <a:prstGeom prst="roundRect">
            <a:avLst>
              <a:gd name="adj" fmla="val 4179"/>
            </a:avLst>
          </a:prstGeom>
          <a:solidFill>
            <a:srgbClr val="DDEFF5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6" name="chart-reading-title">
            <a:extLst>
              <a:ext uri="{FF2B5EF4-FFF2-40B4-BE49-F238E27FC236}">
                <a16:creationId xmlns:a16="http://schemas.microsoft.com/office/drawing/2014/main" id="{F43E81EA-8394-4EAF-A21B-198E4F81F97A}"/>
              </a:ext>
            </a:extLst>
          </p:cNvPr>
          <p:cNvSpPr>
            <a:spLocks noGrp="1"/>
          </p:cNvSpPr>
          <p:nvPr/>
        </p:nvSpPr>
        <p:spPr>
          <a:xfrm>
            <a:off x="8410575" y="1609725"/>
            <a:ext cx="28479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Qué leer</a:t>
            </a:r>
          </a:p>
        </p:txBody>
      </p:sp>
      <p:sp>
        <p:nvSpPr>
          <p:cNvPr id="7" name="chart-reading-body">
            <a:extLst>
              <a:ext uri="{FF2B5EF4-FFF2-40B4-BE49-F238E27FC236}">
                <a16:creationId xmlns:a16="http://schemas.microsoft.com/office/drawing/2014/main" id="{82FEC35F-DB93-4E62-80B3-607054AB039E}"/>
              </a:ext>
            </a:extLst>
          </p:cNvPr>
          <p:cNvSpPr>
            <a:spLocks noGrp="1"/>
          </p:cNvSpPr>
          <p:nvPr/>
        </p:nvSpPr>
        <p:spPr>
          <a:xfrm>
            <a:off x="8410575" y="1990725"/>
            <a:ext cx="2847975" cy="3209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¿Dónde disminuye el error? ¿Dónde persisten oscilaciones? ¿Cambió la escala? ¿Sería correcto llamarlas ruido?</a:t>
            </a:r>
          </a:p>
        </p:txBody>
      </p:sp>
      <p:sp>
        <p:nvSpPr>
          <p:cNvPr id="8" name="caption">
            <a:extLst>
              <a:ext uri="{FF2B5EF4-FFF2-40B4-BE49-F238E27FC236}">
                <a16:creationId xmlns:a16="http://schemas.microsoft.com/office/drawing/2014/main" id="{D0543E31-37AE-44B4-866F-F5408B6E4E9B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876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Las oscilaciones de Gibbs pertenecen a la aproximación matemática.</a:t>
            </a:r>
          </a:p>
        </p:txBody>
      </p:sp>
      <p:sp>
        <p:nvSpPr>
          <p:cNvPr id="9" name="credit">
            <a:extLst>
              <a:ext uri="{FF2B5EF4-FFF2-40B4-BE49-F238E27FC236}">
                <a16:creationId xmlns:a16="http://schemas.microsoft.com/office/drawing/2014/main" id="{11CD4227-A5E9-4257-8E14-D700D0F7DF2D}"/>
              </a:ext>
            </a:extLst>
          </p:cNvPr>
          <p:cNvSpPr>
            <a:spLocks noGrp="1"/>
          </p:cNvSpPr>
          <p:nvPr/>
        </p:nvSpPr>
        <p:spPr>
          <a:xfrm>
            <a:off x="9382125" y="60769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ejercicio L2.</a:t>
            </a:r>
          </a:p>
        </p:txBody>
      </p:sp>
      <p:sp>
        <p:nvSpPr>
          <p:cNvPr id="4" name="slide-alt-summary" descr="Aproximaciones de Fourier con llamadas en segmentos centrales y bordes.">
            <a:extLst>
              <a:ext uri="{FF2B5EF4-FFF2-40B4-BE49-F238E27FC236}">
                <a16:creationId xmlns:a16="http://schemas.microsoft.com/office/drawing/2014/main" id="{E302CBC3-E9EE-C9BB-D171-0779A72073F2}"/>
              </a:ext>
            </a:extLst>
          </p:cNvPr>
          <p:cNvSpPr/>
          <p:nvPr/>
        </p:nvSpPr>
        <p:spPr>
          <a:xfrm>
            <a:off x="12700" y="12700"/>
            <a:ext cx="12700" cy="12700"/>
          </a:xfrm>
          <a:prstGeom prst="rect">
            <a:avLst/>
          </a:prstGeom>
          <a:noFill/>
          <a:ln w="19050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7329715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eyebrow">
            <a:extLst>
              <a:ext uri="{FF2B5EF4-FFF2-40B4-BE49-F238E27FC236}">
                <a16:creationId xmlns:a16="http://schemas.microsoft.com/office/drawing/2014/main" id="{4F32A0C8-6CD5-40C9-9057-F3EDD2E39949}"/>
              </a:ext>
            </a:extLst>
          </p:cNvPr>
          <p:cNvSpPr>
            <a:spLocks noGrp="1"/>
          </p:cNvSpPr>
          <p:nvPr/>
        </p:nvSpPr>
        <p:spPr>
          <a:xfrm>
            <a:off x="514350" y="2095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026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D5D59F49-F066-47E2-8D61-BC8D06338568}"/>
              </a:ext>
            </a:extLst>
          </p:cNvPr>
          <p:cNvSpPr>
            <a:spLocks noGrp="1"/>
          </p:cNvSpPr>
          <p:nvPr/>
        </p:nvSpPr>
        <p:spPr>
          <a:xfrm>
            <a:off x="495300" y="428625"/>
            <a:ext cx="11191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La transformada no exige repetición exacta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07594681-B371-4772-AD5A-F181C250D144}"/>
              </a:ext>
            </a:extLst>
          </p:cNvPr>
          <p:cNvSpPr>
            <a:spLocks noGrp="1"/>
          </p:cNvSpPr>
          <p:nvPr/>
        </p:nvSpPr>
        <p:spPr>
          <a:xfrm>
            <a:off x="523875" y="971550"/>
            <a:ext cx="11001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Serie y transformada responden a objetos ideales diferentes.</a:t>
            </a:r>
          </a:p>
        </p:txBody>
      </p:sp>
      <p:sp>
        <p:nvSpPr>
          <p:cNvPr id="4" name="U05-DG-003-eq_x">
            <a:extLst>
              <a:ext uri="{FF2B5EF4-FFF2-40B4-BE49-F238E27FC236}">
                <a16:creationId xmlns:a16="http://schemas.microsoft.com/office/drawing/2014/main" id="{867C5083-AF63-46FA-8A28-FB967D6909E6}"/>
              </a:ext>
            </a:extLst>
          </p:cNvPr>
          <p:cNvSpPr>
            <a:spLocks noGrp="1"/>
          </p:cNvSpPr>
          <p:nvPr/>
        </p:nvSpPr>
        <p:spPr>
          <a:xfrm>
            <a:off x="2381250" y="2667000"/>
            <a:ext cx="1571625" cy="1000125"/>
          </a:xfrm>
          <a:prstGeom prst="roundRect">
            <a:avLst>
              <a:gd name="adj" fmla="val 13333"/>
            </a:avLst>
          </a:prstGeom>
          <a:solidFill>
            <a:srgbClr val="EFECF7"/>
          </a:solidFill>
          <a:ln w="19050">
            <a:solidFill>
              <a:srgbClr val="65539A"/>
            </a:solidFill>
            <a:prstDash val="solid"/>
          </a:ln>
        </p:spPr>
      </p:sp>
      <p:sp>
        <p:nvSpPr>
          <p:cNvPr id="5" name="U05-DG-003-eq_x-title">
            <a:extLst>
              <a:ext uri="{FF2B5EF4-FFF2-40B4-BE49-F238E27FC236}">
                <a16:creationId xmlns:a16="http://schemas.microsoft.com/office/drawing/2014/main" id="{B62763A8-B7EC-49E5-9D75-EB8C8A784D1B}"/>
              </a:ext>
            </a:extLst>
          </p:cNvPr>
          <p:cNvSpPr>
            <a:spLocks noGrp="1"/>
          </p:cNvSpPr>
          <p:nvPr/>
        </p:nvSpPr>
        <p:spPr>
          <a:xfrm>
            <a:off x="2552700" y="2790825"/>
            <a:ext cx="1228725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2000"/>
              </a:lnSpc>
              <a:buNone/>
              <a:defRPr sz="2850" b="1" i="0">
                <a:solidFill>
                  <a:srgbClr val="65539A"/>
                </a:solidFill>
                <a:latin typeface="Cambria Math"/>
                <a:ea typeface="Cambria Math"/>
                <a:cs typeface="Cambria Math"/>
              </a:defRPr>
            </a:pPr>
            <a:r>
              <a:rPr sz="2850" b="1" i="0">
                <a:solidFill>
                  <a:srgbClr val="65539A"/>
                </a:solidFill>
                <a:latin typeface="Cambria Math"/>
                <a:ea typeface="Cambria Math"/>
                <a:cs typeface="Cambria Math"/>
              </a:rPr>
              <a:t>X(f)</a:t>
            </a:r>
          </a:p>
        </p:txBody>
      </p:sp>
      <p:sp>
        <p:nvSpPr>
          <p:cNvPr id="6" name="U05-DG-003-eq_equal">
            <a:extLst>
              <a:ext uri="{FF2B5EF4-FFF2-40B4-BE49-F238E27FC236}">
                <a16:creationId xmlns:a16="http://schemas.microsoft.com/office/drawing/2014/main" id="{8496BA52-FCCD-47FD-8C8F-EF4DFCF45CC6}"/>
              </a:ext>
            </a:extLst>
          </p:cNvPr>
          <p:cNvSpPr>
            <a:spLocks noGrp="1"/>
          </p:cNvSpPr>
          <p:nvPr/>
        </p:nvSpPr>
        <p:spPr>
          <a:xfrm>
            <a:off x="4095750" y="2667000"/>
            <a:ext cx="571500" cy="1000125"/>
          </a:xfrm>
          <a:prstGeom prst="roundRect">
            <a:avLst>
              <a:gd name="adj" fmla="val 23333"/>
            </a:avLst>
          </a:prstGeom>
          <a:solidFill>
            <a:srgbClr val="EFECF7"/>
          </a:solidFill>
          <a:ln w="19050">
            <a:solidFill>
              <a:srgbClr val="65539A"/>
            </a:solidFill>
            <a:prstDash val="solid"/>
          </a:ln>
        </p:spPr>
      </p:sp>
      <p:sp>
        <p:nvSpPr>
          <p:cNvPr id="7" name="U05-DG-003-eq_equal-title">
            <a:extLst>
              <a:ext uri="{FF2B5EF4-FFF2-40B4-BE49-F238E27FC236}">
                <a16:creationId xmlns:a16="http://schemas.microsoft.com/office/drawing/2014/main" id="{753A4866-47DA-43EF-A45D-9452A534B3B7}"/>
              </a:ext>
            </a:extLst>
          </p:cNvPr>
          <p:cNvSpPr>
            <a:spLocks noGrp="1"/>
          </p:cNvSpPr>
          <p:nvPr/>
        </p:nvSpPr>
        <p:spPr>
          <a:xfrm>
            <a:off x="4267200" y="2790825"/>
            <a:ext cx="22860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2000"/>
              </a:lnSpc>
              <a:buNone/>
              <a:defRPr sz="2850" b="1" i="0">
                <a:solidFill>
                  <a:srgbClr val="65539A"/>
                </a:solidFill>
                <a:latin typeface="Cambria Math"/>
                <a:ea typeface="Cambria Math"/>
                <a:cs typeface="Cambria Math"/>
              </a:defRPr>
            </a:pPr>
            <a:r>
              <a:rPr sz="2850" b="1" i="0">
                <a:solidFill>
                  <a:srgbClr val="65539A"/>
                </a:solidFill>
                <a:latin typeface="Cambria Math"/>
                <a:ea typeface="Cambria Math"/>
                <a:cs typeface="Cambria Math"/>
              </a:rPr>
              <a:t>=</a:t>
            </a:r>
          </a:p>
        </p:txBody>
      </p:sp>
      <p:sp>
        <p:nvSpPr>
          <p:cNvPr id="8" name="U05-DG-003-eq_mag">
            <a:extLst>
              <a:ext uri="{FF2B5EF4-FFF2-40B4-BE49-F238E27FC236}">
                <a16:creationId xmlns:a16="http://schemas.microsoft.com/office/drawing/2014/main" id="{8C672F8B-4270-44D3-84AD-45779F485270}"/>
              </a:ext>
            </a:extLst>
          </p:cNvPr>
          <p:cNvSpPr>
            <a:spLocks noGrp="1"/>
          </p:cNvSpPr>
          <p:nvPr/>
        </p:nvSpPr>
        <p:spPr>
          <a:xfrm>
            <a:off x="4810125" y="2667000"/>
            <a:ext cx="2000250" cy="1000125"/>
          </a:xfrm>
          <a:prstGeom prst="roundRect">
            <a:avLst>
              <a:gd name="adj" fmla="val 13333"/>
            </a:avLst>
          </a:prstGeom>
          <a:solidFill>
            <a:srgbClr val="EFECF7"/>
          </a:solidFill>
          <a:ln w="19050">
            <a:solidFill>
              <a:srgbClr val="65539A"/>
            </a:solidFill>
            <a:prstDash val="solid"/>
          </a:ln>
        </p:spPr>
      </p:sp>
      <p:sp>
        <p:nvSpPr>
          <p:cNvPr id="9" name="U05-DG-003-eq_mag-title">
            <a:extLst>
              <a:ext uri="{FF2B5EF4-FFF2-40B4-BE49-F238E27FC236}">
                <a16:creationId xmlns:a16="http://schemas.microsoft.com/office/drawing/2014/main" id="{D7831A35-92F6-4711-9982-3DF8AF35C2DA}"/>
              </a:ext>
            </a:extLst>
          </p:cNvPr>
          <p:cNvSpPr>
            <a:spLocks noGrp="1"/>
          </p:cNvSpPr>
          <p:nvPr/>
        </p:nvSpPr>
        <p:spPr>
          <a:xfrm>
            <a:off x="4981575" y="2790825"/>
            <a:ext cx="165735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2000"/>
              </a:lnSpc>
              <a:buNone/>
              <a:defRPr sz="2850" b="1" i="0">
                <a:solidFill>
                  <a:srgbClr val="65539A"/>
                </a:solidFill>
                <a:latin typeface="Cambria Math"/>
                <a:ea typeface="Cambria Math"/>
                <a:cs typeface="Cambria Math"/>
              </a:defRPr>
            </a:pPr>
            <a:r>
              <a:rPr sz="2850" b="1" i="0">
                <a:solidFill>
                  <a:srgbClr val="65539A"/>
                </a:solidFill>
                <a:latin typeface="Cambria Math"/>
                <a:ea typeface="Cambria Math"/>
                <a:cs typeface="Cambria Math"/>
              </a:rPr>
              <a:t>|X(f)|</a:t>
            </a:r>
          </a:p>
        </p:txBody>
      </p:sp>
      <p:sp>
        <p:nvSpPr>
          <p:cNvPr id="10" name="U05-DG-003-eq_phase">
            <a:extLst>
              <a:ext uri="{FF2B5EF4-FFF2-40B4-BE49-F238E27FC236}">
                <a16:creationId xmlns:a16="http://schemas.microsoft.com/office/drawing/2014/main" id="{4C2A585F-F2F7-403B-95FA-344DE58D6B39}"/>
              </a:ext>
            </a:extLst>
          </p:cNvPr>
          <p:cNvSpPr>
            <a:spLocks noGrp="1"/>
          </p:cNvSpPr>
          <p:nvPr/>
        </p:nvSpPr>
        <p:spPr>
          <a:xfrm>
            <a:off x="7096125" y="2667000"/>
            <a:ext cx="2333625" cy="1000125"/>
          </a:xfrm>
          <a:prstGeom prst="roundRect">
            <a:avLst>
              <a:gd name="adj" fmla="val 13333"/>
            </a:avLst>
          </a:prstGeom>
          <a:solidFill>
            <a:srgbClr val="EFECF7"/>
          </a:solidFill>
          <a:ln w="19050">
            <a:solidFill>
              <a:srgbClr val="65539A"/>
            </a:solidFill>
            <a:prstDash val="solid"/>
          </a:ln>
        </p:spPr>
      </p:sp>
      <p:sp>
        <p:nvSpPr>
          <p:cNvPr id="11" name="U05-DG-003-eq_phase-title">
            <a:extLst>
              <a:ext uri="{FF2B5EF4-FFF2-40B4-BE49-F238E27FC236}">
                <a16:creationId xmlns:a16="http://schemas.microsoft.com/office/drawing/2014/main" id="{0EEE2C54-D1DD-40F2-8E2E-D763CF4CEEF6}"/>
              </a:ext>
            </a:extLst>
          </p:cNvPr>
          <p:cNvSpPr>
            <a:spLocks noGrp="1"/>
          </p:cNvSpPr>
          <p:nvPr/>
        </p:nvSpPr>
        <p:spPr>
          <a:xfrm>
            <a:off x="7267575" y="2790825"/>
            <a:ext cx="1990725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2000"/>
              </a:lnSpc>
              <a:buNone/>
              <a:defRPr sz="2850" b="1" i="0">
                <a:solidFill>
                  <a:srgbClr val="65539A"/>
                </a:solidFill>
                <a:latin typeface="Cambria Math"/>
                <a:ea typeface="Cambria Math"/>
                <a:cs typeface="Cambria Math"/>
              </a:defRPr>
            </a:pPr>
            <a:r>
              <a:rPr sz="2850" b="1" i="0">
                <a:solidFill>
                  <a:srgbClr val="65539A"/>
                </a:solidFill>
                <a:latin typeface="Cambria Math"/>
                <a:ea typeface="Cambria Math"/>
                <a:cs typeface="Cambria Math"/>
              </a:rPr>
              <a:t>eʲφˣ⁽ᶠ⁾</a:t>
            </a:r>
          </a:p>
        </p:txBody>
      </p:sp>
      <p:sp>
        <p:nvSpPr>
          <p:cNvPr id="12" name="U05-DG-003-callout_quantity">
            <a:extLst>
              <a:ext uri="{FF2B5EF4-FFF2-40B4-BE49-F238E27FC236}">
                <a16:creationId xmlns:a16="http://schemas.microsoft.com/office/drawing/2014/main" id="{F3E26E2F-9A60-48F5-9C40-94B00C3BD936}"/>
              </a:ext>
            </a:extLst>
          </p:cNvPr>
          <p:cNvSpPr>
            <a:spLocks noGrp="1"/>
          </p:cNvSpPr>
          <p:nvPr/>
        </p:nvSpPr>
        <p:spPr>
          <a:xfrm>
            <a:off x="857250" y="1285875"/>
            <a:ext cx="2333625" cy="1000125"/>
          </a:xfrm>
          <a:prstGeom prst="roundRect">
            <a:avLst>
              <a:gd name="adj" fmla="val 13333"/>
            </a:avLst>
          </a:prstGeom>
          <a:solidFill>
            <a:srgbClr val="F3F6F8"/>
          </a:solidFill>
          <a:ln w="19050">
            <a:solidFill>
              <a:srgbClr val="8291A3"/>
            </a:solidFill>
            <a:prstDash val="solid"/>
          </a:ln>
        </p:spPr>
      </p:sp>
      <p:sp>
        <p:nvSpPr>
          <p:cNvPr id="13" name="U05-DG-003-callout_quantity-title">
            <a:extLst>
              <a:ext uri="{FF2B5EF4-FFF2-40B4-BE49-F238E27FC236}">
                <a16:creationId xmlns:a16="http://schemas.microsoft.com/office/drawing/2014/main" id="{A89B761E-8E3E-4BC7-9575-144677DB2733}"/>
              </a:ext>
            </a:extLst>
          </p:cNvPr>
          <p:cNvSpPr>
            <a:spLocks noGrp="1"/>
          </p:cNvSpPr>
          <p:nvPr/>
        </p:nvSpPr>
        <p:spPr>
          <a:xfrm>
            <a:off x="1028700" y="1409700"/>
            <a:ext cx="19907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Transformada</a:t>
            </a:r>
          </a:p>
        </p:txBody>
      </p:sp>
      <p:sp>
        <p:nvSpPr>
          <p:cNvPr id="14" name="U05-DG-003-callout_quantity-body">
            <a:extLst>
              <a:ext uri="{FF2B5EF4-FFF2-40B4-BE49-F238E27FC236}">
                <a16:creationId xmlns:a16="http://schemas.microsoft.com/office/drawing/2014/main" id="{7874BBB3-30F8-4C24-9C2F-02EC49E7A1F9}"/>
              </a:ext>
            </a:extLst>
          </p:cNvPr>
          <p:cNvSpPr>
            <a:spLocks noGrp="1"/>
          </p:cNvSpPr>
          <p:nvPr/>
        </p:nvSpPr>
        <p:spPr>
          <a:xfrm>
            <a:off x="1028700" y="1733550"/>
            <a:ext cx="199072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unidad U·s</a:t>
            </a:r>
          </a:p>
        </p:txBody>
      </p:sp>
      <p:sp>
        <p:nvSpPr>
          <p:cNvPr id="15" name="U05-DG-003-callout_magnitude">
            <a:extLst>
              <a:ext uri="{FF2B5EF4-FFF2-40B4-BE49-F238E27FC236}">
                <a16:creationId xmlns:a16="http://schemas.microsoft.com/office/drawing/2014/main" id="{9888440D-D297-47DE-8FA8-BF0240AE3FE0}"/>
              </a:ext>
            </a:extLst>
          </p:cNvPr>
          <p:cNvSpPr>
            <a:spLocks noGrp="1"/>
          </p:cNvSpPr>
          <p:nvPr/>
        </p:nvSpPr>
        <p:spPr>
          <a:xfrm>
            <a:off x="3905250" y="4333875"/>
            <a:ext cx="2476500" cy="1000125"/>
          </a:xfrm>
          <a:prstGeom prst="roundRect">
            <a:avLst>
              <a:gd name="adj" fmla="val 13333"/>
            </a:avLst>
          </a:prstGeom>
          <a:solidFill>
            <a:srgbClr val="EFF8FA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16" name="U05-DG-003-callout_magnitude-title">
            <a:extLst>
              <a:ext uri="{FF2B5EF4-FFF2-40B4-BE49-F238E27FC236}">
                <a16:creationId xmlns:a16="http://schemas.microsoft.com/office/drawing/2014/main" id="{C7EE67E3-E18C-444D-BF3B-EFAD5A87ED15}"/>
              </a:ext>
            </a:extLst>
          </p:cNvPr>
          <p:cNvSpPr>
            <a:spLocks noGrp="1"/>
          </p:cNvSpPr>
          <p:nvPr/>
        </p:nvSpPr>
        <p:spPr>
          <a:xfrm>
            <a:off x="4076700" y="4457700"/>
            <a:ext cx="2133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Magnitud</a:t>
            </a:r>
          </a:p>
        </p:txBody>
      </p:sp>
      <p:sp>
        <p:nvSpPr>
          <p:cNvPr id="17" name="U05-DG-003-callout_magnitude-body">
            <a:extLst>
              <a:ext uri="{FF2B5EF4-FFF2-40B4-BE49-F238E27FC236}">
                <a16:creationId xmlns:a16="http://schemas.microsoft.com/office/drawing/2014/main" id="{900DFF95-22AF-48FD-AFD8-8316FA110F85}"/>
              </a:ext>
            </a:extLst>
          </p:cNvPr>
          <p:cNvSpPr>
            <a:spLocks noGrp="1"/>
          </p:cNvSpPr>
          <p:nvPr/>
        </p:nvSpPr>
        <p:spPr>
          <a:xfrm>
            <a:off x="4076700" y="4781550"/>
            <a:ext cx="21336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escala declarada</a:t>
            </a:r>
          </a:p>
        </p:txBody>
      </p:sp>
      <p:sp>
        <p:nvSpPr>
          <p:cNvPr id="18" name="U05-DG-003-callout_phase">
            <a:extLst>
              <a:ext uri="{FF2B5EF4-FFF2-40B4-BE49-F238E27FC236}">
                <a16:creationId xmlns:a16="http://schemas.microsoft.com/office/drawing/2014/main" id="{528C9753-8F33-48E5-8B97-6E4EB5706B78}"/>
              </a:ext>
            </a:extLst>
          </p:cNvPr>
          <p:cNvSpPr>
            <a:spLocks noGrp="1"/>
          </p:cNvSpPr>
          <p:nvPr/>
        </p:nvSpPr>
        <p:spPr>
          <a:xfrm>
            <a:off x="7239000" y="4333875"/>
            <a:ext cx="2381250" cy="1000125"/>
          </a:xfrm>
          <a:prstGeom prst="roundRect">
            <a:avLst>
              <a:gd name="adj" fmla="val 13333"/>
            </a:avLst>
          </a:prstGeom>
          <a:solidFill>
            <a:srgbClr val="E3F2ED"/>
          </a:solidFill>
          <a:ln w="19050">
            <a:solidFill>
              <a:srgbClr val="2D7867"/>
            </a:solidFill>
            <a:prstDash val="solid"/>
          </a:ln>
        </p:spPr>
      </p:sp>
      <p:sp>
        <p:nvSpPr>
          <p:cNvPr id="19" name="U05-DG-003-callout_phase-title">
            <a:extLst>
              <a:ext uri="{FF2B5EF4-FFF2-40B4-BE49-F238E27FC236}">
                <a16:creationId xmlns:a16="http://schemas.microsoft.com/office/drawing/2014/main" id="{8C05EBDC-4FF7-4142-9F4F-9A37118565DA}"/>
              </a:ext>
            </a:extLst>
          </p:cNvPr>
          <p:cNvSpPr>
            <a:spLocks noGrp="1"/>
          </p:cNvSpPr>
          <p:nvPr/>
        </p:nvSpPr>
        <p:spPr>
          <a:xfrm>
            <a:off x="7410450" y="4457700"/>
            <a:ext cx="2038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Fase relativa</a:t>
            </a:r>
          </a:p>
        </p:txBody>
      </p:sp>
      <p:sp>
        <p:nvSpPr>
          <p:cNvPr id="20" name="U05-DG-003-callout_phase-body">
            <a:extLst>
              <a:ext uri="{FF2B5EF4-FFF2-40B4-BE49-F238E27FC236}">
                <a16:creationId xmlns:a16="http://schemas.microsoft.com/office/drawing/2014/main" id="{1F1941A6-58D1-43A2-9F21-1050B079D4A8}"/>
              </a:ext>
            </a:extLst>
          </p:cNvPr>
          <p:cNvSpPr>
            <a:spLocks noGrp="1"/>
          </p:cNvSpPr>
          <p:nvPr/>
        </p:nvSpPr>
        <p:spPr>
          <a:xfrm>
            <a:off x="7410450" y="4781550"/>
            <a:ext cx="20383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φₓ(f) en rad</a:t>
            </a:r>
          </a:p>
        </p:txBody>
      </p:sp>
      <p:sp>
        <p:nvSpPr>
          <p:cNvPr id="21" name="U05-DG-003-callout_frequency">
            <a:extLst>
              <a:ext uri="{FF2B5EF4-FFF2-40B4-BE49-F238E27FC236}">
                <a16:creationId xmlns:a16="http://schemas.microsoft.com/office/drawing/2014/main" id="{B061B339-0695-422C-9CE4-0E5578E808F1}"/>
              </a:ext>
            </a:extLst>
          </p:cNvPr>
          <p:cNvSpPr>
            <a:spLocks noGrp="1"/>
          </p:cNvSpPr>
          <p:nvPr/>
        </p:nvSpPr>
        <p:spPr>
          <a:xfrm>
            <a:off x="9572625" y="1285875"/>
            <a:ext cx="1905000" cy="1000125"/>
          </a:xfrm>
          <a:prstGeom prst="roundRect">
            <a:avLst>
              <a:gd name="adj" fmla="val 13333"/>
            </a:avLst>
          </a:prstGeom>
          <a:solidFill>
            <a:srgbClr val="DDEFF5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22" name="U05-DG-003-callout_frequency-title">
            <a:extLst>
              <a:ext uri="{FF2B5EF4-FFF2-40B4-BE49-F238E27FC236}">
                <a16:creationId xmlns:a16="http://schemas.microsoft.com/office/drawing/2014/main" id="{DB294867-F48F-4C8D-9BDC-524463A04C16}"/>
              </a:ext>
            </a:extLst>
          </p:cNvPr>
          <p:cNvSpPr>
            <a:spLocks noGrp="1"/>
          </p:cNvSpPr>
          <p:nvPr/>
        </p:nvSpPr>
        <p:spPr>
          <a:xfrm>
            <a:off x="9744075" y="1409700"/>
            <a:ext cx="1562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Variable</a:t>
            </a:r>
          </a:p>
        </p:txBody>
      </p:sp>
      <p:sp>
        <p:nvSpPr>
          <p:cNvPr id="23" name="U05-DG-003-callout_frequency-body">
            <a:extLst>
              <a:ext uri="{FF2B5EF4-FFF2-40B4-BE49-F238E27FC236}">
                <a16:creationId xmlns:a16="http://schemas.microsoft.com/office/drawing/2014/main" id="{44AC8004-23AC-473F-A2E0-40F9F6AA9F74}"/>
              </a:ext>
            </a:extLst>
          </p:cNvPr>
          <p:cNvSpPr>
            <a:spLocks noGrp="1"/>
          </p:cNvSpPr>
          <p:nvPr/>
        </p:nvSpPr>
        <p:spPr>
          <a:xfrm>
            <a:off x="9744075" y="1733550"/>
            <a:ext cx="15621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f en Hz</a:t>
            </a:r>
          </a:p>
        </p:txBody>
      </p:sp>
      <p:cxnSp>
        <p:nvCxnSpPr>
          <p:cNvPr id="54" name="U05-DG-003-lead_quantity"/>
          <p:cNvCxnSpPr>
            <a:stCxn id="12" idx="3"/>
            <a:endCxn id="4" idx="1"/>
          </p:cNvCxnSpPr>
          <p:nvPr/>
        </p:nvCxnSpPr>
        <p:spPr>
          <a:xfrm flipH="1">
            <a:off x="2152650" y="1785938"/>
            <a:ext cx="1266825" cy="1381125"/>
          </a:xfrm>
          <a:prstGeom prst="bentConnector4">
            <a:avLst/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cxnSp>
        <p:nvCxnSpPr>
          <p:cNvPr id="55" name="U05-DG-003-lead_magnitude"/>
          <p:cNvCxnSpPr>
            <a:stCxn id="15" idx="0"/>
            <a:endCxn id="8" idx="2"/>
          </p:cNvCxnSpPr>
          <p:nvPr/>
        </p:nvCxnSpPr>
        <p:spPr>
          <a:xfrm flipV="1">
            <a:off x="5143500" y="3667125"/>
            <a:ext cx="666750" cy="666750"/>
          </a:xfrm>
          <a:prstGeom prst="bentConnector4">
            <a:avLst>
              <a:gd name="adj1" fmla="val 0"/>
              <a:gd name="adj2" fmla="val 50000"/>
            </a:avLst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cxnSp>
        <p:nvCxnSpPr>
          <p:cNvPr id="56" name="U05-DG-003-lead_phase"/>
          <p:cNvCxnSpPr>
            <a:stCxn id="18" idx="0"/>
            <a:endCxn id="10" idx="2"/>
          </p:cNvCxnSpPr>
          <p:nvPr/>
        </p:nvCxnSpPr>
        <p:spPr>
          <a:xfrm flipH="1" flipV="1">
            <a:off x="8262938" y="3667125"/>
            <a:ext cx="166688" cy="666750"/>
          </a:xfrm>
          <a:prstGeom prst="bentConnector4">
            <a:avLst>
              <a:gd name="adj1" fmla="val 0"/>
              <a:gd name="adj2" fmla="val 50000"/>
            </a:avLst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cxnSp>
        <p:nvCxnSpPr>
          <p:cNvPr id="57" name="U05-DG-003-lead_frequency"/>
          <p:cNvCxnSpPr>
            <a:stCxn id="21" idx="1"/>
            <a:endCxn id="10" idx="3"/>
          </p:cNvCxnSpPr>
          <p:nvPr/>
        </p:nvCxnSpPr>
        <p:spPr>
          <a:xfrm flipH="1">
            <a:off x="9429750" y="1785938"/>
            <a:ext cx="142875" cy="1381125"/>
          </a:xfrm>
          <a:prstGeom prst="bentConnector4">
            <a:avLst/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sp>
        <p:nvSpPr>
          <p:cNvPr id="28" name="diagram-scale-note">
            <a:extLst>
              <a:ext uri="{FF2B5EF4-FFF2-40B4-BE49-F238E27FC236}">
                <a16:creationId xmlns:a16="http://schemas.microsoft.com/office/drawing/2014/main" id="{B004EA48-69EF-4EB6-BCF3-A6ACA52349EB}"/>
              </a:ext>
            </a:extLst>
          </p:cNvPr>
          <p:cNvSpPr>
            <a:spLocks noGrp="1"/>
          </p:cNvSpPr>
          <p:nvPr/>
        </p:nvSpPr>
        <p:spPr>
          <a:xfrm>
            <a:off x="552450" y="5829300"/>
            <a:ext cx="3905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05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Esquema conceptual · no está a escala</a:t>
            </a:r>
          </a:p>
        </p:txBody>
      </p:sp>
      <p:sp>
        <p:nvSpPr>
          <p:cNvPr id="29" name="caption">
            <a:extLst>
              <a:ext uri="{FF2B5EF4-FFF2-40B4-BE49-F238E27FC236}">
                <a16:creationId xmlns:a16="http://schemas.microsoft.com/office/drawing/2014/main" id="{9FD8CD27-4C2A-42E2-8D8A-F99C5401E85B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876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Un registro real requiere distinguir señal ideal, observación finita y cálculo digital.</a:t>
            </a:r>
          </a:p>
        </p:txBody>
      </p:sp>
      <p:sp>
        <p:nvSpPr>
          <p:cNvPr id="30" name="credit">
            <a:extLst>
              <a:ext uri="{FF2B5EF4-FFF2-40B4-BE49-F238E27FC236}">
                <a16:creationId xmlns:a16="http://schemas.microsoft.com/office/drawing/2014/main" id="{1C335110-4F4A-4AE8-8290-B9A9013DAAD4}"/>
              </a:ext>
            </a:extLst>
          </p:cNvPr>
          <p:cNvSpPr>
            <a:spLocks noGrp="1"/>
          </p:cNvSpPr>
          <p:nvPr/>
        </p:nvSpPr>
        <p:spPr>
          <a:xfrm>
            <a:off x="9382125" y="60769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5.4.3.</a:t>
            </a:r>
          </a:p>
        </p:txBody>
      </p:sp>
      <p:sp>
        <p:nvSpPr>
          <p:cNvPr id="24" name="slide-alt-summary" descr="Dos columnas comparan señal periódica con espectro de líneas y señal general con espectro continuo ideal.">
            <a:extLst>
              <a:ext uri="{FF2B5EF4-FFF2-40B4-BE49-F238E27FC236}">
                <a16:creationId xmlns:a16="http://schemas.microsoft.com/office/drawing/2014/main" id="{9802AFB2-FE4F-0E6D-26B1-9EFA0216FB6C}"/>
              </a:ext>
            </a:extLst>
          </p:cNvPr>
          <p:cNvSpPr/>
          <p:nvPr/>
        </p:nvSpPr>
        <p:spPr>
          <a:xfrm>
            <a:off x="12700" y="12700"/>
            <a:ext cx="12700" cy="12700"/>
          </a:xfrm>
          <a:prstGeom prst="rect">
            <a:avLst/>
          </a:prstGeom>
          <a:noFill/>
          <a:ln w="19050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eyebrow">
            <a:extLst>
              <a:ext uri="{FF2B5EF4-FFF2-40B4-BE49-F238E27FC236}">
                <a16:creationId xmlns:a16="http://schemas.microsoft.com/office/drawing/2014/main" id="{025D2162-11C3-4F99-A1E7-98651979E9DF}"/>
              </a:ext>
            </a:extLst>
          </p:cNvPr>
          <p:cNvSpPr>
            <a:spLocks noGrp="1"/>
          </p:cNvSpPr>
          <p:nvPr/>
        </p:nvSpPr>
        <p:spPr>
          <a:xfrm>
            <a:off x="514350" y="2095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027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90D21585-FB36-4A41-BE49-97086CB84C27}"/>
              </a:ext>
            </a:extLst>
          </p:cNvPr>
          <p:cNvSpPr>
            <a:spLocks noGrp="1"/>
          </p:cNvSpPr>
          <p:nvPr/>
        </p:nvSpPr>
        <p:spPr>
          <a:xfrm>
            <a:off x="495300" y="428625"/>
            <a:ext cx="11191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La transformada compara la señal con cada frecuencia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68FF8AD3-B52E-4104-9112-044896C27DA0}"/>
              </a:ext>
            </a:extLst>
          </p:cNvPr>
          <p:cNvSpPr>
            <a:spLocks noGrp="1"/>
          </p:cNvSpPr>
          <p:nvPr/>
        </p:nvSpPr>
        <p:spPr>
          <a:xfrm>
            <a:off x="523875" y="971550"/>
            <a:ext cx="11001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La fórmula es referencia, no procedimiento de cálculo en esta unidad.</a:t>
            </a:r>
          </a:p>
        </p:txBody>
      </p:sp>
      <p:sp>
        <p:nvSpPr>
          <p:cNvPr id="4" name="U05-DG-003-eq_x">
            <a:extLst>
              <a:ext uri="{FF2B5EF4-FFF2-40B4-BE49-F238E27FC236}">
                <a16:creationId xmlns:a16="http://schemas.microsoft.com/office/drawing/2014/main" id="{7D5D22FC-C8A6-4C78-A814-469FA15A465F}"/>
              </a:ext>
            </a:extLst>
          </p:cNvPr>
          <p:cNvSpPr>
            <a:spLocks noGrp="1"/>
          </p:cNvSpPr>
          <p:nvPr/>
        </p:nvSpPr>
        <p:spPr>
          <a:xfrm>
            <a:off x="2381250" y="2667000"/>
            <a:ext cx="1571625" cy="1000125"/>
          </a:xfrm>
          <a:prstGeom prst="roundRect">
            <a:avLst>
              <a:gd name="adj" fmla="val 13333"/>
            </a:avLst>
          </a:prstGeom>
          <a:solidFill>
            <a:srgbClr val="EFECF7"/>
          </a:solidFill>
          <a:ln w="19050">
            <a:solidFill>
              <a:srgbClr val="65539A"/>
            </a:solidFill>
            <a:prstDash val="solid"/>
          </a:ln>
        </p:spPr>
      </p:sp>
      <p:sp>
        <p:nvSpPr>
          <p:cNvPr id="5" name="U05-DG-003-eq_x-title">
            <a:extLst>
              <a:ext uri="{FF2B5EF4-FFF2-40B4-BE49-F238E27FC236}">
                <a16:creationId xmlns:a16="http://schemas.microsoft.com/office/drawing/2014/main" id="{7EA57585-8D3C-42F9-B014-BD03984C1EB4}"/>
              </a:ext>
            </a:extLst>
          </p:cNvPr>
          <p:cNvSpPr>
            <a:spLocks noGrp="1"/>
          </p:cNvSpPr>
          <p:nvPr/>
        </p:nvSpPr>
        <p:spPr>
          <a:xfrm>
            <a:off x="2552700" y="2790825"/>
            <a:ext cx="1228725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2000"/>
              </a:lnSpc>
              <a:buNone/>
              <a:defRPr sz="2850" b="1" i="0">
                <a:solidFill>
                  <a:srgbClr val="65539A"/>
                </a:solidFill>
                <a:latin typeface="Cambria Math"/>
                <a:ea typeface="Cambria Math"/>
                <a:cs typeface="Cambria Math"/>
              </a:defRPr>
            </a:pPr>
            <a:r>
              <a:rPr sz="2850" b="1" i="0">
                <a:solidFill>
                  <a:srgbClr val="65539A"/>
                </a:solidFill>
                <a:latin typeface="Cambria Math"/>
                <a:ea typeface="Cambria Math"/>
                <a:cs typeface="Cambria Math"/>
              </a:rPr>
              <a:t>X(f)</a:t>
            </a:r>
          </a:p>
        </p:txBody>
      </p:sp>
      <p:sp>
        <p:nvSpPr>
          <p:cNvPr id="6" name="U05-DG-003-eq_equal">
            <a:extLst>
              <a:ext uri="{FF2B5EF4-FFF2-40B4-BE49-F238E27FC236}">
                <a16:creationId xmlns:a16="http://schemas.microsoft.com/office/drawing/2014/main" id="{C968EB5B-07F6-4B48-B723-9DFC69E39CD2}"/>
              </a:ext>
            </a:extLst>
          </p:cNvPr>
          <p:cNvSpPr>
            <a:spLocks noGrp="1"/>
          </p:cNvSpPr>
          <p:nvPr/>
        </p:nvSpPr>
        <p:spPr>
          <a:xfrm>
            <a:off x="4095750" y="2667000"/>
            <a:ext cx="571500" cy="1000125"/>
          </a:xfrm>
          <a:prstGeom prst="roundRect">
            <a:avLst>
              <a:gd name="adj" fmla="val 23333"/>
            </a:avLst>
          </a:prstGeom>
          <a:solidFill>
            <a:srgbClr val="EFECF7"/>
          </a:solidFill>
          <a:ln w="19050">
            <a:solidFill>
              <a:srgbClr val="65539A"/>
            </a:solidFill>
            <a:prstDash val="solid"/>
          </a:ln>
        </p:spPr>
      </p:sp>
      <p:sp>
        <p:nvSpPr>
          <p:cNvPr id="7" name="U05-DG-003-eq_equal-title">
            <a:extLst>
              <a:ext uri="{FF2B5EF4-FFF2-40B4-BE49-F238E27FC236}">
                <a16:creationId xmlns:a16="http://schemas.microsoft.com/office/drawing/2014/main" id="{8B18A032-D593-4BE0-828B-C41A6861B987}"/>
              </a:ext>
            </a:extLst>
          </p:cNvPr>
          <p:cNvSpPr>
            <a:spLocks noGrp="1"/>
          </p:cNvSpPr>
          <p:nvPr/>
        </p:nvSpPr>
        <p:spPr>
          <a:xfrm>
            <a:off x="4267200" y="2790825"/>
            <a:ext cx="22860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2000"/>
              </a:lnSpc>
              <a:buNone/>
              <a:defRPr sz="2850" b="1" i="0">
                <a:solidFill>
                  <a:srgbClr val="65539A"/>
                </a:solidFill>
                <a:latin typeface="Cambria Math"/>
                <a:ea typeface="Cambria Math"/>
                <a:cs typeface="Cambria Math"/>
              </a:defRPr>
            </a:pPr>
            <a:r>
              <a:rPr sz="2850" b="1" i="0">
                <a:solidFill>
                  <a:srgbClr val="65539A"/>
                </a:solidFill>
                <a:latin typeface="Cambria Math"/>
                <a:ea typeface="Cambria Math"/>
                <a:cs typeface="Cambria Math"/>
              </a:rPr>
              <a:t>=</a:t>
            </a:r>
          </a:p>
        </p:txBody>
      </p:sp>
      <p:sp>
        <p:nvSpPr>
          <p:cNvPr id="8" name="U05-DG-003-eq_mag">
            <a:extLst>
              <a:ext uri="{FF2B5EF4-FFF2-40B4-BE49-F238E27FC236}">
                <a16:creationId xmlns:a16="http://schemas.microsoft.com/office/drawing/2014/main" id="{A9EF54F3-5DC9-4F53-9E12-61425283246F}"/>
              </a:ext>
            </a:extLst>
          </p:cNvPr>
          <p:cNvSpPr>
            <a:spLocks noGrp="1"/>
          </p:cNvSpPr>
          <p:nvPr/>
        </p:nvSpPr>
        <p:spPr>
          <a:xfrm>
            <a:off x="4810125" y="2667000"/>
            <a:ext cx="2000250" cy="1000125"/>
          </a:xfrm>
          <a:prstGeom prst="roundRect">
            <a:avLst>
              <a:gd name="adj" fmla="val 13333"/>
            </a:avLst>
          </a:prstGeom>
          <a:solidFill>
            <a:srgbClr val="EFECF7"/>
          </a:solidFill>
          <a:ln w="19050">
            <a:solidFill>
              <a:srgbClr val="65539A"/>
            </a:solidFill>
            <a:prstDash val="solid"/>
          </a:ln>
        </p:spPr>
      </p:sp>
      <p:sp>
        <p:nvSpPr>
          <p:cNvPr id="9" name="U05-DG-003-eq_mag-title">
            <a:extLst>
              <a:ext uri="{FF2B5EF4-FFF2-40B4-BE49-F238E27FC236}">
                <a16:creationId xmlns:a16="http://schemas.microsoft.com/office/drawing/2014/main" id="{82F85B29-57A8-4F18-9FB5-90633A6E407D}"/>
              </a:ext>
            </a:extLst>
          </p:cNvPr>
          <p:cNvSpPr>
            <a:spLocks noGrp="1"/>
          </p:cNvSpPr>
          <p:nvPr/>
        </p:nvSpPr>
        <p:spPr>
          <a:xfrm>
            <a:off x="4981575" y="2790825"/>
            <a:ext cx="165735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2000"/>
              </a:lnSpc>
              <a:buNone/>
              <a:defRPr sz="2850" b="1" i="0">
                <a:solidFill>
                  <a:srgbClr val="65539A"/>
                </a:solidFill>
                <a:latin typeface="Cambria Math"/>
                <a:ea typeface="Cambria Math"/>
                <a:cs typeface="Cambria Math"/>
              </a:defRPr>
            </a:pPr>
            <a:r>
              <a:rPr sz="2850" b="1" i="0">
                <a:solidFill>
                  <a:srgbClr val="65539A"/>
                </a:solidFill>
                <a:latin typeface="Cambria Math"/>
                <a:ea typeface="Cambria Math"/>
                <a:cs typeface="Cambria Math"/>
              </a:rPr>
              <a:t>|X(f)|</a:t>
            </a:r>
          </a:p>
        </p:txBody>
      </p:sp>
      <p:sp>
        <p:nvSpPr>
          <p:cNvPr id="10" name="U05-DG-003-eq_phase">
            <a:extLst>
              <a:ext uri="{FF2B5EF4-FFF2-40B4-BE49-F238E27FC236}">
                <a16:creationId xmlns:a16="http://schemas.microsoft.com/office/drawing/2014/main" id="{3759D573-9E97-4F1A-9094-D9F30412456E}"/>
              </a:ext>
            </a:extLst>
          </p:cNvPr>
          <p:cNvSpPr>
            <a:spLocks noGrp="1"/>
          </p:cNvSpPr>
          <p:nvPr/>
        </p:nvSpPr>
        <p:spPr>
          <a:xfrm>
            <a:off x="7096125" y="2667000"/>
            <a:ext cx="2333625" cy="1000125"/>
          </a:xfrm>
          <a:prstGeom prst="roundRect">
            <a:avLst>
              <a:gd name="adj" fmla="val 13333"/>
            </a:avLst>
          </a:prstGeom>
          <a:solidFill>
            <a:srgbClr val="EFECF7"/>
          </a:solidFill>
          <a:ln w="19050">
            <a:solidFill>
              <a:srgbClr val="65539A"/>
            </a:solidFill>
            <a:prstDash val="solid"/>
          </a:ln>
        </p:spPr>
      </p:sp>
      <p:sp>
        <p:nvSpPr>
          <p:cNvPr id="11" name="U05-DG-003-eq_phase-title">
            <a:extLst>
              <a:ext uri="{FF2B5EF4-FFF2-40B4-BE49-F238E27FC236}">
                <a16:creationId xmlns:a16="http://schemas.microsoft.com/office/drawing/2014/main" id="{196EA15A-84F9-42B0-8AE5-B425E3618EE1}"/>
              </a:ext>
            </a:extLst>
          </p:cNvPr>
          <p:cNvSpPr>
            <a:spLocks noGrp="1"/>
          </p:cNvSpPr>
          <p:nvPr/>
        </p:nvSpPr>
        <p:spPr>
          <a:xfrm>
            <a:off x="7267575" y="2790825"/>
            <a:ext cx="1990725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2000"/>
              </a:lnSpc>
              <a:buNone/>
              <a:defRPr sz="2850" b="1" i="0">
                <a:solidFill>
                  <a:srgbClr val="65539A"/>
                </a:solidFill>
                <a:latin typeface="Cambria Math"/>
                <a:ea typeface="Cambria Math"/>
                <a:cs typeface="Cambria Math"/>
              </a:defRPr>
            </a:pPr>
            <a:r>
              <a:rPr sz="2850" b="1" i="0">
                <a:solidFill>
                  <a:srgbClr val="65539A"/>
                </a:solidFill>
                <a:latin typeface="Cambria Math"/>
                <a:ea typeface="Cambria Math"/>
                <a:cs typeface="Cambria Math"/>
              </a:rPr>
              <a:t>eʲφˣ⁽ᶠ⁾</a:t>
            </a:r>
          </a:p>
        </p:txBody>
      </p:sp>
      <p:sp>
        <p:nvSpPr>
          <p:cNvPr id="12" name="U05-DG-003-callout_quantity">
            <a:extLst>
              <a:ext uri="{FF2B5EF4-FFF2-40B4-BE49-F238E27FC236}">
                <a16:creationId xmlns:a16="http://schemas.microsoft.com/office/drawing/2014/main" id="{BD54A46E-8A71-4350-A8B9-F6A5435A8931}"/>
              </a:ext>
            </a:extLst>
          </p:cNvPr>
          <p:cNvSpPr>
            <a:spLocks noGrp="1"/>
          </p:cNvSpPr>
          <p:nvPr/>
        </p:nvSpPr>
        <p:spPr>
          <a:xfrm>
            <a:off x="857250" y="1285875"/>
            <a:ext cx="2333625" cy="1000125"/>
          </a:xfrm>
          <a:prstGeom prst="roundRect">
            <a:avLst>
              <a:gd name="adj" fmla="val 13333"/>
            </a:avLst>
          </a:prstGeom>
          <a:solidFill>
            <a:srgbClr val="F3F6F8"/>
          </a:solidFill>
          <a:ln w="19050">
            <a:solidFill>
              <a:srgbClr val="8291A3"/>
            </a:solidFill>
            <a:prstDash val="solid"/>
          </a:ln>
        </p:spPr>
      </p:sp>
      <p:sp>
        <p:nvSpPr>
          <p:cNvPr id="13" name="U05-DG-003-callout_quantity-title">
            <a:extLst>
              <a:ext uri="{FF2B5EF4-FFF2-40B4-BE49-F238E27FC236}">
                <a16:creationId xmlns:a16="http://schemas.microsoft.com/office/drawing/2014/main" id="{896E155B-CB91-42C5-8A19-3A1CC0389D5C}"/>
              </a:ext>
            </a:extLst>
          </p:cNvPr>
          <p:cNvSpPr>
            <a:spLocks noGrp="1"/>
          </p:cNvSpPr>
          <p:nvPr/>
        </p:nvSpPr>
        <p:spPr>
          <a:xfrm>
            <a:off x="1028700" y="1409700"/>
            <a:ext cx="19907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Transformada</a:t>
            </a:r>
          </a:p>
        </p:txBody>
      </p:sp>
      <p:sp>
        <p:nvSpPr>
          <p:cNvPr id="14" name="U05-DG-003-callout_quantity-body">
            <a:extLst>
              <a:ext uri="{FF2B5EF4-FFF2-40B4-BE49-F238E27FC236}">
                <a16:creationId xmlns:a16="http://schemas.microsoft.com/office/drawing/2014/main" id="{9A82E607-BA67-4558-BBC2-7022629D19C8}"/>
              </a:ext>
            </a:extLst>
          </p:cNvPr>
          <p:cNvSpPr>
            <a:spLocks noGrp="1"/>
          </p:cNvSpPr>
          <p:nvPr/>
        </p:nvSpPr>
        <p:spPr>
          <a:xfrm>
            <a:off x="1028700" y="1733550"/>
            <a:ext cx="199072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unidad U·s</a:t>
            </a:r>
          </a:p>
        </p:txBody>
      </p:sp>
      <p:sp>
        <p:nvSpPr>
          <p:cNvPr id="15" name="U05-DG-003-callout_magnitude">
            <a:extLst>
              <a:ext uri="{FF2B5EF4-FFF2-40B4-BE49-F238E27FC236}">
                <a16:creationId xmlns:a16="http://schemas.microsoft.com/office/drawing/2014/main" id="{BBF35B21-689D-4A70-803E-10BFB41AE705}"/>
              </a:ext>
            </a:extLst>
          </p:cNvPr>
          <p:cNvSpPr>
            <a:spLocks noGrp="1"/>
          </p:cNvSpPr>
          <p:nvPr/>
        </p:nvSpPr>
        <p:spPr>
          <a:xfrm>
            <a:off x="3905250" y="4333875"/>
            <a:ext cx="2476500" cy="1000125"/>
          </a:xfrm>
          <a:prstGeom prst="roundRect">
            <a:avLst>
              <a:gd name="adj" fmla="val 13333"/>
            </a:avLst>
          </a:prstGeom>
          <a:solidFill>
            <a:srgbClr val="EFF8FA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16" name="U05-DG-003-callout_magnitude-title">
            <a:extLst>
              <a:ext uri="{FF2B5EF4-FFF2-40B4-BE49-F238E27FC236}">
                <a16:creationId xmlns:a16="http://schemas.microsoft.com/office/drawing/2014/main" id="{37D14985-5A03-4FF8-8EF1-D1D041160EEC}"/>
              </a:ext>
            </a:extLst>
          </p:cNvPr>
          <p:cNvSpPr>
            <a:spLocks noGrp="1"/>
          </p:cNvSpPr>
          <p:nvPr/>
        </p:nvSpPr>
        <p:spPr>
          <a:xfrm>
            <a:off x="4076700" y="4457700"/>
            <a:ext cx="2133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Magnitud</a:t>
            </a:r>
          </a:p>
        </p:txBody>
      </p:sp>
      <p:sp>
        <p:nvSpPr>
          <p:cNvPr id="17" name="U05-DG-003-callout_magnitude-body">
            <a:extLst>
              <a:ext uri="{FF2B5EF4-FFF2-40B4-BE49-F238E27FC236}">
                <a16:creationId xmlns:a16="http://schemas.microsoft.com/office/drawing/2014/main" id="{1E9EDDFA-CBDB-4675-899A-E894AC0481D9}"/>
              </a:ext>
            </a:extLst>
          </p:cNvPr>
          <p:cNvSpPr>
            <a:spLocks noGrp="1"/>
          </p:cNvSpPr>
          <p:nvPr/>
        </p:nvSpPr>
        <p:spPr>
          <a:xfrm>
            <a:off x="4076700" y="4781550"/>
            <a:ext cx="21336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escala declarada</a:t>
            </a:r>
          </a:p>
        </p:txBody>
      </p:sp>
      <p:sp>
        <p:nvSpPr>
          <p:cNvPr id="18" name="U05-DG-003-callout_phase">
            <a:extLst>
              <a:ext uri="{FF2B5EF4-FFF2-40B4-BE49-F238E27FC236}">
                <a16:creationId xmlns:a16="http://schemas.microsoft.com/office/drawing/2014/main" id="{03C27C84-BFD3-4C32-B507-C48F74AAEE00}"/>
              </a:ext>
            </a:extLst>
          </p:cNvPr>
          <p:cNvSpPr>
            <a:spLocks noGrp="1"/>
          </p:cNvSpPr>
          <p:nvPr/>
        </p:nvSpPr>
        <p:spPr>
          <a:xfrm>
            <a:off x="7239000" y="4333875"/>
            <a:ext cx="2381250" cy="1000125"/>
          </a:xfrm>
          <a:prstGeom prst="roundRect">
            <a:avLst>
              <a:gd name="adj" fmla="val 13333"/>
            </a:avLst>
          </a:prstGeom>
          <a:solidFill>
            <a:srgbClr val="E3F2ED"/>
          </a:solidFill>
          <a:ln w="19050">
            <a:solidFill>
              <a:srgbClr val="2D7867"/>
            </a:solidFill>
            <a:prstDash val="solid"/>
          </a:ln>
        </p:spPr>
      </p:sp>
      <p:sp>
        <p:nvSpPr>
          <p:cNvPr id="19" name="U05-DG-003-callout_phase-title">
            <a:extLst>
              <a:ext uri="{FF2B5EF4-FFF2-40B4-BE49-F238E27FC236}">
                <a16:creationId xmlns:a16="http://schemas.microsoft.com/office/drawing/2014/main" id="{0BB05AD0-D8FC-4C1B-AF8D-90B01C415BB2}"/>
              </a:ext>
            </a:extLst>
          </p:cNvPr>
          <p:cNvSpPr>
            <a:spLocks noGrp="1"/>
          </p:cNvSpPr>
          <p:nvPr/>
        </p:nvSpPr>
        <p:spPr>
          <a:xfrm>
            <a:off x="7410450" y="4457700"/>
            <a:ext cx="2038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Fase relativa</a:t>
            </a:r>
          </a:p>
        </p:txBody>
      </p:sp>
      <p:sp>
        <p:nvSpPr>
          <p:cNvPr id="20" name="U05-DG-003-callout_phase-body">
            <a:extLst>
              <a:ext uri="{FF2B5EF4-FFF2-40B4-BE49-F238E27FC236}">
                <a16:creationId xmlns:a16="http://schemas.microsoft.com/office/drawing/2014/main" id="{E3ACCE16-9704-4A78-A1E5-6E6D30855F32}"/>
              </a:ext>
            </a:extLst>
          </p:cNvPr>
          <p:cNvSpPr>
            <a:spLocks noGrp="1"/>
          </p:cNvSpPr>
          <p:nvPr/>
        </p:nvSpPr>
        <p:spPr>
          <a:xfrm>
            <a:off x="7410450" y="4781550"/>
            <a:ext cx="20383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φₓ(f) en rad</a:t>
            </a:r>
          </a:p>
        </p:txBody>
      </p:sp>
      <p:sp>
        <p:nvSpPr>
          <p:cNvPr id="21" name="U05-DG-003-callout_frequency">
            <a:extLst>
              <a:ext uri="{FF2B5EF4-FFF2-40B4-BE49-F238E27FC236}">
                <a16:creationId xmlns:a16="http://schemas.microsoft.com/office/drawing/2014/main" id="{3B9412FA-E76B-4ED0-A962-2FE26671697B}"/>
              </a:ext>
            </a:extLst>
          </p:cNvPr>
          <p:cNvSpPr>
            <a:spLocks noGrp="1"/>
          </p:cNvSpPr>
          <p:nvPr/>
        </p:nvSpPr>
        <p:spPr>
          <a:xfrm>
            <a:off x="9572625" y="1285875"/>
            <a:ext cx="1905000" cy="1000125"/>
          </a:xfrm>
          <a:prstGeom prst="roundRect">
            <a:avLst>
              <a:gd name="adj" fmla="val 13333"/>
            </a:avLst>
          </a:prstGeom>
          <a:solidFill>
            <a:srgbClr val="DDEFF5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22" name="U05-DG-003-callout_frequency-title">
            <a:extLst>
              <a:ext uri="{FF2B5EF4-FFF2-40B4-BE49-F238E27FC236}">
                <a16:creationId xmlns:a16="http://schemas.microsoft.com/office/drawing/2014/main" id="{95AD57E1-DF8F-4F6C-A77F-C5ED4F605D6F}"/>
              </a:ext>
            </a:extLst>
          </p:cNvPr>
          <p:cNvSpPr>
            <a:spLocks noGrp="1"/>
          </p:cNvSpPr>
          <p:nvPr/>
        </p:nvSpPr>
        <p:spPr>
          <a:xfrm>
            <a:off x="9744075" y="1409700"/>
            <a:ext cx="1562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Variable</a:t>
            </a:r>
          </a:p>
        </p:txBody>
      </p:sp>
      <p:sp>
        <p:nvSpPr>
          <p:cNvPr id="23" name="U05-DG-003-callout_frequency-body">
            <a:extLst>
              <a:ext uri="{FF2B5EF4-FFF2-40B4-BE49-F238E27FC236}">
                <a16:creationId xmlns:a16="http://schemas.microsoft.com/office/drawing/2014/main" id="{3DC67238-CF18-4DEA-AD33-87C1CA7ACCB1}"/>
              </a:ext>
            </a:extLst>
          </p:cNvPr>
          <p:cNvSpPr>
            <a:spLocks noGrp="1"/>
          </p:cNvSpPr>
          <p:nvPr/>
        </p:nvSpPr>
        <p:spPr>
          <a:xfrm>
            <a:off x="9744075" y="1733550"/>
            <a:ext cx="15621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f en Hz</a:t>
            </a:r>
          </a:p>
        </p:txBody>
      </p:sp>
      <p:cxnSp>
        <p:nvCxnSpPr>
          <p:cNvPr id="54" name="U05-DG-003-lead_quantity"/>
          <p:cNvCxnSpPr>
            <a:stCxn id="12" idx="3"/>
            <a:endCxn id="4" idx="1"/>
          </p:cNvCxnSpPr>
          <p:nvPr/>
        </p:nvCxnSpPr>
        <p:spPr>
          <a:xfrm flipH="1">
            <a:off x="2152650" y="1785938"/>
            <a:ext cx="1266825" cy="1381125"/>
          </a:xfrm>
          <a:prstGeom prst="bentConnector4">
            <a:avLst/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cxnSp>
        <p:nvCxnSpPr>
          <p:cNvPr id="55" name="U05-DG-003-lead_magnitude"/>
          <p:cNvCxnSpPr>
            <a:stCxn id="15" idx="0"/>
            <a:endCxn id="8" idx="2"/>
          </p:cNvCxnSpPr>
          <p:nvPr/>
        </p:nvCxnSpPr>
        <p:spPr>
          <a:xfrm flipV="1">
            <a:off x="5143500" y="3667125"/>
            <a:ext cx="666750" cy="666750"/>
          </a:xfrm>
          <a:prstGeom prst="bentConnector4">
            <a:avLst>
              <a:gd name="adj1" fmla="val 0"/>
              <a:gd name="adj2" fmla="val 50000"/>
            </a:avLst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cxnSp>
        <p:nvCxnSpPr>
          <p:cNvPr id="56" name="U05-DG-003-lead_phase"/>
          <p:cNvCxnSpPr>
            <a:stCxn id="18" idx="0"/>
            <a:endCxn id="10" idx="2"/>
          </p:cNvCxnSpPr>
          <p:nvPr/>
        </p:nvCxnSpPr>
        <p:spPr>
          <a:xfrm flipH="1" flipV="1">
            <a:off x="8262938" y="3667125"/>
            <a:ext cx="166688" cy="666750"/>
          </a:xfrm>
          <a:prstGeom prst="bentConnector4">
            <a:avLst>
              <a:gd name="adj1" fmla="val 0"/>
              <a:gd name="adj2" fmla="val 50000"/>
            </a:avLst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cxnSp>
        <p:nvCxnSpPr>
          <p:cNvPr id="57" name="U05-DG-003-lead_frequency"/>
          <p:cNvCxnSpPr>
            <a:stCxn id="21" idx="1"/>
            <a:endCxn id="10" idx="3"/>
          </p:cNvCxnSpPr>
          <p:nvPr/>
        </p:nvCxnSpPr>
        <p:spPr>
          <a:xfrm flipH="1">
            <a:off x="9429750" y="1785938"/>
            <a:ext cx="142875" cy="1381125"/>
          </a:xfrm>
          <a:prstGeom prst="bentConnector4">
            <a:avLst/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sp>
        <p:nvSpPr>
          <p:cNvPr id="28" name="diagram-scale-note">
            <a:extLst>
              <a:ext uri="{FF2B5EF4-FFF2-40B4-BE49-F238E27FC236}">
                <a16:creationId xmlns:a16="http://schemas.microsoft.com/office/drawing/2014/main" id="{9B580F76-1AC6-4D39-8057-8D7A4F5A9003}"/>
              </a:ext>
            </a:extLst>
          </p:cNvPr>
          <p:cNvSpPr>
            <a:spLocks noGrp="1"/>
          </p:cNvSpPr>
          <p:nvPr/>
        </p:nvSpPr>
        <p:spPr>
          <a:xfrm>
            <a:off x="552450" y="5829300"/>
            <a:ext cx="3905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05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Esquema conceptual · no está a escala</a:t>
            </a:r>
          </a:p>
        </p:txBody>
      </p:sp>
      <p:sp>
        <p:nvSpPr>
          <p:cNvPr id="29" name="caption">
            <a:extLst>
              <a:ext uri="{FF2B5EF4-FFF2-40B4-BE49-F238E27FC236}">
                <a16:creationId xmlns:a16="http://schemas.microsoft.com/office/drawing/2014/main" id="{CA5A3BC4-0DED-44D7-8D4E-1BB3BA80B637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876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La exponencial compleja compacta comparación con seno y coseno.</a:t>
            </a:r>
          </a:p>
        </p:txBody>
      </p:sp>
      <p:sp>
        <p:nvSpPr>
          <p:cNvPr id="30" name="credit">
            <a:extLst>
              <a:ext uri="{FF2B5EF4-FFF2-40B4-BE49-F238E27FC236}">
                <a16:creationId xmlns:a16="http://schemas.microsoft.com/office/drawing/2014/main" id="{54EC48E0-67F0-4F14-9F56-66468D9E51AD}"/>
              </a:ext>
            </a:extLst>
          </p:cNvPr>
          <p:cNvSpPr>
            <a:spLocks noGrp="1"/>
          </p:cNvSpPr>
          <p:nvPr/>
        </p:nvSpPr>
        <p:spPr>
          <a:xfrm>
            <a:off x="9382125" y="60769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5.4.3, ec. 5.6; NOT.</a:t>
            </a:r>
          </a:p>
        </p:txBody>
      </p:sp>
      <p:sp>
        <p:nvSpPr>
          <p:cNvPr id="24" name="slide-alt-summary" descr="Integral de Fourier con cuatro callouts para señal, frecuencia, unidad y número imaginario.">
            <a:extLst>
              <a:ext uri="{FF2B5EF4-FFF2-40B4-BE49-F238E27FC236}">
                <a16:creationId xmlns:a16="http://schemas.microsoft.com/office/drawing/2014/main" id="{0F2457FF-E5EB-F85B-DC91-96D27F63700C}"/>
              </a:ext>
            </a:extLst>
          </p:cNvPr>
          <p:cNvSpPr/>
          <p:nvPr/>
        </p:nvSpPr>
        <p:spPr>
          <a:xfrm>
            <a:off x="12700" y="12700"/>
            <a:ext cx="12700" cy="12700"/>
          </a:xfrm>
          <a:prstGeom prst="rect">
            <a:avLst/>
          </a:prstGeom>
          <a:noFill/>
          <a:ln w="19050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eyebrow">
            <a:extLst>
              <a:ext uri="{FF2B5EF4-FFF2-40B4-BE49-F238E27FC236}">
                <a16:creationId xmlns:a16="http://schemas.microsoft.com/office/drawing/2014/main" id="{D1732048-904B-421F-81D1-1FEFF24444FA}"/>
              </a:ext>
            </a:extLst>
          </p:cNvPr>
          <p:cNvSpPr>
            <a:spLocks noGrp="1"/>
          </p:cNvSpPr>
          <p:nvPr/>
        </p:nvSpPr>
        <p:spPr>
          <a:xfrm>
            <a:off x="514350" y="2095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028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2607050D-9E73-464A-B731-95C8BE64DD5E}"/>
              </a:ext>
            </a:extLst>
          </p:cNvPr>
          <p:cNvSpPr>
            <a:spLocks noGrp="1"/>
          </p:cNvSpPr>
          <p:nvPr/>
        </p:nvSpPr>
        <p:spPr>
          <a:xfrm>
            <a:off x="495300" y="428625"/>
            <a:ext cx="11191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Una transformada tiene magnitud y fase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DF2AF469-0C02-4690-B6C6-2211120C63AE}"/>
              </a:ext>
            </a:extLst>
          </p:cNvPr>
          <p:cNvSpPr>
            <a:spLocks noGrp="1"/>
          </p:cNvSpPr>
          <p:nvPr/>
        </p:nvSpPr>
        <p:spPr>
          <a:xfrm>
            <a:off x="523875" y="971550"/>
            <a:ext cx="11001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Dos informaciones diferentes conservadas en una expresión.</a:t>
            </a:r>
          </a:p>
        </p:txBody>
      </p:sp>
      <p:sp>
        <p:nvSpPr>
          <p:cNvPr id="4" name="U05-DG-003-eq_x">
            <a:extLst>
              <a:ext uri="{FF2B5EF4-FFF2-40B4-BE49-F238E27FC236}">
                <a16:creationId xmlns:a16="http://schemas.microsoft.com/office/drawing/2014/main" id="{5F55F3A7-6479-434B-BDB5-7C2606DBDB10}"/>
              </a:ext>
            </a:extLst>
          </p:cNvPr>
          <p:cNvSpPr>
            <a:spLocks noGrp="1"/>
          </p:cNvSpPr>
          <p:nvPr/>
        </p:nvSpPr>
        <p:spPr>
          <a:xfrm>
            <a:off x="2381250" y="2667000"/>
            <a:ext cx="1571625" cy="1000125"/>
          </a:xfrm>
          <a:prstGeom prst="roundRect">
            <a:avLst>
              <a:gd name="adj" fmla="val 13333"/>
            </a:avLst>
          </a:prstGeom>
          <a:solidFill>
            <a:srgbClr val="EFECF7"/>
          </a:solidFill>
          <a:ln w="19050">
            <a:solidFill>
              <a:srgbClr val="65539A"/>
            </a:solidFill>
            <a:prstDash val="solid"/>
          </a:ln>
        </p:spPr>
      </p:sp>
      <p:sp>
        <p:nvSpPr>
          <p:cNvPr id="5" name="U05-DG-003-eq_x-title">
            <a:extLst>
              <a:ext uri="{FF2B5EF4-FFF2-40B4-BE49-F238E27FC236}">
                <a16:creationId xmlns:a16="http://schemas.microsoft.com/office/drawing/2014/main" id="{52CEEDD9-18FE-4B6E-9FBA-F873E99887F8}"/>
              </a:ext>
            </a:extLst>
          </p:cNvPr>
          <p:cNvSpPr>
            <a:spLocks noGrp="1"/>
          </p:cNvSpPr>
          <p:nvPr/>
        </p:nvSpPr>
        <p:spPr>
          <a:xfrm>
            <a:off x="2552700" y="2790825"/>
            <a:ext cx="1228725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2000"/>
              </a:lnSpc>
              <a:buNone/>
              <a:defRPr sz="2850" b="1" i="0">
                <a:solidFill>
                  <a:srgbClr val="65539A"/>
                </a:solidFill>
                <a:latin typeface="Cambria Math"/>
                <a:ea typeface="Cambria Math"/>
                <a:cs typeface="Cambria Math"/>
              </a:defRPr>
            </a:pPr>
            <a:r>
              <a:rPr sz="2850" b="1" i="0">
                <a:solidFill>
                  <a:srgbClr val="65539A"/>
                </a:solidFill>
                <a:latin typeface="Cambria Math"/>
                <a:ea typeface="Cambria Math"/>
                <a:cs typeface="Cambria Math"/>
              </a:rPr>
              <a:t>X(f)</a:t>
            </a:r>
          </a:p>
        </p:txBody>
      </p:sp>
      <p:sp>
        <p:nvSpPr>
          <p:cNvPr id="6" name="U05-DG-003-eq_equal">
            <a:extLst>
              <a:ext uri="{FF2B5EF4-FFF2-40B4-BE49-F238E27FC236}">
                <a16:creationId xmlns:a16="http://schemas.microsoft.com/office/drawing/2014/main" id="{C8B70E35-6875-4707-8E71-D26964C99655}"/>
              </a:ext>
            </a:extLst>
          </p:cNvPr>
          <p:cNvSpPr>
            <a:spLocks noGrp="1"/>
          </p:cNvSpPr>
          <p:nvPr/>
        </p:nvSpPr>
        <p:spPr>
          <a:xfrm>
            <a:off x="4095750" y="2667000"/>
            <a:ext cx="571500" cy="1000125"/>
          </a:xfrm>
          <a:prstGeom prst="roundRect">
            <a:avLst>
              <a:gd name="adj" fmla="val 23333"/>
            </a:avLst>
          </a:prstGeom>
          <a:solidFill>
            <a:srgbClr val="EFECF7"/>
          </a:solidFill>
          <a:ln w="19050">
            <a:solidFill>
              <a:srgbClr val="65539A"/>
            </a:solidFill>
            <a:prstDash val="solid"/>
          </a:ln>
        </p:spPr>
      </p:sp>
      <p:sp>
        <p:nvSpPr>
          <p:cNvPr id="7" name="U05-DG-003-eq_equal-title">
            <a:extLst>
              <a:ext uri="{FF2B5EF4-FFF2-40B4-BE49-F238E27FC236}">
                <a16:creationId xmlns:a16="http://schemas.microsoft.com/office/drawing/2014/main" id="{6E41E2EC-937A-4436-912E-528AE2317A9E}"/>
              </a:ext>
            </a:extLst>
          </p:cNvPr>
          <p:cNvSpPr>
            <a:spLocks noGrp="1"/>
          </p:cNvSpPr>
          <p:nvPr/>
        </p:nvSpPr>
        <p:spPr>
          <a:xfrm>
            <a:off x="4267200" y="2790825"/>
            <a:ext cx="22860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2000"/>
              </a:lnSpc>
              <a:buNone/>
              <a:defRPr sz="2850" b="1" i="0">
                <a:solidFill>
                  <a:srgbClr val="65539A"/>
                </a:solidFill>
                <a:latin typeface="Cambria Math"/>
                <a:ea typeface="Cambria Math"/>
                <a:cs typeface="Cambria Math"/>
              </a:defRPr>
            </a:pPr>
            <a:r>
              <a:rPr sz="2850" b="1" i="0">
                <a:solidFill>
                  <a:srgbClr val="65539A"/>
                </a:solidFill>
                <a:latin typeface="Cambria Math"/>
                <a:ea typeface="Cambria Math"/>
                <a:cs typeface="Cambria Math"/>
              </a:rPr>
              <a:t>=</a:t>
            </a:r>
          </a:p>
        </p:txBody>
      </p:sp>
      <p:sp>
        <p:nvSpPr>
          <p:cNvPr id="8" name="U05-DG-003-eq_mag">
            <a:extLst>
              <a:ext uri="{FF2B5EF4-FFF2-40B4-BE49-F238E27FC236}">
                <a16:creationId xmlns:a16="http://schemas.microsoft.com/office/drawing/2014/main" id="{7100D652-1E00-441B-90C4-8C94B1DCBE6F}"/>
              </a:ext>
            </a:extLst>
          </p:cNvPr>
          <p:cNvSpPr>
            <a:spLocks noGrp="1"/>
          </p:cNvSpPr>
          <p:nvPr/>
        </p:nvSpPr>
        <p:spPr>
          <a:xfrm>
            <a:off x="4810125" y="2667000"/>
            <a:ext cx="2000250" cy="1000125"/>
          </a:xfrm>
          <a:prstGeom prst="roundRect">
            <a:avLst>
              <a:gd name="adj" fmla="val 13333"/>
            </a:avLst>
          </a:prstGeom>
          <a:solidFill>
            <a:srgbClr val="EFECF7"/>
          </a:solidFill>
          <a:ln w="19050">
            <a:solidFill>
              <a:srgbClr val="65539A"/>
            </a:solidFill>
            <a:prstDash val="solid"/>
          </a:ln>
        </p:spPr>
      </p:sp>
      <p:sp>
        <p:nvSpPr>
          <p:cNvPr id="9" name="U05-DG-003-eq_mag-title">
            <a:extLst>
              <a:ext uri="{FF2B5EF4-FFF2-40B4-BE49-F238E27FC236}">
                <a16:creationId xmlns:a16="http://schemas.microsoft.com/office/drawing/2014/main" id="{708F890D-2307-47F3-8771-2E58A2D304E7}"/>
              </a:ext>
            </a:extLst>
          </p:cNvPr>
          <p:cNvSpPr>
            <a:spLocks noGrp="1"/>
          </p:cNvSpPr>
          <p:nvPr/>
        </p:nvSpPr>
        <p:spPr>
          <a:xfrm>
            <a:off x="4981575" y="2790825"/>
            <a:ext cx="165735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2000"/>
              </a:lnSpc>
              <a:buNone/>
              <a:defRPr sz="2850" b="1" i="0">
                <a:solidFill>
                  <a:srgbClr val="65539A"/>
                </a:solidFill>
                <a:latin typeface="Cambria Math"/>
                <a:ea typeface="Cambria Math"/>
                <a:cs typeface="Cambria Math"/>
              </a:defRPr>
            </a:pPr>
            <a:r>
              <a:rPr sz="2850" b="1" i="0">
                <a:solidFill>
                  <a:srgbClr val="65539A"/>
                </a:solidFill>
                <a:latin typeface="Cambria Math"/>
                <a:ea typeface="Cambria Math"/>
                <a:cs typeface="Cambria Math"/>
              </a:rPr>
              <a:t>|X(f)|</a:t>
            </a:r>
          </a:p>
        </p:txBody>
      </p:sp>
      <p:sp>
        <p:nvSpPr>
          <p:cNvPr id="10" name="U05-DG-003-eq_phase">
            <a:extLst>
              <a:ext uri="{FF2B5EF4-FFF2-40B4-BE49-F238E27FC236}">
                <a16:creationId xmlns:a16="http://schemas.microsoft.com/office/drawing/2014/main" id="{2637D1BC-D9E5-4EF3-943A-23D42C1D053C}"/>
              </a:ext>
            </a:extLst>
          </p:cNvPr>
          <p:cNvSpPr>
            <a:spLocks noGrp="1"/>
          </p:cNvSpPr>
          <p:nvPr/>
        </p:nvSpPr>
        <p:spPr>
          <a:xfrm>
            <a:off x="7096125" y="2667000"/>
            <a:ext cx="2333625" cy="1000125"/>
          </a:xfrm>
          <a:prstGeom prst="roundRect">
            <a:avLst>
              <a:gd name="adj" fmla="val 13333"/>
            </a:avLst>
          </a:prstGeom>
          <a:solidFill>
            <a:srgbClr val="EFECF7"/>
          </a:solidFill>
          <a:ln w="19050">
            <a:solidFill>
              <a:srgbClr val="65539A"/>
            </a:solidFill>
            <a:prstDash val="solid"/>
          </a:ln>
        </p:spPr>
      </p:sp>
      <p:sp>
        <p:nvSpPr>
          <p:cNvPr id="11" name="U05-DG-003-eq_phase-title">
            <a:extLst>
              <a:ext uri="{FF2B5EF4-FFF2-40B4-BE49-F238E27FC236}">
                <a16:creationId xmlns:a16="http://schemas.microsoft.com/office/drawing/2014/main" id="{9AA1199D-7F2C-4D2C-AF5D-686B91C884EC}"/>
              </a:ext>
            </a:extLst>
          </p:cNvPr>
          <p:cNvSpPr>
            <a:spLocks noGrp="1"/>
          </p:cNvSpPr>
          <p:nvPr/>
        </p:nvSpPr>
        <p:spPr>
          <a:xfrm>
            <a:off x="7267575" y="2790825"/>
            <a:ext cx="1990725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2000"/>
              </a:lnSpc>
              <a:buNone/>
              <a:defRPr sz="2850" b="1" i="0">
                <a:solidFill>
                  <a:srgbClr val="65539A"/>
                </a:solidFill>
                <a:latin typeface="Cambria Math"/>
                <a:ea typeface="Cambria Math"/>
                <a:cs typeface="Cambria Math"/>
              </a:defRPr>
            </a:pPr>
            <a:r>
              <a:rPr sz="2850" b="1" i="0">
                <a:solidFill>
                  <a:srgbClr val="65539A"/>
                </a:solidFill>
                <a:latin typeface="Cambria Math"/>
                <a:ea typeface="Cambria Math"/>
                <a:cs typeface="Cambria Math"/>
              </a:rPr>
              <a:t>eʲφˣ⁽ᶠ⁾</a:t>
            </a:r>
          </a:p>
        </p:txBody>
      </p:sp>
      <p:sp>
        <p:nvSpPr>
          <p:cNvPr id="12" name="U05-DG-003-callout_quantity">
            <a:extLst>
              <a:ext uri="{FF2B5EF4-FFF2-40B4-BE49-F238E27FC236}">
                <a16:creationId xmlns:a16="http://schemas.microsoft.com/office/drawing/2014/main" id="{AE3979F3-777A-4687-A76A-EE74FC0AEA37}"/>
              </a:ext>
            </a:extLst>
          </p:cNvPr>
          <p:cNvSpPr>
            <a:spLocks noGrp="1"/>
          </p:cNvSpPr>
          <p:nvPr/>
        </p:nvSpPr>
        <p:spPr>
          <a:xfrm>
            <a:off x="857250" y="1285875"/>
            <a:ext cx="2333625" cy="1000125"/>
          </a:xfrm>
          <a:prstGeom prst="roundRect">
            <a:avLst>
              <a:gd name="adj" fmla="val 13333"/>
            </a:avLst>
          </a:prstGeom>
          <a:solidFill>
            <a:srgbClr val="F3F6F8"/>
          </a:solidFill>
          <a:ln w="19050">
            <a:solidFill>
              <a:srgbClr val="8291A3"/>
            </a:solidFill>
            <a:prstDash val="solid"/>
          </a:ln>
        </p:spPr>
      </p:sp>
      <p:sp>
        <p:nvSpPr>
          <p:cNvPr id="13" name="U05-DG-003-callout_quantity-title">
            <a:extLst>
              <a:ext uri="{FF2B5EF4-FFF2-40B4-BE49-F238E27FC236}">
                <a16:creationId xmlns:a16="http://schemas.microsoft.com/office/drawing/2014/main" id="{FF33B968-1033-4218-87E2-20DF548BDB5A}"/>
              </a:ext>
            </a:extLst>
          </p:cNvPr>
          <p:cNvSpPr>
            <a:spLocks noGrp="1"/>
          </p:cNvSpPr>
          <p:nvPr/>
        </p:nvSpPr>
        <p:spPr>
          <a:xfrm>
            <a:off x="1028700" y="1409700"/>
            <a:ext cx="19907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Transformada</a:t>
            </a:r>
          </a:p>
        </p:txBody>
      </p:sp>
      <p:sp>
        <p:nvSpPr>
          <p:cNvPr id="14" name="U05-DG-003-callout_quantity-body">
            <a:extLst>
              <a:ext uri="{FF2B5EF4-FFF2-40B4-BE49-F238E27FC236}">
                <a16:creationId xmlns:a16="http://schemas.microsoft.com/office/drawing/2014/main" id="{D19999F8-9A62-4168-ACC3-8305127E6DB9}"/>
              </a:ext>
            </a:extLst>
          </p:cNvPr>
          <p:cNvSpPr>
            <a:spLocks noGrp="1"/>
          </p:cNvSpPr>
          <p:nvPr/>
        </p:nvSpPr>
        <p:spPr>
          <a:xfrm>
            <a:off x="1028700" y="1733550"/>
            <a:ext cx="199072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unidad U·s</a:t>
            </a:r>
          </a:p>
        </p:txBody>
      </p:sp>
      <p:sp>
        <p:nvSpPr>
          <p:cNvPr id="15" name="U05-DG-003-callout_magnitude">
            <a:extLst>
              <a:ext uri="{FF2B5EF4-FFF2-40B4-BE49-F238E27FC236}">
                <a16:creationId xmlns:a16="http://schemas.microsoft.com/office/drawing/2014/main" id="{FBAEE10D-F8B6-4C51-A58B-FC9C407F02A2}"/>
              </a:ext>
            </a:extLst>
          </p:cNvPr>
          <p:cNvSpPr>
            <a:spLocks noGrp="1"/>
          </p:cNvSpPr>
          <p:nvPr/>
        </p:nvSpPr>
        <p:spPr>
          <a:xfrm>
            <a:off x="3905250" y="4333875"/>
            <a:ext cx="2476500" cy="1000125"/>
          </a:xfrm>
          <a:prstGeom prst="roundRect">
            <a:avLst>
              <a:gd name="adj" fmla="val 13333"/>
            </a:avLst>
          </a:prstGeom>
          <a:solidFill>
            <a:srgbClr val="EFF8FA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16" name="U05-DG-003-callout_magnitude-title">
            <a:extLst>
              <a:ext uri="{FF2B5EF4-FFF2-40B4-BE49-F238E27FC236}">
                <a16:creationId xmlns:a16="http://schemas.microsoft.com/office/drawing/2014/main" id="{9530BBA8-B76A-4C54-AD2C-D736865DF4C3}"/>
              </a:ext>
            </a:extLst>
          </p:cNvPr>
          <p:cNvSpPr>
            <a:spLocks noGrp="1"/>
          </p:cNvSpPr>
          <p:nvPr/>
        </p:nvSpPr>
        <p:spPr>
          <a:xfrm>
            <a:off x="4076700" y="4457700"/>
            <a:ext cx="2133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Magnitud</a:t>
            </a:r>
          </a:p>
        </p:txBody>
      </p:sp>
      <p:sp>
        <p:nvSpPr>
          <p:cNvPr id="17" name="U05-DG-003-callout_magnitude-body">
            <a:extLst>
              <a:ext uri="{FF2B5EF4-FFF2-40B4-BE49-F238E27FC236}">
                <a16:creationId xmlns:a16="http://schemas.microsoft.com/office/drawing/2014/main" id="{2C4012EA-7AD0-4F1D-8E12-2E2C7B0F280A}"/>
              </a:ext>
            </a:extLst>
          </p:cNvPr>
          <p:cNvSpPr>
            <a:spLocks noGrp="1"/>
          </p:cNvSpPr>
          <p:nvPr/>
        </p:nvSpPr>
        <p:spPr>
          <a:xfrm>
            <a:off x="4076700" y="4781550"/>
            <a:ext cx="21336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escala declarada</a:t>
            </a:r>
          </a:p>
        </p:txBody>
      </p:sp>
      <p:sp>
        <p:nvSpPr>
          <p:cNvPr id="18" name="U05-DG-003-callout_phase">
            <a:extLst>
              <a:ext uri="{FF2B5EF4-FFF2-40B4-BE49-F238E27FC236}">
                <a16:creationId xmlns:a16="http://schemas.microsoft.com/office/drawing/2014/main" id="{0A39EE56-FF04-4B22-BA0B-EB5A7C20E704}"/>
              </a:ext>
            </a:extLst>
          </p:cNvPr>
          <p:cNvSpPr>
            <a:spLocks noGrp="1"/>
          </p:cNvSpPr>
          <p:nvPr/>
        </p:nvSpPr>
        <p:spPr>
          <a:xfrm>
            <a:off x="7239000" y="4333875"/>
            <a:ext cx="2381250" cy="1000125"/>
          </a:xfrm>
          <a:prstGeom prst="roundRect">
            <a:avLst>
              <a:gd name="adj" fmla="val 13333"/>
            </a:avLst>
          </a:prstGeom>
          <a:solidFill>
            <a:srgbClr val="E3F2ED"/>
          </a:solidFill>
          <a:ln w="19050">
            <a:solidFill>
              <a:srgbClr val="2D7867"/>
            </a:solidFill>
            <a:prstDash val="solid"/>
          </a:ln>
        </p:spPr>
      </p:sp>
      <p:sp>
        <p:nvSpPr>
          <p:cNvPr id="19" name="U05-DG-003-callout_phase-title">
            <a:extLst>
              <a:ext uri="{FF2B5EF4-FFF2-40B4-BE49-F238E27FC236}">
                <a16:creationId xmlns:a16="http://schemas.microsoft.com/office/drawing/2014/main" id="{8C9D22B8-BE73-49F4-A731-F9876A0EDCA0}"/>
              </a:ext>
            </a:extLst>
          </p:cNvPr>
          <p:cNvSpPr>
            <a:spLocks noGrp="1"/>
          </p:cNvSpPr>
          <p:nvPr/>
        </p:nvSpPr>
        <p:spPr>
          <a:xfrm>
            <a:off x="7410450" y="4457700"/>
            <a:ext cx="2038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Fase relativa</a:t>
            </a:r>
          </a:p>
        </p:txBody>
      </p:sp>
      <p:sp>
        <p:nvSpPr>
          <p:cNvPr id="20" name="U05-DG-003-callout_phase-body">
            <a:extLst>
              <a:ext uri="{FF2B5EF4-FFF2-40B4-BE49-F238E27FC236}">
                <a16:creationId xmlns:a16="http://schemas.microsoft.com/office/drawing/2014/main" id="{0C096227-C4E9-46AD-9CA6-FED53F9BF7D2}"/>
              </a:ext>
            </a:extLst>
          </p:cNvPr>
          <p:cNvSpPr>
            <a:spLocks noGrp="1"/>
          </p:cNvSpPr>
          <p:nvPr/>
        </p:nvSpPr>
        <p:spPr>
          <a:xfrm>
            <a:off x="7410450" y="4781550"/>
            <a:ext cx="20383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φₓ(f) en rad</a:t>
            </a:r>
          </a:p>
        </p:txBody>
      </p:sp>
      <p:sp>
        <p:nvSpPr>
          <p:cNvPr id="21" name="U05-DG-003-callout_frequency">
            <a:extLst>
              <a:ext uri="{FF2B5EF4-FFF2-40B4-BE49-F238E27FC236}">
                <a16:creationId xmlns:a16="http://schemas.microsoft.com/office/drawing/2014/main" id="{61A59AE4-BA9E-4ABD-8C03-4A4AB73DE4A0}"/>
              </a:ext>
            </a:extLst>
          </p:cNvPr>
          <p:cNvSpPr>
            <a:spLocks noGrp="1"/>
          </p:cNvSpPr>
          <p:nvPr/>
        </p:nvSpPr>
        <p:spPr>
          <a:xfrm>
            <a:off x="9572625" y="1285875"/>
            <a:ext cx="1905000" cy="1000125"/>
          </a:xfrm>
          <a:prstGeom prst="roundRect">
            <a:avLst>
              <a:gd name="adj" fmla="val 13333"/>
            </a:avLst>
          </a:prstGeom>
          <a:solidFill>
            <a:srgbClr val="DDEFF5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22" name="U05-DG-003-callout_frequency-title">
            <a:extLst>
              <a:ext uri="{FF2B5EF4-FFF2-40B4-BE49-F238E27FC236}">
                <a16:creationId xmlns:a16="http://schemas.microsoft.com/office/drawing/2014/main" id="{7E412416-46CE-4711-A243-A2B8A34A4AB5}"/>
              </a:ext>
            </a:extLst>
          </p:cNvPr>
          <p:cNvSpPr>
            <a:spLocks noGrp="1"/>
          </p:cNvSpPr>
          <p:nvPr/>
        </p:nvSpPr>
        <p:spPr>
          <a:xfrm>
            <a:off x="9744075" y="1409700"/>
            <a:ext cx="1562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Variable</a:t>
            </a:r>
          </a:p>
        </p:txBody>
      </p:sp>
      <p:sp>
        <p:nvSpPr>
          <p:cNvPr id="23" name="U05-DG-003-callout_frequency-body">
            <a:extLst>
              <a:ext uri="{FF2B5EF4-FFF2-40B4-BE49-F238E27FC236}">
                <a16:creationId xmlns:a16="http://schemas.microsoft.com/office/drawing/2014/main" id="{244DBAE7-935D-4608-977A-2683559A166C}"/>
              </a:ext>
            </a:extLst>
          </p:cNvPr>
          <p:cNvSpPr>
            <a:spLocks noGrp="1"/>
          </p:cNvSpPr>
          <p:nvPr/>
        </p:nvSpPr>
        <p:spPr>
          <a:xfrm>
            <a:off x="9744075" y="1733550"/>
            <a:ext cx="15621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f en Hz</a:t>
            </a:r>
          </a:p>
        </p:txBody>
      </p:sp>
      <p:cxnSp>
        <p:nvCxnSpPr>
          <p:cNvPr id="54" name="U05-DG-003-lead_quantity"/>
          <p:cNvCxnSpPr>
            <a:stCxn id="12" idx="3"/>
            <a:endCxn id="4" idx="1"/>
          </p:cNvCxnSpPr>
          <p:nvPr/>
        </p:nvCxnSpPr>
        <p:spPr>
          <a:xfrm flipH="1">
            <a:off x="2152650" y="1785938"/>
            <a:ext cx="1266825" cy="1381125"/>
          </a:xfrm>
          <a:prstGeom prst="bentConnector4">
            <a:avLst/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cxnSp>
        <p:nvCxnSpPr>
          <p:cNvPr id="55" name="U05-DG-003-lead_magnitude"/>
          <p:cNvCxnSpPr>
            <a:stCxn id="15" idx="0"/>
            <a:endCxn id="8" idx="2"/>
          </p:cNvCxnSpPr>
          <p:nvPr/>
        </p:nvCxnSpPr>
        <p:spPr>
          <a:xfrm flipV="1">
            <a:off x="5143500" y="3667125"/>
            <a:ext cx="666750" cy="666750"/>
          </a:xfrm>
          <a:prstGeom prst="bentConnector4">
            <a:avLst>
              <a:gd name="adj1" fmla="val 0"/>
              <a:gd name="adj2" fmla="val 50000"/>
            </a:avLst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cxnSp>
        <p:nvCxnSpPr>
          <p:cNvPr id="56" name="U05-DG-003-lead_phase"/>
          <p:cNvCxnSpPr>
            <a:stCxn id="18" idx="0"/>
            <a:endCxn id="10" idx="2"/>
          </p:cNvCxnSpPr>
          <p:nvPr/>
        </p:nvCxnSpPr>
        <p:spPr>
          <a:xfrm flipH="1" flipV="1">
            <a:off x="8262938" y="3667125"/>
            <a:ext cx="166688" cy="666750"/>
          </a:xfrm>
          <a:prstGeom prst="bentConnector4">
            <a:avLst>
              <a:gd name="adj1" fmla="val 0"/>
              <a:gd name="adj2" fmla="val 50000"/>
            </a:avLst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cxnSp>
        <p:nvCxnSpPr>
          <p:cNvPr id="57" name="U05-DG-003-lead_frequency"/>
          <p:cNvCxnSpPr>
            <a:stCxn id="21" idx="1"/>
            <a:endCxn id="10" idx="3"/>
          </p:cNvCxnSpPr>
          <p:nvPr/>
        </p:nvCxnSpPr>
        <p:spPr>
          <a:xfrm flipH="1">
            <a:off x="9429750" y="1785938"/>
            <a:ext cx="142875" cy="1381125"/>
          </a:xfrm>
          <a:prstGeom prst="bentConnector4">
            <a:avLst/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sp>
        <p:nvSpPr>
          <p:cNvPr id="28" name="diagram-scale-note">
            <a:extLst>
              <a:ext uri="{FF2B5EF4-FFF2-40B4-BE49-F238E27FC236}">
                <a16:creationId xmlns:a16="http://schemas.microsoft.com/office/drawing/2014/main" id="{55013FD9-A171-4E8B-83DB-2DE422E6B4E0}"/>
              </a:ext>
            </a:extLst>
          </p:cNvPr>
          <p:cNvSpPr>
            <a:spLocks noGrp="1"/>
          </p:cNvSpPr>
          <p:nvPr/>
        </p:nvSpPr>
        <p:spPr>
          <a:xfrm>
            <a:off x="552450" y="5829300"/>
            <a:ext cx="3905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05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Esquema conceptual · no está a escala</a:t>
            </a:r>
          </a:p>
        </p:txBody>
      </p:sp>
      <p:sp>
        <p:nvSpPr>
          <p:cNvPr id="29" name="caption">
            <a:extLst>
              <a:ext uri="{FF2B5EF4-FFF2-40B4-BE49-F238E27FC236}">
                <a16:creationId xmlns:a16="http://schemas.microsoft.com/office/drawing/2014/main" id="{15F48A82-A1DD-4C6D-A3DA-F88968E78708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876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Magnitud y fase deben compartir convención y eje frecuencial.</a:t>
            </a:r>
          </a:p>
        </p:txBody>
      </p:sp>
      <p:sp>
        <p:nvSpPr>
          <p:cNvPr id="30" name="credit">
            <a:extLst>
              <a:ext uri="{FF2B5EF4-FFF2-40B4-BE49-F238E27FC236}">
                <a16:creationId xmlns:a16="http://schemas.microsoft.com/office/drawing/2014/main" id="{F9F03721-56EA-4BCC-87DA-F35841AD956D}"/>
              </a:ext>
            </a:extLst>
          </p:cNvPr>
          <p:cNvSpPr>
            <a:spLocks noGrp="1"/>
          </p:cNvSpPr>
          <p:nvPr/>
        </p:nvSpPr>
        <p:spPr>
          <a:xfrm>
            <a:off x="9382125" y="60769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5.4.3, ec. 5.7.</a:t>
            </a:r>
          </a:p>
        </p:txBody>
      </p:sp>
      <p:sp>
        <p:nvSpPr>
          <p:cNvPr id="24" name="slide-alt-summary" descr="Ecuación polar conectada a mini gráficos de magnitud y fase.">
            <a:extLst>
              <a:ext uri="{FF2B5EF4-FFF2-40B4-BE49-F238E27FC236}">
                <a16:creationId xmlns:a16="http://schemas.microsoft.com/office/drawing/2014/main" id="{212A784A-B4B5-D923-73A8-3F200F08C7A3}"/>
              </a:ext>
            </a:extLst>
          </p:cNvPr>
          <p:cNvSpPr/>
          <p:nvPr/>
        </p:nvSpPr>
        <p:spPr>
          <a:xfrm>
            <a:off x="12700" y="12700"/>
            <a:ext cx="12700" cy="12700"/>
          </a:xfrm>
          <a:prstGeom prst="rect">
            <a:avLst/>
          </a:prstGeom>
          <a:noFill/>
          <a:ln w="19050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yebrow">
            <a:extLst>
              <a:ext uri="{FF2B5EF4-FFF2-40B4-BE49-F238E27FC236}">
                <a16:creationId xmlns:a16="http://schemas.microsoft.com/office/drawing/2014/main" id="{4EAE9F7F-DEFA-45F5-84F7-B9F56B8A0028}"/>
              </a:ext>
            </a:extLst>
          </p:cNvPr>
          <p:cNvSpPr>
            <a:spLocks noGrp="1"/>
          </p:cNvSpPr>
          <p:nvPr/>
        </p:nvSpPr>
        <p:spPr>
          <a:xfrm>
            <a:off x="514350" y="2095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029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F21579A4-2492-4D3F-BC48-0C5CC32561F4}"/>
              </a:ext>
            </a:extLst>
          </p:cNvPr>
          <p:cNvSpPr>
            <a:spLocks noGrp="1"/>
          </p:cNvSpPr>
          <p:nvPr/>
        </p:nvSpPr>
        <p:spPr>
          <a:xfrm>
            <a:off x="495300" y="428625"/>
            <a:ext cx="11191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Fourier cambia la representación, no la señal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8DC172F0-8FD3-4A83-903D-9A95CF6255AC}"/>
              </a:ext>
            </a:extLst>
          </p:cNvPr>
          <p:cNvSpPr>
            <a:spLocks noGrp="1"/>
          </p:cNvSpPr>
          <p:nvPr/>
        </p:nvSpPr>
        <p:spPr>
          <a:xfrm>
            <a:off x="523875" y="971550"/>
            <a:ext cx="11001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Elegimos herramienta según el objeto.</a:t>
            </a:r>
          </a:p>
        </p:txBody>
      </p:sp>
      <p:sp>
        <p:nvSpPr>
          <p:cNvPr id="4" name="U05-DG-014-recap_object">
            <a:extLst>
              <a:ext uri="{FF2B5EF4-FFF2-40B4-BE49-F238E27FC236}">
                <a16:creationId xmlns:a16="http://schemas.microsoft.com/office/drawing/2014/main" id="{EA4D6A5E-DA3F-4D3D-98B3-DA88658FEA05}"/>
              </a:ext>
            </a:extLst>
          </p:cNvPr>
          <p:cNvSpPr>
            <a:spLocks noGrp="1"/>
          </p:cNvSpPr>
          <p:nvPr/>
        </p:nvSpPr>
        <p:spPr>
          <a:xfrm>
            <a:off x="857250" y="1714500"/>
            <a:ext cx="3048000" cy="1238250"/>
          </a:xfrm>
          <a:prstGeom prst="roundRect">
            <a:avLst>
              <a:gd name="adj" fmla="val 10769"/>
            </a:avLst>
          </a:prstGeom>
          <a:solidFill>
            <a:srgbClr val="EFF8FA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5" name="U05-DG-014-recap_object-title">
            <a:extLst>
              <a:ext uri="{FF2B5EF4-FFF2-40B4-BE49-F238E27FC236}">
                <a16:creationId xmlns:a16="http://schemas.microsoft.com/office/drawing/2014/main" id="{D2C975E7-7DC2-4383-9E82-5AAC8ED44CFE}"/>
              </a:ext>
            </a:extLst>
          </p:cNvPr>
          <p:cNvSpPr>
            <a:spLocks noGrp="1"/>
          </p:cNvSpPr>
          <p:nvPr/>
        </p:nvSpPr>
        <p:spPr>
          <a:xfrm>
            <a:off x="1028700" y="1838325"/>
            <a:ext cx="27051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Objeto</a:t>
            </a:r>
          </a:p>
        </p:txBody>
      </p:sp>
      <p:sp>
        <p:nvSpPr>
          <p:cNvPr id="6" name="U05-DG-014-recap_object-body">
            <a:extLst>
              <a:ext uri="{FF2B5EF4-FFF2-40B4-BE49-F238E27FC236}">
                <a16:creationId xmlns:a16="http://schemas.microsoft.com/office/drawing/2014/main" id="{EBDCF348-E1D3-42EF-BB6B-B75252488AB4}"/>
              </a:ext>
            </a:extLst>
          </p:cNvPr>
          <p:cNvSpPr>
            <a:spLocks noGrp="1"/>
          </p:cNvSpPr>
          <p:nvPr/>
        </p:nvSpPr>
        <p:spPr>
          <a:xfrm>
            <a:off x="1028700" y="2209800"/>
            <a:ext cx="27051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señal / sistema</a:t>
            </a:r>
          </a:p>
        </p:txBody>
      </p:sp>
      <p:sp>
        <p:nvSpPr>
          <p:cNvPr id="7" name="U05-DG-014-recap_axes">
            <a:extLst>
              <a:ext uri="{FF2B5EF4-FFF2-40B4-BE49-F238E27FC236}">
                <a16:creationId xmlns:a16="http://schemas.microsoft.com/office/drawing/2014/main" id="{CEAC26B3-9269-4289-8DA1-D48CCEDE3232}"/>
              </a:ext>
            </a:extLst>
          </p:cNvPr>
          <p:cNvSpPr>
            <a:spLocks noGrp="1"/>
          </p:cNvSpPr>
          <p:nvPr/>
        </p:nvSpPr>
        <p:spPr>
          <a:xfrm>
            <a:off x="4572000" y="1714500"/>
            <a:ext cx="3048000" cy="1238250"/>
          </a:xfrm>
          <a:prstGeom prst="roundRect">
            <a:avLst>
              <a:gd name="adj" fmla="val 10769"/>
            </a:avLst>
          </a:prstGeom>
          <a:solidFill>
            <a:srgbClr val="F3F6F8"/>
          </a:solidFill>
          <a:ln w="19050">
            <a:solidFill>
              <a:srgbClr val="8291A3"/>
            </a:solidFill>
            <a:prstDash val="solid"/>
          </a:ln>
        </p:spPr>
      </p:sp>
      <p:sp>
        <p:nvSpPr>
          <p:cNvPr id="8" name="U05-DG-014-recap_axes-title">
            <a:extLst>
              <a:ext uri="{FF2B5EF4-FFF2-40B4-BE49-F238E27FC236}">
                <a16:creationId xmlns:a16="http://schemas.microsoft.com/office/drawing/2014/main" id="{02AC18B3-6A62-4F7C-ACF8-13A333459C8E}"/>
              </a:ext>
            </a:extLst>
          </p:cNvPr>
          <p:cNvSpPr>
            <a:spLocks noGrp="1"/>
          </p:cNvSpPr>
          <p:nvPr/>
        </p:nvSpPr>
        <p:spPr>
          <a:xfrm>
            <a:off x="4743450" y="1838325"/>
            <a:ext cx="27051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Ejes</a:t>
            </a:r>
          </a:p>
        </p:txBody>
      </p:sp>
      <p:sp>
        <p:nvSpPr>
          <p:cNvPr id="9" name="U05-DG-014-recap_axes-body">
            <a:extLst>
              <a:ext uri="{FF2B5EF4-FFF2-40B4-BE49-F238E27FC236}">
                <a16:creationId xmlns:a16="http://schemas.microsoft.com/office/drawing/2014/main" id="{E989F88C-6264-4E6D-960F-DF4F7CB103AA}"/>
              </a:ext>
            </a:extLst>
          </p:cNvPr>
          <p:cNvSpPr>
            <a:spLocks noGrp="1"/>
          </p:cNvSpPr>
          <p:nvPr/>
        </p:nvSpPr>
        <p:spPr>
          <a:xfrm>
            <a:off x="4743450" y="2209800"/>
            <a:ext cx="27051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t / f</a:t>
            </a:r>
          </a:p>
        </p:txBody>
      </p:sp>
      <p:sp>
        <p:nvSpPr>
          <p:cNvPr id="10" name="U05-DG-014-recap_units">
            <a:extLst>
              <a:ext uri="{FF2B5EF4-FFF2-40B4-BE49-F238E27FC236}">
                <a16:creationId xmlns:a16="http://schemas.microsoft.com/office/drawing/2014/main" id="{66019CBF-54C8-4911-BF0D-AB2871E12F28}"/>
              </a:ext>
            </a:extLst>
          </p:cNvPr>
          <p:cNvSpPr>
            <a:spLocks noGrp="1"/>
          </p:cNvSpPr>
          <p:nvPr/>
        </p:nvSpPr>
        <p:spPr>
          <a:xfrm>
            <a:off x="8286750" y="1714500"/>
            <a:ext cx="3048000" cy="1238250"/>
          </a:xfrm>
          <a:prstGeom prst="roundRect">
            <a:avLst>
              <a:gd name="adj" fmla="val 10769"/>
            </a:avLst>
          </a:prstGeom>
          <a:solidFill>
            <a:srgbClr val="F3F6F8"/>
          </a:solidFill>
          <a:ln w="19050">
            <a:solidFill>
              <a:srgbClr val="8291A3"/>
            </a:solidFill>
            <a:prstDash val="solid"/>
          </a:ln>
        </p:spPr>
      </p:sp>
      <p:sp>
        <p:nvSpPr>
          <p:cNvPr id="11" name="U05-DG-014-recap_units-title">
            <a:extLst>
              <a:ext uri="{FF2B5EF4-FFF2-40B4-BE49-F238E27FC236}">
                <a16:creationId xmlns:a16="http://schemas.microsoft.com/office/drawing/2014/main" id="{AA5E6511-9A17-4A6C-AA64-57BCD6E71ED9}"/>
              </a:ext>
            </a:extLst>
          </p:cNvPr>
          <p:cNvSpPr>
            <a:spLocks noGrp="1"/>
          </p:cNvSpPr>
          <p:nvPr/>
        </p:nvSpPr>
        <p:spPr>
          <a:xfrm>
            <a:off x="8458200" y="1838325"/>
            <a:ext cx="27051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Unidades</a:t>
            </a:r>
          </a:p>
        </p:txBody>
      </p:sp>
      <p:sp>
        <p:nvSpPr>
          <p:cNvPr id="12" name="U05-DG-014-recap_units-body">
            <a:extLst>
              <a:ext uri="{FF2B5EF4-FFF2-40B4-BE49-F238E27FC236}">
                <a16:creationId xmlns:a16="http://schemas.microsoft.com/office/drawing/2014/main" id="{5539F3FE-E603-4CA6-AB10-0BD96A526209}"/>
              </a:ext>
            </a:extLst>
          </p:cNvPr>
          <p:cNvSpPr>
            <a:spLocks noGrp="1"/>
          </p:cNvSpPr>
          <p:nvPr/>
        </p:nvSpPr>
        <p:spPr>
          <a:xfrm>
            <a:off x="8458200" y="2209800"/>
            <a:ext cx="27051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s · Hz · Pa · dB</a:t>
            </a:r>
          </a:p>
        </p:txBody>
      </p:sp>
      <p:sp>
        <p:nvSpPr>
          <p:cNvPr id="13" name="U05-DG-014-recap_params">
            <a:extLst>
              <a:ext uri="{FF2B5EF4-FFF2-40B4-BE49-F238E27FC236}">
                <a16:creationId xmlns:a16="http://schemas.microsoft.com/office/drawing/2014/main" id="{A8A66C24-BA21-4EBF-B447-36428520EF4A}"/>
              </a:ext>
            </a:extLst>
          </p:cNvPr>
          <p:cNvSpPr>
            <a:spLocks noGrp="1"/>
          </p:cNvSpPr>
          <p:nvPr/>
        </p:nvSpPr>
        <p:spPr>
          <a:xfrm>
            <a:off x="2667000" y="3905250"/>
            <a:ext cx="3048000" cy="1238250"/>
          </a:xfrm>
          <a:prstGeom prst="roundRect">
            <a:avLst>
              <a:gd name="adj" fmla="val 10769"/>
            </a:avLst>
          </a:prstGeom>
          <a:solidFill>
            <a:srgbClr val="DDEFF5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14" name="U05-DG-014-recap_params-title">
            <a:extLst>
              <a:ext uri="{FF2B5EF4-FFF2-40B4-BE49-F238E27FC236}">
                <a16:creationId xmlns:a16="http://schemas.microsoft.com/office/drawing/2014/main" id="{C5D79942-CD00-4ED5-B52A-6A9099665281}"/>
              </a:ext>
            </a:extLst>
          </p:cNvPr>
          <p:cNvSpPr>
            <a:spLocks noGrp="1"/>
          </p:cNvSpPr>
          <p:nvPr/>
        </p:nvSpPr>
        <p:spPr>
          <a:xfrm>
            <a:off x="2838450" y="4029075"/>
            <a:ext cx="27051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Parámetros</a:t>
            </a:r>
          </a:p>
        </p:txBody>
      </p:sp>
      <p:sp>
        <p:nvSpPr>
          <p:cNvPr id="15" name="U05-DG-014-recap_params-body">
            <a:extLst>
              <a:ext uri="{FF2B5EF4-FFF2-40B4-BE49-F238E27FC236}">
                <a16:creationId xmlns:a16="http://schemas.microsoft.com/office/drawing/2014/main" id="{006788A2-7CA3-4051-B62A-8E3E254B5121}"/>
              </a:ext>
            </a:extLst>
          </p:cNvPr>
          <p:cNvSpPr>
            <a:spLocks noGrp="1"/>
          </p:cNvSpPr>
          <p:nvPr/>
        </p:nvSpPr>
        <p:spPr>
          <a:xfrm>
            <a:off x="2838450" y="4400550"/>
            <a:ext cx="27051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ventana · N · fₛ</a:t>
            </a:r>
          </a:p>
        </p:txBody>
      </p:sp>
      <p:sp>
        <p:nvSpPr>
          <p:cNvPr id="16" name="U05-DG-014-recap_limit">
            <a:extLst>
              <a:ext uri="{FF2B5EF4-FFF2-40B4-BE49-F238E27FC236}">
                <a16:creationId xmlns:a16="http://schemas.microsoft.com/office/drawing/2014/main" id="{47C08ECB-2743-4261-A1CD-28A1D18B716E}"/>
              </a:ext>
            </a:extLst>
          </p:cNvPr>
          <p:cNvSpPr>
            <a:spLocks noGrp="1"/>
          </p:cNvSpPr>
          <p:nvPr/>
        </p:nvSpPr>
        <p:spPr>
          <a:xfrm>
            <a:off x="6477000" y="3905250"/>
            <a:ext cx="3048000" cy="1238250"/>
          </a:xfrm>
          <a:prstGeom prst="roundRect">
            <a:avLst>
              <a:gd name="adj" fmla="val 10769"/>
            </a:avLst>
          </a:prstGeom>
          <a:solidFill>
            <a:srgbClr val="E3F2ED"/>
          </a:solidFill>
          <a:ln w="19050">
            <a:solidFill>
              <a:srgbClr val="2D7867"/>
            </a:solidFill>
            <a:prstDash val="solid"/>
          </a:ln>
        </p:spPr>
      </p:sp>
      <p:sp>
        <p:nvSpPr>
          <p:cNvPr id="17" name="U05-DG-014-recap_limit-title">
            <a:extLst>
              <a:ext uri="{FF2B5EF4-FFF2-40B4-BE49-F238E27FC236}">
                <a16:creationId xmlns:a16="http://schemas.microsoft.com/office/drawing/2014/main" id="{F09F87A0-0F4A-4409-A5AE-489785EC4523}"/>
              </a:ext>
            </a:extLst>
          </p:cNvPr>
          <p:cNvSpPr>
            <a:spLocks noGrp="1"/>
          </p:cNvSpPr>
          <p:nvPr/>
        </p:nvSpPr>
        <p:spPr>
          <a:xfrm>
            <a:off x="6648450" y="4029075"/>
            <a:ext cx="27051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Límite</a:t>
            </a:r>
          </a:p>
        </p:txBody>
      </p:sp>
      <p:sp>
        <p:nvSpPr>
          <p:cNvPr id="18" name="U05-DG-014-recap_limit-body">
            <a:extLst>
              <a:ext uri="{FF2B5EF4-FFF2-40B4-BE49-F238E27FC236}">
                <a16:creationId xmlns:a16="http://schemas.microsoft.com/office/drawing/2014/main" id="{A4D982FB-1A8C-469B-ABF8-1D83DC19867E}"/>
              </a:ext>
            </a:extLst>
          </p:cNvPr>
          <p:cNvSpPr>
            <a:spLocks noGrp="1"/>
          </p:cNvSpPr>
          <p:nvPr/>
        </p:nvSpPr>
        <p:spPr>
          <a:xfrm>
            <a:off x="6648450" y="4400550"/>
            <a:ext cx="27051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alcance declarado</a:t>
            </a:r>
          </a:p>
        </p:txBody>
      </p:sp>
      <p:sp>
        <p:nvSpPr>
          <p:cNvPr id="19" name="diagram-scale-note">
            <a:extLst>
              <a:ext uri="{FF2B5EF4-FFF2-40B4-BE49-F238E27FC236}">
                <a16:creationId xmlns:a16="http://schemas.microsoft.com/office/drawing/2014/main" id="{56BF1801-5FB8-43DC-B553-188C0E0F7E34}"/>
              </a:ext>
            </a:extLst>
          </p:cNvPr>
          <p:cNvSpPr>
            <a:spLocks noGrp="1"/>
          </p:cNvSpPr>
          <p:nvPr/>
        </p:nvSpPr>
        <p:spPr>
          <a:xfrm>
            <a:off x="552450" y="5829300"/>
            <a:ext cx="3905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05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Esquema conceptual · no está a escala</a:t>
            </a:r>
          </a:p>
        </p:txBody>
      </p:sp>
      <p:sp>
        <p:nvSpPr>
          <p:cNvPr id="20" name="caption">
            <a:extLst>
              <a:ext uri="{FF2B5EF4-FFF2-40B4-BE49-F238E27FC236}">
                <a16:creationId xmlns:a16="http://schemas.microsoft.com/office/drawing/2014/main" id="{2705F94F-D837-447D-973C-E2626CCF5573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876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Objeto, herramienta y salida deben nombrarse por separado.</a:t>
            </a:r>
          </a:p>
        </p:txBody>
      </p:sp>
      <p:sp>
        <p:nvSpPr>
          <p:cNvPr id="21" name="credit">
            <a:extLst>
              <a:ext uri="{FF2B5EF4-FFF2-40B4-BE49-F238E27FC236}">
                <a16:creationId xmlns:a16="http://schemas.microsoft.com/office/drawing/2014/main" id="{40F64267-8325-441A-B800-D361B2C79AE0}"/>
              </a:ext>
            </a:extLst>
          </p:cNvPr>
          <p:cNvSpPr>
            <a:spLocks noGrp="1"/>
          </p:cNvSpPr>
          <p:nvPr/>
        </p:nvSpPr>
        <p:spPr>
          <a:xfrm>
            <a:off x="9382125" y="60769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5.4; BR.</a:t>
            </a:r>
          </a:p>
        </p:txBody>
      </p:sp>
      <p:sp>
        <p:nvSpPr>
          <p:cNvPr id="23" name="slide-alt-summary" descr="Mapa de cuatro herramientas con su objeto y un error frecuente asociado.">
            <a:extLst>
              <a:ext uri="{FF2B5EF4-FFF2-40B4-BE49-F238E27FC236}">
                <a16:creationId xmlns:a16="http://schemas.microsoft.com/office/drawing/2014/main" id="{0F9AE6EA-9132-83F4-7F93-105F98CF64BB}"/>
              </a:ext>
            </a:extLst>
          </p:cNvPr>
          <p:cNvSpPr/>
          <p:nvPr/>
        </p:nvSpPr>
        <p:spPr>
          <a:xfrm>
            <a:off x="12700" y="12700"/>
            <a:ext cx="12700" cy="12700"/>
          </a:xfrm>
          <a:prstGeom prst="rect">
            <a:avLst/>
          </a:prstGeom>
          <a:noFill/>
          <a:ln w="19050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2020363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yebrow">
            <a:extLst>
              <a:ext uri="{FF2B5EF4-FFF2-40B4-BE49-F238E27FC236}">
                <a16:creationId xmlns:a16="http://schemas.microsoft.com/office/drawing/2014/main" id="{C0D2239F-FC8F-45C6-BBF5-0D000A9980B3}"/>
              </a:ext>
            </a:extLst>
          </p:cNvPr>
          <p:cNvSpPr>
            <a:spLocks noGrp="1"/>
          </p:cNvSpPr>
          <p:nvPr/>
        </p:nvSpPr>
        <p:spPr>
          <a:xfrm>
            <a:off x="514350" y="2095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1" i="0">
                <a:solidFill>
                  <a:srgbClr val="B9D8E7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B9D8E7"/>
                </a:solidFill>
                <a:latin typeface="Calibri"/>
                <a:ea typeface="Calibri"/>
                <a:cs typeface="Calibri"/>
              </a:rPr>
              <a:t>UNIDAD 5 · 030</a:t>
            </a:r>
          </a:p>
        </p:txBody>
      </p:sp>
      <p:sp>
        <p:nvSpPr>
          <p:cNvPr id="2" name="divider-title">
            <a:extLst>
              <a:ext uri="{FF2B5EF4-FFF2-40B4-BE49-F238E27FC236}">
                <a16:creationId xmlns:a16="http://schemas.microsoft.com/office/drawing/2014/main" id="{28D1E8F8-7301-4FE3-AAB4-8A1FBE04D94C}"/>
              </a:ext>
            </a:extLst>
          </p:cNvPr>
          <p:cNvSpPr>
            <a:spLocks noGrp="1"/>
          </p:cNvSpPr>
          <p:nvPr/>
        </p:nvSpPr>
        <p:spPr>
          <a:xfrm>
            <a:off x="714375" y="2190750"/>
            <a:ext cx="104775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lnSpc>
                <a:spcPct val="102000"/>
              </a:lnSpc>
              <a:buNone/>
              <a:defRPr sz="4050" b="1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4050" b="1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De la señal continua a un registro digital</a:t>
            </a:r>
          </a:p>
        </p:txBody>
      </p:sp>
      <p:sp>
        <p:nvSpPr>
          <p:cNvPr id="3" name="divider-subtitle">
            <a:extLst>
              <a:ext uri="{FF2B5EF4-FFF2-40B4-BE49-F238E27FC236}">
                <a16:creationId xmlns:a16="http://schemas.microsoft.com/office/drawing/2014/main" id="{85A6A662-813D-45D6-99BD-8284982B2A91}"/>
              </a:ext>
            </a:extLst>
          </p:cNvPr>
          <p:cNvSpPr>
            <a:spLocks noGrp="1"/>
          </p:cNvSpPr>
          <p:nvPr/>
        </p:nvSpPr>
        <p:spPr>
          <a:xfrm>
            <a:off x="1714500" y="3429000"/>
            <a:ext cx="8763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100" b="0" i="0">
                <a:solidFill>
                  <a:srgbClr val="D6E4EA"/>
                </a:solidFill>
                <a:latin typeface="Calibri"/>
                <a:ea typeface="Calibri"/>
                <a:cs typeface="Calibri"/>
              </a:defRPr>
            </a:pPr>
            <a:r>
              <a:rPr sz="2100" b="0" i="0">
                <a:solidFill>
                  <a:srgbClr val="D6E4EA"/>
                </a:solidFill>
                <a:latin typeface="Calibri"/>
                <a:ea typeface="Calibri"/>
                <a:cs typeface="Calibri"/>
              </a:rPr>
              <a:t>Entre el fenómeno y el gráfico hay decisiones de adquisición.</a:t>
            </a:r>
          </a:p>
        </p:txBody>
      </p:sp>
      <p:sp>
        <p:nvSpPr>
          <p:cNvPr id="4" name="divider-content">
            <a:extLst>
              <a:ext uri="{FF2B5EF4-FFF2-40B4-BE49-F238E27FC236}">
                <a16:creationId xmlns:a16="http://schemas.microsoft.com/office/drawing/2014/main" id="{DE9D716B-A7D6-405E-BA20-2B220278301F}"/>
              </a:ext>
            </a:extLst>
          </p:cNvPr>
          <p:cNvSpPr>
            <a:spLocks noGrp="1"/>
          </p:cNvSpPr>
          <p:nvPr/>
        </p:nvSpPr>
        <p:spPr>
          <a:xfrm>
            <a:off x="2190750" y="4333875"/>
            <a:ext cx="781050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ctr">
              <a:lnSpc>
                <a:spcPct val="102000"/>
              </a:lnSpc>
              <a:buNone/>
              <a:defRPr sz="1875" b="0" i="0">
                <a:solidFill>
                  <a:srgbClr val="BDD0DA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BDD0DA"/>
                </a:solidFill>
                <a:latin typeface="Calibri"/>
                <a:ea typeface="Calibri"/>
                <a:cs typeface="Calibri"/>
              </a:rPr>
              <a:t>Presión acústica → transducción → muestras → análisis.</a:t>
            </a:r>
          </a:p>
        </p:txBody>
      </p:sp>
      <p:sp>
        <p:nvSpPr>
          <p:cNvPr id="6" name="slide-alt-summary" descr="Cadena de cuatro etapas desde presión continua hasta análisis digital.">
            <a:extLst>
              <a:ext uri="{FF2B5EF4-FFF2-40B4-BE49-F238E27FC236}">
                <a16:creationId xmlns:a16="http://schemas.microsoft.com/office/drawing/2014/main" id="{76EDCEAD-1B4E-7BC3-F246-E6C55D91ED6B}"/>
              </a:ext>
            </a:extLst>
          </p:cNvPr>
          <p:cNvSpPr/>
          <p:nvPr/>
        </p:nvSpPr>
        <p:spPr>
          <a:xfrm>
            <a:off x="12700" y="12700"/>
            <a:ext cx="12700" cy="12700"/>
          </a:xfrm>
          <a:prstGeom prst="rect">
            <a:avLst/>
          </a:prstGeom>
          <a:noFill/>
          <a:ln w="19050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eyebrow">
            <a:extLst>
              <a:ext uri="{FF2B5EF4-FFF2-40B4-BE49-F238E27FC236}">
                <a16:creationId xmlns:a16="http://schemas.microsoft.com/office/drawing/2014/main" id="{5F77E0E8-E97A-4C3D-982F-6115FB2427D1}"/>
              </a:ext>
            </a:extLst>
          </p:cNvPr>
          <p:cNvSpPr>
            <a:spLocks noGrp="1"/>
          </p:cNvSpPr>
          <p:nvPr/>
        </p:nvSpPr>
        <p:spPr>
          <a:xfrm>
            <a:off x="514350" y="2095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031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3B6EECCF-616B-40CB-ADBF-392F9AA2990C}"/>
              </a:ext>
            </a:extLst>
          </p:cNvPr>
          <p:cNvSpPr>
            <a:spLocks noGrp="1"/>
          </p:cNvSpPr>
          <p:nvPr/>
        </p:nvSpPr>
        <p:spPr>
          <a:xfrm>
            <a:off x="495300" y="428625"/>
            <a:ext cx="11191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El micrófono no entrega una FFT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8FF12C61-554B-4978-86AB-94AEA90D05FE}"/>
              </a:ext>
            </a:extLst>
          </p:cNvPr>
          <p:cNvSpPr>
            <a:spLocks noGrp="1"/>
          </p:cNvSpPr>
          <p:nvPr/>
        </p:nvSpPr>
        <p:spPr>
          <a:xfrm>
            <a:off x="523875" y="971550"/>
            <a:ext cx="11001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Transducción, muestreo y cálculo son operaciones distintas.</a:t>
            </a:r>
          </a:p>
        </p:txBody>
      </p:sp>
      <p:sp>
        <p:nvSpPr>
          <p:cNvPr id="4" name="U05-DG-004-capture">
            <a:extLst>
              <a:ext uri="{FF2B5EF4-FFF2-40B4-BE49-F238E27FC236}">
                <a16:creationId xmlns:a16="http://schemas.microsoft.com/office/drawing/2014/main" id="{8D3D85AC-B54B-4CDF-88E0-EBD570F9E494}"/>
              </a:ext>
            </a:extLst>
          </p:cNvPr>
          <p:cNvSpPr>
            <a:spLocks noGrp="1"/>
          </p:cNvSpPr>
          <p:nvPr/>
        </p:nvSpPr>
        <p:spPr>
          <a:xfrm>
            <a:off x="857250" y="1476375"/>
            <a:ext cx="2857500" cy="1238250"/>
          </a:xfrm>
          <a:prstGeom prst="roundRect">
            <a:avLst>
              <a:gd name="adj" fmla="val 10769"/>
            </a:avLst>
          </a:prstGeom>
          <a:solidFill>
            <a:srgbClr val="EFF8FA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5" name="U05-DG-004-capture-title">
            <a:extLst>
              <a:ext uri="{FF2B5EF4-FFF2-40B4-BE49-F238E27FC236}">
                <a16:creationId xmlns:a16="http://schemas.microsoft.com/office/drawing/2014/main" id="{623B78FA-048C-44BE-B5FC-99CF7BE00E5F}"/>
              </a:ext>
            </a:extLst>
          </p:cNvPr>
          <p:cNvSpPr>
            <a:spLocks noGrp="1"/>
          </p:cNvSpPr>
          <p:nvPr/>
        </p:nvSpPr>
        <p:spPr>
          <a:xfrm>
            <a:off x="1028700" y="1600200"/>
            <a:ext cx="25146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1 · Captura</a:t>
            </a:r>
          </a:p>
        </p:txBody>
      </p:sp>
      <p:sp>
        <p:nvSpPr>
          <p:cNvPr id="6" name="U05-DG-004-capture-body">
            <a:extLst>
              <a:ext uri="{FF2B5EF4-FFF2-40B4-BE49-F238E27FC236}">
                <a16:creationId xmlns:a16="http://schemas.microsoft.com/office/drawing/2014/main" id="{8EAB1142-BE8C-48EF-B543-2A74071CC3C6}"/>
              </a:ext>
            </a:extLst>
          </p:cNvPr>
          <p:cNvSpPr>
            <a:spLocks noGrp="1"/>
          </p:cNvSpPr>
          <p:nvPr/>
        </p:nvSpPr>
        <p:spPr>
          <a:xfrm>
            <a:off x="1028700" y="1971675"/>
            <a:ext cx="25146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p(t)</a:t>
            </a:r>
          </a:p>
        </p:txBody>
      </p:sp>
      <p:sp>
        <p:nvSpPr>
          <p:cNvPr id="7" name="U05-DG-004-samples">
            <a:extLst>
              <a:ext uri="{FF2B5EF4-FFF2-40B4-BE49-F238E27FC236}">
                <a16:creationId xmlns:a16="http://schemas.microsoft.com/office/drawing/2014/main" id="{71B33B54-59E1-44A3-99F2-8A018AA48844}"/>
              </a:ext>
            </a:extLst>
          </p:cNvPr>
          <p:cNvSpPr>
            <a:spLocks noGrp="1"/>
          </p:cNvSpPr>
          <p:nvPr/>
        </p:nvSpPr>
        <p:spPr>
          <a:xfrm>
            <a:off x="4667250" y="1476375"/>
            <a:ext cx="2857500" cy="1238250"/>
          </a:xfrm>
          <a:prstGeom prst="roundRect">
            <a:avLst>
              <a:gd name="adj" fmla="val 10769"/>
            </a:avLst>
          </a:prstGeom>
          <a:solidFill>
            <a:srgbClr val="EFF8FA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8" name="U05-DG-004-samples-title">
            <a:extLst>
              <a:ext uri="{FF2B5EF4-FFF2-40B4-BE49-F238E27FC236}">
                <a16:creationId xmlns:a16="http://schemas.microsoft.com/office/drawing/2014/main" id="{1B841DD8-05A1-4E12-8A9A-F403B672B905}"/>
              </a:ext>
            </a:extLst>
          </p:cNvPr>
          <p:cNvSpPr>
            <a:spLocks noGrp="1"/>
          </p:cNvSpPr>
          <p:nvPr/>
        </p:nvSpPr>
        <p:spPr>
          <a:xfrm>
            <a:off x="4838700" y="1600200"/>
            <a:ext cx="25146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2 · Muestras</a:t>
            </a:r>
          </a:p>
        </p:txBody>
      </p:sp>
      <p:sp>
        <p:nvSpPr>
          <p:cNvPr id="9" name="U05-DG-004-samples-body">
            <a:extLst>
              <a:ext uri="{FF2B5EF4-FFF2-40B4-BE49-F238E27FC236}">
                <a16:creationId xmlns:a16="http://schemas.microsoft.com/office/drawing/2014/main" id="{9FEDF426-D264-419D-B153-D3B8CDEDC5E2}"/>
              </a:ext>
            </a:extLst>
          </p:cNvPr>
          <p:cNvSpPr>
            <a:spLocks noGrp="1"/>
          </p:cNvSpPr>
          <p:nvPr/>
        </p:nvSpPr>
        <p:spPr>
          <a:xfrm>
            <a:off x="4838700" y="1971675"/>
            <a:ext cx="25146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fₛ en Hz</a:t>
            </a:r>
          </a:p>
        </p:txBody>
      </p:sp>
      <p:sp>
        <p:nvSpPr>
          <p:cNvPr id="10" name="U05-DG-004-segment">
            <a:extLst>
              <a:ext uri="{FF2B5EF4-FFF2-40B4-BE49-F238E27FC236}">
                <a16:creationId xmlns:a16="http://schemas.microsoft.com/office/drawing/2014/main" id="{76335EEA-B9A2-463D-B612-B0F4C59C0A19}"/>
              </a:ext>
            </a:extLst>
          </p:cNvPr>
          <p:cNvSpPr>
            <a:spLocks noGrp="1"/>
          </p:cNvSpPr>
          <p:nvPr/>
        </p:nvSpPr>
        <p:spPr>
          <a:xfrm>
            <a:off x="8477250" y="1476375"/>
            <a:ext cx="2857500" cy="1238250"/>
          </a:xfrm>
          <a:prstGeom prst="roundRect">
            <a:avLst>
              <a:gd name="adj" fmla="val 10769"/>
            </a:avLst>
          </a:prstGeom>
          <a:solidFill>
            <a:srgbClr val="F3F6F8"/>
          </a:solidFill>
          <a:ln w="19050">
            <a:solidFill>
              <a:srgbClr val="8291A3"/>
            </a:solidFill>
            <a:prstDash val="solid"/>
          </a:ln>
        </p:spPr>
      </p:sp>
      <p:sp>
        <p:nvSpPr>
          <p:cNvPr id="11" name="U05-DG-004-segment-title">
            <a:extLst>
              <a:ext uri="{FF2B5EF4-FFF2-40B4-BE49-F238E27FC236}">
                <a16:creationId xmlns:a16="http://schemas.microsoft.com/office/drawing/2014/main" id="{38B0AE02-1FAC-4109-9B61-C56DD42E4DE1}"/>
              </a:ext>
            </a:extLst>
          </p:cNvPr>
          <p:cNvSpPr>
            <a:spLocks noGrp="1"/>
          </p:cNvSpPr>
          <p:nvPr/>
        </p:nvSpPr>
        <p:spPr>
          <a:xfrm>
            <a:off x="8648700" y="1600200"/>
            <a:ext cx="25146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3 · Segmento</a:t>
            </a:r>
          </a:p>
        </p:txBody>
      </p:sp>
      <p:sp>
        <p:nvSpPr>
          <p:cNvPr id="12" name="U05-DG-004-segment-body">
            <a:extLst>
              <a:ext uri="{FF2B5EF4-FFF2-40B4-BE49-F238E27FC236}">
                <a16:creationId xmlns:a16="http://schemas.microsoft.com/office/drawing/2014/main" id="{84A3675B-C0E8-494B-9876-6AEBF95B16BD}"/>
              </a:ext>
            </a:extLst>
          </p:cNvPr>
          <p:cNvSpPr>
            <a:spLocks noGrp="1"/>
          </p:cNvSpPr>
          <p:nvPr/>
        </p:nvSpPr>
        <p:spPr>
          <a:xfrm>
            <a:off x="8648700" y="1971675"/>
            <a:ext cx="25146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N muestras</a:t>
            </a:r>
          </a:p>
        </p:txBody>
      </p:sp>
      <p:sp>
        <p:nvSpPr>
          <p:cNvPr id="13" name="U05-DG-004-window">
            <a:extLst>
              <a:ext uri="{FF2B5EF4-FFF2-40B4-BE49-F238E27FC236}">
                <a16:creationId xmlns:a16="http://schemas.microsoft.com/office/drawing/2014/main" id="{DEAEC34B-C079-479D-9B6F-BC81302A71D9}"/>
              </a:ext>
            </a:extLst>
          </p:cNvPr>
          <p:cNvSpPr>
            <a:spLocks noGrp="1"/>
          </p:cNvSpPr>
          <p:nvPr/>
        </p:nvSpPr>
        <p:spPr>
          <a:xfrm>
            <a:off x="8477250" y="3714750"/>
            <a:ext cx="2857500" cy="1238250"/>
          </a:xfrm>
          <a:prstGeom prst="roundRect">
            <a:avLst>
              <a:gd name="adj" fmla="val 10769"/>
            </a:avLst>
          </a:prstGeom>
          <a:solidFill>
            <a:srgbClr val="DDEFF5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14" name="U05-DG-004-window-title">
            <a:extLst>
              <a:ext uri="{FF2B5EF4-FFF2-40B4-BE49-F238E27FC236}">
                <a16:creationId xmlns:a16="http://schemas.microsoft.com/office/drawing/2014/main" id="{3C1F825F-5B55-4137-AA87-0C51F8451E67}"/>
              </a:ext>
            </a:extLst>
          </p:cNvPr>
          <p:cNvSpPr>
            <a:spLocks noGrp="1"/>
          </p:cNvSpPr>
          <p:nvPr/>
        </p:nvSpPr>
        <p:spPr>
          <a:xfrm>
            <a:off x="8648700" y="3838575"/>
            <a:ext cx="25146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4 · Ventana</a:t>
            </a:r>
          </a:p>
        </p:txBody>
      </p:sp>
      <p:sp>
        <p:nvSpPr>
          <p:cNvPr id="15" name="U05-DG-004-window-body">
            <a:extLst>
              <a:ext uri="{FF2B5EF4-FFF2-40B4-BE49-F238E27FC236}">
                <a16:creationId xmlns:a16="http://schemas.microsoft.com/office/drawing/2014/main" id="{3E3AA7FC-D475-424A-BBB4-73C643C98A9B}"/>
              </a:ext>
            </a:extLst>
          </p:cNvPr>
          <p:cNvSpPr>
            <a:spLocks noGrp="1"/>
          </p:cNvSpPr>
          <p:nvPr/>
        </p:nvSpPr>
        <p:spPr>
          <a:xfrm>
            <a:off x="8648700" y="4210050"/>
            <a:ext cx="25146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recorte declarado</a:t>
            </a:r>
          </a:p>
        </p:txBody>
      </p:sp>
      <p:sp>
        <p:nvSpPr>
          <p:cNvPr id="16" name="U05-DG-004-dft">
            <a:extLst>
              <a:ext uri="{FF2B5EF4-FFF2-40B4-BE49-F238E27FC236}">
                <a16:creationId xmlns:a16="http://schemas.microsoft.com/office/drawing/2014/main" id="{4EC2A8FF-0817-446B-8BF0-33886F79873C}"/>
              </a:ext>
            </a:extLst>
          </p:cNvPr>
          <p:cNvSpPr>
            <a:spLocks noGrp="1"/>
          </p:cNvSpPr>
          <p:nvPr/>
        </p:nvSpPr>
        <p:spPr>
          <a:xfrm>
            <a:off x="4667250" y="3714750"/>
            <a:ext cx="2857500" cy="1238250"/>
          </a:xfrm>
          <a:prstGeom prst="roundRect">
            <a:avLst>
              <a:gd name="adj" fmla="val 10769"/>
            </a:avLst>
          </a:prstGeom>
          <a:solidFill>
            <a:srgbClr val="F3F6F8"/>
          </a:solidFill>
          <a:ln w="19050">
            <a:solidFill>
              <a:srgbClr val="8291A3"/>
            </a:solidFill>
            <a:prstDash val="solid"/>
          </a:ln>
        </p:spPr>
      </p:sp>
      <p:sp>
        <p:nvSpPr>
          <p:cNvPr id="17" name="U05-DG-004-dft-title">
            <a:extLst>
              <a:ext uri="{FF2B5EF4-FFF2-40B4-BE49-F238E27FC236}">
                <a16:creationId xmlns:a16="http://schemas.microsoft.com/office/drawing/2014/main" id="{2CF27216-1D5B-4293-8558-1454616F87DB}"/>
              </a:ext>
            </a:extLst>
          </p:cNvPr>
          <p:cNvSpPr>
            <a:spLocks noGrp="1"/>
          </p:cNvSpPr>
          <p:nvPr/>
        </p:nvSpPr>
        <p:spPr>
          <a:xfrm>
            <a:off x="4838700" y="3838575"/>
            <a:ext cx="25146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5 · DFT</a:t>
            </a:r>
          </a:p>
        </p:txBody>
      </p:sp>
      <p:sp>
        <p:nvSpPr>
          <p:cNvPr id="18" name="U05-DG-004-dft-body">
            <a:extLst>
              <a:ext uri="{FF2B5EF4-FFF2-40B4-BE49-F238E27FC236}">
                <a16:creationId xmlns:a16="http://schemas.microsoft.com/office/drawing/2014/main" id="{84675441-5953-4ED7-8351-F30C3EAE0C43}"/>
              </a:ext>
            </a:extLst>
          </p:cNvPr>
          <p:cNvSpPr>
            <a:spLocks noGrp="1"/>
          </p:cNvSpPr>
          <p:nvPr/>
        </p:nvSpPr>
        <p:spPr>
          <a:xfrm>
            <a:off x="4838700" y="4210050"/>
            <a:ext cx="25146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FFT = algoritmo</a:t>
            </a:r>
          </a:p>
        </p:txBody>
      </p:sp>
      <p:sp>
        <p:nvSpPr>
          <p:cNvPr id="19" name="U05-DG-004-bins">
            <a:extLst>
              <a:ext uri="{FF2B5EF4-FFF2-40B4-BE49-F238E27FC236}">
                <a16:creationId xmlns:a16="http://schemas.microsoft.com/office/drawing/2014/main" id="{AA9BC06C-48AC-48BD-B94F-5E48CB890281}"/>
              </a:ext>
            </a:extLst>
          </p:cNvPr>
          <p:cNvSpPr>
            <a:spLocks noGrp="1"/>
          </p:cNvSpPr>
          <p:nvPr/>
        </p:nvSpPr>
        <p:spPr>
          <a:xfrm>
            <a:off x="857250" y="3714750"/>
            <a:ext cx="2857500" cy="1238250"/>
          </a:xfrm>
          <a:prstGeom prst="roundRect">
            <a:avLst>
              <a:gd name="adj" fmla="val 10769"/>
            </a:avLst>
          </a:prstGeom>
          <a:solidFill>
            <a:srgbClr val="E3F2ED"/>
          </a:solidFill>
          <a:ln w="19050">
            <a:solidFill>
              <a:srgbClr val="2D7867"/>
            </a:solidFill>
            <a:prstDash val="solid"/>
          </a:ln>
        </p:spPr>
      </p:sp>
      <p:sp>
        <p:nvSpPr>
          <p:cNvPr id="20" name="U05-DG-004-bins-title">
            <a:extLst>
              <a:ext uri="{FF2B5EF4-FFF2-40B4-BE49-F238E27FC236}">
                <a16:creationId xmlns:a16="http://schemas.microsoft.com/office/drawing/2014/main" id="{609B130B-E85F-4B45-B3A7-87F5A5B615DB}"/>
              </a:ext>
            </a:extLst>
          </p:cNvPr>
          <p:cNvSpPr>
            <a:spLocks noGrp="1"/>
          </p:cNvSpPr>
          <p:nvPr/>
        </p:nvSpPr>
        <p:spPr>
          <a:xfrm>
            <a:off x="1028700" y="3838575"/>
            <a:ext cx="25146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6 · Bins</a:t>
            </a:r>
          </a:p>
        </p:txBody>
      </p:sp>
      <p:sp>
        <p:nvSpPr>
          <p:cNvPr id="21" name="U05-DG-004-bins-body">
            <a:extLst>
              <a:ext uri="{FF2B5EF4-FFF2-40B4-BE49-F238E27FC236}">
                <a16:creationId xmlns:a16="http://schemas.microsoft.com/office/drawing/2014/main" id="{32111851-9FB1-43DB-9C54-F2DDBE209B60}"/>
              </a:ext>
            </a:extLst>
          </p:cNvPr>
          <p:cNvSpPr>
            <a:spLocks noGrp="1"/>
          </p:cNvSpPr>
          <p:nvPr/>
        </p:nvSpPr>
        <p:spPr>
          <a:xfrm>
            <a:off x="1028700" y="4210050"/>
            <a:ext cx="25146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Δf en Hz</a:t>
            </a:r>
          </a:p>
        </p:txBody>
      </p:sp>
      <p:cxnSp>
        <p:nvCxnSpPr>
          <p:cNvPr id="51" name="U05-DG-004-dig_1"/>
          <p:cNvCxnSpPr>
            <a:stCxn id="4" idx="3"/>
            <a:endCxn id="7" idx="1"/>
          </p:cNvCxnSpPr>
          <p:nvPr/>
        </p:nvCxnSpPr>
        <p:spPr>
          <a:xfrm>
            <a:off x="3714750" y="2095500"/>
            <a:ext cx="952500" cy="0"/>
          </a:xfrm>
          <a:prstGeom prst="straightConnector1">
            <a:avLst/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cxnSp>
        <p:nvCxnSpPr>
          <p:cNvPr id="52" name="U05-DG-004-dig_2"/>
          <p:cNvCxnSpPr>
            <a:stCxn id="7" idx="3"/>
            <a:endCxn id="10" idx="1"/>
          </p:cNvCxnSpPr>
          <p:nvPr/>
        </p:nvCxnSpPr>
        <p:spPr>
          <a:xfrm>
            <a:off x="7524750" y="2095500"/>
            <a:ext cx="952500" cy="0"/>
          </a:xfrm>
          <a:prstGeom prst="straightConnector1">
            <a:avLst/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cxnSp>
        <p:nvCxnSpPr>
          <p:cNvPr id="53" name="U05-DG-004-dig_3"/>
          <p:cNvCxnSpPr>
            <a:stCxn id="10" idx="2"/>
            <a:endCxn id="13" idx="0"/>
          </p:cNvCxnSpPr>
          <p:nvPr/>
        </p:nvCxnSpPr>
        <p:spPr>
          <a:xfrm>
            <a:off x="9906000" y="2714625"/>
            <a:ext cx="0" cy="1000125"/>
          </a:xfrm>
          <a:prstGeom prst="straightConnector1">
            <a:avLst/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cxnSp>
        <p:nvCxnSpPr>
          <p:cNvPr id="54" name="U05-DG-004-dig_4"/>
          <p:cNvCxnSpPr>
            <a:stCxn id="13" idx="1"/>
            <a:endCxn id="16" idx="3"/>
          </p:cNvCxnSpPr>
          <p:nvPr/>
        </p:nvCxnSpPr>
        <p:spPr>
          <a:xfrm flipH="1">
            <a:off x="7524750" y="4333875"/>
            <a:ext cx="952500" cy="0"/>
          </a:xfrm>
          <a:prstGeom prst="straightConnector1">
            <a:avLst/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cxnSp>
        <p:nvCxnSpPr>
          <p:cNvPr id="55" name="U05-DG-004-dig_5"/>
          <p:cNvCxnSpPr>
            <a:stCxn id="16" idx="1"/>
            <a:endCxn id="19" idx="3"/>
          </p:cNvCxnSpPr>
          <p:nvPr/>
        </p:nvCxnSpPr>
        <p:spPr>
          <a:xfrm flipH="1">
            <a:off x="3714750" y="4333875"/>
            <a:ext cx="952500" cy="0"/>
          </a:xfrm>
          <a:prstGeom prst="straightConnector1">
            <a:avLst/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sp>
        <p:nvSpPr>
          <p:cNvPr id="27" name="diagram-scale-note">
            <a:extLst>
              <a:ext uri="{FF2B5EF4-FFF2-40B4-BE49-F238E27FC236}">
                <a16:creationId xmlns:a16="http://schemas.microsoft.com/office/drawing/2014/main" id="{6DD967C0-0BB5-4DCE-A2F8-D21904A53A18}"/>
              </a:ext>
            </a:extLst>
          </p:cNvPr>
          <p:cNvSpPr>
            <a:spLocks noGrp="1"/>
          </p:cNvSpPr>
          <p:nvPr/>
        </p:nvSpPr>
        <p:spPr>
          <a:xfrm>
            <a:off x="552450" y="5829300"/>
            <a:ext cx="3905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05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Esquema conceptual · no está a escala</a:t>
            </a:r>
          </a:p>
        </p:txBody>
      </p:sp>
      <p:sp>
        <p:nvSpPr>
          <p:cNvPr id="28" name="caption">
            <a:extLst>
              <a:ext uri="{FF2B5EF4-FFF2-40B4-BE49-F238E27FC236}">
                <a16:creationId xmlns:a16="http://schemas.microsoft.com/office/drawing/2014/main" id="{912BE88F-4818-427A-907C-03E8CD47F164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876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El software calcula una representación a partir de datos adquiridos.</a:t>
            </a:r>
          </a:p>
        </p:txBody>
      </p:sp>
      <p:sp>
        <p:nvSpPr>
          <p:cNvPr id="29" name="credit">
            <a:extLst>
              <a:ext uri="{FF2B5EF4-FFF2-40B4-BE49-F238E27FC236}">
                <a16:creationId xmlns:a16="http://schemas.microsoft.com/office/drawing/2014/main" id="{36B9A3F4-47AB-4A9F-A2E2-1E18C22FC156}"/>
              </a:ext>
            </a:extLst>
          </p:cNvPr>
          <p:cNvSpPr>
            <a:spLocks noGrp="1"/>
          </p:cNvSpPr>
          <p:nvPr/>
        </p:nvSpPr>
        <p:spPr>
          <a:xfrm>
            <a:off x="9382125" y="60769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5.4.4 y 5.11; GLO.</a:t>
            </a:r>
          </a:p>
        </p:txBody>
      </p:sp>
      <p:sp>
        <p:nvSpPr>
          <p:cNvPr id="22" name="slide-alt-summary" descr="Cuatro nodos distinguen presión, señal eléctrica, muestras y cálculo digital.">
            <a:extLst>
              <a:ext uri="{FF2B5EF4-FFF2-40B4-BE49-F238E27FC236}">
                <a16:creationId xmlns:a16="http://schemas.microsoft.com/office/drawing/2014/main" id="{4096426C-829D-9D79-5EA3-21C5D1DCFB0A}"/>
              </a:ext>
            </a:extLst>
          </p:cNvPr>
          <p:cNvSpPr/>
          <p:nvPr/>
        </p:nvSpPr>
        <p:spPr>
          <a:xfrm>
            <a:off x="12700" y="12700"/>
            <a:ext cx="12700" cy="12700"/>
          </a:xfrm>
          <a:prstGeom prst="rect">
            <a:avLst/>
          </a:prstGeom>
          <a:noFill/>
          <a:ln w="19050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6743830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yebrow">
            <a:extLst>
              <a:ext uri="{FF2B5EF4-FFF2-40B4-BE49-F238E27FC236}">
                <a16:creationId xmlns:a16="http://schemas.microsoft.com/office/drawing/2014/main" id="{D74A180A-2E41-45C2-B4D5-80E49A358392}"/>
              </a:ext>
            </a:extLst>
          </p:cNvPr>
          <p:cNvSpPr>
            <a:spLocks noGrp="1"/>
          </p:cNvSpPr>
          <p:nvPr/>
        </p:nvSpPr>
        <p:spPr>
          <a:xfrm>
            <a:off x="514350" y="2095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032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B6DF1845-6E2E-47C8-844F-9062C8C43ED8}"/>
              </a:ext>
            </a:extLst>
          </p:cNvPr>
          <p:cNvSpPr>
            <a:spLocks noGrp="1"/>
          </p:cNvSpPr>
          <p:nvPr/>
        </p:nvSpPr>
        <p:spPr>
          <a:xfrm>
            <a:off x="495300" y="428625"/>
            <a:ext cx="11191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Muestrear es observar la señal en instantes separados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C3B0DC8B-6499-48EB-8476-93C2A568B387}"/>
              </a:ext>
            </a:extLst>
          </p:cNvPr>
          <p:cNvSpPr>
            <a:spLocks noGrp="1"/>
          </p:cNvSpPr>
          <p:nvPr/>
        </p:nvSpPr>
        <p:spPr>
          <a:xfrm>
            <a:off x="523875" y="971550"/>
            <a:ext cx="11001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La frecuencia de muestreo indica cuántas observaciones se realizan por segundo.</a:t>
            </a:r>
          </a:p>
        </p:txBody>
      </p:sp>
      <p:pic>
        <p:nvPicPr>
          <p:cNvPr id="13" name="Gráfico 1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457200" y="1381125"/>
            <a:ext cx="7524750" cy="4429125"/>
          </a:xfrm>
          <a:prstGeom prst="rect">
            <a:avLst/>
          </a:prstGeom>
        </p:spPr>
      </p:pic>
      <p:sp>
        <p:nvSpPr>
          <p:cNvPr id="5" name="chart-reading-box">
            <a:extLst>
              <a:ext uri="{FF2B5EF4-FFF2-40B4-BE49-F238E27FC236}">
                <a16:creationId xmlns:a16="http://schemas.microsoft.com/office/drawing/2014/main" id="{1E32BC76-1ED2-45AB-8BBD-E97239B3D100}"/>
              </a:ext>
            </a:extLst>
          </p:cNvPr>
          <p:cNvSpPr>
            <a:spLocks noGrp="1"/>
          </p:cNvSpPr>
          <p:nvPr/>
        </p:nvSpPr>
        <p:spPr>
          <a:xfrm>
            <a:off x="8239125" y="1476375"/>
            <a:ext cx="3190875" cy="3857625"/>
          </a:xfrm>
          <a:prstGeom prst="roundRect">
            <a:avLst>
              <a:gd name="adj" fmla="val 4179"/>
            </a:avLst>
          </a:prstGeom>
          <a:solidFill>
            <a:srgbClr val="DDEFF5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6" name="chart-reading-title">
            <a:extLst>
              <a:ext uri="{FF2B5EF4-FFF2-40B4-BE49-F238E27FC236}">
                <a16:creationId xmlns:a16="http://schemas.microsoft.com/office/drawing/2014/main" id="{F7AA796C-2281-44DF-81D2-AF704DA14547}"/>
              </a:ext>
            </a:extLst>
          </p:cNvPr>
          <p:cNvSpPr>
            <a:spLocks noGrp="1"/>
          </p:cNvSpPr>
          <p:nvPr/>
        </p:nvSpPr>
        <p:spPr>
          <a:xfrm>
            <a:off x="8410575" y="1609725"/>
            <a:ext cx="28479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Qué leer</a:t>
            </a:r>
          </a:p>
        </p:txBody>
      </p:sp>
      <p:sp>
        <p:nvSpPr>
          <p:cNvPr id="7" name="chart-reading-body">
            <a:extLst>
              <a:ext uri="{FF2B5EF4-FFF2-40B4-BE49-F238E27FC236}">
                <a16:creationId xmlns:a16="http://schemas.microsoft.com/office/drawing/2014/main" id="{4AFA4234-C7F1-41D1-BD46-FF924E1EFC6B}"/>
              </a:ext>
            </a:extLst>
          </p:cNvPr>
          <p:cNvSpPr>
            <a:spLocks noGrp="1"/>
          </p:cNvSpPr>
          <p:nvPr/>
        </p:nvSpPr>
        <p:spPr>
          <a:xfrm>
            <a:off x="8410575" y="1990725"/>
            <a:ext cx="2847975" cy="3209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f_s: frecuencia de muestreo en Hz o muestras/s. T_s: intervalo entre muestras en s.</a:t>
            </a:r>
          </a:p>
        </p:txBody>
      </p:sp>
      <p:sp>
        <p:nvSpPr>
          <p:cNvPr id="8" name="caption">
            <a:extLst>
              <a:ext uri="{FF2B5EF4-FFF2-40B4-BE49-F238E27FC236}">
                <a16:creationId xmlns:a16="http://schemas.microsoft.com/office/drawing/2014/main" id="{E261B046-15F4-4292-9197-23E389F15895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876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Los puntos son muestras; la curva continua representa el modelo subyacente.</a:t>
            </a:r>
          </a:p>
        </p:txBody>
      </p:sp>
      <p:sp>
        <p:nvSpPr>
          <p:cNvPr id="9" name="credit">
            <a:extLst>
              <a:ext uri="{FF2B5EF4-FFF2-40B4-BE49-F238E27FC236}">
                <a16:creationId xmlns:a16="http://schemas.microsoft.com/office/drawing/2014/main" id="{496B0ED2-DBA7-4738-A56C-49CDCE226EBF}"/>
              </a:ext>
            </a:extLst>
          </p:cNvPr>
          <p:cNvSpPr>
            <a:spLocks noGrp="1"/>
          </p:cNvSpPr>
          <p:nvPr/>
        </p:nvSpPr>
        <p:spPr>
          <a:xfrm>
            <a:off x="9382125" y="60769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5.4.4; NOT; EP.</a:t>
            </a:r>
          </a:p>
        </p:txBody>
      </p:sp>
      <p:sp>
        <p:nvSpPr>
          <p:cNvPr id="4" name="slide-alt-summary" descr="Senoide continua con puntos de muestreo igualmente espaciados.">
            <a:extLst>
              <a:ext uri="{FF2B5EF4-FFF2-40B4-BE49-F238E27FC236}">
                <a16:creationId xmlns:a16="http://schemas.microsoft.com/office/drawing/2014/main" id="{4D47DF16-41F0-308C-F88E-2AE139BE9B98}"/>
              </a:ext>
            </a:extLst>
          </p:cNvPr>
          <p:cNvSpPr/>
          <p:nvPr/>
        </p:nvSpPr>
        <p:spPr>
          <a:xfrm>
            <a:off x="12700" y="12700"/>
            <a:ext cx="12700" cy="12700"/>
          </a:xfrm>
          <a:prstGeom prst="rect">
            <a:avLst/>
          </a:prstGeom>
          <a:noFill/>
          <a:ln w="19050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8663046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eyebrow">
            <a:extLst>
              <a:ext uri="{FF2B5EF4-FFF2-40B4-BE49-F238E27FC236}">
                <a16:creationId xmlns:a16="http://schemas.microsoft.com/office/drawing/2014/main" id="{419EABAF-8DB2-4F8B-B8D0-7136A3CCC673}"/>
              </a:ext>
            </a:extLst>
          </p:cNvPr>
          <p:cNvSpPr>
            <a:spLocks noGrp="1"/>
          </p:cNvSpPr>
          <p:nvPr/>
        </p:nvSpPr>
        <p:spPr>
          <a:xfrm>
            <a:off x="514350" y="2095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033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D47F87E4-099E-4C1A-9826-E70E797674EF}"/>
              </a:ext>
            </a:extLst>
          </p:cNvPr>
          <p:cNvSpPr>
            <a:spLocks noGrp="1"/>
          </p:cNvSpPr>
          <p:nvPr/>
        </p:nvSpPr>
        <p:spPr>
          <a:xfrm>
            <a:off x="495300" y="428625"/>
            <a:ext cx="11191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N muestras a f_s determinan la duración observada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79401027-5C8C-4ED6-A97D-1B5020C05476}"/>
              </a:ext>
            </a:extLst>
          </p:cNvPr>
          <p:cNvSpPr>
            <a:spLocks noGrp="1"/>
          </p:cNvSpPr>
          <p:nvPr/>
        </p:nvSpPr>
        <p:spPr>
          <a:xfrm>
            <a:off x="523875" y="971550"/>
            <a:ext cx="11001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Más muestras alargan el registro solo si f_s permanece fija.</a:t>
            </a:r>
          </a:p>
        </p:txBody>
      </p:sp>
      <p:sp>
        <p:nvSpPr>
          <p:cNvPr id="4" name="U05-DG-004-capture">
            <a:extLst>
              <a:ext uri="{FF2B5EF4-FFF2-40B4-BE49-F238E27FC236}">
                <a16:creationId xmlns:a16="http://schemas.microsoft.com/office/drawing/2014/main" id="{054E42E5-7776-44D1-B4B8-ACFE4FD9B912}"/>
              </a:ext>
            </a:extLst>
          </p:cNvPr>
          <p:cNvSpPr>
            <a:spLocks noGrp="1"/>
          </p:cNvSpPr>
          <p:nvPr/>
        </p:nvSpPr>
        <p:spPr>
          <a:xfrm>
            <a:off x="857250" y="1476375"/>
            <a:ext cx="2857500" cy="1238250"/>
          </a:xfrm>
          <a:prstGeom prst="roundRect">
            <a:avLst>
              <a:gd name="adj" fmla="val 10769"/>
            </a:avLst>
          </a:prstGeom>
          <a:solidFill>
            <a:srgbClr val="EFF8FA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5" name="U05-DG-004-capture-title">
            <a:extLst>
              <a:ext uri="{FF2B5EF4-FFF2-40B4-BE49-F238E27FC236}">
                <a16:creationId xmlns:a16="http://schemas.microsoft.com/office/drawing/2014/main" id="{69933F07-43DA-4730-8B18-18303BF1DE83}"/>
              </a:ext>
            </a:extLst>
          </p:cNvPr>
          <p:cNvSpPr>
            <a:spLocks noGrp="1"/>
          </p:cNvSpPr>
          <p:nvPr/>
        </p:nvSpPr>
        <p:spPr>
          <a:xfrm>
            <a:off x="1028700" y="1600200"/>
            <a:ext cx="25146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1 · Captura</a:t>
            </a:r>
          </a:p>
        </p:txBody>
      </p:sp>
      <p:sp>
        <p:nvSpPr>
          <p:cNvPr id="6" name="U05-DG-004-capture-body">
            <a:extLst>
              <a:ext uri="{FF2B5EF4-FFF2-40B4-BE49-F238E27FC236}">
                <a16:creationId xmlns:a16="http://schemas.microsoft.com/office/drawing/2014/main" id="{EAB5FD93-33D5-47DC-A69F-E2E4D55E5876}"/>
              </a:ext>
            </a:extLst>
          </p:cNvPr>
          <p:cNvSpPr>
            <a:spLocks noGrp="1"/>
          </p:cNvSpPr>
          <p:nvPr/>
        </p:nvSpPr>
        <p:spPr>
          <a:xfrm>
            <a:off x="1028700" y="1971675"/>
            <a:ext cx="25146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p(t)</a:t>
            </a:r>
          </a:p>
        </p:txBody>
      </p:sp>
      <p:sp>
        <p:nvSpPr>
          <p:cNvPr id="7" name="U05-DG-004-samples">
            <a:extLst>
              <a:ext uri="{FF2B5EF4-FFF2-40B4-BE49-F238E27FC236}">
                <a16:creationId xmlns:a16="http://schemas.microsoft.com/office/drawing/2014/main" id="{50EB7C60-90AF-4D3A-972F-8745A7B21BA5}"/>
              </a:ext>
            </a:extLst>
          </p:cNvPr>
          <p:cNvSpPr>
            <a:spLocks noGrp="1"/>
          </p:cNvSpPr>
          <p:nvPr/>
        </p:nvSpPr>
        <p:spPr>
          <a:xfrm>
            <a:off x="4667250" y="1476375"/>
            <a:ext cx="2857500" cy="1238250"/>
          </a:xfrm>
          <a:prstGeom prst="roundRect">
            <a:avLst>
              <a:gd name="adj" fmla="val 10769"/>
            </a:avLst>
          </a:prstGeom>
          <a:solidFill>
            <a:srgbClr val="EFF8FA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8" name="U05-DG-004-samples-title">
            <a:extLst>
              <a:ext uri="{FF2B5EF4-FFF2-40B4-BE49-F238E27FC236}">
                <a16:creationId xmlns:a16="http://schemas.microsoft.com/office/drawing/2014/main" id="{69C461E3-3F65-4AE3-BBA2-BD144EA43F26}"/>
              </a:ext>
            </a:extLst>
          </p:cNvPr>
          <p:cNvSpPr>
            <a:spLocks noGrp="1"/>
          </p:cNvSpPr>
          <p:nvPr/>
        </p:nvSpPr>
        <p:spPr>
          <a:xfrm>
            <a:off x="4838700" y="1600200"/>
            <a:ext cx="25146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2 · Muestras</a:t>
            </a:r>
          </a:p>
        </p:txBody>
      </p:sp>
      <p:sp>
        <p:nvSpPr>
          <p:cNvPr id="9" name="U05-DG-004-samples-body">
            <a:extLst>
              <a:ext uri="{FF2B5EF4-FFF2-40B4-BE49-F238E27FC236}">
                <a16:creationId xmlns:a16="http://schemas.microsoft.com/office/drawing/2014/main" id="{F9C96A90-F9A6-4982-BFDA-54480E1A7604}"/>
              </a:ext>
            </a:extLst>
          </p:cNvPr>
          <p:cNvSpPr>
            <a:spLocks noGrp="1"/>
          </p:cNvSpPr>
          <p:nvPr/>
        </p:nvSpPr>
        <p:spPr>
          <a:xfrm>
            <a:off x="4838700" y="1971675"/>
            <a:ext cx="25146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fₛ en Hz</a:t>
            </a:r>
          </a:p>
        </p:txBody>
      </p:sp>
      <p:sp>
        <p:nvSpPr>
          <p:cNvPr id="10" name="U05-DG-004-segment">
            <a:extLst>
              <a:ext uri="{FF2B5EF4-FFF2-40B4-BE49-F238E27FC236}">
                <a16:creationId xmlns:a16="http://schemas.microsoft.com/office/drawing/2014/main" id="{5BEE5ABF-47A2-4247-B900-31C58883FC01}"/>
              </a:ext>
            </a:extLst>
          </p:cNvPr>
          <p:cNvSpPr>
            <a:spLocks noGrp="1"/>
          </p:cNvSpPr>
          <p:nvPr/>
        </p:nvSpPr>
        <p:spPr>
          <a:xfrm>
            <a:off x="8477250" y="1476375"/>
            <a:ext cx="2857500" cy="1238250"/>
          </a:xfrm>
          <a:prstGeom prst="roundRect">
            <a:avLst>
              <a:gd name="adj" fmla="val 10769"/>
            </a:avLst>
          </a:prstGeom>
          <a:solidFill>
            <a:srgbClr val="F3F6F8"/>
          </a:solidFill>
          <a:ln w="19050">
            <a:solidFill>
              <a:srgbClr val="8291A3"/>
            </a:solidFill>
            <a:prstDash val="solid"/>
          </a:ln>
        </p:spPr>
      </p:sp>
      <p:sp>
        <p:nvSpPr>
          <p:cNvPr id="11" name="U05-DG-004-segment-title">
            <a:extLst>
              <a:ext uri="{FF2B5EF4-FFF2-40B4-BE49-F238E27FC236}">
                <a16:creationId xmlns:a16="http://schemas.microsoft.com/office/drawing/2014/main" id="{8A5AC590-A784-4DF9-BECB-B061FA7D6769}"/>
              </a:ext>
            </a:extLst>
          </p:cNvPr>
          <p:cNvSpPr>
            <a:spLocks noGrp="1"/>
          </p:cNvSpPr>
          <p:nvPr/>
        </p:nvSpPr>
        <p:spPr>
          <a:xfrm>
            <a:off x="8648700" y="1600200"/>
            <a:ext cx="25146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3 · Segmento</a:t>
            </a:r>
          </a:p>
        </p:txBody>
      </p:sp>
      <p:sp>
        <p:nvSpPr>
          <p:cNvPr id="12" name="U05-DG-004-segment-body">
            <a:extLst>
              <a:ext uri="{FF2B5EF4-FFF2-40B4-BE49-F238E27FC236}">
                <a16:creationId xmlns:a16="http://schemas.microsoft.com/office/drawing/2014/main" id="{8C6B6285-CFB6-448A-8E4E-5C2C327882A9}"/>
              </a:ext>
            </a:extLst>
          </p:cNvPr>
          <p:cNvSpPr>
            <a:spLocks noGrp="1"/>
          </p:cNvSpPr>
          <p:nvPr/>
        </p:nvSpPr>
        <p:spPr>
          <a:xfrm>
            <a:off x="8648700" y="1971675"/>
            <a:ext cx="25146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N muestras</a:t>
            </a:r>
          </a:p>
        </p:txBody>
      </p:sp>
      <p:sp>
        <p:nvSpPr>
          <p:cNvPr id="13" name="U05-DG-004-window">
            <a:extLst>
              <a:ext uri="{FF2B5EF4-FFF2-40B4-BE49-F238E27FC236}">
                <a16:creationId xmlns:a16="http://schemas.microsoft.com/office/drawing/2014/main" id="{7164B754-662A-4DCE-8B92-65E672E073BE}"/>
              </a:ext>
            </a:extLst>
          </p:cNvPr>
          <p:cNvSpPr>
            <a:spLocks noGrp="1"/>
          </p:cNvSpPr>
          <p:nvPr/>
        </p:nvSpPr>
        <p:spPr>
          <a:xfrm>
            <a:off x="8477250" y="3714750"/>
            <a:ext cx="2857500" cy="1238250"/>
          </a:xfrm>
          <a:prstGeom prst="roundRect">
            <a:avLst>
              <a:gd name="adj" fmla="val 10769"/>
            </a:avLst>
          </a:prstGeom>
          <a:solidFill>
            <a:srgbClr val="DDEFF5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14" name="U05-DG-004-window-title">
            <a:extLst>
              <a:ext uri="{FF2B5EF4-FFF2-40B4-BE49-F238E27FC236}">
                <a16:creationId xmlns:a16="http://schemas.microsoft.com/office/drawing/2014/main" id="{464EBC2A-BA2B-41D9-9468-9FBB707330A3}"/>
              </a:ext>
            </a:extLst>
          </p:cNvPr>
          <p:cNvSpPr>
            <a:spLocks noGrp="1"/>
          </p:cNvSpPr>
          <p:nvPr/>
        </p:nvSpPr>
        <p:spPr>
          <a:xfrm>
            <a:off x="8648700" y="3838575"/>
            <a:ext cx="25146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4 · Ventana</a:t>
            </a:r>
          </a:p>
        </p:txBody>
      </p:sp>
      <p:sp>
        <p:nvSpPr>
          <p:cNvPr id="15" name="U05-DG-004-window-body">
            <a:extLst>
              <a:ext uri="{FF2B5EF4-FFF2-40B4-BE49-F238E27FC236}">
                <a16:creationId xmlns:a16="http://schemas.microsoft.com/office/drawing/2014/main" id="{0F39E1DC-13E2-407E-8764-FBDD11BCDF49}"/>
              </a:ext>
            </a:extLst>
          </p:cNvPr>
          <p:cNvSpPr>
            <a:spLocks noGrp="1"/>
          </p:cNvSpPr>
          <p:nvPr/>
        </p:nvSpPr>
        <p:spPr>
          <a:xfrm>
            <a:off x="8648700" y="4210050"/>
            <a:ext cx="25146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recorte declarado</a:t>
            </a:r>
          </a:p>
        </p:txBody>
      </p:sp>
      <p:sp>
        <p:nvSpPr>
          <p:cNvPr id="16" name="U05-DG-004-dft">
            <a:extLst>
              <a:ext uri="{FF2B5EF4-FFF2-40B4-BE49-F238E27FC236}">
                <a16:creationId xmlns:a16="http://schemas.microsoft.com/office/drawing/2014/main" id="{2AA2E5DB-D062-44B6-8057-EA639D75A4E4}"/>
              </a:ext>
            </a:extLst>
          </p:cNvPr>
          <p:cNvSpPr>
            <a:spLocks noGrp="1"/>
          </p:cNvSpPr>
          <p:nvPr/>
        </p:nvSpPr>
        <p:spPr>
          <a:xfrm>
            <a:off x="4667250" y="3714750"/>
            <a:ext cx="2857500" cy="1238250"/>
          </a:xfrm>
          <a:prstGeom prst="roundRect">
            <a:avLst>
              <a:gd name="adj" fmla="val 10769"/>
            </a:avLst>
          </a:prstGeom>
          <a:solidFill>
            <a:srgbClr val="F3F6F8"/>
          </a:solidFill>
          <a:ln w="19050">
            <a:solidFill>
              <a:srgbClr val="8291A3"/>
            </a:solidFill>
            <a:prstDash val="solid"/>
          </a:ln>
        </p:spPr>
      </p:sp>
      <p:sp>
        <p:nvSpPr>
          <p:cNvPr id="17" name="U05-DG-004-dft-title">
            <a:extLst>
              <a:ext uri="{FF2B5EF4-FFF2-40B4-BE49-F238E27FC236}">
                <a16:creationId xmlns:a16="http://schemas.microsoft.com/office/drawing/2014/main" id="{907976EA-0A70-49E8-BC65-B813CC78DAD3}"/>
              </a:ext>
            </a:extLst>
          </p:cNvPr>
          <p:cNvSpPr>
            <a:spLocks noGrp="1"/>
          </p:cNvSpPr>
          <p:nvPr/>
        </p:nvSpPr>
        <p:spPr>
          <a:xfrm>
            <a:off x="4838700" y="3838575"/>
            <a:ext cx="25146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5 · DFT</a:t>
            </a:r>
          </a:p>
        </p:txBody>
      </p:sp>
      <p:sp>
        <p:nvSpPr>
          <p:cNvPr id="18" name="U05-DG-004-dft-body">
            <a:extLst>
              <a:ext uri="{FF2B5EF4-FFF2-40B4-BE49-F238E27FC236}">
                <a16:creationId xmlns:a16="http://schemas.microsoft.com/office/drawing/2014/main" id="{CB778EEA-B63A-4389-9F70-F857C77BEBD7}"/>
              </a:ext>
            </a:extLst>
          </p:cNvPr>
          <p:cNvSpPr>
            <a:spLocks noGrp="1"/>
          </p:cNvSpPr>
          <p:nvPr/>
        </p:nvSpPr>
        <p:spPr>
          <a:xfrm>
            <a:off x="4838700" y="4210050"/>
            <a:ext cx="25146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FFT = algoritmo</a:t>
            </a:r>
          </a:p>
        </p:txBody>
      </p:sp>
      <p:sp>
        <p:nvSpPr>
          <p:cNvPr id="19" name="U05-DG-004-bins">
            <a:extLst>
              <a:ext uri="{FF2B5EF4-FFF2-40B4-BE49-F238E27FC236}">
                <a16:creationId xmlns:a16="http://schemas.microsoft.com/office/drawing/2014/main" id="{40E1B352-8EE9-46B1-80A0-F7E33D1D2382}"/>
              </a:ext>
            </a:extLst>
          </p:cNvPr>
          <p:cNvSpPr>
            <a:spLocks noGrp="1"/>
          </p:cNvSpPr>
          <p:nvPr/>
        </p:nvSpPr>
        <p:spPr>
          <a:xfrm>
            <a:off x="857250" y="3714750"/>
            <a:ext cx="2857500" cy="1238250"/>
          </a:xfrm>
          <a:prstGeom prst="roundRect">
            <a:avLst>
              <a:gd name="adj" fmla="val 10769"/>
            </a:avLst>
          </a:prstGeom>
          <a:solidFill>
            <a:srgbClr val="E3F2ED"/>
          </a:solidFill>
          <a:ln w="19050">
            <a:solidFill>
              <a:srgbClr val="2D7867"/>
            </a:solidFill>
            <a:prstDash val="solid"/>
          </a:ln>
        </p:spPr>
      </p:sp>
      <p:sp>
        <p:nvSpPr>
          <p:cNvPr id="20" name="U05-DG-004-bins-title">
            <a:extLst>
              <a:ext uri="{FF2B5EF4-FFF2-40B4-BE49-F238E27FC236}">
                <a16:creationId xmlns:a16="http://schemas.microsoft.com/office/drawing/2014/main" id="{EEE66863-61D7-4C48-B0AC-89B3939441AE}"/>
              </a:ext>
            </a:extLst>
          </p:cNvPr>
          <p:cNvSpPr>
            <a:spLocks noGrp="1"/>
          </p:cNvSpPr>
          <p:nvPr/>
        </p:nvSpPr>
        <p:spPr>
          <a:xfrm>
            <a:off x="1028700" y="3838575"/>
            <a:ext cx="25146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6 · Bins</a:t>
            </a:r>
          </a:p>
        </p:txBody>
      </p:sp>
      <p:sp>
        <p:nvSpPr>
          <p:cNvPr id="21" name="U05-DG-004-bins-body">
            <a:extLst>
              <a:ext uri="{FF2B5EF4-FFF2-40B4-BE49-F238E27FC236}">
                <a16:creationId xmlns:a16="http://schemas.microsoft.com/office/drawing/2014/main" id="{5B4BE5D8-C678-4883-910B-CD9EE47C02C1}"/>
              </a:ext>
            </a:extLst>
          </p:cNvPr>
          <p:cNvSpPr>
            <a:spLocks noGrp="1"/>
          </p:cNvSpPr>
          <p:nvPr/>
        </p:nvSpPr>
        <p:spPr>
          <a:xfrm>
            <a:off x="1028700" y="4210050"/>
            <a:ext cx="25146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Δf en Hz</a:t>
            </a:r>
          </a:p>
        </p:txBody>
      </p:sp>
      <p:cxnSp>
        <p:nvCxnSpPr>
          <p:cNvPr id="51" name="U05-DG-004-dig_1"/>
          <p:cNvCxnSpPr>
            <a:stCxn id="4" idx="3"/>
            <a:endCxn id="7" idx="1"/>
          </p:cNvCxnSpPr>
          <p:nvPr/>
        </p:nvCxnSpPr>
        <p:spPr>
          <a:xfrm>
            <a:off x="3714750" y="2095500"/>
            <a:ext cx="952500" cy="0"/>
          </a:xfrm>
          <a:prstGeom prst="straightConnector1">
            <a:avLst/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cxnSp>
        <p:nvCxnSpPr>
          <p:cNvPr id="52" name="U05-DG-004-dig_2"/>
          <p:cNvCxnSpPr>
            <a:stCxn id="7" idx="3"/>
            <a:endCxn id="10" idx="1"/>
          </p:cNvCxnSpPr>
          <p:nvPr/>
        </p:nvCxnSpPr>
        <p:spPr>
          <a:xfrm>
            <a:off x="7524750" y="2095500"/>
            <a:ext cx="952500" cy="0"/>
          </a:xfrm>
          <a:prstGeom prst="straightConnector1">
            <a:avLst/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cxnSp>
        <p:nvCxnSpPr>
          <p:cNvPr id="53" name="U05-DG-004-dig_3"/>
          <p:cNvCxnSpPr>
            <a:stCxn id="10" idx="2"/>
            <a:endCxn id="13" idx="0"/>
          </p:cNvCxnSpPr>
          <p:nvPr/>
        </p:nvCxnSpPr>
        <p:spPr>
          <a:xfrm>
            <a:off x="9906000" y="2714625"/>
            <a:ext cx="0" cy="1000125"/>
          </a:xfrm>
          <a:prstGeom prst="straightConnector1">
            <a:avLst/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cxnSp>
        <p:nvCxnSpPr>
          <p:cNvPr id="54" name="U05-DG-004-dig_4"/>
          <p:cNvCxnSpPr>
            <a:stCxn id="13" idx="1"/>
            <a:endCxn id="16" idx="3"/>
          </p:cNvCxnSpPr>
          <p:nvPr/>
        </p:nvCxnSpPr>
        <p:spPr>
          <a:xfrm flipH="1">
            <a:off x="7524750" y="4333875"/>
            <a:ext cx="952500" cy="0"/>
          </a:xfrm>
          <a:prstGeom prst="straightConnector1">
            <a:avLst/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cxnSp>
        <p:nvCxnSpPr>
          <p:cNvPr id="55" name="U05-DG-004-dig_5"/>
          <p:cNvCxnSpPr>
            <a:stCxn id="16" idx="1"/>
            <a:endCxn id="19" idx="3"/>
          </p:cNvCxnSpPr>
          <p:nvPr/>
        </p:nvCxnSpPr>
        <p:spPr>
          <a:xfrm flipH="1">
            <a:off x="3714750" y="4333875"/>
            <a:ext cx="952500" cy="0"/>
          </a:xfrm>
          <a:prstGeom prst="straightConnector1">
            <a:avLst/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sp>
        <p:nvSpPr>
          <p:cNvPr id="27" name="diagram-scale-note">
            <a:extLst>
              <a:ext uri="{FF2B5EF4-FFF2-40B4-BE49-F238E27FC236}">
                <a16:creationId xmlns:a16="http://schemas.microsoft.com/office/drawing/2014/main" id="{2ABC1B8D-8495-495B-ABD9-63C010D8CF5D}"/>
              </a:ext>
            </a:extLst>
          </p:cNvPr>
          <p:cNvSpPr>
            <a:spLocks noGrp="1"/>
          </p:cNvSpPr>
          <p:nvPr/>
        </p:nvSpPr>
        <p:spPr>
          <a:xfrm>
            <a:off x="552450" y="5829300"/>
            <a:ext cx="3905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05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Esquema conceptual · no está a escala</a:t>
            </a:r>
          </a:p>
        </p:txBody>
      </p:sp>
      <p:sp>
        <p:nvSpPr>
          <p:cNvPr id="28" name="caption">
            <a:extLst>
              <a:ext uri="{FF2B5EF4-FFF2-40B4-BE49-F238E27FC236}">
                <a16:creationId xmlns:a16="http://schemas.microsoft.com/office/drawing/2014/main" id="{C06DD6BC-1AA6-4BA2-8688-2FBE6823E466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876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El cociente entre muestras y muestras por segundo da segundos.</a:t>
            </a:r>
          </a:p>
        </p:txBody>
      </p:sp>
      <p:sp>
        <p:nvSpPr>
          <p:cNvPr id="29" name="credit">
            <a:extLst>
              <a:ext uri="{FF2B5EF4-FFF2-40B4-BE49-F238E27FC236}">
                <a16:creationId xmlns:a16="http://schemas.microsoft.com/office/drawing/2014/main" id="{B44D08AB-98D0-4993-9AE0-F6F82F217378}"/>
              </a:ext>
            </a:extLst>
          </p:cNvPr>
          <p:cNvSpPr>
            <a:spLocks noGrp="1"/>
          </p:cNvSpPr>
          <p:nvPr/>
        </p:nvSpPr>
        <p:spPr>
          <a:xfrm>
            <a:off x="9382125" y="60769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5.4.4, ec. 5.8.</a:t>
            </a:r>
          </a:p>
        </p:txBody>
      </p:sp>
      <p:sp>
        <p:nvSpPr>
          <p:cNvPr id="22" name="slide-alt-summary" descr="Ecuación anotada junto a registros de distinta cantidad de muestras.">
            <a:extLst>
              <a:ext uri="{FF2B5EF4-FFF2-40B4-BE49-F238E27FC236}">
                <a16:creationId xmlns:a16="http://schemas.microsoft.com/office/drawing/2014/main" id="{AE2811B6-3197-4D98-CD7E-C557A17B12A3}"/>
              </a:ext>
            </a:extLst>
          </p:cNvPr>
          <p:cNvSpPr/>
          <p:nvPr/>
        </p:nvSpPr>
        <p:spPr>
          <a:xfrm>
            <a:off x="12700" y="12700"/>
            <a:ext cx="12700" cy="12700"/>
          </a:xfrm>
          <a:prstGeom prst="rect">
            <a:avLst/>
          </a:prstGeom>
          <a:noFill/>
          <a:ln w="19050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eyebrow">
            <a:extLst>
              <a:ext uri="{FF2B5EF4-FFF2-40B4-BE49-F238E27FC236}">
                <a16:creationId xmlns:a16="http://schemas.microsoft.com/office/drawing/2014/main" id="{3DEFA7C0-E075-4D08-9846-D6328DCB2BF3}"/>
              </a:ext>
            </a:extLst>
          </p:cNvPr>
          <p:cNvSpPr>
            <a:spLocks noGrp="1"/>
          </p:cNvSpPr>
          <p:nvPr/>
        </p:nvSpPr>
        <p:spPr>
          <a:xfrm>
            <a:off x="514350" y="2095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034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970B45F7-97B3-43C4-8908-1E8851189181}"/>
              </a:ext>
            </a:extLst>
          </p:cNvPr>
          <p:cNvSpPr>
            <a:spLocks noGrp="1"/>
          </p:cNvSpPr>
          <p:nvPr/>
        </p:nvSpPr>
        <p:spPr>
          <a:xfrm>
            <a:off x="495300" y="428625"/>
            <a:ext cx="11191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DFT y FFT no son sinónimos de “espectro”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41805921-9DEF-4987-B6A7-BB7E1D89A0E6}"/>
              </a:ext>
            </a:extLst>
          </p:cNvPr>
          <p:cNvSpPr>
            <a:spLocks noGrp="1"/>
          </p:cNvSpPr>
          <p:nvPr/>
        </p:nvSpPr>
        <p:spPr>
          <a:xfrm>
            <a:off x="523875" y="971550"/>
            <a:ext cx="11001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Definición, algoritmo y gráfico ocupan niveles diferentes.</a:t>
            </a:r>
          </a:p>
        </p:txBody>
      </p:sp>
      <p:sp>
        <p:nvSpPr>
          <p:cNvPr id="4" name="U05-DG-004-capture">
            <a:extLst>
              <a:ext uri="{FF2B5EF4-FFF2-40B4-BE49-F238E27FC236}">
                <a16:creationId xmlns:a16="http://schemas.microsoft.com/office/drawing/2014/main" id="{5EC383FE-1EE4-462D-986D-774B06D71461}"/>
              </a:ext>
            </a:extLst>
          </p:cNvPr>
          <p:cNvSpPr>
            <a:spLocks noGrp="1"/>
          </p:cNvSpPr>
          <p:nvPr/>
        </p:nvSpPr>
        <p:spPr>
          <a:xfrm>
            <a:off x="857250" y="1476375"/>
            <a:ext cx="2857500" cy="1238250"/>
          </a:xfrm>
          <a:prstGeom prst="roundRect">
            <a:avLst>
              <a:gd name="adj" fmla="val 10769"/>
            </a:avLst>
          </a:prstGeom>
          <a:solidFill>
            <a:srgbClr val="EFF8FA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5" name="U05-DG-004-capture-title">
            <a:extLst>
              <a:ext uri="{FF2B5EF4-FFF2-40B4-BE49-F238E27FC236}">
                <a16:creationId xmlns:a16="http://schemas.microsoft.com/office/drawing/2014/main" id="{6290E8AE-9A8F-4B7F-A191-A3F238916B2A}"/>
              </a:ext>
            </a:extLst>
          </p:cNvPr>
          <p:cNvSpPr>
            <a:spLocks noGrp="1"/>
          </p:cNvSpPr>
          <p:nvPr/>
        </p:nvSpPr>
        <p:spPr>
          <a:xfrm>
            <a:off x="1028700" y="1600200"/>
            <a:ext cx="25146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1 · Captura</a:t>
            </a:r>
          </a:p>
        </p:txBody>
      </p:sp>
      <p:sp>
        <p:nvSpPr>
          <p:cNvPr id="6" name="U05-DG-004-capture-body">
            <a:extLst>
              <a:ext uri="{FF2B5EF4-FFF2-40B4-BE49-F238E27FC236}">
                <a16:creationId xmlns:a16="http://schemas.microsoft.com/office/drawing/2014/main" id="{42B66B8E-88A8-46D6-829D-72DCDF622F08}"/>
              </a:ext>
            </a:extLst>
          </p:cNvPr>
          <p:cNvSpPr>
            <a:spLocks noGrp="1"/>
          </p:cNvSpPr>
          <p:nvPr/>
        </p:nvSpPr>
        <p:spPr>
          <a:xfrm>
            <a:off x="1028700" y="1971675"/>
            <a:ext cx="25146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p(t)</a:t>
            </a:r>
          </a:p>
        </p:txBody>
      </p:sp>
      <p:sp>
        <p:nvSpPr>
          <p:cNvPr id="7" name="U05-DG-004-samples">
            <a:extLst>
              <a:ext uri="{FF2B5EF4-FFF2-40B4-BE49-F238E27FC236}">
                <a16:creationId xmlns:a16="http://schemas.microsoft.com/office/drawing/2014/main" id="{450BBF38-CAC2-47D2-B86E-2A4F87307406}"/>
              </a:ext>
            </a:extLst>
          </p:cNvPr>
          <p:cNvSpPr>
            <a:spLocks noGrp="1"/>
          </p:cNvSpPr>
          <p:nvPr/>
        </p:nvSpPr>
        <p:spPr>
          <a:xfrm>
            <a:off x="4667250" y="1476375"/>
            <a:ext cx="2857500" cy="1238250"/>
          </a:xfrm>
          <a:prstGeom prst="roundRect">
            <a:avLst>
              <a:gd name="adj" fmla="val 10769"/>
            </a:avLst>
          </a:prstGeom>
          <a:solidFill>
            <a:srgbClr val="EFF8FA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8" name="U05-DG-004-samples-title">
            <a:extLst>
              <a:ext uri="{FF2B5EF4-FFF2-40B4-BE49-F238E27FC236}">
                <a16:creationId xmlns:a16="http://schemas.microsoft.com/office/drawing/2014/main" id="{FBF454DE-E6D5-45A6-AFB0-1067F8B8B558}"/>
              </a:ext>
            </a:extLst>
          </p:cNvPr>
          <p:cNvSpPr>
            <a:spLocks noGrp="1"/>
          </p:cNvSpPr>
          <p:nvPr/>
        </p:nvSpPr>
        <p:spPr>
          <a:xfrm>
            <a:off x="4838700" y="1600200"/>
            <a:ext cx="25146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2 · Muestras</a:t>
            </a:r>
          </a:p>
        </p:txBody>
      </p:sp>
      <p:sp>
        <p:nvSpPr>
          <p:cNvPr id="9" name="U05-DG-004-samples-body">
            <a:extLst>
              <a:ext uri="{FF2B5EF4-FFF2-40B4-BE49-F238E27FC236}">
                <a16:creationId xmlns:a16="http://schemas.microsoft.com/office/drawing/2014/main" id="{FD254AE1-B5AC-497A-9C11-C236B19E73D6}"/>
              </a:ext>
            </a:extLst>
          </p:cNvPr>
          <p:cNvSpPr>
            <a:spLocks noGrp="1"/>
          </p:cNvSpPr>
          <p:nvPr/>
        </p:nvSpPr>
        <p:spPr>
          <a:xfrm>
            <a:off x="4838700" y="1971675"/>
            <a:ext cx="25146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fₛ en Hz</a:t>
            </a:r>
          </a:p>
        </p:txBody>
      </p:sp>
      <p:sp>
        <p:nvSpPr>
          <p:cNvPr id="10" name="U05-DG-004-segment">
            <a:extLst>
              <a:ext uri="{FF2B5EF4-FFF2-40B4-BE49-F238E27FC236}">
                <a16:creationId xmlns:a16="http://schemas.microsoft.com/office/drawing/2014/main" id="{B1FBE854-5973-4C8B-AA66-968F78E223A5}"/>
              </a:ext>
            </a:extLst>
          </p:cNvPr>
          <p:cNvSpPr>
            <a:spLocks noGrp="1"/>
          </p:cNvSpPr>
          <p:nvPr/>
        </p:nvSpPr>
        <p:spPr>
          <a:xfrm>
            <a:off x="8477250" y="1476375"/>
            <a:ext cx="2857500" cy="1238250"/>
          </a:xfrm>
          <a:prstGeom prst="roundRect">
            <a:avLst>
              <a:gd name="adj" fmla="val 10769"/>
            </a:avLst>
          </a:prstGeom>
          <a:solidFill>
            <a:srgbClr val="F3F6F8"/>
          </a:solidFill>
          <a:ln w="19050">
            <a:solidFill>
              <a:srgbClr val="8291A3"/>
            </a:solidFill>
            <a:prstDash val="solid"/>
          </a:ln>
        </p:spPr>
      </p:sp>
      <p:sp>
        <p:nvSpPr>
          <p:cNvPr id="11" name="U05-DG-004-segment-title">
            <a:extLst>
              <a:ext uri="{FF2B5EF4-FFF2-40B4-BE49-F238E27FC236}">
                <a16:creationId xmlns:a16="http://schemas.microsoft.com/office/drawing/2014/main" id="{FEE76E78-4906-48E0-A746-B01F325F8EA4}"/>
              </a:ext>
            </a:extLst>
          </p:cNvPr>
          <p:cNvSpPr>
            <a:spLocks noGrp="1"/>
          </p:cNvSpPr>
          <p:nvPr/>
        </p:nvSpPr>
        <p:spPr>
          <a:xfrm>
            <a:off x="8648700" y="1600200"/>
            <a:ext cx="25146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3 · Segmento</a:t>
            </a:r>
          </a:p>
        </p:txBody>
      </p:sp>
      <p:sp>
        <p:nvSpPr>
          <p:cNvPr id="12" name="U05-DG-004-segment-body">
            <a:extLst>
              <a:ext uri="{FF2B5EF4-FFF2-40B4-BE49-F238E27FC236}">
                <a16:creationId xmlns:a16="http://schemas.microsoft.com/office/drawing/2014/main" id="{CD0033E6-C7AC-45F0-8365-65CC7EB28E6F}"/>
              </a:ext>
            </a:extLst>
          </p:cNvPr>
          <p:cNvSpPr>
            <a:spLocks noGrp="1"/>
          </p:cNvSpPr>
          <p:nvPr/>
        </p:nvSpPr>
        <p:spPr>
          <a:xfrm>
            <a:off x="8648700" y="1971675"/>
            <a:ext cx="25146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N muestras</a:t>
            </a:r>
          </a:p>
        </p:txBody>
      </p:sp>
      <p:sp>
        <p:nvSpPr>
          <p:cNvPr id="13" name="U05-DG-004-window">
            <a:extLst>
              <a:ext uri="{FF2B5EF4-FFF2-40B4-BE49-F238E27FC236}">
                <a16:creationId xmlns:a16="http://schemas.microsoft.com/office/drawing/2014/main" id="{A89B6040-B59F-4C10-88D9-D2EFA298E96D}"/>
              </a:ext>
            </a:extLst>
          </p:cNvPr>
          <p:cNvSpPr>
            <a:spLocks noGrp="1"/>
          </p:cNvSpPr>
          <p:nvPr/>
        </p:nvSpPr>
        <p:spPr>
          <a:xfrm>
            <a:off x="8477250" y="3714750"/>
            <a:ext cx="2857500" cy="1238250"/>
          </a:xfrm>
          <a:prstGeom prst="roundRect">
            <a:avLst>
              <a:gd name="adj" fmla="val 10769"/>
            </a:avLst>
          </a:prstGeom>
          <a:solidFill>
            <a:srgbClr val="DDEFF5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14" name="U05-DG-004-window-title">
            <a:extLst>
              <a:ext uri="{FF2B5EF4-FFF2-40B4-BE49-F238E27FC236}">
                <a16:creationId xmlns:a16="http://schemas.microsoft.com/office/drawing/2014/main" id="{F3D8604C-B0B0-43B4-B34B-1F04E831FC22}"/>
              </a:ext>
            </a:extLst>
          </p:cNvPr>
          <p:cNvSpPr>
            <a:spLocks noGrp="1"/>
          </p:cNvSpPr>
          <p:nvPr/>
        </p:nvSpPr>
        <p:spPr>
          <a:xfrm>
            <a:off x="8648700" y="3838575"/>
            <a:ext cx="25146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4 · Ventana</a:t>
            </a:r>
          </a:p>
        </p:txBody>
      </p:sp>
      <p:sp>
        <p:nvSpPr>
          <p:cNvPr id="15" name="U05-DG-004-window-body">
            <a:extLst>
              <a:ext uri="{FF2B5EF4-FFF2-40B4-BE49-F238E27FC236}">
                <a16:creationId xmlns:a16="http://schemas.microsoft.com/office/drawing/2014/main" id="{1A8B20A3-CEFF-4596-B62C-BC2785CBDC44}"/>
              </a:ext>
            </a:extLst>
          </p:cNvPr>
          <p:cNvSpPr>
            <a:spLocks noGrp="1"/>
          </p:cNvSpPr>
          <p:nvPr/>
        </p:nvSpPr>
        <p:spPr>
          <a:xfrm>
            <a:off x="8648700" y="4210050"/>
            <a:ext cx="25146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recorte declarado</a:t>
            </a:r>
          </a:p>
        </p:txBody>
      </p:sp>
      <p:sp>
        <p:nvSpPr>
          <p:cNvPr id="16" name="U05-DG-004-dft">
            <a:extLst>
              <a:ext uri="{FF2B5EF4-FFF2-40B4-BE49-F238E27FC236}">
                <a16:creationId xmlns:a16="http://schemas.microsoft.com/office/drawing/2014/main" id="{27026726-4214-4375-83A3-80D9E65D31AA}"/>
              </a:ext>
            </a:extLst>
          </p:cNvPr>
          <p:cNvSpPr>
            <a:spLocks noGrp="1"/>
          </p:cNvSpPr>
          <p:nvPr/>
        </p:nvSpPr>
        <p:spPr>
          <a:xfrm>
            <a:off x="4667250" y="3714750"/>
            <a:ext cx="2857500" cy="1238250"/>
          </a:xfrm>
          <a:prstGeom prst="roundRect">
            <a:avLst>
              <a:gd name="adj" fmla="val 10769"/>
            </a:avLst>
          </a:prstGeom>
          <a:solidFill>
            <a:srgbClr val="F3F6F8"/>
          </a:solidFill>
          <a:ln w="19050">
            <a:solidFill>
              <a:srgbClr val="8291A3"/>
            </a:solidFill>
            <a:prstDash val="solid"/>
          </a:ln>
        </p:spPr>
      </p:sp>
      <p:sp>
        <p:nvSpPr>
          <p:cNvPr id="17" name="U05-DG-004-dft-title">
            <a:extLst>
              <a:ext uri="{FF2B5EF4-FFF2-40B4-BE49-F238E27FC236}">
                <a16:creationId xmlns:a16="http://schemas.microsoft.com/office/drawing/2014/main" id="{86DD27AC-500D-4B18-A25D-ED0338674D1A}"/>
              </a:ext>
            </a:extLst>
          </p:cNvPr>
          <p:cNvSpPr>
            <a:spLocks noGrp="1"/>
          </p:cNvSpPr>
          <p:nvPr/>
        </p:nvSpPr>
        <p:spPr>
          <a:xfrm>
            <a:off x="4838700" y="3838575"/>
            <a:ext cx="25146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5 · DFT</a:t>
            </a:r>
          </a:p>
        </p:txBody>
      </p:sp>
      <p:sp>
        <p:nvSpPr>
          <p:cNvPr id="18" name="U05-DG-004-dft-body">
            <a:extLst>
              <a:ext uri="{FF2B5EF4-FFF2-40B4-BE49-F238E27FC236}">
                <a16:creationId xmlns:a16="http://schemas.microsoft.com/office/drawing/2014/main" id="{FE9B7822-FBCA-47AA-866C-646A17381BEE}"/>
              </a:ext>
            </a:extLst>
          </p:cNvPr>
          <p:cNvSpPr>
            <a:spLocks noGrp="1"/>
          </p:cNvSpPr>
          <p:nvPr/>
        </p:nvSpPr>
        <p:spPr>
          <a:xfrm>
            <a:off x="4838700" y="4210050"/>
            <a:ext cx="25146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FFT = algoritmo</a:t>
            </a:r>
          </a:p>
        </p:txBody>
      </p:sp>
      <p:sp>
        <p:nvSpPr>
          <p:cNvPr id="19" name="U05-DG-004-bins">
            <a:extLst>
              <a:ext uri="{FF2B5EF4-FFF2-40B4-BE49-F238E27FC236}">
                <a16:creationId xmlns:a16="http://schemas.microsoft.com/office/drawing/2014/main" id="{71201D1A-60B4-4A35-9F71-030DBB421C56}"/>
              </a:ext>
            </a:extLst>
          </p:cNvPr>
          <p:cNvSpPr>
            <a:spLocks noGrp="1"/>
          </p:cNvSpPr>
          <p:nvPr/>
        </p:nvSpPr>
        <p:spPr>
          <a:xfrm>
            <a:off x="857250" y="3714750"/>
            <a:ext cx="2857500" cy="1238250"/>
          </a:xfrm>
          <a:prstGeom prst="roundRect">
            <a:avLst>
              <a:gd name="adj" fmla="val 10769"/>
            </a:avLst>
          </a:prstGeom>
          <a:solidFill>
            <a:srgbClr val="E3F2ED"/>
          </a:solidFill>
          <a:ln w="19050">
            <a:solidFill>
              <a:srgbClr val="2D7867"/>
            </a:solidFill>
            <a:prstDash val="solid"/>
          </a:ln>
        </p:spPr>
      </p:sp>
      <p:sp>
        <p:nvSpPr>
          <p:cNvPr id="20" name="U05-DG-004-bins-title">
            <a:extLst>
              <a:ext uri="{FF2B5EF4-FFF2-40B4-BE49-F238E27FC236}">
                <a16:creationId xmlns:a16="http://schemas.microsoft.com/office/drawing/2014/main" id="{A01145C3-7A07-4B57-BC4E-CFD9A25152D8}"/>
              </a:ext>
            </a:extLst>
          </p:cNvPr>
          <p:cNvSpPr>
            <a:spLocks noGrp="1"/>
          </p:cNvSpPr>
          <p:nvPr/>
        </p:nvSpPr>
        <p:spPr>
          <a:xfrm>
            <a:off x="1028700" y="3838575"/>
            <a:ext cx="25146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6 · Bins</a:t>
            </a:r>
          </a:p>
        </p:txBody>
      </p:sp>
      <p:sp>
        <p:nvSpPr>
          <p:cNvPr id="21" name="U05-DG-004-bins-body">
            <a:extLst>
              <a:ext uri="{FF2B5EF4-FFF2-40B4-BE49-F238E27FC236}">
                <a16:creationId xmlns:a16="http://schemas.microsoft.com/office/drawing/2014/main" id="{2FCD324E-8EE7-469F-B7E4-9E802A41F832}"/>
              </a:ext>
            </a:extLst>
          </p:cNvPr>
          <p:cNvSpPr>
            <a:spLocks noGrp="1"/>
          </p:cNvSpPr>
          <p:nvPr/>
        </p:nvSpPr>
        <p:spPr>
          <a:xfrm>
            <a:off x="1028700" y="4210050"/>
            <a:ext cx="25146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Δf en Hz</a:t>
            </a:r>
          </a:p>
        </p:txBody>
      </p:sp>
      <p:cxnSp>
        <p:nvCxnSpPr>
          <p:cNvPr id="51" name="U05-DG-004-dig_1"/>
          <p:cNvCxnSpPr>
            <a:stCxn id="4" idx="3"/>
            <a:endCxn id="7" idx="1"/>
          </p:cNvCxnSpPr>
          <p:nvPr/>
        </p:nvCxnSpPr>
        <p:spPr>
          <a:xfrm>
            <a:off x="3714750" y="2095500"/>
            <a:ext cx="952500" cy="0"/>
          </a:xfrm>
          <a:prstGeom prst="straightConnector1">
            <a:avLst/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cxnSp>
        <p:nvCxnSpPr>
          <p:cNvPr id="52" name="U05-DG-004-dig_2"/>
          <p:cNvCxnSpPr>
            <a:stCxn id="7" idx="3"/>
            <a:endCxn id="10" idx="1"/>
          </p:cNvCxnSpPr>
          <p:nvPr/>
        </p:nvCxnSpPr>
        <p:spPr>
          <a:xfrm>
            <a:off x="7524750" y="2095500"/>
            <a:ext cx="952500" cy="0"/>
          </a:xfrm>
          <a:prstGeom prst="straightConnector1">
            <a:avLst/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cxnSp>
        <p:nvCxnSpPr>
          <p:cNvPr id="53" name="U05-DG-004-dig_3"/>
          <p:cNvCxnSpPr>
            <a:stCxn id="10" idx="2"/>
            <a:endCxn id="13" idx="0"/>
          </p:cNvCxnSpPr>
          <p:nvPr/>
        </p:nvCxnSpPr>
        <p:spPr>
          <a:xfrm>
            <a:off x="9906000" y="2714625"/>
            <a:ext cx="0" cy="1000125"/>
          </a:xfrm>
          <a:prstGeom prst="straightConnector1">
            <a:avLst/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cxnSp>
        <p:nvCxnSpPr>
          <p:cNvPr id="54" name="U05-DG-004-dig_4"/>
          <p:cNvCxnSpPr>
            <a:stCxn id="13" idx="1"/>
            <a:endCxn id="16" idx="3"/>
          </p:cNvCxnSpPr>
          <p:nvPr/>
        </p:nvCxnSpPr>
        <p:spPr>
          <a:xfrm flipH="1">
            <a:off x="7524750" y="4333875"/>
            <a:ext cx="952500" cy="0"/>
          </a:xfrm>
          <a:prstGeom prst="straightConnector1">
            <a:avLst/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cxnSp>
        <p:nvCxnSpPr>
          <p:cNvPr id="55" name="U05-DG-004-dig_5"/>
          <p:cNvCxnSpPr>
            <a:stCxn id="16" idx="1"/>
            <a:endCxn id="19" idx="3"/>
          </p:cNvCxnSpPr>
          <p:nvPr/>
        </p:nvCxnSpPr>
        <p:spPr>
          <a:xfrm flipH="1">
            <a:off x="3714750" y="4333875"/>
            <a:ext cx="952500" cy="0"/>
          </a:xfrm>
          <a:prstGeom prst="straightConnector1">
            <a:avLst/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sp>
        <p:nvSpPr>
          <p:cNvPr id="27" name="diagram-scale-note">
            <a:extLst>
              <a:ext uri="{FF2B5EF4-FFF2-40B4-BE49-F238E27FC236}">
                <a16:creationId xmlns:a16="http://schemas.microsoft.com/office/drawing/2014/main" id="{E01DC29A-9C0E-439D-A778-F40D8B77894A}"/>
              </a:ext>
            </a:extLst>
          </p:cNvPr>
          <p:cNvSpPr>
            <a:spLocks noGrp="1"/>
          </p:cNvSpPr>
          <p:nvPr/>
        </p:nvSpPr>
        <p:spPr>
          <a:xfrm>
            <a:off x="552450" y="5829300"/>
            <a:ext cx="3905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05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Esquema conceptual · no está a escala</a:t>
            </a:r>
          </a:p>
        </p:txBody>
      </p:sp>
      <p:sp>
        <p:nvSpPr>
          <p:cNvPr id="28" name="caption">
            <a:extLst>
              <a:ext uri="{FF2B5EF4-FFF2-40B4-BE49-F238E27FC236}">
                <a16:creationId xmlns:a16="http://schemas.microsoft.com/office/drawing/2014/main" id="{D95F8C8E-85E9-4157-90DC-3478C0AD6D58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876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Nombrar el proceso evita confundir cálculo y resultado.</a:t>
            </a:r>
          </a:p>
        </p:txBody>
      </p:sp>
      <p:sp>
        <p:nvSpPr>
          <p:cNvPr id="29" name="credit">
            <a:extLst>
              <a:ext uri="{FF2B5EF4-FFF2-40B4-BE49-F238E27FC236}">
                <a16:creationId xmlns:a16="http://schemas.microsoft.com/office/drawing/2014/main" id="{CDEE71D9-08B3-464B-9B91-5EA7267397EF}"/>
              </a:ext>
            </a:extLst>
          </p:cNvPr>
          <p:cNvSpPr>
            <a:spLocks noGrp="1"/>
          </p:cNvSpPr>
          <p:nvPr/>
        </p:nvSpPr>
        <p:spPr>
          <a:xfrm>
            <a:off x="9382125" y="60769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5.4.4; GLO.</a:t>
            </a:r>
          </a:p>
        </p:txBody>
      </p:sp>
      <p:sp>
        <p:nvSpPr>
          <p:cNvPr id="22" name="slide-alt-summary" descr="Matriz que separa transformada, DFT, FFT y gráfico por función.">
            <a:extLst>
              <a:ext uri="{FF2B5EF4-FFF2-40B4-BE49-F238E27FC236}">
                <a16:creationId xmlns:a16="http://schemas.microsoft.com/office/drawing/2014/main" id="{8EC5474A-BB35-A6B5-17F7-B71FE3593A74}"/>
              </a:ext>
            </a:extLst>
          </p:cNvPr>
          <p:cNvSpPr/>
          <p:nvPr/>
        </p:nvSpPr>
        <p:spPr>
          <a:xfrm>
            <a:off x="12700" y="12700"/>
            <a:ext cx="12700" cy="12700"/>
          </a:xfrm>
          <a:prstGeom prst="rect">
            <a:avLst/>
          </a:prstGeom>
          <a:noFill/>
          <a:ln w="19050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yebrow">
            <a:extLst>
              <a:ext uri="{FF2B5EF4-FFF2-40B4-BE49-F238E27FC236}">
                <a16:creationId xmlns:a16="http://schemas.microsoft.com/office/drawing/2014/main" id="{6BAE4E17-71FA-4786-BB7F-A9B382271F4D}"/>
              </a:ext>
            </a:extLst>
          </p:cNvPr>
          <p:cNvSpPr>
            <a:spLocks noGrp="1"/>
          </p:cNvSpPr>
          <p:nvPr/>
        </p:nvSpPr>
        <p:spPr>
          <a:xfrm>
            <a:off x="514350" y="2095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035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74A0B663-CF80-42FE-842C-9FEFA72F0289}"/>
              </a:ext>
            </a:extLst>
          </p:cNvPr>
          <p:cNvSpPr>
            <a:spLocks noGrp="1"/>
          </p:cNvSpPr>
          <p:nvPr/>
        </p:nvSpPr>
        <p:spPr>
          <a:xfrm>
            <a:off x="495300" y="428625"/>
            <a:ext cx="11191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La DFT evalúa frecuencias discretas llamadas bins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B005CB71-2503-4ECA-90AE-CB9F5545CA79}"/>
              </a:ext>
            </a:extLst>
          </p:cNvPr>
          <p:cNvSpPr>
            <a:spLocks noGrp="1"/>
          </p:cNvSpPr>
          <p:nvPr/>
        </p:nvSpPr>
        <p:spPr>
          <a:xfrm>
            <a:off x="523875" y="971550"/>
            <a:ext cx="11001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Su separación depende del registro.</a:t>
            </a:r>
          </a:p>
        </p:txBody>
      </p:sp>
      <p:pic>
        <p:nvPicPr>
          <p:cNvPr id="13" name="Gráfico 1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457200" y="1381125"/>
            <a:ext cx="7524750" cy="4429125"/>
          </a:xfrm>
          <a:prstGeom prst="rect">
            <a:avLst/>
          </a:prstGeom>
        </p:spPr>
      </p:pic>
      <p:sp>
        <p:nvSpPr>
          <p:cNvPr id="5" name="chart-reading-box">
            <a:extLst>
              <a:ext uri="{FF2B5EF4-FFF2-40B4-BE49-F238E27FC236}">
                <a16:creationId xmlns:a16="http://schemas.microsoft.com/office/drawing/2014/main" id="{2AA49556-98C7-4B37-B319-E6F7DA292B05}"/>
              </a:ext>
            </a:extLst>
          </p:cNvPr>
          <p:cNvSpPr>
            <a:spLocks noGrp="1"/>
          </p:cNvSpPr>
          <p:nvPr/>
        </p:nvSpPr>
        <p:spPr>
          <a:xfrm>
            <a:off x="8239125" y="1476375"/>
            <a:ext cx="3190875" cy="3857625"/>
          </a:xfrm>
          <a:prstGeom prst="roundRect">
            <a:avLst>
              <a:gd name="adj" fmla="val 4179"/>
            </a:avLst>
          </a:prstGeom>
          <a:solidFill>
            <a:srgbClr val="DDEFF5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6" name="chart-reading-title">
            <a:extLst>
              <a:ext uri="{FF2B5EF4-FFF2-40B4-BE49-F238E27FC236}">
                <a16:creationId xmlns:a16="http://schemas.microsoft.com/office/drawing/2014/main" id="{94FD65BE-6580-4BAA-9D72-7FCFF61E4408}"/>
              </a:ext>
            </a:extLst>
          </p:cNvPr>
          <p:cNvSpPr>
            <a:spLocks noGrp="1"/>
          </p:cNvSpPr>
          <p:nvPr/>
        </p:nvSpPr>
        <p:spPr>
          <a:xfrm>
            <a:off x="8410575" y="1609725"/>
            <a:ext cx="28479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Qué leer</a:t>
            </a:r>
          </a:p>
        </p:txBody>
      </p:sp>
      <p:sp>
        <p:nvSpPr>
          <p:cNvPr id="7" name="chart-reading-body">
            <a:extLst>
              <a:ext uri="{FF2B5EF4-FFF2-40B4-BE49-F238E27FC236}">
                <a16:creationId xmlns:a16="http://schemas.microsoft.com/office/drawing/2014/main" id="{829C7E7E-48F8-462F-8D91-8BC6E0B562D2}"/>
              </a:ext>
            </a:extLst>
          </p:cNvPr>
          <p:cNvSpPr>
            <a:spLocks noGrp="1"/>
          </p:cNvSpPr>
          <p:nvPr/>
        </p:nvSpPr>
        <p:spPr>
          <a:xfrm>
            <a:off x="8410575" y="1990725"/>
            <a:ext cx="2847975" cy="3209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Bin k: posición frecuencial f_k=kΔf. Los bins no son bandas normalizadas ni tienen ancho físico universal.</a:t>
            </a:r>
          </a:p>
        </p:txBody>
      </p:sp>
      <p:sp>
        <p:nvSpPr>
          <p:cNvPr id="8" name="caption">
            <a:extLst>
              <a:ext uri="{FF2B5EF4-FFF2-40B4-BE49-F238E27FC236}">
                <a16:creationId xmlns:a16="http://schemas.microsoft.com/office/drawing/2014/main" id="{551DEF18-9287-4087-9F49-2A7520386940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876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Una componente puede coincidir con un bin o distribuirse entre varios.</a:t>
            </a:r>
          </a:p>
        </p:txBody>
      </p:sp>
      <p:sp>
        <p:nvSpPr>
          <p:cNvPr id="9" name="credit">
            <a:extLst>
              <a:ext uri="{FF2B5EF4-FFF2-40B4-BE49-F238E27FC236}">
                <a16:creationId xmlns:a16="http://schemas.microsoft.com/office/drawing/2014/main" id="{43006DEE-142B-416D-9408-AA07BAB1F016}"/>
              </a:ext>
            </a:extLst>
          </p:cNvPr>
          <p:cNvSpPr>
            <a:spLocks noGrp="1"/>
          </p:cNvSpPr>
          <p:nvPr/>
        </p:nvSpPr>
        <p:spPr>
          <a:xfrm>
            <a:off x="9382125" y="60769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5.4.4 y 5.4.7; NOT.</a:t>
            </a:r>
          </a:p>
        </p:txBody>
      </p:sp>
      <p:sp>
        <p:nvSpPr>
          <p:cNvPr id="4" name="slide-alt-summary" descr="Rejilla de frecuencias discretas con bins y dos componentes señaladas.">
            <a:extLst>
              <a:ext uri="{FF2B5EF4-FFF2-40B4-BE49-F238E27FC236}">
                <a16:creationId xmlns:a16="http://schemas.microsoft.com/office/drawing/2014/main" id="{EA2D1E03-2A85-ACBC-51F8-77E7CAAE973F}"/>
              </a:ext>
            </a:extLst>
          </p:cNvPr>
          <p:cNvSpPr/>
          <p:nvPr/>
        </p:nvSpPr>
        <p:spPr>
          <a:xfrm>
            <a:off x="12700" y="12700"/>
            <a:ext cx="12700" cy="12700"/>
          </a:xfrm>
          <a:prstGeom prst="rect">
            <a:avLst/>
          </a:prstGeom>
          <a:noFill/>
          <a:ln w="19050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864900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yebrow">
            <a:extLst>
              <a:ext uri="{FF2B5EF4-FFF2-40B4-BE49-F238E27FC236}">
                <a16:creationId xmlns:a16="http://schemas.microsoft.com/office/drawing/2014/main" id="{0EE8EDD2-BE7E-46C2-9DDA-DF0212814069}"/>
              </a:ext>
            </a:extLst>
          </p:cNvPr>
          <p:cNvSpPr>
            <a:spLocks noGrp="1"/>
          </p:cNvSpPr>
          <p:nvPr/>
        </p:nvSpPr>
        <p:spPr>
          <a:xfrm>
            <a:off x="514350" y="2095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036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3DB63CF9-05FD-463A-815D-22B230FABE78}"/>
              </a:ext>
            </a:extLst>
          </p:cNvPr>
          <p:cNvSpPr>
            <a:spLocks noGrp="1"/>
          </p:cNvSpPr>
          <p:nvPr/>
        </p:nvSpPr>
        <p:spPr>
          <a:xfrm>
            <a:off x="495300" y="428625"/>
            <a:ext cx="11191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Observar más tiempo acerca los bins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3C347580-2DA6-412C-B8CE-E3DDB89FF0F6}"/>
              </a:ext>
            </a:extLst>
          </p:cNvPr>
          <p:cNvSpPr>
            <a:spLocks noGrp="1"/>
          </p:cNvSpPr>
          <p:nvPr/>
        </p:nvSpPr>
        <p:spPr>
          <a:xfrm>
            <a:off x="523875" y="971550"/>
            <a:ext cx="11001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La separación nominal mejora; la exactitud no está garantizada.</a:t>
            </a:r>
          </a:p>
        </p:txBody>
      </p:sp>
      <p:pic>
        <p:nvPicPr>
          <p:cNvPr id="13" name="Gráfico 1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457200" y="1381125"/>
            <a:ext cx="7524750" cy="4429125"/>
          </a:xfrm>
          <a:prstGeom prst="rect">
            <a:avLst/>
          </a:prstGeom>
        </p:spPr>
      </p:pic>
      <p:sp>
        <p:nvSpPr>
          <p:cNvPr id="5" name="chart-reading-box">
            <a:extLst>
              <a:ext uri="{FF2B5EF4-FFF2-40B4-BE49-F238E27FC236}">
                <a16:creationId xmlns:a16="http://schemas.microsoft.com/office/drawing/2014/main" id="{B278D0A1-EFF3-4A53-ADE1-4877C5256AAA}"/>
              </a:ext>
            </a:extLst>
          </p:cNvPr>
          <p:cNvSpPr>
            <a:spLocks noGrp="1"/>
          </p:cNvSpPr>
          <p:nvPr/>
        </p:nvSpPr>
        <p:spPr>
          <a:xfrm>
            <a:off x="8239125" y="1476375"/>
            <a:ext cx="3190875" cy="3857625"/>
          </a:xfrm>
          <a:prstGeom prst="roundRect">
            <a:avLst>
              <a:gd name="adj" fmla="val 4179"/>
            </a:avLst>
          </a:prstGeom>
          <a:solidFill>
            <a:srgbClr val="DDEFF5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6" name="chart-reading-title">
            <a:extLst>
              <a:ext uri="{FF2B5EF4-FFF2-40B4-BE49-F238E27FC236}">
                <a16:creationId xmlns:a16="http://schemas.microsoft.com/office/drawing/2014/main" id="{82DD3D9E-4E12-4E00-95FF-404FCCD0E966}"/>
              </a:ext>
            </a:extLst>
          </p:cNvPr>
          <p:cNvSpPr>
            <a:spLocks noGrp="1"/>
          </p:cNvSpPr>
          <p:nvPr/>
        </p:nvSpPr>
        <p:spPr>
          <a:xfrm>
            <a:off x="8410575" y="1609725"/>
            <a:ext cx="28479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Qué leer</a:t>
            </a:r>
          </a:p>
        </p:txBody>
      </p:sp>
      <p:sp>
        <p:nvSpPr>
          <p:cNvPr id="7" name="chart-reading-body">
            <a:extLst>
              <a:ext uri="{FF2B5EF4-FFF2-40B4-BE49-F238E27FC236}">
                <a16:creationId xmlns:a16="http://schemas.microsoft.com/office/drawing/2014/main" id="{8B2FE5CF-E6CD-4F92-AEDA-84F8D0823E82}"/>
              </a:ext>
            </a:extLst>
          </p:cNvPr>
          <p:cNvSpPr>
            <a:spLocks noGrp="1"/>
          </p:cNvSpPr>
          <p:nvPr/>
        </p:nvSpPr>
        <p:spPr>
          <a:xfrm>
            <a:off x="8410575" y="1990725"/>
            <a:ext cx="2847975" cy="3209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Con f_s fija, aumentar N aumenta T_obs y reduce Δf.</a:t>
            </a:r>
          </a:p>
        </p:txBody>
      </p:sp>
      <p:sp>
        <p:nvSpPr>
          <p:cNvPr id="8" name="caption">
            <a:extLst>
              <a:ext uri="{FF2B5EF4-FFF2-40B4-BE49-F238E27FC236}">
                <a16:creationId xmlns:a16="http://schemas.microsoft.com/office/drawing/2014/main" id="{18CF95AE-9D98-4E45-ACA2-A0D49D7BF691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876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Más duración produce una rejilla frecuencial más densa.</a:t>
            </a:r>
          </a:p>
        </p:txBody>
      </p:sp>
      <p:sp>
        <p:nvSpPr>
          <p:cNvPr id="9" name="credit">
            <a:extLst>
              <a:ext uri="{FF2B5EF4-FFF2-40B4-BE49-F238E27FC236}">
                <a16:creationId xmlns:a16="http://schemas.microsoft.com/office/drawing/2014/main" id="{B621EDB7-BA5D-4FBB-8302-FB506DD4150E}"/>
              </a:ext>
            </a:extLst>
          </p:cNvPr>
          <p:cNvSpPr>
            <a:spLocks noGrp="1"/>
          </p:cNvSpPr>
          <p:nvPr/>
        </p:nvSpPr>
        <p:spPr>
          <a:xfrm>
            <a:off x="9382125" y="60769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5.4.4, ec. 5.9.</a:t>
            </a:r>
          </a:p>
        </p:txBody>
      </p:sp>
      <p:sp>
        <p:nvSpPr>
          <p:cNvPr id="4" name="slide-alt-summary" descr="Dos rejillas de bins comparan registros de diferente duración.">
            <a:extLst>
              <a:ext uri="{FF2B5EF4-FFF2-40B4-BE49-F238E27FC236}">
                <a16:creationId xmlns:a16="http://schemas.microsoft.com/office/drawing/2014/main" id="{469DFF8A-0583-A3E4-BAC4-80CAFE04B44C}"/>
              </a:ext>
            </a:extLst>
          </p:cNvPr>
          <p:cNvSpPr/>
          <p:nvPr/>
        </p:nvSpPr>
        <p:spPr>
          <a:xfrm>
            <a:off x="12700" y="12700"/>
            <a:ext cx="12700" cy="12700"/>
          </a:xfrm>
          <a:prstGeom prst="rect">
            <a:avLst/>
          </a:prstGeom>
          <a:noFill/>
          <a:ln w="19050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eyebrow">
            <a:extLst>
              <a:ext uri="{FF2B5EF4-FFF2-40B4-BE49-F238E27FC236}">
                <a16:creationId xmlns:a16="http://schemas.microsoft.com/office/drawing/2014/main" id="{12C4EAE8-FA37-4C52-9707-051F1268F248}"/>
              </a:ext>
            </a:extLst>
          </p:cNvPr>
          <p:cNvSpPr>
            <a:spLocks noGrp="1"/>
          </p:cNvSpPr>
          <p:nvPr/>
        </p:nvSpPr>
        <p:spPr>
          <a:xfrm>
            <a:off x="514350" y="2095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037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56139EEB-7B68-4112-8448-B4A65E9D1E69}"/>
              </a:ext>
            </a:extLst>
          </p:cNvPr>
          <p:cNvSpPr>
            <a:spLocks noGrp="1"/>
          </p:cNvSpPr>
          <p:nvPr/>
        </p:nvSpPr>
        <p:spPr>
          <a:xfrm>
            <a:off x="495300" y="428625"/>
            <a:ext cx="11191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De f_s y N a T_obs y Δf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FC16F652-F0EA-4D38-9D84-0D5EB23724DE}"/>
              </a:ext>
            </a:extLst>
          </p:cNvPr>
          <p:cNvSpPr>
            <a:spLocks noGrp="1"/>
          </p:cNvSpPr>
          <p:nvPr/>
        </p:nvSpPr>
        <p:spPr>
          <a:xfrm>
            <a:off x="523875" y="971550"/>
            <a:ext cx="11001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Ejemplo resuelto con unidades.</a:t>
            </a:r>
          </a:p>
        </p:txBody>
      </p:sp>
      <p:sp>
        <p:nvSpPr>
          <p:cNvPr id="4" name="U05-DG-004-capture">
            <a:extLst>
              <a:ext uri="{FF2B5EF4-FFF2-40B4-BE49-F238E27FC236}">
                <a16:creationId xmlns:a16="http://schemas.microsoft.com/office/drawing/2014/main" id="{26EE73A2-D016-42D6-BCBB-B6625BCF3A3D}"/>
              </a:ext>
            </a:extLst>
          </p:cNvPr>
          <p:cNvSpPr>
            <a:spLocks noGrp="1"/>
          </p:cNvSpPr>
          <p:nvPr/>
        </p:nvSpPr>
        <p:spPr>
          <a:xfrm>
            <a:off x="857250" y="1476375"/>
            <a:ext cx="2857500" cy="1238250"/>
          </a:xfrm>
          <a:prstGeom prst="roundRect">
            <a:avLst>
              <a:gd name="adj" fmla="val 10769"/>
            </a:avLst>
          </a:prstGeom>
          <a:solidFill>
            <a:srgbClr val="EFF8FA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5" name="U05-DG-004-capture-title">
            <a:extLst>
              <a:ext uri="{FF2B5EF4-FFF2-40B4-BE49-F238E27FC236}">
                <a16:creationId xmlns:a16="http://schemas.microsoft.com/office/drawing/2014/main" id="{C599E6B8-58BA-46C9-9C43-614F5D209249}"/>
              </a:ext>
            </a:extLst>
          </p:cNvPr>
          <p:cNvSpPr>
            <a:spLocks noGrp="1"/>
          </p:cNvSpPr>
          <p:nvPr/>
        </p:nvSpPr>
        <p:spPr>
          <a:xfrm>
            <a:off x="1028700" y="1600200"/>
            <a:ext cx="25146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1 · Captura</a:t>
            </a:r>
          </a:p>
        </p:txBody>
      </p:sp>
      <p:sp>
        <p:nvSpPr>
          <p:cNvPr id="6" name="U05-DG-004-capture-body">
            <a:extLst>
              <a:ext uri="{FF2B5EF4-FFF2-40B4-BE49-F238E27FC236}">
                <a16:creationId xmlns:a16="http://schemas.microsoft.com/office/drawing/2014/main" id="{5160CE54-8F8B-4185-A798-51FF48402FD4}"/>
              </a:ext>
            </a:extLst>
          </p:cNvPr>
          <p:cNvSpPr>
            <a:spLocks noGrp="1"/>
          </p:cNvSpPr>
          <p:nvPr/>
        </p:nvSpPr>
        <p:spPr>
          <a:xfrm>
            <a:off x="1028700" y="1971675"/>
            <a:ext cx="25146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p(t)</a:t>
            </a:r>
          </a:p>
        </p:txBody>
      </p:sp>
      <p:sp>
        <p:nvSpPr>
          <p:cNvPr id="7" name="U05-DG-004-samples">
            <a:extLst>
              <a:ext uri="{FF2B5EF4-FFF2-40B4-BE49-F238E27FC236}">
                <a16:creationId xmlns:a16="http://schemas.microsoft.com/office/drawing/2014/main" id="{EB2C215A-D895-44AA-8D61-32C191BC64B2}"/>
              </a:ext>
            </a:extLst>
          </p:cNvPr>
          <p:cNvSpPr>
            <a:spLocks noGrp="1"/>
          </p:cNvSpPr>
          <p:nvPr/>
        </p:nvSpPr>
        <p:spPr>
          <a:xfrm>
            <a:off x="4667250" y="1476375"/>
            <a:ext cx="2857500" cy="1238250"/>
          </a:xfrm>
          <a:prstGeom prst="roundRect">
            <a:avLst>
              <a:gd name="adj" fmla="val 10769"/>
            </a:avLst>
          </a:prstGeom>
          <a:solidFill>
            <a:srgbClr val="EFF8FA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8" name="U05-DG-004-samples-title">
            <a:extLst>
              <a:ext uri="{FF2B5EF4-FFF2-40B4-BE49-F238E27FC236}">
                <a16:creationId xmlns:a16="http://schemas.microsoft.com/office/drawing/2014/main" id="{39E07B08-F0AE-4AC8-B30B-77FABF963924}"/>
              </a:ext>
            </a:extLst>
          </p:cNvPr>
          <p:cNvSpPr>
            <a:spLocks noGrp="1"/>
          </p:cNvSpPr>
          <p:nvPr/>
        </p:nvSpPr>
        <p:spPr>
          <a:xfrm>
            <a:off x="4838700" y="1600200"/>
            <a:ext cx="25146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2 · Muestras</a:t>
            </a:r>
          </a:p>
        </p:txBody>
      </p:sp>
      <p:sp>
        <p:nvSpPr>
          <p:cNvPr id="9" name="U05-DG-004-samples-body">
            <a:extLst>
              <a:ext uri="{FF2B5EF4-FFF2-40B4-BE49-F238E27FC236}">
                <a16:creationId xmlns:a16="http://schemas.microsoft.com/office/drawing/2014/main" id="{0CB0EA5C-44F5-4989-9EB1-22333F5516D2}"/>
              </a:ext>
            </a:extLst>
          </p:cNvPr>
          <p:cNvSpPr>
            <a:spLocks noGrp="1"/>
          </p:cNvSpPr>
          <p:nvPr/>
        </p:nvSpPr>
        <p:spPr>
          <a:xfrm>
            <a:off x="4838700" y="1971675"/>
            <a:ext cx="25146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fₛ en Hz</a:t>
            </a:r>
          </a:p>
        </p:txBody>
      </p:sp>
      <p:sp>
        <p:nvSpPr>
          <p:cNvPr id="10" name="U05-DG-004-segment">
            <a:extLst>
              <a:ext uri="{FF2B5EF4-FFF2-40B4-BE49-F238E27FC236}">
                <a16:creationId xmlns:a16="http://schemas.microsoft.com/office/drawing/2014/main" id="{15FB21BA-2556-4FFB-90FA-9223F39ECCE0}"/>
              </a:ext>
            </a:extLst>
          </p:cNvPr>
          <p:cNvSpPr>
            <a:spLocks noGrp="1"/>
          </p:cNvSpPr>
          <p:nvPr/>
        </p:nvSpPr>
        <p:spPr>
          <a:xfrm>
            <a:off x="8477250" y="1476375"/>
            <a:ext cx="2857500" cy="1238250"/>
          </a:xfrm>
          <a:prstGeom prst="roundRect">
            <a:avLst>
              <a:gd name="adj" fmla="val 10769"/>
            </a:avLst>
          </a:prstGeom>
          <a:solidFill>
            <a:srgbClr val="F3F6F8"/>
          </a:solidFill>
          <a:ln w="19050">
            <a:solidFill>
              <a:srgbClr val="8291A3"/>
            </a:solidFill>
            <a:prstDash val="solid"/>
          </a:ln>
        </p:spPr>
      </p:sp>
      <p:sp>
        <p:nvSpPr>
          <p:cNvPr id="11" name="U05-DG-004-segment-title">
            <a:extLst>
              <a:ext uri="{FF2B5EF4-FFF2-40B4-BE49-F238E27FC236}">
                <a16:creationId xmlns:a16="http://schemas.microsoft.com/office/drawing/2014/main" id="{D5100063-D4EE-471C-8099-E16495105B0C}"/>
              </a:ext>
            </a:extLst>
          </p:cNvPr>
          <p:cNvSpPr>
            <a:spLocks noGrp="1"/>
          </p:cNvSpPr>
          <p:nvPr/>
        </p:nvSpPr>
        <p:spPr>
          <a:xfrm>
            <a:off x="8648700" y="1600200"/>
            <a:ext cx="25146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3 · Segmento</a:t>
            </a:r>
          </a:p>
        </p:txBody>
      </p:sp>
      <p:sp>
        <p:nvSpPr>
          <p:cNvPr id="12" name="U05-DG-004-segment-body">
            <a:extLst>
              <a:ext uri="{FF2B5EF4-FFF2-40B4-BE49-F238E27FC236}">
                <a16:creationId xmlns:a16="http://schemas.microsoft.com/office/drawing/2014/main" id="{DB8DC1D9-2B5B-4BB0-9BEE-4B8AB1430AF7}"/>
              </a:ext>
            </a:extLst>
          </p:cNvPr>
          <p:cNvSpPr>
            <a:spLocks noGrp="1"/>
          </p:cNvSpPr>
          <p:nvPr/>
        </p:nvSpPr>
        <p:spPr>
          <a:xfrm>
            <a:off x="8648700" y="1971675"/>
            <a:ext cx="25146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N muestras</a:t>
            </a:r>
          </a:p>
        </p:txBody>
      </p:sp>
      <p:sp>
        <p:nvSpPr>
          <p:cNvPr id="13" name="U05-DG-004-window">
            <a:extLst>
              <a:ext uri="{FF2B5EF4-FFF2-40B4-BE49-F238E27FC236}">
                <a16:creationId xmlns:a16="http://schemas.microsoft.com/office/drawing/2014/main" id="{C8421839-5577-4857-A5AF-A15070A2C70C}"/>
              </a:ext>
            </a:extLst>
          </p:cNvPr>
          <p:cNvSpPr>
            <a:spLocks noGrp="1"/>
          </p:cNvSpPr>
          <p:nvPr/>
        </p:nvSpPr>
        <p:spPr>
          <a:xfrm>
            <a:off x="8477250" y="3714750"/>
            <a:ext cx="2857500" cy="1238250"/>
          </a:xfrm>
          <a:prstGeom prst="roundRect">
            <a:avLst>
              <a:gd name="adj" fmla="val 10769"/>
            </a:avLst>
          </a:prstGeom>
          <a:solidFill>
            <a:srgbClr val="DDEFF5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14" name="U05-DG-004-window-title">
            <a:extLst>
              <a:ext uri="{FF2B5EF4-FFF2-40B4-BE49-F238E27FC236}">
                <a16:creationId xmlns:a16="http://schemas.microsoft.com/office/drawing/2014/main" id="{19F44DCC-A595-41E4-B7E6-73CD0ACCE6F8}"/>
              </a:ext>
            </a:extLst>
          </p:cNvPr>
          <p:cNvSpPr>
            <a:spLocks noGrp="1"/>
          </p:cNvSpPr>
          <p:nvPr/>
        </p:nvSpPr>
        <p:spPr>
          <a:xfrm>
            <a:off x="8648700" y="3838575"/>
            <a:ext cx="25146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4 · Ventana</a:t>
            </a:r>
          </a:p>
        </p:txBody>
      </p:sp>
      <p:sp>
        <p:nvSpPr>
          <p:cNvPr id="15" name="U05-DG-004-window-body">
            <a:extLst>
              <a:ext uri="{FF2B5EF4-FFF2-40B4-BE49-F238E27FC236}">
                <a16:creationId xmlns:a16="http://schemas.microsoft.com/office/drawing/2014/main" id="{0F290FA3-12BC-4C15-9A9D-ED41F52974C9}"/>
              </a:ext>
            </a:extLst>
          </p:cNvPr>
          <p:cNvSpPr>
            <a:spLocks noGrp="1"/>
          </p:cNvSpPr>
          <p:nvPr/>
        </p:nvSpPr>
        <p:spPr>
          <a:xfrm>
            <a:off x="8648700" y="4210050"/>
            <a:ext cx="25146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recorte declarado</a:t>
            </a:r>
          </a:p>
        </p:txBody>
      </p:sp>
      <p:sp>
        <p:nvSpPr>
          <p:cNvPr id="16" name="U05-DG-004-dft">
            <a:extLst>
              <a:ext uri="{FF2B5EF4-FFF2-40B4-BE49-F238E27FC236}">
                <a16:creationId xmlns:a16="http://schemas.microsoft.com/office/drawing/2014/main" id="{F0142D9E-F045-4D86-BEC3-BA4D41DE1F89}"/>
              </a:ext>
            </a:extLst>
          </p:cNvPr>
          <p:cNvSpPr>
            <a:spLocks noGrp="1"/>
          </p:cNvSpPr>
          <p:nvPr/>
        </p:nvSpPr>
        <p:spPr>
          <a:xfrm>
            <a:off x="4667250" y="3714750"/>
            <a:ext cx="2857500" cy="1238250"/>
          </a:xfrm>
          <a:prstGeom prst="roundRect">
            <a:avLst>
              <a:gd name="adj" fmla="val 10769"/>
            </a:avLst>
          </a:prstGeom>
          <a:solidFill>
            <a:srgbClr val="F3F6F8"/>
          </a:solidFill>
          <a:ln w="19050">
            <a:solidFill>
              <a:srgbClr val="8291A3"/>
            </a:solidFill>
            <a:prstDash val="solid"/>
          </a:ln>
        </p:spPr>
      </p:sp>
      <p:sp>
        <p:nvSpPr>
          <p:cNvPr id="17" name="U05-DG-004-dft-title">
            <a:extLst>
              <a:ext uri="{FF2B5EF4-FFF2-40B4-BE49-F238E27FC236}">
                <a16:creationId xmlns:a16="http://schemas.microsoft.com/office/drawing/2014/main" id="{C3752313-8A4B-453C-AD3E-C5B75185AD10}"/>
              </a:ext>
            </a:extLst>
          </p:cNvPr>
          <p:cNvSpPr>
            <a:spLocks noGrp="1"/>
          </p:cNvSpPr>
          <p:nvPr/>
        </p:nvSpPr>
        <p:spPr>
          <a:xfrm>
            <a:off x="4838700" y="3838575"/>
            <a:ext cx="25146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5 · DFT</a:t>
            </a:r>
          </a:p>
        </p:txBody>
      </p:sp>
      <p:sp>
        <p:nvSpPr>
          <p:cNvPr id="18" name="U05-DG-004-dft-body">
            <a:extLst>
              <a:ext uri="{FF2B5EF4-FFF2-40B4-BE49-F238E27FC236}">
                <a16:creationId xmlns:a16="http://schemas.microsoft.com/office/drawing/2014/main" id="{9CF00070-CD4A-4CD0-A805-A427E956DB07}"/>
              </a:ext>
            </a:extLst>
          </p:cNvPr>
          <p:cNvSpPr>
            <a:spLocks noGrp="1"/>
          </p:cNvSpPr>
          <p:nvPr/>
        </p:nvSpPr>
        <p:spPr>
          <a:xfrm>
            <a:off x="4838700" y="4210050"/>
            <a:ext cx="25146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FFT = algoritmo</a:t>
            </a:r>
          </a:p>
        </p:txBody>
      </p:sp>
      <p:sp>
        <p:nvSpPr>
          <p:cNvPr id="19" name="U05-DG-004-bins">
            <a:extLst>
              <a:ext uri="{FF2B5EF4-FFF2-40B4-BE49-F238E27FC236}">
                <a16:creationId xmlns:a16="http://schemas.microsoft.com/office/drawing/2014/main" id="{CF78F732-64C6-4C9C-AA90-8ADF4DEF438B}"/>
              </a:ext>
            </a:extLst>
          </p:cNvPr>
          <p:cNvSpPr>
            <a:spLocks noGrp="1"/>
          </p:cNvSpPr>
          <p:nvPr/>
        </p:nvSpPr>
        <p:spPr>
          <a:xfrm>
            <a:off x="857250" y="3714750"/>
            <a:ext cx="2857500" cy="1238250"/>
          </a:xfrm>
          <a:prstGeom prst="roundRect">
            <a:avLst>
              <a:gd name="adj" fmla="val 10769"/>
            </a:avLst>
          </a:prstGeom>
          <a:solidFill>
            <a:srgbClr val="E3F2ED"/>
          </a:solidFill>
          <a:ln w="19050">
            <a:solidFill>
              <a:srgbClr val="2D7867"/>
            </a:solidFill>
            <a:prstDash val="solid"/>
          </a:ln>
        </p:spPr>
      </p:sp>
      <p:sp>
        <p:nvSpPr>
          <p:cNvPr id="20" name="U05-DG-004-bins-title">
            <a:extLst>
              <a:ext uri="{FF2B5EF4-FFF2-40B4-BE49-F238E27FC236}">
                <a16:creationId xmlns:a16="http://schemas.microsoft.com/office/drawing/2014/main" id="{15BE2F06-1A13-4521-A527-75BEE4320774}"/>
              </a:ext>
            </a:extLst>
          </p:cNvPr>
          <p:cNvSpPr>
            <a:spLocks noGrp="1"/>
          </p:cNvSpPr>
          <p:nvPr/>
        </p:nvSpPr>
        <p:spPr>
          <a:xfrm>
            <a:off x="1028700" y="3838575"/>
            <a:ext cx="25146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6 · Bins</a:t>
            </a:r>
          </a:p>
        </p:txBody>
      </p:sp>
      <p:sp>
        <p:nvSpPr>
          <p:cNvPr id="21" name="U05-DG-004-bins-body">
            <a:extLst>
              <a:ext uri="{FF2B5EF4-FFF2-40B4-BE49-F238E27FC236}">
                <a16:creationId xmlns:a16="http://schemas.microsoft.com/office/drawing/2014/main" id="{DD3188E8-BE99-4383-B890-273CA1570061}"/>
              </a:ext>
            </a:extLst>
          </p:cNvPr>
          <p:cNvSpPr>
            <a:spLocks noGrp="1"/>
          </p:cNvSpPr>
          <p:nvPr/>
        </p:nvSpPr>
        <p:spPr>
          <a:xfrm>
            <a:off x="1028700" y="4210050"/>
            <a:ext cx="25146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Δf en Hz</a:t>
            </a:r>
          </a:p>
        </p:txBody>
      </p:sp>
      <p:cxnSp>
        <p:nvCxnSpPr>
          <p:cNvPr id="51" name="U05-DG-004-dig_1"/>
          <p:cNvCxnSpPr>
            <a:stCxn id="4" idx="3"/>
            <a:endCxn id="7" idx="1"/>
          </p:cNvCxnSpPr>
          <p:nvPr/>
        </p:nvCxnSpPr>
        <p:spPr>
          <a:xfrm>
            <a:off x="3714750" y="2095500"/>
            <a:ext cx="952500" cy="0"/>
          </a:xfrm>
          <a:prstGeom prst="straightConnector1">
            <a:avLst/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cxnSp>
        <p:nvCxnSpPr>
          <p:cNvPr id="52" name="U05-DG-004-dig_2"/>
          <p:cNvCxnSpPr>
            <a:stCxn id="7" idx="3"/>
            <a:endCxn id="10" idx="1"/>
          </p:cNvCxnSpPr>
          <p:nvPr/>
        </p:nvCxnSpPr>
        <p:spPr>
          <a:xfrm>
            <a:off x="7524750" y="2095500"/>
            <a:ext cx="952500" cy="0"/>
          </a:xfrm>
          <a:prstGeom prst="straightConnector1">
            <a:avLst/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cxnSp>
        <p:nvCxnSpPr>
          <p:cNvPr id="53" name="U05-DG-004-dig_3"/>
          <p:cNvCxnSpPr>
            <a:stCxn id="10" idx="2"/>
            <a:endCxn id="13" idx="0"/>
          </p:cNvCxnSpPr>
          <p:nvPr/>
        </p:nvCxnSpPr>
        <p:spPr>
          <a:xfrm>
            <a:off x="9906000" y="2714625"/>
            <a:ext cx="0" cy="1000125"/>
          </a:xfrm>
          <a:prstGeom prst="straightConnector1">
            <a:avLst/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cxnSp>
        <p:nvCxnSpPr>
          <p:cNvPr id="54" name="U05-DG-004-dig_4"/>
          <p:cNvCxnSpPr>
            <a:stCxn id="13" idx="1"/>
            <a:endCxn id="16" idx="3"/>
          </p:cNvCxnSpPr>
          <p:nvPr/>
        </p:nvCxnSpPr>
        <p:spPr>
          <a:xfrm flipH="1">
            <a:off x="7524750" y="4333875"/>
            <a:ext cx="952500" cy="0"/>
          </a:xfrm>
          <a:prstGeom prst="straightConnector1">
            <a:avLst/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cxnSp>
        <p:nvCxnSpPr>
          <p:cNvPr id="55" name="U05-DG-004-dig_5"/>
          <p:cNvCxnSpPr>
            <a:stCxn id="16" idx="1"/>
            <a:endCxn id="19" idx="3"/>
          </p:cNvCxnSpPr>
          <p:nvPr/>
        </p:nvCxnSpPr>
        <p:spPr>
          <a:xfrm flipH="1">
            <a:off x="3714750" y="4333875"/>
            <a:ext cx="952500" cy="0"/>
          </a:xfrm>
          <a:prstGeom prst="straightConnector1">
            <a:avLst/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sp>
        <p:nvSpPr>
          <p:cNvPr id="27" name="diagram-scale-note">
            <a:extLst>
              <a:ext uri="{FF2B5EF4-FFF2-40B4-BE49-F238E27FC236}">
                <a16:creationId xmlns:a16="http://schemas.microsoft.com/office/drawing/2014/main" id="{DC31AD37-D168-42D4-85E9-FD78B6746269}"/>
              </a:ext>
            </a:extLst>
          </p:cNvPr>
          <p:cNvSpPr>
            <a:spLocks noGrp="1"/>
          </p:cNvSpPr>
          <p:nvPr/>
        </p:nvSpPr>
        <p:spPr>
          <a:xfrm>
            <a:off x="552450" y="5829300"/>
            <a:ext cx="3905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05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Esquema conceptual · no está a escala</a:t>
            </a:r>
          </a:p>
        </p:txBody>
      </p:sp>
      <p:sp>
        <p:nvSpPr>
          <p:cNvPr id="28" name="caption">
            <a:extLst>
              <a:ext uri="{FF2B5EF4-FFF2-40B4-BE49-F238E27FC236}">
                <a16:creationId xmlns:a16="http://schemas.microsoft.com/office/drawing/2014/main" id="{BCF4455F-14D5-4430-9FFE-EEE044296D47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876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Cálculo e interpretación deben conservarse juntos.</a:t>
            </a:r>
          </a:p>
        </p:txBody>
      </p:sp>
      <p:sp>
        <p:nvSpPr>
          <p:cNvPr id="29" name="credit">
            <a:extLst>
              <a:ext uri="{FF2B5EF4-FFF2-40B4-BE49-F238E27FC236}">
                <a16:creationId xmlns:a16="http://schemas.microsoft.com/office/drawing/2014/main" id="{DCD8EC2D-65D2-44DF-8375-FC0259BE7047}"/>
              </a:ext>
            </a:extLst>
          </p:cNvPr>
          <p:cNvSpPr>
            <a:spLocks noGrp="1"/>
          </p:cNvSpPr>
          <p:nvPr/>
        </p:nvSpPr>
        <p:spPr>
          <a:xfrm>
            <a:off x="9382125" y="60769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5.4.6.</a:t>
            </a:r>
          </a:p>
        </p:txBody>
      </p:sp>
      <p:sp>
        <p:nvSpPr>
          <p:cNvPr id="22" name="slide-alt-summary" descr="Dos pasos de cálculo terminan en un eje con bins cada 4 Hz.">
            <a:extLst>
              <a:ext uri="{FF2B5EF4-FFF2-40B4-BE49-F238E27FC236}">
                <a16:creationId xmlns:a16="http://schemas.microsoft.com/office/drawing/2014/main" id="{D70FAFF5-314B-8C4F-17E4-8F2DF869E64D}"/>
              </a:ext>
            </a:extLst>
          </p:cNvPr>
          <p:cNvSpPr/>
          <p:nvPr/>
        </p:nvSpPr>
        <p:spPr>
          <a:xfrm>
            <a:off x="12700" y="12700"/>
            <a:ext cx="12700" cy="12700"/>
          </a:xfrm>
          <a:prstGeom prst="rect">
            <a:avLst/>
          </a:prstGeom>
          <a:noFill/>
          <a:ln w="19050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3363566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yebrow">
            <a:extLst>
              <a:ext uri="{FF2B5EF4-FFF2-40B4-BE49-F238E27FC236}">
                <a16:creationId xmlns:a16="http://schemas.microsoft.com/office/drawing/2014/main" id="{4775BE61-211A-45EA-95AA-169959CD1309}"/>
              </a:ext>
            </a:extLst>
          </p:cNvPr>
          <p:cNvSpPr>
            <a:spLocks noGrp="1"/>
          </p:cNvSpPr>
          <p:nvPr/>
        </p:nvSpPr>
        <p:spPr>
          <a:xfrm>
            <a:off x="514350" y="2095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038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0A44F6B5-9E09-48B8-A93E-26891BCF175F}"/>
              </a:ext>
            </a:extLst>
          </p:cNvPr>
          <p:cNvSpPr>
            <a:spLocks noGrp="1"/>
          </p:cNvSpPr>
          <p:nvPr/>
        </p:nvSpPr>
        <p:spPr>
          <a:xfrm>
            <a:off x="495300" y="428625"/>
            <a:ext cx="11191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Si duplicamos N, ¿qué cambia realmente?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069F0472-5AA9-4923-9AD2-CA9C20AFA01E}"/>
              </a:ext>
            </a:extLst>
          </p:cNvPr>
          <p:cNvSpPr>
            <a:spLocks noGrp="1"/>
          </p:cNvSpPr>
          <p:nvPr/>
        </p:nvSpPr>
        <p:spPr>
          <a:xfrm>
            <a:off x="523875" y="971550"/>
            <a:ext cx="11001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Mantenga f_s constante.</a:t>
            </a:r>
          </a:p>
        </p:txBody>
      </p:sp>
      <p:sp>
        <p:nvSpPr>
          <p:cNvPr id="4" name="question-box">
            <a:extLst>
              <a:ext uri="{FF2B5EF4-FFF2-40B4-BE49-F238E27FC236}">
                <a16:creationId xmlns:a16="http://schemas.microsoft.com/office/drawing/2014/main" id="{4082A2F0-2ECE-4A08-ACEE-AEFBEA1A286B}"/>
              </a:ext>
            </a:extLst>
          </p:cNvPr>
          <p:cNvSpPr>
            <a:spLocks noGrp="1"/>
          </p:cNvSpPr>
          <p:nvPr/>
        </p:nvSpPr>
        <p:spPr>
          <a:xfrm>
            <a:off x="714375" y="1571625"/>
            <a:ext cx="7239000" cy="3429000"/>
          </a:xfrm>
          <a:prstGeom prst="roundRect">
            <a:avLst>
              <a:gd name="adj" fmla="val 3889"/>
            </a:avLst>
          </a:prstGeom>
          <a:solidFill>
            <a:srgbClr val="DDEFF5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5" name="question-title">
            <a:extLst>
              <a:ext uri="{FF2B5EF4-FFF2-40B4-BE49-F238E27FC236}">
                <a16:creationId xmlns:a16="http://schemas.microsoft.com/office/drawing/2014/main" id="{05352FA4-DB20-43A8-9E62-2D01D2926158}"/>
              </a:ext>
            </a:extLst>
          </p:cNvPr>
          <p:cNvSpPr>
            <a:spLocks noGrp="1"/>
          </p:cNvSpPr>
          <p:nvPr/>
        </p:nvSpPr>
        <p:spPr>
          <a:xfrm>
            <a:off x="885825" y="1704975"/>
            <a:ext cx="6896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1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Consigna</a:t>
            </a:r>
          </a:p>
        </p:txBody>
      </p:sp>
      <p:sp>
        <p:nvSpPr>
          <p:cNvPr id="6" name="question-body">
            <a:extLst>
              <a:ext uri="{FF2B5EF4-FFF2-40B4-BE49-F238E27FC236}">
                <a16:creationId xmlns:a16="http://schemas.microsoft.com/office/drawing/2014/main" id="{2080E79F-A5F1-4900-BC64-0BC087B02C4F}"/>
              </a:ext>
            </a:extLst>
          </p:cNvPr>
          <p:cNvSpPr>
            <a:spLocks noGrp="1"/>
          </p:cNvSpPr>
          <p:nvPr/>
        </p:nvSpPr>
        <p:spPr>
          <a:xfrm>
            <a:off x="885825" y="2085975"/>
            <a:ext cx="6896100" cy="2781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Elija y justifique: A. se duplica f_s; B. se duplica T_obs; C. Δf se reduce a la mitad; D. la frecuencia estimada se vuelve exacta.</a:t>
            </a:r>
          </a:p>
        </p:txBody>
      </p:sp>
      <p:sp>
        <p:nvSpPr>
          <p:cNvPr id="7" name="answer-routine-box">
            <a:extLst>
              <a:ext uri="{FF2B5EF4-FFF2-40B4-BE49-F238E27FC236}">
                <a16:creationId xmlns:a16="http://schemas.microsoft.com/office/drawing/2014/main" id="{CEF3BD74-20D1-41C7-9D6B-ED5659FD974B}"/>
              </a:ext>
            </a:extLst>
          </p:cNvPr>
          <p:cNvSpPr>
            <a:spLocks noGrp="1"/>
          </p:cNvSpPr>
          <p:nvPr/>
        </p:nvSpPr>
        <p:spPr>
          <a:xfrm>
            <a:off x="8334375" y="1571625"/>
            <a:ext cx="3143250" cy="3429000"/>
          </a:xfrm>
          <a:prstGeom prst="roundRect">
            <a:avLst>
              <a:gd name="adj" fmla="val 4242"/>
            </a:avLst>
          </a:prstGeom>
          <a:solidFill>
            <a:srgbClr val="F3F6F8"/>
          </a:solidFill>
          <a:ln w="19050">
            <a:solidFill>
              <a:srgbClr val="8291A3"/>
            </a:solidFill>
            <a:prstDash val="solid"/>
          </a:ln>
        </p:spPr>
      </p:sp>
      <p:sp>
        <p:nvSpPr>
          <p:cNvPr id="8" name="answer-routine-title">
            <a:extLst>
              <a:ext uri="{FF2B5EF4-FFF2-40B4-BE49-F238E27FC236}">
                <a16:creationId xmlns:a16="http://schemas.microsoft.com/office/drawing/2014/main" id="{CC6146CA-F889-473B-8C77-DBFEA92BFA0E}"/>
              </a:ext>
            </a:extLst>
          </p:cNvPr>
          <p:cNvSpPr>
            <a:spLocks noGrp="1"/>
          </p:cNvSpPr>
          <p:nvPr/>
        </p:nvSpPr>
        <p:spPr>
          <a:xfrm>
            <a:off x="8505825" y="1704975"/>
            <a:ext cx="2800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950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950" b="1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Cómo responder</a:t>
            </a:r>
          </a:p>
        </p:txBody>
      </p:sp>
      <p:sp>
        <p:nvSpPr>
          <p:cNvPr id="9" name="answer-routine-body">
            <a:extLst>
              <a:ext uri="{FF2B5EF4-FFF2-40B4-BE49-F238E27FC236}">
                <a16:creationId xmlns:a16="http://schemas.microsoft.com/office/drawing/2014/main" id="{58665951-AB61-4914-9C48-35B3A84E1DD4}"/>
              </a:ext>
            </a:extLst>
          </p:cNvPr>
          <p:cNvSpPr>
            <a:spLocks noGrp="1"/>
          </p:cNvSpPr>
          <p:nvPr/>
        </p:nvSpPr>
        <p:spPr>
          <a:xfrm>
            <a:off x="8505825" y="2085975"/>
            <a:ext cx="2800350" cy="2781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1. Nombrar el objeto. 2. Leer ejes y unidades. 3. Declarar condiciones. 4. Concluir sin exceder la evidencia.</a:t>
            </a:r>
          </a:p>
        </p:txBody>
      </p:sp>
      <p:sp>
        <p:nvSpPr>
          <p:cNvPr id="10" name="exercise-equation">
            <a:extLst>
              <a:ext uri="{FF2B5EF4-FFF2-40B4-BE49-F238E27FC236}">
                <a16:creationId xmlns:a16="http://schemas.microsoft.com/office/drawing/2014/main" id="{D2D923E6-B96A-4167-B504-9F88EBEC0697}"/>
              </a:ext>
            </a:extLst>
          </p:cNvPr>
          <p:cNvSpPr>
            <a:spLocks noGrp="1"/>
          </p:cNvSpPr>
          <p:nvPr/>
        </p:nvSpPr>
        <p:spPr>
          <a:xfrm>
            <a:off x="1714500" y="5191125"/>
            <a:ext cx="8191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550" b="1" i="0">
                <a:solidFill>
                  <a:srgbClr val="65539A"/>
                </a:solidFill>
                <a:latin typeface="Cambria Math"/>
                <a:ea typeface="Cambria Math"/>
                <a:cs typeface="Cambria Math"/>
              </a:defRPr>
            </a:pPr>
            <a:r>
              <a:rPr sz="2550" b="1" i="0">
                <a:solidFill>
                  <a:srgbClr val="65539A"/>
                </a:solidFill>
                <a:latin typeface="Cambria Math"/>
                <a:ea typeface="Cambria Math"/>
                <a:cs typeface="Cambria Math"/>
              </a:rPr>
              <a:t>T_obs=N/f_s; Δf=f_s/N.</a:t>
            </a:r>
          </a:p>
        </p:txBody>
      </p:sp>
      <p:sp>
        <p:nvSpPr>
          <p:cNvPr id="11" name="caption">
            <a:extLst>
              <a:ext uri="{FF2B5EF4-FFF2-40B4-BE49-F238E27FC236}">
                <a16:creationId xmlns:a16="http://schemas.microsoft.com/office/drawing/2014/main" id="{437DF960-3F27-40F9-B604-EA3D4CD6F525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876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Más datos no mejoran automáticamente todos los aspectos del análisis.</a:t>
            </a:r>
          </a:p>
        </p:txBody>
      </p:sp>
      <p:sp>
        <p:nvSpPr>
          <p:cNvPr id="12" name="credit">
            <a:extLst>
              <a:ext uri="{FF2B5EF4-FFF2-40B4-BE49-F238E27FC236}">
                <a16:creationId xmlns:a16="http://schemas.microsoft.com/office/drawing/2014/main" id="{0A05D78A-4943-4D1E-B263-2F6886DA5DC0}"/>
              </a:ext>
            </a:extLst>
          </p:cNvPr>
          <p:cNvSpPr>
            <a:spLocks noGrp="1"/>
          </p:cNvSpPr>
          <p:nvPr/>
        </p:nvSpPr>
        <p:spPr>
          <a:xfrm>
            <a:off x="9382125" y="60769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ejercicio D2.</a:t>
            </a:r>
          </a:p>
        </p:txBody>
      </p:sp>
      <p:sp>
        <p:nvSpPr>
          <p:cNvPr id="14" name="slide-alt-summary" descr="Pregunta de opción múltiple con dos ecuaciones de apoyo.">
            <a:extLst>
              <a:ext uri="{FF2B5EF4-FFF2-40B4-BE49-F238E27FC236}">
                <a16:creationId xmlns:a16="http://schemas.microsoft.com/office/drawing/2014/main" id="{77176A3D-2A37-4640-C076-53305D31E0D6}"/>
              </a:ext>
            </a:extLst>
          </p:cNvPr>
          <p:cNvSpPr/>
          <p:nvPr/>
        </p:nvSpPr>
        <p:spPr>
          <a:xfrm>
            <a:off x="12700" y="12700"/>
            <a:ext cx="12700" cy="12700"/>
          </a:xfrm>
          <a:prstGeom prst="rect">
            <a:avLst/>
          </a:prstGeom>
          <a:noFill/>
          <a:ln w="19050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154637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eyebrow">
            <a:extLst>
              <a:ext uri="{FF2B5EF4-FFF2-40B4-BE49-F238E27FC236}">
                <a16:creationId xmlns:a16="http://schemas.microsoft.com/office/drawing/2014/main" id="{2EE9CCAC-9CE5-4EFB-826D-35B63A2BB41C}"/>
              </a:ext>
            </a:extLst>
          </p:cNvPr>
          <p:cNvSpPr>
            <a:spLocks noGrp="1"/>
          </p:cNvSpPr>
          <p:nvPr/>
        </p:nvSpPr>
        <p:spPr>
          <a:xfrm>
            <a:off x="514350" y="2095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039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E6131ADF-159F-4548-B466-D35D50A3179A}"/>
              </a:ext>
            </a:extLst>
          </p:cNvPr>
          <p:cNvSpPr>
            <a:spLocks noGrp="1"/>
          </p:cNvSpPr>
          <p:nvPr/>
        </p:nvSpPr>
        <p:spPr>
          <a:xfrm>
            <a:off x="495300" y="428625"/>
            <a:ext cx="11191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Más resolución no significa frecuencia exacta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32136436-BE7B-4602-8BEF-529BF13096A3}"/>
              </a:ext>
            </a:extLst>
          </p:cNvPr>
          <p:cNvSpPr>
            <a:spLocks noGrp="1"/>
          </p:cNvSpPr>
          <p:nvPr/>
        </p:nvSpPr>
        <p:spPr>
          <a:xfrm>
            <a:off x="523875" y="971550"/>
            <a:ext cx="11001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La estimación también depende de señal, ruido y método.</a:t>
            </a:r>
          </a:p>
        </p:txBody>
      </p:sp>
      <p:sp>
        <p:nvSpPr>
          <p:cNvPr id="4" name="U05-DG-004-capture">
            <a:extLst>
              <a:ext uri="{FF2B5EF4-FFF2-40B4-BE49-F238E27FC236}">
                <a16:creationId xmlns:a16="http://schemas.microsoft.com/office/drawing/2014/main" id="{DDE78492-8D03-405A-9552-62C2D39CF763}"/>
              </a:ext>
            </a:extLst>
          </p:cNvPr>
          <p:cNvSpPr>
            <a:spLocks noGrp="1"/>
          </p:cNvSpPr>
          <p:nvPr/>
        </p:nvSpPr>
        <p:spPr>
          <a:xfrm>
            <a:off x="857250" y="1476375"/>
            <a:ext cx="2857500" cy="1238250"/>
          </a:xfrm>
          <a:prstGeom prst="roundRect">
            <a:avLst>
              <a:gd name="adj" fmla="val 10769"/>
            </a:avLst>
          </a:prstGeom>
          <a:solidFill>
            <a:srgbClr val="EFF8FA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5" name="U05-DG-004-capture-title">
            <a:extLst>
              <a:ext uri="{FF2B5EF4-FFF2-40B4-BE49-F238E27FC236}">
                <a16:creationId xmlns:a16="http://schemas.microsoft.com/office/drawing/2014/main" id="{CF8102F2-5A64-4454-A449-F1DD976B8BA5}"/>
              </a:ext>
            </a:extLst>
          </p:cNvPr>
          <p:cNvSpPr>
            <a:spLocks noGrp="1"/>
          </p:cNvSpPr>
          <p:nvPr/>
        </p:nvSpPr>
        <p:spPr>
          <a:xfrm>
            <a:off x="1028700" y="1600200"/>
            <a:ext cx="25146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1 · Captura</a:t>
            </a:r>
          </a:p>
        </p:txBody>
      </p:sp>
      <p:sp>
        <p:nvSpPr>
          <p:cNvPr id="6" name="U05-DG-004-capture-body">
            <a:extLst>
              <a:ext uri="{FF2B5EF4-FFF2-40B4-BE49-F238E27FC236}">
                <a16:creationId xmlns:a16="http://schemas.microsoft.com/office/drawing/2014/main" id="{24FAF00F-36AC-41D8-8607-01FDC4516215}"/>
              </a:ext>
            </a:extLst>
          </p:cNvPr>
          <p:cNvSpPr>
            <a:spLocks noGrp="1"/>
          </p:cNvSpPr>
          <p:nvPr/>
        </p:nvSpPr>
        <p:spPr>
          <a:xfrm>
            <a:off x="1028700" y="1971675"/>
            <a:ext cx="25146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p(t)</a:t>
            </a:r>
          </a:p>
        </p:txBody>
      </p:sp>
      <p:sp>
        <p:nvSpPr>
          <p:cNvPr id="7" name="U05-DG-004-samples">
            <a:extLst>
              <a:ext uri="{FF2B5EF4-FFF2-40B4-BE49-F238E27FC236}">
                <a16:creationId xmlns:a16="http://schemas.microsoft.com/office/drawing/2014/main" id="{4A690645-3CBD-4657-ACAF-10B4B9BFDBBE}"/>
              </a:ext>
            </a:extLst>
          </p:cNvPr>
          <p:cNvSpPr>
            <a:spLocks noGrp="1"/>
          </p:cNvSpPr>
          <p:nvPr/>
        </p:nvSpPr>
        <p:spPr>
          <a:xfrm>
            <a:off x="4667250" y="1476375"/>
            <a:ext cx="2857500" cy="1238250"/>
          </a:xfrm>
          <a:prstGeom prst="roundRect">
            <a:avLst>
              <a:gd name="adj" fmla="val 10769"/>
            </a:avLst>
          </a:prstGeom>
          <a:solidFill>
            <a:srgbClr val="EFF8FA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8" name="U05-DG-004-samples-title">
            <a:extLst>
              <a:ext uri="{FF2B5EF4-FFF2-40B4-BE49-F238E27FC236}">
                <a16:creationId xmlns:a16="http://schemas.microsoft.com/office/drawing/2014/main" id="{B15F8914-883D-4B4D-B87C-D2A5C3AA5654}"/>
              </a:ext>
            </a:extLst>
          </p:cNvPr>
          <p:cNvSpPr>
            <a:spLocks noGrp="1"/>
          </p:cNvSpPr>
          <p:nvPr/>
        </p:nvSpPr>
        <p:spPr>
          <a:xfrm>
            <a:off x="4838700" y="1600200"/>
            <a:ext cx="25146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2 · Muestras</a:t>
            </a:r>
          </a:p>
        </p:txBody>
      </p:sp>
      <p:sp>
        <p:nvSpPr>
          <p:cNvPr id="9" name="U05-DG-004-samples-body">
            <a:extLst>
              <a:ext uri="{FF2B5EF4-FFF2-40B4-BE49-F238E27FC236}">
                <a16:creationId xmlns:a16="http://schemas.microsoft.com/office/drawing/2014/main" id="{835EB921-47CA-4BB9-BA1E-11A4AE854A2E}"/>
              </a:ext>
            </a:extLst>
          </p:cNvPr>
          <p:cNvSpPr>
            <a:spLocks noGrp="1"/>
          </p:cNvSpPr>
          <p:nvPr/>
        </p:nvSpPr>
        <p:spPr>
          <a:xfrm>
            <a:off x="4838700" y="1971675"/>
            <a:ext cx="25146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fₛ en Hz</a:t>
            </a:r>
          </a:p>
        </p:txBody>
      </p:sp>
      <p:sp>
        <p:nvSpPr>
          <p:cNvPr id="10" name="U05-DG-004-segment">
            <a:extLst>
              <a:ext uri="{FF2B5EF4-FFF2-40B4-BE49-F238E27FC236}">
                <a16:creationId xmlns:a16="http://schemas.microsoft.com/office/drawing/2014/main" id="{9AF8B8F2-D5F7-4EC1-A15A-09D85E76AFE5}"/>
              </a:ext>
            </a:extLst>
          </p:cNvPr>
          <p:cNvSpPr>
            <a:spLocks noGrp="1"/>
          </p:cNvSpPr>
          <p:nvPr/>
        </p:nvSpPr>
        <p:spPr>
          <a:xfrm>
            <a:off x="8477250" y="1476375"/>
            <a:ext cx="2857500" cy="1238250"/>
          </a:xfrm>
          <a:prstGeom prst="roundRect">
            <a:avLst>
              <a:gd name="adj" fmla="val 10769"/>
            </a:avLst>
          </a:prstGeom>
          <a:solidFill>
            <a:srgbClr val="F3F6F8"/>
          </a:solidFill>
          <a:ln w="19050">
            <a:solidFill>
              <a:srgbClr val="8291A3"/>
            </a:solidFill>
            <a:prstDash val="solid"/>
          </a:ln>
        </p:spPr>
      </p:sp>
      <p:sp>
        <p:nvSpPr>
          <p:cNvPr id="11" name="U05-DG-004-segment-title">
            <a:extLst>
              <a:ext uri="{FF2B5EF4-FFF2-40B4-BE49-F238E27FC236}">
                <a16:creationId xmlns:a16="http://schemas.microsoft.com/office/drawing/2014/main" id="{95C8A6F1-792D-4B35-AE48-34FDFA91168F}"/>
              </a:ext>
            </a:extLst>
          </p:cNvPr>
          <p:cNvSpPr>
            <a:spLocks noGrp="1"/>
          </p:cNvSpPr>
          <p:nvPr/>
        </p:nvSpPr>
        <p:spPr>
          <a:xfrm>
            <a:off x="8648700" y="1600200"/>
            <a:ext cx="25146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3 · Segmento</a:t>
            </a:r>
          </a:p>
        </p:txBody>
      </p:sp>
      <p:sp>
        <p:nvSpPr>
          <p:cNvPr id="12" name="U05-DG-004-segment-body">
            <a:extLst>
              <a:ext uri="{FF2B5EF4-FFF2-40B4-BE49-F238E27FC236}">
                <a16:creationId xmlns:a16="http://schemas.microsoft.com/office/drawing/2014/main" id="{0AE85022-46C2-4B5C-9DC3-F26389FE88D1}"/>
              </a:ext>
            </a:extLst>
          </p:cNvPr>
          <p:cNvSpPr>
            <a:spLocks noGrp="1"/>
          </p:cNvSpPr>
          <p:nvPr/>
        </p:nvSpPr>
        <p:spPr>
          <a:xfrm>
            <a:off x="8648700" y="1971675"/>
            <a:ext cx="25146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N muestras</a:t>
            </a:r>
          </a:p>
        </p:txBody>
      </p:sp>
      <p:sp>
        <p:nvSpPr>
          <p:cNvPr id="13" name="U05-DG-004-window">
            <a:extLst>
              <a:ext uri="{FF2B5EF4-FFF2-40B4-BE49-F238E27FC236}">
                <a16:creationId xmlns:a16="http://schemas.microsoft.com/office/drawing/2014/main" id="{8104483D-6606-4C59-8886-BE4EA4A23E36}"/>
              </a:ext>
            </a:extLst>
          </p:cNvPr>
          <p:cNvSpPr>
            <a:spLocks noGrp="1"/>
          </p:cNvSpPr>
          <p:nvPr/>
        </p:nvSpPr>
        <p:spPr>
          <a:xfrm>
            <a:off x="8477250" y="3714750"/>
            <a:ext cx="2857500" cy="1238250"/>
          </a:xfrm>
          <a:prstGeom prst="roundRect">
            <a:avLst>
              <a:gd name="adj" fmla="val 10769"/>
            </a:avLst>
          </a:prstGeom>
          <a:solidFill>
            <a:srgbClr val="DDEFF5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14" name="U05-DG-004-window-title">
            <a:extLst>
              <a:ext uri="{FF2B5EF4-FFF2-40B4-BE49-F238E27FC236}">
                <a16:creationId xmlns:a16="http://schemas.microsoft.com/office/drawing/2014/main" id="{23E622EA-B6CF-4468-BFDD-D1DD9A7934E0}"/>
              </a:ext>
            </a:extLst>
          </p:cNvPr>
          <p:cNvSpPr>
            <a:spLocks noGrp="1"/>
          </p:cNvSpPr>
          <p:nvPr/>
        </p:nvSpPr>
        <p:spPr>
          <a:xfrm>
            <a:off x="8648700" y="3838575"/>
            <a:ext cx="25146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4 · Ventana</a:t>
            </a:r>
          </a:p>
        </p:txBody>
      </p:sp>
      <p:sp>
        <p:nvSpPr>
          <p:cNvPr id="15" name="U05-DG-004-window-body">
            <a:extLst>
              <a:ext uri="{FF2B5EF4-FFF2-40B4-BE49-F238E27FC236}">
                <a16:creationId xmlns:a16="http://schemas.microsoft.com/office/drawing/2014/main" id="{9A69CDDF-DEC5-4631-B1F7-F3CE70668250}"/>
              </a:ext>
            </a:extLst>
          </p:cNvPr>
          <p:cNvSpPr>
            <a:spLocks noGrp="1"/>
          </p:cNvSpPr>
          <p:nvPr/>
        </p:nvSpPr>
        <p:spPr>
          <a:xfrm>
            <a:off x="8648700" y="4210050"/>
            <a:ext cx="25146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recorte declarado</a:t>
            </a:r>
          </a:p>
        </p:txBody>
      </p:sp>
      <p:sp>
        <p:nvSpPr>
          <p:cNvPr id="16" name="U05-DG-004-dft">
            <a:extLst>
              <a:ext uri="{FF2B5EF4-FFF2-40B4-BE49-F238E27FC236}">
                <a16:creationId xmlns:a16="http://schemas.microsoft.com/office/drawing/2014/main" id="{0F624EC2-B4ED-421D-B847-CE0B49EAFC14}"/>
              </a:ext>
            </a:extLst>
          </p:cNvPr>
          <p:cNvSpPr>
            <a:spLocks noGrp="1"/>
          </p:cNvSpPr>
          <p:nvPr/>
        </p:nvSpPr>
        <p:spPr>
          <a:xfrm>
            <a:off x="4667250" y="3714750"/>
            <a:ext cx="2857500" cy="1238250"/>
          </a:xfrm>
          <a:prstGeom prst="roundRect">
            <a:avLst>
              <a:gd name="adj" fmla="val 10769"/>
            </a:avLst>
          </a:prstGeom>
          <a:solidFill>
            <a:srgbClr val="F3F6F8"/>
          </a:solidFill>
          <a:ln w="19050">
            <a:solidFill>
              <a:srgbClr val="8291A3"/>
            </a:solidFill>
            <a:prstDash val="solid"/>
          </a:ln>
        </p:spPr>
      </p:sp>
      <p:sp>
        <p:nvSpPr>
          <p:cNvPr id="17" name="U05-DG-004-dft-title">
            <a:extLst>
              <a:ext uri="{FF2B5EF4-FFF2-40B4-BE49-F238E27FC236}">
                <a16:creationId xmlns:a16="http://schemas.microsoft.com/office/drawing/2014/main" id="{B3607B11-BE93-44D3-9477-DC7477027F55}"/>
              </a:ext>
            </a:extLst>
          </p:cNvPr>
          <p:cNvSpPr>
            <a:spLocks noGrp="1"/>
          </p:cNvSpPr>
          <p:nvPr/>
        </p:nvSpPr>
        <p:spPr>
          <a:xfrm>
            <a:off x="4838700" y="3838575"/>
            <a:ext cx="25146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5 · DFT</a:t>
            </a:r>
          </a:p>
        </p:txBody>
      </p:sp>
      <p:sp>
        <p:nvSpPr>
          <p:cNvPr id="18" name="U05-DG-004-dft-body">
            <a:extLst>
              <a:ext uri="{FF2B5EF4-FFF2-40B4-BE49-F238E27FC236}">
                <a16:creationId xmlns:a16="http://schemas.microsoft.com/office/drawing/2014/main" id="{39CF6C26-75F7-4B44-B920-02924BBC76E2}"/>
              </a:ext>
            </a:extLst>
          </p:cNvPr>
          <p:cNvSpPr>
            <a:spLocks noGrp="1"/>
          </p:cNvSpPr>
          <p:nvPr/>
        </p:nvSpPr>
        <p:spPr>
          <a:xfrm>
            <a:off x="4838700" y="4210050"/>
            <a:ext cx="25146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FFT = algoritmo</a:t>
            </a:r>
          </a:p>
        </p:txBody>
      </p:sp>
      <p:sp>
        <p:nvSpPr>
          <p:cNvPr id="19" name="U05-DG-004-bins">
            <a:extLst>
              <a:ext uri="{FF2B5EF4-FFF2-40B4-BE49-F238E27FC236}">
                <a16:creationId xmlns:a16="http://schemas.microsoft.com/office/drawing/2014/main" id="{DFAE1073-B70C-4F70-9533-558AEF74D172}"/>
              </a:ext>
            </a:extLst>
          </p:cNvPr>
          <p:cNvSpPr>
            <a:spLocks noGrp="1"/>
          </p:cNvSpPr>
          <p:nvPr/>
        </p:nvSpPr>
        <p:spPr>
          <a:xfrm>
            <a:off x="857250" y="3714750"/>
            <a:ext cx="2857500" cy="1238250"/>
          </a:xfrm>
          <a:prstGeom prst="roundRect">
            <a:avLst>
              <a:gd name="adj" fmla="val 10769"/>
            </a:avLst>
          </a:prstGeom>
          <a:solidFill>
            <a:srgbClr val="E3F2ED"/>
          </a:solidFill>
          <a:ln w="19050">
            <a:solidFill>
              <a:srgbClr val="2D7867"/>
            </a:solidFill>
            <a:prstDash val="solid"/>
          </a:ln>
        </p:spPr>
      </p:sp>
      <p:sp>
        <p:nvSpPr>
          <p:cNvPr id="20" name="U05-DG-004-bins-title">
            <a:extLst>
              <a:ext uri="{FF2B5EF4-FFF2-40B4-BE49-F238E27FC236}">
                <a16:creationId xmlns:a16="http://schemas.microsoft.com/office/drawing/2014/main" id="{82307634-97AF-436D-8CC2-3A0B5F1ACE88}"/>
              </a:ext>
            </a:extLst>
          </p:cNvPr>
          <p:cNvSpPr>
            <a:spLocks noGrp="1"/>
          </p:cNvSpPr>
          <p:nvPr/>
        </p:nvSpPr>
        <p:spPr>
          <a:xfrm>
            <a:off x="1028700" y="3838575"/>
            <a:ext cx="25146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6 · Bins</a:t>
            </a:r>
          </a:p>
        </p:txBody>
      </p:sp>
      <p:sp>
        <p:nvSpPr>
          <p:cNvPr id="21" name="U05-DG-004-bins-body">
            <a:extLst>
              <a:ext uri="{FF2B5EF4-FFF2-40B4-BE49-F238E27FC236}">
                <a16:creationId xmlns:a16="http://schemas.microsoft.com/office/drawing/2014/main" id="{9D0285AC-7D21-4A15-B725-FDDAA7081E14}"/>
              </a:ext>
            </a:extLst>
          </p:cNvPr>
          <p:cNvSpPr>
            <a:spLocks noGrp="1"/>
          </p:cNvSpPr>
          <p:nvPr/>
        </p:nvSpPr>
        <p:spPr>
          <a:xfrm>
            <a:off x="1028700" y="4210050"/>
            <a:ext cx="25146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Δf en Hz</a:t>
            </a:r>
          </a:p>
        </p:txBody>
      </p:sp>
      <p:cxnSp>
        <p:nvCxnSpPr>
          <p:cNvPr id="51" name="U05-DG-004-dig_1"/>
          <p:cNvCxnSpPr>
            <a:stCxn id="4" idx="3"/>
            <a:endCxn id="7" idx="1"/>
          </p:cNvCxnSpPr>
          <p:nvPr/>
        </p:nvCxnSpPr>
        <p:spPr>
          <a:xfrm>
            <a:off x="3714750" y="2095500"/>
            <a:ext cx="952500" cy="0"/>
          </a:xfrm>
          <a:prstGeom prst="straightConnector1">
            <a:avLst/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cxnSp>
        <p:nvCxnSpPr>
          <p:cNvPr id="52" name="U05-DG-004-dig_2"/>
          <p:cNvCxnSpPr>
            <a:stCxn id="7" idx="3"/>
            <a:endCxn id="10" idx="1"/>
          </p:cNvCxnSpPr>
          <p:nvPr/>
        </p:nvCxnSpPr>
        <p:spPr>
          <a:xfrm>
            <a:off x="7524750" y="2095500"/>
            <a:ext cx="952500" cy="0"/>
          </a:xfrm>
          <a:prstGeom prst="straightConnector1">
            <a:avLst/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cxnSp>
        <p:nvCxnSpPr>
          <p:cNvPr id="53" name="U05-DG-004-dig_3"/>
          <p:cNvCxnSpPr>
            <a:stCxn id="10" idx="2"/>
            <a:endCxn id="13" idx="0"/>
          </p:cNvCxnSpPr>
          <p:nvPr/>
        </p:nvCxnSpPr>
        <p:spPr>
          <a:xfrm>
            <a:off x="9906000" y="2714625"/>
            <a:ext cx="0" cy="1000125"/>
          </a:xfrm>
          <a:prstGeom prst="straightConnector1">
            <a:avLst/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cxnSp>
        <p:nvCxnSpPr>
          <p:cNvPr id="54" name="U05-DG-004-dig_4"/>
          <p:cNvCxnSpPr>
            <a:stCxn id="13" idx="1"/>
            <a:endCxn id="16" idx="3"/>
          </p:cNvCxnSpPr>
          <p:nvPr/>
        </p:nvCxnSpPr>
        <p:spPr>
          <a:xfrm flipH="1">
            <a:off x="7524750" y="4333875"/>
            <a:ext cx="952500" cy="0"/>
          </a:xfrm>
          <a:prstGeom prst="straightConnector1">
            <a:avLst/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cxnSp>
        <p:nvCxnSpPr>
          <p:cNvPr id="55" name="U05-DG-004-dig_5"/>
          <p:cNvCxnSpPr>
            <a:stCxn id="16" idx="1"/>
            <a:endCxn id="19" idx="3"/>
          </p:cNvCxnSpPr>
          <p:nvPr/>
        </p:nvCxnSpPr>
        <p:spPr>
          <a:xfrm flipH="1">
            <a:off x="3714750" y="4333875"/>
            <a:ext cx="952500" cy="0"/>
          </a:xfrm>
          <a:prstGeom prst="straightConnector1">
            <a:avLst/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sp>
        <p:nvSpPr>
          <p:cNvPr id="27" name="diagram-scale-note">
            <a:extLst>
              <a:ext uri="{FF2B5EF4-FFF2-40B4-BE49-F238E27FC236}">
                <a16:creationId xmlns:a16="http://schemas.microsoft.com/office/drawing/2014/main" id="{89E3E449-B211-437E-A768-2B021EB232EC}"/>
              </a:ext>
            </a:extLst>
          </p:cNvPr>
          <p:cNvSpPr>
            <a:spLocks noGrp="1"/>
          </p:cNvSpPr>
          <p:nvPr/>
        </p:nvSpPr>
        <p:spPr>
          <a:xfrm>
            <a:off x="552450" y="5829300"/>
            <a:ext cx="3905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05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Esquema conceptual · no está a escala</a:t>
            </a:r>
          </a:p>
        </p:txBody>
      </p:sp>
      <p:sp>
        <p:nvSpPr>
          <p:cNvPr id="28" name="caption">
            <a:extLst>
              <a:ext uri="{FF2B5EF4-FFF2-40B4-BE49-F238E27FC236}">
                <a16:creationId xmlns:a16="http://schemas.microsoft.com/office/drawing/2014/main" id="{C1BB0C5E-DC79-4AF3-81AB-F1C4FA4255EF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876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La rejilla limita la lectura, pero no resume toda la incertidumbre.</a:t>
            </a:r>
          </a:p>
        </p:txBody>
      </p:sp>
      <p:sp>
        <p:nvSpPr>
          <p:cNvPr id="29" name="credit">
            <a:extLst>
              <a:ext uri="{FF2B5EF4-FFF2-40B4-BE49-F238E27FC236}">
                <a16:creationId xmlns:a16="http://schemas.microsoft.com/office/drawing/2014/main" id="{6479EEDB-952D-4737-8620-507C5D4E9A45}"/>
              </a:ext>
            </a:extLst>
          </p:cNvPr>
          <p:cNvSpPr>
            <a:spLocks noGrp="1"/>
          </p:cNvSpPr>
          <p:nvPr/>
        </p:nvSpPr>
        <p:spPr>
          <a:xfrm>
            <a:off x="9382125" y="60769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5.4.4 y 5.13.</a:t>
            </a:r>
          </a:p>
        </p:txBody>
      </p:sp>
      <p:sp>
        <p:nvSpPr>
          <p:cNvPr id="22" name="slide-alt-summary" descr="Ecuación de separación rodeada por cuatro factores que afectan la estimación.">
            <a:extLst>
              <a:ext uri="{FF2B5EF4-FFF2-40B4-BE49-F238E27FC236}">
                <a16:creationId xmlns:a16="http://schemas.microsoft.com/office/drawing/2014/main" id="{0FD39366-133B-2E1E-FD73-22CF3D0FB7E0}"/>
              </a:ext>
            </a:extLst>
          </p:cNvPr>
          <p:cNvSpPr/>
          <p:nvPr/>
        </p:nvSpPr>
        <p:spPr>
          <a:xfrm>
            <a:off x="12700" y="12700"/>
            <a:ext cx="12700" cy="12700"/>
          </a:xfrm>
          <a:prstGeom prst="rect">
            <a:avLst/>
          </a:prstGeom>
          <a:noFill/>
          <a:ln w="19050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4132919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yebrow">
            <a:extLst>
              <a:ext uri="{FF2B5EF4-FFF2-40B4-BE49-F238E27FC236}">
                <a16:creationId xmlns:a16="http://schemas.microsoft.com/office/drawing/2014/main" id="{380AF3C0-D362-4868-8E0F-54015F0F225A}"/>
              </a:ext>
            </a:extLst>
          </p:cNvPr>
          <p:cNvSpPr>
            <a:spLocks noGrp="1"/>
          </p:cNvSpPr>
          <p:nvPr/>
        </p:nvSpPr>
        <p:spPr>
          <a:xfrm>
            <a:off x="514350" y="2095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040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4FE8920A-7BB6-4DC1-A988-C56407E50B86}"/>
              </a:ext>
            </a:extLst>
          </p:cNvPr>
          <p:cNvSpPr>
            <a:spLocks noGrp="1"/>
          </p:cNvSpPr>
          <p:nvPr/>
        </p:nvSpPr>
        <p:spPr>
          <a:xfrm>
            <a:off x="495300" y="428625"/>
            <a:ext cx="11191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Hasta acá: registro, DFT, FFT y bins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B304E0FA-14B2-46D7-B1C9-56907EF05A7D}"/>
              </a:ext>
            </a:extLst>
          </p:cNvPr>
          <p:cNvSpPr>
            <a:spLocks noGrp="1"/>
          </p:cNvSpPr>
          <p:nvPr/>
        </p:nvSpPr>
        <p:spPr>
          <a:xfrm>
            <a:off x="523875" y="971550"/>
            <a:ext cx="11001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Parámetros mínimos para interpretar un gráfico digital.</a:t>
            </a:r>
          </a:p>
        </p:txBody>
      </p:sp>
      <p:sp>
        <p:nvSpPr>
          <p:cNvPr id="4" name="U05-DG-014-recap_object">
            <a:extLst>
              <a:ext uri="{FF2B5EF4-FFF2-40B4-BE49-F238E27FC236}">
                <a16:creationId xmlns:a16="http://schemas.microsoft.com/office/drawing/2014/main" id="{59979E4B-0F40-483E-8CAD-CE33F333500E}"/>
              </a:ext>
            </a:extLst>
          </p:cNvPr>
          <p:cNvSpPr>
            <a:spLocks noGrp="1"/>
          </p:cNvSpPr>
          <p:nvPr/>
        </p:nvSpPr>
        <p:spPr>
          <a:xfrm>
            <a:off x="857250" y="1714500"/>
            <a:ext cx="3048000" cy="1238250"/>
          </a:xfrm>
          <a:prstGeom prst="roundRect">
            <a:avLst>
              <a:gd name="adj" fmla="val 10769"/>
            </a:avLst>
          </a:prstGeom>
          <a:solidFill>
            <a:srgbClr val="EFF8FA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5" name="U05-DG-014-recap_object-title">
            <a:extLst>
              <a:ext uri="{FF2B5EF4-FFF2-40B4-BE49-F238E27FC236}">
                <a16:creationId xmlns:a16="http://schemas.microsoft.com/office/drawing/2014/main" id="{1A0DF117-1891-4A70-8414-A4935CC3DD6A}"/>
              </a:ext>
            </a:extLst>
          </p:cNvPr>
          <p:cNvSpPr>
            <a:spLocks noGrp="1"/>
          </p:cNvSpPr>
          <p:nvPr/>
        </p:nvSpPr>
        <p:spPr>
          <a:xfrm>
            <a:off x="1028700" y="1838325"/>
            <a:ext cx="27051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Objeto</a:t>
            </a:r>
          </a:p>
        </p:txBody>
      </p:sp>
      <p:sp>
        <p:nvSpPr>
          <p:cNvPr id="6" name="U05-DG-014-recap_object-body">
            <a:extLst>
              <a:ext uri="{FF2B5EF4-FFF2-40B4-BE49-F238E27FC236}">
                <a16:creationId xmlns:a16="http://schemas.microsoft.com/office/drawing/2014/main" id="{36297FC6-FC4A-4997-BA9B-90334ABE09D0}"/>
              </a:ext>
            </a:extLst>
          </p:cNvPr>
          <p:cNvSpPr>
            <a:spLocks noGrp="1"/>
          </p:cNvSpPr>
          <p:nvPr/>
        </p:nvSpPr>
        <p:spPr>
          <a:xfrm>
            <a:off x="1028700" y="2209800"/>
            <a:ext cx="27051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señal / sistema</a:t>
            </a:r>
          </a:p>
        </p:txBody>
      </p:sp>
      <p:sp>
        <p:nvSpPr>
          <p:cNvPr id="7" name="U05-DG-014-recap_axes">
            <a:extLst>
              <a:ext uri="{FF2B5EF4-FFF2-40B4-BE49-F238E27FC236}">
                <a16:creationId xmlns:a16="http://schemas.microsoft.com/office/drawing/2014/main" id="{6A1DFF9B-DC8D-4B1E-87D4-F0600C71AD20}"/>
              </a:ext>
            </a:extLst>
          </p:cNvPr>
          <p:cNvSpPr>
            <a:spLocks noGrp="1"/>
          </p:cNvSpPr>
          <p:nvPr/>
        </p:nvSpPr>
        <p:spPr>
          <a:xfrm>
            <a:off x="4572000" y="1714500"/>
            <a:ext cx="3048000" cy="1238250"/>
          </a:xfrm>
          <a:prstGeom prst="roundRect">
            <a:avLst>
              <a:gd name="adj" fmla="val 10769"/>
            </a:avLst>
          </a:prstGeom>
          <a:solidFill>
            <a:srgbClr val="F3F6F8"/>
          </a:solidFill>
          <a:ln w="19050">
            <a:solidFill>
              <a:srgbClr val="8291A3"/>
            </a:solidFill>
            <a:prstDash val="solid"/>
          </a:ln>
        </p:spPr>
      </p:sp>
      <p:sp>
        <p:nvSpPr>
          <p:cNvPr id="8" name="U05-DG-014-recap_axes-title">
            <a:extLst>
              <a:ext uri="{FF2B5EF4-FFF2-40B4-BE49-F238E27FC236}">
                <a16:creationId xmlns:a16="http://schemas.microsoft.com/office/drawing/2014/main" id="{D8CB2B90-39EE-4255-ACE0-EBC03FBE92E2}"/>
              </a:ext>
            </a:extLst>
          </p:cNvPr>
          <p:cNvSpPr>
            <a:spLocks noGrp="1"/>
          </p:cNvSpPr>
          <p:nvPr/>
        </p:nvSpPr>
        <p:spPr>
          <a:xfrm>
            <a:off x="4743450" y="1838325"/>
            <a:ext cx="27051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Ejes</a:t>
            </a:r>
          </a:p>
        </p:txBody>
      </p:sp>
      <p:sp>
        <p:nvSpPr>
          <p:cNvPr id="9" name="U05-DG-014-recap_axes-body">
            <a:extLst>
              <a:ext uri="{FF2B5EF4-FFF2-40B4-BE49-F238E27FC236}">
                <a16:creationId xmlns:a16="http://schemas.microsoft.com/office/drawing/2014/main" id="{5E0D1F2A-19D8-4CAF-9042-4105326CB721}"/>
              </a:ext>
            </a:extLst>
          </p:cNvPr>
          <p:cNvSpPr>
            <a:spLocks noGrp="1"/>
          </p:cNvSpPr>
          <p:nvPr/>
        </p:nvSpPr>
        <p:spPr>
          <a:xfrm>
            <a:off x="4743450" y="2209800"/>
            <a:ext cx="27051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t / f</a:t>
            </a:r>
          </a:p>
        </p:txBody>
      </p:sp>
      <p:sp>
        <p:nvSpPr>
          <p:cNvPr id="10" name="U05-DG-014-recap_units">
            <a:extLst>
              <a:ext uri="{FF2B5EF4-FFF2-40B4-BE49-F238E27FC236}">
                <a16:creationId xmlns:a16="http://schemas.microsoft.com/office/drawing/2014/main" id="{2ED9EBE3-802F-4A87-ABE9-040EA9DBDF90}"/>
              </a:ext>
            </a:extLst>
          </p:cNvPr>
          <p:cNvSpPr>
            <a:spLocks noGrp="1"/>
          </p:cNvSpPr>
          <p:nvPr/>
        </p:nvSpPr>
        <p:spPr>
          <a:xfrm>
            <a:off x="8286750" y="1714500"/>
            <a:ext cx="3048000" cy="1238250"/>
          </a:xfrm>
          <a:prstGeom prst="roundRect">
            <a:avLst>
              <a:gd name="adj" fmla="val 10769"/>
            </a:avLst>
          </a:prstGeom>
          <a:solidFill>
            <a:srgbClr val="F3F6F8"/>
          </a:solidFill>
          <a:ln w="19050">
            <a:solidFill>
              <a:srgbClr val="8291A3"/>
            </a:solidFill>
            <a:prstDash val="solid"/>
          </a:ln>
        </p:spPr>
      </p:sp>
      <p:sp>
        <p:nvSpPr>
          <p:cNvPr id="11" name="U05-DG-014-recap_units-title">
            <a:extLst>
              <a:ext uri="{FF2B5EF4-FFF2-40B4-BE49-F238E27FC236}">
                <a16:creationId xmlns:a16="http://schemas.microsoft.com/office/drawing/2014/main" id="{ADBCDAE7-840D-4EE3-A474-2161D8D3E9EA}"/>
              </a:ext>
            </a:extLst>
          </p:cNvPr>
          <p:cNvSpPr>
            <a:spLocks noGrp="1"/>
          </p:cNvSpPr>
          <p:nvPr/>
        </p:nvSpPr>
        <p:spPr>
          <a:xfrm>
            <a:off x="8458200" y="1838325"/>
            <a:ext cx="27051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Unidades</a:t>
            </a:r>
          </a:p>
        </p:txBody>
      </p:sp>
      <p:sp>
        <p:nvSpPr>
          <p:cNvPr id="12" name="U05-DG-014-recap_units-body">
            <a:extLst>
              <a:ext uri="{FF2B5EF4-FFF2-40B4-BE49-F238E27FC236}">
                <a16:creationId xmlns:a16="http://schemas.microsoft.com/office/drawing/2014/main" id="{C01B20BF-FB39-474E-A7AB-A74121B83036}"/>
              </a:ext>
            </a:extLst>
          </p:cNvPr>
          <p:cNvSpPr>
            <a:spLocks noGrp="1"/>
          </p:cNvSpPr>
          <p:nvPr/>
        </p:nvSpPr>
        <p:spPr>
          <a:xfrm>
            <a:off x="8458200" y="2209800"/>
            <a:ext cx="27051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s · Hz · Pa · dB</a:t>
            </a:r>
          </a:p>
        </p:txBody>
      </p:sp>
      <p:sp>
        <p:nvSpPr>
          <p:cNvPr id="13" name="U05-DG-014-recap_params">
            <a:extLst>
              <a:ext uri="{FF2B5EF4-FFF2-40B4-BE49-F238E27FC236}">
                <a16:creationId xmlns:a16="http://schemas.microsoft.com/office/drawing/2014/main" id="{D345EA1C-71AD-4B3E-B23D-F17DD5A60E45}"/>
              </a:ext>
            </a:extLst>
          </p:cNvPr>
          <p:cNvSpPr>
            <a:spLocks noGrp="1"/>
          </p:cNvSpPr>
          <p:nvPr/>
        </p:nvSpPr>
        <p:spPr>
          <a:xfrm>
            <a:off x="2667000" y="3905250"/>
            <a:ext cx="3048000" cy="1238250"/>
          </a:xfrm>
          <a:prstGeom prst="roundRect">
            <a:avLst>
              <a:gd name="adj" fmla="val 10769"/>
            </a:avLst>
          </a:prstGeom>
          <a:solidFill>
            <a:srgbClr val="DDEFF5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14" name="U05-DG-014-recap_params-title">
            <a:extLst>
              <a:ext uri="{FF2B5EF4-FFF2-40B4-BE49-F238E27FC236}">
                <a16:creationId xmlns:a16="http://schemas.microsoft.com/office/drawing/2014/main" id="{FA967800-C906-471A-98F0-2D4437827458}"/>
              </a:ext>
            </a:extLst>
          </p:cNvPr>
          <p:cNvSpPr>
            <a:spLocks noGrp="1"/>
          </p:cNvSpPr>
          <p:nvPr/>
        </p:nvSpPr>
        <p:spPr>
          <a:xfrm>
            <a:off x="2838450" y="4029075"/>
            <a:ext cx="27051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Parámetros</a:t>
            </a:r>
          </a:p>
        </p:txBody>
      </p:sp>
      <p:sp>
        <p:nvSpPr>
          <p:cNvPr id="15" name="U05-DG-014-recap_params-body">
            <a:extLst>
              <a:ext uri="{FF2B5EF4-FFF2-40B4-BE49-F238E27FC236}">
                <a16:creationId xmlns:a16="http://schemas.microsoft.com/office/drawing/2014/main" id="{5CEAD6B1-1FAD-4AD6-ACA7-80AB233590A4}"/>
              </a:ext>
            </a:extLst>
          </p:cNvPr>
          <p:cNvSpPr>
            <a:spLocks noGrp="1"/>
          </p:cNvSpPr>
          <p:nvPr/>
        </p:nvSpPr>
        <p:spPr>
          <a:xfrm>
            <a:off x="2838450" y="4400550"/>
            <a:ext cx="27051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ventana · N · fₛ</a:t>
            </a:r>
          </a:p>
        </p:txBody>
      </p:sp>
      <p:sp>
        <p:nvSpPr>
          <p:cNvPr id="16" name="U05-DG-014-recap_limit">
            <a:extLst>
              <a:ext uri="{FF2B5EF4-FFF2-40B4-BE49-F238E27FC236}">
                <a16:creationId xmlns:a16="http://schemas.microsoft.com/office/drawing/2014/main" id="{2800A9F9-2D22-41AF-B3A7-F506FFEEA9DD}"/>
              </a:ext>
            </a:extLst>
          </p:cNvPr>
          <p:cNvSpPr>
            <a:spLocks noGrp="1"/>
          </p:cNvSpPr>
          <p:nvPr/>
        </p:nvSpPr>
        <p:spPr>
          <a:xfrm>
            <a:off x="6477000" y="3905250"/>
            <a:ext cx="3048000" cy="1238250"/>
          </a:xfrm>
          <a:prstGeom prst="roundRect">
            <a:avLst>
              <a:gd name="adj" fmla="val 10769"/>
            </a:avLst>
          </a:prstGeom>
          <a:solidFill>
            <a:srgbClr val="E3F2ED"/>
          </a:solidFill>
          <a:ln w="19050">
            <a:solidFill>
              <a:srgbClr val="2D7867"/>
            </a:solidFill>
            <a:prstDash val="solid"/>
          </a:ln>
        </p:spPr>
      </p:sp>
      <p:sp>
        <p:nvSpPr>
          <p:cNvPr id="17" name="U05-DG-014-recap_limit-title">
            <a:extLst>
              <a:ext uri="{FF2B5EF4-FFF2-40B4-BE49-F238E27FC236}">
                <a16:creationId xmlns:a16="http://schemas.microsoft.com/office/drawing/2014/main" id="{521C5BD8-84C0-49EB-A98D-D31516669358}"/>
              </a:ext>
            </a:extLst>
          </p:cNvPr>
          <p:cNvSpPr>
            <a:spLocks noGrp="1"/>
          </p:cNvSpPr>
          <p:nvPr/>
        </p:nvSpPr>
        <p:spPr>
          <a:xfrm>
            <a:off x="6648450" y="4029075"/>
            <a:ext cx="27051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Límite</a:t>
            </a:r>
          </a:p>
        </p:txBody>
      </p:sp>
      <p:sp>
        <p:nvSpPr>
          <p:cNvPr id="18" name="U05-DG-014-recap_limit-body">
            <a:extLst>
              <a:ext uri="{FF2B5EF4-FFF2-40B4-BE49-F238E27FC236}">
                <a16:creationId xmlns:a16="http://schemas.microsoft.com/office/drawing/2014/main" id="{587E21D2-FC3D-47AF-97F8-BFC845588F19}"/>
              </a:ext>
            </a:extLst>
          </p:cNvPr>
          <p:cNvSpPr>
            <a:spLocks noGrp="1"/>
          </p:cNvSpPr>
          <p:nvPr/>
        </p:nvSpPr>
        <p:spPr>
          <a:xfrm>
            <a:off x="6648450" y="4400550"/>
            <a:ext cx="27051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alcance declarado</a:t>
            </a:r>
          </a:p>
        </p:txBody>
      </p:sp>
      <p:sp>
        <p:nvSpPr>
          <p:cNvPr id="19" name="diagram-scale-note">
            <a:extLst>
              <a:ext uri="{FF2B5EF4-FFF2-40B4-BE49-F238E27FC236}">
                <a16:creationId xmlns:a16="http://schemas.microsoft.com/office/drawing/2014/main" id="{169A0960-CD43-4D52-8FCF-C75ED333B3DA}"/>
              </a:ext>
            </a:extLst>
          </p:cNvPr>
          <p:cNvSpPr>
            <a:spLocks noGrp="1"/>
          </p:cNvSpPr>
          <p:nvPr/>
        </p:nvSpPr>
        <p:spPr>
          <a:xfrm>
            <a:off x="552450" y="5829300"/>
            <a:ext cx="3905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05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Esquema conceptual · no está a escala</a:t>
            </a:r>
          </a:p>
        </p:txBody>
      </p:sp>
      <p:sp>
        <p:nvSpPr>
          <p:cNvPr id="20" name="caption">
            <a:extLst>
              <a:ext uri="{FF2B5EF4-FFF2-40B4-BE49-F238E27FC236}">
                <a16:creationId xmlns:a16="http://schemas.microsoft.com/office/drawing/2014/main" id="{4F98EAE4-7A27-468B-8812-5A42C6313B37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876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El resultado depende de cómo se registró y representó la señal.</a:t>
            </a:r>
          </a:p>
        </p:txBody>
      </p:sp>
      <p:sp>
        <p:nvSpPr>
          <p:cNvPr id="21" name="credit">
            <a:extLst>
              <a:ext uri="{FF2B5EF4-FFF2-40B4-BE49-F238E27FC236}">
                <a16:creationId xmlns:a16="http://schemas.microsoft.com/office/drawing/2014/main" id="{D7CAD4B0-A26D-4E0A-B808-83F60DD93D7A}"/>
              </a:ext>
            </a:extLst>
          </p:cNvPr>
          <p:cNvSpPr>
            <a:spLocks noGrp="1"/>
          </p:cNvSpPr>
          <p:nvPr/>
        </p:nvSpPr>
        <p:spPr>
          <a:xfrm>
            <a:off x="9382125" y="60769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5.4.4; U05-031–039.</a:t>
            </a:r>
          </a:p>
        </p:txBody>
      </p:sp>
      <p:sp>
        <p:nvSpPr>
          <p:cNvPr id="23" name="slide-alt-summary" descr="Cadena digital recapitulada con metadatos de muestreo, duración y ordenada.">
            <a:extLst>
              <a:ext uri="{FF2B5EF4-FFF2-40B4-BE49-F238E27FC236}">
                <a16:creationId xmlns:a16="http://schemas.microsoft.com/office/drawing/2014/main" id="{CBBE44C3-B45C-4F12-53AF-55DF09092994}"/>
              </a:ext>
            </a:extLst>
          </p:cNvPr>
          <p:cNvSpPr/>
          <p:nvPr/>
        </p:nvSpPr>
        <p:spPr>
          <a:xfrm>
            <a:off x="12700" y="12700"/>
            <a:ext cx="12700" cy="12700"/>
          </a:xfrm>
          <a:prstGeom prst="rect">
            <a:avLst/>
          </a:prstGeom>
          <a:noFill/>
          <a:ln w="19050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2020363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yebrow">
            <a:extLst>
              <a:ext uri="{FF2B5EF4-FFF2-40B4-BE49-F238E27FC236}">
                <a16:creationId xmlns:a16="http://schemas.microsoft.com/office/drawing/2014/main" id="{E2F6FCCC-5B72-411B-B04E-695FD407743A}"/>
              </a:ext>
            </a:extLst>
          </p:cNvPr>
          <p:cNvSpPr>
            <a:spLocks noGrp="1"/>
          </p:cNvSpPr>
          <p:nvPr/>
        </p:nvSpPr>
        <p:spPr>
          <a:xfrm>
            <a:off x="514350" y="2095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1" i="0">
                <a:solidFill>
                  <a:srgbClr val="B9D8E7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B9D8E7"/>
                </a:solidFill>
                <a:latin typeface="Calibri"/>
                <a:ea typeface="Calibri"/>
                <a:cs typeface="Calibri"/>
              </a:rPr>
              <a:t>UNIDAD 5 · 041</a:t>
            </a:r>
          </a:p>
        </p:txBody>
      </p:sp>
      <p:sp>
        <p:nvSpPr>
          <p:cNvPr id="2" name="divider-title">
            <a:extLst>
              <a:ext uri="{FF2B5EF4-FFF2-40B4-BE49-F238E27FC236}">
                <a16:creationId xmlns:a16="http://schemas.microsoft.com/office/drawing/2014/main" id="{59BA71BE-EB0D-486D-92BE-72536F80159B}"/>
              </a:ext>
            </a:extLst>
          </p:cNvPr>
          <p:cNvSpPr>
            <a:spLocks noGrp="1"/>
          </p:cNvSpPr>
          <p:nvPr/>
        </p:nvSpPr>
        <p:spPr>
          <a:xfrm>
            <a:off x="714375" y="2190750"/>
            <a:ext cx="104775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lnSpc>
                <a:spcPct val="102000"/>
              </a:lnSpc>
              <a:buNone/>
              <a:defRPr sz="4050" b="1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4050" b="1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El espectro depende del recorte temporal</a:t>
            </a:r>
          </a:p>
        </p:txBody>
      </p:sp>
      <p:sp>
        <p:nvSpPr>
          <p:cNvPr id="3" name="divider-subtitle">
            <a:extLst>
              <a:ext uri="{FF2B5EF4-FFF2-40B4-BE49-F238E27FC236}">
                <a16:creationId xmlns:a16="http://schemas.microsoft.com/office/drawing/2014/main" id="{6B156E07-142B-4676-BB9F-DB0389DD022D}"/>
              </a:ext>
            </a:extLst>
          </p:cNvPr>
          <p:cNvSpPr>
            <a:spLocks noGrp="1"/>
          </p:cNvSpPr>
          <p:nvPr/>
        </p:nvSpPr>
        <p:spPr>
          <a:xfrm>
            <a:off x="1714500" y="3429000"/>
            <a:ext cx="8763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100" b="0" i="0">
                <a:solidFill>
                  <a:srgbClr val="D6E4EA"/>
                </a:solidFill>
                <a:latin typeface="Calibri"/>
                <a:ea typeface="Calibri"/>
                <a:cs typeface="Calibri"/>
              </a:defRPr>
            </a:pPr>
            <a:r>
              <a:rPr sz="2100" b="0" i="0">
                <a:solidFill>
                  <a:srgbClr val="D6E4EA"/>
                </a:solidFill>
                <a:latin typeface="Calibri"/>
                <a:ea typeface="Calibri"/>
                <a:cs typeface="Calibri"/>
              </a:rPr>
              <a:t>Analizar un segmento implica seleccionar una parte del registro.</a:t>
            </a:r>
          </a:p>
        </p:txBody>
      </p:sp>
      <p:sp>
        <p:nvSpPr>
          <p:cNvPr id="4" name="divider-content">
            <a:extLst>
              <a:ext uri="{FF2B5EF4-FFF2-40B4-BE49-F238E27FC236}">
                <a16:creationId xmlns:a16="http://schemas.microsoft.com/office/drawing/2014/main" id="{F59964E2-B12F-4E58-A262-63ABED5254C3}"/>
              </a:ext>
            </a:extLst>
          </p:cNvPr>
          <p:cNvSpPr>
            <a:spLocks noGrp="1"/>
          </p:cNvSpPr>
          <p:nvPr/>
        </p:nvSpPr>
        <p:spPr>
          <a:xfrm>
            <a:off x="2190750" y="4333875"/>
            <a:ext cx="781050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ctr">
              <a:lnSpc>
                <a:spcPct val="102000"/>
              </a:lnSpc>
              <a:buNone/>
              <a:defRPr sz="1875" b="0" i="0">
                <a:solidFill>
                  <a:srgbClr val="BDD0DA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BDD0DA"/>
                </a:solidFill>
                <a:latin typeface="Calibri"/>
                <a:ea typeface="Calibri"/>
                <a:cs typeface="Calibri"/>
              </a:rPr>
              <a:t>¿Qué cambia si el recorte contiene un número entero o no entero de ciclos?</a:t>
            </a:r>
          </a:p>
        </p:txBody>
      </p:sp>
      <p:sp>
        <p:nvSpPr>
          <p:cNvPr id="6" name="slide-alt-summary" descr="Señal extensa con una región temporal seleccionada.">
            <a:extLst>
              <a:ext uri="{FF2B5EF4-FFF2-40B4-BE49-F238E27FC236}">
                <a16:creationId xmlns:a16="http://schemas.microsoft.com/office/drawing/2014/main" id="{6CB0F9BA-6D21-5FAB-AFBD-C8F17B483D29}"/>
              </a:ext>
            </a:extLst>
          </p:cNvPr>
          <p:cNvSpPr/>
          <p:nvPr/>
        </p:nvSpPr>
        <p:spPr>
          <a:xfrm>
            <a:off x="12700" y="12700"/>
            <a:ext cx="12700" cy="12700"/>
          </a:xfrm>
          <a:prstGeom prst="rect">
            <a:avLst/>
          </a:prstGeom>
          <a:noFill/>
          <a:ln w="19050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eyebrow">
            <a:extLst>
              <a:ext uri="{FF2B5EF4-FFF2-40B4-BE49-F238E27FC236}">
                <a16:creationId xmlns:a16="http://schemas.microsoft.com/office/drawing/2014/main" id="{438FA764-610A-4B3E-AAEB-7393BE764B8F}"/>
              </a:ext>
            </a:extLst>
          </p:cNvPr>
          <p:cNvSpPr>
            <a:spLocks noGrp="1"/>
          </p:cNvSpPr>
          <p:nvPr/>
        </p:nvSpPr>
        <p:spPr>
          <a:xfrm>
            <a:off x="514350" y="2095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042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C6B96FA4-1340-48B4-ACF8-107008E376D7}"/>
              </a:ext>
            </a:extLst>
          </p:cNvPr>
          <p:cNvSpPr>
            <a:spLocks noGrp="1"/>
          </p:cNvSpPr>
          <p:nvPr/>
        </p:nvSpPr>
        <p:spPr>
          <a:xfrm>
            <a:off x="495300" y="428625"/>
            <a:ext cx="11191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Recortar una señal equivale a multiplicarla por una ventana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0AFC37AC-86FB-4949-8C38-16041F59B4AD}"/>
              </a:ext>
            </a:extLst>
          </p:cNvPr>
          <p:cNvSpPr>
            <a:spLocks noGrp="1"/>
          </p:cNvSpPr>
          <p:nvPr/>
        </p:nvSpPr>
        <p:spPr>
          <a:xfrm>
            <a:off x="523875" y="971550"/>
            <a:ext cx="11001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La ventana pondera qué parte del registro entra al análisis.</a:t>
            </a:r>
          </a:p>
        </p:txBody>
      </p:sp>
      <p:sp>
        <p:nvSpPr>
          <p:cNvPr id="4" name="U05-DG-005-long_signal">
            <a:extLst>
              <a:ext uri="{FF2B5EF4-FFF2-40B4-BE49-F238E27FC236}">
                <a16:creationId xmlns:a16="http://schemas.microsoft.com/office/drawing/2014/main" id="{82566EC2-EDBC-47CB-8978-5879DA207EC0}"/>
              </a:ext>
            </a:extLst>
          </p:cNvPr>
          <p:cNvSpPr>
            <a:spLocks noGrp="1"/>
          </p:cNvSpPr>
          <p:nvPr/>
        </p:nvSpPr>
        <p:spPr>
          <a:xfrm>
            <a:off x="809625" y="2286000"/>
            <a:ext cx="1809750" cy="1381125"/>
          </a:xfrm>
          <a:prstGeom prst="roundRect">
            <a:avLst>
              <a:gd name="adj" fmla="val 9655"/>
            </a:avLst>
          </a:prstGeom>
          <a:solidFill>
            <a:srgbClr val="EFF8FA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5" name="U05-DG-005-long_signal-title">
            <a:extLst>
              <a:ext uri="{FF2B5EF4-FFF2-40B4-BE49-F238E27FC236}">
                <a16:creationId xmlns:a16="http://schemas.microsoft.com/office/drawing/2014/main" id="{C38BCC0A-FFBD-41B8-9390-D4E4D381BDDE}"/>
              </a:ext>
            </a:extLst>
          </p:cNvPr>
          <p:cNvSpPr>
            <a:spLocks noGrp="1"/>
          </p:cNvSpPr>
          <p:nvPr/>
        </p:nvSpPr>
        <p:spPr>
          <a:xfrm>
            <a:off x="981075" y="2409825"/>
            <a:ext cx="1466850" cy="4143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Señal</a:t>
            </a:r>
          </a:p>
        </p:txBody>
      </p:sp>
      <p:sp>
        <p:nvSpPr>
          <p:cNvPr id="6" name="U05-DG-005-long_signal-body">
            <a:extLst>
              <a:ext uri="{FF2B5EF4-FFF2-40B4-BE49-F238E27FC236}">
                <a16:creationId xmlns:a16="http://schemas.microsoft.com/office/drawing/2014/main" id="{A8BEDE65-C585-49F4-9313-525AFAE81A29}"/>
              </a:ext>
            </a:extLst>
          </p:cNvPr>
          <p:cNvSpPr>
            <a:spLocks noGrp="1"/>
          </p:cNvSpPr>
          <p:nvPr/>
        </p:nvSpPr>
        <p:spPr>
          <a:xfrm>
            <a:off x="981075" y="2824163"/>
            <a:ext cx="1466850" cy="7191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registro</a:t>
            </a:r>
          </a:p>
        </p:txBody>
      </p:sp>
      <p:sp>
        <p:nvSpPr>
          <p:cNvPr id="7" name="U05-DG-005-selection">
            <a:extLst>
              <a:ext uri="{FF2B5EF4-FFF2-40B4-BE49-F238E27FC236}">
                <a16:creationId xmlns:a16="http://schemas.microsoft.com/office/drawing/2014/main" id="{D952B108-1F0F-48B3-A74C-9315764DBD45}"/>
              </a:ext>
            </a:extLst>
          </p:cNvPr>
          <p:cNvSpPr>
            <a:spLocks noGrp="1"/>
          </p:cNvSpPr>
          <p:nvPr/>
        </p:nvSpPr>
        <p:spPr>
          <a:xfrm>
            <a:off x="3000375" y="2286000"/>
            <a:ext cx="1809750" cy="1381125"/>
          </a:xfrm>
          <a:prstGeom prst="roundRect">
            <a:avLst>
              <a:gd name="adj" fmla="val 9655"/>
            </a:avLst>
          </a:prstGeom>
          <a:solidFill>
            <a:srgbClr val="F3F6F8"/>
          </a:solidFill>
          <a:ln w="19050">
            <a:solidFill>
              <a:srgbClr val="8291A3"/>
            </a:solidFill>
            <a:prstDash val="solid"/>
          </a:ln>
        </p:spPr>
      </p:sp>
      <p:sp>
        <p:nvSpPr>
          <p:cNvPr id="8" name="U05-DG-005-selection-title">
            <a:extLst>
              <a:ext uri="{FF2B5EF4-FFF2-40B4-BE49-F238E27FC236}">
                <a16:creationId xmlns:a16="http://schemas.microsoft.com/office/drawing/2014/main" id="{5DACC1D4-B797-41AD-B3FE-25BE41FE4A0E}"/>
              </a:ext>
            </a:extLst>
          </p:cNvPr>
          <p:cNvSpPr>
            <a:spLocks noGrp="1"/>
          </p:cNvSpPr>
          <p:nvPr/>
        </p:nvSpPr>
        <p:spPr>
          <a:xfrm>
            <a:off x="3171825" y="2409825"/>
            <a:ext cx="1466850" cy="4143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Tramo</a:t>
            </a:r>
          </a:p>
        </p:txBody>
      </p:sp>
      <p:sp>
        <p:nvSpPr>
          <p:cNvPr id="9" name="U05-DG-005-selection-body">
            <a:extLst>
              <a:ext uri="{FF2B5EF4-FFF2-40B4-BE49-F238E27FC236}">
                <a16:creationId xmlns:a16="http://schemas.microsoft.com/office/drawing/2014/main" id="{ACE86236-B39B-41BA-AD55-996C48A6A985}"/>
              </a:ext>
            </a:extLst>
          </p:cNvPr>
          <p:cNvSpPr>
            <a:spLocks noGrp="1"/>
          </p:cNvSpPr>
          <p:nvPr/>
        </p:nvSpPr>
        <p:spPr>
          <a:xfrm>
            <a:off x="3171825" y="2824163"/>
            <a:ext cx="1466850" cy="7191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selección</a:t>
            </a:r>
          </a:p>
        </p:txBody>
      </p:sp>
      <p:sp>
        <p:nvSpPr>
          <p:cNvPr id="10" name="U05-DG-005-multiply_window">
            <a:extLst>
              <a:ext uri="{FF2B5EF4-FFF2-40B4-BE49-F238E27FC236}">
                <a16:creationId xmlns:a16="http://schemas.microsoft.com/office/drawing/2014/main" id="{783CE736-D0E4-4DEB-95D6-5B678063CE61}"/>
              </a:ext>
            </a:extLst>
          </p:cNvPr>
          <p:cNvSpPr>
            <a:spLocks noGrp="1"/>
          </p:cNvSpPr>
          <p:nvPr/>
        </p:nvSpPr>
        <p:spPr>
          <a:xfrm>
            <a:off x="5191125" y="2286000"/>
            <a:ext cx="1809750" cy="1381125"/>
          </a:xfrm>
          <a:prstGeom prst="roundRect">
            <a:avLst>
              <a:gd name="adj" fmla="val 9655"/>
            </a:avLst>
          </a:prstGeom>
          <a:solidFill>
            <a:srgbClr val="DDEFF5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11" name="U05-DG-005-multiply_window-title">
            <a:extLst>
              <a:ext uri="{FF2B5EF4-FFF2-40B4-BE49-F238E27FC236}">
                <a16:creationId xmlns:a16="http://schemas.microsoft.com/office/drawing/2014/main" id="{CC5D1A18-0F8C-4AFB-9B2E-5924042F7FB9}"/>
              </a:ext>
            </a:extLst>
          </p:cNvPr>
          <p:cNvSpPr>
            <a:spLocks noGrp="1"/>
          </p:cNvSpPr>
          <p:nvPr/>
        </p:nvSpPr>
        <p:spPr>
          <a:xfrm>
            <a:off x="5362575" y="2409825"/>
            <a:ext cx="1466850" cy="4143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Ventana</a:t>
            </a:r>
          </a:p>
        </p:txBody>
      </p:sp>
      <p:sp>
        <p:nvSpPr>
          <p:cNvPr id="12" name="U05-DG-005-multiply_window-body">
            <a:extLst>
              <a:ext uri="{FF2B5EF4-FFF2-40B4-BE49-F238E27FC236}">
                <a16:creationId xmlns:a16="http://schemas.microsoft.com/office/drawing/2014/main" id="{74CA57EC-C2AC-4CBC-AF47-0D3590D05346}"/>
              </a:ext>
            </a:extLst>
          </p:cNvPr>
          <p:cNvSpPr>
            <a:spLocks noGrp="1"/>
          </p:cNvSpPr>
          <p:nvPr/>
        </p:nvSpPr>
        <p:spPr>
          <a:xfrm>
            <a:off x="5362575" y="2824163"/>
            <a:ext cx="1466850" cy="7191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multiplica</a:t>
            </a:r>
          </a:p>
        </p:txBody>
      </p:sp>
      <p:sp>
        <p:nvSpPr>
          <p:cNvPr id="13" name="U05-DG-005-local_spectra">
            <a:extLst>
              <a:ext uri="{FF2B5EF4-FFF2-40B4-BE49-F238E27FC236}">
                <a16:creationId xmlns:a16="http://schemas.microsoft.com/office/drawing/2014/main" id="{B19B10BE-5AB1-4FCA-91C2-77EA43FD2AA1}"/>
              </a:ext>
            </a:extLst>
          </p:cNvPr>
          <p:cNvSpPr>
            <a:spLocks noGrp="1"/>
          </p:cNvSpPr>
          <p:nvPr/>
        </p:nvSpPr>
        <p:spPr>
          <a:xfrm>
            <a:off x="7381875" y="2286000"/>
            <a:ext cx="1809750" cy="1381125"/>
          </a:xfrm>
          <a:prstGeom prst="roundRect">
            <a:avLst>
              <a:gd name="adj" fmla="val 9655"/>
            </a:avLst>
          </a:prstGeom>
          <a:solidFill>
            <a:srgbClr val="EFF8FA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14" name="U05-DG-005-local_spectra-title">
            <a:extLst>
              <a:ext uri="{FF2B5EF4-FFF2-40B4-BE49-F238E27FC236}">
                <a16:creationId xmlns:a16="http://schemas.microsoft.com/office/drawing/2014/main" id="{7C62BBF4-40BA-49C9-912F-4264E9FC2EA2}"/>
              </a:ext>
            </a:extLst>
          </p:cNvPr>
          <p:cNvSpPr>
            <a:spLocks noGrp="1"/>
          </p:cNvSpPr>
          <p:nvPr/>
        </p:nvSpPr>
        <p:spPr>
          <a:xfrm>
            <a:off x="7553325" y="2409825"/>
            <a:ext cx="1466850" cy="4143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Espectros</a:t>
            </a:r>
          </a:p>
        </p:txBody>
      </p:sp>
      <p:sp>
        <p:nvSpPr>
          <p:cNvPr id="15" name="U05-DG-005-local_spectra-body">
            <a:extLst>
              <a:ext uri="{FF2B5EF4-FFF2-40B4-BE49-F238E27FC236}">
                <a16:creationId xmlns:a16="http://schemas.microsoft.com/office/drawing/2014/main" id="{9672D473-DCD1-45B6-869E-4D52D447D178}"/>
              </a:ext>
            </a:extLst>
          </p:cNvPr>
          <p:cNvSpPr>
            <a:spLocks noGrp="1"/>
          </p:cNvSpPr>
          <p:nvPr/>
        </p:nvSpPr>
        <p:spPr>
          <a:xfrm>
            <a:off x="7553325" y="2824163"/>
            <a:ext cx="1466850" cy="7191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rejilla t–f</a:t>
            </a:r>
          </a:p>
        </p:txBody>
      </p:sp>
      <p:sp>
        <p:nvSpPr>
          <p:cNvPr id="16" name="U05-DG-005-group_bands">
            <a:extLst>
              <a:ext uri="{FF2B5EF4-FFF2-40B4-BE49-F238E27FC236}">
                <a16:creationId xmlns:a16="http://schemas.microsoft.com/office/drawing/2014/main" id="{777D0904-179F-4378-9023-3A60A26FD084}"/>
              </a:ext>
            </a:extLst>
          </p:cNvPr>
          <p:cNvSpPr>
            <a:spLocks noGrp="1"/>
          </p:cNvSpPr>
          <p:nvPr/>
        </p:nvSpPr>
        <p:spPr>
          <a:xfrm>
            <a:off x="9572625" y="2286000"/>
            <a:ext cx="1809750" cy="1381125"/>
          </a:xfrm>
          <a:prstGeom prst="roundRect">
            <a:avLst>
              <a:gd name="adj" fmla="val 9655"/>
            </a:avLst>
          </a:prstGeom>
          <a:solidFill>
            <a:srgbClr val="E3F2ED"/>
          </a:solidFill>
          <a:ln w="19050">
            <a:solidFill>
              <a:srgbClr val="2D7867"/>
            </a:solidFill>
            <a:prstDash val="solid"/>
          </a:ln>
        </p:spPr>
      </p:sp>
      <p:sp>
        <p:nvSpPr>
          <p:cNvPr id="17" name="U05-DG-005-group_bands-title">
            <a:extLst>
              <a:ext uri="{FF2B5EF4-FFF2-40B4-BE49-F238E27FC236}">
                <a16:creationId xmlns:a16="http://schemas.microsoft.com/office/drawing/2014/main" id="{6B4CB1F1-5E5D-4D01-AF2C-EEF5E055BAEB}"/>
              </a:ext>
            </a:extLst>
          </p:cNvPr>
          <p:cNvSpPr>
            <a:spLocks noGrp="1"/>
          </p:cNvSpPr>
          <p:nvPr/>
        </p:nvSpPr>
        <p:spPr>
          <a:xfrm>
            <a:off x="9744075" y="2409825"/>
            <a:ext cx="1466850" cy="4143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Bandas</a:t>
            </a:r>
          </a:p>
        </p:txBody>
      </p:sp>
      <p:sp>
        <p:nvSpPr>
          <p:cNvPr id="18" name="U05-DG-005-group_bands-body">
            <a:extLst>
              <a:ext uri="{FF2B5EF4-FFF2-40B4-BE49-F238E27FC236}">
                <a16:creationId xmlns:a16="http://schemas.microsoft.com/office/drawing/2014/main" id="{101754FD-031C-42AA-A36C-B133C61E0071}"/>
              </a:ext>
            </a:extLst>
          </p:cNvPr>
          <p:cNvSpPr>
            <a:spLocks noGrp="1"/>
          </p:cNvSpPr>
          <p:nvPr/>
        </p:nvSpPr>
        <p:spPr>
          <a:xfrm>
            <a:off x="9744075" y="2824163"/>
            <a:ext cx="1466850" cy="7191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suma energía</a:t>
            </a:r>
          </a:p>
        </p:txBody>
      </p:sp>
      <p:cxnSp>
        <p:nvCxnSpPr>
          <p:cNvPr id="44" name="U05-DG-005-mix_1"/>
          <p:cNvCxnSpPr>
            <a:stCxn id="4" idx="3"/>
            <a:endCxn id="7" idx="1"/>
          </p:cNvCxnSpPr>
          <p:nvPr/>
        </p:nvCxnSpPr>
        <p:spPr>
          <a:xfrm>
            <a:off x="2619375" y="2976563"/>
            <a:ext cx="381000" cy="0"/>
          </a:xfrm>
          <a:prstGeom prst="straightConnector1">
            <a:avLst/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cxnSp>
        <p:nvCxnSpPr>
          <p:cNvPr id="45" name="U05-DG-005-mix_2"/>
          <p:cNvCxnSpPr>
            <a:stCxn id="7" idx="3"/>
            <a:endCxn id="10" idx="1"/>
          </p:cNvCxnSpPr>
          <p:nvPr/>
        </p:nvCxnSpPr>
        <p:spPr>
          <a:xfrm>
            <a:off x="4810125" y="2976563"/>
            <a:ext cx="381000" cy="0"/>
          </a:xfrm>
          <a:prstGeom prst="straightConnector1">
            <a:avLst/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cxnSp>
        <p:nvCxnSpPr>
          <p:cNvPr id="46" name="U05-DG-005-mix_3"/>
          <p:cNvCxnSpPr>
            <a:stCxn id="10" idx="3"/>
            <a:endCxn id="13" idx="1"/>
          </p:cNvCxnSpPr>
          <p:nvPr/>
        </p:nvCxnSpPr>
        <p:spPr>
          <a:xfrm>
            <a:off x="7000875" y="2976563"/>
            <a:ext cx="381000" cy="0"/>
          </a:xfrm>
          <a:prstGeom prst="straightConnector1">
            <a:avLst/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cxnSp>
        <p:nvCxnSpPr>
          <p:cNvPr id="47" name="U05-DG-005-mix_4"/>
          <p:cNvCxnSpPr>
            <a:stCxn id="13" idx="3"/>
            <a:endCxn id="16" idx="1"/>
          </p:cNvCxnSpPr>
          <p:nvPr/>
        </p:nvCxnSpPr>
        <p:spPr>
          <a:xfrm>
            <a:off x="9191625" y="2976563"/>
            <a:ext cx="381000" cy="0"/>
          </a:xfrm>
          <a:prstGeom prst="straightConnector1">
            <a:avLst/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sp>
        <p:nvSpPr>
          <p:cNvPr id="23" name="diagram-scale-note">
            <a:extLst>
              <a:ext uri="{FF2B5EF4-FFF2-40B4-BE49-F238E27FC236}">
                <a16:creationId xmlns:a16="http://schemas.microsoft.com/office/drawing/2014/main" id="{727F9C66-FF5B-49F3-A269-3CF399B2C170}"/>
              </a:ext>
            </a:extLst>
          </p:cNvPr>
          <p:cNvSpPr>
            <a:spLocks noGrp="1"/>
          </p:cNvSpPr>
          <p:nvPr/>
        </p:nvSpPr>
        <p:spPr>
          <a:xfrm>
            <a:off x="552450" y="5829300"/>
            <a:ext cx="3905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05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Esquema conceptual · no está a escala</a:t>
            </a:r>
          </a:p>
        </p:txBody>
      </p:sp>
      <p:sp>
        <p:nvSpPr>
          <p:cNvPr id="24" name="caption">
            <a:extLst>
              <a:ext uri="{FF2B5EF4-FFF2-40B4-BE49-F238E27FC236}">
                <a16:creationId xmlns:a16="http://schemas.microsoft.com/office/drawing/2014/main" id="{5E3BC076-EAF3-4D66-BEE0-8ECB8A8DE811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876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Toda selección temporal tiene una forma de ventana, explícita o implícita.</a:t>
            </a:r>
          </a:p>
        </p:txBody>
      </p:sp>
      <p:sp>
        <p:nvSpPr>
          <p:cNvPr id="25" name="credit">
            <a:extLst>
              <a:ext uri="{FF2B5EF4-FFF2-40B4-BE49-F238E27FC236}">
                <a16:creationId xmlns:a16="http://schemas.microsoft.com/office/drawing/2014/main" id="{0FCE6131-BF76-4132-B72E-D3EA90F72B37}"/>
              </a:ext>
            </a:extLst>
          </p:cNvPr>
          <p:cNvSpPr>
            <a:spLocks noGrp="1"/>
          </p:cNvSpPr>
          <p:nvPr/>
        </p:nvSpPr>
        <p:spPr>
          <a:xfrm>
            <a:off x="9382125" y="60769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5.4.5; EP.</a:t>
            </a:r>
          </a:p>
        </p:txBody>
      </p:sp>
      <p:sp>
        <p:nvSpPr>
          <p:cNvPr id="19" name="slide-alt-summary" descr="Tres mini gráficos muestran señal, ventana y producto resultante.">
            <a:extLst>
              <a:ext uri="{FF2B5EF4-FFF2-40B4-BE49-F238E27FC236}">
                <a16:creationId xmlns:a16="http://schemas.microsoft.com/office/drawing/2014/main" id="{8FEFDD13-20D6-FF3A-27E0-CEA2CBBAFA26}"/>
              </a:ext>
            </a:extLst>
          </p:cNvPr>
          <p:cNvSpPr/>
          <p:nvPr/>
        </p:nvSpPr>
        <p:spPr>
          <a:xfrm>
            <a:off x="12700" y="12700"/>
            <a:ext cx="12700" cy="12700"/>
          </a:xfrm>
          <a:prstGeom prst="rect">
            <a:avLst/>
          </a:prstGeom>
          <a:noFill/>
          <a:ln w="19050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6743830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yebrow">
            <a:extLst>
              <a:ext uri="{FF2B5EF4-FFF2-40B4-BE49-F238E27FC236}">
                <a16:creationId xmlns:a16="http://schemas.microsoft.com/office/drawing/2014/main" id="{2966EFD5-98DD-4E2E-88A6-8D3745403F81}"/>
              </a:ext>
            </a:extLst>
          </p:cNvPr>
          <p:cNvSpPr>
            <a:spLocks noGrp="1"/>
          </p:cNvSpPr>
          <p:nvPr/>
        </p:nvSpPr>
        <p:spPr>
          <a:xfrm>
            <a:off x="514350" y="2095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043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BE0098E6-93EF-4F6E-A604-0939BBE5B3F4}"/>
              </a:ext>
            </a:extLst>
          </p:cNvPr>
          <p:cNvSpPr>
            <a:spLocks noGrp="1"/>
          </p:cNvSpPr>
          <p:nvPr/>
        </p:nvSpPr>
        <p:spPr>
          <a:xfrm>
            <a:off x="495300" y="428625"/>
            <a:ext cx="11191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El mismo tono puede repartirse entre varios bins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426ADDE0-7636-44BF-A0BE-EB11E93B3E8A}"/>
              </a:ext>
            </a:extLst>
          </p:cNvPr>
          <p:cNvSpPr>
            <a:spLocks noGrp="1"/>
          </p:cNvSpPr>
          <p:nvPr/>
        </p:nvSpPr>
        <p:spPr>
          <a:xfrm>
            <a:off x="523875" y="971550"/>
            <a:ext cx="11001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La compatibilidad entre frecuencia, duración y ventana modifica el resultado.</a:t>
            </a:r>
          </a:p>
        </p:txBody>
      </p:sp>
      <p:pic>
        <p:nvPicPr>
          <p:cNvPr id="13" name="Gráfico 1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457200" y="1381125"/>
            <a:ext cx="7524750" cy="4429125"/>
          </a:xfrm>
          <a:prstGeom prst="rect">
            <a:avLst/>
          </a:prstGeom>
        </p:spPr>
      </p:pic>
      <p:sp>
        <p:nvSpPr>
          <p:cNvPr id="5" name="chart-reading-box">
            <a:extLst>
              <a:ext uri="{FF2B5EF4-FFF2-40B4-BE49-F238E27FC236}">
                <a16:creationId xmlns:a16="http://schemas.microsoft.com/office/drawing/2014/main" id="{CAD34850-7555-4AB6-9429-CAB37FFA3965}"/>
              </a:ext>
            </a:extLst>
          </p:cNvPr>
          <p:cNvSpPr>
            <a:spLocks noGrp="1"/>
          </p:cNvSpPr>
          <p:nvPr/>
        </p:nvSpPr>
        <p:spPr>
          <a:xfrm>
            <a:off x="8239125" y="1476375"/>
            <a:ext cx="3190875" cy="3857625"/>
          </a:xfrm>
          <a:prstGeom prst="roundRect">
            <a:avLst>
              <a:gd name="adj" fmla="val 4179"/>
            </a:avLst>
          </a:prstGeom>
          <a:solidFill>
            <a:srgbClr val="DDEFF5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6" name="chart-reading-title">
            <a:extLst>
              <a:ext uri="{FF2B5EF4-FFF2-40B4-BE49-F238E27FC236}">
                <a16:creationId xmlns:a16="http://schemas.microsoft.com/office/drawing/2014/main" id="{EB91B8A2-163D-4891-A86F-03D54C015306}"/>
              </a:ext>
            </a:extLst>
          </p:cNvPr>
          <p:cNvSpPr>
            <a:spLocks noGrp="1"/>
          </p:cNvSpPr>
          <p:nvPr/>
        </p:nvSpPr>
        <p:spPr>
          <a:xfrm>
            <a:off x="8410575" y="1609725"/>
            <a:ext cx="28479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Qué leer</a:t>
            </a:r>
          </a:p>
        </p:txBody>
      </p:sp>
      <p:sp>
        <p:nvSpPr>
          <p:cNvPr id="7" name="chart-reading-body">
            <a:extLst>
              <a:ext uri="{FF2B5EF4-FFF2-40B4-BE49-F238E27FC236}">
                <a16:creationId xmlns:a16="http://schemas.microsoft.com/office/drawing/2014/main" id="{7429C1E2-B9C6-4D73-88D9-A17990F81F77}"/>
              </a:ext>
            </a:extLst>
          </p:cNvPr>
          <p:cNvSpPr>
            <a:spLocks noGrp="1"/>
          </p:cNvSpPr>
          <p:nvPr/>
        </p:nvSpPr>
        <p:spPr>
          <a:xfrm>
            <a:off x="8410575" y="1990725"/>
            <a:ext cx="2847975" cy="3209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Caso A: número entero de períodos. Caso B: número no entero. Misma frecuencia distinta distribución espectral.</a:t>
            </a:r>
          </a:p>
        </p:txBody>
      </p:sp>
      <p:sp>
        <p:nvSpPr>
          <p:cNvPr id="8" name="caption">
            <a:extLst>
              <a:ext uri="{FF2B5EF4-FFF2-40B4-BE49-F238E27FC236}">
                <a16:creationId xmlns:a16="http://schemas.microsoft.com/office/drawing/2014/main" id="{5607BA83-7EF3-4722-93F9-529F41959792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876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La fuga no representa nuevas componentes físicas ni ruido agregado.</a:t>
            </a:r>
          </a:p>
        </p:txBody>
      </p:sp>
      <p:sp>
        <p:nvSpPr>
          <p:cNvPr id="9" name="credit">
            <a:extLst>
              <a:ext uri="{FF2B5EF4-FFF2-40B4-BE49-F238E27FC236}">
                <a16:creationId xmlns:a16="http://schemas.microsoft.com/office/drawing/2014/main" id="{FA783034-B50E-4F4F-897B-EA02CC903214}"/>
              </a:ext>
            </a:extLst>
          </p:cNvPr>
          <p:cNvSpPr>
            <a:spLocks noGrp="1"/>
          </p:cNvSpPr>
          <p:nvPr/>
        </p:nvSpPr>
        <p:spPr>
          <a:xfrm>
            <a:off x="9382125" y="60769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5.4.5; EP.</a:t>
            </a:r>
          </a:p>
        </p:txBody>
      </p:sp>
      <p:sp>
        <p:nvSpPr>
          <p:cNvPr id="4" name="slide-alt-summary" descr="Dos registros temporales y sus espectros comparan ciclos enteros y no enteros.">
            <a:extLst>
              <a:ext uri="{FF2B5EF4-FFF2-40B4-BE49-F238E27FC236}">
                <a16:creationId xmlns:a16="http://schemas.microsoft.com/office/drawing/2014/main" id="{B4963F4F-D732-A629-3091-DA0BF83DCFE4}"/>
              </a:ext>
            </a:extLst>
          </p:cNvPr>
          <p:cNvSpPr/>
          <p:nvPr/>
        </p:nvSpPr>
        <p:spPr>
          <a:xfrm>
            <a:off x="12700" y="12700"/>
            <a:ext cx="12700" cy="12700"/>
          </a:xfrm>
          <a:prstGeom prst="rect">
            <a:avLst/>
          </a:prstGeom>
          <a:noFill/>
          <a:ln w="19050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864900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yebrow">
            <a:extLst>
              <a:ext uri="{FF2B5EF4-FFF2-40B4-BE49-F238E27FC236}">
                <a16:creationId xmlns:a16="http://schemas.microsoft.com/office/drawing/2014/main" id="{17E1E368-ECEF-4837-A5C9-D20C37DAF4CA}"/>
              </a:ext>
            </a:extLst>
          </p:cNvPr>
          <p:cNvSpPr>
            <a:spLocks noGrp="1"/>
          </p:cNvSpPr>
          <p:nvPr/>
        </p:nvSpPr>
        <p:spPr>
          <a:xfrm>
            <a:off x="514350" y="2095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044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7B2C6052-D79A-45F0-AFF6-6D86D492692A}"/>
              </a:ext>
            </a:extLst>
          </p:cNvPr>
          <p:cNvSpPr>
            <a:spLocks noGrp="1"/>
          </p:cNvSpPr>
          <p:nvPr/>
        </p:nvSpPr>
        <p:spPr>
          <a:xfrm>
            <a:off x="495300" y="428625"/>
            <a:ext cx="11191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Fuga espectral: distribución causada por el registro finito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F44CEE10-2679-435E-8A2E-FEA3607EDED8}"/>
              </a:ext>
            </a:extLst>
          </p:cNvPr>
          <p:cNvSpPr>
            <a:spLocks noGrp="1"/>
          </p:cNvSpPr>
          <p:nvPr/>
        </p:nvSpPr>
        <p:spPr>
          <a:xfrm>
            <a:off x="523875" y="971550"/>
            <a:ext cx="11001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No es una falla única del software.</a:t>
            </a:r>
          </a:p>
        </p:txBody>
      </p:sp>
      <p:pic>
        <p:nvPicPr>
          <p:cNvPr id="13" name="Gráfico 1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457200" y="1381125"/>
            <a:ext cx="7524750" cy="4429125"/>
          </a:xfrm>
          <a:prstGeom prst="rect">
            <a:avLst/>
          </a:prstGeom>
        </p:spPr>
      </p:pic>
      <p:sp>
        <p:nvSpPr>
          <p:cNvPr id="5" name="chart-reading-box">
            <a:extLst>
              <a:ext uri="{FF2B5EF4-FFF2-40B4-BE49-F238E27FC236}">
                <a16:creationId xmlns:a16="http://schemas.microsoft.com/office/drawing/2014/main" id="{FEA147D7-1CBC-44F4-B4E7-64F5DDADA7EA}"/>
              </a:ext>
            </a:extLst>
          </p:cNvPr>
          <p:cNvSpPr>
            <a:spLocks noGrp="1"/>
          </p:cNvSpPr>
          <p:nvPr/>
        </p:nvSpPr>
        <p:spPr>
          <a:xfrm>
            <a:off x="8239125" y="1476375"/>
            <a:ext cx="3190875" cy="3857625"/>
          </a:xfrm>
          <a:prstGeom prst="roundRect">
            <a:avLst>
              <a:gd name="adj" fmla="val 4179"/>
            </a:avLst>
          </a:prstGeom>
          <a:solidFill>
            <a:srgbClr val="DDEFF5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6" name="chart-reading-title">
            <a:extLst>
              <a:ext uri="{FF2B5EF4-FFF2-40B4-BE49-F238E27FC236}">
                <a16:creationId xmlns:a16="http://schemas.microsoft.com/office/drawing/2014/main" id="{5E1AC6FC-3249-4CCD-BF79-F3EFB369379C}"/>
              </a:ext>
            </a:extLst>
          </p:cNvPr>
          <p:cNvSpPr>
            <a:spLocks noGrp="1"/>
          </p:cNvSpPr>
          <p:nvPr/>
        </p:nvSpPr>
        <p:spPr>
          <a:xfrm>
            <a:off x="8410575" y="1609725"/>
            <a:ext cx="28479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Qué leer</a:t>
            </a:r>
          </a:p>
        </p:txBody>
      </p:sp>
      <p:sp>
        <p:nvSpPr>
          <p:cNvPr id="7" name="chart-reading-body">
            <a:extLst>
              <a:ext uri="{FF2B5EF4-FFF2-40B4-BE49-F238E27FC236}">
                <a16:creationId xmlns:a16="http://schemas.microsoft.com/office/drawing/2014/main" id="{2010A4F8-4E75-4799-8404-A0EC9D0527FF}"/>
              </a:ext>
            </a:extLst>
          </p:cNvPr>
          <p:cNvSpPr>
            <a:spLocks noGrp="1"/>
          </p:cNvSpPr>
          <p:nvPr/>
        </p:nvSpPr>
        <p:spPr>
          <a:xfrm>
            <a:off x="8410575" y="1990725"/>
            <a:ext cx="2847975" cy="3209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Causa: recorte y discontinuidad de borde. Efecto: una contribución se distribuye. Depende de frecuencia, duración y ventana.</a:t>
            </a:r>
          </a:p>
        </p:txBody>
      </p:sp>
      <p:sp>
        <p:nvSpPr>
          <p:cNvPr id="8" name="caption">
            <a:extLst>
              <a:ext uri="{FF2B5EF4-FFF2-40B4-BE49-F238E27FC236}">
                <a16:creationId xmlns:a16="http://schemas.microsoft.com/office/drawing/2014/main" id="{EA82A30A-765F-4220-B2A3-B3D979B2F89C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876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Un tono no ocupa necesariamente una sola línea de la DFT.</a:t>
            </a:r>
          </a:p>
        </p:txBody>
      </p:sp>
      <p:sp>
        <p:nvSpPr>
          <p:cNvPr id="9" name="credit">
            <a:extLst>
              <a:ext uri="{FF2B5EF4-FFF2-40B4-BE49-F238E27FC236}">
                <a16:creationId xmlns:a16="http://schemas.microsoft.com/office/drawing/2014/main" id="{E508BD7B-858E-42D2-A236-5B10787403AD}"/>
              </a:ext>
            </a:extLst>
          </p:cNvPr>
          <p:cNvSpPr>
            <a:spLocks noGrp="1"/>
          </p:cNvSpPr>
          <p:nvPr/>
        </p:nvSpPr>
        <p:spPr>
          <a:xfrm>
            <a:off x="9382125" y="60769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5.4.5 y 5.13.</a:t>
            </a:r>
          </a:p>
        </p:txBody>
      </p:sp>
      <p:sp>
        <p:nvSpPr>
          <p:cNvPr id="4" name="slide-alt-summary" descr="Pico central con contribuciones laterales y llamadas a borde y duración.">
            <a:extLst>
              <a:ext uri="{FF2B5EF4-FFF2-40B4-BE49-F238E27FC236}">
                <a16:creationId xmlns:a16="http://schemas.microsoft.com/office/drawing/2014/main" id="{713B3392-57E3-4E09-2A6C-B2E996E13BCF}"/>
              </a:ext>
            </a:extLst>
          </p:cNvPr>
          <p:cNvSpPr/>
          <p:nvPr/>
        </p:nvSpPr>
        <p:spPr>
          <a:xfrm>
            <a:off x="12700" y="12700"/>
            <a:ext cx="12700" cy="12700"/>
          </a:xfrm>
          <a:prstGeom prst="rect">
            <a:avLst/>
          </a:prstGeom>
          <a:noFill/>
          <a:ln w="19050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8663046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yebrow">
            <a:extLst>
              <a:ext uri="{FF2B5EF4-FFF2-40B4-BE49-F238E27FC236}">
                <a16:creationId xmlns:a16="http://schemas.microsoft.com/office/drawing/2014/main" id="{A28A98A5-737F-4A13-AE7B-C67D59AAFC29}"/>
              </a:ext>
            </a:extLst>
          </p:cNvPr>
          <p:cNvSpPr>
            <a:spLocks noGrp="1"/>
          </p:cNvSpPr>
          <p:nvPr/>
        </p:nvSpPr>
        <p:spPr>
          <a:xfrm>
            <a:off x="514350" y="2095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045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E7121C21-5A37-4D3A-983E-9C7F34B43527}"/>
              </a:ext>
            </a:extLst>
          </p:cNvPr>
          <p:cNvSpPr>
            <a:spLocks noGrp="1"/>
          </p:cNvSpPr>
          <p:nvPr/>
        </p:nvSpPr>
        <p:spPr>
          <a:xfrm>
            <a:off x="495300" y="428625"/>
            <a:ext cx="11191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Una ventana reduce lóbulos laterales y ensancha picos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987E54E5-102D-4958-8259-5CF5B8C2972F}"/>
              </a:ext>
            </a:extLst>
          </p:cNvPr>
          <p:cNvSpPr>
            <a:spLocks noGrp="1"/>
          </p:cNvSpPr>
          <p:nvPr/>
        </p:nvSpPr>
        <p:spPr>
          <a:xfrm>
            <a:off x="523875" y="971550"/>
            <a:ext cx="11001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Toda elección introduce un compromiso.</a:t>
            </a:r>
          </a:p>
        </p:txBody>
      </p:sp>
      <p:sp>
        <p:nvSpPr>
          <p:cNvPr id="4" name="compare-a-box">
            <a:extLst>
              <a:ext uri="{FF2B5EF4-FFF2-40B4-BE49-F238E27FC236}">
                <a16:creationId xmlns:a16="http://schemas.microsoft.com/office/drawing/2014/main" id="{2F37D4B1-FDC0-4C59-9682-0AE5D0ADFFC3}"/>
              </a:ext>
            </a:extLst>
          </p:cNvPr>
          <p:cNvSpPr>
            <a:spLocks noGrp="1"/>
          </p:cNvSpPr>
          <p:nvPr/>
        </p:nvSpPr>
        <p:spPr>
          <a:xfrm>
            <a:off x="619125" y="1476375"/>
            <a:ext cx="5191125" cy="3810000"/>
          </a:xfrm>
          <a:prstGeom prst="roundRect">
            <a:avLst>
              <a:gd name="adj" fmla="val 3500"/>
            </a:avLst>
          </a:prstGeom>
          <a:solidFill>
            <a:srgbClr val="EFF8FA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5" name="compare-a-title">
            <a:extLst>
              <a:ext uri="{FF2B5EF4-FFF2-40B4-BE49-F238E27FC236}">
                <a16:creationId xmlns:a16="http://schemas.microsoft.com/office/drawing/2014/main" id="{86CE887A-D21F-4175-9E9C-580A8409FADC}"/>
              </a:ext>
            </a:extLst>
          </p:cNvPr>
          <p:cNvSpPr>
            <a:spLocks noGrp="1"/>
          </p:cNvSpPr>
          <p:nvPr/>
        </p:nvSpPr>
        <p:spPr>
          <a:xfrm>
            <a:off x="790575" y="1609725"/>
            <a:ext cx="48482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Primera lectura</a:t>
            </a:r>
          </a:p>
        </p:txBody>
      </p:sp>
      <p:sp>
        <p:nvSpPr>
          <p:cNvPr id="6" name="compare-a-body">
            <a:extLst>
              <a:ext uri="{FF2B5EF4-FFF2-40B4-BE49-F238E27FC236}">
                <a16:creationId xmlns:a16="http://schemas.microsoft.com/office/drawing/2014/main" id="{76EB2764-F476-45D5-BB63-7DA059F3D596}"/>
              </a:ext>
            </a:extLst>
          </p:cNvPr>
          <p:cNvSpPr>
            <a:spLocks noGrp="1"/>
          </p:cNvSpPr>
          <p:nvPr/>
        </p:nvSpPr>
        <p:spPr>
          <a:xfrm>
            <a:off x="790575" y="1990725"/>
            <a:ext cx="4848225" cy="3162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95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Rectangular: lóbulo principal estrecho, laterales altos. Hann: lóbulo principal más ancho, laterales menores.</a:t>
            </a:r>
          </a:p>
        </p:txBody>
      </p:sp>
      <p:sp>
        <p:nvSpPr>
          <p:cNvPr id="7" name="compare-b-box">
            <a:extLst>
              <a:ext uri="{FF2B5EF4-FFF2-40B4-BE49-F238E27FC236}">
                <a16:creationId xmlns:a16="http://schemas.microsoft.com/office/drawing/2014/main" id="{1F4D0DC8-438F-40C9-BD69-239AF19C3C30}"/>
              </a:ext>
            </a:extLst>
          </p:cNvPr>
          <p:cNvSpPr>
            <a:spLocks noGrp="1"/>
          </p:cNvSpPr>
          <p:nvPr/>
        </p:nvSpPr>
        <p:spPr>
          <a:xfrm>
            <a:off x="6381750" y="1476375"/>
            <a:ext cx="5191125" cy="3810000"/>
          </a:xfrm>
          <a:prstGeom prst="roundRect">
            <a:avLst>
              <a:gd name="adj" fmla="val 3500"/>
            </a:avLst>
          </a:prstGeom>
          <a:solidFill>
            <a:srgbClr val="E3F2ED"/>
          </a:solidFill>
          <a:ln w="19050">
            <a:solidFill>
              <a:srgbClr val="2D7867"/>
            </a:solidFill>
            <a:prstDash val="solid"/>
          </a:ln>
        </p:spPr>
      </p:sp>
      <p:sp>
        <p:nvSpPr>
          <p:cNvPr id="8" name="compare-b-title">
            <a:extLst>
              <a:ext uri="{FF2B5EF4-FFF2-40B4-BE49-F238E27FC236}">
                <a16:creationId xmlns:a16="http://schemas.microsoft.com/office/drawing/2014/main" id="{5E6FDEAB-2F6E-47FA-8571-870FF958B66A}"/>
              </a:ext>
            </a:extLst>
          </p:cNvPr>
          <p:cNvSpPr>
            <a:spLocks noGrp="1"/>
          </p:cNvSpPr>
          <p:nvPr/>
        </p:nvSpPr>
        <p:spPr>
          <a:xfrm>
            <a:off x="6553200" y="1609725"/>
            <a:ext cx="48482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Segunda lectura</a:t>
            </a:r>
          </a:p>
        </p:txBody>
      </p:sp>
      <p:sp>
        <p:nvSpPr>
          <p:cNvPr id="9" name="compare-b-body">
            <a:extLst>
              <a:ext uri="{FF2B5EF4-FFF2-40B4-BE49-F238E27FC236}">
                <a16:creationId xmlns:a16="http://schemas.microsoft.com/office/drawing/2014/main" id="{A878F3D6-87D9-4AC3-97E8-4A0319206E3E}"/>
              </a:ext>
            </a:extLst>
          </p:cNvPr>
          <p:cNvSpPr>
            <a:spLocks noGrp="1"/>
          </p:cNvSpPr>
          <p:nvPr/>
        </p:nvSpPr>
        <p:spPr>
          <a:xfrm>
            <a:off x="6553200" y="1990725"/>
            <a:ext cx="4848225" cy="3162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95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950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Elegir según la pregunta.</a:t>
            </a:r>
          </a:p>
        </p:txBody>
      </p:sp>
      <p:sp>
        <p:nvSpPr>
          <p:cNvPr id="10" name="caption">
            <a:extLst>
              <a:ext uri="{FF2B5EF4-FFF2-40B4-BE49-F238E27FC236}">
                <a16:creationId xmlns:a16="http://schemas.microsoft.com/office/drawing/2014/main" id="{44ACE262-30AB-4E36-8304-F8EC28F6CADB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876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Ninguna ventana mejora simultáneamente todos los criterios.</a:t>
            </a:r>
          </a:p>
        </p:txBody>
      </p:sp>
      <p:sp>
        <p:nvSpPr>
          <p:cNvPr id="11" name="credit">
            <a:extLst>
              <a:ext uri="{FF2B5EF4-FFF2-40B4-BE49-F238E27FC236}">
                <a16:creationId xmlns:a16="http://schemas.microsoft.com/office/drawing/2014/main" id="{5A1B0936-0027-45AB-8F1E-130905CA690A}"/>
              </a:ext>
            </a:extLst>
          </p:cNvPr>
          <p:cNvSpPr>
            <a:spLocks noGrp="1"/>
          </p:cNvSpPr>
          <p:nvPr/>
        </p:nvSpPr>
        <p:spPr>
          <a:xfrm>
            <a:off x="9382125" y="60769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5.4.5; SciPy pendiente de verificación.</a:t>
            </a:r>
          </a:p>
        </p:txBody>
      </p:sp>
      <p:sp>
        <p:nvSpPr>
          <p:cNvPr id="13" name="slide-alt-summary" descr="Comparación conceptual de ventanas rectangular y Hann y sus respuestas normalizadas.">
            <a:extLst>
              <a:ext uri="{FF2B5EF4-FFF2-40B4-BE49-F238E27FC236}">
                <a16:creationId xmlns:a16="http://schemas.microsoft.com/office/drawing/2014/main" id="{D6D35ED8-CBF6-EB3D-08BF-A894EF6955F1}"/>
              </a:ext>
            </a:extLst>
          </p:cNvPr>
          <p:cNvSpPr/>
          <p:nvPr/>
        </p:nvSpPr>
        <p:spPr>
          <a:xfrm>
            <a:off x="12700" y="12700"/>
            <a:ext cx="12700" cy="12700"/>
          </a:xfrm>
          <a:prstGeom prst="rect">
            <a:avLst/>
          </a:prstGeom>
          <a:noFill/>
          <a:ln w="19050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yebrow">
            <a:extLst>
              <a:ext uri="{FF2B5EF4-FFF2-40B4-BE49-F238E27FC236}">
                <a16:creationId xmlns:a16="http://schemas.microsoft.com/office/drawing/2014/main" id="{B6EA4DD0-E423-40D0-8791-CEE4D23038CF}"/>
              </a:ext>
            </a:extLst>
          </p:cNvPr>
          <p:cNvSpPr>
            <a:spLocks noGrp="1"/>
          </p:cNvSpPr>
          <p:nvPr/>
        </p:nvSpPr>
        <p:spPr>
          <a:xfrm>
            <a:off x="514350" y="2095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046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1951F61E-87DA-4CBD-80D7-24221725A0D7}"/>
              </a:ext>
            </a:extLst>
          </p:cNvPr>
          <p:cNvSpPr>
            <a:spLocks noGrp="1"/>
          </p:cNvSpPr>
          <p:nvPr/>
        </p:nvSpPr>
        <p:spPr>
          <a:xfrm>
            <a:off x="495300" y="428625"/>
            <a:ext cx="11191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Ventanas cortas y largas responden preguntas diferentes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FD0FF442-8240-493A-A166-9C1EBAFDECF5}"/>
              </a:ext>
            </a:extLst>
          </p:cNvPr>
          <p:cNvSpPr>
            <a:spLocks noGrp="1"/>
          </p:cNvSpPr>
          <p:nvPr/>
        </p:nvSpPr>
        <p:spPr>
          <a:xfrm>
            <a:off x="523875" y="971550"/>
            <a:ext cx="11001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Resolución temporal y frecuencial compiten.</a:t>
            </a:r>
          </a:p>
        </p:txBody>
      </p:sp>
      <p:sp>
        <p:nvSpPr>
          <p:cNvPr id="4" name="main-ideas">
            <a:extLst>
              <a:ext uri="{FF2B5EF4-FFF2-40B4-BE49-F238E27FC236}">
                <a16:creationId xmlns:a16="http://schemas.microsoft.com/office/drawing/2014/main" id="{2CC6ACCF-28A3-43E6-A529-6DC6B61ABA28}"/>
              </a:ext>
            </a:extLst>
          </p:cNvPr>
          <p:cNvSpPr>
            <a:spLocks noGrp="1"/>
          </p:cNvSpPr>
          <p:nvPr/>
        </p:nvSpPr>
        <p:spPr>
          <a:xfrm>
            <a:off x="666750" y="1476375"/>
            <a:ext cx="6762750" cy="3857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76200" rIns="76200" bIns="76200">
            <a:noAutofit/>
          </a:bodyPr>
          <a:lstStyle/>
          <a:p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Ventana corta: localiza cambios.</a:t>
            </a:r>
          </a:p>
          <a:p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Ventana larga: separa frecuencias próximas.</a:t>
            </a:r>
          </a:p>
          <a:p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Leer siempre tiempo, frecuencia, color y parámetros.</a:t>
            </a:r>
          </a:p>
        </p:txBody>
      </p:sp>
      <p:sp>
        <p:nvSpPr>
          <p:cNvPr id="5" name="side-panel-box">
            <a:extLst>
              <a:ext uri="{FF2B5EF4-FFF2-40B4-BE49-F238E27FC236}">
                <a16:creationId xmlns:a16="http://schemas.microsoft.com/office/drawing/2014/main" id="{4751EB94-2E87-47A8-9D9B-D69FEB379F90}"/>
              </a:ext>
            </a:extLst>
          </p:cNvPr>
          <p:cNvSpPr>
            <a:spLocks noGrp="1"/>
          </p:cNvSpPr>
          <p:nvPr/>
        </p:nvSpPr>
        <p:spPr>
          <a:xfrm>
            <a:off x="7953375" y="1571625"/>
            <a:ext cx="3476625" cy="3381375"/>
          </a:xfrm>
          <a:prstGeom prst="roundRect">
            <a:avLst>
              <a:gd name="adj" fmla="val 3944"/>
            </a:avLst>
          </a:prstGeom>
          <a:solidFill>
            <a:srgbClr val="DDEFF5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6" name="side-panel-title">
            <a:extLst>
              <a:ext uri="{FF2B5EF4-FFF2-40B4-BE49-F238E27FC236}">
                <a16:creationId xmlns:a16="http://schemas.microsoft.com/office/drawing/2014/main" id="{D7B6053F-DDDB-4826-AD59-395CD4B9D753}"/>
              </a:ext>
            </a:extLst>
          </p:cNvPr>
          <p:cNvSpPr>
            <a:spLocks noGrp="1"/>
          </p:cNvSpPr>
          <p:nvPr/>
        </p:nvSpPr>
        <p:spPr>
          <a:xfrm>
            <a:off x="8124825" y="1704975"/>
            <a:ext cx="31337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Ejemplo</a:t>
            </a:r>
          </a:p>
        </p:txBody>
      </p:sp>
      <p:sp>
        <p:nvSpPr>
          <p:cNvPr id="7" name="side-panel-body">
            <a:extLst>
              <a:ext uri="{FF2B5EF4-FFF2-40B4-BE49-F238E27FC236}">
                <a16:creationId xmlns:a16="http://schemas.microsoft.com/office/drawing/2014/main" id="{D4D04573-B432-4831-8262-28CB9A76B4AA}"/>
              </a:ext>
            </a:extLst>
          </p:cNvPr>
          <p:cNvSpPr>
            <a:spLocks noGrp="1"/>
          </p:cNvSpPr>
          <p:nvPr/>
        </p:nvSpPr>
        <p:spPr>
          <a:xfrm>
            <a:off x="8124825" y="2085975"/>
            <a:ext cx="3133725" cy="2733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25 ms frente a 200 ms.</a:t>
            </a:r>
          </a:p>
        </p:txBody>
      </p:sp>
      <p:sp>
        <p:nvSpPr>
          <p:cNvPr id="8" name="caption">
            <a:extLst>
              <a:ext uri="{FF2B5EF4-FFF2-40B4-BE49-F238E27FC236}">
                <a16:creationId xmlns:a16="http://schemas.microsoft.com/office/drawing/2014/main" id="{391504B8-5020-4AF7-9B9E-DF25273E26C3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876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El espectrograma depende de la duración de ventana elegida.</a:t>
            </a:r>
          </a:p>
        </p:txBody>
      </p:sp>
      <p:sp>
        <p:nvSpPr>
          <p:cNvPr id="9" name="credit">
            <a:extLst>
              <a:ext uri="{FF2B5EF4-FFF2-40B4-BE49-F238E27FC236}">
                <a16:creationId xmlns:a16="http://schemas.microsoft.com/office/drawing/2014/main" id="{82B936E4-D0C4-40A4-8432-33AD1447FC6C}"/>
              </a:ext>
            </a:extLst>
          </p:cNvPr>
          <p:cNvSpPr>
            <a:spLocks noGrp="1"/>
          </p:cNvSpPr>
          <p:nvPr/>
        </p:nvSpPr>
        <p:spPr>
          <a:xfrm>
            <a:off x="9382125" y="60769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fig. 5.3; PDF p. 126.</a:t>
            </a:r>
          </a:p>
        </p:txBody>
      </p:sp>
      <p:sp>
        <p:nvSpPr>
          <p:cNvPr id="11" name="slide-alt-summary" descr="Dos espectrogramas de la misma señal muestran mejor localización temporal o mejor separación frecuencial.">
            <a:extLst>
              <a:ext uri="{FF2B5EF4-FFF2-40B4-BE49-F238E27FC236}">
                <a16:creationId xmlns:a16="http://schemas.microsoft.com/office/drawing/2014/main" id="{9B5EE2FA-0635-8FFD-55D7-D877CDB97715}"/>
              </a:ext>
            </a:extLst>
          </p:cNvPr>
          <p:cNvSpPr/>
          <p:nvPr/>
        </p:nvSpPr>
        <p:spPr>
          <a:xfrm>
            <a:off x="12700" y="12700"/>
            <a:ext cx="12700" cy="12700"/>
          </a:xfrm>
          <a:prstGeom prst="rect">
            <a:avLst/>
          </a:prstGeom>
          <a:noFill/>
          <a:ln w="19050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9544924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eyebrow">
            <a:extLst>
              <a:ext uri="{FF2B5EF4-FFF2-40B4-BE49-F238E27FC236}">
                <a16:creationId xmlns:a16="http://schemas.microsoft.com/office/drawing/2014/main" id="{4479146A-27BC-46DB-8979-65FE99E5F29A}"/>
              </a:ext>
            </a:extLst>
          </p:cNvPr>
          <p:cNvSpPr>
            <a:spLocks noGrp="1"/>
          </p:cNvSpPr>
          <p:nvPr/>
        </p:nvSpPr>
        <p:spPr>
          <a:xfrm>
            <a:off x="514350" y="2095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047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6F6ECF7D-2176-4DEA-9B51-BDE20FE7AD5A}"/>
              </a:ext>
            </a:extLst>
          </p:cNvPr>
          <p:cNvSpPr>
            <a:spLocks noGrp="1"/>
          </p:cNvSpPr>
          <p:nvPr/>
        </p:nvSpPr>
        <p:spPr>
          <a:xfrm>
            <a:off x="495300" y="428625"/>
            <a:ext cx="11191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Un espectrograma repite el análisis sobre segmentos sucesivos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15C1FBE9-99AA-48D2-9082-C0E72BEFEC44}"/>
              </a:ext>
            </a:extLst>
          </p:cNvPr>
          <p:cNvSpPr>
            <a:spLocks noGrp="1"/>
          </p:cNvSpPr>
          <p:nvPr/>
        </p:nvSpPr>
        <p:spPr>
          <a:xfrm>
            <a:off x="523875" y="971550"/>
            <a:ext cx="11001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Cada columna resume un espectro local.</a:t>
            </a:r>
          </a:p>
        </p:txBody>
      </p:sp>
      <p:sp>
        <p:nvSpPr>
          <p:cNvPr id="4" name="U05-DG-005-long_signal">
            <a:extLst>
              <a:ext uri="{FF2B5EF4-FFF2-40B4-BE49-F238E27FC236}">
                <a16:creationId xmlns:a16="http://schemas.microsoft.com/office/drawing/2014/main" id="{7E98B6BF-8D17-40D9-A640-B6335838C9ED}"/>
              </a:ext>
            </a:extLst>
          </p:cNvPr>
          <p:cNvSpPr>
            <a:spLocks noGrp="1"/>
          </p:cNvSpPr>
          <p:nvPr/>
        </p:nvSpPr>
        <p:spPr>
          <a:xfrm>
            <a:off x="809625" y="2286000"/>
            <a:ext cx="1809750" cy="1381125"/>
          </a:xfrm>
          <a:prstGeom prst="roundRect">
            <a:avLst>
              <a:gd name="adj" fmla="val 9655"/>
            </a:avLst>
          </a:prstGeom>
          <a:solidFill>
            <a:srgbClr val="EFF8FA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5" name="U05-DG-005-long_signal-title">
            <a:extLst>
              <a:ext uri="{FF2B5EF4-FFF2-40B4-BE49-F238E27FC236}">
                <a16:creationId xmlns:a16="http://schemas.microsoft.com/office/drawing/2014/main" id="{99929EEF-073E-4538-A12F-90478A5E6D08}"/>
              </a:ext>
            </a:extLst>
          </p:cNvPr>
          <p:cNvSpPr>
            <a:spLocks noGrp="1"/>
          </p:cNvSpPr>
          <p:nvPr/>
        </p:nvSpPr>
        <p:spPr>
          <a:xfrm>
            <a:off x="981075" y="2409825"/>
            <a:ext cx="1466850" cy="4143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Señal</a:t>
            </a:r>
          </a:p>
        </p:txBody>
      </p:sp>
      <p:sp>
        <p:nvSpPr>
          <p:cNvPr id="6" name="U05-DG-005-long_signal-body">
            <a:extLst>
              <a:ext uri="{FF2B5EF4-FFF2-40B4-BE49-F238E27FC236}">
                <a16:creationId xmlns:a16="http://schemas.microsoft.com/office/drawing/2014/main" id="{5B87929B-3A7C-4316-BFA1-235685C398FE}"/>
              </a:ext>
            </a:extLst>
          </p:cNvPr>
          <p:cNvSpPr>
            <a:spLocks noGrp="1"/>
          </p:cNvSpPr>
          <p:nvPr/>
        </p:nvSpPr>
        <p:spPr>
          <a:xfrm>
            <a:off x="981075" y="2824163"/>
            <a:ext cx="1466850" cy="7191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registro</a:t>
            </a:r>
          </a:p>
        </p:txBody>
      </p:sp>
      <p:sp>
        <p:nvSpPr>
          <p:cNvPr id="7" name="U05-DG-005-selection">
            <a:extLst>
              <a:ext uri="{FF2B5EF4-FFF2-40B4-BE49-F238E27FC236}">
                <a16:creationId xmlns:a16="http://schemas.microsoft.com/office/drawing/2014/main" id="{04EF0596-5F4E-48B8-A614-80E9773F848A}"/>
              </a:ext>
            </a:extLst>
          </p:cNvPr>
          <p:cNvSpPr>
            <a:spLocks noGrp="1"/>
          </p:cNvSpPr>
          <p:nvPr/>
        </p:nvSpPr>
        <p:spPr>
          <a:xfrm>
            <a:off x="3000375" y="2286000"/>
            <a:ext cx="1809750" cy="1381125"/>
          </a:xfrm>
          <a:prstGeom prst="roundRect">
            <a:avLst>
              <a:gd name="adj" fmla="val 9655"/>
            </a:avLst>
          </a:prstGeom>
          <a:solidFill>
            <a:srgbClr val="F3F6F8"/>
          </a:solidFill>
          <a:ln w="19050">
            <a:solidFill>
              <a:srgbClr val="8291A3"/>
            </a:solidFill>
            <a:prstDash val="solid"/>
          </a:ln>
        </p:spPr>
      </p:sp>
      <p:sp>
        <p:nvSpPr>
          <p:cNvPr id="8" name="U05-DG-005-selection-title">
            <a:extLst>
              <a:ext uri="{FF2B5EF4-FFF2-40B4-BE49-F238E27FC236}">
                <a16:creationId xmlns:a16="http://schemas.microsoft.com/office/drawing/2014/main" id="{01D15EFC-A740-46D9-BAC5-64D87987F9D2}"/>
              </a:ext>
            </a:extLst>
          </p:cNvPr>
          <p:cNvSpPr>
            <a:spLocks noGrp="1"/>
          </p:cNvSpPr>
          <p:nvPr/>
        </p:nvSpPr>
        <p:spPr>
          <a:xfrm>
            <a:off x="3171825" y="2409825"/>
            <a:ext cx="1466850" cy="4143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Tramo</a:t>
            </a:r>
          </a:p>
        </p:txBody>
      </p:sp>
      <p:sp>
        <p:nvSpPr>
          <p:cNvPr id="9" name="U05-DG-005-selection-body">
            <a:extLst>
              <a:ext uri="{FF2B5EF4-FFF2-40B4-BE49-F238E27FC236}">
                <a16:creationId xmlns:a16="http://schemas.microsoft.com/office/drawing/2014/main" id="{AC2E3F9A-1872-48C7-A545-452998EDA88D}"/>
              </a:ext>
            </a:extLst>
          </p:cNvPr>
          <p:cNvSpPr>
            <a:spLocks noGrp="1"/>
          </p:cNvSpPr>
          <p:nvPr/>
        </p:nvSpPr>
        <p:spPr>
          <a:xfrm>
            <a:off x="3171825" y="2824163"/>
            <a:ext cx="1466850" cy="7191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selección</a:t>
            </a:r>
          </a:p>
        </p:txBody>
      </p:sp>
      <p:sp>
        <p:nvSpPr>
          <p:cNvPr id="10" name="U05-DG-005-multiply_window">
            <a:extLst>
              <a:ext uri="{FF2B5EF4-FFF2-40B4-BE49-F238E27FC236}">
                <a16:creationId xmlns:a16="http://schemas.microsoft.com/office/drawing/2014/main" id="{3B77F917-F836-4DF1-A8D5-0A8FBE09F38E}"/>
              </a:ext>
            </a:extLst>
          </p:cNvPr>
          <p:cNvSpPr>
            <a:spLocks noGrp="1"/>
          </p:cNvSpPr>
          <p:nvPr/>
        </p:nvSpPr>
        <p:spPr>
          <a:xfrm>
            <a:off x="5191125" y="2286000"/>
            <a:ext cx="1809750" cy="1381125"/>
          </a:xfrm>
          <a:prstGeom prst="roundRect">
            <a:avLst>
              <a:gd name="adj" fmla="val 9655"/>
            </a:avLst>
          </a:prstGeom>
          <a:solidFill>
            <a:srgbClr val="DDEFF5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11" name="U05-DG-005-multiply_window-title">
            <a:extLst>
              <a:ext uri="{FF2B5EF4-FFF2-40B4-BE49-F238E27FC236}">
                <a16:creationId xmlns:a16="http://schemas.microsoft.com/office/drawing/2014/main" id="{EB89A89E-3513-4301-9634-66D2B14C0E2D}"/>
              </a:ext>
            </a:extLst>
          </p:cNvPr>
          <p:cNvSpPr>
            <a:spLocks noGrp="1"/>
          </p:cNvSpPr>
          <p:nvPr/>
        </p:nvSpPr>
        <p:spPr>
          <a:xfrm>
            <a:off x="5362575" y="2409825"/>
            <a:ext cx="1466850" cy="4143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Ventana</a:t>
            </a:r>
          </a:p>
        </p:txBody>
      </p:sp>
      <p:sp>
        <p:nvSpPr>
          <p:cNvPr id="12" name="U05-DG-005-multiply_window-body">
            <a:extLst>
              <a:ext uri="{FF2B5EF4-FFF2-40B4-BE49-F238E27FC236}">
                <a16:creationId xmlns:a16="http://schemas.microsoft.com/office/drawing/2014/main" id="{5762592E-E714-4D9D-A137-29D5490C794A}"/>
              </a:ext>
            </a:extLst>
          </p:cNvPr>
          <p:cNvSpPr>
            <a:spLocks noGrp="1"/>
          </p:cNvSpPr>
          <p:nvPr/>
        </p:nvSpPr>
        <p:spPr>
          <a:xfrm>
            <a:off x="5362575" y="2824163"/>
            <a:ext cx="1466850" cy="7191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multiplica</a:t>
            </a:r>
          </a:p>
        </p:txBody>
      </p:sp>
      <p:sp>
        <p:nvSpPr>
          <p:cNvPr id="13" name="U05-DG-005-local_spectra">
            <a:extLst>
              <a:ext uri="{FF2B5EF4-FFF2-40B4-BE49-F238E27FC236}">
                <a16:creationId xmlns:a16="http://schemas.microsoft.com/office/drawing/2014/main" id="{0CEEC41C-A6C8-4BFE-A502-8F396801AA85}"/>
              </a:ext>
            </a:extLst>
          </p:cNvPr>
          <p:cNvSpPr>
            <a:spLocks noGrp="1"/>
          </p:cNvSpPr>
          <p:nvPr/>
        </p:nvSpPr>
        <p:spPr>
          <a:xfrm>
            <a:off x="7381875" y="2286000"/>
            <a:ext cx="1809750" cy="1381125"/>
          </a:xfrm>
          <a:prstGeom prst="roundRect">
            <a:avLst>
              <a:gd name="adj" fmla="val 9655"/>
            </a:avLst>
          </a:prstGeom>
          <a:solidFill>
            <a:srgbClr val="EFF8FA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14" name="U05-DG-005-local_spectra-title">
            <a:extLst>
              <a:ext uri="{FF2B5EF4-FFF2-40B4-BE49-F238E27FC236}">
                <a16:creationId xmlns:a16="http://schemas.microsoft.com/office/drawing/2014/main" id="{096AD83B-D80F-4CC8-BE9D-4695490F6510}"/>
              </a:ext>
            </a:extLst>
          </p:cNvPr>
          <p:cNvSpPr>
            <a:spLocks noGrp="1"/>
          </p:cNvSpPr>
          <p:nvPr/>
        </p:nvSpPr>
        <p:spPr>
          <a:xfrm>
            <a:off x="7553325" y="2409825"/>
            <a:ext cx="1466850" cy="4143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Espectros</a:t>
            </a:r>
          </a:p>
        </p:txBody>
      </p:sp>
      <p:sp>
        <p:nvSpPr>
          <p:cNvPr id="15" name="U05-DG-005-local_spectra-body">
            <a:extLst>
              <a:ext uri="{FF2B5EF4-FFF2-40B4-BE49-F238E27FC236}">
                <a16:creationId xmlns:a16="http://schemas.microsoft.com/office/drawing/2014/main" id="{5368419A-F15E-4B35-96D9-80BA6315A573}"/>
              </a:ext>
            </a:extLst>
          </p:cNvPr>
          <p:cNvSpPr>
            <a:spLocks noGrp="1"/>
          </p:cNvSpPr>
          <p:nvPr/>
        </p:nvSpPr>
        <p:spPr>
          <a:xfrm>
            <a:off x="7553325" y="2824163"/>
            <a:ext cx="1466850" cy="7191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rejilla t–f</a:t>
            </a:r>
          </a:p>
        </p:txBody>
      </p:sp>
      <p:sp>
        <p:nvSpPr>
          <p:cNvPr id="16" name="U05-DG-005-group_bands">
            <a:extLst>
              <a:ext uri="{FF2B5EF4-FFF2-40B4-BE49-F238E27FC236}">
                <a16:creationId xmlns:a16="http://schemas.microsoft.com/office/drawing/2014/main" id="{B9B93D8E-95DD-442B-A578-33326BD0BE7C}"/>
              </a:ext>
            </a:extLst>
          </p:cNvPr>
          <p:cNvSpPr>
            <a:spLocks noGrp="1"/>
          </p:cNvSpPr>
          <p:nvPr/>
        </p:nvSpPr>
        <p:spPr>
          <a:xfrm>
            <a:off x="9572625" y="2286000"/>
            <a:ext cx="1809750" cy="1381125"/>
          </a:xfrm>
          <a:prstGeom prst="roundRect">
            <a:avLst>
              <a:gd name="adj" fmla="val 9655"/>
            </a:avLst>
          </a:prstGeom>
          <a:solidFill>
            <a:srgbClr val="E3F2ED"/>
          </a:solidFill>
          <a:ln w="19050">
            <a:solidFill>
              <a:srgbClr val="2D7867"/>
            </a:solidFill>
            <a:prstDash val="solid"/>
          </a:ln>
        </p:spPr>
      </p:sp>
      <p:sp>
        <p:nvSpPr>
          <p:cNvPr id="17" name="U05-DG-005-group_bands-title">
            <a:extLst>
              <a:ext uri="{FF2B5EF4-FFF2-40B4-BE49-F238E27FC236}">
                <a16:creationId xmlns:a16="http://schemas.microsoft.com/office/drawing/2014/main" id="{E7B1F2C5-5F18-43C4-B49B-78BFC19AB421}"/>
              </a:ext>
            </a:extLst>
          </p:cNvPr>
          <p:cNvSpPr>
            <a:spLocks noGrp="1"/>
          </p:cNvSpPr>
          <p:nvPr/>
        </p:nvSpPr>
        <p:spPr>
          <a:xfrm>
            <a:off x="9744075" y="2409825"/>
            <a:ext cx="1466850" cy="4143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Bandas</a:t>
            </a:r>
          </a:p>
        </p:txBody>
      </p:sp>
      <p:sp>
        <p:nvSpPr>
          <p:cNvPr id="18" name="U05-DG-005-group_bands-body">
            <a:extLst>
              <a:ext uri="{FF2B5EF4-FFF2-40B4-BE49-F238E27FC236}">
                <a16:creationId xmlns:a16="http://schemas.microsoft.com/office/drawing/2014/main" id="{F5A10903-8206-420A-8F12-72D2CDB5975D}"/>
              </a:ext>
            </a:extLst>
          </p:cNvPr>
          <p:cNvSpPr>
            <a:spLocks noGrp="1"/>
          </p:cNvSpPr>
          <p:nvPr/>
        </p:nvSpPr>
        <p:spPr>
          <a:xfrm>
            <a:off x="9744075" y="2824163"/>
            <a:ext cx="1466850" cy="7191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suma energía</a:t>
            </a:r>
          </a:p>
        </p:txBody>
      </p:sp>
      <p:cxnSp>
        <p:nvCxnSpPr>
          <p:cNvPr id="44" name="U05-DG-005-mix_1"/>
          <p:cNvCxnSpPr>
            <a:stCxn id="4" idx="3"/>
            <a:endCxn id="7" idx="1"/>
          </p:cNvCxnSpPr>
          <p:nvPr/>
        </p:nvCxnSpPr>
        <p:spPr>
          <a:xfrm>
            <a:off x="2619375" y="2976563"/>
            <a:ext cx="381000" cy="0"/>
          </a:xfrm>
          <a:prstGeom prst="straightConnector1">
            <a:avLst/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cxnSp>
        <p:nvCxnSpPr>
          <p:cNvPr id="45" name="U05-DG-005-mix_2"/>
          <p:cNvCxnSpPr>
            <a:stCxn id="7" idx="3"/>
            <a:endCxn id="10" idx="1"/>
          </p:cNvCxnSpPr>
          <p:nvPr/>
        </p:nvCxnSpPr>
        <p:spPr>
          <a:xfrm>
            <a:off x="4810125" y="2976563"/>
            <a:ext cx="381000" cy="0"/>
          </a:xfrm>
          <a:prstGeom prst="straightConnector1">
            <a:avLst/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cxnSp>
        <p:nvCxnSpPr>
          <p:cNvPr id="46" name="U05-DG-005-mix_3"/>
          <p:cNvCxnSpPr>
            <a:stCxn id="10" idx="3"/>
            <a:endCxn id="13" idx="1"/>
          </p:cNvCxnSpPr>
          <p:nvPr/>
        </p:nvCxnSpPr>
        <p:spPr>
          <a:xfrm>
            <a:off x="7000875" y="2976563"/>
            <a:ext cx="381000" cy="0"/>
          </a:xfrm>
          <a:prstGeom prst="straightConnector1">
            <a:avLst/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cxnSp>
        <p:nvCxnSpPr>
          <p:cNvPr id="47" name="U05-DG-005-mix_4"/>
          <p:cNvCxnSpPr>
            <a:stCxn id="13" idx="3"/>
            <a:endCxn id="16" idx="1"/>
          </p:cNvCxnSpPr>
          <p:nvPr/>
        </p:nvCxnSpPr>
        <p:spPr>
          <a:xfrm>
            <a:off x="9191625" y="2976563"/>
            <a:ext cx="381000" cy="0"/>
          </a:xfrm>
          <a:prstGeom prst="straightConnector1">
            <a:avLst/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sp>
        <p:nvSpPr>
          <p:cNvPr id="23" name="diagram-scale-note">
            <a:extLst>
              <a:ext uri="{FF2B5EF4-FFF2-40B4-BE49-F238E27FC236}">
                <a16:creationId xmlns:a16="http://schemas.microsoft.com/office/drawing/2014/main" id="{3AE76DBB-590A-4241-9D40-EEF6FFC8A9BE}"/>
              </a:ext>
            </a:extLst>
          </p:cNvPr>
          <p:cNvSpPr>
            <a:spLocks noGrp="1"/>
          </p:cNvSpPr>
          <p:nvPr/>
        </p:nvSpPr>
        <p:spPr>
          <a:xfrm>
            <a:off x="552450" y="5829300"/>
            <a:ext cx="3905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05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Esquema conceptual · no está a escala</a:t>
            </a:r>
          </a:p>
        </p:txBody>
      </p:sp>
      <p:sp>
        <p:nvSpPr>
          <p:cNvPr id="24" name="caption">
            <a:extLst>
              <a:ext uri="{FF2B5EF4-FFF2-40B4-BE49-F238E27FC236}">
                <a16:creationId xmlns:a16="http://schemas.microsoft.com/office/drawing/2014/main" id="{70E88CA8-3E83-42C1-9585-6C13BDCA4267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876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Tiempo, frecuencia y color codifican tres dimensiones.</a:t>
            </a:r>
          </a:p>
        </p:txBody>
      </p:sp>
      <p:sp>
        <p:nvSpPr>
          <p:cNvPr id="25" name="credit">
            <a:extLst>
              <a:ext uri="{FF2B5EF4-FFF2-40B4-BE49-F238E27FC236}">
                <a16:creationId xmlns:a16="http://schemas.microsoft.com/office/drawing/2014/main" id="{BAAC30A5-77BA-4504-837F-DDF6013147C9}"/>
              </a:ext>
            </a:extLst>
          </p:cNvPr>
          <p:cNvSpPr>
            <a:spLocks noGrp="1"/>
          </p:cNvSpPr>
          <p:nvPr/>
        </p:nvSpPr>
        <p:spPr>
          <a:xfrm>
            <a:off x="9382125" y="60769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5.4.5; GLO.</a:t>
            </a:r>
          </a:p>
        </p:txBody>
      </p:sp>
      <p:sp>
        <p:nvSpPr>
          <p:cNvPr id="19" name="slide-alt-summary" descr="Cinco etapas convierten una señal segmentada en columnas de un espectrograma.">
            <a:extLst>
              <a:ext uri="{FF2B5EF4-FFF2-40B4-BE49-F238E27FC236}">
                <a16:creationId xmlns:a16="http://schemas.microsoft.com/office/drawing/2014/main" id="{E09DCA08-19E9-7F6A-5180-2123CDD8926A}"/>
              </a:ext>
            </a:extLst>
          </p:cNvPr>
          <p:cNvSpPr/>
          <p:nvPr/>
        </p:nvSpPr>
        <p:spPr>
          <a:xfrm>
            <a:off x="12700" y="12700"/>
            <a:ext cx="12700" cy="12700"/>
          </a:xfrm>
          <a:prstGeom prst="rect">
            <a:avLst/>
          </a:prstGeom>
          <a:noFill/>
          <a:ln w="19050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6743830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yebrow">
            <a:extLst>
              <a:ext uri="{FF2B5EF4-FFF2-40B4-BE49-F238E27FC236}">
                <a16:creationId xmlns:a16="http://schemas.microsoft.com/office/drawing/2014/main" id="{F1F16DBE-0E3B-419C-AA80-5B8D3B02F137}"/>
              </a:ext>
            </a:extLst>
          </p:cNvPr>
          <p:cNvSpPr>
            <a:spLocks noGrp="1"/>
          </p:cNvSpPr>
          <p:nvPr/>
        </p:nvSpPr>
        <p:spPr>
          <a:xfrm>
            <a:off x="514350" y="2095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048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6FDE0D1C-331C-4E25-A59B-EDAEF5CE78B6}"/>
              </a:ext>
            </a:extLst>
          </p:cNvPr>
          <p:cNvSpPr>
            <a:spLocks noGrp="1"/>
          </p:cNvSpPr>
          <p:nvPr/>
        </p:nvSpPr>
        <p:spPr>
          <a:xfrm>
            <a:off x="495300" y="428625"/>
            <a:ext cx="11191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El espectrograma de voz muestra cambios, no diagnósticos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3928FAB9-FEE3-45E1-869F-B35012FC3570}"/>
              </a:ext>
            </a:extLst>
          </p:cNvPr>
          <p:cNvSpPr>
            <a:spLocks noGrp="1"/>
          </p:cNvSpPr>
          <p:nvPr/>
        </p:nvSpPr>
        <p:spPr>
          <a:xfrm>
            <a:off x="523875" y="971550"/>
            <a:ext cx="11001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Una descripción acústica aislada no determina una condición clínica.</a:t>
            </a:r>
          </a:p>
        </p:txBody>
      </p:sp>
      <p:sp>
        <p:nvSpPr>
          <p:cNvPr id="4" name="main-ideas">
            <a:extLst>
              <a:ext uri="{FF2B5EF4-FFF2-40B4-BE49-F238E27FC236}">
                <a16:creationId xmlns:a16="http://schemas.microsoft.com/office/drawing/2014/main" id="{83F53A30-B45E-47F5-AC8F-26CF38561B9E}"/>
              </a:ext>
            </a:extLst>
          </p:cNvPr>
          <p:cNvSpPr>
            <a:spLocks noGrp="1"/>
          </p:cNvSpPr>
          <p:nvPr/>
        </p:nvSpPr>
        <p:spPr>
          <a:xfrm>
            <a:off x="666750" y="1476375"/>
            <a:ext cx="6762750" cy="3857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76200" rIns="76200" bIns="76200">
            <a:noAutofit/>
          </a:bodyPr>
          <a:lstStyle/>
          <a:p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Puede describir periodicidad, transitorios y energía por regiones.</a:t>
            </a:r>
          </a:p>
          <a:p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Debe informar f_s, ventana, solapamiento y escala de color.</a:t>
            </a:r>
          </a:p>
        </p:txBody>
      </p:sp>
      <p:sp>
        <p:nvSpPr>
          <p:cNvPr id="5" name="side-panel-box">
            <a:extLst>
              <a:ext uri="{FF2B5EF4-FFF2-40B4-BE49-F238E27FC236}">
                <a16:creationId xmlns:a16="http://schemas.microsoft.com/office/drawing/2014/main" id="{CAD9167D-AF34-47B1-B85A-12D4306D821B}"/>
              </a:ext>
            </a:extLst>
          </p:cNvPr>
          <p:cNvSpPr>
            <a:spLocks noGrp="1"/>
          </p:cNvSpPr>
          <p:nvPr/>
        </p:nvSpPr>
        <p:spPr>
          <a:xfrm>
            <a:off x="7953375" y="1571625"/>
            <a:ext cx="3476625" cy="3381375"/>
          </a:xfrm>
          <a:prstGeom prst="roundRect">
            <a:avLst>
              <a:gd name="adj" fmla="val 3944"/>
            </a:avLst>
          </a:prstGeom>
          <a:solidFill>
            <a:srgbClr val="E3F2ED"/>
          </a:solidFill>
          <a:ln w="19050">
            <a:solidFill>
              <a:srgbClr val="2D7867"/>
            </a:solidFill>
            <a:prstDash val="solid"/>
          </a:ln>
        </p:spPr>
      </p:sp>
      <p:sp>
        <p:nvSpPr>
          <p:cNvPr id="6" name="side-panel-title">
            <a:extLst>
              <a:ext uri="{FF2B5EF4-FFF2-40B4-BE49-F238E27FC236}">
                <a16:creationId xmlns:a16="http://schemas.microsoft.com/office/drawing/2014/main" id="{E89B553F-E740-458F-B18B-9E0A81D9D281}"/>
              </a:ext>
            </a:extLst>
          </p:cNvPr>
          <p:cNvSpPr>
            <a:spLocks noGrp="1"/>
          </p:cNvSpPr>
          <p:nvPr/>
        </p:nvSpPr>
        <p:spPr>
          <a:xfrm>
            <a:off x="8124825" y="1704975"/>
            <a:ext cx="31337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Definición</a:t>
            </a:r>
          </a:p>
        </p:txBody>
      </p:sp>
      <p:sp>
        <p:nvSpPr>
          <p:cNvPr id="7" name="side-panel-body">
            <a:extLst>
              <a:ext uri="{FF2B5EF4-FFF2-40B4-BE49-F238E27FC236}">
                <a16:creationId xmlns:a16="http://schemas.microsoft.com/office/drawing/2014/main" id="{11668943-45DE-431B-B811-9CB6CAD2AEB1}"/>
              </a:ext>
            </a:extLst>
          </p:cNvPr>
          <p:cNvSpPr>
            <a:spLocks noGrp="1"/>
          </p:cNvSpPr>
          <p:nvPr/>
        </p:nvSpPr>
        <p:spPr>
          <a:xfrm>
            <a:off x="8124825" y="2085975"/>
            <a:ext cx="3133725" cy="2733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registro vocal autorizado pendiente.</a:t>
            </a:r>
          </a:p>
        </p:txBody>
      </p:sp>
      <p:sp>
        <p:nvSpPr>
          <p:cNvPr id="8" name="caption">
            <a:extLst>
              <a:ext uri="{FF2B5EF4-FFF2-40B4-BE49-F238E27FC236}">
                <a16:creationId xmlns:a16="http://schemas.microsoft.com/office/drawing/2014/main" id="{544AC20F-5015-4D2A-B71F-3DF41FB2A3AE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876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Aplicación descriptiva a voz; requiere evidencia adicional para interpretar clínicamente.</a:t>
            </a:r>
          </a:p>
        </p:txBody>
      </p:sp>
      <p:sp>
        <p:nvSpPr>
          <p:cNvPr id="9" name="credit">
            <a:extLst>
              <a:ext uri="{FF2B5EF4-FFF2-40B4-BE49-F238E27FC236}">
                <a16:creationId xmlns:a16="http://schemas.microsoft.com/office/drawing/2014/main" id="{ACAFB61D-C881-4154-962C-6BCEC32FFE8C}"/>
              </a:ext>
            </a:extLst>
          </p:cNvPr>
          <p:cNvSpPr>
            <a:spLocks noGrp="1"/>
          </p:cNvSpPr>
          <p:nvPr/>
        </p:nvSpPr>
        <p:spPr>
          <a:xfrm>
            <a:off x="9382125" y="60769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5.12; Brockmann2011.</a:t>
            </a:r>
          </a:p>
        </p:txBody>
      </p:sp>
      <p:sp>
        <p:nvSpPr>
          <p:cNvPr id="11" name="slide-alt-summary" descr="Espectrograma conceptual de voz con llamadas a periodicidad, transitorio y regiones de energía.">
            <a:extLst>
              <a:ext uri="{FF2B5EF4-FFF2-40B4-BE49-F238E27FC236}">
                <a16:creationId xmlns:a16="http://schemas.microsoft.com/office/drawing/2014/main" id="{A9F1536E-7E5C-2087-0B8A-311818AB4661}"/>
              </a:ext>
            </a:extLst>
          </p:cNvPr>
          <p:cNvSpPr/>
          <p:nvPr/>
        </p:nvSpPr>
        <p:spPr>
          <a:xfrm>
            <a:off x="12700" y="12700"/>
            <a:ext cx="12700" cy="12700"/>
          </a:xfrm>
          <a:prstGeom prst="rect">
            <a:avLst/>
          </a:prstGeom>
          <a:noFill/>
          <a:ln w="19050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1705772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eyebrow">
            <a:extLst>
              <a:ext uri="{FF2B5EF4-FFF2-40B4-BE49-F238E27FC236}">
                <a16:creationId xmlns:a16="http://schemas.microsoft.com/office/drawing/2014/main" id="{9B846564-1E91-4BA3-90BB-824E2A191F0E}"/>
              </a:ext>
            </a:extLst>
          </p:cNvPr>
          <p:cNvSpPr>
            <a:spLocks noGrp="1"/>
          </p:cNvSpPr>
          <p:nvPr/>
        </p:nvSpPr>
        <p:spPr>
          <a:xfrm>
            <a:off x="514350" y="2095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049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45D24FC5-5318-41E3-AC70-7DD1F3350DEA}"/>
              </a:ext>
            </a:extLst>
          </p:cNvPr>
          <p:cNvSpPr>
            <a:spLocks noGrp="1"/>
          </p:cNvSpPr>
          <p:nvPr/>
        </p:nvSpPr>
        <p:spPr>
          <a:xfrm>
            <a:off x="495300" y="428625"/>
            <a:ext cx="11191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Un bin depende del registro; una banda depende de límites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6DED901E-2817-4128-9610-E731CCFA49F8}"/>
              </a:ext>
            </a:extLst>
          </p:cNvPr>
          <p:cNvSpPr>
            <a:spLocks noGrp="1"/>
          </p:cNvSpPr>
          <p:nvPr/>
        </p:nvSpPr>
        <p:spPr>
          <a:xfrm>
            <a:off x="523875" y="971550"/>
            <a:ext cx="11001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Ambos ocupan frecuencia, pero no son el mismo objeto.</a:t>
            </a:r>
          </a:p>
        </p:txBody>
      </p:sp>
      <p:sp>
        <p:nvSpPr>
          <p:cNvPr id="4" name="U05-DG-005-long_signal">
            <a:extLst>
              <a:ext uri="{FF2B5EF4-FFF2-40B4-BE49-F238E27FC236}">
                <a16:creationId xmlns:a16="http://schemas.microsoft.com/office/drawing/2014/main" id="{180D13D4-0385-4701-A833-A6BBBDC29F3C}"/>
              </a:ext>
            </a:extLst>
          </p:cNvPr>
          <p:cNvSpPr>
            <a:spLocks noGrp="1"/>
          </p:cNvSpPr>
          <p:nvPr/>
        </p:nvSpPr>
        <p:spPr>
          <a:xfrm>
            <a:off x="809625" y="2286000"/>
            <a:ext cx="1809750" cy="1381125"/>
          </a:xfrm>
          <a:prstGeom prst="roundRect">
            <a:avLst>
              <a:gd name="adj" fmla="val 9655"/>
            </a:avLst>
          </a:prstGeom>
          <a:solidFill>
            <a:srgbClr val="EFF8FA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5" name="U05-DG-005-long_signal-title">
            <a:extLst>
              <a:ext uri="{FF2B5EF4-FFF2-40B4-BE49-F238E27FC236}">
                <a16:creationId xmlns:a16="http://schemas.microsoft.com/office/drawing/2014/main" id="{A6B4E9F5-6002-4549-AB96-D39C5A580A9A}"/>
              </a:ext>
            </a:extLst>
          </p:cNvPr>
          <p:cNvSpPr>
            <a:spLocks noGrp="1"/>
          </p:cNvSpPr>
          <p:nvPr/>
        </p:nvSpPr>
        <p:spPr>
          <a:xfrm>
            <a:off x="981075" y="2409825"/>
            <a:ext cx="1466850" cy="4143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Señal</a:t>
            </a:r>
          </a:p>
        </p:txBody>
      </p:sp>
      <p:sp>
        <p:nvSpPr>
          <p:cNvPr id="6" name="U05-DG-005-long_signal-body">
            <a:extLst>
              <a:ext uri="{FF2B5EF4-FFF2-40B4-BE49-F238E27FC236}">
                <a16:creationId xmlns:a16="http://schemas.microsoft.com/office/drawing/2014/main" id="{494688F2-D74B-4012-9878-D3CA8378C157}"/>
              </a:ext>
            </a:extLst>
          </p:cNvPr>
          <p:cNvSpPr>
            <a:spLocks noGrp="1"/>
          </p:cNvSpPr>
          <p:nvPr/>
        </p:nvSpPr>
        <p:spPr>
          <a:xfrm>
            <a:off x="981075" y="2824163"/>
            <a:ext cx="1466850" cy="7191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registro</a:t>
            </a:r>
          </a:p>
        </p:txBody>
      </p:sp>
      <p:sp>
        <p:nvSpPr>
          <p:cNvPr id="7" name="U05-DG-005-selection">
            <a:extLst>
              <a:ext uri="{FF2B5EF4-FFF2-40B4-BE49-F238E27FC236}">
                <a16:creationId xmlns:a16="http://schemas.microsoft.com/office/drawing/2014/main" id="{04D63688-C2FD-4780-A776-7A1D3981E76C}"/>
              </a:ext>
            </a:extLst>
          </p:cNvPr>
          <p:cNvSpPr>
            <a:spLocks noGrp="1"/>
          </p:cNvSpPr>
          <p:nvPr/>
        </p:nvSpPr>
        <p:spPr>
          <a:xfrm>
            <a:off x="3000375" y="2286000"/>
            <a:ext cx="1809750" cy="1381125"/>
          </a:xfrm>
          <a:prstGeom prst="roundRect">
            <a:avLst>
              <a:gd name="adj" fmla="val 9655"/>
            </a:avLst>
          </a:prstGeom>
          <a:solidFill>
            <a:srgbClr val="F3F6F8"/>
          </a:solidFill>
          <a:ln w="19050">
            <a:solidFill>
              <a:srgbClr val="8291A3"/>
            </a:solidFill>
            <a:prstDash val="solid"/>
          </a:ln>
        </p:spPr>
      </p:sp>
      <p:sp>
        <p:nvSpPr>
          <p:cNvPr id="8" name="U05-DG-005-selection-title">
            <a:extLst>
              <a:ext uri="{FF2B5EF4-FFF2-40B4-BE49-F238E27FC236}">
                <a16:creationId xmlns:a16="http://schemas.microsoft.com/office/drawing/2014/main" id="{B0C9A596-D198-43C5-AEB3-58F7904E3D08}"/>
              </a:ext>
            </a:extLst>
          </p:cNvPr>
          <p:cNvSpPr>
            <a:spLocks noGrp="1"/>
          </p:cNvSpPr>
          <p:nvPr/>
        </p:nvSpPr>
        <p:spPr>
          <a:xfrm>
            <a:off x="3171825" y="2409825"/>
            <a:ext cx="1466850" cy="4143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Tramo</a:t>
            </a:r>
          </a:p>
        </p:txBody>
      </p:sp>
      <p:sp>
        <p:nvSpPr>
          <p:cNvPr id="9" name="U05-DG-005-selection-body">
            <a:extLst>
              <a:ext uri="{FF2B5EF4-FFF2-40B4-BE49-F238E27FC236}">
                <a16:creationId xmlns:a16="http://schemas.microsoft.com/office/drawing/2014/main" id="{78215CCE-BC8A-4853-8064-765DFB57B9D5}"/>
              </a:ext>
            </a:extLst>
          </p:cNvPr>
          <p:cNvSpPr>
            <a:spLocks noGrp="1"/>
          </p:cNvSpPr>
          <p:nvPr/>
        </p:nvSpPr>
        <p:spPr>
          <a:xfrm>
            <a:off x="3171825" y="2824163"/>
            <a:ext cx="1466850" cy="7191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selección</a:t>
            </a:r>
          </a:p>
        </p:txBody>
      </p:sp>
      <p:sp>
        <p:nvSpPr>
          <p:cNvPr id="10" name="U05-DG-005-multiply_window">
            <a:extLst>
              <a:ext uri="{FF2B5EF4-FFF2-40B4-BE49-F238E27FC236}">
                <a16:creationId xmlns:a16="http://schemas.microsoft.com/office/drawing/2014/main" id="{55B72CB4-A617-4196-BB3F-D07D57D1F22D}"/>
              </a:ext>
            </a:extLst>
          </p:cNvPr>
          <p:cNvSpPr>
            <a:spLocks noGrp="1"/>
          </p:cNvSpPr>
          <p:nvPr/>
        </p:nvSpPr>
        <p:spPr>
          <a:xfrm>
            <a:off x="5191125" y="2286000"/>
            <a:ext cx="1809750" cy="1381125"/>
          </a:xfrm>
          <a:prstGeom prst="roundRect">
            <a:avLst>
              <a:gd name="adj" fmla="val 9655"/>
            </a:avLst>
          </a:prstGeom>
          <a:solidFill>
            <a:srgbClr val="DDEFF5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11" name="U05-DG-005-multiply_window-title">
            <a:extLst>
              <a:ext uri="{FF2B5EF4-FFF2-40B4-BE49-F238E27FC236}">
                <a16:creationId xmlns:a16="http://schemas.microsoft.com/office/drawing/2014/main" id="{4232381A-0C84-4E5B-B536-0235E3687270}"/>
              </a:ext>
            </a:extLst>
          </p:cNvPr>
          <p:cNvSpPr>
            <a:spLocks noGrp="1"/>
          </p:cNvSpPr>
          <p:nvPr/>
        </p:nvSpPr>
        <p:spPr>
          <a:xfrm>
            <a:off x="5362575" y="2409825"/>
            <a:ext cx="1466850" cy="4143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Ventana</a:t>
            </a:r>
          </a:p>
        </p:txBody>
      </p:sp>
      <p:sp>
        <p:nvSpPr>
          <p:cNvPr id="12" name="U05-DG-005-multiply_window-body">
            <a:extLst>
              <a:ext uri="{FF2B5EF4-FFF2-40B4-BE49-F238E27FC236}">
                <a16:creationId xmlns:a16="http://schemas.microsoft.com/office/drawing/2014/main" id="{D8D24664-6E4C-4665-A2FB-45BB87FF0EC5}"/>
              </a:ext>
            </a:extLst>
          </p:cNvPr>
          <p:cNvSpPr>
            <a:spLocks noGrp="1"/>
          </p:cNvSpPr>
          <p:nvPr/>
        </p:nvSpPr>
        <p:spPr>
          <a:xfrm>
            <a:off x="5362575" y="2824163"/>
            <a:ext cx="1466850" cy="7191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multiplica</a:t>
            </a:r>
          </a:p>
        </p:txBody>
      </p:sp>
      <p:sp>
        <p:nvSpPr>
          <p:cNvPr id="13" name="U05-DG-005-local_spectra">
            <a:extLst>
              <a:ext uri="{FF2B5EF4-FFF2-40B4-BE49-F238E27FC236}">
                <a16:creationId xmlns:a16="http://schemas.microsoft.com/office/drawing/2014/main" id="{660663F1-1B77-4BC4-8830-1761AA7F7D3D}"/>
              </a:ext>
            </a:extLst>
          </p:cNvPr>
          <p:cNvSpPr>
            <a:spLocks noGrp="1"/>
          </p:cNvSpPr>
          <p:nvPr/>
        </p:nvSpPr>
        <p:spPr>
          <a:xfrm>
            <a:off x="7381875" y="2286000"/>
            <a:ext cx="1809750" cy="1381125"/>
          </a:xfrm>
          <a:prstGeom prst="roundRect">
            <a:avLst>
              <a:gd name="adj" fmla="val 9655"/>
            </a:avLst>
          </a:prstGeom>
          <a:solidFill>
            <a:srgbClr val="EFF8FA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14" name="U05-DG-005-local_spectra-title">
            <a:extLst>
              <a:ext uri="{FF2B5EF4-FFF2-40B4-BE49-F238E27FC236}">
                <a16:creationId xmlns:a16="http://schemas.microsoft.com/office/drawing/2014/main" id="{6CF448A5-C127-485F-A5FA-C68A896ACFB9}"/>
              </a:ext>
            </a:extLst>
          </p:cNvPr>
          <p:cNvSpPr>
            <a:spLocks noGrp="1"/>
          </p:cNvSpPr>
          <p:nvPr/>
        </p:nvSpPr>
        <p:spPr>
          <a:xfrm>
            <a:off x="7553325" y="2409825"/>
            <a:ext cx="1466850" cy="4143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Espectros</a:t>
            </a:r>
          </a:p>
        </p:txBody>
      </p:sp>
      <p:sp>
        <p:nvSpPr>
          <p:cNvPr id="15" name="U05-DG-005-local_spectra-body">
            <a:extLst>
              <a:ext uri="{FF2B5EF4-FFF2-40B4-BE49-F238E27FC236}">
                <a16:creationId xmlns:a16="http://schemas.microsoft.com/office/drawing/2014/main" id="{1DEF6D7B-A98F-49D1-92D1-21166044E833}"/>
              </a:ext>
            </a:extLst>
          </p:cNvPr>
          <p:cNvSpPr>
            <a:spLocks noGrp="1"/>
          </p:cNvSpPr>
          <p:nvPr/>
        </p:nvSpPr>
        <p:spPr>
          <a:xfrm>
            <a:off x="7553325" y="2824163"/>
            <a:ext cx="1466850" cy="7191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rejilla t–f</a:t>
            </a:r>
          </a:p>
        </p:txBody>
      </p:sp>
      <p:sp>
        <p:nvSpPr>
          <p:cNvPr id="16" name="U05-DG-005-group_bands">
            <a:extLst>
              <a:ext uri="{FF2B5EF4-FFF2-40B4-BE49-F238E27FC236}">
                <a16:creationId xmlns:a16="http://schemas.microsoft.com/office/drawing/2014/main" id="{78BF6C65-0FAD-4ED2-A098-934A7034448D}"/>
              </a:ext>
            </a:extLst>
          </p:cNvPr>
          <p:cNvSpPr>
            <a:spLocks noGrp="1"/>
          </p:cNvSpPr>
          <p:nvPr/>
        </p:nvSpPr>
        <p:spPr>
          <a:xfrm>
            <a:off x="9572625" y="2286000"/>
            <a:ext cx="1809750" cy="1381125"/>
          </a:xfrm>
          <a:prstGeom prst="roundRect">
            <a:avLst>
              <a:gd name="adj" fmla="val 9655"/>
            </a:avLst>
          </a:prstGeom>
          <a:solidFill>
            <a:srgbClr val="E3F2ED"/>
          </a:solidFill>
          <a:ln w="19050">
            <a:solidFill>
              <a:srgbClr val="2D7867"/>
            </a:solidFill>
            <a:prstDash val="solid"/>
          </a:ln>
        </p:spPr>
      </p:sp>
      <p:sp>
        <p:nvSpPr>
          <p:cNvPr id="17" name="U05-DG-005-group_bands-title">
            <a:extLst>
              <a:ext uri="{FF2B5EF4-FFF2-40B4-BE49-F238E27FC236}">
                <a16:creationId xmlns:a16="http://schemas.microsoft.com/office/drawing/2014/main" id="{86B6673E-DD43-4A8F-99CE-930A7360A475}"/>
              </a:ext>
            </a:extLst>
          </p:cNvPr>
          <p:cNvSpPr>
            <a:spLocks noGrp="1"/>
          </p:cNvSpPr>
          <p:nvPr/>
        </p:nvSpPr>
        <p:spPr>
          <a:xfrm>
            <a:off x="9744075" y="2409825"/>
            <a:ext cx="1466850" cy="4143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Bandas</a:t>
            </a:r>
          </a:p>
        </p:txBody>
      </p:sp>
      <p:sp>
        <p:nvSpPr>
          <p:cNvPr id="18" name="U05-DG-005-group_bands-body">
            <a:extLst>
              <a:ext uri="{FF2B5EF4-FFF2-40B4-BE49-F238E27FC236}">
                <a16:creationId xmlns:a16="http://schemas.microsoft.com/office/drawing/2014/main" id="{D406F6AD-C0EB-4696-B859-82E037418655}"/>
              </a:ext>
            </a:extLst>
          </p:cNvPr>
          <p:cNvSpPr>
            <a:spLocks noGrp="1"/>
          </p:cNvSpPr>
          <p:nvPr/>
        </p:nvSpPr>
        <p:spPr>
          <a:xfrm>
            <a:off x="9744075" y="2824163"/>
            <a:ext cx="1466850" cy="7191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suma energía</a:t>
            </a:r>
          </a:p>
        </p:txBody>
      </p:sp>
      <p:cxnSp>
        <p:nvCxnSpPr>
          <p:cNvPr id="44" name="U05-DG-005-mix_1"/>
          <p:cNvCxnSpPr>
            <a:stCxn id="4" idx="3"/>
            <a:endCxn id="7" idx="1"/>
          </p:cNvCxnSpPr>
          <p:nvPr/>
        </p:nvCxnSpPr>
        <p:spPr>
          <a:xfrm>
            <a:off x="2619375" y="2976563"/>
            <a:ext cx="381000" cy="0"/>
          </a:xfrm>
          <a:prstGeom prst="straightConnector1">
            <a:avLst/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cxnSp>
        <p:nvCxnSpPr>
          <p:cNvPr id="45" name="U05-DG-005-mix_2"/>
          <p:cNvCxnSpPr>
            <a:stCxn id="7" idx="3"/>
            <a:endCxn id="10" idx="1"/>
          </p:cNvCxnSpPr>
          <p:nvPr/>
        </p:nvCxnSpPr>
        <p:spPr>
          <a:xfrm>
            <a:off x="4810125" y="2976563"/>
            <a:ext cx="381000" cy="0"/>
          </a:xfrm>
          <a:prstGeom prst="straightConnector1">
            <a:avLst/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cxnSp>
        <p:nvCxnSpPr>
          <p:cNvPr id="46" name="U05-DG-005-mix_3"/>
          <p:cNvCxnSpPr>
            <a:stCxn id="10" idx="3"/>
            <a:endCxn id="13" idx="1"/>
          </p:cNvCxnSpPr>
          <p:nvPr/>
        </p:nvCxnSpPr>
        <p:spPr>
          <a:xfrm>
            <a:off x="7000875" y="2976563"/>
            <a:ext cx="381000" cy="0"/>
          </a:xfrm>
          <a:prstGeom prst="straightConnector1">
            <a:avLst/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cxnSp>
        <p:nvCxnSpPr>
          <p:cNvPr id="47" name="U05-DG-005-mix_4"/>
          <p:cNvCxnSpPr>
            <a:stCxn id="13" idx="3"/>
            <a:endCxn id="16" idx="1"/>
          </p:cNvCxnSpPr>
          <p:nvPr/>
        </p:nvCxnSpPr>
        <p:spPr>
          <a:xfrm>
            <a:off x="9191625" y="2976563"/>
            <a:ext cx="381000" cy="0"/>
          </a:xfrm>
          <a:prstGeom prst="straightConnector1">
            <a:avLst/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sp>
        <p:nvSpPr>
          <p:cNvPr id="23" name="diagram-scale-note">
            <a:extLst>
              <a:ext uri="{FF2B5EF4-FFF2-40B4-BE49-F238E27FC236}">
                <a16:creationId xmlns:a16="http://schemas.microsoft.com/office/drawing/2014/main" id="{03E32417-EACD-4758-B577-A6267BD8590E}"/>
              </a:ext>
            </a:extLst>
          </p:cNvPr>
          <p:cNvSpPr>
            <a:spLocks noGrp="1"/>
          </p:cNvSpPr>
          <p:nvPr/>
        </p:nvSpPr>
        <p:spPr>
          <a:xfrm>
            <a:off x="552450" y="5829300"/>
            <a:ext cx="3905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05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Esquema conceptual · no está a escala</a:t>
            </a:r>
          </a:p>
        </p:txBody>
      </p:sp>
      <p:sp>
        <p:nvSpPr>
          <p:cNvPr id="24" name="caption">
            <a:extLst>
              <a:ext uri="{FF2B5EF4-FFF2-40B4-BE49-F238E27FC236}">
                <a16:creationId xmlns:a16="http://schemas.microsoft.com/office/drawing/2014/main" id="{D20C8DAA-AE00-4FF2-AB22-C8774B86065C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876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Cambiar la duración mueve la rejilla de bins, no los límites definidos de la banda.</a:t>
            </a:r>
          </a:p>
        </p:txBody>
      </p:sp>
      <p:sp>
        <p:nvSpPr>
          <p:cNvPr id="25" name="credit">
            <a:extLst>
              <a:ext uri="{FF2B5EF4-FFF2-40B4-BE49-F238E27FC236}">
                <a16:creationId xmlns:a16="http://schemas.microsoft.com/office/drawing/2014/main" id="{012FB46C-CC42-4795-844A-65C28FA473E5}"/>
              </a:ext>
            </a:extLst>
          </p:cNvPr>
          <p:cNvSpPr>
            <a:spLocks noGrp="1"/>
          </p:cNvSpPr>
          <p:nvPr/>
        </p:nvSpPr>
        <p:spPr>
          <a:xfrm>
            <a:off x="9382125" y="60769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5.4.7; GLO.</a:t>
            </a:r>
          </a:p>
        </p:txBody>
      </p:sp>
      <p:sp>
        <p:nvSpPr>
          <p:cNvPr id="19" name="slide-alt-summary" descr="Dos ejes alineados muestran bins discretos y una banda delimitada.">
            <a:extLst>
              <a:ext uri="{FF2B5EF4-FFF2-40B4-BE49-F238E27FC236}">
                <a16:creationId xmlns:a16="http://schemas.microsoft.com/office/drawing/2014/main" id="{1EF9B6DC-03DB-CC5A-4716-F0A2CC4C3AE0}"/>
              </a:ext>
            </a:extLst>
          </p:cNvPr>
          <p:cNvSpPr/>
          <p:nvPr/>
        </p:nvSpPr>
        <p:spPr>
          <a:xfrm>
            <a:off x="12700" y="12700"/>
            <a:ext cx="12700" cy="12700"/>
          </a:xfrm>
          <a:prstGeom prst="rect">
            <a:avLst/>
          </a:prstGeom>
          <a:noFill/>
          <a:ln w="19050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eyebrow">
            <a:extLst>
              <a:ext uri="{FF2B5EF4-FFF2-40B4-BE49-F238E27FC236}">
                <a16:creationId xmlns:a16="http://schemas.microsoft.com/office/drawing/2014/main" id="{37E28381-0E48-4204-8A68-653369DCD3A8}"/>
              </a:ext>
            </a:extLst>
          </p:cNvPr>
          <p:cNvSpPr>
            <a:spLocks noGrp="1"/>
          </p:cNvSpPr>
          <p:nvPr/>
        </p:nvSpPr>
        <p:spPr>
          <a:xfrm>
            <a:off x="514350" y="2095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050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DEF3BF10-A025-446D-81EF-5C540C941561}"/>
              </a:ext>
            </a:extLst>
          </p:cNvPr>
          <p:cNvSpPr>
            <a:spLocks noGrp="1"/>
          </p:cNvSpPr>
          <p:nvPr/>
        </p:nvSpPr>
        <p:spPr>
          <a:xfrm>
            <a:off x="495300" y="428625"/>
            <a:ext cx="11191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Los niveles por banda no se promedian en dB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AD11A3D7-2805-4832-9A6F-004656E172FB}"/>
              </a:ext>
            </a:extLst>
          </p:cNvPr>
          <p:cNvSpPr>
            <a:spLocks noGrp="1"/>
          </p:cNvSpPr>
          <p:nvPr/>
        </p:nvSpPr>
        <p:spPr>
          <a:xfrm>
            <a:off x="523875" y="971550"/>
            <a:ext cx="11001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Primero se suman contribuciones compatibles en escala lineal.</a:t>
            </a:r>
          </a:p>
        </p:txBody>
      </p:sp>
      <p:sp>
        <p:nvSpPr>
          <p:cNvPr id="4" name="U05-DG-005-long_signal">
            <a:extLst>
              <a:ext uri="{FF2B5EF4-FFF2-40B4-BE49-F238E27FC236}">
                <a16:creationId xmlns:a16="http://schemas.microsoft.com/office/drawing/2014/main" id="{735841C5-7592-497C-8984-3548A438B4A1}"/>
              </a:ext>
            </a:extLst>
          </p:cNvPr>
          <p:cNvSpPr>
            <a:spLocks noGrp="1"/>
          </p:cNvSpPr>
          <p:nvPr/>
        </p:nvSpPr>
        <p:spPr>
          <a:xfrm>
            <a:off x="809625" y="2286000"/>
            <a:ext cx="1809750" cy="1381125"/>
          </a:xfrm>
          <a:prstGeom prst="roundRect">
            <a:avLst>
              <a:gd name="adj" fmla="val 9655"/>
            </a:avLst>
          </a:prstGeom>
          <a:solidFill>
            <a:srgbClr val="EFF8FA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5" name="U05-DG-005-long_signal-title">
            <a:extLst>
              <a:ext uri="{FF2B5EF4-FFF2-40B4-BE49-F238E27FC236}">
                <a16:creationId xmlns:a16="http://schemas.microsoft.com/office/drawing/2014/main" id="{E0B4FE58-1328-48C7-A117-DA8F5FA0B3C9}"/>
              </a:ext>
            </a:extLst>
          </p:cNvPr>
          <p:cNvSpPr>
            <a:spLocks noGrp="1"/>
          </p:cNvSpPr>
          <p:nvPr/>
        </p:nvSpPr>
        <p:spPr>
          <a:xfrm>
            <a:off x="981075" y="2409825"/>
            <a:ext cx="1466850" cy="4143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Señal</a:t>
            </a:r>
          </a:p>
        </p:txBody>
      </p:sp>
      <p:sp>
        <p:nvSpPr>
          <p:cNvPr id="6" name="U05-DG-005-long_signal-body">
            <a:extLst>
              <a:ext uri="{FF2B5EF4-FFF2-40B4-BE49-F238E27FC236}">
                <a16:creationId xmlns:a16="http://schemas.microsoft.com/office/drawing/2014/main" id="{6481C6EE-C43F-4F70-BD02-E4659BCD7249}"/>
              </a:ext>
            </a:extLst>
          </p:cNvPr>
          <p:cNvSpPr>
            <a:spLocks noGrp="1"/>
          </p:cNvSpPr>
          <p:nvPr/>
        </p:nvSpPr>
        <p:spPr>
          <a:xfrm>
            <a:off x="981075" y="2824163"/>
            <a:ext cx="1466850" cy="7191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registro</a:t>
            </a:r>
          </a:p>
        </p:txBody>
      </p:sp>
      <p:sp>
        <p:nvSpPr>
          <p:cNvPr id="7" name="U05-DG-005-selection">
            <a:extLst>
              <a:ext uri="{FF2B5EF4-FFF2-40B4-BE49-F238E27FC236}">
                <a16:creationId xmlns:a16="http://schemas.microsoft.com/office/drawing/2014/main" id="{6BB112DE-EE63-466D-B4B3-5E3B9D76A415}"/>
              </a:ext>
            </a:extLst>
          </p:cNvPr>
          <p:cNvSpPr>
            <a:spLocks noGrp="1"/>
          </p:cNvSpPr>
          <p:nvPr/>
        </p:nvSpPr>
        <p:spPr>
          <a:xfrm>
            <a:off x="3000375" y="2286000"/>
            <a:ext cx="1809750" cy="1381125"/>
          </a:xfrm>
          <a:prstGeom prst="roundRect">
            <a:avLst>
              <a:gd name="adj" fmla="val 9655"/>
            </a:avLst>
          </a:prstGeom>
          <a:solidFill>
            <a:srgbClr val="F3F6F8"/>
          </a:solidFill>
          <a:ln w="19050">
            <a:solidFill>
              <a:srgbClr val="8291A3"/>
            </a:solidFill>
            <a:prstDash val="solid"/>
          </a:ln>
        </p:spPr>
      </p:sp>
      <p:sp>
        <p:nvSpPr>
          <p:cNvPr id="8" name="U05-DG-005-selection-title">
            <a:extLst>
              <a:ext uri="{FF2B5EF4-FFF2-40B4-BE49-F238E27FC236}">
                <a16:creationId xmlns:a16="http://schemas.microsoft.com/office/drawing/2014/main" id="{1B4B70F4-CDAF-4E38-9EC1-6E755E4F6836}"/>
              </a:ext>
            </a:extLst>
          </p:cNvPr>
          <p:cNvSpPr>
            <a:spLocks noGrp="1"/>
          </p:cNvSpPr>
          <p:nvPr/>
        </p:nvSpPr>
        <p:spPr>
          <a:xfrm>
            <a:off x="3171825" y="2409825"/>
            <a:ext cx="1466850" cy="4143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Tramo</a:t>
            </a:r>
          </a:p>
        </p:txBody>
      </p:sp>
      <p:sp>
        <p:nvSpPr>
          <p:cNvPr id="9" name="U05-DG-005-selection-body">
            <a:extLst>
              <a:ext uri="{FF2B5EF4-FFF2-40B4-BE49-F238E27FC236}">
                <a16:creationId xmlns:a16="http://schemas.microsoft.com/office/drawing/2014/main" id="{7D43DDBE-9A90-4C59-8C75-2B5EF5255669}"/>
              </a:ext>
            </a:extLst>
          </p:cNvPr>
          <p:cNvSpPr>
            <a:spLocks noGrp="1"/>
          </p:cNvSpPr>
          <p:nvPr/>
        </p:nvSpPr>
        <p:spPr>
          <a:xfrm>
            <a:off x="3171825" y="2824163"/>
            <a:ext cx="1466850" cy="7191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selección</a:t>
            </a:r>
          </a:p>
        </p:txBody>
      </p:sp>
      <p:sp>
        <p:nvSpPr>
          <p:cNvPr id="10" name="U05-DG-005-multiply_window">
            <a:extLst>
              <a:ext uri="{FF2B5EF4-FFF2-40B4-BE49-F238E27FC236}">
                <a16:creationId xmlns:a16="http://schemas.microsoft.com/office/drawing/2014/main" id="{D8ECDB43-CFA7-42D5-968A-21AAD4A8F9B0}"/>
              </a:ext>
            </a:extLst>
          </p:cNvPr>
          <p:cNvSpPr>
            <a:spLocks noGrp="1"/>
          </p:cNvSpPr>
          <p:nvPr/>
        </p:nvSpPr>
        <p:spPr>
          <a:xfrm>
            <a:off x="5191125" y="2286000"/>
            <a:ext cx="1809750" cy="1381125"/>
          </a:xfrm>
          <a:prstGeom prst="roundRect">
            <a:avLst>
              <a:gd name="adj" fmla="val 9655"/>
            </a:avLst>
          </a:prstGeom>
          <a:solidFill>
            <a:srgbClr val="DDEFF5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11" name="U05-DG-005-multiply_window-title">
            <a:extLst>
              <a:ext uri="{FF2B5EF4-FFF2-40B4-BE49-F238E27FC236}">
                <a16:creationId xmlns:a16="http://schemas.microsoft.com/office/drawing/2014/main" id="{82AE92EB-93F7-4D4B-8B16-B660CC944AEF}"/>
              </a:ext>
            </a:extLst>
          </p:cNvPr>
          <p:cNvSpPr>
            <a:spLocks noGrp="1"/>
          </p:cNvSpPr>
          <p:nvPr/>
        </p:nvSpPr>
        <p:spPr>
          <a:xfrm>
            <a:off x="5362575" y="2409825"/>
            <a:ext cx="1466850" cy="4143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Ventana</a:t>
            </a:r>
          </a:p>
        </p:txBody>
      </p:sp>
      <p:sp>
        <p:nvSpPr>
          <p:cNvPr id="12" name="U05-DG-005-multiply_window-body">
            <a:extLst>
              <a:ext uri="{FF2B5EF4-FFF2-40B4-BE49-F238E27FC236}">
                <a16:creationId xmlns:a16="http://schemas.microsoft.com/office/drawing/2014/main" id="{FB72DBEC-3241-45DA-B21E-E4F4F26FA132}"/>
              </a:ext>
            </a:extLst>
          </p:cNvPr>
          <p:cNvSpPr>
            <a:spLocks noGrp="1"/>
          </p:cNvSpPr>
          <p:nvPr/>
        </p:nvSpPr>
        <p:spPr>
          <a:xfrm>
            <a:off x="5362575" y="2824163"/>
            <a:ext cx="1466850" cy="7191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multiplica</a:t>
            </a:r>
          </a:p>
        </p:txBody>
      </p:sp>
      <p:sp>
        <p:nvSpPr>
          <p:cNvPr id="13" name="U05-DG-005-local_spectra">
            <a:extLst>
              <a:ext uri="{FF2B5EF4-FFF2-40B4-BE49-F238E27FC236}">
                <a16:creationId xmlns:a16="http://schemas.microsoft.com/office/drawing/2014/main" id="{51FCB71B-31AD-4D61-BFC7-41BBC5325D06}"/>
              </a:ext>
            </a:extLst>
          </p:cNvPr>
          <p:cNvSpPr>
            <a:spLocks noGrp="1"/>
          </p:cNvSpPr>
          <p:nvPr/>
        </p:nvSpPr>
        <p:spPr>
          <a:xfrm>
            <a:off x="7381875" y="2286000"/>
            <a:ext cx="1809750" cy="1381125"/>
          </a:xfrm>
          <a:prstGeom prst="roundRect">
            <a:avLst>
              <a:gd name="adj" fmla="val 9655"/>
            </a:avLst>
          </a:prstGeom>
          <a:solidFill>
            <a:srgbClr val="EFF8FA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14" name="U05-DG-005-local_spectra-title">
            <a:extLst>
              <a:ext uri="{FF2B5EF4-FFF2-40B4-BE49-F238E27FC236}">
                <a16:creationId xmlns:a16="http://schemas.microsoft.com/office/drawing/2014/main" id="{81BD53DA-3CA1-41DD-A6CD-8426264262DA}"/>
              </a:ext>
            </a:extLst>
          </p:cNvPr>
          <p:cNvSpPr>
            <a:spLocks noGrp="1"/>
          </p:cNvSpPr>
          <p:nvPr/>
        </p:nvSpPr>
        <p:spPr>
          <a:xfrm>
            <a:off x="7553325" y="2409825"/>
            <a:ext cx="1466850" cy="4143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Espectros</a:t>
            </a:r>
          </a:p>
        </p:txBody>
      </p:sp>
      <p:sp>
        <p:nvSpPr>
          <p:cNvPr id="15" name="U05-DG-005-local_spectra-body">
            <a:extLst>
              <a:ext uri="{FF2B5EF4-FFF2-40B4-BE49-F238E27FC236}">
                <a16:creationId xmlns:a16="http://schemas.microsoft.com/office/drawing/2014/main" id="{BCCBB50C-0D45-4AAF-932A-1C75D77B2CB7}"/>
              </a:ext>
            </a:extLst>
          </p:cNvPr>
          <p:cNvSpPr>
            <a:spLocks noGrp="1"/>
          </p:cNvSpPr>
          <p:nvPr/>
        </p:nvSpPr>
        <p:spPr>
          <a:xfrm>
            <a:off x="7553325" y="2824163"/>
            <a:ext cx="1466850" cy="7191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rejilla t–f</a:t>
            </a:r>
          </a:p>
        </p:txBody>
      </p:sp>
      <p:sp>
        <p:nvSpPr>
          <p:cNvPr id="16" name="U05-DG-005-group_bands">
            <a:extLst>
              <a:ext uri="{FF2B5EF4-FFF2-40B4-BE49-F238E27FC236}">
                <a16:creationId xmlns:a16="http://schemas.microsoft.com/office/drawing/2014/main" id="{982E5E13-F047-4BA4-898A-6BFB3A655FF2}"/>
              </a:ext>
            </a:extLst>
          </p:cNvPr>
          <p:cNvSpPr>
            <a:spLocks noGrp="1"/>
          </p:cNvSpPr>
          <p:nvPr/>
        </p:nvSpPr>
        <p:spPr>
          <a:xfrm>
            <a:off x="9572625" y="2286000"/>
            <a:ext cx="1809750" cy="1381125"/>
          </a:xfrm>
          <a:prstGeom prst="roundRect">
            <a:avLst>
              <a:gd name="adj" fmla="val 9655"/>
            </a:avLst>
          </a:prstGeom>
          <a:solidFill>
            <a:srgbClr val="E3F2ED"/>
          </a:solidFill>
          <a:ln w="19050">
            <a:solidFill>
              <a:srgbClr val="2D7867"/>
            </a:solidFill>
            <a:prstDash val="solid"/>
          </a:ln>
        </p:spPr>
      </p:sp>
      <p:sp>
        <p:nvSpPr>
          <p:cNvPr id="17" name="U05-DG-005-group_bands-title">
            <a:extLst>
              <a:ext uri="{FF2B5EF4-FFF2-40B4-BE49-F238E27FC236}">
                <a16:creationId xmlns:a16="http://schemas.microsoft.com/office/drawing/2014/main" id="{A09BF7AE-4C6B-4D13-886B-65F178CD9F94}"/>
              </a:ext>
            </a:extLst>
          </p:cNvPr>
          <p:cNvSpPr>
            <a:spLocks noGrp="1"/>
          </p:cNvSpPr>
          <p:nvPr/>
        </p:nvSpPr>
        <p:spPr>
          <a:xfrm>
            <a:off x="9744075" y="2409825"/>
            <a:ext cx="1466850" cy="4143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Bandas</a:t>
            </a:r>
          </a:p>
        </p:txBody>
      </p:sp>
      <p:sp>
        <p:nvSpPr>
          <p:cNvPr id="18" name="U05-DG-005-group_bands-body">
            <a:extLst>
              <a:ext uri="{FF2B5EF4-FFF2-40B4-BE49-F238E27FC236}">
                <a16:creationId xmlns:a16="http://schemas.microsoft.com/office/drawing/2014/main" id="{3AA00F4E-52AE-4D0D-900C-2AAE371BF6F8}"/>
              </a:ext>
            </a:extLst>
          </p:cNvPr>
          <p:cNvSpPr>
            <a:spLocks noGrp="1"/>
          </p:cNvSpPr>
          <p:nvPr/>
        </p:nvSpPr>
        <p:spPr>
          <a:xfrm>
            <a:off x="9744075" y="2824163"/>
            <a:ext cx="1466850" cy="7191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suma energía</a:t>
            </a:r>
          </a:p>
        </p:txBody>
      </p:sp>
      <p:cxnSp>
        <p:nvCxnSpPr>
          <p:cNvPr id="44" name="U05-DG-005-mix_1"/>
          <p:cNvCxnSpPr>
            <a:stCxn id="4" idx="3"/>
            <a:endCxn id="7" idx="1"/>
          </p:cNvCxnSpPr>
          <p:nvPr/>
        </p:nvCxnSpPr>
        <p:spPr>
          <a:xfrm>
            <a:off x="2619375" y="2976563"/>
            <a:ext cx="381000" cy="0"/>
          </a:xfrm>
          <a:prstGeom prst="straightConnector1">
            <a:avLst/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cxnSp>
        <p:nvCxnSpPr>
          <p:cNvPr id="45" name="U05-DG-005-mix_2"/>
          <p:cNvCxnSpPr>
            <a:stCxn id="7" idx="3"/>
            <a:endCxn id="10" idx="1"/>
          </p:cNvCxnSpPr>
          <p:nvPr/>
        </p:nvCxnSpPr>
        <p:spPr>
          <a:xfrm>
            <a:off x="4810125" y="2976563"/>
            <a:ext cx="381000" cy="0"/>
          </a:xfrm>
          <a:prstGeom prst="straightConnector1">
            <a:avLst/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cxnSp>
        <p:nvCxnSpPr>
          <p:cNvPr id="46" name="U05-DG-005-mix_3"/>
          <p:cNvCxnSpPr>
            <a:stCxn id="10" idx="3"/>
            <a:endCxn id="13" idx="1"/>
          </p:cNvCxnSpPr>
          <p:nvPr/>
        </p:nvCxnSpPr>
        <p:spPr>
          <a:xfrm>
            <a:off x="7000875" y="2976563"/>
            <a:ext cx="381000" cy="0"/>
          </a:xfrm>
          <a:prstGeom prst="straightConnector1">
            <a:avLst/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cxnSp>
        <p:nvCxnSpPr>
          <p:cNvPr id="47" name="U05-DG-005-mix_4"/>
          <p:cNvCxnSpPr>
            <a:stCxn id="13" idx="3"/>
            <a:endCxn id="16" idx="1"/>
          </p:cNvCxnSpPr>
          <p:nvPr/>
        </p:nvCxnSpPr>
        <p:spPr>
          <a:xfrm>
            <a:off x="9191625" y="2976563"/>
            <a:ext cx="381000" cy="0"/>
          </a:xfrm>
          <a:prstGeom prst="straightConnector1">
            <a:avLst/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sp>
        <p:nvSpPr>
          <p:cNvPr id="23" name="diagram-scale-note">
            <a:extLst>
              <a:ext uri="{FF2B5EF4-FFF2-40B4-BE49-F238E27FC236}">
                <a16:creationId xmlns:a16="http://schemas.microsoft.com/office/drawing/2014/main" id="{48A2A167-732B-46CA-836A-82048636C9B1}"/>
              </a:ext>
            </a:extLst>
          </p:cNvPr>
          <p:cNvSpPr>
            <a:spLocks noGrp="1"/>
          </p:cNvSpPr>
          <p:nvPr/>
        </p:nvSpPr>
        <p:spPr>
          <a:xfrm>
            <a:off x="552450" y="5829300"/>
            <a:ext cx="3905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05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Esquema conceptual · no está a escala</a:t>
            </a:r>
          </a:p>
        </p:txBody>
      </p:sp>
      <p:sp>
        <p:nvSpPr>
          <p:cNvPr id="24" name="caption">
            <a:extLst>
              <a:ext uri="{FF2B5EF4-FFF2-40B4-BE49-F238E27FC236}">
                <a16:creationId xmlns:a16="http://schemas.microsoft.com/office/drawing/2014/main" id="{FFC15C23-D84A-4D7D-8EE5-CF644C78C00E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876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Sumar niveles exige coherencia de magnitud, referencia y tratamiento.</a:t>
            </a:r>
          </a:p>
        </p:txBody>
      </p:sp>
      <p:sp>
        <p:nvSpPr>
          <p:cNvPr id="25" name="credit">
            <a:extLst>
              <a:ext uri="{FF2B5EF4-FFF2-40B4-BE49-F238E27FC236}">
                <a16:creationId xmlns:a16="http://schemas.microsoft.com/office/drawing/2014/main" id="{1B482DE0-2FCF-446C-B0FC-5B30A87658F0}"/>
              </a:ext>
            </a:extLst>
          </p:cNvPr>
          <p:cNvSpPr>
            <a:spLocks noGrp="1"/>
          </p:cNvSpPr>
          <p:nvPr/>
        </p:nvSpPr>
        <p:spPr>
          <a:xfrm>
            <a:off x="9382125" y="60769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5.4.7; PREV U4.</a:t>
            </a:r>
          </a:p>
        </p:txBody>
      </p:sp>
      <p:sp>
        <p:nvSpPr>
          <p:cNvPr id="19" name="slide-alt-summary" descr="Dos ecuaciones conectan contribuciones lineales con nivel total de banda.">
            <a:extLst>
              <a:ext uri="{FF2B5EF4-FFF2-40B4-BE49-F238E27FC236}">
                <a16:creationId xmlns:a16="http://schemas.microsoft.com/office/drawing/2014/main" id="{BE83DBEA-59EB-7566-C0A6-8EC96302502B}"/>
              </a:ext>
            </a:extLst>
          </p:cNvPr>
          <p:cNvSpPr/>
          <p:nvPr/>
        </p:nvSpPr>
        <p:spPr>
          <a:xfrm>
            <a:off x="12700" y="12700"/>
            <a:ext cx="12700" cy="12700"/>
          </a:xfrm>
          <a:prstGeom prst="rect">
            <a:avLst/>
          </a:prstGeom>
          <a:noFill/>
          <a:ln w="19050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yebrow">
            <a:extLst>
              <a:ext uri="{FF2B5EF4-FFF2-40B4-BE49-F238E27FC236}">
                <a16:creationId xmlns:a16="http://schemas.microsoft.com/office/drawing/2014/main" id="{B7B39F82-68F6-4593-9AA5-3FBC854EEA0D}"/>
              </a:ext>
            </a:extLst>
          </p:cNvPr>
          <p:cNvSpPr>
            <a:spLocks noGrp="1"/>
          </p:cNvSpPr>
          <p:nvPr/>
        </p:nvSpPr>
        <p:spPr>
          <a:xfrm>
            <a:off x="514350" y="2095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051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6D32E28C-7009-44D0-AA7A-50C51C85E5C1}"/>
              </a:ext>
            </a:extLst>
          </p:cNvPr>
          <p:cNvSpPr>
            <a:spLocks noGrp="1"/>
          </p:cNvSpPr>
          <p:nvPr/>
        </p:nvSpPr>
        <p:spPr>
          <a:xfrm>
            <a:off x="495300" y="428625"/>
            <a:ext cx="11191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Hasta acá: duración, ventana, resolución y escala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D430BBE3-CA96-4734-9A15-02B1C60B24D0}"/>
              </a:ext>
            </a:extLst>
          </p:cNvPr>
          <p:cNvSpPr>
            <a:spLocks noGrp="1"/>
          </p:cNvSpPr>
          <p:nvPr/>
        </p:nvSpPr>
        <p:spPr>
          <a:xfrm>
            <a:off x="523875" y="971550"/>
            <a:ext cx="11001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Un espectro es inseparable de sus condiciones de análisis.</a:t>
            </a:r>
          </a:p>
        </p:txBody>
      </p:sp>
      <p:sp>
        <p:nvSpPr>
          <p:cNvPr id="4" name="U05-DG-014-recap_object">
            <a:extLst>
              <a:ext uri="{FF2B5EF4-FFF2-40B4-BE49-F238E27FC236}">
                <a16:creationId xmlns:a16="http://schemas.microsoft.com/office/drawing/2014/main" id="{1C357A5D-99A7-4635-8FEA-1EC44D5AAD21}"/>
              </a:ext>
            </a:extLst>
          </p:cNvPr>
          <p:cNvSpPr>
            <a:spLocks noGrp="1"/>
          </p:cNvSpPr>
          <p:nvPr/>
        </p:nvSpPr>
        <p:spPr>
          <a:xfrm>
            <a:off x="857250" y="1714500"/>
            <a:ext cx="3048000" cy="1238250"/>
          </a:xfrm>
          <a:prstGeom prst="roundRect">
            <a:avLst>
              <a:gd name="adj" fmla="val 10769"/>
            </a:avLst>
          </a:prstGeom>
          <a:solidFill>
            <a:srgbClr val="EFF8FA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5" name="U05-DG-014-recap_object-title">
            <a:extLst>
              <a:ext uri="{FF2B5EF4-FFF2-40B4-BE49-F238E27FC236}">
                <a16:creationId xmlns:a16="http://schemas.microsoft.com/office/drawing/2014/main" id="{77476B3F-FB99-4D65-BDC2-62F9DF4F0CF3}"/>
              </a:ext>
            </a:extLst>
          </p:cNvPr>
          <p:cNvSpPr>
            <a:spLocks noGrp="1"/>
          </p:cNvSpPr>
          <p:nvPr/>
        </p:nvSpPr>
        <p:spPr>
          <a:xfrm>
            <a:off x="1028700" y="1838325"/>
            <a:ext cx="27051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Objeto</a:t>
            </a:r>
          </a:p>
        </p:txBody>
      </p:sp>
      <p:sp>
        <p:nvSpPr>
          <p:cNvPr id="6" name="U05-DG-014-recap_object-body">
            <a:extLst>
              <a:ext uri="{FF2B5EF4-FFF2-40B4-BE49-F238E27FC236}">
                <a16:creationId xmlns:a16="http://schemas.microsoft.com/office/drawing/2014/main" id="{EA5878DD-FD74-4F0F-8669-07D97AB99450}"/>
              </a:ext>
            </a:extLst>
          </p:cNvPr>
          <p:cNvSpPr>
            <a:spLocks noGrp="1"/>
          </p:cNvSpPr>
          <p:nvPr/>
        </p:nvSpPr>
        <p:spPr>
          <a:xfrm>
            <a:off x="1028700" y="2209800"/>
            <a:ext cx="27051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señal / sistema</a:t>
            </a:r>
          </a:p>
        </p:txBody>
      </p:sp>
      <p:sp>
        <p:nvSpPr>
          <p:cNvPr id="7" name="U05-DG-014-recap_axes">
            <a:extLst>
              <a:ext uri="{FF2B5EF4-FFF2-40B4-BE49-F238E27FC236}">
                <a16:creationId xmlns:a16="http://schemas.microsoft.com/office/drawing/2014/main" id="{F7AC8BB3-E5B6-4C75-A718-C9B03E3E10C8}"/>
              </a:ext>
            </a:extLst>
          </p:cNvPr>
          <p:cNvSpPr>
            <a:spLocks noGrp="1"/>
          </p:cNvSpPr>
          <p:nvPr/>
        </p:nvSpPr>
        <p:spPr>
          <a:xfrm>
            <a:off x="4572000" y="1714500"/>
            <a:ext cx="3048000" cy="1238250"/>
          </a:xfrm>
          <a:prstGeom prst="roundRect">
            <a:avLst>
              <a:gd name="adj" fmla="val 10769"/>
            </a:avLst>
          </a:prstGeom>
          <a:solidFill>
            <a:srgbClr val="F3F6F8"/>
          </a:solidFill>
          <a:ln w="19050">
            <a:solidFill>
              <a:srgbClr val="8291A3"/>
            </a:solidFill>
            <a:prstDash val="solid"/>
          </a:ln>
        </p:spPr>
      </p:sp>
      <p:sp>
        <p:nvSpPr>
          <p:cNvPr id="8" name="U05-DG-014-recap_axes-title">
            <a:extLst>
              <a:ext uri="{FF2B5EF4-FFF2-40B4-BE49-F238E27FC236}">
                <a16:creationId xmlns:a16="http://schemas.microsoft.com/office/drawing/2014/main" id="{2FE9B97C-55D9-4E7B-B472-668F4B0F76DD}"/>
              </a:ext>
            </a:extLst>
          </p:cNvPr>
          <p:cNvSpPr>
            <a:spLocks noGrp="1"/>
          </p:cNvSpPr>
          <p:nvPr/>
        </p:nvSpPr>
        <p:spPr>
          <a:xfrm>
            <a:off x="4743450" y="1838325"/>
            <a:ext cx="27051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Ejes</a:t>
            </a:r>
          </a:p>
        </p:txBody>
      </p:sp>
      <p:sp>
        <p:nvSpPr>
          <p:cNvPr id="9" name="U05-DG-014-recap_axes-body">
            <a:extLst>
              <a:ext uri="{FF2B5EF4-FFF2-40B4-BE49-F238E27FC236}">
                <a16:creationId xmlns:a16="http://schemas.microsoft.com/office/drawing/2014/main" id="{629223E0-A584-40C6-B2C0-F40EDBE48D11}"/>
              </a:ext>
            </a:extLst>
          </p:cNvPr>
          <p:cNvSpPr>
            <a:spLocks noGrp="1"/>
          </p:cNvSpPr>
          <p:nvPr/>
        </p:nvSpPr>
        <p:spPr>
          <a:xfrm>
            <a:off x="4743450" y="2209800"/>
            <a:ext cx="27051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t / f</a:t>
            </a:r>
          </a:p>
        </p:txBody>
      </p:sp>
      <p:sp>
        <p:nvSpPr>
          <p:cNvPr id="10" name="U05-DG-014-recap_units">
            <a:extLst>
              <a:ext uri="{FF2B5EF4-FFF2-40B4-BE49-F238E27FC236}">
                <a16:creationId xmlns:a16="http://schemas.microsoft.com/office/drawing/2014/main" id="{F7EC172B-3E50-40D4-A9A3-77BCF848BA7A}"/>
              </a:ext>
            </a:extLst>
          </p:cNvPr>
          <p:cNvSpPr>
            <a:spLocks noGrp="1"/>
          </p:cNvSpPr>
          <p:nvPr/>
        </p:nvSpPr>
        <p:spPr>
          <a:xfrm>
            <a:off x="8286750" y="1714500"/>
            <a:ext cx="3048000" cy="1238250"/>
          </a:xfrm>
          <a:prstGeom prst="roundRect">
            <a:avLst>
              <a:gd name="adj" fmla="val 10769"/>
            </a:avLst>
          </a:prstGeom>
          <a:solidFill>
            <a:srgbClr val="F3F6F8"/>
          </a:solidFill>
          <a:ln w="19050">
            <a:solidFill>
              <a:srgbClr val="8291A3"/>
            </a:solidFill>
            <a:prstDash val="solid"/>
          </a:ln>
        </p:spPr>
      </p:sp>
      <p:sp>
        <p:nvSpPr>
          <p:cNvPr id="11" name="U05-DG-014-recap_units-title">
            <a:extLst>
              <a:ext uri="{FF2B5EF4-FFF2-40B4-BE49-F238E27FC236}">
                <a16:creationId xmlns:a16="http://schemas.microsoft.com/office/drawing/2014/main" id="{D91B7C0F-B57E-4D8C-AA26-E78A848A96F0}"/>
              </a:ext>
            </a:extLst>
          </p:cNvPr>
          <p:cNvSpPr>
            <a:spLocks noGrp="1"/>
          </p:cNvSpPr>
          <p:nvPr/>
        </p:nvSpPr>
        <p:spPr>
          <a:xfrm>
            <a:off x="8458200" y="1838325"/>
            <a:ext cx="27051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Unidades</a:t>
            </a:r>
          </a:p>
        </p:txBody>
      </p:sp>
      <p:sp>
        <p:nvSpPr>
          <p:cNvPr id="12" name="U05-DG-014-recap_units-body">
            <a:extLst>
              <a:ext uri="{FF2B5EF4-FFF2-40B4-BE49-F238E27FC236}">
                <a16:creationId xmlns:a16="http://schemas.microsoft.com/office/drawing/2014/main" id="{E86CEC6C-F733-4003-855C-557F698BAE49}"/>
              </a:ext>
            </a:extLst>
          </p:cNvPr>
          <p:cNvSpPr>
            <a:spLocks noGrp="1"/>
          </p:cNvSpPr>
          <p:nvPr/>
        </p:nvSpPr>
        <p:spPr>
          <a:xfrm>
            <a:off x="8458200" y="2209800"/>
            <a:ext cx="27051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s · Hz · Pa · dB</a:t>
            </a:r>
          </a:p>
        </p:txBody>
      </p:sp>
      <p:sp>
        <p:nvSpPr>
          <p:cNvPr id="13" name="U05-DG-014-recap_params">
            <a:extLst>
              <a:ext uri="{FF2B5EF4-FFF2-40B4-BE49-F238E27FC236}">
                <a16:creationId xmlns:a16="http://schemas.microsoft.com/office/drawing/2014/main" id="{63D09B3E-90AE-4A49-B8DD-969A366F1654}"/>
              </a:ext>
            </a:extLst>
          </p:cNvPr>
          <p:cNvSpPr>
            <a:spLocks noGrp="1"/>
          </p:cNvSpPr>
          <p:nvPr/>
        </p:nvSpPr>
        <p:spPr>
          <a:xfrm>
            <a:off x="2667000" y="3905250"/>
            <a:ext cx="3048000" cy="1238250"/>
          </a:xfrm>
          <a:prstGeom prst="roundRect">
            <a:avLst>
              <a:gd name="adj" fmla="val 10769"/>
            </a:avLst>
          </a:prstGeom>
          <a:solidFill>
            <a:srgbClr val="DDEFF5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14" name="U05-DG-014-recap_params-title">
            <a:extLst>
              <a:ext uri="{FF2B5EF4-FFF2-40B4-BE49-F238E27FC236}">
                <a16:creationId xmlns:a16="http://schemas.microsoft.com/office/drawing/2014/main" id="{C6EC8EDE-2024-4493-B21A-8606C60EDC88}"/>
              </a:ext>
            </a:extLst>
          </p:cNvPr>
          <p:cNvSpPr>
            <a:spLocks noGrp="1"/>
          </p:cNvSpPr>
          <p:nvPr/>
        </p:nvSpPr>
        <p:spPr>
          <a:xfrm>
            <a:off x="2838450" y="4029075"/>
            <a:ext cx="27051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Parámetros</a:t>
            </a:r>
          </a:p>
        </p:txBody>
      </p:sp>
      <p:sp>
        <p:nvSpPr>
          <p:cNvPr id="15" name="U05-DG-014-recap_params-body">
            <a:extLst>
              <a:ext uri="{FF2B5EF4-FFF2-40B4-BE49-F238E27FC236}">
                <a16:creationId xmlns:a16="http://schemas.microsoft.com/office/drawing/2014/main" id="{E7478ED1-3F01-4F50-B663-8126ABF64132}"/>
              </a:ext>
            </a:extLst>
          </p:cNvPr>
          <p:cNvSpPr>
            <a:spLocks noGrp="1"/>
          </p:cNvSpPr>
          <p:nvPr/>
        </p:nvSpPr>
        <p:spPr>
          <a:xfrm>
            <a:off x="2838450" y="4400550"/>
            <a:ext cx="27051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ventana · N · fₛ</a:t>
            </a:r>
          </a:p>
        </p:txBody>
      </p:sp>
      <p:sp>
        <p:nvSpPr>
          <p:cNvPr id="16" name="U05-DG-014-recap_limit">
            <a:extLst>
              <a:ext uri="{FF2B5EF4-FFF2-40B4-BE49-F238E27FC236}">
                <a16:creationId xmlns:a16="http://schemas.microsoft.com/office/drawing/2014/main" id="{C31A4AD9-B7C1-4447-97B0-6A31A01C06FF}"/>
              </a:ext>
            </a:extLst>
          </p:cNvPr>
          <p:cNvSpPr>
            <a:spLocks noGrp="1"/>
          </p:cNvSpPr>
          <p:nvPr/>
        </p:nvSpPr>
        <p:spPr>
          <a:xfrm>
            <a:off x="6477000" y="3905250"/>
            <a:ext cx="3048000" cy="1238250"/>
          </a:xfrm>
          <a:prstGeom prst="roundRect">
            <a:avLst>
              <a:gd name="adj" fmla="val 10769"/>
            </a:avLst>
          </a:prstGeom>
          <a:solidFill>
            <a:srgbClr val="E3F2ED"/>
          </a:solidFill>
          <a:ln w="19050">
            <a:solidFill>
              <a:srgbClr val="2D7867"/>
            </a:solidFill>
            <a:prstDash val="solid"/>
          </a:ln>
        </p:spPr>
      </p:sp>
      <p:sp>
        <p:nvSpPr>
          <p:cNvPr id="17" name="U05-DG-014-recap_limit-title">
            <a:extLst>
              <a:ext uri="{FF2B5EF4-FFF2-40B4-BE49-F238E27FC236}">
                <a16:creationId xmlns:a16="http://schemas.microsoft.com/office/drawing/2014/main" id="{482A82CF-34C7-40F5-A4EC-E30B6B841F10}"/>
              </a:ext>
            </a:extLst>
          </p:cNvPr>
          <p:cNvSpPr>
            <a:spLocks noGrp="1"/>
          </p:cNvSpPr>
          <p:nvPr/>
        </p:nvSpPr>
        <p:spPr>
          <a:xfrm>
            <a:off x="6648450" y="4029075"/>
            <a:ext cx="27051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Límite</a:t>
            </a:r>
          </a:p>
        </p:txBody>
      </p:sp>
      <p:sp>
        <p:nvSpPr>
          <p:cNvPr id="18" name="U05-DG-014-recap_limit-body">
            <a:extLst>
              <a:ext uri="{FF2B5EF4-FFF2-40B4-BE49-F238E27FC236}">
                <a16:creationId xmlns:a16="http://schemas.microsoft.com/office/drawing/2014/main" id="{CB377C50-1DFB-4206-806B-759ABEB7DEFF}"/>
              </a:ext>
            </a:extLst>
          </p:cNvPr>
          <p:cNvSpPr>
            <a:spLocks noGrp="1"/>
          </p:cNvSpPr>
          <p:nvPr/>
        </p:nvSpPr>
        <p:spPr>
          <a:xfrm>
            <a:off x="6648450" y="4400550"/>
            <a:ext cx="27051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alcance declarado</a:t>
            </a:r>
          </a:p>
        </p:txBody>
      </p:sp>
      <p:sp>
        <p:nvSpPr>
          <p:cNvPr id="19" name="diagram-scale-note">
            <a:extLst>
              <a:ext uri="{FF2B5EF4-FFF2-40B4-BE49-F238E27FC236}">
                <a16:creationId xmlns:a16="http://schemas.microsoft.com/office/drawing/2014/main" id="{F557CA4A-B2C3-4522-83C5-CAAD14483F8D}"/>
              </a:ext>
            </a:extLst>
          </p:cNvPr>
          <p:cNvSpPr>
            <a:spLocks noGrp="1"/>
          </p:cNvSpPr>
          <p:nvPr/>
        </p:nvSpPr>
        <p:spPr>
          <a:xfrm>
            <a:off x="552450" y="5829300"/>
            <a:ext cx="3905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05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Esquema conceptual · no está a escala</a:t>
            </a:r>
          </a:p>
        </p:txBody>
      </p:sp>
      <p:sp>
        <p:nvSpPr>
          <p:cNvPr id="20" name="caption">
            <a:extLst>
              <a:ext uri="{FF2B5EF4-FFF2-40B4-BE49-F238E27FC236}">
                <a16:creationId xmlns:a16="http://schemas.microsoft.com/office/drawing/2014/main" id="{B11CC668-CEC4-4BAA-BB8B-05E8986268DD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876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Los metadatos hacen reproducible la lectura.</a:t>
            </a:r>
          </a:p>
        </p:txBody>
      </p:sp>
      <p:sp>
        <p:nvSpPr>
          <p:cNvPr id="21" name="credit">
            <a:extLst>
              <a:ext uri="{FF2B5EF4-FFF2-40B4-BE49-F238E27FC236}">
                <a16:creationId xmlns:a16="http://schemas.microsoft.com/office/drawing/2014/main" id="{BA498A89-4978-4543-AF61-41ED4B2B5B9B}"/>
              </a:ext>
            </a:extLst>
          </p:cNvPr>
          <p:cNvSpPr>
            <a:spLocks noGrp="1"/>
          </p:cNvSpPr>
          <p:nvPr/>
        </p:nvSpPr>
        <p:spPr>
          <a:xfrm>
            <a:off x="9382125" y="60769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5.4.4–5.4.7; NOT.</a:t>
            </a:r>
          </a:p>
        </p:txBody>
      </p:sp>
      <p:sp>
        <p:nvSpPr>
          <p:cNvPr id="23" name="slide-alt-summary" descr="Rutina de lectura ampliada con parámetros de registro y ventana.">
            <a:extLst>
              <a:ext uri="{FF2B5EF4-FFF2-40B4-BE49-F238E27FC236}">
                <a16:creationId xmlns:a16="http://schemas.microsoft.com/office/drawing/2014/main" id="{C4AEFB52-C36E-AE9B-E720-45A52CE0AF2F}"/>
              </a:ext>
            </a:extLst>
          </p:cNvPr>
          <p:cNvSpPr/>
          <p:nvPr/>
        </p:nvSpPr>
        <p:spPr>
          <a:xfrm>
            <a:off x="12700" y="12700"/>
            <a:ext cx="12700" cy="12700"/>
          </a:xfrm>
          <a:prstGeom prst="rect">
            <a:avLst/>
          </a:prstGeom>
          <a:noFill/>
          <a:ln w="19050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2020363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yebrow">
            <a:extLst>
              <a:ext uri="{FF2B5EF4-FFF2-40B4-BE49-F238E27FC236}">
                <a16:creationId xmlns:a16="http://schemas.microsoft.com/office/drawing/2014/main" id="{6F8D40D9-C7E2-463C-A62A-360C514F0B30}"/>
              </a:ext>
            </a:extLst>
          </p:cNvPr>
          <p:cNvSpPr>
            <a:spLocks noGrp="1"/>
          </p:cNvSpPr>
          <p:nvPr/>
        </p:nvSpPr>
        <p:spPr>
          <a:xfrm>
            <a:off x="514350" y="2095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1" i="0">
                <a:solidFill>
                  <a:srgbClr val="B9D8E7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B9D8E7"/>
                </a:solidFill>
                <a:latin typeface="Calibri"/>
                <a:ea typeface="Calibri"/>
                <a:cs typeface="Calibri"/>
              </a:rPr>
              <a:t>UNIDAD 5 · 052</a:t>
            </a:r>
          </a:p>
        </p:txBody>
      </p:sp>
      <p:sp>
        <p:nvSpPr>
          <p:cNvPr id="2" name="divider-title">
            <a:extLst>
              <a:ext uri="{FF2B5EF4-FFF2-40B4-BE49-F238E27FC236}">
                <a16:creationId xmlns:a16="http://schemas.microsoft.com/office/drawing/2014/main" id="{0C4893A0-D7D2-4C0C-B379-68FA8A3762C8}"/>
              </a:ext>
            </a:extLst>
          </p:cNvPr>
          <p:cNvSpPr>
            <a:spLocks noGrp="1"/>
          </p:cNvSpPr>
          <p:nvPr/>
        </p:nvSpPr>
        <p:spPr>
          <a:xfrm>
            <a:off x="714375" y="2190750"/>
            <a:ext cx="104775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lnSpc>
                <a:spcPct val="102000"/>
              </a:lnSpc>
              <a:buNone/>
              <a:defRPr sz="4050" b="1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4050" b="1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Señal y sistema pueden compartir eje, pero no significado</a:t>
            </a:r>
          </a:p>
        </p:txBody>
      </p:sp>
      <p:sp>
        <p:nvSpPr>
          <p:cNvPr id="3" name="divider-subtitle">
            <a:extLst>
              <a:ext uri="{FF2B5EF4-FFF2-40B4-BE49-F238E27FC236}">
                <a16:creationId xmlns:a16="http://schemas.microsoft.com/office/drawing/2014/main" id="{B2A0069E-74BE-46BA-AB02-FB716CE04835}"/>
              </a:ext>
            </a:extLst>
          </p:cNvPr>
          <p:cNvSpPr>
            <a:spLocks noGrp="1"/>
          </p:cNvSpPr>
          <p:nvPr/>
        </p:nvSpPr>
        <p:spPr>
          <a:xfrm>
            <a:off x="1714500" y="3429000"/>
            <a:ext cx="8763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100" b="0" i="0">
                <a:solidFill>
                  <a:srgbClr val="D6E4EA"/>
                </a:solidFill>
                <a:latin typeface="Calibri"/>
                <a:ea typeface="Calibri"/>
                <a:cs typeface="Calibri"/>
              </a:defRPr>
            </a:pPr>
            <a:r>
              <a:rPr sz="2100" b="0" i="0">
                <a:solidFill>
                  <a:srgbClr val="D6E4EA"/>
                </a:solidFill>
                <a:latin typeface="Calibri"/>
                <a:ea typeface="Calibri"/>
                <a:cs typeface="Calibri"/>
              </a:rPr>
              <a:t>¿La curva describe contenido o transformación?</a:t>
            </a:r>
          </a:p>
        </p:txBody>
      </p:sp>
      <p:sp>
        <p:nvSpPr>
          <p:cNvPr id="4" name="divider-content">
            <a:extLst>
              <a:ext uri="{FF2B5EF4-FFF2-40B4-BE49-F238E27FC236}">
                <a16:creationId xmlns:a16="http://schemas.microsoft.com/office/drawing/2014/main" id="{19C002B3-A458-4D03-8D48-3A6CCA449635}"/>
              </a:ext>
            </a:extLst>
          </p:cNvPr>
          <p:cNvSpPr>
            <a:spLocks noGrp="1"/>
          </p:cNvSpPr>
          <p:nvPr/>
        </p:nvSpPr>
        <p:spPr>
          <a:xfrm>
            <a:off x="2190750" y="4333875"/>
            <a:ext cx="781050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ctr">
              <a:lnSpc>
                <a:spcPct val="102000"/>
              </a:lnSpc>
              <a:buNone/>
              <a:defRPr sz="1875" b="0" i="0">
                <a:solidFill>
                  <a:srgbClr val="BDD0DA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BDD0DA"/>
                </a:solidFill>
                <a:latin typeface="Calibri"/>
                <a:ea typeface="Calibri"/>
                <a:cs typeface="Calibri"/>
              </a:rPr>
              <a:t>Espectro de señal ≠ respuesta en frecuencia de sistema.</a:t>
            </a:r>
          </a:p>
        </p:txBody>
      </p:sp>
      <p:sp>
        <p:nvSpPr>
          <p:cNvPr id="6" name="slide-alt-summary" descr="Cadena de entrada, sistema y salida acompañada por dos curvas semejantes con significado distinto.">
            <a:extLst>
              <a:ext uri="{FF2B5EF4-FFF2-40B4-BE49-F238E27FC236}">
                <a16:creationId xmlns:a16="http://schemas.microsoft.com/office/drawing/2014/main" id="{054DE95B-C9DF-449C-7359-30756163FED3}"/>
              </a:ext>
            </a:extLst>
          </p:cNvPr>
          <p:cNvSpPr/>
          <p:nvPr/>
        </p:nvSpPr>
        <p:spPr>
          <a:xfrm>
            <a:off x="12700" y="12700"/>
            <a:ext cx="12700" cy="12700"/>
          </a:xfrm>
          <a:prstGeom prst="rect">
            <a:avLst/>
          </a:prstGeom>
          <a:noFill/>
          <a:ln w="19050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eyebrow">
            <a:extLst>
              <a:ext uri="{FF2B5EF4-FFF2-40B4-BE49-F238E27FC236}">
                <a16:creationId xmlns:a16="http://schemas.microsoft.com/office/drawing/2014/main" id="{C14C61EA-B3A6-4C66-A687-F3D44E830258}"/>
              </a:ext>
            </a:extLst>
          </p:cNvPr>
          <p:cNvSpPr>
            <a:spLocks noGrp="1"/>
          </p:cNvSpPr>
          <p:nvPr/>
        </p:nvSpPr>
        <p:spPr>
          <a:xfrm>
            <a:off x="514350" y="2095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053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43402963-D225-4D7E-B9B9-1D4F6AE55926}"/>
              </a:ext>
            </a:extLst>
          </p:cNvPr>
          <p:cNvSpPr>
            <a:spLocks noGrp="1"/>
          </p:cNvSpPr>
          <p:nvPr/>
        </p:nvSpPr>
        <p:spPr>
          <a:xfrm>
            <a:off x="495300" y="428625"/>
            <a:ext cx="11191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El espectro pertenece a un registro particular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B08E6D3E-E011-4B74-91E0-BD04CB0DF8DF}"/>
              </a:ext>
            </a:extLst>
          </p:cNvPr>
          <p:cNvSpPr>
            <a:spLocks noGrp="1"/>
          </p:cNvSpPr>
          <p:nvPr/>
        </p:nvSpPr>
        <p:spPr>
          <a:xfrm>
            <a:off x="523875" y="971550"/>
            <a:ext cx="11001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Fuente, ambiente, sensor, segmento y método dejan huella.</a:t>
            </a:r>
          </a:p>
        </p:txBody>
      </p:sp>
      <p:sp>
        <p:nvSpPr>
          <p:cNvPr id="4" name="U05-DG-006-input_x">
            <a:extLst>
              <a:ext uri="{FF2B5EF4-FFF2-40B4-BE49-F238E27FC236}">
                <a16:creationId xmlns:a16="http://schemas.microsoft.com/office/drawing/2014/main" id="{F4CD6945-CF18-4D0C-9A1E-CF29FDA91FC2}"/>
              </a:ext>
            </a:extLst>
          </p:cNvPr>
          <p:cNvSpPr>
            <a:spLocks noGrp="1"/>
          </p:cNvSpPr>
          <p:nvPr/>
        </p:nvSpPr>
        <p:spPr>
          <a:xfrm>
            <a:off x="1143000" y="2095500"/>
            <a:ext cx="2476500" cy="1571625"/>
          </a:xfrm>
          <a:prstGeom prst="roundRect">
            <a:avLst>
              <a:gd name="adj" fmla="val 8485"/>
            </a:avLst>
          </a:prstGeom>
          <a:solidFill>
            <a:srgbClr val="EFF8FA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5" name="U05-DG-006-input_x-title">
            <a:extLst>
              <a:ext uri="{FF2B5EF4-FFF2-40B4-BE49-F238E27FC236}">
                <a16:creationId xmlns:a16="http://schemas.microsoft.com/office/drawing/2014/main" id="{979DE7C4-5694-46F3-95D5-162219B2F773}"/>
              </a:ext>
            </a:extLst>
          </p:cNvPr>
          <p:cNvSpPr>
            <a:spLocks noGrp="1"/>
          </p:cNvSpPr>
          <p:nvPr/>
        </p:nvSpPr>
        <p:spPr>
          <a:xfrm>
            <a:off x="1314450" y="2219325"/>
            <a:ext cx="21336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Entrada X(f)</a:t>
            </a:r>
          </a:p>
        </p:txBody>
      </p:sp>
      <p:sp>
        <p:nvSpPr>
          <p:cNvPr id="6" name="U05-DG-006-input_x-body">
            <a:extLst>
              <a:ext uri="{FF2B5EF4-FFF2-40B4-BE49-F238E27FC236}">
                <a16:creationId xmlns:a16="http://schemas.microsoft.com/office/drawing/2014/main" id="{172E0397-1143-47ED-A126-196AB278CFC2}"/>
              </a:ext>
            </a:extLst>
          </p:cNvPr>
          <p:cNvSpPr>
            <a:spLocks noGrp="1"/>
          </p:cNvSpPr>
          <p:nvPr/>
        </p:nvSpPr>
        <p:spPr>
          <a:xfrm>
            <a:off x="1314450" y="2647950"/>
            <a:ext cx="213360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espectro de una señal</a:t>
            </a:r>
          </a:p>
        </p:txBody>
      </p:sp>
      <p:sp>
        <p:nvSpPr>
          <p:cNvPr id="7" name="U05-DG-006-system_h">
            <a:extLst>
              <a:ext uri="{FF2B5EF4-FFF2-40B4-BE49-F238E27FC236}">
                <a16:creationId xmlns:a16="http://schemas.microsoft.com/office/drawing/2014/main" id="{C1FAEE9E-8460-493F-8107-5913C7D3F267}"/>
              </a:ext>
            </a:extLst>
          </p:cNvPr>
          <p:cNvSpPr>
            <a:spLocks noGrp="1"/>
          </p:cNvSpPr>
          <p:nvPr/>
        </p:nvSpPr>
        <p:spPr>
          <a:xfrm>
            <a:off x="4857750" y="2095500"/>
            <a:ext cx="2476500" cy="1571625"/>
          </a:xfrm>
          <a:prstGeom prst="roundRect">
            <a:avLst>
              <a:gd name="adj" fmla="val 8485"/>
            </a:avLst>
          </a:prstGeom>
          <a:solidFill>
            <a:srgbClr val="DDEFF5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8" name="U05-DG-006-system_h-title">
            <a:extLst>
              <a:ext uri="{FF2B5EF4-FFF2-40B4-BE49-F238E27FC236}">
                <a16:creationId xmlns:a16="http://schemas.microsoft.com/office/drawing/2014/main" id="{BAA5DA3B-B9A4-4709-9580-57E4D514ED23}"/>
              </a:ext>
            </a:extLst>
          </p:cNvPr>
          <p:cNvSpPr>
            <a:spLocks noGrp="1"/>
          </p:cNvSpPr>
          <p:nvPr/>
        </p:nvSpPr>
        <p:spPr>
          <a:xfrm>
            <a:off x="5029200" y="2219325"/>
            <a:ext cx="21336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Sistema H(f)</a:t>
            </a:r>
          </a:p>
        </p:txBody>
      </p:sp>
      <p:sp>
        <p:nvSpPr>
          <p:cNvPr id="9" name="U05-DG-006-system_h-body">
            <a:extLst>
              <a:ext uri="{FF2B5EF4-FFF2-40B4-BE49-F238E27FC236}">
                <a16:creationId xmlns:a16="http://schemas.microsoft.com/office/drawing/2014/main" id="{4410EEA4-0228-403D-80F3-709BFA7D714E}"/>
              </a:ext>
            </a:extLst>
          </p:cNvPr>
          <p:cNvSpPr>
            <a:spLocks noGrp="1"/>
          </p:cNvSpPr>
          <p:nvPr/>
        </p:nvSpPr>
        <p:spPr>
          <a:xfrm>
            <a:off x="5029200" y="2647950"/>
            <a:ext cx="213360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respuesta frecuencial</a:t>
            </a:r>
          </a:p>
        </p:txBody>
      </p:sp>
      <p:sp>
        <p:nvSpPr>
          <p:cNvPr id="10" name="U05-DG-006-output_y">
            <a:extLst>
              <a:ext uri="{FF2B5EF4-FFF2-40B4-BE49-F238E27FC236}">
                <a16:creationId xmlns:a16="http://schemas.microsoft.com/office/drawing/2014/main" id="{F0910BC3-6CBF-47D5-BCC9-63562E805E7C}"/>
              </a:ext>
            </a:extLst>
          </p:cNvPr>
          <p:cNvSpPr>
            <a:spLocks noGrp="1"/>
          </p:cNvSpPr>
          <p:nvPr/>
        </p:nvSpPr>
        <p:spPr>
          <a:xfrm>
            <a:off x="8572500" y="2095500"/>
            <a:ext cx="2476500" cy="1571625"/>
          </a:xfrm>
          <a:prstGeom prst="roundRect">
            <a:avLst>
              <a:gd name="adj" fmla="val 8485"/>
            </a:avLst>
          </a:prstGeom>
          <a:solidFill>
            <a:srgbClr val="EFF8FA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11" name="U05-DG-006-output_y-title">
            <a:extLst>
              <a:ext uri="{FF2B5EF4-FFF2-40B4-BE49-F238E27FC236}">
                <a16:creationId xmlns:a16="http://schemas.microsoft.com/office/drawing/2014/main" id="{75BF17D1-F956-4173-8301-1EA453ADEECB}"/>
              </a:ext>
            </a:extLst>
          </p:cNvPr>
          <p:cNvSpPr>
            <a:spLocks noGrp="1"/>
          </p:cNvSpPr>
          <p:nvPr/>
        </p:nvSpPr>
        <p:spPr>
          <a:xfrm>
            <a:off x="8743950" y="2219325"/>
            <a:ext cx="21336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Salida Y(f)</a:t>
            </a:r>
          </a:p>
        </p:txBody>
      </p:sp>
      <p:sp>
        <p:nvSpPr>
          <p:cNvPr id="12" name="U05-DG-006-output_y-body">
            <a:extLst>
              <a:ext uri="{FF2B5EF4-FFF2-40B4-BE49-F238E27FC236}">
                <a16:creationId xmlns:a16="http://schemas.microsoft.com/office/drawing/2014/main" id="{26159A49-B6A8-464D-B4A6-114987538942}"/>
              </a:ext>
            </a:extLst>
          </p:cNvPr>
          <p:cNvSpPr>
            <a:spLocks noGrp="1"/>
          </p:cNvSpPr>
          <p:nvPr/>
        </p:nvSpPr>
        <p:spPr>
          <a:xfrm>
            <a:off x="8743950" y="2647950"/>
            <a:ext cx="213360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espectro de otra señal</a:t>
            </a:r>
          </a:p>
        </p:txBody>
      </p:sp>
      <p:cxnSp>
        <p:nvCxnSpPr>
          <p:cNvPr id="30" name="U05-DG-006-sys_1"/>
          <p:cNvCxnSpPr>
            <a:stCxn id="4" idx="3"/>
            <a:endCxn id="7" idx="1"/>
          </p:cNvCxnSpPr>
          <p:nvPr/>
        </p:nvCxnSpPr>
        <p:spPr>
          <a:xfrm>
            <a:off x="3619500" y="2881313"/>
            <a:ext cx="1238250" cy="0"/>
          </a:xfrm>
          <a:prstGeom prst="straightConnector1">
            <a:avLst/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cxnSp>
        <p:nvCxnSpPr>
          <p:cNvPr id="31" name="U05-DG-006-sys_2"/>
          <p:cNvCxnSpPr>
            <a:stCxn id="7" idx="3"/>
            <a:endCxn id="10" idx="1"/>
          </p:cNvCxnSpPr>
          <p:nvPr/>
        </p:nvCxnSpPr>
        <p:spPr>
          <a:xfrm>
            <a:off x="7334250" y="2881313"/>
            <a:ext cx="1238250" cy="0"/>
          </a:xfrm>
          <a:prstGeom prst="straightConnector1">
            <a:avLst/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sp>
        <p:nvSpPr>
          <p:cNvPr id="15" name="diagram-scale-note">
            <a:extLst>
              <a:ext uri="{FF2B5EF4-FFF2-40B4-BE49-F238E27FC236}">
                <a16:creationId xmlns:a16="http://schemas.microsoft.com/office/drawing/2014/main" id="{2D4807E2-171E-453F-ACD2-2AA16675C36B}"/>
              </a:ext>
            </a:extLst>
          </p:cNvPr>
          <p:cNvSpPr>
            <a:spLocks noGrp="1"/>
          </p:cNvSpPr>
          <p:nvPr/>
        </p:nvSpPr>
        <p:spPr>
          <a:xfrm>
            <a:off x="552450" y="5829300"/>
            <a:ext cx="3905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05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Esquema conceptual · no está a escala</a:t>
            </a:r>
          </a:p>
        </p:txBody>
      </p:sp>
      <p:sp>
        <p:nvSpPr>
          <p:cNvPr id="16" name="caption">
            <a:extLst>
              <a:ext uri="{FF2B5EF4-FFF2-40B4-BE49-F238E27FC236}">
                <a16:creationId xmlns:a16="http://schemas.microsoft.com/office/drawing/2014/main" id="{7076DFBC-6DE5-4F62-B849-0E5A7766739B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876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No existe “el espectro de la voz” sin contexto.</a:t>
            </a:r>
          </a:p>
        </p:txBody>
      </p:sp>
      <p:sp>
        <p:nvSpPr>
          <p:cNvPr id="17" name="credit">
            <a:extLst>
              <a:ext uri="{FF2B5EF4-FFF2-40B4-BE49-F238E27FC236}">
                <a16:creationId xmlns:a16="http://schemas.microsoft.com/office/drawing/2014/main" id="{1C3C2A2B-8DBC-4AAD-B63A-D30DD1E0A9F8}"/>
              </a:ext>
            </a:extLst>
          </p:cNvPr>
          <p:cNvSpPr>
            <a:spLocks noGrp="1"/>
          </p:cNvSpPr>
          <p:nvPr/>
        </p:nvSpPr>
        <p:spPr>
          <a:xfrm>
            <a:off x="9382125" y="60769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5.5; GLO.</a:t>
            </a:r>
          </a:p>
        </p:txBody>
      </p:sp>
      <p:sp>
        <p:nvSpPr>
          <p:cNvPr id="13" name="slide-alt-summary" descr="Señal central rodeada por cinco condiciones de registro y análisis.">
            <a:extLst>
              <a:ext uri="{FF2B5EF4-FFF2-40B4-BE49-F238E27FC236}">
                <a16:creationId xmlns:a16="http://schemas.microsoft.com/office/drawing/2014/main" id="{59D5FB25-325A-1182-EC8C-B4EE63C9B474}"/>
              </a:ext>
            </a:extLst>
          </p:cNvPr>
          <p:cNvSpPr/>
          <p:nvPr/>
        </p:nvSpPr>
        <p:spPr>
          <a:xfrm>
            <a:off x="12700" y="12700"/>
            <a:ext cx="12700" cy="12700"/>
          </a:xfrm>
          <a:prstGeom prst="rect">
            <a:avLst/>
          </a:prstGeom>
          <a:noFill/>
          <a:ln w="19050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8663046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eyebrow">
            <a:extLst>
              <a:ext uri="{FF2B5EF4-FFF2-40B4-BE49-F238E27FC236}">
                <a16:creationId xmlns:a16="http://schemas.microsoft.com/office/drawing/2014/main" id="{D685312F-9C2B-4AF8-B4CE-65B11DA0AE1C}"/>
              </a:ext>
            </a:extLst>
          </p:cNvPr>
          <p:cNvSpPr>
            <a:spLocks noGrp="1"/>
          </p:cNvSpPr>
          <p:nvPr/>
        </p:nvSpPr>
        <p:spPr>
          <a:xfrm>
            <a:off x="514350" y="2095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054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1CD4337A-26A2-4023-81D0-B98A841B98F1}"/>
              </a:ext>
            </a:extLst>
          </p:cNvPr>
          <p:cNvSpPr>
            <a:spLocks noGrp="1"/>
          </p:cNvSpPr>
          <p:nvPr/>
        </p:nvSpPr>
        <p:spPr>
          <a:xfrm>
            <a:off x="495300" y="428625"/>
            <a:ext cx="11191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La respuesta en frecuencia pertenece a un sistema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1263634B-FE20-4EBC-A878-E961A426ACC5}"/>
              </a:ext>
            </a:extLst>
          </p:cNvPr>
          <p:cNvSpPr>
            <a:spLocks noGrp="1"/>
          </p:cNvSpPr>
          <p:nvPr/>
        </p:nvSpPr>
        <p:spPr>
          <a:xfrm>
            <a:off x="523875" y="971550"/>
            <a:ext cx="11001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Compara cómo cambia la salida respecto de la entrada.</a:t>
            </a:r>
          </a:p>
        </p:txBody>
      </p:sp>
      <p:sp>
        <p:nvSpPr>
          <p:cNvPr id="4" name="U05-DG-006-input_x">
            <a:extLst>
              <a:ext uri="{FF2B5EF4-FFF2-40B4-BE49-F238E27FC236}">
                <a16:creationId xmlns:a16="http://schemas.microsoft.com/office/drawing/2014/main" id="{E13FE68F-76E6-4962-AA30-5C530D3FE808}"/>
              </a:ext>
            </a:extLst>
          </p:cNvPr>
          <p:cNvSpPr>
            <a:spLocks noGrp="1"/>
          </p:cNvSpPr>
          <p:nvPr/>
        </p:nvSpPr>
        <p:spPr>
          <a:xfrm>
            <a:off x="1143000" y="2095500"/>
            <a:ext cx="2476500" cy="1571625"/>
          </a:xfrm>
          <a:prstGeom prst="roundRect">
            <a:avLst>
              <a:gd name="adj" fmla="val 8485"/>
            </a:avLst>
          </a:prstGeom>
          <a:solidFill>
            <a:srgbClr val="EFF8FA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5" name="U05-DG-006-input_x-title">
            <a:extLst>
              <a:ext uri="{FF2B5EF4-FFF2-40B4-BE49-F238E27FC236}">
                <a16:creationId xmlns:a16="http://schemas.microsoft.com/office/drawing/2014/main" id="{F098CCA6-11B1-47BF-898A-120548995F21}"/>
              </a:ext>
            </a:extLst>
          </p:cNvPr>
          <p:cNvSpPr>
            <a:spLocks noGrp="1"/>
          </p:cNvSpPr>
          <p:nvPr/>
        </p:nvSpPr>
        <p:spPr>
          <a:xfrm>
            <a:off x="1314450" y="2219325"/>
            <a:ext cx="21336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Entrada X(f)</a:t>
            </a:r>
          </a:p>
        </p:txBody>
      </p:sp>
      <p:sp>
        <p:nvSpPr>
          <p:cNvPr id="6" name="U05-DG-006-input_x-body">
            <a:extLst>
              <a:ext uri="{FF2B5EF4-FFF2-40B4-BE49-F238E27FC236}">
                <a16:creationId xmlns:a16="http://schemas.microsoft.com/office/drawing/2014/main" id="{38EDE749-C592-4099-8830-08478B75366A}"/>
              </a:ext>
            </a:extLst>
          </p:cNvPr>
          <p:cNvSpPr>
            <a:spLocks noGrp="1"/>
          </p:cNvSpPr>
          <p:nvPr/>
        </p:nvSpPr>
        <p:spPr>
          <a:xfrm>
            <a:off x="1314450" y="2647950"/>
            <a:ext cx="213360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espectro de una señal</a:t>
            </a:r>
          </a:p>
        </p:txBody>
      </p:sp>
      <p:sp>
        <p:nvSpPr>
          <p:cNvPr id="7" name="U05-DG-006-system_h">
            <a:extLst>
              <a:ext uri="{FF2B5EF4-FFF2-40B4-BE49-F238E27FC236}">
                <a16:creationId xmlns:a16="http://schemas.microsoft.com/office/drawing/2014/main" id="{D87CB984-D59E-4E71-9A03-87F8650380FD}"/>
              </a:ext>
            </a:extLst>
          </p:cNvPr>
          <p:cNvSpPr>
            <a:spLocks noGrp="1"/>
          </p:cNvSpPr>
          <p:nvPr/>
        </p:nvSpPr>
        <p:spPr>
          <a:xfrm>
            <a:off x="4857750" y="2095500"/>
            <a:ext cx="2476500" cy="1571625"/>
          </a:xfrm>
          <a:prstGeom prst="roundRect">
            <a:avLst>
              <a:gd name="adj" fmla="val 8485"/>
            </a:avLst>
          </a:prstGeom>
          <a:solidFill>
            <a:srgbClr val="DDEFF5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8" name="U05-DG-006-system_h-title">
            <a:extLst>
              <a:ext uri="{FF2B5EF4-FFF2-40B4-BE49-F238E27FC236}">
                <a16:creationId xmlns:a16="http://schemas.microsoft.com/office/drawing/2014/main" id="{34F1631B-146A-4B7E-840B-88C8B70220CE}"/>
              </a:ext>
            </a:extLst>
          </p:cNvPr>
          <p:cNvSpPr>
            <a:spLocks noGrp="1"/>
          </p:cNvSpPr>
          <p:nvPr/>
        </p:nvSpPr>
        <p:spPr>
          <a:xfrm>
            <a:off x="5029200" y="2219325"/>
            <a:ext cx="21336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Sistema H(f)</a:t>
            </a:r>
          </a:p>
        </p:txBody>
      </p:sp>
      <p:sp>
        <p:nvSpPr>
          <p:cNvPr id="9" name="U05-DG-006-system_h-body">
            <a:extLst>
              <a:ext uri="{FF2B5EF4-FFF2-40B4-BE49-F238E27FC236}">
                <a16:creationId xmlns:a16="http://schemas.microsoft.com/office/drawing/2014/main" id="{55036C7C-B0F6-400E-9F44-D34A6537D92A}"/>
              </a:ext>
            </a:extLst>
          </p:cNvPr>
          <p:cNvSpPr>
            <a:spLocks noGrp="1"/>
          </p:cNvSpPr>
          <p:nvPr/>
        </p:nvSpPr>
        <p:spPr>
          <a:xfrm>
            <a:off x="5029200" y="2647950"/>
            <a:ext cx="213360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respuesta frecuencial</a:t>
            </a:r>
          </a:p>
        </p:txBody>
      </p:sp>
      <p:sp>
        <p:nvSpPr>
          <p:cNvPr id="10" name="U05-DG-006-output_y">
            <a:extLst>
              <a:ext uri="{FF2B5EF4-FFF2-40B4-BE49-F238E27FC236}">
                <a16:creationId xmlns:a16="http://schemas.microsoft.com/office/drawing/2014/main" id="{097DB14A-C08C-4076-A757-353669B9B5B8}"/>
              </a:ext>
            </a:extLst>
          </p:cNvPr>
          <p:cNvSpPr>
            <a:spLocks noGrp="1"/>
          </p:cNvSpPr>
          <p:nvPr/>
        </p:nvSpPr>
        <p:spPr>
          <a:xfrm>
            <a:off x="8572500" y="2095500"/>
            <a:ext cx="2476500" cy="1571625"/>
          </a:xfrm>
          <a:prstGeom prst="roundRect">
            <a:avLst>
              <a:gd name="adj" fmla="val 8485"/>
            </a:avLst>
          </a:prstGeom>
          <a:solidFill>
            <a:srgbClr val="EFF8FA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11" name="U05-DG-006-output_y-title">
            <a:extLst>
              <a:ext uri="{FF2B5EF4-FFF2-40B4-BE49-F238E27FC236}">
                <a16:creationId xmlns:a16="http://schemas.microsoft.com/office/drawing/2014/main" id="{8C8237F6-D0D6-48D5-A605-C1B6F31251F5}"/>
              </a:ext>
            </a:extLst>
          </p:cNvPr>
          <p:cNvSpPr>
            <a:spLocks noGrp="1"/>
          </p:cNvSpPr>
          <p:nvPr/>
        </p:nvSpPr>
        <p:spPr>
          <a:xfrm>
            <a:off x="8743950" y="2219325"/>
            <a:ext cx="21336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Salida Y(f)</a:t>
            </a:r>
          </a:p>
        </p:txBody>
      </p:sp>
      <p:sp>
        <p:nvSpPr>
          <p:cNvPr id="12" name="U05-DG-006-output_y-body">
            <a:extLst>
              <a:ext uri="{FF2B5EF4-FFF2-40B4-BE49-F238E27FC236}">
                <a16:creationId xmlns:a16="http://schemas.microsoft.com/office/drawing/2014/main" id="{AB7E08B9-CD31-46B1-9DFC-B42A5CD49105}"/>
              </a:ext>
            </a:extLst>
          </p:cNvPr>
          <p:cNvSpPr>
            <a:spLocks noGrp="1"/>
          </p:cNvSpPr>
          <p:nvPr/>
        </p:nvSpPr>
        <p:spPr>
          <a:xfrm>
            <a:off x="8743950" y="2647950"/>
            <a:ext cx="213360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espectro de otra señal</a:t>
            </a:r>
          </a:p>
        </p:txBody>
      </p:sp>
      <p:cxnSp>
        <p:nvCxnSpPr>
          <p:cNvPr id="30" name="U05-DG-006-sys_1"/>
          <p:cNvCxnSpPr>
            <a:stCxn id="4" idx="3"/>
            <a:endCxn id="7" idx="1"/>
          </p:cNvCxnSpPr>
          <p:nvPr/>
        </p:nvCxnSpPr>
        <p:spPr>
          <a:xfrm>
            <a:off x="3619500" y="2881313"/>
            <a:ext cx="1238250" cy="0"/>
          </a:xfrm>
          <a:prstGeom prst="straightConnector1">
            <a:avLst/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cxnSp>
        <p:nvCxnSpPr>
          <p:cNvPr id="31" name="U05-DG-006-sys_2"/>
          <p:cNvCxnSpPr>
            <a:stCxn id="7" idx="3"/>
            <a:endCxn id="10" idx="1"/>
          </p:cNvCxnSpPr>
          <p:nvPr/>
        </p:nvCxnSpPr>
        <p:spPr>
          <a:xfrm>
            <a:off x="7334250" y="2881313"/>
            <a:ext cx="1238250" cy="0"/>
          </a:xfrm>
          <a:prstGeom prst="straightConnector1">
            <a:avLst/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sp>
        <p:nvSpPr>
          <p:cNvPr id="15" name="diagram-scale-note">
            <a:extLst>
              <a:ext uri="{FF2B5EF4-FFF2-40B4-BE49-F238E27FC236}">
                <a16:creationId xmlns:a16="http://schemas.microsoft.com/office/drawing/2014/main" id="{5CE02376-7E64-489C-A07B-E442C51FC4CE}"/>
              </a:ext>
            </a:extLst>
          </p:cNvPr>
          <p:cNvSpPr>
            <a:spLocks noGrp="1"/>
          </p:cNvSpPr>
          <p:nvPr/>
        </p:nvSpPr>
        <p:spPr>
          <a:xfrm>
            <a:off x="552450" y="5829300"/>
            <a:ext cx="3905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05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Esquema conceptual · no está a escala</a:t>
            </a:r>
          </a:p>
        </p:txBody>
      </p:sp>
      <p:sp>
        <p:nvSpPr>
          <p:cNvPr id="16" name="caption">
            <a:extLst>
              <a:ext uri="{FF2B5EF4-FFF2-40B4-BE49-F238E27FC236}">
                <a16:creationId xmlns:a16="http://schemas.microsoft.com/office/drawing/2014/main" id="{DCF790EA-41A6-4F80-AFF8-7B7D187D80E4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876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La respuesta caracteriza transformación, no contenido de una fuente particular.</a:t>
            </a:r>
          </a:p>
        </p:txBody>
      </p:sp>
      <p:sp>
        <p:nvSpPr>
          <p:cNvPr id="17" name="credit">
            <a:extLst>
              <a:ext uri="{FF2B5EF4-FFF2-40B4-BE49-F238E27FC236}">
                <a16:creationId xmlns:a16="http://schemas.microsoft.com/office/drawing/2014/main" id="{DE3CA955-FEA5-4006-9154-73ACE52C1588}"/>
              </a:ext>
            </a:extLst>
          </p:cNvPr>
          <p:cNvSpPr>
            <a:spLocks noGrp="1"/>
          </p:cNvSpPr>
          <p:nvPr/>
        </p:nvSpPr>
        <p:spPr>
          <a:xfrm>
            <a:off x="9382125" y="60769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PO; TEX 5.5; GLO.</a:t>
            </a:r>
          </a:p>
        </p:txBody>
      </p:sp>
      <p:sp>
        <p:nvSpPr>
          <p:cNvPr id="13" name="slide-alt-summary" descr="Sistema entre entrada y salida con ejemplos de filtro, audífono y tracto vocal.">
            <a:extLst>
              <a:ext uri="{FF2B5EF4-FFF2-40B4-BE49-F238E27FC236}">
                <a16:creationId xmlns:a16="http://schemas.microsoft.com/office/drawing/2014/main" id="{4D6532C6-8924-5BA3-009A-26F721FC13D4}"/>
              </a:ext>
            </a:extLst>
          </p:cNvPr>
          <p:cNvSpPr/>
          <p:nvPr/>
        </p:nvSpPr>
        <p:spPr>
          <a:xfrm>
            <a:off x="12700" y="12700"/>
            <a:ext cx="12700" cy="12700"/>
          </a:xfrm>
          <a:prstGeom prst="rect">
            <a:avLst/>
          </a:prstGeom>
          <a:noFill/>
          <a:ln w="19050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8663046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eyebrow">
            <a:extLst>
              <a:ext uri="{FF2B5EF4-FFF2-40B4-BE49-F238E27FC236}">
                <a16:creationId xmlns:a16="http://schemas.microsoft.com/office/drawing/2014/main" id="{5D006533-16DD-4886-9CBE-35C55487CBCD}"/>
              </a:ext>
            </a:extLst>
          </p:cNvPr>
          <p:cNvSpPr>
            <a:spLocks noGrp="1"/>
          </p:cNvSpPr>
          <p:nvPr/>
        </p:nvSpPr>
        <p:spPr>
          <a:xfrm>
            <a:off x="514350" y="2095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055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00B15866-4C34-43C3-ACC1-6DB004C0EA34}"/>
              </a:ext>
            </a:extLst>
          </p:cNvPr>
          <p:cNvSpPr>
            <a:spLocks noGrp="1"/>
          </p:cNvSpPr>
          <p:nvPr/>
        </p:nvSpPr>
        <p:spPr>
          <a:xfrm>
            <a:off x="495300" y="428625"/>
            <a:ext cx="11191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Espectro y respuesta se leen con preguntas diferentes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D722605-650F-4964-9A74-CD6A88600595}"/>
              </a:ext>
            </a:extLst>
          </p:cNvPr>
          <p:cNvSpPr>
            <a:spLocks noGrp="1"/>
          </p:cNvSpPr>
          <p:nvPr/>
        </p:nvSpPr>
        <p:spPr>
          <a:xfrm>
            <a:off x="523875" y="971550"/>
            <a:ext cx="11001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Curvas parecidas pueden responder preguntas incompatibles.</a:t>
            </a:r>
          </a:p>
        </p:txBody>
      </p:sp>
      <p:sp>
        <p:nvSpPr>
          <p:cNvPr id="4" name="U05-DG-006-input_x">
            <a:extLst>
              <a:ext uri="{FF2B5EF4-FFF2-40B4-BE49-F238E27FC236}">
                <a16:creationId xmlns:a16="http://schemas.microsoft.com/office/drawing/2014/main" id="{F538137F-626A-4129-B65E-D8785CC2D36D}"/>
              </a:ext>
            </a:extLst>
          </p:cNvPr>
          <p:cNvSpPr>
            <a:spLocks noGrp="1"/>
          </p:cNvSpPr>
          <p:nvPr/>
        </p:nvSpPr>
        <p:spPr>
          <a:xfrm>
            <a:off x="1143000" y="2095500"/>
            <a:ext cx="2476500" cy="1571625"/>
          </a:xfrm>
          <a:prstGeom prst="roundRect">
            <a:avLst>
              <a:gd name="adj" fmla="val 8485"/>
            </a:avLst>
          </a:prstGeom>
          <a:solidFill>
            <a:srgbClr val="EFF8FA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5" name="U05-DG-006-input_x-title">
            <a:extLst>
              <a:ext uri="{FF2B5EF4-FFF2-40B4-BE49-F238E27FC236}">
                <a16:creationId xmlns:a16="http://schemas.microsoft.com/office/drawing/2014/main" id="{5E6868DD-7044-42B1-99E7-14591BE5FBF5}"/>
              </a:ext>
            </a:extLst>
          </p:cNvPr>
          <p:cNvSpPr>
            <a:spLocks noGrp="1"/>
          </p:cNvSpPr>
          <p:nvPr/>
        </p:nvSpPr>
        <p:spPr>
          <a:xfrm>
            <a:off x="1314450" y="2219325"/>
            <a:ext cx="21336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Entrada X(f)</a:t>
            </a:r>
          </a:p>
        </p:txBody>
      </p:sp>
      <p:sp>
        <p:nvSpPr>
          <p:cNvPr id="6" name="U05-DG-006-input_x-body">
            <a:extLst>
              <a:ext uri="{FF2B5EF4-FFF2-40B4-BE49-F238E27FC236}">
                <a16:creationId xmlns:a16="http://schemas.microsoft.com/office/drawing/2014/main" id="{D9EAA1BF-B387-4F97-A075-B9C8233E9382}"/>
              </a:ext>
            </a:extLst>
          </p:cNvPr>
          <p:cNvSpPr>
            <a:spLocks noGrp="1"/>
          </p:cNvSpPr>
          <p:nvPr/>
        </p:nvSpPr>
        <p:spPr>
          <a:xfrm>
            <a:off x="1314450" y="2647950"/>
            <a:ext cx="213360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espectro de una señal</a:t>
            </a:r>
          </a:p>
        </p:txBody>
      </p:sp>
      <p:sp>
        <p:nvSpPr>
          <p:cNvPr id="7" name="U05-DG-006-system_h">
            <a:extLst>
              <a:ext uri="{FF2B5EF4-FFF2-40B4-BE49-F238E27FC236}">
                <a16:creationId xmlns:a16="http://schemas.microsoft.com/office/drawing/2014/main" id="{6CD71A4B-6CFD-4312-A9B8-CCA991B99F11}"/>
              </a:ext>
            </a:extLst>
          </p:cNvPr>
          <p:cNvSpPr>
            <a:spLocks noGrp="1"/>
          </p:cNvSpPr>
          <p:nvPr/>
        </p:nvSpPr>
        <p:spPr>
          <a:xfrm>
            <a:off x="4857750" y="2095500"/>
            <a:ext cx="2476500" cy="1571625"/>
          </a:xfrm>
          <a:prstGeom prst="roundRect">
            <a:avLst>
              <a:gd name="adj" fmla="val 8485"/>
            </a:avLst>
          </a:prstGeom>
          <a:solidFill>
            <a:srgbClr val="DDEFF5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8" name="U05-DG-006-system_h-title">
            <a:extLst>
              <a:ext uri="{FF2B5EF4-FFF2-40B4-BE49-F238E27FC236}">
                <a16:creationId xmlns:a16="http://schemas.microsoft.com/office/drawing/2014/main" id="{45C6A292-4668-471D-944D-76B16B340FEF}"/>
              </a:ext>
            </a:extLst>
          </p:cNvPr>
          <p:cNvSpPr>
            <a:spLocks noGrp="1"/>
          </p:cNvSpPr>
          <p:nvPr/>
        </p:nvSpPr>
        <p:spPr>
          <a:xfrm>
            <a:off x="5029200" y="2219325"/>
            <a:ext cx="21336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Sistema H(f)</a:t>
            </a:r>
          </a:p>
        </p:txBody>
      </p:sp>
      <p:sp>
        <p:nvSpPr>
          <p:cNvPr id="9" name="U05-DG-006-system_h-body">
            <a:extLst>
              <a:ext uri="{FF2B5EF4-FFF2-40B4-BE49-F238E27FC236}">
                <a16:creationId xmlns:a16="http://schemas.microsoft.com/office/drawing/2014/main" id="{23227E40-C17F-499D-9B5D-654C65B57A78}"/>
              </a:ext>
            </a:extLst>
          </p:cNvPr>
          <p:cNvSpPr>
            <a:spLocks noGrp="1"/>
          </p:cNvSpPr>
          <p:nvPr/>
        </p:nvSpPr>
        <p:spPr>
          <a:xfrm>
            <a:off x="5029200" y="2647950"/>
            <a:ext cx="213360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respuesta frecuencial</a:t>
            </a:r>
          </a:p>
        </p:txBody>
      </p:sp>
      <p:sp>
        <p:nvSpPr>
          <p:cNvPr id="10" name="U05-DG-006-output_y">
            <a:extLst>
              <a:ext uri="{FF2B5EF4-FFF2-40B4-BE49-F238E27FC236}">
                <a16:creationId xmlns:a16="http://schemas.microsoft.com/office/drawing/2014/main" id="{756EFC95-3B5A-49E6-AD32-3F47A7FEEC80}"/>
              </a:ext>
            </a:extLst>
          </p:cNvPr>
          <p:cNvSpPr>
            <a:spLocks noGrp="1"/>
          </p:cNvSpPr>
          <p:nvPr/>
        </p:nvSpPr>
        <p:spPr>
          <a:xfrm>
            <a:off x="8572500" y="2095500"/>
            <a:ext cx="2476500" cy="1571625"/>
          </a:xfrm>
          <a:prstGeom prst="roundRect">
            <a:avLst>
              <a:gd name="adj" fmla="val 8485"/>
            </a:avLst>
          </a:prstGeom>
          <a:solidFill>
            <a:srgbClr val="EFF8FA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11" name="U05-DG-006-output_y-title">
            <a:extLst>
              <a:ext uri="{FF2B5EF4-FFF2-40B4-BE49-F238E27FC236}">
                <a16:creationId xmlns:a16="http://schemas.microsoft.com/office/drawing/2014/main" id="{94BFFA57-F2D3-4185-A381-D7B99967637C}"/>
              </a:ext>
            </a:extLst>
          </p:cNvPr>
          <p:cNvSpPr>
            <a:spLocks noGrp="1"/>
          </p:cNvSpPr>
          <p:nvPr/>
        </p:nvSpPr>
        <p:spPr>
          <a:xfrm>
            <a:off x="8743950" y="2219325"/>
            <a:ext cx="21336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Salida Y(f)</a:t>
            </a:r>
          </a:p>
        </p:txBody>
      </p:sp>
      <p:sp>
        <p:nvSpPr>
          <p:cNvPr id="12" name="U05-DG-006-output_y-body">
            <a:extLst>
              <a:ext uri="{FF2B5EF4-FFF2-40B4-BE49-F238E27FC236}">
                <a16:creationId xmlns:a16="http://schemas.microsoft.com/office/drawing/2014/main" id="{504FF84C-E4B9-4FF9-872D-3095A8938ED1}"/>
              </a:ext>
            </a:extLst>
          </p:cNvPr>
          <p:cNvSpPr>
            <a:spLocks noGrp="1"/>
          </p:cNvSpPr>
          <p:nvPr/>
        </p:nvSpPr>
        <p:spPr>
          <a:xfrm>
            <a:off x="8743950" y="2647950"/>
            <a:ext cx="213360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espectro de otra señal</a:t>
            </a:r>
          </a:p>
        </p:txBody>
      </p:sp>
      <p:cxnSp>
        <p:nvCxnSpPr>
          <p:cNvPr id="30" name="U05-DG-006-sys_1"/>
          <p:cNvCxnSpPr>
            <a:stCxn id="4" idx="3"/>
            <a:endCxn id="7" idx="1"/>
          </p:cNvCxnSpPr>
          <p:nvPr/>
        </p:nvCxnSpPr>
        <p:spPr>
          <a:xfrm>
            <a:off x="3619500" y="2881313"/>
            <a:ext cx="1238250" cy="0"/>
          </a:xfrm>
          <a:prstGeom prst="straightConnector1">
            <a:avLst/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cxnSp>
        <p:nvCxnSpPr>
          <p:cNvPr id="31" name="U05-DG-006-sys_2"/>
          <p:cNvCxnSpPr>
            <a:stCxn id="7" idx="3"/>
            <a:endCxn id="10" idx="1"/>
          </p:cNvCxnSpPr>
          <p:nvPr/>
        </p:nvCxnSpPr>
        <p:spPr>
          <a:xfrm>
            <a:off x="7334250" y="2881313"/>
            <a:ext cx="1238250" cy="0"/>
          </a:xfrm>
          <a:prstGeom prst="straightConnector1">
            <a:avLst/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sp>
        <p:nvSpPr>
          <p:cNvPr id="15" name="diagram-scale-note">
            <a:extLst>
              <a:ext uri="{FF2B5EF4-FFF2-40B4-BE49-F238E27FC236}">
                <a16:creationId xmlns:a16="http://schemas.microsoft.com/office/drawing/2014/main" id="{DEB13465-6C87-4B4F-B039-1B1FC14458C2}"/>
              </a:ext>
            </a:extLst>
          </p:cNvPr>
          <p:cNvSpPr>
            <a:spLocks noGrp="1"/>
          </p:cNvSpPr>
          <p:nvPr/>
        </p:nvSpPr>
        <p:spPr>
          <a:xfrm>
            <a:off x="552450" y="5829300"/>
            <a:ext cx="3905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05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Esquema conceptual · no está a escala</a:t>
            </a:r>
          </a:p>
        </p:txBody>
      </p:sp>
      <p:sp>
        <p:nvSpPr>
          <p:cNvPr id="16" name="caption">
            <a:extLst>
              <a:ext uri="{FF2B5EF4-FFF2-40B4-BE49-F238E27FC236}">
                <a16:creationId xmlns:a16="http://schemas.microsoft.com/office/drawing/2014/main" id="{2B48F840-6E1F-4A64-9E24-A2EC4ED6AFB7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876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Preguntar de quién es la curva antes de interpretarla.</a:t>
            </a:r>
          </a:p>
        </p:txBody>
      </p:sp>
      <p:sp>
        <p:nvSpPr>
          <p:cNvPr id="17" name="credit">
            <a:extLst>
              <a:ext uri="{FF2B5EF4-FFF2-40B4-BE49-F238E27FC236}">
                <a16:creationId xmlns:a16="http://schemas.microsoft.com/office/drawing/2014/main" id="{FB07DC6C-4329-4621-AE8E-9EA1307A87C2}"/>
              </a:ext>
            </a:extLst>
          </p:cNvPr>
          <p:cNvSpPr>
            <a:spLocks noGrp="1"/>
          </p:cNvSpPr>
          <p:nvPr/>
        </p:nvSpPr>
        <p:spPr>
          <a:xfrm>
            <a:off x="9382125" y="60769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5.5; CDM.</a:t>
            </a:r>
          </a:p>
        </p:txBody>
      </p:sp>
      <p:sp>
        <p:nvSpPr>
          <p:cNvPr id="13" name="slide-alt-summary" descr="Dos columnas comparan objeto, datos y conclusiones de espectro y respuesta.">
            <a:extLst>
              <a:ext uri="{FF2B5EF4-FFF2-40B4-BE49-F238E27FC236}">
                <a16:creationId xmlns:a16="http://schemas.microsoft.com/office/drawing/2014/main" id="{946BB801-1080-B83C-24DC-121C3FC36FBC}"/>
              </a:ext>
            </a:extLst>
          </p:cNvPr>
          <p:cNvSpPr/>
          <p:nvPr/>
        </p:nvSpPr>
        <p:spPr>
          <a:xfrm>
            <a:off x="12700" y="12700"/>
            <a:ext cx="12700" cy="12700"/>
          </a:xfrm>
          <a:prstGeom prst="rect">
            <a:avLst/>
          </a:prstGeom>
          <a:noFill/>
          <a:ln w="19050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eyebrow">
            <a:extLst>
              <a:ext uri="{FF2B5EF4-FFF2-40B4-BE49-F238E27FC236}">
                <a16:creationId xmlns:a16="http://schemas.microsoft.com/office/drawing/2014/main" id="{11B06B44-C204-45A0-93C6-463C4C893003}"/>
              </a:ext>
            </a:extLst>
          </p:cNvPr>
          <p:cNvSpPr>
            <a:spLocks noGrp="1"/>
          </p:cNvSpPr>
          <p:nvPr/>
        </p:nvSpPr>
        <p:spPr>
          <a:xfrm>
            <a:off x="514350" y="2095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056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C602C13E-4CA9-4309-86C0-EE2F8C1E13E9}"/>
              </a:ext>
            </a:extLst>
          </p:cNvPr>
          <p:cNvSpPr>
            <a:spLocks noGrp="1"/>
          </p:cNvSpPr>
          <p:nvPr/>
        </p:nvSpPr>
        <p:spPr>
          <a:xfrm>
            <a:off x="495300" y="428625"/>
            <a:ext cx="11191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Entrada, respuesta y salida forman una cadena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B5488660-D6D6-4BCB-A3D8-961873CB8DE4}"/>
              </a:ext>
            </a:extLst>
          </p:cNvPr>
          <p:cNvSpPr>
            <a:spLocks noGrp="1"/>
          </p:cNvSpPr>
          <p:nvPr/>
        </p:nvSpPr>
        <p:spPr>
          <a:xfrm>
            <a:off x="523875" y="971550"/>
            <a:ext cx="11001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La salida combina contenido de entrada y transformación del sistema.</a:t>
            </a:r>
          </a:p>
        </p:txBody>
      </p:sp>
      <p:sp>
        <p:nvSpPr>
          <p:cNvPr id="4" name="U05-DG-006-input_x">
            <a:extLst>
              <a:ext uri="{FF2B5EF4-FFF2-40B4-BE49-F238E27FC236}">
                <a16:creationId xmlns:a16="http://schemas.microsoft.com/office/drawing/2014/main" id="{7DA475F5-30D4-41D9-862D-ECC36604292E}"/>
              </a:ext>
            </a:extLst>
          </p:cNvPr>
          <p:cNvSpPr>
            <a:spLocks noGrp="1"/>
          </p:cNvSpPr>
          <p:nvPr/>
        </p:nvSpPr>
        <p:spPr>
          <a:xfrm>
            <a:off x="1143000" y="2095500"/>
            <a:ext cx="2476500" cy="1571625"/>
          </a:xfrm>
          <a:prstGeom prst="roundRect">
            <a:avLst>
              <a:gd name="adj" fmla="val 8485"/>
            </a:avLst>
          </a:prstGeom>
          <a:solidFill>
            <a:srgbClr val="EFF8FA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5" name="U05-DG-006-input_x-title">
            <a:extLst>
              <a:ext uri="{FF2B5EF4-FFF2-40B4-BE49-F238E27FC236}">
                <a16:creationId xmlns:a16="http://schemas.microsoft.com/office/drawing/2014/main" id="{BEF8F8E7-72A8-4488-846B-05E1E5C6D561}"/>
              </a:ext>
            </a:extLst>
          </p:cNvPr>
          <p:cNvSpPr>
            <a:spLocks noGrp="1"/>
          </p:cNvSpPr>
          <p:nvPr/>
        </p:nvSpPr>
        <p:spPr>
          <a:xfrm>
            <a:off x="1314450" y="2219325"/>
            <a:ext cx="21336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Entrada X(f)</a:t>
            </a:r>
          </a:p>
        </p:txBody>
      </p:sp>
      <p:sp>
        <p:nvSpPr>
          <p:cNvPr id="6" name="U05-DG-006-input_x-body">
            <a:extLst>
              <a:ext uri="{FF2B5EF4-FFF2-40B4-BE49-F238E27FC236}">
                <a16:creationId xmlns:a16="http://schemas.microsoft.com/office/drawing/2014/main" id="{751AD22D-EDE9-430E-87C9-DF14A9993DE6}"/>
              </a:ext>
            </a:extLst>
          </p:cNvPr>
          <p:cNvSpPr>
            <a:spLocks noGrp="1"/>
          </p:cNvSpPr>
          <p:nvPr/>
        </p:nvSpPr>
        <p:spPr>
          <a:xfrm>
            <a:off x="1314450" y="2647950"/>
            <a:ext cx="213360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espectro de una señal</a:t>
            </a:r>
          </a:p>
        </p:txBody>
      </p:sp>
      <p:sp>
        <p:nvSpPr>
          <p:cNvPr id="7" name="U05-DG-006-system_h">
            <a:extLst>
              <a:ext uri="{FF2B5EF4-FFF2-40B4-BE49-F238E27FC236}">
                <a16:creationId xmlns:a16="http://schemas.microsoft.com/office/drawing/2014/main" id="{309C11A7-ACEE-471F-8D29-F739208093CD}"/>
              </a:ext>
            </a:extLst>
          </p:cNvPr>
          <p:cNvSpPr>
            <a:spLocks noGrp="1"/>
          </p:cNvSpPr>
          <p:nvPr/>
        </p:nvSpPr>
        <p:spPr>
          <a:xfrm>
            <a:off x="4857750" y="2095500"/>
            <a:ext cx="2476500" cy="1571625"/>
          </a:xfrm>
          <a:prstGeom prst="roundRect">
            <a:avLst>
              <a:gd name="adj" fmla="val 8485"/>
            </a:avLst>
          </a:prstGeom>
          <a:solidFill>
            <a:srgbClr val="DDEFF5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8" name="U05-DG-006-system_h-title">
            <a:extLst>
              <a:ext uri="{FF2B5EF4-FFF2-40B4-BE49-F238E27FC236}">
                <a16:creationId xmlns:a16="http://schemas.microsoft.com/office/drawing/2014/main" id="{BC5FEAD2-B01A-452E-AFD3-4DB3F597058B}"/>
              </a:ext>
            </a:extLst>
          </p:cNvPr>
          <p:cNvSpPr>
            <a:spLocks noGrp="1"/>
          </p:cNvSpPr>
          <p:nvPr/>
        </p:nvSpPr>
        <p:spPr>
          <a:xfrm>
            <a:off x="5029200" y="2219325"/>
            <a:ext cx="21336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Sistema H(f)</a:t>
            </a:r>
          </a:p>
        </p:txBody>
      </p:sp>
      <p:sp>
        <p:nvSpPr>
          <p:cNvPr id="9" name="U05-DG-006-system_h-body">
            <a:extLst>
              <a:ext uri="{FF2B5EF4-FFF2-40B4-BE49-F238E27FC236}">
                <a16:creationId xmlns:a16="http://schemas.microsoft.com/office/drawing/2014/main" id="{B97EF461-8749-455E-A6BD-3F5D2F7F3BDE}"/>
              </a:ext>
            </a:extLst>
          </p:cNvPr>
          <p:cNvSpPr>
            <a:spLocks noGrp="1"/>
          </p:cNvSpPr>
          <p:nvPr/>
        </p:nvSpPr>
        <p:spPr>
          <a:xfrm>
            <a:off x="5029200" y="2647950"/>
            <a:ext cx="213360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respuesta frecuencial</a:t>
            </a:r>
          </a:p>
        </p:txBody>
      </p:sp>
      <p:sp>
        <p:nvSpPr>
          <p:cNvPr id="10" name="U05-DG-006-output_y">
            <a:extLst>
              <a:ext uri="{FF2B5EF4-FFF2-40B4-BE49-F238E27FC236}">
                <a16:creationId xmlns:a16="http://schemas.microsoft.com/office/drawing/2014/main" id="{91924D70-44F7-4129-9D91-F699ACB279FD}"/>
              </a:ext>
            </a:extLst>
          </p:cNvPr>
          <p:cNvSpPr>
            <a:spLocks noGrp="1"/>
          </p:cNvSpPr>
          <p:nvPr/>
        </p:nvSpPr>
        <p:spPr>
          <a:xfrm>
            <a:off x="8572500" y="2095500"/>
            <a:ext cx="2476500" cy="1571625"/>
          </a:xfrm>
          <a:prstGeom prst="roundRect">
            <a:avLst>
              <a:gd name="adj" fmla="val 8485"/>
            </a:avLst>
          </a:prstGeom>
          <a:solidFill>
            <a:srgbClr val="EFF8FA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11" name="U05-DG-006-output_y-title">
            <a:extLst>
              <a:ext uri="{FF2B5EF4-FFF2-40B4-BE49-F238E27FC236}">
                <a16:creationId xmlns:a16="http://schemas.microsoft.com/office/drawing/2014/main" id="{59277D81-3A24-404E-9401-F4932E8F4C5C}"/>
              </a:ext>
            </a:extLst>
          </p:cNvPr>
          <p:cNvSpPr>
            <a:spLocks noGrp="1"/>
          </p:cNvSpPr>
          <p:nvPr/>
        </p:nvSpPr>
        <p:spPr>
          <a:xfrm>
            <a:off x="8743950" y="2219325"/>
            <a:ext cx="21336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Salida Y(f)</a:t>
            </a:r>
          </a:p>
        </p:txBody>
      </p:sp>
      <p:sp>
        <p:nvSpPr>
          <p:cNvPr id="12" name="U05-DG-006-output_y-body">
            <a:extLst>
              <a:ext uri="{FF2B5EF4-FFF2-40B4-BE49-F238E27FC236}">
                <a16:creationId xmlns:a16="http://schemas.microsoft.com/office/drawing/2014/main" id="{962416BF-3AB7-4EA6-85FB-B27A50230131}"/>
              </a:ext>
            </a:extLst>
          </p:cNvPr>
          <p:cNvSpPr>
            <a:spLocks noGrp="1"/>
          </p:cNvSpPr>
          <p:nvPr/>
        </p:nvSpPr>
        <p:spPr>
          <a:xfrm>
            <a:off x="8743950" y="2647950"/>
            <a:ext cx="213360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espectro de otra señal</a:t>
            </a:r>
          </a:p>
        </p:txBody>
      </p:sp>
      <p:cxnSp>
        <p:nvCxnSpPr>
          <p:cNvPr id="30" name="U05-DG-006-sys_1"/>
          <p:cNvCxnSpPr>
            <a:stCxn id="4" idx="3"/>
            <a:endCxn id="7" idx="1"/>
          </p:cNvCxnSpPr>
          <p:nvPr/>
        </p:nvCxnSpPr>
        <p:spPr>
          <a:xfrm>
            <a:off x="3619500" y="2881313"/>
            <a:ext cx="1238250" cy="0"/>
          </a:xfrm>
          <a:prstGeom prst="straightConnector1">
            <a:avLst/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cxnSp>
        <p:nvCxnSpPr>
          <p:cNvPr id="31" name="U05-DG-006-sys_2"/>
          <p:cNvCxnSpPr>
            <a:stCxn id="7" idx="3"/>
            <a:endCxn id="10" idx="1"/>
          </p:cNvCxnSpPr>
          <p:nvPr/>
        </p:nvCxnSpPr>
        <p:spPr>
          <a:xfrm>
            <a:off x="7334250" y="2881313"/>
            <a:ext cx="1238250" cy="0"/>
          </a:xfrm>
          <a:prstGeom prst="straightConnector1">
            <a:avLst/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sp>
        <p:nvSpPr>
          <p:cNvPr id="15" name="diagram-scale-note">
            <a:extLst>
              <a:ext uri="{FF2B5EF4-FFF2-40B4-BE49-F238E27FC236}">
                <a16:creationId xmlns:a16="http://schemas.microsoft.com/office/drawing/2014/main" id="{9A1F14EF-3D32-4C4B-A43C-B00E3252F1FE}"/>
              </a:ext>
            </a:extLst>
          </p:cNvPr>
          <p:cNvSpPr>
            <a:spLocks noGrp="1"/>
          </p:cNvSpPr>
          <p:nvPr/>
        </p:nvSpPr>
        <p:spPr>
          <a:xfrm>
            <a:off x="552450" y="5829300"/>
            <a:ext cx="3905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05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Esquema conceptual · no está a escala</a:t>
            </a:r>
          </a:p>
        </p:txBody>
      </p:sp>
      <p:sp>
        <p:nvSpPr>
          <p:cNvPr id="16" name="caption">
            <a:extLst>
              <a:ext uri="{FF2B5EF4-FFF2-40B4-BE49-F238E27FC236}">
                <a16:creationId xmlns:a16="http://schemas.microsoft.com/office/drawing/2014/main" id="{E93A9F5D-F391-44F5-BEF1-76A8B88D39EC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876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Conocer la salida no determina por separado entrada y sistema.</a:t>
            </a:r>
          </a:p>
        </p:txBody>
      </p:sp>
      <p:sp>
        <p:nvSpPr>
          <p:cNvPr id="17" name="credit">
            <a:extLst>
              <a:ext uri="{FF2B5EF4-FFF2-40B4-BE49-F238E27FC236}">
                <a16:creationId xmlns:a16="http://schemas.microsoft.com/office/drawing/2014/main" id="{F39E825E-073E-451D-A849-C6D49899A1E9}"/>
              </a:ext>
            </a:extLst>
          </p:cNvPr>
          <p:cNvSpPr>
            <a:spLocks noGrp="1"/>
          </p:cNvSpPr>
          <p:nvPr/>
        </p:nvSpPr>
        <p:spPr>
          <a:xfrm>
            <a:off x="9382125" y="60769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fig. 5.4.</a:t>
            </a:r>
          </a:p>
        </p:txBody>
      </p:sp>
      <p:sp>
        <p:nvSpPr>
          <p:cNvPr id="13" name="slide-alt-summary" descr="Cadena X–H–Y con tres frecuencias que cambian de manera diferente.">
            <a:extLst>
              <a:ext uri="{FF2B5EF4-FFF2-40B4-BE49-F238E27FC236}">
                <a16:creationId xmlns:a16="http://schemas.microsoft.com/office/drawing/2014/main" id="{0681B8C7-A7D7-BC9A-6DE0-69561D41F4CA}"/>
              </a:ext>
            </a:extLst>
          </p:cNvPr>
          <p:cNvSpPr/>
          <p:nvPr/>
        </p:nvSpPr>
        <p:spPr>
          <a:xfrm>
            <a:off x="12700" y="12700"/>
            <a:ext cx="12700" cy="12700"/>
          </a:xfrm>
          <a:prstGeom prst="rect">
            <a:avLst/>
          </a:prstGeom>
          <a:noFill/>
          <a:ln w="19050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9544924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eyebrow">
            <a:extLst>
              <a:ext uri="{FF2B5EF4-FFF2-40B4-BE49-F238E27FC236}">
                <a16:creationId xmlns:a16="http://schemas.microsoft.com/office/drawing/2014/main" id="{947842F7-414A-4720-AAAA-48A1285C9DB4}"/>
              </a:ext>
            </a:extLst>
          </p:cNvPr>
          <p:cNvSpPr>
            <a:spLocks noGrp="1"/>
          </p:cNvSpPr>
          <p:nvPr/>
        </p:nvSpPr>
        <p:spPr>
          <a:xfrm>
            <a:off x="514350" y="2095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057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9F69EB8F-AD81-40BE-9079-430C4CEF3838}"/>
              </a:ext>
            </a:extLst>
          </p:cNvPr>
          <p:cNvSpPr>
            <a:spLocks noGrp="1"/>
          </p:cNvSpPr>
          <p:nvPr/>
        </p:nvSpPr>
        <p:spPr>
          <a:xfrm>
            <a:off x="495300" y="428625"/>
            <a:ext cx="11191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H(f) compara salida y entrada cuando hay señal de prueba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FAF36DAA-922D-4498-AA09-3AD3DA3FEC80}"/>
              </a:ext>
            </a:extLst>
          </p:cNvPr>
          <p:cNvSpPr>
            <a:spLocks noGrp="1"/>
          </p:cNvSpPr>
          <p:nvPr/>
        </p:nvSpPr>
        <p:spPr>
          <a:xfrm>
            <a:off x="523875" y="971550"/>
            <a:ext cx="11001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La división requiere entrada no nula y condiciones compatibles.</a:t>
            </a:r>
          </a:p>
        </p:txBody>
      </p:sp>
      <p:sp>
        <p:nvSpPr>
          <p:cNvPr id="4" name="U05-DG-006-input_x">
            <a:extLst>
              <a:ext uri="{FF2B5EF4-FFF2-40B4-BE49-F238E27FC236}">
                <a16:creationId xmlns:a16="http://schemas.microsoft.com/office/drawing/2014/main" id="{F5F422C5-9039-4671-BB9F-B803040E69B2}"/>
              </a:ext>
            </a:extLst>
          </p:cNvPr>
          <p:cNvSpPr>
            <a:spLocks noGrp="1"/>
          </p:cNvSpPr>
          <p:nvPr/>
        </p:nvSpPr>
        <p:spPr>
          <a:xfrm>
            <a:off x="1143000" y="2095500"/>
            <a:ext cx="2476500" cy="1571625"/>
          </a:xfrm>
          <a:prstGeom prst="roundRect">
            <a:avLst>
              <a:gd name="adj" fmla="val 8485"/>
            </a:avLst>
          </a:prstGeom>
          <a:solidFill>
            <a:srgbClr val="EFF8FA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5" name="U05-DG-006-input_x-title">
            <a:extLst>
              <a:ext uri="{FF2B5EF4-FFF2-40B4-BE49-F238E27FC236}">
                <a16:creationId xmlns:a16="http://schemas.microsoft.com/office/drawing/2014/main" id="{64BE097E-AFF3-4BA0-9522-4321942EDE7B}"/>
              </a:ext>
            </a:extLst>
          </p:cNvPr>
          <p:cNvSpPr>
            <a:spLocks noGrp="1"/>
          </p:cNvSpPr>
          <p:nvPr/>
        </p:nvSpPr>
        <p:spPr>
          <a:xfrm>
            <a:off x="1314450" y="2219325"/>
            <a:ext cx="21336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Entrada X(f)</a:t>
            </a:r>
          </a:p>
        </p:txBody>
      </p:sp>
      <p:sp>
        <p:nvSpPr>
          <p:cNvPr id="6" name="U05-DG-006-input_x-body">
            <a:extLst>
              <a:ext uri="{FF2B5EF4-FFF2-40B4-BE49-F238E27FC236}">
                <a16:creationId xmlns:a16="http://schemas.microsoft.com/office/drawing/2014/main" id="{7A5D7980-F7E4-4739-9675-3C01991D28C8}"/>
              </a:ext>
            </a:extLst>
          </p:cNvPr>
          <p:cNvSpPr>
            <a:spLocks noGrp="1"/>
          </p:cNvSpPr>
          <p:nvPr/>
        </p:nvSpPr>
        <p:spPr>
          <a:xfrm>
            <a:off x="1314450" y="2647950"/>
            <a:ext cx="213360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espectro de una señal</a:t>
            </a:r>
          </a:p>
        </p:txBody>
      </p:sp>
      <p:sp>
        <p:nvSpPr>
          <p:cNvPr id="7" name="U05-DG-006-system_h">
            <a:extLst>
              <a:ext uri="{FF2B5EF4-FFF2-40B4-BE49-F238E27FC236}">
                <a16:creationId xmlns:a16="http://schemas.microsoft.com/office/drawing/2014/main" id="{F451EDCA-0897-4944-8E10-A6CE5167E136}"/>
              </a:ext>
            </a:extLst>
          </p:cNvPr>
          <p:cNvSpPr>
            <a:spLocks noGrp="1"/>
          </p:cNvSpPr>
          <p:nvPr/>
        </p:nvSpPr>
        <p:spPr>
          <a:xfrm>
            <a:off x="4857750" y="2095500"/>
            <a:ext cx="2476500" cy="1571625"/>
          </a:xfrm>
          <a:prstGeom prst="roundRect">
            <a:avLst>
              <a:gd name="adj" fmla="val 8485"/>
            </a:avLst>
          </a:prstGeom>
          <a:solidFill>
            <a:srgbClr val="DDEFF5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8" name="U05-DG-006-system_h-title">
            <a:extLst>
              <a:ext uri="{FF2B5EF4-FFF2-40B4-BE49-F238E27FC236}">
                <a16:creationId xmlns:a16="http://schemas.microsoft.com/office/drawing/2014/main" id="{D4CA105D-D404-4F57-9AD0-59E5A9E583BB}"/>
              </a:ext>
            </a:extLst>
          </p:cNvPr>
          <p:cNvSpPr>
            <a:spLocks noGrp="1"/>
          </p:cNvSpPr>
          <p:nvPr/>
        </p:nvSpPr>
        <p:spPr>
          <a:xfrm>
            <a:off x="5029200" y="2219325"/>
            <a:ext cx="21336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Sistema H(f)</a:t>
            </a:r>
          </a:p>
        </p:txBody>
      </p:sp>
      <p:sp>
        <p:nvSpPr>
          <p:cNvPr id="9" name="U05-DG-006-system_h-body">
            <a:extLst>
              <a:ext uri="{FF2B5EF4-FFF2-40B4-BE49-F238E27FC236}">
                <a16:creationId xmlns:a16="http://schemas.microsoft.com/office/drawing/2014/main" id="{B610D01E-87F6-46C4-8DAD-4E2D20A06597}"/>
              </a:ext>
            </a:extLst>
          </p:cNvPr>
          <p:cNvSpPr>
            <a:spLocks noGrp="1"/>
          </p:cNvSpPr>
          <p:nvPr/>
        </p:nvSpPr>
        <p:spPr>
          <a:xfrm>
            <a:off x="5029200" y="2647950"/>
            <a:ext cx="213360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respuesta frecuencial</a:t>
            </a:r>
          </a:p>
        </p:txBody>
      </p:sp>
      <p:sp>
        <p:nvSpPr>
          <p:cNvPr id="10" name="U05-DG-006-output_y">
            <a:extLst>
              <a:ext uri="{FF2B5EF4-FFF2-40B4-BE49-F238E27FC236}">
                <a16:creationId xmlns:a16="http://schemas.microsoft.com/office/drawing/2014/main" id="{01C6A28F-7888-4B17-AD51-AC3B9AF94C7A}"/>
              </a:ext>
            </a:extLst>
          </p:cNvPr>
          <p:cNvSpPr>
            <a:spLocks noGrp="1"/>
          </p:cNvSpPr>
          <p:nvPr/>
        </p:nvSpPr>
        <p:spPr>
          <a:xfrm>
            <a:off x="8572500" y="2095500"/>
            <a:ext cx="2476500" cy="1571625"/>
          </a:xfrm>
          <a:prstGeom prst="roundRect">
            <a:avLst>
              <a:gd name="adj" fmla="val 8485"/>
            </a:avLst>
          </a:prstGeom>
          <a:solidFill>
            <a:srgbClr val="EFF8FA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11" name="U05-DG-006-output_y-title">
            <a:extLst>
              <a:ext uri="{FF2B5EF4-FFF2-40B4-BE49-F238E27FC236}">
                <a16:creationId xmlns:a16="http://schemas.microsoft.com/office/drawing/2014/main" id="{710FE2A9-9BA6-4A8A-8D98-758D756A238F}"/>
              </a:ext>
            </a:extLst>
          </p:cNvPr>
          <p:cNvSpPr>
            <a:spLocks noGrp="1"/>
          </p:cNvSpPr>
          <p:nvPr/>
        </p:nvSpPr>
        <p:spPr>
          <a:xfrm>
            <a:off x="8743950" y="2219325"/>
            <a:ext cx="21336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Salida Y(f)</a:t>
            </a:r>
          </a:p>
        </p:txBody>
      </p:sp>
      <p:sp>
        <p:nvSpPr>
          <p:cNvPr id="12" name="U05-DG-006-output_y-body">
            <a:extLst>
              <a:ext uri="{FF2B5EF4-FFF2-40B4-BE49-F238E27FC236}">
                <a16:creationId xmlns:a16="http://schemas.microsoft.com/office/drawing/2014/main" id="{5BABD863-AC2C-4FCE-9CAA-3C821A70D0DC}"/>
              </a:ext>
            </a:extLst>
          </p:cNvPr>
          <p:cNvSpPr>
            <a:spLocks noGrp="1"/>
          </p:cNvSpPr>
          <p:nvPr/>
        </p:nvSpPr>
        <p:spPr>
          <a:xfrm>
            <a:off x="8743950" y="2647950"/>
            <a:ext cx="213360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espectro de otra señal</a:t>
            </a:r>
          </a:p>
        </p:txBody>
      </p:sp>
      <p:cxnSp>
        <p:nvCxnSpPr>
          <p:cNvPr id="30" name="U05-DG-006-sys_1"/>
          <p:cNvCxnSpPr>
            <a:stCxn id="4" idx="3"/>
            <a:endCxn id="7" idx="1"/>
          </p:cNvCxnSpPr>
          <p:nvPr/>
        </p:nvCxnSpPr>
        <p:spPr>
          <a:xfrm>
            <a:off x="3619500" y="2881313"/>
            <a:ext cx="1238250" cy="0"/>
          </a:xfrm>
          <a:prstGeom prst="straightConnector1">
            <a:avLst/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cxnSp>
        <p:nvCxnSpPr>
          <p:cNvPr id="31" name="U05-DG-006-sys_2"/>
          <p:cNvCxnSpPr>
            <a:stCxn id="7" idx="3"/>
            <a:endCxn id="10" idx="1"/>
          </p:cNvCxnSpPr>
          <p:nvPr/>
        </p:nvCxnSpPr>
        <p:spPr>
          <a:xfrm>
            <a:off x="7334250" y="2881313"/>
            <a:ext cx="1238250" cy="0"/>
          </a:xfrm>
          <a:prstGeom prst="straightConnector1">
            <a:avLst/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sp>
        <p:nvSpPr>
          <p:cNvPr id="15" name="diagram-scale-note">
            <a:extLst>
              <a:ext uri="{FF2B5EF4-FFF2-40B4-BE49-F238E27FC236}">
                <a16:creationId xmlns:a16="http://schemas.microsoft.com/office/drawing/2014/main" id="{8DC0C63E-BE5E-4752-8076-9AE54FB77749}"/>
              </a:ext>
            </a:extLst>
          </p:cNvPr>
          <p:cNvSpPr>
            <a:spLocks noGrp="1"/>
          </p:cNvSpPr>
          <p:nvPr/>
        </p:nvSpPr>
        <p:spPr>
          <a:xfrm>
            <a:off x="552450" y="5829300"/>
            <a:ext cx="3905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05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Esquema conceptual · no está a escala</a:t>
            </a:r>
          </a:p>
        </p:txBody>
      </p:sp>
      <p:sp>
        <p:nvSpPr>
          <p:cNvPr id="16" name="caption">
            <a:extLst>
              <a:ext uri="{FF2B5EF4-FFF2-40B4-BE49-F238E27FC236}">
                <a16:creationId xmlns:a16="http://schemas.microsoft.com/office/drawing/2014/main" id="{49B0D876-B236-4EAC-83FE-C8035BC232A4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876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No se divide cualquier salida por cualquier entrada.</a:t>
            </a:r>
          </a:p>
        </p:txBody>
      </p:sp>
      <p:sp>
        <p:nvSpPr>
          <p:cNvPr id="17" name="credit">
            <a:extLst>
              <a:ext uri="{FF2B5EF4-FFF2-40B4-BE49-F238E27FC236}">
                <a16:creationId xmlns:a16="http://schemas.microsoft.com/office/drawing/2014/main" id="{E138B768-D6D9-4F54-886D-670F2234EDFD}"/>
              </a:ext>
            </a:extLst>
          </p:cNvPr>
          <p:cNvSpPr>
            <a:spLocks noGrp="1"/>
          </p:cNvSpPr>
          <p:nvPr/>
        </p:nvSpPr>
        <p:spPr>
          <a:xfrm>
            <a:off x="9382125" y="60769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5.5, ec. 5.12; NOT.</a:t>
            </a:r>
          </a:p>
        </p:txBody>
      </p:sp>
      <p:sp>
        <p:nvSpPr>
          <p:cNvPr id="13" name="slide-alt-summary" descr="Ecuación de respuesta conectada a entrada, sistema y salida, con condición X distinta de cero.">
            <a:extLst>
              <a:ext uri="{FF2B5EF4-FFF2-40B4-BE49-F238E27FC236}">
                <a16:creationId xmlns:a16="http://schemas.microsoft.com/office/drawing/2014/main" id="{71BBADBA-FC68-FFA5-096B-2E6A4AFED69A}"/>
              </a:ext>
            </a:extLst>
          </p:cNvPr>
          <p:cNvSpPr/>
          <p:nvPr/>
        </p:nvSpPr>
        <p:spPr>
          <a:xfrm>
            <a:off x="12700" y="12700"/>
            <a:ext cx="12700" cy="12700"/>
          </a:xfrm>
          <a:prstGeom prst="rect">
            <a:avLst/>
          </a:prstGeom>
          <a:noFill/>
          <a:ln w="19050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eyebrow">
            <a:extLst>
              <a:ext uri="{FF2B5EF4-FFF2-40B4-BE49-F238E27FC236}">
                <a16:creationId xmlns:a16="http://schemas.microsoft.com/office/drawing/2014/main" id="{E62A8721-97CC-473C-A7C7-AB33DD6053E5}"/>
              </a:ext>
            </a:extLst>
          </p:cNvPr>
          <p:cNvSpPr>
            <a:spLocks noGrp="1"/>
          </p:cNvSpPr>
          <p:nvPr/>
        </p:nvSpPr>
        <p:spPr>
          <a:xfrm>
            <a:off x="514350" y="2095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058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703CB4CE-9CE4-44F9-95B0-B71E1E2BF8D1}"/>
              </a:ext>
            </a:extLst>
          </p:cNvPr>
          <p:cNvSpPr>
            <a:spLocks noGrp="1"/>
          </p:cNvSpPr>
          <p:nvPr/>
        </p:nvSpPr>
        <p:spPr>
          <a:xfrm>
            <a:off x="495300" y="428625"/>
            <a:ext cx="11191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Una reducción de amplitud se expresa como ganancia negativa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6FF54FA5-F2A7-49BA-A431-CE47C2F4F6FC}"/>
              </a:ext>
            </a:extLst>
          </p:cNvPr>
          <p:cNvSpPr>
            <a:spLocks noGrp="1"/>
          </p:cNvSpPr>
          <p:nvPr/>
        </p:nvSpPr>
        <p:spPr>
          <a:xfrm>
            <a:off x="523875" y="971550"/>
            <a:ext cx="11001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Ejemplo en 1000 Hz.</a:t>
            </a:r>
          </a:p>
        </p:txBody>
      </p:sp>
      <p:sp>
        <p:nvSpPr>
          <p:cNvPr id="4" name="U05-DG-006-input_x">
            <a:extLst>
              <a:ext uri="{FF2B5EF4-FFF2-40B4-BE49-F238E27FC236}">
                <a16:creationId xmlns:a16="http://schemas.microsoft.com/office/drawing/2014/main" id="{F66334F1-2A6A-4A31-96D2-811A3E19B55A}"/>
              </a:ext>
            </a:extLst>
          </p:cNvPr>
          <p:cNvSpPr>
            <a:spLocks noGrp="1"/>
          </p:cNvSpPr>
          <p:nvPr/>
        </p:nvSpPr>
        <p:spPr>
          <a:xfrm>
            <a:off x="1143000" y="2095500"/>
            <a:ext cx="2476500" cy="1571625"/>
          </a:xfrm>
          <a:prstGeom prst="roundRect">
            <a:avLst>
              <a:gd name="adj" fmla="val 8485"/>
            </a:avLst>
          </a:prstGeom>
          <a:solidFill>
            <a:srgbClr val="EFF8FA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5" name="U05-DG-006-input_x-title">
            <a:extLst>
              <a:ext uri="{FF2B5EF4-FFF2-40B4-BE49-F238E27FC236}">
                <a16:creationId xmlns:a16="http://schemas.microsoft.com/office/drawing/2014/main" id="{A1ECB5CF-B654-4FDC-9D8B-EEAB205DDEB5}"/>
              </a:ext>
            </a:extLst>
          </p:cNvPr>
          <p:cNvSpPr>
            <a:spLocks noGrp="1"/>
          </p:cNvSpPr>
          <p:nvPr/>
        </p:nvSpPr>
        <p:spPr>
          <a:xfrm>
            <a:off x="1314450" y="2219325"/>
            <a:ext cx="21336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Entrada X(f)</a:t>
            </a:r>
          </a:p>
        </p:txBody>
      </p:sp>
      <p:sp>
        <p:nvSpPr>
          <p:cNvPr id="6" name="U05-DG-006-input_x-body">
            <a:extLst>
              <a:ext uri="{FF2B5EF4-FFF2-40B4-BE49-F238E27FC236}">
                <a16:creationId xmlns:a16="http://schemas.microsoft.com/office/drawing/2014/main" id="{48694CA6-BBFA-42D4-B296-C67045ED6261}"/>
              </a:ext>
            </a:extLst>
          </p:cNvPr>
          <p:cNvSpPr>
            <a:spLocks noGrp="1"/>
          </p:cNvSpPr>
          <p:nvPr/>
        </p:nvSpPr>
        <p:spPr>
          <a:xfrm>
            <a:off x="1314450" y="2647950"/>
            <a:ext cx="213360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espectro de una señal</a:t>
            </a:r>
          </a:p>
        </p:txBody>
      </p:sp>
      <p:sp>
        <p:nvSpPr>
          <p:cNvPr id="7" name="U05-DG-006-system_h">
            <a:extLst>
              <a:ext uri="{FF2B5EF4-FFF2-40B4-BE49-F238E27FC236}">
                <a16:creationId xmlns:a16="http://schemas.microsoft.com/office/drawing/2014/main" id="{8D51A8BB-7766-4AD8-ADAC-7834057ABA99}"/>
              </a:ext>
            </a:extLst>
          </p:cNvPr>
          <p:cNvSpPr>
            <a:spLocks noGrp="1"/>
          </p:cNvSpPr>
          <p:nvPr/>
        </p:nvSpPr>
        <p:spPr>
          <a:xfrm>
            <a:off x="4857750" y="2095500"/>
            <a:ext cx="2476500" cy="1571625"/>
          </a:xfrm>
          <a:prstGeom prst="roundRect">
            <a:avLst>
              <a:gd name="adj" fmla="val 8485"/>
            </a:avLst>
          </a:prstGeom>
          <a:solidFill>
            <a:srgbClr val="DDEFF5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8" name="U05-DG-006-system_h-title">
            <a:extLst>
              <a:ext uri="{FF2B5EF4-FFF2-40B4-BE49-F238E27FC236}">
                <a16:creationId xmlns:a16="http://schemas.microsoft.com/office/drawing/2014/main" id="{F5873FBF-46B8-41FA-BA08-6596E190F616}"/>
              </a:ext>
            </a:extLst>
          </p:cNvPr>
          <p:cNvSpPr>
            <a:spLocks noGrp="1"/>
          </p:cNvSpPr>
          <p:nvPr/>
        </p:nvSpPr>
        <p:spPr>
          <a:xfrm>
            <a:off x="5029200" y="2219325"/>
            <a:ext cx="21336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Sistema H(f)</a:t>
            </a:r>
          </a:p>
        </p:txBody>
      </p:sp>
      <p:sp>
        <p:nvSpPr>
          <p:cNvPr id="9" name="U05-DG-006-system_h-body">
            <a:extLst>
              <a:ext uri="{FF2B5EF4-FFF2-40B4-BE49-F238E27FC236}">
                <a16:creationId xmlns:a16="http://schemas.microsoft.com/office/drawing/2014/main" id="{9912ADC1-7D9F-4F18-BBF0-D4F8CED93746}"/>
              </a:ext>
            </a:extLst>
          </p:cNvPr>
          <p:cNvSpPr>
            <a:spLocks noGrp="1"/>
          </p:cNvSpPr>
          <p:nvPr/>
        </p:nvSpPr>
        <p:spPr>
          <a:xfrm>
            <a:off x="5029200" y="2647950"/>
            <a:ext cx="213360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respuesta frecuencial</a:t>
            </a:r>
          </a:p>
        </p:txBody>
      </p:sp>
      <p:sp>
        <p:nvSpPr>
          <p:cNvPr id="10" name="U05-DG-006-output_y">
            <a:extLst>
              <a:ext uri="{FF2B5EF4-FFF2-40B4-BE49-F238E27FC236}">
                <a16:creationId xmlns:a16="http://schemas.microsoft.com/office/drawing/2014/main" id="{1F5BD2E8-4A21-4684-8212-F04F2853CE57}"/>
              </a:ext>
            </a:extLst>
          </p:cNvPr>
          <p:cNvSpPr>
            <a:spLocks noGrp="1"/>
          </p:cNvSpPr>
          <p:nvPr/>
        </p:nvSpPr>
        <p:spPr>
          <a:xfrm>
            <a:off x="8572500" y="2095500"/>
            <a:ext cx="2476500" cy="1571625"/>
          </a:xfrm>
          <a:prstGeom prst="roundRect">
            <a:avLst>
              <a:gd name="adj" fmla="val 8485"/>
            </a:avLst>
          </a:prstGeom>
          <a:solidFill>
            <a:srgbClr val="EFF8FA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11" name="U05-DG-006-output_y-title">
            <a:extLst>
              <a:ext uri="{FF2B5EF4-FFF2-40B4-BE49-F238E27FC236}">
                <a16:creationId xmlns:a16="http://schemas.microsoft.com/office/drawing/2014/main" id="{CE587CC9-38C7-40C7-9C89-BFB6F15CB945}"/>
              </a:ext>
            </a:extLst>
          </p:cNvPr>
          <p:cNvSpPr>
            <a:spLocks noGrp="1"/>
          </p:cNvSpPr>
          <p:nvPr/>
        </p:nvSpPr>
        <p:spPr>
          <a:xfrm>
            <a:off x="8743950" y="2219325"/>
            <a:ext cx="21336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Salida Y(f)</a:t>
            </a:r>
          </a:p>
        </p:txBody>
      </p:sp>
      <p:sp>
        <p:nvSpPr>
          <p:cNvPr id="12" name="U05-DG-006-output_y-body">
            <a:extLst>
              <a:ext uri="{FF2B5EF4-FFF2-40B4-BE49-F238E27FC236}">
                <a16:creationId xmlns:a16="http://schemas.microsoft.com/office/drawing/2014/main" id="{D2A5C879-DF25-4E9B-A421-4979CBAEB3AE}"/>
              </a:ext>
            </a:extLst>
          </p:cNvPr>
          <p:cNvSpPr>
            <a:spLocks noGrp="1"/>
          </p:cNvSpPr>
          <p:nvPr/>
        </p:nvSpPr>
        <p:spPr>
          <a:xfrm>
            <a:off x="8743950" y="2647950"/>
            <a:ext cx="213360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espectro de otra señal</a:t>
            </a:r>
          </a:p>
        </p:txBody>
      </p:sp>
      <p:cxnSp>
        <p:nvCxnSpPr>
          <p:cNvPr id="30" name="U05-DG-006-sys_1"/>
          <p:cNvCxnSpPr>
            <a:stCxn id="4" idx="3"/>
            <a:endCxn id="7" idx="1"/>
          </p:cNvCxnSpPr>
          <p:nvPr/>
        </p:nvCxnSpPr>
        <p:spPr>
          <a:xfrm>
            <a:off x="3619500" y="2881313"/>
            <a:ext cx="1238250" cy="0"/>
          </a:xfrm>
          <a:prstGeom prst="straightConnector1">
            <a:avLst/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cxnSp>
        <p:nvCxnSpPr>
          <p:cNvPr id="31" name="U05-DG-006-sys_2"/>
          <p:cNvCxnSpPr>
            <a:stCxn id="7" idx="3"/>
            <a:endCxn id="10" idx="1"/>
          </p:cNvCxnSpPr>
          <p:nvPr/>
        </p:nvCxnSpPr>
        <p:spPr>
          <a:xfrm>
            <a:off x="7334250" y="2881313"/>
            <a:ext cx="1238250" cy="0"/>
          </a:xfrm>
          <a:prstGeom prst="straightConnector1">
            <a:avLst/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sp>
        <p:nvSpPr>
          <p:cNvPr id="15" name="diagram-scale-note">
            <a:extLst>
              <a:ext uri="{FF2B5EF4-FFF2-40B4-BE49-F238E27FC236}">
                <a16:creationId xmlns:a16="http://schemas.microsoft.com/office/drawing/2014/main" id="{21D8427F-74B1-4802-B885-BAADCD195D18}"/>
              </a:ext>
            </a:extLst>
          </p:cNvPr>
          <p:cNvSpPr>
            <a:spLocks noGrp="1"/>
          </p:cNvSpPr>
          <p:nvPr/>
        </p:nvSpPr>
        <p:spPr>
          <a:xfrm>
            <a:off x="552450" y="5829300"/>
            <a:ext cx="3905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05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Esquema conceptual · no está a escala</a:t>
            </a:r>
          </a:p>
        </p:txBody>
      </p:sp>
      <p:sp>
        <p:nvSpPr>
          <p:cNvPr id="16" name="caption">
            <a:extLst>
              <a:ext uri="{FF2B5EF4-FFF2-40B4-BE49-F238E27FC236}">
                <a16:creationId xmlns:a16="http://schemas.microsoft.com/office/drawing/2014/main" id="{92819429-BAEF-4A95-802E-C51D750988CC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876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Ganancia negativa indica reducción, no “nivel negativo”.</a:t>
            </a:r>
          </a:p>
        </p:txBody>
      </p:sp>
      <p:sp>
        <p:nvSpPr>
          <p:cNvPr id="17" name="credit">
            <a:extLst>
              <a:ext uri="{FF2B5EF4-FFF2-40B4-BE49-F238E27FC236}">
                <a16:creationId xmlns:a16="http://schemas.microsoft.com/office/drawing/2014/main" id="{D444D734-16BD-499A-BEF1-9E9BE97E0B2D}"/>
              </a:ext>
            </a:extLst>
          </p:cNvPr>
          <p:cNvSpPr>
            <a:spLocks noGrp="1"/>
          </p:cNvSpPr>
          <p:nvPr/>
        </p:nvSpPr>
        <p:spPr>
          <a:xfrm>
            <a:off x="9382125" y="60769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5.5.1; NOT.</a:t>
            </a:r>
          </a:p>
        </p:txBody>
      </p:sp>
      <p:sp>
        <p:nvSpPr>
          <p:cNvPr id="13" name="slide-alt-summary" descr="Dos valores de presión conducen a una razón 0,5 y una ganancia de menos 6,02 dB.">
            <a:extLst>
              <a:ext uri="{FF2B5EF4-FFF2-40B4-BE49-F238E27FC236}">
                <a16:creationId xmlns:a16="http://schemas.microsoft.com/office/drawing/2014/main" id="{E0960314-F37A-6550-A849-7384301DD23C}"/>
              </a:ext>
            </a:extLst>
          </p:cNvPr>
          <p:cNvSpPr/>
          <p:nvPr/>
        </p:nvSpPr>
        <p:spPr>
          <a:xfrm>
            <a:off x="12700" y="12700"/>
            <a:ext cx="12700" cy="12700"/>
          </a:xfrm>
          <a:prstGeom prst="rect">
            <a:avLst/>
          </a:prstGeom>
          <a:noFill/>
          <a:ln w="19050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3363566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eyebrow">
            <a:extLst>
              <a:ext uri="{FF2B5EF4-FFF2-40B4-BE49-F238E27FC236}">
                <a16:creationId xmlns:a16="http://schemas.microsoft.com/office/drawing/2014/main" id="{9F740BD8-57C2-4302-94AF-7C841800C5DE}"/>
              </a:ext>
            </a:extLst>
          </p:cNvPr>
          <p:cNvSpPr>
            <a:spLocks noGrp="1"/>
          </p:cNvSpPr>
          <p:nvPr/>
        </p:nvSpPr>
        <p:spPr>
          <a:xfrm>
            <a:off x="514350" y="2095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059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A814FB3E-4A9C-4DD6-A78C-46F2989E9082}"/>
              </a:ext>
            </a:extLst>
          </p:cNvPr>
          <p:cNvSpPr>
            <a:spLocks noGrp="1"/>
          </p:cNvSpPr>
          <p:nvPr/>
        </p:nvSpPr>
        <p:spPr>
          <a:xfrm>
            <a:off x="495300" y="428625"/>
            <a:ext cx="11191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Un retraso cambia fase sin cambiar magnitud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603863F-4D2C-4DE0-84AD-4FB4CF567690}"/>
              </a:ext>
            </a:extLst>
          </p:cNvPr>
          <p:cNvSpPr>
            <a:spLocks noGrp="1"/>
          </p:cNvSpPr>
          <p:nvPr/>
        </p:nvSpPr>
        <p:spPr>
          <a:xfrm>
            <a:off x="523875" y="971550"/>
            <a:ext cx="11001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Magnitud plana no implica sistema transparente.</a:t>
            </a:r>
          </a:p>
        </p:txBody>
      </p:sp>
      <p:sp>
        <p:nvSpPr>
          <p:cNvPr id="4" name="U05-DG-006-input_x">
            <a:extLst>
              <a:ext uri="{FF2B5EF4-FFF2-40B4-BE49-F238E27FC236}">
                <a16:creationId xmlns:a16="http://schemas.microsoft.com/office/drawing/2014/main" id="{76EE45F6-B1AF-45C8-BEB1-498CEEC91BDC}"/>
              </a:ext>
            </a:extLst>
          </p:cNvPr>
          <p:cNvSpPr>
            <a:spLocks noGrp="1"/>
          </p:cNvSpPr>
          <p:nvPr/>
        </p:nvSpPr>
        <p:spPr>
          <a:xfrm>
            <a:off x="1143000" y="2095500"/>
            <a:ext cx="2476500" cy="1571625"/>
          </a:xfrm>
          <a:prstGeom prst="roundRect">
            <a:avLst>
              <a:gd name="adj" fmla="val 8485"/>
            </a:avLst>
          </a:prstGeom>
          <a:solidFill>
            <a:srgbClr val="EFF8FA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5" name="U05-DG-006-input_x-title">
            <a:extLst>
              <a:ext uri="{FF2B5EF4-FFF2-40B4-BE49-F238E27FC236}">
                <a16:creationId xmlns:a16="http://schemas.microsoft.com/office/drawing/2014/main" id="{E2A4C513-D0FF-4CB2-94B7-CBBE67655C3E}"/>
              </a:ext>
            </a:extLst>
          </p:cNvPr>
          <p:cNvSpPr>
            <a:spLocks noGrp="1"/>
          </p:cNvSpPr>
          <p:nvPr/>
        </p:nvSpPr>
        <p:spPr>
          <a:xfrm>
            <a:off x="1314450" y="2219325"/>
            <a:ext cx="21336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Entrada X(f)</a:t>
            </a:r>
          </a:p>
        </p:txBody>
      </p:sp>
      <p:sp>
        <p:nvSpPr>
          <p:cNvPr id="6" name="U05-DG-006-input_x-body">
            <a:extLst>
              <a:ext uri="{FF2B5EF4-FFF2-40B4-BE49-F238E27FC236}">
                <a16:creationId xmlns:a16="http://schemas.microsoft.com/office/drawing/2014/main" id="{7D19C1BE-EB41-4713-B842-42EF9FE1C94B}"/>
              </a:ext>
            </a:extLst>
          </p:cNvPr>
          <p:cNvSpPr>
            <a:spLocks noGrp="1"/>
          </p:cNvSpPr>
          <p:nvPr/>
        </p:nvSpPr>
        <p:spPr>
          <a:xfrm>
            <a:off x="1314450" y="2647950"/>
            <a:ext cx="213360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espectro de una señal</a:t>
            </a:r>
          </a:p>
        </p:txBody>
      </p:sp>
      <p:sp>
        <p:nvSpPr>
          <p:cNvPr id="7" name="U05-DG-006-system_h">
            <a:extLst>
              <a:ext uri="{FF2B5EF4-FFF2-40B4-BE49-F238E27FC236}">
                <a16:creationId xmlns:a16="http://schemas.microsoft.com/office/drawing/2014/main" id="{1C6EF3A4-C04F-426C-9577-16B20AAEE189}"/>
              </a:ext>
            </a:extLst>
          </p:cNvPr>
          <p:cNvSpPr>
            <a:spLocks noGrp="1"/>
          </p:cNvSpPr>
          <p:nvPr/>
        </p:nvSpPr>
        <p:spPr>
          <a:xfrm>
            <a:off x="4857750" y="2095500"/>
            <a:ext cx="2476500" cy="1571625"/>
          </a:xfrm>
          <a:prstGeom prst="roundRect">
            <a:avLst>
              <a:gd name="adj" fmla="val 8485"/>
            </a:avLst>
          </a:prstGeom>
          <a:solidFill>
            <a:srgbClr val="DDEFF5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8" name="U05-DG-006-system_h-title">
            <a:extLst>
              <a:ext uri="{FF2B5EF4-FFF2-40B4-BE49-F238E27FC236}">
                <a16:creationId xmlns:a16="http://schemas.microsoft.com/office/drawing/2014/main" id="{FC50BA54-289A-4EF1-85A1-916D4F6AA60E}"/>
              </a:ext>
            </a:extLst>
          </p:cNvPr>
          <p:cNvSpPr>
            <a:spLocks noGrp="1"/>
          </p:cNvSpPr>
          <p:nvPr/>
        </p:nvSpPr>
        <p:spPr>
          <a:xfrm>
            <a:off x="5029200" y="2219325"/>
            <a:ext cx="21336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Sistema H(f)</a:t>
            </a:r>
          </a:p>
        </p:txBody>
      </p:sp>
      <p:sp>
        <p:nvSpPr>
          <p:cNvPr id="9" name="U05-DG-006-system_h-body">
            <a:extLst>
              <a:ext uri="{FF2B5EF4-FFF2-40B4-BE49-F238E27FC236}">
                <a16:creationId xmlns:a16="http://schemas.microsoft.com/office/drawing/2014/main" id="{8A2E9A98-52F3-48C2-8D5E-E47FEB4F87CE}"/>
              </a:ext>
            </a:extLst>
          </p:cNvPr>
          <p:cNvSpPr>
            <a:spLocks noGrp="1"/>
          </p:cNvSpPr>
          <p:nvPr/>
        </p:nvSpPr>
        <p:spPr>
          <a:xfrm>
            <a:off x="5029200" y="2647950"/>
            <a:ext cx="213360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respuesta frecuencial</a:t>
            </a:r>
          </a:p>
        </p:txBody>
      </p:sp>
      <p:sp>
        <p:nvSpPr>
          <p:cNvPr id="10" name="U05-DG-006-output_y">
            <a:extLst>
              <a:ext uri="{FF2B5EF4-FFF2-40B4-BE49-F238E27FC236}">
                <a16:creationId xmlns:a16="http://schemas.microsoft.com/office/drawing/2014/main" id="{39A5FF68-1F9D-436B-9580-6E989A98662E}"/>
              </a:ext>
            </a:extLst>
          </p:cNvPr>
          <p:cNvSpPr>
            <a:spLocks noGrp="1"/>
          </p:cNvSpPr>
          <p:nvPr/>
        </p:nvSpPr>
        <p:spPr>
          <a:xfrm>
            <a:off x="8572500" y="2095500"/>
            <a:ext cx="2476500" cy="1571625"/>
          </a:xfrm>
          <a:prstGeom prst="roundRect">
            <a:avLst>
              <a:gd name="adj" fmla="val 8485"/>
            </a:avLst>
          </a:prstGeom>
          <a:solidFill>
            <a:srgbClr val="EFF8FA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11" name="U05-DG-006-output_y-title">
            <a:extLst>
              <a:ext uri="{FF2B5EF4-FFF2-40B4-BE49-F238E27FC236}">
                <a16:creationId xmlns:a16="http://schemas.microsoft.com/office/drawing/2014/main" id="{00F7F733-C10D-4160-ADB0-6906B2AED812}"/>
              </a:ext>
            </a:extLst>
          </p:cNvPr>
          <p:cNvSpPr>
            <a:spLocks noGrp="1"/>
          </p:cNvSpPr>
          <p:nvPr/>
        </p:nvSpPr>
        <p:spPr>
          <a:xfrm>
            <a:off x="8743950" y="2219325"/>
            <a:ext cx="21336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Salida Y(f)</a:t>
            </a:r>
          </a:p>
        </p:txBody>
      </p:sp>
      <p:sp>
        <p:nvSpPr>
          <p:cNvPr id="12" name="U05-DG-006-output_y-body">
            <a:extLst>
              <a:ext uri="{FF2B5EF4-FFF2-40B4-BE49-F238E27FC236}">
                <a16:creationId xmlns:a16="http://schemas.microsoft.com/office/drawing/2014/main" id="{3AC83B21-D2B8-4B04-A5EB-BEB72BC49EB6}"/>
              </a:ext>
            </a:extLst>
          </p:cNvPr>
          <p:cNvSpPr>
            <a:spLocks noGrp="1"/>
          </p:cNvSpPr>
          <p:nvPr/>
        </p:nvSpPr>
        <p:spPr>
          <a:xfrm>
            <a:off x="8743950" y="2647950"/>
            <a:ext cx="213360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espectro de otra señal</a:t>
            </a:r>
          </a:p>
        </p:txBody>
      </p:sp>
      <p:cxnSp>
        <p:nvCxnSpPr>
          <p:cNvPr id="30" name="U05-DG-006-sys_1"/>
          <p:cNvCxnSpPr>
            <a:stCxn id="4" idx="3"/>
            <a:endCxn id="7" idx="1"/>
          </p:cNvCxnSpPr>
          <p:nvPr/>
        </p:nvCxnSpPr>
        <p:spPr>
          <a:xfrm>
            <a:off x="3619500" y="2881313"/>
            <a:ext cx="1238250" cy="0"/>
          </a:xfrm>
          <a:prstGeom prst="straightConnector1">
            <a:avLst/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cxnSp>
        <p:nvCxnSpPr>
          <p:cNvPr id="31" name="U05-DG-006-sys_2"/>
          <p:cNvCxnSpPr>
            <a:stCxn id="7" idx="3"/>
            <a:endCxn id="10" idx="1"/>
          </p:cNvCxnSpPr>
          <p:nvPr/>
        </p:nvCxnSpPr>
        <p:spPr>
          <a:xfrm>
            <a:off x="7334250" y="2881313"/>
            <a:ext cx="1238250" cy="0"/>
          </a:xfrm>
          <a:prstGeom prst="straightConnector1">
            <a:avLst/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sp>
        <p:nvSpPr>
          <p:cNvPr id="15" name="diagram-scale-note">
            <a:extLst>
              <a:ext uri="{FF2B5EF4-FFF2-40B4-BE49-F238E27FC236}">
                <a16:creationId xmlns:a16="http://schemas.microsoft.com/office/drawing/2014/main" id="{D6280B15-B149-4492-8E83-29EBFBDCF14F}"/>
              </a:ext>
            </a:extLst>
          </p:cNvPr>
          <p:cNvSpPr>
            <a:spLocks noGrp="1"/>
          </p:cNvSpPr>
          <p:nvPr/>
        </p:nvSpPr>
        <p:spPr>
          <a:xfrm>
            <a:off x="552450" y="5829300"/>
            <a:ext cx="3905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05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Esquema conceptual · no está a escala</a:t>
            </a:r>
          </a:p>
        </p:txBody>
      </p:sp>
      <p:sp>
        <p:nvSpPr>
          <p:cNvPr id="16" name="caption">
            <a:extLst>
              <a:ext uri="{FF2B5EF4-FFF2-40B4-BE49-F238E27FC236}">
                <a16:creationId xmlns:a16="http://schemas.microsoft.com/office/drawing/2014/main" id="{3DF81010-1550-4A70-8699-CF3F5FE8A1C8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876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Un sistema puede conservar amplitud y modificar relaciones temporales.</a:t>
            </a:r>
          </a:p>
        </p:txBody>
      </p:sp>
      <p:sp>
        <p:nvSpPr>
          <p:cNvPr id="17" name="credit">
            <a:extLst>
              <a:ext uri="{FF2B5EF4-FFF2-40B4-BE49-F238E27FC236}">
                <a16:creationId xmlns:a16="http://schemas.microsoft.com/office/drawing/2014/main" id="{FF87D216-A869-49C7-829B-966DB78E6A6E}"/>
              </a:ext>
            </a:extLst>
          </p:cNvPr>
          <p:cNvSpPr>
            <a:spLocks noGrp="1"/>
          </p:cNvSpPr>
          <p:nvPr/>
        </p:nvSpPr>
        <p:spPr>
          <a:xfrm>
            <a:off x="9382125" y="60769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5.5, ec. 5.14.</a:t>
            </a:r>
          </a:p>
        </p:txBody>
      </p:sp>
      <p:sp>
        <p:nvSpPr>
          <p:cNvPr id="13" name="slide-alt-summary" descr="Dos señales desplazadas y una recta de fase decreciente con frecuencia.">
            <a:extLst>
              <a:ext uri="{FF2B5EF4-FFF2-40B4-BE49-F238E27FC236}">
                <a16:creationId xmlns:a16="http://schemas.microsoft.com/office/drawing/2014/main" id="{8337B7B5-8D7B-7C15-7DD8-4A7F23D70B2B}"/>
              </a:ext>
            </a:extLst>
          </p:cNvPr>
          <p:cNvSpPr/>
          <p:nvPr/>
        </p:nvSpPr>
        <p:spPr>
          <a:xfrm>
            <a:off x="12700" y="12700"/>
            <a:ext cx="12700" cy="12700"/>
          </a:xfrm>
          <a:prstGeom prst="rect">
            <a:avLst/>
          </a:prstGeom>
          <a:noFill/>
          <a:ln w="19050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eyebrow">
            <a:extLst>
              <a:ext uri="{FF2B5EF4-FFF2-40B4-BE49-F238E27FC236}">
                <a16:creationId xmlns:a16="http://schemas.microsoft.com/office/drawing/2014/main" id="{870B3B39-1550-49F9-81DF-8EB8EEFB9C74}"/>
              </a:ext>
            </a:extLst>
          </p:cNvPr>
          <p:cNvSpPr>
            <a:spLocks noGrp="1"/>
          </p:cNvSpPr>
          <p:nvPr/>
        </p:nvSpPr>
        <p:spPr>
          <a:xfrm>
            <a:off x="514350" y="2095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060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36A12C11-14C2-4BDA-9F89-03C4619EB2FC}"/>
              </a:ext>
            </a:extLst>
          </p:cNvPr>
          <p:cNvSpPr>
            <a:spLocks noGrp="1"/>
          </p:cNvSpPr>
          <p:nvPr/>
        </p:nvSpPr>
        <p:spPr>
          <a:xfrm>
            <a:off x="495300" y="428625"/>
            <a:ext cx="11191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En voz, armónicos de fuente y resonancias del tracto no son lo mismo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0219C865-5CE4-416D-945E-B7129C91D7B8}"/>
              </a:ext>
            </a:extLst>
          </p:cNvPr>
          <p:cNvSpPr>
            <a:spLocks noGrp="1"/>
          </p:cNvSpPr>
          <p:nvPr/>
        </p:nvSpPr>
        <p:spPr>
          <a:xfrm>
            <a:off x="523875" y="971550"/>
            <a:ext cx="11001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Modelo fuente–filtro introductorio.</a:t>
            </a:r>
          </a:p>
        </p:txBody>
      </p:sp>
      <p:sp>
        <p:nvSpPr>
          <p:cNvPr id="4" name="U05-DG-007-fundamental">
            <a:extLst>
              <a:ext uri="{FF2B5EF4-FFF2-40B4-BE49-F238E27FC236}">
                <a16:creationId xmlns:a16="http://schemas.microsoft.com/office/drawing/2014/main" id="{81AD2047-173A-479F-B221-443922151D9D}"/>
              </a:ext>
            </a:extLst>
          </p:cNvPr>
          <p:cNvSpPr>
            <a:spLocks noGrp="1"/>
          </p:cNvSpPr>
          <p:nvPr/>
        </p:nvSpPr>
        <p:spPr>
          <a:xfrm>
            <a:off x="762000" y="1381125"/>
            <a:ext cx="2381250" cy="1095375"/>
          </a:xfrm>
          <a:prstGeom prst="roundRect">
            <a:avLst>
              <a:gd name="adj" fmla="val 12174"/>
            </a:avLst>
          </a:prstGeom>
          <a:solidFill>
            <a:srgbClr val="EFF8FA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5" name="U05-DG-007-fundamental-title">
            <a:extLst>
              <a:ext uri="{FF2B5EF4-FFF2-40B4-BE49-F238E27FC236}">
                <a16:creationId xmlns:a16="http://schemas.microsoft.com/office/drawing/2014/main" id="{4CA638A6-3EA7-4F4E-A79F-E689F609B0BE}"/>
              </a:ext>
            </a:extLst>
          </p:cNvPr>
          <p:cNvSpPr>
            <a:spLocks noGrp="1"/>
          </p:cNvSpPr>
          <p:nvPr/>
        </p:nvSpPr>
        <p:spPr>
          <a:xfrm>
            <a:off x="933450" y="1504950"/>
            <a:ext cx="2038350" cy="3286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Fundamental</a:t>
            </a:r>
          </a:p>
        </p:txBody>
      </p:sp>
      <p:sp>
        <p:nvSpPr>
          <p:cNvPr id="6" name="U05-DG-007-fundamental-body">
            <a:extLst>
              <a:ext uri="{FF2B5EF4-FFF2-40B4-BE49-F238E27FC236}">
                <a16:creationId xmlns:a16="http://schemas.microsoft.com/office/drawing/2014/main" id="{F99C3AE8-CD33-481A-818D-FB8E844C01F5}"/>
              </a:ext>
            </a:extLst>
          </p:cNvPr>
          <p:cNvSpPr>
            <a:spLocks noGrp="1"/>
          </p:cNvSpPr>
          <p:nvPr/>
        </p:nvSpPr>
        <p:spPr>
          <a:xfrm>
            <a:off x="933450" y="1833563"/>
            <a:ext cx="2038350" cy="5191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f₀ = 1/T₀</a:t>
            </a:r>
          </a:p>
        </p:txBody>
      </p:sp>
      <p:sp>
        <p:nvSpPr>
          <p:cNvPr id="7" name="U05-DG-007-harmonic">
            <a:extLst>
              <a:ext uri="{FF2B5EF4-FFF2-40B4-BE49-F238E27FC236}">
                <a16:creationId xmlns:a16="http://schemas.microsoft.com/office/drawing/2014/main" id="{22638861-E6C8-40E4-9AC3-0CE95671FDB4}"/>
              </a:ext>
            </a:extLst>
          </p:cNvPr>
          <p:cNvSpPr>
            <a:spLocks noGrp="1"/>
          </p:cNvSpPr>
          <p:nvPr/>
        </p:nvSpPr>
        <p:spPr>
          <a:xfrm>
            <a:off x="3476625" y="1381125"/>
            <a:ext cx="2381250" cy="1095375"/>
          </a:xfrm>
          <a:prstGeom prst="roundRect">
            <a:avLst>
              <a:gd name="adj" fmla="val 12174"/>
            </a:avLst>
          </a:prstGeom>
          <a:solidFill>
            <a:srgbClr val="DDEFF5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8" name="U05-DG-007-harmonic-title">
            <a:extLst>
              <a:ext uri="{FF2B5EF4-FFF2-40B4-BE49-F238E27FC236}">
                <a16:creationId xmlns:a16="http://schemas.microsoft.com/office/drawing/2014/main" id="{3F4831D5-1232-43DB-A7AD-15FE85F5ED07}"/>
              </a:ext>
            </a:extLst>
          </p:cNvPr>
          <p:cNvSpPr>
            <a:spLocks noGrp="1"/>
          </p:cNvSpPr>
          <p:nvPr/>
        </p:nvSpPr>
        <p:spPr>
          <a:xfrm>
            <a:off x="3648075" y="1504950"/>
            <a:ext cx="2038350" cy="3286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Armónico</a:t>
            </a:r>
          </a:p>
        </p:txBody>
      </p:sp>
      <p:sp>
        <p:nvSpPr>
          <p:cNvPr id="9" name="U05-DG-007-harmonic-body">
            <a:extLst>
              <a:ext uri="{FF2B5EF4-FFF2-40B4-BE49-F238E27FC236}">
                <a16:creationId xmlns:a16="http://schemas.microsoft.com/office/drawing/2014/main" id="{4D796878-B445-46A8-9EB3-87A58D770478}"/>
              </a:ext>
            </a:extLst>
          </p:cNvPr>
          <p:cNvSpPr>
            <a:spLocks noGrp="1"/>
          </p:cNvSpPr>
          <p:nvPr/>
        </p:nvSpPr>
        <p:spPr>
          <a:xfrm>
            <a:off x="3648075" y="1833563"/>
            <a:ext cx="2038350" cy="5191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fₙ = n f₀</a:t>
            </a:r>
          </a:p>
        </p:txBody>
      </p:sp>
      <p:sp>
        <p:nvSpPr>
          <p:cNvPr id="10" name="U05-DG-007-partial">
            <a:extLst>
              <a:ext uri="{FF2B5EF4-FFF2-40B4-BE49-F238E27FC236}">
                <a16:creationId xmlns:a16="http://schemas.microsoft.com/office/drawing/2014/main" id="{B9C64DEF-5879-4D0F-86A0-6252F9F97A0F}"/>
              </a:ext>
            </a:extLst>
          </p:cNvPr>
          <p:cNvSpPr>
            <a:spLocks noGrp="1"/>
          </p:cNvSpPr>
          <p:nvPr/>
        </p:nvSpPr>
        <p:spPr>
          <a:xfrm>
            <a:off x="6191250" y="1381125"/>
            <a:ext cx="2381250" cy="1095375"/>
          </a:xfrm>
          <a:prstGeom prst="roundRect">
            <a:avLst>
              <a:gd name="adj" fmla="val 12174"/>
            </a:avLst>
          </a:prstGeom>
          <a:solidFill>
            <a:srgbClr val="F3F6F8"/>
          </a:solidFill>
          <a:ln w="19050">
            <a:solidFill>
              <a:srgbClr val="8291A3"/>
            </a:solidFill>
            <a:prstDash val="solid"/>
          </a:ln>
        </p:spPr>
      </p:sp>
      <p:sp>
        <p:nvSpPr>
          <p:cNvPr id="11" name="U05-DG-007-partial-title">
            <a:extLst>
              <a:ext uri="{FF2B5EF4-FFF2-40B4-BE49-F238E27FC236}">
                <a16:creationId xmlns:a16="http://schemas.microsoft.com/office/drawing/2014/main" id="{6054BD32-570A-4D91-8BD4-6CDB2007CDC4}"/>
              </a:ext>
            </a:extLst>
          </p:cNvPr>
          <p:cNvSpPr>
            <a:spLocks noGrp="1"/>
          </p:cNvSpPr>
          <p:nvPr/>
        </p:nvSpPr>
        <p:spPr>
          <a:xfrm>
            <a:off x="6362700" y="1504950"/>
            <a:ext cx="2038350" cy="3286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Parcial</a:t>
            </a:r>
          </a:p>
        </p:txBody>
      </p:sp>
      <p:sp>
        <p:nvSpPr>
          <p:cNvPr id="12" name="U05-DG-007-partial-body">
            <a:extLst>
              <a:ext uri="{FF2B5EF4-FFF2-40B4-BE49-F238E27FC236}">
                <a16:creationId xmlns:a16="http://schemas.microsoft.com/office/drawing/2014/main" id="{0FABCF88-6A5E-4F00-AB17-B454B57ADC4B}"/>
              </a:ext>
            </a:extLst>
          </p:cNvPr>
          <p:cNvSpPr>
            <a:spLocks noGrp="1"/>
          </p:cNvSpPr>
          <p:nvPr/>
        </p:nvSpPr>
        <p:spPr>
          <a:xfrm>
            <a:off x="6362700" y="1833563"/>
            <a:ext cx="2038350" cy="5191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armónico o no</a:t>
            </a:r>
          </a:p>
        </p:txBody>
      </p:sp>
      <p:sp>
        <p:nvSpPr>
          <p:cNvPr id="13" name="U05-DG-007-overtone">
            <a:extLst>
              <a:ext uri="{FF2B5EF4-FFF2-40B4-BE49-F238E27FC236}">
                <a16:creationId xmlns:a16="http://schemas.microsoft.com/office/drawing/2014/main" id="{718BF429-729F-4030-8D2A-280E2BA9E041}"/>
              </a:ext>
            </a:extLst>
          </p:cNvPr>
          <p:cNvSpPr>
            <a:spLocks noGrp="1"/>
          </p:cNvSpPr>
          <p:nvPr/>
        </p:nvSpPr>
        <p:spPr>
          <a:xfrm>
            <a:off x="8905875" y="1381125"/>
            <a:ext cx="2381250" cy="1095375"/>
          </a:xfrm>
          <a:prstGeom prst="roundRect">
            <a:avLst>
              <a:gd name="adj" fmla="val 12174"/>
            </a:avLst>
          </a:prstGeom>
          <a:solidFill>
            <a:srgbClr val="E3F2ED"/>
          </a:solidFill>
          <a:ln w="19050">
            <a:solidFill>
              <a:srgbClr val="2D7867"/>
            </a:solidFill>
            <a:prstDash val="solid"/>
          </a:ln>
        </p:spPr>
      </p:sp>
      <p:sp>
        <p:nvSpPr>
          <p:cNvPr id="14" name="U05-DG-007-overtone-title">
            <a:extLst>
              <a:ext uri="{FF2B5EF4-FFF2-40B4-BE49-F238E27FC236}">
                <a16:creationId xmlns:a16="http://schemas.microsoft.com/office/drawing/2014/main" id="{502D050D-C406-4147-A313-E9736BFE2CAA}"/>
              </a:ext>
            </a:extLst>
          </p:cNvPr>
          <p:cNvSpPr>
            <a:spLocks noGrp="1"/>
          </p:cNvSpPr>
          <p:nvPr/>
        </p:nvSpPr>
        <p:spPr>
          <a:xfrm>
            <a:off x="9077325" y="1504950"/>
            <a:ext cx="2038350" cy="3286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Sobretono</a:t>
            </a:r>
          </a:p>
        </p:txBody>
      </p:sp>
      <p:sp>
        <p:nvSpPr>
          <p:cNvPr id="15" name="U05-DG-007-overtone-body">
            <a:extLst>
              <a:ext uri="{FF2B5EF4-FFF2-40B4-BE49-F238E27FC236}">
                <a16:creationId xmlns:a16="http://schemas.microsoft.com/office/drawing/2014/main" id="{5DED148D-43C1-4567-A36C-EB5E7ED6865E}"/>
              </a:ext>
            </a:extLst>
          </p:cNvPr>
          <p:cNvSpPr>
            <a:spLocks noGrp="1"/>
          </p:cNvSpPr>
          <p:nvPr/>
        </p:nvSpPr>
        <p:spPr>
          <a:xfrm>
            <a:off x="9077325" y="1833563"/>
            <a:ext cx="2038350" cy="5191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parcial sobre f₀</a:t>
            </a:r>
          </a:p>
        </p:txBody>
      </p:sp>
      <p:sp>
        <p:nvSpPr>
          <p:cNvPr id="16" name="U05-DG-007-voice_source">
            <a:extLst>
              <a:ext uri="{FF2B5EF4-FFF2-40B4-BE49-F238E27FC236}">
                <a16:creationId xmlns:a16="http://schemas.microsoft.com/office/drawing/2014/main" id="{D1E8DBDD-A0AB-4E49-8E4A-918370767D11}"/>
              </a:ext>
            </a:extLst>
          </p:cNvPr>
          <p:cNvSpPr>
            <a:spLocks noGrp="1"/>
          </p:cNvSpPr>
          <p:nvPr/>
        </p:nvSpPr>
        <p:spPr>
          <a:xfrm>
            <a:off x="1666875" y="4000500"/>
            <a:ext cx="2381250" cy="1143000"/>
          </a:xfrm>
          <a:prstGeom prst="roundRect">
            <a:avLst>
              <a:gd name="adj" fmla="val 11667"/>
            </a:avLst>
          </a:prstGeom>
          <a:solidFill>
            <a:srgbClr val="EFF8FA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17" name="U05-DG-007-voice_source-title">
            <a:extLst>
              <a:ext uri="{FF2B5EF4-FFF2-40B4-BE49-F238E27FC236}">
                <a16:creationId xmlns:a16="http://schemas.microsoft.com/office/drawing/2014/main" id="{FACA5CCF-1E40-4D36-B3E5-CCE9FE6708B7}"/>
              </a:ext>
            </a:extLst>
          </p:cNvPr>
          <p:cNvSpPr>
            <a:spLocks noGrp="1"/>
          </p:cNvSpPr>
          <p:nvPr/>
        </p:nvSpPr>
        <p:spPr>
          <a:xfrm>
            <a:off x="1838325" y="4124325"/>
            <a:ext cx="2038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Fuente</a:t>
            </a:r>
          </a:p>
        </p:txBody>
      </p:sp>
      <p:sp>
        <p:nvSpPr>
          <p:cNvPr id="18" name="U05-DG-007-voice_source-body">
            <a:extLst>
              <a:ext uri="{FF2B5EF4-FFF2-40B4-BE49-F238E27FC236}">
                <a16:creationId xmlns:a16="http://schemas.microsoft.com/office/drawing/2014/main" id="{D6FC8D3C-7DFB-43BE-BA11-128E0F2B77AE}"/>
              </a:ext>
            </a:extLst>
          </p:cNvPr>
          <p:cNvSpPr>
            <a:spLocks noGrp="1"/>
          </p:cNvSpPr>
          <p:nvPr/>
        </p:nvSpPr>
        <p:spPr>
          <a:xfrm>
            <a:off x="1838325" y="4467225"/>
            <a:ext cx="20383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armónicos</a:t>
            </a:r>
          </a:p>
        </p:txBody>
      </p:sp>
      <p:sp>
        <p:nvSpPr>
          <p:cNvPr id="19" name="U05-DG-007-vocal_filter">
            <a:extLst>
              <a:ext uri="{FF2B5EF4-FFF2-40B4-BE49-F238E27FC236}">
                <a16:creationId xmlns:a16="http://schemas.microsoft.com/office/drawing/2014/main" id="{C98BD38C-C0D9-4DAF-99BE-32BD54EC18A0}"/>
              </a:ext>
            </a:extLst>
          </p:cNvPr>
          <p:cNvSpPr>
            <a:spLocks noGrp="1"/>
          </p:cNvSpPr>
          <p:nvPr/>
        </p:nvSpPr>
        <p:spPr>
          <a:xfrm>
            <a:off x="4905375" y="4000500"/>
            <a:ext cx="2381250" cy="1143000"/>
          </a:xfrm>
          <a:prstGeom prst="roundRect">
            <a:avLst>
              <a:gd name="adj" fmla="val 11667"/>
            </a:avLst>
          </a:prstGeom>
          <a:solidFill>
            <a:srgbClr val="DDEFF5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20" name="U05-DG-007-vocal_filter-title">
            <a:extLst>
              <a:ext uri="{FF2B5EF4-FFF2-40B4-BE49-F238E27FC236}">
                <a16:creationId xmlns:a16="http://schemas.microsoft.com/office/drawing/2014/main" id="{75D7F9A7-E848-49CC-BB08-83621F4FF0A6}"/>
              </a:ext>
            </a:extLst>
          </p:cNvPr>
          <p:cNvSpPr>
            <a:spLocks noGrp="1"/>
          </p:cNvSpPr>
          <p:nvPr/>
        </p:nvSpPr>
        <p:spPr>
          <a:xfrm>
            <a:off x="5076825" y="4124325"/>
            <a:ext cx="2038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Tracto vocal</a:t>
            </a:r>
          </a:p>
        </p:txBody>
      </p:sp>
      <p:sp>
        <p:nvSpPr>
          <p:cNvPr id="21" name="U05-DG-007-vocal_filter-body">
            <a:extLst>
              <a:ext uri="{FF2B5EF4-FFF2-40B4-BE49-F238E27FC236}">
                <a16:creationId xmlns:a16="http://schemas.microsoft.com/office/drawing/2014/main" id="{48417269-5E5D-47C4-8D85-D82DD1859DBE}"/>
              </a:ext>
            </a:extLst>
          </p:cNvPr>
          <p:cNvSpPr>
            <a:spLocks noGrp="1"/>
          </p:cNvSpPr>
          <p:nvPr/>
        </p:nvSpPr>
        <p:spPr>
          <a:xfrm>
            <a:off x="5076825" y="4467225"/>
            <a:ext cx="20383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formantes</a:t>
            </a:r>
          </a:p>
        </p:txBody>
      </p:sp>
      <p:sp>
        <p:nvSpPr>
          <p:cNvPr id="22" name="U05-DG-007-voice_output">
            <a:extLst>
              <a:ext uri="{FF2B5EF4-FFF2-40B4-BE49-F238E27FC236}">
                <a16:creationId xmlns:a16="http://schemas.microsoft.com/office/drawing/2014/main" id="{30255B7E-9C1E-4570-AEE1-274683B8CFFF}"/>
              </a:ext>
            </a:extLst>
          </p:cNvPr>
          <p:cNvSpPr>
            <a:spLocks noGrp="1"/>
          </p:cNvSpPr>
          <p:nvPr/>
        </p:nvSpPr>
        <p:spPr>
          <a:xfrm>
            <a:off x="8143875" y="4000500"/>
            <a:ext cx="2381250" cy="1143000"/>
          </a:xfrm>
          <a:prstGeom prst="roundRect">
            <a:avLst>
              <a:gd name="adj" fmla="val 11667"/>
            </a:avLst>
          </a:prstGeom>
          <a:solidFill>
            <a:srgbClr val="E3F2ED"/>
          </a:solidFill>
          <a:ln w="19050">
            <a:solidFill>
              <a:srgbClr val="2D7867"/>
            </a:solidFill>
            <a:prstDash val="solid"/>
          </a:ln>
        </p:spPr>
      </p:sp>
      <p:sp>
        <p:nvSpPr>
          <p:cNvPr id="23" name="U05-DG-007-voice_output-title">
            <a:extLst>
              <a:ext uri="{FF2B5EF4-FFF2-40B4-BE49-F238E27FC236}">
                <a16:creationId xmlns:a16="http://schemas.microsoft.com/office/drawing/2014/main" id="{22C35C58-7733-4FD2-9173-D64750E07749}"/>
              </a:ext>
            </a:extLst>
          </p:cNvPr>
          <p:cNvSpPr>
            <a:spLocks noGrp="1"/>
          </p:cNvSpPr>
          <p:nvPr/>
        </p:nvSpPr>
        <p:spPr>
          <a:xfrm>
            <a:off x="8315325" y="4124325"/>
            <a:ext cx="2038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Salida</a:t>
            </a:r>
          </a:p>
        </p:txBody>
      </p:sp>
      <p:sp>
        <p:nvSpPr>
          <p:cNvPr id="24" name="U05-DG-007-voice_output-body">
            <a:extLst>
              <a:ext uri="{FF2B5EF4-FFF2-40B4-BE49-F238E27FC236}">
                <a16:creationId xmlns:a16="http://schemas.microsoft.com/office/drawing/2014/main" id="{ED0F49E1-21C9-4271-A6AE-ABECFD5DED7F}"/>
              </a:ext>
            </a:extLst>
          </p:cNvPr>
          <p:cNvSpPr>
            <a:spLocks noGrp="1"/>
          </p:cNvSpPr>
          <p:nvPr/>
        </p:nvSpPr>
        <p:spPr>
          <a:xfrm>
            <a:off x="8315325" y="4467225"/>
            <a:ext cx="20383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señal filtrada</a:t>
            </a:r>
          </a:p>
        </p:txBody>
      </p:sp>
      <p:cxnSp>
        <p:nvCxnSpPr>
          <p:cNvPr id="57" name="U05-DG-007-tax_1"/>
          <p:cNvCxnSpPr>
            <a:stCxn id="4" idx="3"/>
            <a:endCxn id="7" idx="1"/>
          </p:cNvCxnSpPr>
          <p:nvPr/>
        </p:nvCxnSpPr>
        <p:spPr>
          <a:xfrm>
            <a:off x="3143250" y="1928813"/>
            <a:ext cx="333375" cy="0"/>
          </a:xfrm>
          <a:prstGeom prst="straightConnector1">
            <a:avLst/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cxnSp>
        <p:nvCxnSpPr>
          <p:cNvPr id="58" name="U05-DG-007-tax_2"/>
          <p:cNvCxnSpPr>
            <a:stCxn id="7" idx="3"/>
            <a:endCxn id="10" idx="1"/>
          </p:cNvCxnSpPr>
          <p:nvPr/>
        </p:nvCxnSpPr>
        <p:spPr>
          <a:xfrm>
            <a:off x="5857875" y="1928813"/>
            <a:ext cx="333375" cy="0"/>
          </a:xfrm>
          <a:prstGeom prst="straightConnector1">
            <a:avLst/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cxnSp>
        <p:nvCxnSpPr>
          <p:cNvPr id="59" name="U05-DG-007-tax_3"/>
          <p:cNvCxnSpPr>
            <a:stCxn id="10" idx="3"/>
            <a:endCxn id="13" idx="1"/>
          </p:cNvCxnSpPr>
          <p:nvPr/>
        </p:nvCxnSpPr>
        <p:spPr>
          <a:xfrm>
            <a:off x="8572500" y="1928813"/>
            <a:ext cx="333375" cy="0"/>
          </a:xfrm>
          <a:prstGeom prst="straightConnector1">
            <a:avLst/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cxnSp>
        <p:nvCxnSpPr>
          <p:cNvPr id="60" name="U05-DG-007-voice_1"/>
          <p:cNvCxnSpPr>
            <a:stCxn id="16" idx="3"/>
            <a:endCxn id="19" idx="1"/>
          </p:cNvCxnSpPr>
          <p:nvPr/>
        </p:nvCxnSpPr>
        <p:spPr>
          <a:xfrm>
            <a:off x="4048125" y="4572000"/>
            <a:ext cx="857250" cy="0"/>
          </a:xfrm>
          <a:prstGeom prst="straightConnector1">
            <a:avLst/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cxnSp>
        <p:nvCxnSpPr>
          <p:cNvPr id="61" name="U05-DG-007-voice_2"/>
          <p:cNvCxnSpPr>
            <a:stCxn id="19" idx="3"/>
            <a:endCxn id="22" idx="1"/>
          </p:cNvCxnSpPr>
          <p:nvPr/>
        </p:nvCxnSpPr>
        <p:spPr>
          <a:xfrm>
            <a:off x="7286625" y="4572000"/>
            <a:ext cx="857250" cy="0"/>
          </a:xfrm>
          <a:prstGeom prst="straightConnector1">
            <a:avLst/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sp>
        <p:nvSpPr>
          <p:cNvPr id="30" name="diagram-scale-note">
            <a:extLst>
              <a:ext uri="{FF2B5EF4-FFF2-40B4-BE49-F238E27FC236}">
                <a16:creationId xmlns:a16="http://schemas.microsoft.com/office/drawing/2014/main" id="{653DE26B-C7EE-4AE0-B8E7-EE4E0DEE18E6}"/>
              </a:ext>
            </a:extLst>
          </p:cNvPr>
          <p:cNvSpPr>
            <a:spLocks noGrp="1"/>
          </p:cNvSpPr>
          <p:nvPr/>
        </p:nvSpPr>
        <p:spPr>
          <a:xfrm>
            <a:off x="552450" y="5829300"/>
            <a:ext cx="3905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05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Esquema conceptual · no está a escala</a:t>
            </a:r>
          </a:p>
        </p:txBody>
      </p:sp>
      <p:sp>
        <p:nvSpPr>
          <p:cNvPr id="31" name="caption">
            <a:extLst>
              <a:ext uri="{FF2B5EF4-FFF2-40B4-BE49-F238E27FC236}">
                <a16:creationId xmlns:a16="http://schemas.microsoft.com/office/drawing/2014/main" id="{78D5FDD2-CB1D-4FBA-9CD9-7EE19A3458E0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876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El modelo separa objetos para interpretar un espectro de voz.</a:t>
            </a:r>
          </a:p>
        </p:txBody>
      </p:sp>
      <p:sp>
        <p:nvSpPr>
          <p:cNvPr id="32" name="credit">
            <a:extLst>
              <a:ext uri="{FF2B5EF4-FFF2-40B4-BE49-F238E27FC236}">
                <a16:creationId xmlns:a16="http://schemas.microsoft.com/office/drawing/2014/main" id="{5FE8A318-6FBF-4FF9-8DB9-C8B404735ABE}"/>
              </a:ext>
            </a:extLst>
          </p:cNvPr>
          <p:cNvSpPr>
            <a:spLocks noGrp="1"/>
          </p:cNvSpPr>
          <p:nvPr/>
        </p:nvSpPr>
        <p:spPr>
          <a:xfrm>
            <a:off x="9382125" y="60769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5.5 y 5.12; Brockmann2011.</a:t>
            </a:r>
          </a:p>
        </p:txBody>
      </p:sp>
      <p:sp>
        <p:nvSpPr>
          <p:cNvPr id="25" name="slide-alt-summary" descr="Cadena fuente glótica, tracto vocal y registro con mini espectros diferenciados.">
            <a:extLst>
              <a:ext uri="{FF2B5EF4-FFF2-40B4-BE49-F238E27FC236}">
                <a16:creationId xmlns:a16="http://schemas.microsoft.com/office/drawing/2014/main" id="{CC388282-5D01-6F60-7009-CDBA71BA7411}"/>
              </a:ext>
            </a:extLst>
          </p:cNvPr>
          <p:cNvSpPr/>
          <p:nvPr/>
        </p:nvSpPr>
        <p:spPr>
          <a:xfrm>
            <a:off x="12700" y="12700"/>
            <a:ext cx="12700" cy="12700"/>
          </a:xfrm>
          <a:prstGeom prst="rect">
            <a:avLst/>
          </a:prstGeom>
          <a:noFill/>
          <a:ln w="19050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1705772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eyebrow">
            <a:extLst>
              <a:ext uri="{FF2B5EF4-FFF2-40B4-BE49-F238E27FC236}">
                <a16:creationId xmlns:a16="http://schemas.microsoft.com/office/drawing/2014/main" id="{E3D9665C-0DFE-4904-89DE-18A8507ADA60}"/>
              </a:ext>
            </a:extLst>
          </p:cNvPr>
          <p:cNvSpPr>
            <a:spLocks noGrp="1"/>
          </p:cNvSpPr>
          <p:nvPr/>
        </p:nvSpPr>
        <p:spPr>
          <a:xfrm>
            <a:off x="514350" y="2095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061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DBE81FA7-CD48-4340-AC2E-F1F2C62ED796}"/>
              </a:ext>
            </a:extLst>
          </p:cNvPr>
          <p:cNvSpPr>
            <a:spLocks noGrp="1"/>
          </p:cNvSpPr>
          <p:nvPr/>
        </p:nvSpPr>
        <p:spPr>
          <a:xfrm>
            <a:off x="495300" y="428625"/>
            <a:ext cx="11191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La respuesta de un audífono no es el espectro de la voz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8973E449-E256-44BC-9A00-81387712815F}"/>
              </a:ext>
            </a:extLst>
          </p:cNvPr>
          <p:cNvSpPr>
            <a:spLocks noGrp="1"/>
          </p:cNvSpPr>
          <p:nvPr/>
        </p:nvSpPr>
        <p:spPr>
          <a:xfrm>
            <a:off x="523875" y="971550"/>
            <a:ext cx="11001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Dispositivo y señal son objetos diferentes.</a:t>
            </a:r>
          </a:p>
        </p:txBody>
      </p:sp>
      <p:sp>
        <p:nvSpPr>
          <p:cNvPr id="4" name="U05-DG-006-input_x">
            <a:extLst>
              <a:ext uri="{FF2B5EF4-FFF2-40B4-BE49-F238E27FC236}">
                <a16:creationId xmlns:a16="http://schemas.microsoft.com/office/drawing/2014/main" id="{A0BBFFDD-4B28-423C-A83D-60B14C3D3F96}"/>
              </a:ext>
            </a:extLst>
          </p:cNvPr>
          <p:cNvSpPr>
            <a:spLocks noGrp="1"/>
          </p:cNvSpPr>
          <p:nvPr/>
        </p:nvSpPr>
        <p:spPr>
          <a:xfrm>
            <a:off x="1143000" y="2095500"/>
            <a:ext cx="2476500" cy="1571625"/>
          </a:xfrm>
          <a:prstGeom prst="roundRect">
            <a:avLst>
              <a:gd name="adj" fmla="val 8485"/>
            </a:avLst>
          </a:prstGeom>
          <a:solidFill>
            <a:srgbClr val="EFF8FA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5" name="U05-DG-006-input_x-title">
            <a:extLst>
              <a:ext uri="{FF2B5EF4-FFF2-40B4-BE49-F238E27FC236}">
                <a16:creationId xmlns:a16="http://schemas.microsoft.com/office/drawing/2014/main" id="{F2C60355-7D9D-49CE-BB15-1AD7877737DA}"/>
              </a:ext>
            </a:extLst>
          </p:cNvPr>
          <p:cNvSpPr>
            <a:spLocks noGrp="1"/>
          </p:cNvSpPr>
          <p:nvPr/>
        </p:nvSpPr>
        <p:spPr>
          <a:xfrm>
            <a:off x="1314450" y="2219325"/>
            <a:ext cx="21336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Entrada X(f)</a:t>
            </a:r>
          </a:p>
        </p:txBody>
      </p:sp>
      <p:sp>
        <p:nvSpPr>
          <p:cNvPr id="6" name="U05-DG-006-input_x-body">
            <a:extLst>
              <a:ext uri="{FF2B5EF4-FFF2-40B4-BE49-F238E27FC236}">
                <a16:creationId xmlns:a16="http://schemas.microsoft.com/office/drawing/2014/main" id="{40C2A913-59FE-4A61-A3DA-9D29F0557B82}"/>
              </a:ext>
            </a:extLst>
          </p:cNvPr>
          <p:cNvSpPr>
            <a:spLocks noGrp="1"/>
          </p:cNvSpPr>
          <p:nvPr/>
        </p:nvSpPr>
        <p:spPr>
          <a:xfrm>
            <a:off x="1314450" y="2647950"/>
            <a:ext cx="213360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espectro de una señal</a:t>
            </a:r>
          </a:p>
        </p:txBody>
      </p:sp>
      <p:sp>
        <p:nvSpPr>
          <p:cNvPr id="7" name="U05-DG-006-system_h">
            <a:extLst>
              <a:ext uri="{FF2B5EF4-FFF2-40B4-BE49-F238E27FC236}">
                <a16:creationId xmlns:a16="http://schemas.microsoft.com/office/drawing/2014/main" id="{B2C7C223-947F-41A6-A89C-AF12BE84A125}"/>
              </a:ext>
            </a:extLst>
          </p:cNvPr>
          <p:cNvSpPr>
            <a:spLocks noGrp="1"/>
          </p:cNvSpPr>
          <p:nvPr/>
        </p:nvSpPr>
        <p:spPr>
          <a:xfrm>
            <a:off x="4857750" y="2095500"/>
            <a:ext cx="2476500" cy="1571625"/>
          </a:xfrm>
          <a:prstGeom prst="roundRect">
            <a:avLst>
              <a:gd name="adj" fmla="val 8485"/>
            </a:avLst>
          </a:prstGeom>
          <a:solidFill>
            <a:srgbClr val="DDEFF5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8" name="U05-DG-006-system_h-title">
            <a:extLst>
              <a:ext uri="{FF2B5EF4-FFF2-40B4-BE49-F238E27FC236}">
                <a16:creationId xmlns:a16="http://schemas.microsoft.com/office/drawing/2014/main" id="{60439C87-7A47-47AE-A0B2-685B80CED90A}"/>
              </a:ext>
            </a:extLst>
          </p:cNvPr>
          <p:cNvSpPr>
            <a:spLocks noGrp="1"/>
          </p:cNvSpPr>
          <p:nvPr/>
        </p:nvSpPr>
        <p:spPr>
          <a:xfrm>
            <a:off x="5029200" y="2219325"/>
            <a:ext cx="21336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Sistema H(f)</a:t>
            </a:r>
          </a:p>
        </p:txBody>
      </p:sp>
      <p:sp>
        <p:nvSpPr>
          <p:cNvPr id="9" name="U05-DG-006-system_h-body">
            <a:extLst>
              <a:ext uri="{FF2B5EF4-FFF2-40B4-BE49-F238E27FC236}">
                <a16:creationId xmlns:a16="http://schemas.microsoft.com/office/drawing/2014/main" id="{1A99AB1A-D2E6-464E-8205-7C337405D976}"/>
              </a:ext>
            </a:extLst>
          </p:cNvPr>
          <p:cNvSpPr>
            <a:spLocks noGrp="1"/>
          </p:cNvSpPr>
          <p:nvPr/>
        </p:nvSpPr>
        <p:spPr>
          <a:xfrm>
            <a:off x="5029200" y="2647950"/>
            <a:ext cx="213360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respuesta frecuencial</a:t>
            </a:r>
          </a:p>
        </p:txBody>
      </p:sp>
      <p:sp>
        <p:nvSpPr>
          <p:cNvPr id="10" name="U05-DG-006-output_y">
            <a:extLst>
              <a:ext uri="{FF2B5EF4-FFF2-40B4-BE49-F238E27FC236}">
                <a16:creationId xmlns:a16="http://schemas.microsoft.com/office/drawing/2014/main" id="{3AD64833-634D-4B59-973F-F9260A07F314}"/>
              </a:ext>
            </a:extLst>
          </p:cNvPr>
          <p:cNvSpPr>
            <a:spLocks noGrp="1"/>
          </p:cNvSpPr>
          <p:nvPr/>
        </p:nvSpPr>
        <p:spPr>
          <a:xfrm>
            <a:off x="8572500" y="2095500"/>
            <a:ext cx="2476500" cy="1571625"/>
          </a:xfrm>
          <a:prstGeom prst="roundRect">
            <a:avLst>
              <a:gd name="adj" fmla="val 8485"/>
            </a:avLst>
          </a:prstGeom>
          <a:solidFill>
            <a:srgbClr val="EFF8FA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11" name="U05-DG-006-output_y-title">
            <a:extLst>
              <a:ext uri="{FF2B5EF4-FFF2-40B4-BE49-F238E27FC236}">
                <a16:creationId xmlns:a16="http://schemas.microsoft.com/office/drawing/2014/main" id="{682A9B1F-F251-4E75-A9F1-0B5D90AF688C}"/>
              </a:ext>
            </a:extLst>
          </p:cNvPr>
          <p:cNvSpPr>
            <a:spLocks noGrp="1"/>
          </p:cNvSpPr>
          <p:nvPr/>
        </p:nvSpPr>
        <p:spPr>
          <a:xfrm>
            <a:off x="8743950" y="2219325"/>
            <a:ext cx="21336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Salida Y(f)</a:t>
            </a:r>
          </a:p>
        </p:txBody>
      </p:sp>
      <p:sp>
        <p:nvSpPr>
          <p:cNvPr id="12" name="U05-DG-006-output_y-body">
            <a:extLst>
              <a:ext uri="{FF2B5EF4-FFF2-40B4-BE49-F238E27FC236}">
                <a16:creationId xmlns:a16="http://schemas.microsoft.com/office/drawing/2014/main" id="{6D54BF67-E975-4E0C-9C8B-020AB2B7DD58}"/>
              </a:ext>
            </a:extLst>
          </p:cNvPr>
          <p:cNvSpPr>
            <a:spLocks noGrp="1"/>
          </p:cNvSpPr>
          <p:nvPr/>
        </p:nvSpPr>
        <p:spPr>
          <a:xfrm>
            <a:off x="8743950" y="2647950"/>
            <a:ext cx="213360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espectro de otra señal</a:t>
            </a:r>
          </a:p>
        </p:txBody>
      </p:sp>
      <p:cxnSp>
        <p:nvCxnSpPr>
          <p:cNvPr id="30" name="U05-DG-006-sys_1"/>
          <p:cNvCxnSpPr>
            <a:stCxn id="4" idx="3"/>
            <a:endCxn id="7" idx="1"/>
          </p:cNvCxnSpPr>
          <p:nvPr/>
        </p:nvCxnSpPr>
        <p:spPr>
          <a:xfrm>
            <a:off x="3619500" y="2881313"/>
            <a:ext cx="1238250" cy="0"/>
          </a:xfrm>
          <a:prstGeom prst="straightConnector1">
            <a:avLst/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cxnSp>
        <p:nvCxnSpPr>
          <p:cNvPr id="31" name="U05-DG-006-sys_2"/>
          <p:cNvCxnSpPr>
            <a:stCxn id="7" idx="3"/>
            <a:endCxn id="10" idx="1"/>
          </p:cNvCxnSpPr>
          <p:nvPr/>
        </p:nvCxnSpPr>
        <p:spPr>
          <a:xfrm>
            <a:off x="7334250" y="2881313"/>
            <a:ext cx="1238250" cy="0"/>
          </a:xfrm>
          <a:prstGeom prst="straightConnector1">
            <a:avLst/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sp>
        <p:nvSpPr>
          <p:cNvPr id="15" name="diagram-scale-note">
            <a:extLst>
              <a:ext uri="{FF2B5EF4-FFF2-40B4-BE49-F238E27FC236}">
                <a16:creationId xmlns:a16="http://schemas.microsoft.com/office/drawing/2014/main" id="{FF0336F8-21AA-4FD3-94EF-F42D7FDAD5D9}"/>
              </a:ext>
            </a:extLst>
          </p:cNvPr>
          <p:cNvSpPr>
            <a:spLocks noGrp="1"/>
          </p:cNvSpPr>
          <p:nvPr/>
        </p:nvSpPr>
        <p:spPr>
          <a:xfrm>
            <a:off x="552450" y="5829300"/>
            <a:ext cx="3905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05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Esquema conceptual · no está a escala</a:t>
            </a:r>
          </a:p>
        </p:txBody>
      </p:sp>
      <p:sp>
        <p:nvSpPr>
          <p:cNvPr id="16" name="caption">
            <a:extLst>
              <a:ext uri="{FF2B5EF4-FFF2-40B4-BE49-F238E27FC236}">
                <a16:creationId xmlns:a16="http://schemas.microsoft.com/office/drawing/2014/main" id="{FDABEEBA-6AFD-4B7A-BA95-8902F005F65A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876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La respuesta del audífono modifica una entrada; no reemplaza su espectro.</a:t>
            </a:r>
          </a:p>
        </p:txBody>
      </p:sp>
      <p:sp>
        <p:nvSpPr>
          <p:cNvPr id="17" name="credit">
            <a:extLst>
              <a:ext uri="{FF2B5EF4-FFF2-40B4-BE49-F238E27FC236}">
                <a16:creationId xmlns:a16="http://schemas.microsoft.com/office/drawing/2014/main" id="{B40695C7-FC63-4EA7-8BD0-AAAA510085C7}"/>
              </a:ext>
            </a:extLst>
          </p:cNvPr>
          <p:cNvSpPr>
            <a:spLocks noGrp="1"/>
          </p:cNvSpPr>
          <p:nvPr/>
        </p:nvSpPr>
        <p:spPr>
          <a:xfrm>
            <a:off x="9382125" y="60769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aplicación F3.</a:t>
            </a:r>
          </a:p>
        </p:txBody>
      </p:sp>
      <p:sp>
        <p:nvSpPr>
          <p:cNvPr id="13" name="slide-alt-summary" descr="Audífono entre voz de entrada y salida con tres valores de ganancia por frecuencia.">
            <a:extLst>
              <a:ext uri="{FF2B5EF4-FFF2-40B4-BE49-F238E27FC236}">
                <a16:creationId xmlns:a16="http://schemas.microsoft.com/office/drawing/2014/main" id="{845D2134-99D9-66CD-8D3D-93D446FAD7E0}"/>
              </a:ext>
            </a:extLst>
          </p:cNvPr>
          <p:cNvSpPr/>
          <p:nvPr/>
        </p:nvSpPr>
        <p:spPr>
          <a:xfrm>
            <a:off x="12700" y="12700"/>
            <a:ext cx="12700" cy="12700"/>
          </a:xfrm>
          <a:prstGeom prst="rect">
            <a:avLst/>
          </a:prstGeom>
          <a:noFill/>
          <a:ln w="19050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1705772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yebrow">
            <a:extLst>
              <a:ext uri="{FF2B5EF4-FFF2-40B4-BE49-F238E27FC236}">
                <a16:creationId xmlns:a16="http://schemas.microsoft.com/office/drawing/2014/main" id="{577AF6E1-FDC1-480B-BD2B-DCACA02ED925}"/>
              </a:ext>
            </a:extLst>
          </p:cNvPr>
          <p:cNvSpPr>
            <a:spLocks noGrp="1"/>
          </p:cNvSpPr>
          <p:nvPr/>
        </p:nvSpPr>
        <p:spPr>
          <a:xfrm>
            <a:off x="514350" y="2095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062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5C6EE97B-4733-499C-9B5A-11380BD3F3F7}"/>
              </a:ext>
            </a:extLst>
          </p:cNvPr>
          <p:cNvSpPr>
            <a:spLocks noGrp="1"/>
          </p:cNvSpPr>
          <p:nvPr/>
        </p:nvSpPr>
        <p:spPr>
          <a:xfrm>
            <a:off x="495300" y="428625"/>
            <a:ext cx="11191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Hasta acá: ¿señal, sistema o salida?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D8117EB-A346-4750-8F99-FAF4EF591CB6}"/>
              </a:ext>
            </a:extLst>
          </p:cNvPr>
          <p:cNvSpPr>
            <a:spLocks noGrp="1"/>
          </p:cNvSpPr>
          <p:nvPr/>
        </p:nvSpPr>
        <p:spPr>
          <a:xfrm>
            <a:off x="523875" y="971550"/>
            <a:ext cx="11001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Clasifique el objeto antes de leer la curva.</a:t>
            </a:r>
          </a:p>
        </p:txBody>
      </p:sp>
      <p:sp>
        <p:nvSpPr>
          <p:cNvPr id="4" name="U05-DG-014-recap_object">
            <a:extLst>
              <a:ext uri="{FF2B5EF4-FFF2-40B4-BE49-F238E27FC236}">
                <a16:creationId xmlns:a16="http://schemas.microsoft.com/office/drawing/2014/main" id="{62AE3C8E-AB6D-44F2-A857-7B125B56EC37}"/>
              </a:ext>
            </a:extLst>
          </p:cNvPr>
          <p:cNvSpPr>
            <a:spLocks noGrp="1"/>
          </p:cNvSpPr>
          <p:nvPr/>
        </p:nvSpPr>
        <p:spPr>
          <a:xfrm>
            <a:off x="857250" y="1714500"/>
            <a:ext cx="3048000" cy="1238250"/>
          </a:xfrm>
          <a:prstGeom prst="roundRect">
            <a:avLst>
              <a:gd name="adj" fmla="val 10769"/>
            </a:avLst>
          </a:prstGeom>
          <a:solidFill>
            <a:srgbClr val="EFF8FA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5" name="U05-DG-014-recap_object-title">
            <a:extLst>
              <a:ext uri="{FF2B5EF4-FFF2-40B4-BE49-F238E27FC236}">
                <a16:creationId xmlns:a16="http://schemas.microsoft.com/office/drawing/2014/main" id="{80253BEB-CEF4-439C-B5D7-E3A559FE0AD5}"/>
              </a:ext>
            </a:extLst>
          </p:cNvPr>
          <p:cNvSpPr>
            <a:spLocks noGrp="1"/>
          </p:cNvSpPr>
          <p:nvPr/>
        </p:nvSpPr>
        <p:spPr>
          <a:xfrm>
            <a:off x="1028700" y="1838325"/>
            <a:ext cx="27051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Objeto</a:t>
            </a:r>
          </a:p>
        </p:txBody>
      </p:sp>
      <p:sp>
        <p:nvSpPr>
          <p:cNvPr id="6" name="U05-DG-014-recap_object-body">
            <a:extLst>
              <a:ext uri="{FF2B5EF4-FFF2-40B4-BE49-F238E27FC236}">
                <a16:creationId xmlns:a16="http://schemas.microsoft.com/office/drawing/2014/main" id="{0FCBC8F8-F8C8-4E0C-B39C-D0C286AA7C97}"/>
              </a:ext>
            </a:extLst>
          </p:cNvPr>
          <p:cNvSpPr>
            <a:spLocks noGrp="1"/>
          </p:cNvSpPr>
          <p:nvPr/>
        </p:nvSpPr>
        <p:spPr>
          <a:xfrm>
            <a:off x="1028700" y="2209800"/>
            <a:ext cx="27051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señal / sistema</a:t>
            </a:r>
          </a:p>
        </p:txBody>
      </p:sp>
      <p:sp>
        <p:nvSpPr>
          <p:cNvPr id="7" name="U05-DG-014-recap_axes">
            <a:extLst>
              <a:ext uri="{FF2B5EF4-FFF2-40B4-BE49-F238E27FC236}">
                <a16:creationId xmlns:a16="http://schemas.microsoft.com/office/drawing/2014/main" id="{A7A1A16C-0AE3-44DB-B6E5-066C6D9F0F27}"/>
              </a:ext>
            </a:extLst>
          </p:cNvPr>
          <p:cNvSpPr>
            <a:spLocks noGrp="1"/>
          </p:cNvSpPr>
          <p:nvPr/>
        </p:nvSpPr>
        <p:spPr>
          <a:xfrm>
            <a:off x="4572000" y="1714500"/>
            <a:ext cx="3048000" cy="1238250"/>
          </a:xfrm>
          <a:prstGeom prst="roundRect">
            <a:avLst>
              <a:gd name="adj" fmla="val 10769"/>
            </a:avLst>
          </a:prstGeom>
          <a:solidFill>
            <a:srgbClr val="F3F6F8"/>
          </a:solidFill>
          <a:ln w="19050">
            <a:solidFill>
              <a:srgbClr val="8291A3"/>
            </a:solidFill>
            <a:prstDash val="solid"/>
          </a:ln>
        </p:spPr>
      </p:sp>
      <p:sp>
        <p:nvSpPr>
          <p:cNvPr id="8" name="U05-DG-014-recap_axes-title">
            <a:extLst>
              <a:ext uri="{FF2B5EF4-FFF2-40B4-BE49-F238E27FC236}">
                <a16:creationId xmlns:a16="http://schemas.microsoft.com/office/drawing/2014/main" id="{8AD2AE45-E137-46EE-A92F-6D576C698A50}"/>
              </a:ext>
            </a:extLst>
          </p:cNvPr>
          <p:cNvSpPr>
            <a:spLocks noGrp="1"/>
          </p:cNvSpPr>
          <p:nvPr/>
        </p:nvSpPr>
        <p:spPr>
          <a:xfrm>
            <a:off x="4743450" y="1838325"/>
            <a:ext cx="27051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Ejes</a:t>
            </a:r>
          </a:p>
        </p:txBody>
      </p:sp>
      <p:sp>
        <p:nvSpPr>
          <p:cNvPr id="9" name="U05-DG-014-recap_axes-body">
            <a:extLst>
              <a:ext uri="{FF2B5EF4-FFF2-40B4-BE49-F238E27FC236}">
                <a16:creationId xmlns:a16="http://schemas.microsoft.com/office/drawing/2014/main" id="{B2A5B845-0E90-45AF-9E63-657C40B99291}"/>
              </a:ext>
            </a:extLst>
          </p:cNvPr>
          <p:cNvSpPr>
            <a:spLocks noGrp="1"/>
          </p:cNvSpPr>
          <p:nvPr/>
        </p:nvSpPr>
        <p:spPr>
          <a:xfrm>
            <a:off x="4743450" y="2209800"/>
            <a:ext cx="27051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t / f</a:t>
            </a:r>
          </a:p>
        </p:txBody>
      </p:sp>
      <p:sp>
        <p:nvSpPr>
          <p:cNvPr id="10" name="U05-DG-014-recap_units">
            <a:extLst>
              <a:ext uri="{FF2B5EF4-FFF2-40B4-BE49-F238E27FC236}">
                <a16:creationId xmlns:a16="http://schemas.microsoft.com/office/drawing/2014/main" id="{089E2E8B-5448-4D2B-8C50-D0258F4B44CB}"/>
              </a:ext>
            </a:extLst>
          </p:cNvPr>
          <p:cNvSpPr>
            <a:spLocks noGrp="1"/>
          </p:cNvSpPr>
          <p:nvPr/>
        </p:nvSpPr>
        <p:spPr>
          <a:xfrm>
            <a:off x="8286750" y="1714500"/>
            <a:ext cx="3048000" cy="1238250"/>
          </a:xfrm>
          <a:prstGeom prst="roundRect">
            <a:avLst>
              <a:gd name="adj" fmla="val 10769"/>
            </a:avLst>
          </a:prstGeom>
          <a:solidFill>
            <a:srgbClr val="F3F6F8"/>
          </a:solidFill>
          <a:ln w="19050">
            <a:solidFill>
              <a:srgbClr val="8291A3"/>
            </a:solidFill>
            <a:prstDash val="solid"/>
          </a:ln>
        </p:spPr>
      </p:sp>
      <p:sp>
        <p:nvSpPr>
          <p:cNvPr id="11" name="U05-DG-014-recap_units-title">
            <a:extLst>
              <a:ext uri="{FF2B5EF4-FFF2-40B4-BE49-F238E27FC236}">
                <a16:creationId xmlns:a16="http://schemas.microsoft.com/office/drawing/2014/main" id="{661722B2-4C27-4DF6-B6C1-E185EC028075}"/>
              </a:ext>
            </a:extLst>
          </p:cNvPr>
          <p:cNvSpPr>
            <a:spLocks noGrp="1"/>
          </p:cNvSpPr>
          <p:nvPr/>
        </p:nvSpPr>
        <p:spPr>
          <a:xfrm>
            <a:off x="8458200" y="1838325"/>
            <a:ext cx="27051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Unidades</a:t>
            </a:r>
          </a:p>
        </p:txBody>
      </p:sp>
      <p:sp>
        <p:nvSpPr>
          <p:cNvPr id="12" name="U05-DG-014-recap_units-body">
            <a:extLst>
              <a:ext uri="{FF2B5EF4-FFF2-40B4-BE49-F238E27FC236}">
                <a16:creationId xmlns:a16="http://schemas.microsoft.com/office/drawing/2014/main" id="{9DB30B4E-5D3E-4509-9077-7EB1EEF765B8}"/>
              </a:ext>
            </a:extLst>
          </p:cNvPr>
          <p:cNvSpPr>
            <a:spLocks noGrp="1"/>
          </p:cNvSpPr>
          <p:nvPr/>
        </p:nvSpPr>
        <p:spPr>
          <a:xfrm>
            <a:off x="8458200" y="2209800"/>
            <a:ext cx="27051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s · Hz · Pa · dB</a:t>
            </a:r>
          </a:p>
        </p:txBody>
      </p:sp>
      <p:sp>
        <p:nvSpPr>
          <p:cNvPr id="13" name="U05-DG-014-recap_params">
            <a:extLst>
              <a:ext uri="{FF2B5EF4-FFF2-40B4-BE49-F238E27FC236}">
                <a16:creationId xmlns:a16="http://schemas.microsoft.com/office/drawing/2014/main" id="{7D1886FE-A519-4D52-A50C-C75151D0C30F}"/>
              </a:ext>
            </a:extLst>
          </p:cNvPr>
          <p:cNvSpPr>
            <a:spLocks noGrp="1"/>
          </p:cNvSpPr>
          <p:nvPr/>
        </p:nvSpPr>
        <p:spPr>
          <a:xfrm>
            <a:off x="2667000" y="3905250"/>
            <a:ext cx="3048000" cy="1238250"/>
          </a:xfrm>
          <a:prstGeom prst="roundRect">
            <a:avLst>
              <a:gd name="adj" fmla="val 10769"/>
            </a:avLst>
          </a:prstGeom>
          <a:solidFill>
            <a:srgbClr val="DDEFF5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14" name="U05-DG-014-recap_params-title">
            <a:extLst>
              <a:ext uri="{FF2B5EF4-FFF2-40B4-BE49-F238E27FC236}">
                <a16:creationId xmlns:a16="http://schemas.microsoft.com/office/drawing/2014/main" id="{F65ABAF7-331B-4900-8E30-B8B3E1B93BF7}"/>
              </a:ext>
            </a:extLst>
          </p:cNvPr>
          <p:cNvSpPr>
            <a:spLocks noGrp="1"/>
          </p:cNvSpPr>
          <p:nvPr/>
        </p:nvSpPr>
        <p:spPr>
          <a:xfrm>
            <a:off x="2838450" y="4029075"/>
            <a:ext cx="27051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Parámetros</a:t>
            </a:r>
          </a:p>
        </p:txBody>
      </p:sp>
      <p:sp>
        <p:nvSpPr>
          <p:cNvPr id="15" name="U05-DG-014-recap_params-body">
            <a:extLst>
              <a:ext uri="{FF2B5EF4-FFF2-40B4-BE49-F238E27FC236}">
                <a16:creationId xmlns:a16="http://schemas.microsoft.com/office/drawing/2014/main" id="{1453E9DA-B053-4185-A192-2752E85D7302}"/>
              </a:ext>
            </a:extLst>
          </p:cNvPr>
          <p:cNvSpPr>
            <a:spLocks noGrp="1"/>
          </p:cNvSpPr>
          <p:nvPr/>
        </p:nvSpPr>
        <p:spPr>
          <a:xfrm>
            <a:off x="2838450" y="4400550"/>
            <a:ext cx="27051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ventana · N · fₛ</a:t>
            </a:r>
          </a:p>
        </p:txBody>
      </p:sp>
      <p:sp>
        <p:nvSpPr>
          <p:cNvPr id="16" name="U05-DG-014-recap_limit">
            <a:extLst>
              <a:ext uri="{FF2B5EF4-FFF2-40B4-BE49-F238E27FC236}">
                <a16:creationId xmlns:a16="http://schemas.microsoft.com/office/drawing/2014/main" id="{24546D45-0A52-4332-885E-3C8380211646}"/>
              </a:ext>
            </a:extLst>
          </p:cNvPr>
          <p:cNvSpPr>
            <a:spLocks noGrp="1"/>
          </p:cNvSpPr>
          <p:nvPr/>
        </p:nvSpPr>
        <p:spPr>
          <a:xfrm>
            <a:off x="6477000" y="3905250"/>
            <a:ext cx="3048000" cy="1238250"/>
          </a:xfrm>
          <a:prstGeom prst="roundRect">
            <a:avLst>
              <a:gd name="adj" fmla="val 10769"/>
            </a:avLst>
          </a:prstGeom>
          <a:solidFill>
            <a:srgbClr val="E3F2ED"/>
          </a:solidFill>
          <a:ln w="19050">
            <a:solidFill>
              <a:srgbClr val="2D7867"/>
            </a:solidFill>
            <a:prstDash val="solid"/>
          </a:ln>
        </p:spPr>
      </p:sp>
      <p:sp>
        <p:nvSpPr>
          <p:cNvPr id="17" name="U05-DG-014-recap_limit-title">
            <a:extLst>
              <a:ext uri="{FF2B5EF4-FFF2-40B4-BE49-F238E27FC236}">
                <a16:creationId xmlns:a16="http://schemas.microsoft.com/office/drawing/2014/main" id="{B2E15AC7-BCF2-4049-A660-538D8466ABC2}"/>
              </a:ext>
            </a:extLst>
          </p:cNvPr>
          <p:cNvSpPr>
            <a:spLocks noGrp="1"/>
          </p:cNvSpPr>
          <p:nvPr/>
        </p:nvSpPr>
        <p:spPr>
          <a:xfrm>
            <a:off x="6648450" y="4029075"/>
            <a:ext cx="27051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Límite</a:t>
            </a:r>
          </a:p>
        </p:txBody>
      </p:sp>
      <p:sp>
        <p:nvSpPr>
          <p:cNvPr id="18" name="U05-DG-014-recap_limit-body">
            <a:extLst>
              <a:ext uri="{FF2B5EF4-FFF2-40B4-BE49-F238E27FC236}">
                <a16:creationId xmlns:a16="http://schemas.microsoft.com/office/drawing/2014/main" id="{57DDD883-ACF0-4F26-BA31-BBE385D593EB}"/>
              </a:ext>
            </a:extLst>
          </p:cNvPr>
          <p:cNvSpPr>
            <a:spLocks noGrp="1"/>
          </p:cNvSpPr>
          <p:nvPr/>
        </p:nvSpPr>
        <p:spPr>
          <a:xfrm>
            <a:off x="6648450" y="4400550"/>
            <a:ext cx="27051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alcance declarado</a:t>
            </a:r>
          </a:p>
        </p:txBody>
      </p:sp>
      <p:sp>
        <p:nvSpPr>
          <p:cNvPr id="19" name="diagram-scale-note">
            <a:extLst>
              <a:ext uri="{FF2B5EF4-FFF2-40B4-BE49-F238E27FC236}">
                <a16:creationId xmlns:a16="http://schemas.microsoft.com/office/drawing/2014/main" id="{73C29168-44F0-4707-992D-0BE4ABFA7A77}"/>
              </a:ext>
            </a:extLst>
          </p:cNvPr>
          <p:cNvSpPr>
            <a:spLocks noGrp="1"/>
          </p:cNvSpPr>
          <p:nvPr/>
        </p:nvSpPr>
        <p:spPr>
          <a:xfrm>
            <a:off x="552450" y="5829300"/>
            <a:ext cx="3905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05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Esquema conceptual · no está a escala</a:t>
            </a:r>
          </a:p>
        </p:txBody>
      </p:sp>
      <p:sp>
        <p:nvSpPr>
          <p:cNvPr id="20" name="caption">
            <a:extLst>
              <a:ext uri="{FF2B5EF4-FFF2-40B4-BE49-F238E27FC236}">
                <a16:creationId xmlns:a16="http://schemas.microsoft.com/office/drawing/2014/main" id="{0D7C9D51-1CF3-4DC0-9F14-5D038CE58A36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876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Una misma frecuencia puede aparecer en objetos distintos.</a:t>
            </a:r>
          </a:p>
        </p:txBody>
      </p:sp>
      <p:sp>
        <p:nvSpPr>
          <p:cNvPr id="21" name="credit">
            <a:extLst>
              <a:ext uri="{FF2B5EF4-FFF2-40B4-BE49-F238E27FC236}">
                <a16:creationId xmlns:a16="http://schemas.microsoft.com/office/drawing/2014/main" id="{75E806A7-E74C-4384-919C-C9A8DF9DA8AA}"/>
              </a:ext>
            </a:extLst>
          </p:cNvPr>
          <p:cNvSpPr>
            <a:spLocks noGrp="1"/>
          </p:cNvSpPr>
          <p:nvPr/>
        </p:nvSpPr>
        <p:spPr>
          <a:xfrm>
            <a:off x="9382125" y="60769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5.5; CDM.</a:t>
            </a:r>
          </a:p>
        </p:txBody>
      </p:sp>
      <p:sp>
        <p:nvSpPr>
          <p:cNvPr id="23" name="slide-alt-summary" descr="Cadena entrada–sistema–salida convertida en tres preguntas de clasificación.">
            <a:extLst>
              <a:ext uri="{FF2B5EF4-FFF2-40B4-BE49-F238E27FC236}">
                <a16:creationId xmlns:a16="http://schemas.microsoft.com/office/drawing/2014/main" id="{6872A45B-17D8-B5F0-0232-AD0CEE763B43}"/>
              </a:ext>
            </a:extLst>
          </p:cNvPr>
          <p:cNvSpPr/>
          <p:nvPr/>
        </p:nvSpPr>
        <p:spPr>
          <a:xfrm>
            <a:off x="12700" y="12700"/>
            <a:ext cx="12700" cy="12700"/>
          </a:xfrm>
          <a:prstGeom prst="rect">
            <a:avLst/>
          </a:prstGeom>
          <a:noFill/>
          <a:ln w="19050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2020363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yebrow">
            <a:extLst>
              <a:ext uri="{FF2B5EF4-FFF2-40B4-BE49-F238E27FC236}">
                <a16:creationId xmlns:a16="http://schemas.microsoft.com/office/drawing/2014/main" id="{53DD8F58-7F96-4D21-A884-BAE28A0FBA9F}"/>
              </a:ext>
            </a:extLst>
          </p:cNvPr>
          <p:cNvSpPr>
            <a:spLocks noGrp="1"/>
          </p:cNvSpPr>
          <p:nvPr/>
        </p:nvSpPr>
        <p:spPr>
          <a:xfrm>
            <a:off x="514350" y="2095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1" i="0">
                <a:solidFill>
                  <a:srgbClr val="B9D8E7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B9D8E7"/>
                </a:solidFill>
                <a:latin typeface="Calibri"/>
                <a:ea typeface="Calibri"/>
                <a:cs typeface="Calibri"/>
              </a:rPr>
              <a:t>UNIDAD 5 · 063</a:t>
            </a:r>
          </a:p>
        </p:txBody>
      </p:sp>
      <p:sp>
        <p:nvSpPr>
          <p:cNvPr id="2" name="divider-title">
            <a:extLst>
              <a:ext uri="{FF2B5EF4-FFF2-40B4-BE49-F238E27FC236}">
                <a16:creationId xmlns:a16="http://schemas.microsoft.com/office/drawing/2014/main" id="{F4DEF2D8-7B96-4B42-B5DB-AE707754FA1F}"/>
              </a:ext>
            </a:extLst>
          </p:cNvPr>
          <p:cNvSpPr>
            <a:spLocks noGrp="1"/>
          </p:cNvSpPr>
          <p:nvPr/>
        </p:nvSpPr>
        <p:spPr>
          <a:xfrm>
            <a:off x="714375" y="2190750"/>
            <a:ext cx="104775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lnSpc>
                <a:spcPct val="102000"/>
              </a:lnSpc>
              <a:buNone/>
              <a:defRPr sz="4050" b="1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4050" b="1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Nombrar componentes sin confundir periodicidad y amplitud</a:t>
            </a:r>
          </a:p>
        </p:txBody>
      </p:sp>
      <p:sp>
        <p:nvSpPr>
          <p:cNvPr id="3" name="divider-subtitle">
            <a:extLst>
              <a:ext uri="{FF2B5EF4-FFF2-40B4-BE49-F238E27FC236}">
                <a16:creationId xmlns:a16="http://schemas.microsoft.com/office/drawing/2014/main" id="{4C8A7E13-8CBF-42A4-9DAD-081DE5C41AF2}"/>
              </a:ext>
            </a:extLst>
          </p:cNvPr>
          <p:cNvSpPr>
            <a:spLocks noGrp="1"/>
          </p:cNvSpPr>
          <p:nvPr/>
        </p:nvSpPr>
        <p:spPr>
          <a:xfrm>
            <a:off x="1714500" y="3429000"/>
            <a:ext cx="8763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100" b="0" i="0">
                <a:solidFill>
                  <a:srgbClr val="D6E4EA"/>
                </a:solidFill>
                <a:latin typeface="Calibri"/>
                <a:ea typeface="Calibri"/>
                <a:cs typeface="Calibri"/>
              </a:defRPr>
            </a:pPr>
            <a:r>
              <a:rPr sz="2100" b="0" i="0">
                <a:solidFill>
                  <a:srgbClr val="D6E4EA"/>
                </a:solidFill>
                <a:latin typeface="Calibri"/>
                <a:ea typeface="Calibri"/>
                <a:cs typeface="Calibri"/>
              </a:rPr>
              <a:t>El pico más alto puede no ser la fundamental.</a:t>
            </a:r>
          </a:p>
        </p:txBody>
      </p:sp>
      <p:sp>
        <p:nvSpPr>
          <p:cNvPr id="4" name="divider-content">
            <a:extLst>
              <a:ext uri="{FF2B5EF4-FFF2-40B4-BE49-F238E27FC236}">
                <a16:creationId xmlns:a16="http://schemas.microsoft.com/office/drawing/2014/main" id="{8CBB1DE5-EE47-4FD4-BEF5-EF04AFC51571}"/>
              </a:ext>
            </a:extLst>
          </p:cNvPr>
          <p:cNvSpPr>
            <a:spLocks noGrp="1"/>
          </p:cNvSpPr>
          <p:nvPr/>
        </p:nvSpPr>
        <p:spPr>
          <a:xfrm>
            <a:off x="2190750" y="4333875"/>
            <a:ext cx="781050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ctr">
              <a:lnSpc>
                <a:spcPct val="102000"/>
              </a:lnSpc>
              <a:buNone/>
              <a:defRPr sz="1875" b="0" i="0">
                <a:solidFill>
                  <a:srgbClr val="BDD0DA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BDD0DA"/>
                </a:solidFill>
                <a:latin typeface="Calibri"/>
                <a:ea typeface="Calibri"/>
                <a:cs typeface="Calibri"/>
              </a:rPr>
              <a:t>Fundamental · Armónico · Parcial · Sobretono · Formante.</a:t>
            </a:r>
          </a:p>
        </p:txBody>
      </p:sp>
      <p:sp>
        <p:nvSpPr>
          <p:cNvPr id="6" name="slide-alt-summary" descr="Espectro de líneas donde la componente más alta no coincide con la frecuencia fundamental.">
            <a:extLst>
              <a:ext uri="{FF2B5EF4-FFF2-40B4-BE49-F238E27FC236}">
                <a16:creationId xmlns:a16="http://schemas.microsoft.com/office/drawing/2014/main" id="{86E08012-7182-4E3B-A56C-8D34B2D25377}"/>
              </a:ext>
            </a:extLst>
          </p:cNvPr>
          <p:cNvSpPr/>
          <p:nvPr/>
        </p:nvSpPr>
        <p:spPr>
          <a:xfrm>
            <a:off x="12700" y="12700"/>
            <a:ext cx="12700" cy="12700"/>
          </a:xfrm>
          <a:prstGeom prst="rect">
            <a:avLst/>
          </a:prstGeom>
          <a:noFill/>
          <a:ln w="19050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eyebrow">
            <a:extLst>
              <a:ext uri="{FF2B5EF4-FFF2-40B4-BE49-F238E27FC236}">
                <a16:creationId xmlns:a16="http://schemas.microsoft.com/office/drawing/2014/main" id="{F120F528-1498-4209-BFB2-F55C9548BF0E}"/>
              </a:ext>
            </a:extLst>
          </p:cNvPr>
          <p:cNvSpPr>
            <a:spLocks noGrp="1"/>
          </p:cNvSpPr>
          <p:nvPr/>
        </p:nvSpPr>
        <p:spPr>
          <a:xfrm>
            <a:off x="514350" y="2095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064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3A7A1D83-2FBA-46F7-A72D-9E0FF92A5497}"/>
              </a:ext>
            </a:extLst>
          </p:cNvPr>
          <p:cNvSpPr>
            <a:spLocks noGrp="1"/>
          </p:cNvSpPr>
          <p:nvPr/>
        </p:nvSpPr>
        <p:spPr>
          <a:xfrm>
            <a:off x="495300" y="428625"/>
            <a:ext cx="11191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La fundamental se obtiene de la periodicidad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89CA5C03-C652-4F1F-BEB5-BA502685B0CF}"/>
              </a:ext>
            </a:extLst>
          </p:cNvPr>
          <p:cNvSpPr>
            <a:spLocks noGrp="1"/>
          </p:cNvSpPr>
          <p:nvPr/>
        </p:nvSpPr>
        <p:spPr>
          <a:xfrm>
            <a:off x="523875" y="971550"/>
            <a:ext cx="11001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Su línea puede ser pequeña o estar ausente.</a:t>
            </a:r>
          </a:p>
        </p:txBody>
      </p:sp>
      <p:sp>
        <p:nvSpPr>
          <p:cNvPr id="4" name="U05-DG-007-fundamental">
            <a:extLst>
              <a:ext uri="{FF2B5EF4-FFF2-40B4-BE49-F238E27FC236}">
                <a16:creationId xmlns:a16="http://schemas.microsoft.com/office/drawing/2014/main" id="{80590CCF-DAE1-4C45-9561-1FB4A7C7DB38}"/>
              </a:ext>
            </a:extLst>
          </p:cNvPr>
          <p:cNvSpPr>
            <a:spLocks noGrp="1"/>
          </p:cNvSpPr>
          <p:nvPr/>
        </p:nvSpPr>
        <p:spPr>
          <a:xfrm>
            <a:off x="762000" y="1381125"/>
            <a:ext cx="2381250" cy="1095375"/>
          </a:xfrm>
          <a:prstGeom prst="roundRect">
            <a:avLst>
              <a:gd name="adj" fmla="val 12174"/>
            </a:avLst>
          </a:prstGeom>
          <a:solidFill>
            <a:srgbClr val="EFF8FA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5" name="U05-DG-007-fundamental-title">
            <a:extLst>
              <a:ext uri="{FF2B5EF4-FFF2-40B4-BE49-F238E27FC236}">
                <a16:creationId xmlns:a16="http://schemas.microsoft.com/office/drawing/2014/main" id="{E90B7A42-B0A4-4F41-9789-FCCBD4FB758A}"/>
              </a:ext>
            </a:extLst>
          </p:cNvPr>
          <p:cNvSpPr>
            <a:spLocks noGrp="1"/>
          </p:cNvSpPr>
          <p:nvPr/>
        </p:nvSpPr>
        <p:spPr>
          <a:xfrm>
            <a:off x="933450" y="1504950"/>
            <a:ext cx="2038350" cy="3286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Fundamental</a:t>
            </a:r>
          </a:p>
        </p:txBody>
      </p:sp>
      <p:sp>
        <p:nvSpPr>
          <p:cNvPr id="6" name="U05-DG-007-fundamental-body">
            <a:extLst>
              <a:ext uri="{FF2B5EF4-FFF2-40B4-BE49-F238E27FC236}">
                <a16:creationId xmlns:a16="http://schemas.microsoft.com/office/drawing/2014/main" id="{1A41F759-AB52-4FA9-A4AE-D33C9835BDF8}"/>
              </a:ext>
            </a:extLst>
          </p:cNvPr>
          <p:cNvSpPr>
            <a:spLocks noGrp="1"/>
          </p:cNvSpPr>
          <p:nvPr/>
        </p:nvSpPr>
        <p:spPr>
          <a:xfrm>
            <a:off x="933450" y="1833563"/>
            <a:ext cx="2038350" cy="5191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f₀ = 1/T₀</a:t>
            </a:r>
          </a:p>
        </p:txBody>
      </p:sp>
      <p:sp>
        <p:nvSpPr>
          <p:cNvPr id="7" name="U05-DG-007-harmonic">
            <a:extLst>
              <a:ext uri="{FF2B5EF4-FFF2-40B4-BE49-F238E27FC236}">
                <a16:creationId xmlns:a16="http://schemas.microsoft.com/office/drawing/2014/main" id="{A7385223-6785-4691-82D0-FD8903F85E18}"/>
              </a:ext>
            </a:extLst>
          </p:cNvPr>
          <p:cNvSpPr>
            <a:spLocks noGrp="1"/>
          </p:cNvSpPr>
          <p:nvPr/>
        </p:nvSpPr>
        <p:spPr>
          <a:xfrm>
            <a:off x="3476625" y="1381125"/>
            <a:ext cx="2381250" cy="1095375"/>
          </a:xfrm>
          <a:prstGeom prst="roundRect">
            <a:avLst>
              <a:gd name="adj" fmla="val 12174"/>
            </a:avLst>
          </a:prstGeom>
          <a:solidFill>
            <a:srgbClr val="DDEFF5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8" name="U05-DG-007-harmonic-title">
            <a:extLst>
              <a:ext uri="{FF2B5EF4-FFF2-40B4-BE49-F238E27FC236}">
                <a16:creationId xmlns:a16="http://schemas.microsoft.com/office/drawing/2014/main" id="{040A16A8-37E9-469E-9D6B-B7C9D93AAFBC}"/>
              </a:ext>
            </a:extLst>
          </p:cNvPr>
          <p:cNvSpPr>
            <a:spLocks noGrp="1"/>
          </p:cNvSpPr>
          <p:nvPr/>
        </p:nvSpPr>
        <p:spPr>
          <a:xfrm>
            <a:off x="3648075" y="1504950"/>
            <a:ext cx="2038350" cy="3286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Armónico</a:t>
            </a:r>
          </a:p>
        </p:txBody>
      </p:sp>
      <p:sp>
        <p:nvSpPr>
          <p:cNvPr id="9" name="U05-DG-007-harmonic-body">
            <a:extLst>
              <a:ext uri="{FF2B5EF4-FFF2-40B4-BE49-F238E27FC236}">
                <a16:creationId xmlns:a16="http://schemas.microsoft.com/office/drawing/2014/main" id="{07D9879D-56C6-454B-8B94-715E603A2A63}"/>
              </a:ext>
            </a:extLst>
          </p:cNvPr>
          <p:cNvSpPr>
            <a:spLocks noGrp="1"/>
          </p:cNvSpPr>
          <p:nvPr/>
        </p:nvSpPr>
        <p:spPr>
          <a:xfrm>
            <a:off x="3648075" y="1833563"/>
            <a:ext cx="2038350" cy="5191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fₙ = n f₀</a:t>
            </a:r>
          </a:p>
        </p:txBody>
      </p:sp>
      <p:sp>
        <p:nvSpPr>
          <p:cNvPr id="10" name="U05-DG-007-partial">
            <a:extLst>
              <a:ext uri="{FF2B5EF4-FFF2-40B4-BE49-F238E27FC236}">
                <a16:creationId xmlns:a16="http://schemas.microsoft.com/office/drawing/2014/main" id="{DBE01F86-FE54-418D-80E2-93A92EDC74BE}"/>
              </a:ext>
            </a:extLst>
          </p:cNvPr>
          <p:cNvSpPr>
            <a:spLocks noGrp="1"/>
          </p:cNvSpPr>
          <p:nvPr/>
        </p:nvSpPr>
        <p:spPr>
          <a:xfrm>
            <a:off x="6191250" y="1381125"/>
            <a:ext cx="2381250" cy="1095375"/>
          </a:xfrm>
          <a:prstGeom prst="roundRect">
            <a:avLst>
              <a:gd name="adj" fmla="val 12174"/>
            </a:avLst>
          </a:prstGeom>
          <a:solidFill>
            <a:srgbClr val="F3F6F8"/>
          </a:solidFill>
          <a:ln w="19050">
            <a:solidFill>
              <a:srgbClr val="8291A3"/>
            </a:solidFill>
            <a:prstDash val="solid"/>
          </a:ln>
        </p:spPr>
      </p:sp>
      <p:sp>
        <p:nvSpPr>
          <p:cNvPr id="11" name="U05-DG-007-partial-title">
            <a:extLst>
              <a:ext uri="{FF2B5EF4-FFF2-40B4-BE49-F238E27FC236}">
                <a16:creationId xmlns:a16="http://schemas.microsoft.com/office/drawing/2014/main" id="{A3460EC9-572B-4094-8E27-BC797F1A4348}"/>
              </a:ext>
            </a:extLst>
          </p:cNvPr>
          <p:cNvSpPr>
            <a:spLocks noGrp="1"/>
          </p:cNvSpPr>
          <p:nvPr/>
        </p:nvSpPr>
        <p:spPr>
          <a:xfrm>
            <a:off x="6362700" y="1504950"/>
            <a:ext cx="2038350" cy="3286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Parcial</a:t>
            </a:r>
          </a:p>
        </p:txBody>
      </p:sp>
      <p:sp>
        <p:nvSpPr>
          <p:cNvPr id="12" name="U05-DG-007-partial-body">
            <a:extLst>
              <a:ext uri="{FF2B5EF4-FFF2-40B4-BE49-F238E27FC236}">
                <a16:creationId xmlns:a16="http://schemas.microsoft.com/office/drawing/2014/main" id="{B8E8E0E8-569F-446B-8BC7-10BD9FF51978}"/>
              </a:ext>
            </a:extLst>
          </p:cNvPr>
          <p:cNvSpPr>
            <a:spLocks noGrp="1"/>
          </p:cNvSpPr>
          <p:nvPr/>
        </p:nvSpPr>
        <p:spPr>
          <a:xfrm>
            <a:off x="6362700" y="1833563"/>
            <a:ext cx="2038350" cy="5191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armónico o no</a:t>
            </a:r>
          </a:p>
        </p:txBody>
      </p:sp>
      <p:sp>
        <p:nvSpPr>
          <p:cNvPr id="13" name="U05-DG-007-overtone">
            <a:extLst>
              <a:ext uri="{FF2B5EF4-FFF2-40B4-BE49-F238E27FC236}">
                <a16:creationId xmlns:a16="http://schemas.microsoft.com/office/drawing/2014/main" id="{4884890A-563C-47FB-BCCE-89D294BF2CE0}"/>
              </a:ext>
            </a:extLst>
          </p:cNvPr>
          <p:cNvSpPr>
            <a:spLocks noGrp="1"/>
          </p:cNvSpPr>
          <p:nvPr/>
        </p:nvSpPr>
        <p:spPr>
          <a:xfrm>
            <a:off x="8905875" y="1381125"/>
            <a:ext cx="2381250" cy="1095375"/>
          </a:xfrm>
          <a:prstGeom prst="roundRect">
            <a:avLst>
              <a:gd name="adj" fmla="val 12174"/>
            </a:avLst>
          </a:prstGeom>
          <a:solidFill>
            <a:srgbClr val="E3F2ED"/>
          </a:solidFill>
          <a:ln w="19050">
            <a:solidFill>
              <a:srgbClr val="2D7867"/>
            </a:solidFill>
            <a:prstDash val="solid"/>
          </a:ln>
        </p:spPr>
      </p:sp>
      <p:sp>
        <p:nvSpPr>
          <p:cNvPr id="14" name="U05-DG-007-overtone-title">
            <a:extLst>
              <a:ext uri="{FF2B5EF4-FFF2-40B4-BE49-F238E27FC236}">
                <a16:creationId xmlns:a16="http://schemas.microsoft.com/office/drawing/2014/main" id="{CC1B33B3-2CCB-415C-A5F2-2D2C36B5DFD1}"/>
              </a:ext>
            </a:extLst>
          </p:cNvPr>
          <p:cNvSpPr>
            <a:spLocks noGrp="1"/>
          </p:cNvSpPr>
          <p:nvPr/>
        </p:nvSpPr>
        <p:spPr>
          <a:xfrm>
            <a:off x="9077325" y="1504950"/>
            <a:ext cx="2038350" cy="3286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Sobretono</a:t>
            </a:r>
          </a:p>
        </p:txBody>
      </p:sp>
      <p:sp>
        <p:nvSpPr>
          <p:cNvPr id="15" name="U05-DG-007-overtone-body">
            <a:extLst>
              <a:ext uri="{FF2B5EF4-FFF2-40B4-BE49-F238E27FC236}">
                <a16:creationId xmlns:a16="http://schemas.microsoft.com/office/drawing/2014/main" id="{7034F938-133D-4059-9934-501083A1037D}"/>
              </a:ext>
            </a:extLst>
          </p:cNvPr>
          <p:cNvSpPr>
            <a:spLocks noGrp="1"/>
          </p:cNvSpPr>
          <p:nvPr/>
        </p:nvSpPr>
        <p:spPr>
          <a:xfrm>
            <a:off x="9077325" y="1833563"/>
            <a:ext cx="2038350" cy="5191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parcial sobre f₀</a:t>
            </a:r>
          </a:p>
        </p:txBody>
      </p:sp>
      <p:sp>
        <p:nvSpPr>
          <p:cNvPr id="16" name="U05-DG-007-voice_source">
            <a:extLst>
              <a:ext uri="{FF2B5EF4-FFF2-40B4-BE49-F238E27FC236}">
                <a16:creationId xmlns:a16="http://schemas.microsoft.com/office/drawing/2014/main" id="{BB1EC7D7-8141-4126-A679-E875E58EDA50}"/>
              </a:ext>
            </a:extLst>
          </p:cNvPr>
          <p:cNvSpPr>
            <a:spLocks noGrp="1"/>
          </p:cNvSpPr>
          <p:nvPr/>
        </p:nvSpPr>
        <p:spPr>
          <a:xfrm>
            <a:off x="1666875" y="4000500"/>
            <a:ext cx="2381250" cy="1143000"/>
          </a:xfrm>
          <a:prstGeom prst="roundRect">
            <a:avLst>
              <a:gd name="adj" fmla="val 11667"/>
            </a:avLst>
          </a:prstGeom>
          <a:solidFill>
            <a:srgbClr val="EFF8FA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17" name="U05-DG-007-voice_source-title">
            <a:extLst>
              <a:ext uri="{FF2B5EF4-FFF2-40B4-BE49-F238E27FC236}">
                <a16:creationId xmlns:a16="http://schemas.microsoft.com/office/drawing/2014/main" id="{A87B9D28-7D6F-4B01-BF7E-D93CA35E1C0C}"/>
              </a:ext>
            </a:extLst>
          </p:cNvPr>
          <p:cNvSpPr>
            <a:spLocks noGrp="1"/>
          </p:cNvSpPr>
          <p:nvPr/>
        </p:nvSpPr>
        <p:spPr>
          <a:xfrm>
            <a:off x="1838325" y="4124325"/>
            <a:ext cx="2038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Fuente</a:t>
            </a:r>
          </a:p>
        </p:txBody>
      </p:sp>
      <p:sp>
        <p:nvSpPr>
          <p:cNvPr id="18" name="U05-DG-007-voice_source-body">
            <a:extLst>
              <a:ext uri="{FF2B5EF4-FFF2-40B4-BE49-F238E27FC236}">
                <a16:creationId xmlns:a16="http://schemas.microsoft.com/office/drawing/2014/main" id="{3C71DE26-2671-4109-8DE3-529C3C661CD7}"/>
              </a:ext>
            </a:extLst>
          </p:cNvPr>
          <p:cNvSpPr>
            <a:spLocks noGrp="1"/>
          </p:cNvSpPr>
          <p:nvPr/>
        </p:nvSpPr>
        <p:spPr>
          <a:xfrm>
            <a:off x="1838325" y="4467225"/>
            <a:ext cx="20383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armónicos</a:t>
            </a:r>
          </a:p>
        </p:txBody>
      </p:sp>
      <p:sp>
        <p:nvSpPr>
          <p:cNvPr id="19" name="U05-DG-007-vocal_filter">
            <a:extLst>
              <a:ext uri="{FF2B5EF4-FFF2-40B4-BE49-F238E27FC236}">
                <a16:creationId xmlns:a16="http://schemas.microsoft.com/office/drawing/2014/main" id="{7B12CAF2-9843-4847-A9C8-94B47CE9FCDC}"/>
              </a:ext>
            </a:extLst>
          </p:cNvPr>
          <p:cNvSpPr>
            <a:spLocks noGrp="1"/>
          </p:cNvSpPr>
          <p:nvPr/>
        </p:nvSpPr>
        <p:spPr>
          <a:xfrm>
            <a:off x="4905375" y="4000500"/>
            <a:ext cx="2381250" cy="1143000"/>
          </a:xfrm>
          <a:prstGeom prst="roundRect">
            <a:avLst>
              <a:gd name="adj" fmla="val 11667"/>
            </a:avLst>
          </a:prstGeom>
          <a:solidFill>
            <a:srgbClr val="DDEFF5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20" name="U05-DG-007-vocal_filter-title">
            <a:extLst>
              <a:ext uri="{FF2B5EF4-FFF2-40B4-BE49-F238E27FC236}">
                <a16:creationId xmlns:a16="http://schemas.microsoft.com/office/drawing/2014/main" id="{0FF572DC-6E56-45A1-8E69-0712D93BDDD7}"/>
              </a:ext>
            </a:extLst>
          </p:cNvPr>
          <p:cNvSpPr>
            <a:spLocks noGrp="1"/>
          </p:cNvSpPr>
          <p:nvPr/>
        </p:nvSpPr>
        <p:spPr>
          <a:xfrm>
            <a:off x="5076825" y="4124325"/>
            <a:ext cx="2038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Tracto vocal</a:t>
            </a:r>
          </a:p>
        </p:txBody>
      </p:sp>
      <p:sp>
        <p:nvSpPr>
          <p:cNvPr id="21" name="U05-DG-007-vocal_filter-body">
            <a:extLst>
              <a:ext uri="{FF2B5EF4-FFF2-40B4-BE49-F238E27FC236}">
                <a16:creationId xmlns:a16="http://schemas.microsoft.com/office/drawing/2014/main" id="{34370CD4-9698-44E9-9DE0-AE67EDD1A41F}"/>
              </a:ext>
            </a:extLst>
          </p:cNvPr>
          <p:cNvSpPr>
            <a:spLocks noGrp="1"/>
          </p:cNvSpPr>
          <p:nvPr/>
        </p:nvSpPr>
        <p:spPr>
          <a:xfrm>
            <a:off x="5076825" y="4467225"/>
            <a:ext cx="20383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formantes</a:t>
            </a:r>
          </a:p>
        </p:txBody>
      </p:sp>
      <p:sp>
        <p:nvSpPr>
          <p:cNvPr id="22" name="U05-DG-007-voice_output">
            <a:extLst>
              <a:ext uri="{FF2B5EF4-FFF2-40B4-BE49-F238E27FC236}">
                <a16:creationId xmlns:a16="http://schemas.microsoft.com/office/drawing/2014/main" id="{4792E61B-C8C4-4CBA-BC2B-177DC78EDA50}"/>
              </a:ext>
            </a:extLst>
          </p:cNvPr>
          <p:cNvSpPr>
            <a:spLocks noGrp="1"/>
          </p:cNvSpPr>
          <p:nvPr/>
        </p:nvSpPr>
        <p:spPr>
          <a:xfrm>
            <a:off x="8143875" y="4000500"/>
            <a:ext cx="2381250" cy="1143000"/>
          </a:xfrm>
          <a:prstGeom prst="roundRect">
            <a:avLst>
              <a:gd name="adj" fmla="val 11667"/>
            </a:avLst>
          </a:prstGeom>
          <a:solidFill>
            <a:srgbClr val="E3F2ED"/>
          </a:solidFill>
          <a:ln w="19050">
            <a:solidFill>
              <a:srgbClr val="2D7867"/>
            </a:solidFill>
            <a:prstDash val="solid"/>
          </a:ln>
        </p:spPr>
      </p:sp>
      <p:sp>
        <p:nvSpPr>
          <p:cNvPr id="23" name="U05-DG-007-voice_output-title">
            <a:extLst>
              <a:ext uri="{FF2B5EF4-FFF2-40B4-BE49-F238E27FC236}">
                <a16:creationId xmlns:a16="http://schemas.microsoft.com/office/drawing/2014/main" id="{ED93D730-072B-4AEA-A049-748AFBAC4A39}"/>
              </a:ext>
            </a:extLst>
          </p:cNvPr>
          <p:cNvSpPr>
            <a:spLocks noGrp="1"/>
          </p:cNvSpPr>
          <p:nvPr/>
        </p:nvSpPr>
        <p:spPr>
          <a:xfrm>
            <a:off x="8315325" y="4124325"/>
            <a:ext cx="2038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Salida</a:t>
            </a:r>
          </a:p>
        </p:txBody>
      </p:sp>
      <p:sp>
        <p:nvSpPr>
          <p:cNvPr id="24" name="U05-DG-007-voice_output-body">
            <a:extLst>
              <a:ext uri="{FF2B5EF4-FFF2-40B4-BE49-F238E27FC236}">
                <a16:creationId xmlns:a16="http://schemas.microsoft.com/office/drawing/2014/main" id="{1BFF18DF-C006-41D2-B898-507B3569824D}"/>
              </a:ext>
            </a:extLst>
          </p:cNvPr>
          <p:cNvSpPr>
            <a:spLocks noGrp="1"/>
          </p:cNvSpPr>
          <p:nvPr/>
        </p:nvSpPr>
        <p:spPr>
          <a:xfrm>
            <a:off x="8315325" y="4467225"/>
            <a:ext cx="20383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señal filtrada</a:t>
            </a:r>
          </a:p>
        </p:txBody>
      </p:sp>
      <p:cxnSp>
        <p:nvCxnSpPr>
          <p:cNvPr id="57" name="U05-DG-007-tax_1"/>
          <p:cNvCxnSpPr>
            <a:stCxn id="4" idx="3"/>
            <a:endCxn id="7" idx="1"/>
          </p:cNvCxnSpPr>
          <p:nvPr/>
        </p:nvCxnSpPr>
        <p:spPr>
          <a:xfrm>
            <a:off x="3143250" y="1928813"/>
            <a:ext cx="333375" cy="0"/>
          </a:xfrm>
          <a:prstGeom prst="straightConnector1">
            <a:avLst/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cxnSp>
        <p:nvCxnSpPr>
          <p:cNvPr id="58" name="U05-DG-007-tax_2"/>
          <p:cNvCxnSpPr>
            <a:stCxn id="7" idx="3"/>
            <a:endCxn id="10" idx="1"/>
          </p:cNvCxnSpPr>
          <p:nvPr/>
        </p:nvCxnSpPr>
        <p:spPr>
          <a:xfrm>
            <a:off x="5857875" y="1928813"/>
            <a:ext cx="333375" cy="0"/>
          </a:xfrm>
          <a:prstGeom prst="straightConnector1">
            <a:avLst/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cxnSp>
        <p:nvCxnSpPr>
          <p:cNvPr id="59" name="U05-DG-007-tax_3"/>
          <p:cNvCxnSpPr>
            <a:stCxn id="10" idx="3"/>
            <a:endCxn id="13" idx="1"/>
          </p:cNvCxnSpPr>
          <p:nvPr/>
        </p:nvCxnSpPr>
        <p:spPr>
          <a:xfrm>
            <a:off x="8572500" y="1928813"/>
            <a:ext cx="333375" cy="0"/>
          </a:xfrm>
          <a:prstGeom prst="straightConnector1">
            <a:avLst/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cxnSp>
        <p:nvCxnSpPr>
          <p:cNvPr id="60" name="U05-DG-007-voice_1"/>
          <p:cNvCxnSpPr>
            <a:stCxn id="16" idx="3"/>
            <a:endCxn id="19" idx="1"/>
          </p:cNvCxnSpPr>
          <p:nvPr/>
        </p:nvCxnSpPr>
        <p:spPr>
          <a:xfrm>
            <a:off x="4048125" y="4572000"/>
            <a:ext cx="857250" cy="0"/>
          </a:xfrm>
          <a:prstGeom prst="straightConnector1">
            <a:avLst/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cxnSp>
        <p:nvCxnSpPr>
          <p:cNvPr id="61" name="U05-DG-007-voice_2"/>
          <p:cNvCxnSpPr>
            <a:stCxn id="19" idx="3"/>
            <a:endCxn id="22" idx="1"/>
          </p:cNvCxnSpPr>
          <p:nvPr/>
        </p:nvCxnSpPr>
        <p:spPr>
          <a:xfrm>
            <a:off x="7286625" y="4572000"/>
            <a:ext cx="857250" cy="0"/>
          </a:xfrm>
          <a:prstGeom prst="straightConnector1">
            <a:avLst/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sp>
        <p:nvSpPr>
          <p:cNvPr id="30" name="diagram-scale-note">
            <a:extLst>
              <a:ext uri="{FF2B5EF4-FFF2-40B4-BE49-F238E27FC236}">
                <a16:creationId xmlns:a16="http://schemas.microsoft.com/office/drawing/2014/main" id="{149ED7B6-B737-483D-8262-C8DC3FFD3FC2}"/>
              </a:ext>
            </a:extLst>
          </p:cNvPr>
          <p:cNvSpPr>
            <a:spLocks noGrp="1"/>
          </p:cNvSpPr>
          <p:nvPr/>
        </p:nvSpPr>
        <p:spPr>
          <a:xfrm>
            <a:off x="552450" y="5829300"/>
            <a:ext cx="3905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05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Esquema conceptual · no está a escala</a:t>
            </a:r>
          </a:p>
        </p:txBody>
      </p:sp>
      <p:sp>
        <p:nvSpPr>
          <p:cNvPr id="31" name="caption">
            <a:extLst>
              <a:ext uri="{FF2B5EF4-FFF2-40B4-BE49-F238E27FC236}">
                <a16:creationId xmlns:a16="http://schemas.microsoft.com/office/drawing/2014/main" id="{566B2CA9-5573-4A26-9B1F-DC026BABF883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876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La amplitud no forma parte de la definición de f_0.</a:t>
            </a:r>
          </a:p>
        </p:txBody>
      </p:sp>
      <p:sp>
        <p:nvSpPr>
          <p:cNvPr id="32" name="credit">
            <a:extLst>
              <a:ext uri="{FF2B5EF4-FFF2-40B4-BE49-F238E27FC236}">
                <a16:creationId xmlns:a16="http://schemas.microsoft.com/office/drawing/2014/main" id="{33F7B089-8666-462B-BA52-953EC24B95FE}"/>
              </a:ext>
            </a:extLst>
          </p:cNvPr>
          <p:cNvSpPr>
            <a:spLocks noGrp="1"/>
          </p:cNvSpPr>
          <p:nvPr/>
        </p:nvSpPr>
        <p:spPr>
          <a:xfrm>
            <a:off x="9382125" y="60769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5.6; GLO.</a:t>
            </a:r>
          </a:p>
        </p:txBody>
      </p:sp>
      <p:sp>
        <p:nvSpPr>
          <p:cNvPr id="25" name="slide-alt-summary" descr="Un período temporal se conecta con el espaciado entre líneas espectrales.">
            <a:extLst>
              <a:ext uri="{FF2B5EF4-FFF2-40B4-BE49-F238E27FC236}">
                <a16:creationId xmlns:a16="http://schemas.microsoft.com/office/drawing/2014/main" id="{F71B9A60-12E6-83C1-130B-DD77B310CFBC}"/>
              </a:ext>
            </a:extLst>
          </p:cNvPr>
          <p:cNvSpPr/>
          <p:nvPr/>
        </p:nvSpPr>
        <p:spPr>
          <a:xfrm>
            <a:off x="12700" y="12700"/>
            <a:ext cx="12700" cy="12700"/>
          </a:xfrm>
          <a:prstGeom prst="rect">
            <a:avLst/>
          </a:prstGeom>
          <a:noFill/>
          <a:ln w="19050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8663046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yebrow">
            <a:extLst>
              <a:ext uri="{FF2B5EF4-FFF2-40B4-BE49-F238E27FC236}">
                <a16:creationId xmlns:a16="http://schemas.microsoft.com/office/drawing/2014/main" id="{DB478C05-960E-4109-9442-2C71CA3BFB47}"/>
              </a:ext>
            </a:extLst>
          </p:cNvPr>
          <p:cNvSpPr>
            <a:spLocks noGrp="1"/>
          </p:cNvSpPr>
          <p:nvPr/>
        </p:nvSpPr>
        <p:spPr>
          <a:xfrm>
            <a:off x="514350" y="2095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065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8A862F6E-95F0-489B-8FEC-81740EAF5D73}"/>
              </a:ext>
            </a:extLst>
          </p:cNvPr>
          <p:cNvSpPr>
            <a:spLocks noGrp="1"/>
          </p:cNvSpPr>
          <p:nvPr/>
        </p:nvSpPr>
        <p:spPr>
          <a:xfrm>
            <a:off x="495300" y="428625"/>
            <a:ext cx="11191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Armónico, parcial y sobretono responden criterios distintos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40799F9B-705A-4873-A9B2-CC88DCA621B7}"/>
              </a:ext>
            </a:extLst>
          </p:cNvPr>
          <p:cNvSpPr>
            <a:spLocks noGrp="1"/>
          </p:cNvSpPr>
          <p:nvPr/>
        </p:nvSpPr>
        <p:spPr>
          <a:xfrm>
            <a:off x="523875" y="971550"/>
            <a:ext cx="11001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Una componente puede recibir más de una etiqueta válida.</a:t>
            </a:r>
          </a:p>
        </p:txBody>
      </p:sp>
      <p:sp>
        <p:nvSpPr>
          <p:cNvPr id="4" name="equation-box">
            <a:extLst>
              <a:ext uri="{FF2B5EF4-FFF2-40B4-BE49-F238E27FC236}">
                <a16:creationId xmlns:a16="http://schemas.microsoft.com/office/drawing/2014/main" id="{68B31218-C15F-4711-B642-CADAAFA13D7B}"/>
              </a:ext>
            </a:extLst>
          </p:cNvPr>
          <p:cNvSpPr>
            <a:spLocks noGrp="1"/>
          </p:cNvSpPr>
          <p:nvPr/>
        </p:nvSpPr>
        <p:spPr>
          <a:xfrm>
            <a:off x="1143000" y="1619250"/>
            <a:ext cx="9906000" cy="1047750"/>
          </a:xfrm>
          <a:prstGeom prst="roundRect">
            <a:avLst>
              <a:gd name="adj" fmla="val 12727"/>
            </a:avLst>
          </a:prstGeom>
          <a:solidFill>
            <a:srgbClr val="EFECF7"/>
          </a:solidFill>
          <a:ln w="19050">
            <a:solidFill>
              <a:srgbClr val="65539A"/>
            </a:solidFill>
            <a:prstDash val="solid"/>
          </a:ln>
        </p:spPr>
      </p:sp>
      <p:sp>
        <p:nvSpPr>
          <p:cNvPr id="5" name="equation">
            <a:extLst>
              <a:ext uri="{FF2B5EF4-FFF2-40B4-BE49-F238E27FC236}">
                <a16:creationId xmlns:a16="http://schemas.microsoft.com/office/drawing/2014/main" id="{79176D29-3532-4EB6-A251-E5D75480387A}"/>
              </a:ext>
            </a:extLst>
          </p:cNvPr>
          <p:cNvSpPr>
            <a:spLocks noGrp="1"/>
          </p:cNvSpPr>
          <p:nvPr/>
        </p:nvSpPr>
        <p:spPr>
          <a:xfrm>
            <a:off x="1371600" y="1771650"/>
            <a:ext cx="94488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2000"/>
              </a:lnSpc>
              <a:buNone/>
              <a:defRPr sz="3000" b="1" i="0">
                <a:solidFill>
                  <a:srgbClr val="172333"/>
                </a:solidFill>
                <a:latin typeface="Cambria Math"/>
                <a:ea typeface="Cambria Math"/>
                <a:cs typeface="Cambria Math"/>
              </a:defRPr>
            </a:pPr>
            <a:r>
              <a:rPr sz="3000" b="1" i="0">
                <a:solidFill>
                  <a:srgbClr val="172333"/>
                </a:solidFill>
                <a:latin typeface="Cambria Math"/>
                <a:ea typeface="Cambria Math"/>
                <a:cs typeface="Cambria Math"/>
              </a:rPr>
              <a:t>f_n=nf_0, n=1,2,3….</a:t>
            </a:r>
          </a:p>
        </p:txBody>
      </p:sp>
      <p:sp>
        <p:nvSpPr>
          <p:cNvPr id="6" name="equation-meaning-box">
            <a:extLst>
              <a:ext uri="{FF2B5EF4-FFF2-40B4-BE49-F238E27FC236}">
                <a16:creationId xmlns:a16="http://schemas.microsoft.com/office/drawing/2014/main" id="{3082C751-73D8-44D6-9A81-04EF0EFB6B5F}"/>
              </a:ext>
            </a:extLst>
          </p:cNvPr>
          <p:cNvSpPr>
            <a:spLocks noGrp="1"/>
          </p:cNvSpPr>
          <p:nvPr/>
        </p:nvSpPr>
        <p:spPr>
          <a:xfrm>
            <a:off x="857250" y="3000375"/>
            <a:ext cx="4953000" cy="2381250"/>
          </a:xfrm>
          <a:prstGeom prst="roundRect">
            <a:avLst>
              <a:gd name="adj" fmla="val 5600"/>
            </a:avLst>
          </a:prstGeom>
          <a:solidFill>
            <a:srgbClr val="DDEFF5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7" name="equation-meaning-title">
            <a:extLst>
              <a:ext uri="{FF2B5EF4-FFF2-40B4-BE49-F238E27FC236}">
                <a16:creationId xmlns:a16="http://schemas.microsoft.com/office/drawing/2014/main" id="{60765F31-2006-4EA3-AF74-C7D983CFD2D0}"/>
              </a:ext>
            </a:extLst>
          </p:cNvPr>
          <p:cNvSpPr>
            <a:spLocks noGrp="1"/>
          </p:cNvSpPr>
          <p:nvPr/>
        </p:nvSpPr>
        <p:spPr>
          <a:xfrm>
            <a:off x="1028700" y="3133725"/>
            <a:ext cx="4610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Qué significa</a:t>
            </a:r>
          </a:p>
        </p:txBody>
      </p:sp>
      <p:sp>
        <p:nvSpPr>
          <p:cNvPr id="8" name="equation-meaning-body">
            <a:extLst>
              <a:ext uri="{FF2B5EF4-FFF2-40B4-BE49-F238E27FC236}">
                <a16:creationId xmlns:a16="http://schemas.microsoft.com/office/drawing/2014/main" id="{924CAFDC-E562-4981-A65B-05BD3E65BE55}"/>
              </a:ext>
            </a:extLst>
          </p:cNvPr>
          <p:cNvSpPr>
            <a:spLocks noGrp="1"/>
          </p:cNvSpPr>
          <p:nvPr/>
        </p:nvSpPr>
        <p:spPr>
          <a:xfrm>
            <a:off x="1028700" y="3514725"/>
            <a:ext cx="4610100" cy="1733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200 Hz con f_0=100 Hz: segundo armónico, parcial y primer sobretono.</a:t>
            </a:r>
          </a:p>
        </p:txBody>
      </p:sp>
      <p:sp>
        <p:nvSpPr>
          <p:cNvPr id="9" name="equation-use-box">
            <a:extLst>
              <a:ext uri="{FF2B5EF4-FFF2-40B4-BE49-F238E27FC236}">
                <a16:creationId xmlns:a16="http://schemas.microsoft.com/office/drawing/2014/main" id="{1C441AFB-0CC5-4A73-9981-B2F7ADC511DB}"/>
              </a:ext>
            </a:extLst>
          </p:cNvPr>
          <p:cNvSpPr>
            <a:spLocks noGrp="1"/>
          </p:cNvSpPr>
          <p:nvPr/>
        </p:nvSpPr>
        <p:spPr>
          <a:xfrm>
            <a:off x="6381750" y="3000375"/>
            <a:ext cx="4953000" cy="2381250"/>
          </a:xfrm>
          <a:prstGeom prst="roundRect">
            <a:avLst>
              <a:gd name="adj" fmla="val 5600"/>
            </a:avLst>
          </a:prstGeom>
          <a:solidFill>
            <a:srgbClr val="E3F2ED"/>
          </a:solidFill>
          <a:ln w="19050">
            <a:solidFill>
              <a:srgbClr val="2D7867"/>
            </a:solidFill>
            <a:prstDash val="solid"/>
          </a:ln>
        </p:spPr>
      </p:sp>
      <p:sp>
        <p:nvSpPr>
          <p:cNvPr id="10" name="equation-use-title">
            <a:extLst>
              <a:ext uri="{FF2B5EF4-FFF2-40B4-BE49-F238E27FC236}">
                <a16:creationId xmlns:a16="http://schemas.microsoft.com/office/drawing/2014/main" id="{FB945D79-9EFE-4797-AD6F-860F71225995}"/>
              </a:ext>
            </a:extLst>
          </p:cNvPr>
          <p:cNvSpPr>
            <a:spLocks noGrp="1"/>
          </p:cNvSpPr>
          <p:nvPr/>
        </p:nvSpPr>
        <p:spPr>
          <a:xfrm>
            <a:off x="6553200" y="3133725"/>
            <a:ext cx="4610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Cómo se usa</a:t>
            </a:r>
          </a:p>
        </p:txBody>
      </p:sp>
      <p:sp>
        <p:nvSpPr>
          <p:cNvPr id="11" name="equation-use-body">
            <a:extLst>
              <a:ext uri="{FF2B5EF4-FFF2-40B4-BE49-F238E27FC236}">
                <a16:creationId xmlns:a16="http://schemas.microsoft.com/office/drawing/2014/main" id="{473977F2-803B-43FC-8481-39D489DC2039}"/>
              </a:ext>
            </a:extLst>
          </p:cNvPr>
          <p:cNvSpPr>
            <a:spLocks noGrp="1"/>
          </p:cNvSpPr>
          <p:nvPr/>
        </p:nvSpPr>
        <p:spPr>
          <a:xfrm>
            <a:off x="6553200" y="3514725"/>
            <a:ext cx="4610100" cy="1733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Parcial: componente sinusoidal del espectro. Sobretono: parcial por encima de la fundamental el primero suele coincidir con el segundo armónico en una serie armónica.</a:t>
            </a:r>
          </a:p>
        </p:txBody>
      </p:sp>
      <p:sp>
        <p:nvSpPr>
          <p:cNvPr id="12" name="caption">
            <a:extLst>
              <a:ext uri="{FF2B5EF4-FFF2-40B4-BE49-F238E27FC236}">
                <a16:creationId xmlns:a16="http://schemas.microsoft.com/office/drawing/2014/main" id="{B5AC2E03-0984-49B3-AB67-68B938EE9196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876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Todo armónico es parcial; no todo parcial es armónico.</a:t>
            </a:r>
          </a:p>
        </p:txBody>
      </p:sp>
      <p:sp>
        <p:nvSpPr>
          <p:cNvPr id="13" name="credit">
            <a:extLst>
              <a:ext uri="{FF2B5EF4-FFF2-40B4-BE49-F238E27FC236}">
                <a16:creationId xmlns:a16="http://schemas.microsoft.com/office/drawing/2014/main" id="{0187D3A5-F513-41B4-BB70-88027A6C590E}"/>
              </a:ext>
            </a:extLst>
          </p:cNvPr>
          <p:cNvSpPr>
            <a:spLocks noGrp="1"/>
          </p:cNvSpPr>
          <p:nvPr/>
        </p:nvSpPr>
        <p:spPr>
          <a:xfrm>
            <a:off x="9382125" y="60769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5.6; GLO.</a:t>
            </a:r>
          </a:p>
        </p:txBody>
      </p:sp>
      <p:sp>
        <p:nvSpPr>
          <p:cNvPr id="15" name="slide-alt-summary" descr="Tabla compara término, criterio, ejemplo y advertencia.">
            <a:extLst>
              <a:ext uri="{FF2B5EF4-FFF2-40B4-BE49-F238E27FC236}">
                <a16:creationId xmlns:a16="http://schemas.microsoft.com/office/drawing/2014/main" id="{07DD6F48-CE22-04F8-9A83-DE49D4DC69AA}"/>
              </a:ext>
            </a:extLst>
          </p:cNvPr>
          <p:cNvSpPr/>
          <p:nvPr/>
        </p:nvSpPr>
        <p:spPr>
          <a:xfrm>
            <a:off x="12700" y="12700"/>
            <a:ext cx="12700" cy="12700"/>
          </a:xfrm>
          <a:prstGeom prst="rect">
            <a:avLst/>
          </a:prstGeom>
          <a:noFill/>
          <a:ln w="19050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61911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yebrow">
            <a:extLst>
              <a:ext uri="{FF2B5EF4-FFF2-40B4-BE49-F238E27FC236}">
                <a16:creationId xmlns:a16="http://schemas.microsoft.com/office/drawing/2014/main" id="{91DACB91-B1E4-4AD8-9813-6834A132DD0D}"/>
              </a:ext>
            </a:extLst>
          </p:cNvPr>
          <p:cNvSpPr>
            <a:spLocks noGrp="1"/>
          </p:cNvSpPr>
          <p:nvPr/>
        </p:nvSpPr>
        <p:spPr>
          <a:xfrm>
            <a:off x="514350" y="2095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066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7B468582-E0EE-49A6-9ED8-AC2E95761B19}"/>
              </a:ext>
            </a:extLst>
          </p:cNvPr>
          <p:cNvSpPr>
            <a:spLocks noGrp="1"/>
          </p:cNvSpPr>
          <p:nvPr/>
        </p:nvSpPr>
        <p:spPr>
          <a:xfrm>
            <a:off x="495300" y="428625"/>
            <a:ext cx="11191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El segundo armónico puede ser el componente mayor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09DDB0A6-FFC0-4578-A4F2-8E6A20D23955}"/>
              </a:ext>
            </a:extLst>
          </p:cNvPr>
          <p:cNvSpPr>
            <a:spLocks noGrp="1"/>
          </p:cNvSpPr>
          <p:nvPr/>
        </p:nvSpPr>
        <p:spPr>
          <a:xfrm>
            <a:off x="523875" y="971550"/>
            <a:ext cx="11001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Altura de línea y orden armónico son propiedades diferentes.</a:t>
            </a:r>
          </a:p>
        </p:txBody>
      </p:sp>
      <p:pic>
        <p:nvPicPr>
          <p:cNvPr id="13" name="Gráfico 1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457200" y="1381125"/>
            <a:ext cx="7524750" cy="4429125"/>
          </a:xfrm>
          <a:prstGeom prst="rect">
            <a:avLst/>
          </a:prstGeom>
        </p:spPr>
      </p:pic>
      <p:sp>
        <p:nvSpPr>
          <p:cNvPr id="5" name="chart-reading-box">
            <a:extLst>
              <a:ext uri="{FF2B5EF4-FFF2-40B4-BE49-F238E27FC236}">
                <a16:creationId xmlns:a16="http://schemas.microsoft.com/office/drawing/2014/main" id="{700EF37E-AE0E-4CF6-A817-7B269005ACC9}"/>
              </a:ext>
            </a:extLst>
          </p:cNvPr>
          <p:cNvSpPr>
            <a:spLocks noGrp="1"/>
          </p:cNvSpPr>
          <p:nvPr/>
        </p:nvSpPr>
        <p:spPr>
          <a:xfrm>
            <a:off x="8239125" y="1476375"/>
            <a:ext cx="3190875" cy="3857625"/>
          </a:xfrm>
          <a:prstGeom prst="roundRect">
            <a:avLst>
              <a:gd name="adj" fmla="val 4179"/>
            </a:avLst>
          </a:prstGeom>
          <a:solidFill>
            <a:srgbClr val="DDEFF5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6" name="chart-reading-title">
            <a:extLst>
              <a:ext uri="{FF2B5EF4-FFF2-40B4-BE49-F238E27FC236}">
                <a16:creationId xmlns:a16="http://schemas.microsoft.com/office/drawing/2014/main" id="{85CA3C99-6B2C-4311-83EF-D171273D6F05}"/>
              </a:ext>
            </a:extLst>
          </p:cNvPr>
          <p:cNvSpPr>
            <a:spLocks noGrp="1"/>
          </p:cNvSpPr>
          <p:nvPr/>
        </p:nvSpPr>
        <p:spPr>
          <a:xfrm>
            <a:off x="8410575" y="1609725"/>
            <a:ext cx="28479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Qué leer</a:t>
            </a:r>
          </a:p>
        </p:txBody>
      </p:sp>
      <p:sp>
        <p:nvSpPr>
          <p:cNvPr id="7" name="chart-reading-body">
            <a:extLst>
              <a:ext uri="{FF2B5EF4-FFF2-40B4-BE49-F238E27FC236}">
                <a16:creationId xmlns:a16="http://schemas.microsoft.com/office/drawing/2014/main" id="{5DA4C85C-38DE-4A38-B3FF-65FED545A69F}"/>
              </a:ext>
            </a:extLst>
          </p:cNvPr>
          <p:cNvSpPr>
            <a:spLocks noGrp="1"/>
          </p:cNvSpPr>
          <p:nvPr/>
        </p:nvSpPr>
        <p:spPr>
          <a:xfrm>
            <a:off x="8410575" y="1990725"/>
            <a:ext cx="2847975" cy="3209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f_0=100 Hz. Línea mayor: 200 Hz. Conclusión: 200 Hz es el segundo armónico, no la fundamental.</a:t>
            </a:r>
          </a:p>
        </p:txBody>
      </p:sp>
      <p:sp>
        <p:nvSpPr>
          <p:cNvPr id="8" name="caption">
            <a:extLst>
              <a:ext uri="{FF2B5EF4-FFF2-40B4-BE49-F238E27FC236}">
                <a16:creationId xmlns:a16="http://schemas.microsoft.com/office/drawing/2014/main" id="{9CFA70C6-3058-4EEA-9F0C-55D3DDBF7781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876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La periodicidad decide f_0; la amplitud decide cuál línea es mayor.</a:t>
            </a:r>
          </a:p>
        </p:txBody>
      </p:sp>
      <p:sp>
        <p:nvSpPr>
          <p:cNvPr id="9" name="credit">
            <a:extLst>
              <a:ext uri="{FF2B5EF4-FFF2-40B4-BE49-F238E27FC236}">
                <a16:creationId xmlns:a16="http://schemas.microsoft.com/office/drawing/2014/main" id="{FC99CF26-0CB3-4C11-B5A9-1742C2A4A374}"/>
              </a:ext>
            </a:extLst>
          </p:cNvPr>
          <p:cNvSpPr>
            <a:spLocks noGrp="1"/>
          </p:cNvSpPr>
          <p:nvPr/>
        </p:nvSpPr>
        <p:spPr>
          <a:xfrm>
            <a:off x="9382125" y="60769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fig. 5.5a.</a:t>
            </a:r>
          </a:p>
        </p:txBody>
      </p:sp>
      <p:sp>
        <p:nvSpPr>
          <p:cNvPr id="4" name="slide-alt-summary" descr="Espectro armónico con líneas cada 100 Hz y máximo en 200 Hz.">
            <a:extLst>
              <a:ext uri="{FF2B5EF4-FFF2-40B4-BE49-F238E27FC236}">
                <a16:creationId xmlns:a16="http://schemas.microsoft.com/office/drawing/2014/main" id="{1591F07A-2CE2-27DC-0D76-F740AC2983CE}"/>
              </a:ext>
            </a:extLst>
          </p:cNvPr>
          <p:cNvSpPr/>
          <p:nvPr/>
        </p:nvSpPr>
        <p:spPr>
          <a:xfrm>
            <a:off x="12700" y="12700"/>
            <a:ext cx="12700" cy="12700"/>
          </a:xfrm>
          <a:prstGeom prst="rect">
            <a:avLst/>
          </a:prstGeom>
          <a:noFill/>
          <a:ln w="19050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864900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yebrow">
            <a:extLst>
              <a:ext uri="{FF2B5EF4-FFF2-40B4-BE49-F238E27FC236}">
                <a16:creationId xmlns:a16="http://schemas.microsoft.com/office/drawing/2014/main" id="{CF6441DA-CF4B-4C34-ADF6-FD4D0077E8F9}"/>
              </a:ext>
            </a:extLst>
          </p:cNvPr>
          <p:cNvSpPr>
            <a:spLocks noGrp="1"/>
          </p:cNvSpPr>
          <p:nvPr/>
        </p:nvSpPr>
        <p:spPr>
          <a:xfrm>
            <a:off x="514350" y="2095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067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53115941-5520-4469-8384-93AE1549671F}"/>
              </a:ext>
            </a:extLst>
          </p:cNvPr>
          <p:cNvSpPr>
            <a:spLocks noGrp="1"/>
          </p:cNvSpPr>
          <p:nvPr/>
        </p:nvSpPr>
        <p:spPr>
          <a:xfrm>
            <a:off x="495300" y="428625"/>
            <a:ext cx="11191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La periodicidad puede persistir sin línea en f_0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36F658B4-9A1B-48E2-ABE9-B7D1807E878D}"/>
              </a:ext>
            </a:extLst>
          </p:cNvPr>
          <p:cNvSpPr>
            <a:spLocks noGrp="1"/>
          </p:cNvSpPr>
          <p:nvPr/>
        </p:nvSpPr>
        <p:spPr>
          <a:xfrm>
            <a:off x="523875" y="971550"/>
            <a:ext cx="11001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El espaciado conserva información de la repetición.</a:t>
            </a:r>
          </a:p>
        </p:txBody>
      </p:sp>
      <p:pic>
        <p:nvPicPr>
          <p:cNvPr id="13" name="Gráfico 1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457200" y="1381125"/>
            <a:ext cx="7524750" cy="4429125"/>
          </a:xfrm>
          <a:prstGeom prst="rect">
            <a:avLst/>
          </a:prstGeom>
        </p:spPr>
      </p:pic>
      <p:sp>
        <p:nvSpPr>
          <p:cNvPr id="5" name="chart-reading-box">
            <a:extLst>
              <a:ext uri="{FF2B5EF4-FFF2-40B4-BE49-F238E27FC236}">
                <a16:creationId xmlns:a16="http://schemas.microsoft.com/office/drawing/2014/main" id="{C9359A57-5376-4637-B5ED-C9D1A7B82ABB}"/>
              </a:ext>
            </a:extLst>
          </p:cNvPr>
          <p:cNvSpPr>
            <a:spLocks noGrp="1"/>
          </p:cNvSpPr>
          <p:nvPr/>
        </p:nvSpPr>
        <p:spPr>
          <a:xfrm>
            <a:off x="8239125" y="1476375"/>
            <a:ext cx="3190875" cy="3857625"/>
          </a:xfrm>
          <a:prstGeom prst="roundRect">
            <a:avLst>
              <a:gd name="adj" fmla="val 4179"/>
            </a:avLst>
          </a:prstGeom>
          <a:solidFill>
            <a:srgbClr val="DDEFF5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6" name="chart-reading-title">
            <a:extLst>
              <a:ext uri="{FF2B5EF4-FFF2-40B4-BE49-F238E27FC236}">
                <a16:creationId xmlns:a16="http://schemas.microsoft.com/office/drawing/2014/main" id="{7849E442-A0BB-4401-97A5-2CDA225F2AD5}"/>
              </a:ext>
            </a:extLst>
          </p:cNvPr>
          <p:cNvSpPr>
            <a:spLocks noGrp="1"/>
          </p:cNvSpPr>
          <p:nvPr/>
        </p:nvSpPr>
        <p:spPr>
          <a:xfrm>
            <a:off x="8410575" y="1609725"/>
            <a:ext cx="28479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Qué leer</a:t>
            </a:r>
          </a:p>
        </p:txBody>
      </p:sp>
      <p:sp>
        <p:nvSpPr>
          <p:cNvPr id="7" name="chart-reading-body">
            <a:extLst>
              <a:ext uri="{FF2B5EF4-FFF2-40B4-BE49-F238E27FC236}">
                <a16:creationId xmlns:a16="http://schemas.microsoft.com/office/drawing/2014/main" id="{03667D14-CC00-4115-91BD-661F57F4AD7D}"/>
              </a:ext>
            </a:extLst>
          </p:cNvPr>
          <p:cNvSpPr>
            <a:spLocks noGrp="1"/>
          </p:cNvSpPr>
          <p:nvPr/>
        </p:nvSpPr>
        <p:spPr>
          <a:xfrm>
            <a:off x="8410575" y="1990725"/>
            <a:ext cx="2847975" cy="3209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Líneas: 200, 300 y 400 Hz. Separación común: 100 Hz. f_0 inferida: 100 Hz, aunque no aparece como línea.</a:t>
            </a:r>
          </a:p>
        </p:txBody>
      </p:sp>
      <p:sp>
        <p:nvSpPr>
          <p:cNvPr id="8" name="caption">
            <a:extLst>
              <a:ext uri="{FF2B5EF4-FFF2-40B4-BE49-F238E27FC236}">
                <a16:creationId xmlns:a16="http://schemas.microsoft.com/office/drawing/2014/main" id="{6B17ED05-A105-498E-A857-6F171C818C2A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876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Una línea visible no es requisito para definir periodicidad.</a:t>
            </a:r>
          </a:p>
        </p:txBody>
      </p:sp>
      <p:sp>
        <p:nvSpPr>
          <p:cNvPr id="9" name="credit">
            <a:extLst>
              <a:ext uri="{FF2B5EF4-FFF2-40B4-BE49-F238E27FC236}">
                <a16:creationId xmlns:a16="http://schemas.microsoft.com/office/drawing/2014/main" id="{57810994-63D0-4F28-AF3A-8EE5A0341609}"/>
              </a:ext>
            </a:extLst>
          </p:cNvPr>
          <p:cNvSpPr>
            <a:spLocks noGrp="1"/>
          </p:cNvSpPr>
          <p:nvPr/>
        </p:nvSpPr>
        <p:spPr>
          <a:xfrm>
            <a:off x="9382125" y="60769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5.6; fig. 5.5c.</a:t>
            </a:r>
          </a:p>
        </p:txBody>
      </p:sp>
      <p:sp>
        <p:nvSpPr>
          <p:cNvPr id="4" name="slide-alt-summary" descr="Espectro con líneas en 200, 300 y 400 Hz y flechas de separación de 100 Hz.">
            <a:extLst>
              <a:ext uri="{FF2B5EF4-FFF2-40B4-BE49-F238E27FC236}">
                <a16:creationId xmlns:a16="http://schemas.microsoft.com/office/drawing/2014/main" id="{D3A11D51-0FA9-E8AE-01DF-98D7E5E59A82}"/>
              </a:ext>
            </a:extLst>
          </p:cNvPr>
          <p:cNvSpPr/>
          <p:nvPr/>
        </p:nvSpPr>
        <p:spPr>
          <a:xfrm>
            <a:off x="12700" y="12700"/>
            <a:ext cx="12700" cy="12700"/>
          </a:xfrm>
          <a:prstGeom prst="rect">
            <a:avLst/>
          </a:prstGeom>
          <a:noFill/>
          <a:ln w="19050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864900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yebrow">
            <a:extLst>
              <a:ext uri="{FF2B5EF4-FFF2-40B4-BE49-F238E27FC236}">
                <a16:creationId xmlns:a16="http://schemas.microsoft.com/office/drawing/2014/main" id="{0F46CB96-604F-411C-9BCA-90E2B9C9EB6C}"/>
              </a:ext>
            </a:extLst>
          </p:cNvPr>
          <p:cNvSpPr>
            <a:spLocks noGrp="1"/>
          </p:cNvSpPr>
          <p:nvPr/>
        </p:nvSpPr>
        <p:spPr>
          <a:xfrm>
            <a:off x="514350" y="2095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068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BEC1FE3F-D498-4114-8E4D-7A84858BB43A}"/>
              </a:ext>
            </a:extLst>
          </p:cNvPr>
          <p:cNvSpPr>
            <a:spLocks noGrp="1"/>
          </p:cNvSpPr>
          <p:nvPr/>
        </p:nvSpPr>
        <p:spPr>
          <a:xfrm>
            <a:off x="495300" y="428625"/>
            <a:ext cx="11191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No todo parcial cae en un múltiplo entero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885B1461-05D3-49EF-807F-B87C7EBC5510}"/>
              </a:ext>
            </a:extLst>
          </p:cNvPr>
          <p:cNvSpPr>
            <a:spLocks noGrp="1"/>
          </p:cNvSpPr>
          <p:nvPr/>
        </p:nvSpPr>
        <p:spPr>
          <a:xfrm>
            <a:off x="523875" y="971550"/>
            <a:ext cx="11001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Parcial es una categoría más amplia que armónico.</a:t>
            </a:r>
          </a:p>
        </p:txBody>
      </p:sp>
      <p:pic>
        <p:nvPicPr>
          <p:cNvPr id="13" name="Gráfico 1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457200" y="1381125"/>
            <a:ext cx="7524750" cy="4429125"/>
          </a:xfrm>
          <a:prstGeom prst="rect">
            <a:avLst/>
          </a:prstGeom>
        </p:spPr>
      </p:pic>
      <p:sp>
        <p:nvSpPr>
          <p:cNvPr id="5" name="chart-reading-box">
            <a:extLst>
              <a:ext uri="{FF2B5EF4-FFF2-40B4-BE49-F238E27FC236}">
                <a16:creationId xmlns:a16="http://schemas.microsoft.com/office/drawing/2014/main" id="{4A9F529E-0E58-4A3E-B7DF-200B5FEE8F51}"/>
              </a:ext>
            </a:extLst>
          </p:cNvPr>
          <p:cNvSpPr>
            <a:spLocks noGrp="1"/>
          </p:cNvSpPr>
          <p:nvPr/>
        </p:nvSpPr>
        <p:spPr>
          <a:xfrm>
            <a:off x="8239125" y="1476375"/>
            <a:ext cx="3190875" cy="3857625"/>
          </a:xfrm>
          <a:prstGeom prst="roundRect">
            <a:avLst>
              <a:gd name="adj" fmla="val 4179"/>
            </a:avLst>
          </a:prstGeom>
          <a:solidFill>
            <a:srgbClr val="DDEFF5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6" name="chart-reading-title">
            <a:extLst>
              <a:ext uri="{FF2B5EF4-FFF2-40B4-BE49-F238E27FC236}">
                <a16:creationId xmlns:a16="http://schemas.microsoft.com/office/drawing/2014/main" id="{1A4E1D39-27E3-4F4C-AEFF-8BA7A097346A}"/>
              </a:ext>
            </a:extLst>
          </p:cNvPr>
          <p:cNvSpPr>
            <a:spLocks noGrp="1"/>
          </p:cNvSpPr>
          <p:nvPr/>
        </p:nvSpPr>
        <p:spPr>
          <a:xfrm>
            <a:off x="8410575" y="1609725"/>
            <a:ext cx="28479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Qué leer</a:t>
            </a:r>
          </a:p>
        </p:txBody>
      </p:sp>
      <p:sp>
        <p:nvSpPr>
          <p:cNvPr id="7" name="chart-reading-body">
            <a:extLst>
              <a:ext uri="{FF2B5EF4-FFF2-40B4-BE49-F238E27FC236}">
                <a16:creationId xmlns:a16="http://schemas.microsoft.com/office/drawing/2014/main" id="{9FB40987-B196-417F-8736-34EE655B18A7}"/>
              </a:ext>
            </a:extLst>
          </p:cNvPr>
          <p:cNvSpPr>
            <a:spLocks noGrp="1"/>
          </p:cNvSpPr>
          <p:nvPr/>
        </p:nvSpPr>
        <p:spPr>
          <a:xfrm>
            <a:off x="8410575" y="1990725"/>
            <a:ext cx="2847975" cy="3209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Frecuencias: 100, 235, 370 y 520 Hz. Prueba: dividir cada frecuencia por 100 Hz. Las razones no enteras identifican parciales inarmónicos.</a:t>
            </a:r>
          </a:p>
        </p:txBody>
      </p:sp>
      <p:sp>
        <p:nvSpPr>
          <p:cNvPr id="8" name="caption">
            <a:extLst>
              <a:ext uri="{FF2B5EF4-FFF2-40B4-BE49-F238E27FC236}">
                <a16:creationId xmlns:a16="http://schemas.microsoft.com/office/drawing/2014/main" id="{7E9633E0-E49F-44BD-8EE0-4B3CC217B3A7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876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La presencia de parciales no garantiza una serie armónica.</a:t>
            </a:r>
          </a:p>
        </p:txBody>
      </p:sp>
      <p:sp>
        <p:nvSpPr>
          <p:cNvPr id="9" name="credit">
            <a:extLst>
              <a:ext uri="{FF2B5EF4-FFF2-40B4-BE49-F238E27FC236}">
                <a16:creationId xmlns:a16="http://schemas.microsoft.com/office/drawing/2014/main" id="{A7BB7179-099F-457B-943D-6E15DD29063F}"/>
              </a:ext>
            </a:extLst>
          </p:cNvPr>
          <p:cNvSpPr>
            <a:spLocks noGrp="1"/>
          </p:cNvSpPr>
          <p:nvPr/>
        </p:nvSpPr>
        <p:spPr>
          <a:xfrm>
            <a:off x="9382125" y="60769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fig. 5.5b.</a:t>
            </a:r>
          </a:p>
        </p:txBody>
      </p:sp>
      <p:sp>
        <p:nvSpPr>
          <p:cNvPr id="4" name="slide-alt-summary" descr="Espectro con cuatro componentes y razones no enteras respecto de 100 Hz.">
            <a:extLst>
              <a:ext uri="{FF2B5EF4-FFF2-40B4-BE49-F238E27FC236}">
                <a16:creationId xmlns:a16="http://schemas.microsoft.com/office/drawing/2014/main" id="{C2B4E1FF-6C1C-06CF-0E47-C354FF0190C9}"/>
              </a:ext>
            </a:extLst>
          </p:cNvPr>
          <p:cNvSpPr/>
          <p:nvPr/>
        </p:nvSpPr>
        <p:spPr>
          <a:xfrm>
            <a:off x="12700" y="12700"/>
            <a:ext cx="12700" cy="12700"/>
          </a:xfrm>
          <a:prstGeom prst="rect">
            <a:avLst/>
          </a:prstGeom>
          <a:noFill/>
          <a:ln w="19050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864900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eyebrow">
            <a:extLst>
              <a:ext uri="{FF2B5EF4-FFF2-40B4-BE49-F238E27FC236}">
                <a16:creationId xmlns:a16="http://schemas.microsoft.com/office/drawing/2014/main" id="{9CB81541-2A34-4209-A93A-2C047B28A93E}"/>
              </a:ext>
            </a:extLst>
          </p:cNvPr>
          <p:cNvSpPr>
            <a:spLocks noGrp="1"/>
          </p:cNvSpPr>
          <p:nvPr/>
        </p:nvSpPr>
        <p:spPr>
          <a:xfrm>
            <a:off x="514350" y="2095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069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C918275A-5CC7-449F-8238-BAA75E6E7FCD}"/>
              </a:ext>
            </a:extLst>
          </p:cNvPr>
          <p:cNvSpPr>
            <a:spLocks noGrp="1"/>
          </p:cNvSpPr>
          <p:nvPr/>
        </p:nvSpPr>
        <p:spPr>
          <a:xfrm>
            <a:off x="495300" y="428625"/>
            <a:ext cx="11191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El pico más alto no decide la fundamental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083578D0-5B87-4E48-99B4-9E801BF484F2}"/>
              </a:ext>
            </a:extLst>
          </p:cNvPr>
          <p:cNvSpPr>
            <a:spLocks noGrp="1"/>
          </p:cNvSpPr>
          <p:nvPr/>
        </p:nvSpPr>
        <p:spPr>
          <a:xfrm>
            <a:off x="523875" y="971550"/>
            <a:ext cx="11001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Use periodicidad y espaciado; no solo altura.</a:t>
            </a:r>
          </a:p>
        </p:txBody>
      </p:sp>
      <p:sp>
        <p:nvSpPr>
          <p:cNvPr id="4" name="U05-DG-007-fundamental">
            <a:extLst>
              <a:ext uri="{FF2B5EF4-FFF2-40B4-BE49-F238E27FC236}">
                <a16:creationId xmlns:a16="http://schemas.microsoft.com/office/drawing/2014/main" id="{43697CBE-F63F-4167-BF36-8D708E2FB7E0}"/>
              </a:ext>
            </a:extLst>
          </p:cNvPr>
          <p:cNvSpPr>
            <a:spLocks noGrp="1"/>
          </p:cNvSpPr>
          <p:nvPr/>
        </p:nvSpPr>
        <p:spPr>
          <a:xfrm>
            <a:off x="762000" y="1381125"/>
            <a:ext cx="2381250" cy="1095375"/>
          </a:xfrm>
          <a:prstGeom prst="roundRect">
            <a:avLst>
              <a:gd name="adj" fmla="val 12174"/>
            </a:avLst>
          </a:prstGeom>
          <a:solidFill>
            <a:srgbClr val="EFF8FA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5" name="U05-DG-007-fundamental-title">
            <a:extLst>
              <a:ext uri="{FF2B5EF4-FFF2-40B4-BE49-F238E27FC236}">
                <a16:creationId xmlns:a16="http://schemas.microsoft.com/office/drawing/2014/main" id="{78CA93E0-2F53-4006-9024-B45BB5C280BE}"/>
              </a:ext>
            </a:extLst>
          </p:cNvPr>
          <p:cNvSpPr>
            <a:spLocks noGrp="1"/>
          </p:cNvSpPr>
          <p:nvPr/>
        </p:nvSpPr>
        <p:spPr>
          <a:xfrm>
            <a:off x="933450" y="1504950"/>
            <a:ext cx="2038350" cy="3286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Fundamental</a:t>
            </a:r>
          </a:p>
        </p:txBody>
      </p:sp>
      <p:sp>
        <p:nvSpPr>
          <p:cNvPr id="6" name="U05-DG-007-fundamental-body">
            <a:extLst>
              <a:ext uri="{FF2B5EF4-FFF2-40B4-BE49-F238E27FC236}">
                <a16:creationId xmlns:a16="http://schemas.microsoft.com/office/drawing/2014/main" id="{B3BB20BE-5CB1-43CF-B3C9-2F1A2BA4FDE8}"/>
              </a:ext>
            </a:extLst>
          </p:cNvPr>
          <p:cNvSpPr>
            <a:spLocks noGrp="1"/>
          </p:cNvSpPr>
          <p:nvPr/>
        </p:nvSpPr>
        <p:spPr>
          <a:xfrm>
            <a:off x="933450" y="1833563"/>
            <a:ext cx="2038350" cy="5191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f₀ = 1/T₀</a:t>
            </a:r>
          </a:p>
        </p:txBody>
      </p:sp>
      <p:sp>
        <p:nvSpPr>
          <p:cNvPr id="7" name="U05-DG-007-harmonic">
            <a:extLst>
              <a:ext uri="{FF2B5EF4-FFF2-40B4-BE49-F238E27FC236}">
                <a16:creationId xmlns:a16="http://schemas.microsoft.com/office/drawing/2014/main" id="{FCD52B0E-5747-4BE9-8011-22D3B8235078}"/>
              </a:ext>
            </a:extLst>
          </p:cNvPr>
          <p:cNvSpPr>
            <a:spLocks noGrp="1"/>
          </p:cNvSpPr>
          <p:nvPr/>
        </p:nvSpPr>
        <p:spPr>
          <a:xfrm>
            <a:off x="3476625" y="1381125"/>
            <a:ext cx="2381250" cy="1095375"/>
          </a:xfrm>
          <a:prstGeom prst="roundRect">
            <a:avLst>
              <a:gd name="adj" fmla="val 12174"/>
            </a:avLst>
          </a:prstGeom>
          <a:solidFill>
            <a:srgbClr val="DDEFF5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8" name="U05-DG-007-harmonic-title">
            <a:extLst>
              <a:ext uri="{FF2B5EF4-FFF2-40B4-BE49-F238E27FC236}">
                <a16:creationId xmlns:a16="http://schemas.microsoft.com/office/drawing/2014/main" id="{4709CDBE-06F3-4F25-933A-335706AA3270}"/>
              </a:ext>
            </a:extLst>
          </p:cNvPr>
          <p:cNvSpPr>
            <a:spLocks noGrp="1"/>
          </p:cNvSpPr>
          <p:nvPr/>
        </p:nvSpPr>
        <p:spPr>
          <a:xfrm>
            <a:off x="3648075" y="1504950"/>
            <a:ext cx="2038350" cy="3286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Armónico</a:t>
            </a:r>
          </a:p>
        </p:txBody>
      </p:sp>
      <p:sp>
        <p:nvSpPr>
          <p:cNvPr id="9" name="U05-DG-007-harmonic-body">
            <a:extLst>
              <a:ext uri="{FF2B5EF4-FFF2-40B4-BE49-F238E27FC236}">
                <a16:creationId xmlns:a16="http://schemas.microsoft.com/office/drawing/2014/main" id="{8FB80896-F3AE-4E3D-8B7D-CE6BB827A031}"/>
              </a:ext>
            </a:extLst>
          </p:cNvPr>
          <p:cNvSpPr>
            <a:spLocks noGrp="1"/>
          </p:cNvSpPr>
          <p:nvPr/>
        </p:nvSpPr>
        <p:spPr>
          <a:xfrm>
            <a:off x="3648075" y="1833563"/>
            <a:ext cx="2038350" cy="5191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fₙ = n f₀</a:t>
            </a:r>
          </a:p>
        </p:txBody>
      </p:sp>
      <p:sp>
        <p:nvSpPr>
          <p:cNvPr id="10" name="U05-DG-007-partial">
            <a:extLst>
              <a:ext uri="{FF2B5EF4-FFF2-40B4-BE49-F238E27FC236}">
                <a16:creationId xmlns:a16="http://schemas.microsoft.com/office/drawing/2014/main" id="{F46926C2-224A-46FE-8399-22B0B3A9D673}"/>
              </a:ext>
            </a:extLst>
          </p:cNvPr>
          <p:cNvSpPr>
            <a:spLocks noGrp="1"/>
          </p:cNvSpPr>
          <p:nvPr/>
        </p:nvSpPr>
        <p:spPr>
          <a:xfrm>
            <a:off x="6191250" y="1381125"/>
            <a:ext cx="2381250" cy="1095375"/>
          </a:xfrm>
          <a:prstGeom prst="roundRect">
            <a:avLst>
              <a:gd name="adj" fmla="val 12174"/>
            </a:avLst>
          </a:prstGeom>
          <a:solidFill>
            <a:srgbClr val="F3F6F8"/>
          </a:solidFill>
          <a:ln w="19050">
            <a:solidFill>
              <a:srgbClr val="8291A3"/>
            </a:solidFill>
            <a:prstDash val="solid"/>
          </a:ln>
        </p:spPr>
      </p:sp>
      <p:sp>
        <p:nvSpPr>
          <p:cNvPr id="11" name="U05-DG-007-partial-title">
            <a:extLst>
              <a:ext uri="{FF2B5EF4-FFF2-40B4-BE49-F238E27FC236}">
                <a16:creationId xmlns:a16="http://schemas.microsoft.com/office/drawing/2014/main" id="{B8FC73FE-965A-4057-B3DC-3A2699419AE0}"/>
              </a:ext>
            </a:extLst>
          </p:cNvPr>
          <p:cNvSpPr>
            <a:spLocks noGrp="1"/>
          </p:cNvSpPr>
          <p:nvPr/>
        </p:nvSpPr>
        <p:spPr>
          <a:xfrm>
            <a:off x="6362700" y="1504950"/>
            <a:ext cx="2038350" cy="3286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Parcial</a:t>
            </a:r>
          </a:p>
        </p:txBody>
      </p:sp>
      <p:sp>
        <p:nvSpPr>
          <p:cNvPr id="12" name="U05-DG-007-partial-body">
            <a:extLst>
              <a:ext uri="{FF2B5EF4-FFF2-40B4-BE49-F238E27FC236}">
                <a16:creationId xmlns:a16="http://schemas.microsoft.com/office/drawing/2014/main" id="{6E29DE35-46DC-430B-A0A6-64A21DDF6CF4}"/>
              </a:ext>
            </a:extLst>
          </p:cNvPr>
          <p:cNvSpPr>
            <a:spLocks noGrp="1"/>
          </p:cNvSpPr>
          <p:nvPr/>
        </p:nvSpPr>
        <p:spPr>
          <a:xfrm>
            <a:off x="6362700" y="1833563"/>
            <a:ext cx="2038350" cy="5191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armónico o no</a:t>
            </a:r>
          </a:p>
        </p:txBody>
      </p:sp>
      <p:sp>
        <p:nvSpPr>
          <p:cNvPr id="13" name="U05-DG-007-overtone">
            <a:extLst>
              <a:ext uri="{FF2B5EF4-FFF2-40B4-BE49-F238E27FC236}">
                <a16:creationId xmlns:a16="http://schemas.microsoft.com/office/drawing/2014/main" id="{6C51EAD4-EDE8-4FBE-A69F-3D49BDCC8E24}"/>
              </a:ext>
            </a:extLst>
          </p:cNvPr>
          <p:cNvSpPr>
            <a:spLocks noGrp="1"/>
          </p:cNvSpPr>
          <p:nvPr/>
        </p:nvSpPr>
        <p:spPr>
          <a:xfrm>
            <a:off x="8905875" y="1381125"/>
            <a:ext cx="2381250" cy="1095375"/>
          </a:xfrm>
          <a:prstGeom prst="roundRect">
            <a:avLst>
              <a:gd name="adj" fmla="val 12174"/>
            </a:avLst>
          </a:prstGeom>
          <a:solidFill>
            <a:srgbClr val="E3F2ED"/>
          </a:solidFill>
          <a:ln w="19050">
            <a:solidFill>
              <a:srgbClr val="2D7867"/>
            </a:solidFill>
            <a:prstDash val="solid"/>
          </a:ln>
        </p:spPr>
      </p:sp>
      <p:sp>
        <p:nvSpPr>
          <p:cNvPr id="14" name="U05-DG-007-overtone-title">
            <a:extLst>
              <a:ext uri="{FF2B5EF4-FFF2-40B4-BE49-F238E27FC236}">
                <a16:creationId xmlns:a16="http://schemas.microsoft.com/office/drawing/2014/main" id="{68C34A50-8CED-4B1C-BA51-6078339CECC2}"/>
              </a:ext>
            </a:extLst>
          </p:cNvPr>
          <p:cNvSpPr>
            <a:spLocks noGrp="1"/>
          </p:cNvSpPr>
          <p:nvPr/>
        </p:nvSpPr>
        <p:spPr>
          <a:xfrm>
            <a:off x="9077325" y="1504950"/>
            <a:ext cx="2038350" cy="3286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Sobretono</a:t>
            </a:r>
          </a:p>
        </p:txBody>
      </p:sp>
      <p:sp>
        <p:nvSpPr>
          <p:cNvPr id="15" name="U05-DG-007-overtone-body">
            <a:extLst>
              <a:ext uri="{FF2B5EF4-FFF2-40B4-BE49-F238E27FC236}">
                <a16:creationId xmlns:a16="http://schemas.microsoft.com/office/drawing/2014/main" id="{D691E372-A26C-45EA-9326-AFF0BB16CC95}"/>
              </a:ext>
            </a:extLst>
          </p:cNvPr>
          <p:cNvSpPr>
            <a:spLocks noGrp="1"/>
          </p:cNvSpPr>
          <p:nvPr/>
        </p:nvSpPr>
        <p:spPr>
          <a:xfrm>
            <a:off x="9077325" y="1833563"/>
            <a:ext cx="2038350" cy="5191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parcial sobre f₀</a:t>
            </a:r>
          </a:p>
        </p:txBody>
      </p:sp>
      <p:sp>
        <p:nvSpPr>
          <p:cNvPr id="16" name="U05-DG-007-voice_source">
            <a:extLst>
              <a:ext uri="{FF2B5EF4-FFF2-40B4-BE49-F238E27FC236}">
                <a16:creationId xmlns:a16="http://schemas.microsoft.com/office/drawing/2014/main" id="{F0E07D15-657A-4B2A-BA49-FF344F20E976}"/>
              </a:ext>
            </a:extLst>
          </p:cNvPr>
          <p:cNvSpPr>
            <a:spLocks noGrp="1"/>
          </p:cNvSpPr>
          <p:nvPr/>
        </p:nvSpPr>
        <p:spPr>
          <a:xfrm>
            <a:off x="1666875" y="4000500"/>
            <a:ext cx="2381250" cy="1143000"/>
          </a:xfrm>
          <a:prstGeom prst="roundRect">
            <a:avLst>
              <a:gd name="adj" fmla="val 11667"/>
            </a:avLst>
          </a:prstGeom>
          <a:solidFill>
            <a:srgbClr val="EFF8FA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17" name="U05-DG-007-voice_source-title">
            <a:extLst>
              <a:ext uri="{FF2B5EF4-FFF2-40B4-BE49-F238E27FC236}">
                <a16:creationId xmlns:a16="http://schemas.microsoft.com/office/drawing/2014/main" id="{36299917-873A-45B1-8B7D-25B59230F964}"/>
              </a:ext>
            </a:extLst>
          </p:cNvPr>
          <p:cNvSpPr>
            <a:spLocks noGrp="1"/>
          </p:cNvSpPr>
          <p:nvPr/>
        </p:nvSpPr>
        <p:spPr>
          <a:xfrm>
            <a:off x="1838325" y="4124325"/>
            <a:ext cx="2038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Fuente</a:t>
            </a:r>
          </a:p>
        </p:txBody>
      </p:sp>
      <p:sp>
        <p:nvSpPr>
          <p:cNvPr id="18" name="U05-DG-007-voice_source-body">
            <a:extLst>
              <a:ext uri="{FF2B5EF4-FFF2-40B4-BE49-F238E27FC236}">
                <a16:creationId xmlns:a16="http://schemas.microsoft.com/office/drawing/2014/main" id="{2619ADDE-1322-447E-8CB3-57849394F960}"/>
              </a:ext>
            </a:extLst>
          </p:cNvPr>
          <p:cNvSpPr>
            <a:spLocks noGrp="1"/>
          </p:cNvSpPr>
          <p:nvPr/>
        </p:nvSpPr>
        <p:spPr>
          <a:xfrm>
            <a:off x="1838325" y="4467225"/>
            <a:ext cx="20383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armónicos</a:t>
            </a:r>
          </a:p>
        </p:txBody>
      </p:sp>
      <p:sp>
        <p:nvSpPr>
          <p:cNvPr id="19" name="U05-DG-007-vocal_filter">
            <a:extLst>
              <a:ext uri="{FF2B5EF4-FFF2-40B4-BE49-F238E27FC236}">
                <a16:creationId xmlns:a16="http://schemas.microsoft.com/office/drawing/2014/main" id="{10C28F3C-082C-45E1-995B-D75381C65284}"/>
              </a:ext>
            </a:extLst>
          </p:cNvPr>
          <p:cNvSpPr>
            <a:spLocks noGrp="1"/>
          </p:cNvSpPr>
          <p:nvPr/>
        </p:nvSpPr>
        <p:spPr>
          <a:xfrm>
            <a:off x="4905375" y="4000500"/>
            <a:ext cx="2381250" cy="1143000"/>
          </a:xfrm>
          <a:prstGeom prst="roundRect">
            <a:avLst>
              <a:gd name="adj" fmla="val 11667"/>
            </a:avLst>
          </a:prstGeom>
          <a:solidFill>
            <a:srgbClr val="DDEFF5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20" name="U05-DG-007-vocal_filter-title">
            <a:extLst>
              <a:ext uri="{FF2B5EF4-FFF2-40B4-BE49-F238E27FC236}">
                <a16:creationId xmlns:a16="http://schemas.microsoft.com/office/drawing/2014/main" id="{8BA03810-B829-484E-9E45-5C3708FC2D2F}"/>
              </a:ext>
            </a:extLst>
          </p:cNvPr>
          <p:cNvSpPr>
            <a:spLocks noGrp="1"/>
          </p:cNvSpPr>
          <p:nvPr/>
        </p:nvSpPr>
        <p:spPr>
          <a:xfrm>
            <a:off x="5076825" y="4124325"/>
            <a:ext cx="2038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Tracto vocal</a:t>
            </a:r>
          </a:p>
        </p:txBody>
      </p:sp>
      <p:sp>
        <p:nvSpPr>
          <p:cNvPr id="21" name="U05-DG-007-vocal_filter-body">
            <a:extLst>
              <a:ext uri="{FF2B5EF4-FFF2-40B4-BE49-F238E27FC236}">
                <a16:creationId xmlns:a16="http://schemas.microsoft.com/office/drawing/2014/main" id="{8E8A61B2-D266-4D99-A8E7-ADEBAEE4FD7C}"/>
              </a:ext>
            </a:extLst>
          </p:cNvPr>
          <p:cNvSpPr>
            <a:spLocks noGrp="1"/>
          </p:cNvSpPr>
          <p:nvPr/>
        </p:nvSpPr>
        <p:spPr>
          <a:xfrm>
            <a:off x="5076825" y="4467225"/>
            <a:ext cx="20383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formantes</a:t>
            </a:r>
          </a:p>
        </p:txBody>
      </p:sp>
      <p:sp>
        <p:nvSpPr>
          <p:cNvPr id="22" name="U05-DG-007-voice_output">
            <a:extLst>
              <a:ext uri="{FF2B5EF4-FFF2-40B4-BE49-F238E27FC236}">
                <a16:creationId xmlns:a16="http://schemas.microsoft.com/office/drawing/2014/main" id="{7CB2B304-C28A-45A7-9798-D9944CADBA51}"/>
              </a:ext>
            </a:extLst>
          </p:cNvPr>
          <p:cNvSpPr>
            <a:spLocks noGrp="1"/>
          </p:cNvSpPr>
          <p:nvPr/>
        </p:nvSpPr>
        <p:spPr>
          <a:xfrm>
            <a:off x="8143875" y="4000500"/>
            <a:ext cx="2381250" cy="1143000"/>
          </a:xfrm>
          <a:prstGeom prst="roundRect">
            <a:avLst>
              <a:gd name="adj" fmla="val 11667"/>
            </a:avLst>
          </a:prstGeom>
          <a:solidFill>
            <a:srgbClr val="E3F2ED"/>
          </a:solidFill>
          <a:ln w="19050">
            <a:solidFill>
              <a:srgbClr val="2D7867"/>
            </a:solidFill>
            <a:prstDash val="solid"/>
          </a:ln>
        </p:spPr>
      </p:sp>
      <p:sp>
        <p:nvSpPr>
          <p:cNvPr id="23" name="U05-DG-007-voice_output-title">
            <a:extLst>
              <a:ext uri="{FF2B5EF4-FFF2-40B4-BE49-F238E27FC236}">
                <a16:creationId xmlns:a16="http://schemas.microsoft.com/office/drawing/2014/main" id="{59B14EA3-E344-4FFB-87D5-18EE32EE08B4}"/>
              </a:ext>
            </a:extLst>
          </p:cNvPr>
          <p:cNvSpPr>
            <a:spLocks noGrp="1"/>
          </p:cNvSpPr>
          <p:nvPr/>
        </p:nvSpPr>
        <p:spPr>
          <a:xfrm>
            <a:off x="8315325" y="4124325"/>
            <a:ext cx="2038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Salida</a:t>
            </a:r>
          </a:p>
        </p:txBody>
      </p:sp>
      <p:sp>
        <p:nvSpPr>
          <p:cNvPr id="24" name="U05-DG-007-voice_output-body">
            <a:extLst>
              <a:ext uri="{FF2B5EF4-FFF2-40B4-BE49-F238E27FC236}">
                <a16:creationId xmlns:a16="http://schemas.microsoft.com/office/drawing/2014/main" id="{A618530D-E17D-48EF-940B-E4C3D44F7468}"/>
              </a:ext>
            </a:extLst>
          </p:cNvPr>
          <p:cNvSpPr>
            <a:spLocks noGrp="1"/>
          </p:cNvSpPr>
          <p:nvPr/>
        </p:nvSpPr>
        <p:spPr>
          <a:xfrm>
            <a:off x="8315325" y="4467225"/>
            <a:ext cx="20383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señal filtrada</a:t>
            </a:r>
          </a:p>
        </p:txBody>
      </p:sp>
      <p:cxnSp>
        <p:nvCxnSpPr>
          <p:cNvPr id="57" name="U05-DG-007-tax_1"/>
          <p:cNvCxnSpPr>
            <a:stCxn id="4" idx="3"/>
            <a:endCxn id="7" idx="1"/>
          </p:cNvCxnSpPr>
          <p:nvPr/>
        </p:nvCxnSpPr>
        <p:spPr>
          <a:xfrm>
            <a:off x="3143250" y="1928813"/>
            <a:ext cx="333375" cy="0"/>
          </a:xfrm>
          <a:prstGeom prst="straightConnector1">
            <a:avLst/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cxnSp>
        <p:nvCxnSpPr>
          <p:cNvPr id="58" name="U05-DG-007-tax_2"/>
          <p:cNvCxnSpPr>
            <a:stCxn id="7" idx="3"/>
            <a:endCxn id="10" idx="1"/>
          </p:cNvCxnSpPr>
          <p:nvPr/>
        </p:nvCxnSpPr>
        <p:spPr>
          <a:xfrm>
            <a:off x="5857875" y="1928813"/>
            <a:ext cx="333375" cy="0"/>
          </a:xfrm>
          <a:prstGeom prst="straightConnector1">
            <a:avLst/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cxnSp>
        <p:nvCxnSpPr>
          <p:cNvPr id="59" name="U05-DG-007-tax_3"/>
          <p:cNvCxnSpPr>
            <a:stCxn id="10" idx="3"/>
            <a:endCxn id="13" idx="1"/>
          </p:cNvCxnSpPr>
          <p:nvPr/>
        </p:nvCxnSpPr>
        <p:spPr>
          <a:xfrm>
            <a:off x="8572500" y="1928813"/>
            <a:ext cx="333375" cy="0"/>
          </a:xfrm>
          <a:prstGeom prst="straightConnector1">
            <a:avLst/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cxnSp>
        <p:nvCxnSpPr>
          <p:cNvPr id="60" name="U05-DG-007-voice_1"/>
          <p:cNvCxnSpPr>
            <a:stCxn id="16" idx="3"/>
            <a:endCxn id="19" idx="1"/>
          </p:cNvCxnSpPr>
          <p:nvPr/>
        </p:nvCxnSpPr>
        <p:spPr>
          <a:xfrm>
            <a:off x="4048125" y="4572000"/>
            <a:ext cx="857250" cy="0"/>
          </a:xfrm>
          <a:prstGeom prst="straightConnector1">
            <a:avLst/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cxnSp>
        <p:nvCxnSpPr>
          <p:cNvPr id="61" name="U05-DG-007-voice_2"/>
          <p:cNvCxnSpPr>
            <a:stCxn id="19" idx="3"/>
            <a:endCxn id="22" idx="1"/>
          </p:cNvCxnSpPr>
          <p:nvPr/>
        </p:nvCxnSpPr>
        <p:spPr>
          <a:xfrm>
            <a:off x="7286625" y="4572000"/>
            <a:ext cx="857250" cy="0"/>
          </a:xfrm>
          <a:prstGeom prst="straightConnector1">
            <a:avLst/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sp>
        <p:nvSpPr>
          <p:cNvPr id="30" name="diagram-scale-note">
            <a:extLst>
              <a:ext uri="{FF2B5EF4-FFF2-40B4-BE49-F238E27FC236}">
                <a16:creationId xmlns:a16="http://schemas.microsoft.com/office/drawing/2014/main" id="{67B610CF-5F38-440D-8212-122DA7ABDA6A}"/>
              </a:ext>
            </a:extLst>
          </p:cNvPr>
          <p:cNvSpPr>
            <a:spLocks noGrp="1"/>
          </p:cNvSpPr>
          <p:nvPr/>
        </p:nvSpPr>
        <p:spPr>
          <a:xfrm>
            <a:off x="552450" y="5829300"/>
            <a:ext cx="3905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05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Esquema conceptual · no está a escala</a:t>
            </a:r>
          </a:p>
        </p:txBody>
      </p:sp>
      <p:sp>
        <p:nvSpPr>
          <p:cNvPr id="31" name="caption">
            <a:extLst>
              <a:ext uri="{FF2B5EF4-FFF2-40B4-BE49-F238E27FC236}">
                <a16:creationId xmlns:a16="http://schemas.microsoft.com/office/drawing/2014/main" id="{73FD9A9E-E9F3-4227-A39C-92C3EE129CF9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876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La evidencia de periodicidad debe explicitarse.</a:t>
            </a:r>
          </a:p>
        </p:txBody>
      </p:sp>
      <p:sp>
        <p:nvSpPr>
          <p:cNvPr id="32" name="credit">
            <a:extLst>
              <a:ext uri="{FF2B5EF4-FFF2-40B4-BE49-F238E27FC236}">
                <a16:creationId xmlns:a16="http://schemas.microsoft.com/office/drawing/2014/main" id="{9F0BD6EF-43C8-43A4-B66B-DD412872A7F6}"/>
              </a:ext>
            </a:extLst>
          </p:cNvPr>
          <p:cNvSpPr>
            <a:spLocks noGrp="1"/>
          </p:cNvSpPr>
          <p:nvPr/>
        </p:nvSpPr>
        <p:spPr>
          <a:xfrm>
            <a:off x="9382125" y="60769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5.13; ejercicio D1.</a:t>
            </a:r>
          </a:p>
        </p:txBody>
      </p:sp>
      <p:sp>
        <p:nvSpPr>
          <p:cNvPr id="25" name="slide-alt-summary" descr="Tres espectros contrastan máximo dominante, fundamental ausente e inarmonicidad.">
            <a:extLst>
              <a:ext uri="{FF2B5EF4-FFF2-40B4-BE49-F238E27FC236}">
                <a16:creationId xmlns:a16="http://schemas.microsoft.com/office/drawing/2014/main" id="{CE5C4441-3E72-44DC-2D19-2EAA7E71BF07}"/>
              </a:ext>
            </a:extLst>
          </p:cNvPr>
          <p:cNvSpPr/>
          <p:nvPr/>
        </p:nvSpPr>
        <p:spPr>
          <a:xfrm>
            <a:off x="12700" y="12700"/>
            <a:ext cx="12700" cy="12700"/>
          </a:xfrm>
          <a:prstGeom prst="rect">
            <a:avLst/>
          </a:prstGeom>
          <a:noFill/>
          <a:ln w="19050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4132919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eyebrow">
            <a:extLst>
              <a:ext uri="{FF2B5EF4-FFF2-40B4-BE49-F238E27FC236}">
                <a16:creationId xmlns:a16="http://schemas.microsoft.com/office/drawing/2014/main" id="{B6A7E81F-5119-4320-8566-AEC96FE017E4}"/>
              </a:ext>
            </a:extLst>
          </p:cNvPr>
          <p:cNvSpPr>
            <a:spLocks noGrp="1"/>
          </p:cNvSpPr>
          <p:nvPr/>
        </p:nvSpPr>
        <p:spPr>
          <a:xfrm>
            <a:off x="514350" y="2095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070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369A4522-BAED-4F92-9780-67AC6A0CF9AC}"/>
              </a:ext>
            </a:extLst>
          </p:cNvPr>
          <p:cNvSpPr>
            <a:spLocks noGrp="1"/>
          </p:cNvSpPr>
          <p:nvPr/>
        </p:nvSpPr>
        <p:spPr>
          <a:xfrm>
            <a:off x="495300" y="428625"/>
            <a:ext cx="11191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Un formante es una región de resonancia, no un armónico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25B82143-8516-462D-B3E2-15869B92C60C}"/>
              </a:ext>
            </a:extLst>
          </p:cNvPr>
          <p:cNvSpPr>
            <a:spLocks noGrp="1"/>
          </p:cNvSpPr>
          <p:nvPr/>
        </p:nvSpPr>
        <p:spPr>
          <a:xfrm>
            <a:off x="523875" y="971550"/>
            <a:ext cx="11001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Las líneas de fuente muestrean una envolvente del sistema vocal.</a:t>
            </a:r>
          </a:p>
        </p:txBody>
      </p:sp>
      <p:sp>
        <p:nvSpPr>
          <p:cNvPr id="4" name="U05-DG-007-fundamental">
            <a:extLst>
              <a:ext uri="{FF2B5EF4-FFF2-40B4-BE49-F238E27FC236}">
                <a16:creationId xmlns:a16="http://schemas.microsoft.com/office/drawing/2014/main" id="{5A703979-E09A-48A0-87C6-C82074AB913D}"/>
              </a:ext>
            </a:extLst>
          </p:cNvPr>
          <p:cNvSpPr>
            <a:spLocks noGrp="1"/>
          </p:cNvSpPr>
          <p:nvPr/>
        </p:nvSpPr>
        <p:spPr>
          <a:xfrm>
            <a:off x="762000" y="1381125"/>
            <a:ext cx="2381250" cy="1095375"/>
          </a:xfrm>
          <a:prstGeom prst="roundRect">
            <a:avLst>
              <a:gd name="adj" fmla="val 12174"/>
            </a:avLst>
          </a:prstGeom>
          <a:solidFill>
            <a:srgbClr val="EFF8FA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5" name="U05-DG-007-fundamental-title">
            <a:extLst>
              <a:ext uri="{FF2B5EF4-FFF2-40B4-BE49-F238E27FC236}">
                <a16:creationId xmlns:a16="http://schemas.microsoft.com/office/drawing/2014/main" id="{8E49A868-9E3A-45AE-B68A-1ED363048B31}"/>
              </a:ext>
            </a:extLst>
          </p:cNvPr>
          <p:cNvSpPr>
            <a:spLocks noGrp="1"/>
          </p:cNvSpPr>
          <p:nvPr/>
        </p:nvSpPr>
        <p:spPr>
          <a:xfrm>
            <a:off x="933450" y="1504950"/>
            <a:ext cx="2038350" cy="3286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Fundamental</a:t>
            </a:r>
          </a:p>
        </p:txBody>
      </p:sp>
      <p:sp>
        <p:nvSpPr>
          <p:cNvPr id="6" name="U05-DG-007-fundamental-body">
            <a:extLst>
              <a:ext uri="{FF2B5EF4-FFF2-40B4-BE49-F238E27FC236}">
                <a16:creationId xmlns:a16="http://schemas.microsoft.com/office/drawing/2014/main" id="{42631336-458F-4028-B0C4-988D25383C52}"/>
              </a:ext>
            </a:extLst>
          </p:cNvPr>
          <p:cNvSpPr>
            <a:spLocks noGrp="1"/>
          </p:cNvSpPr>
          <p:nvPr/>
        </p:nvSpPr>
        <p:spPr>
          <a:xfrm>
            <a:off x="933450" y="1833563"/>
            <a:ext cx="2038350" cy="5191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f₀ = 1/T₀</a:t>
            </a:r>
          </a:p>
        </p:txBody>
      </p:sp>
      <p:sp>
        <p:nvSpPr>
          <p:cNvPr id="7" name="U05-DG-007-harmonic">
            <a:extLst>
              <a:ext uri="{FF2B5EF4-FFF2-40B4-BE49-F238E27FC236}">
                <a16:creationId xmlns:a16="http://schemas.microsoft.com/office/drawing/2014/main" id="{E11587EA-46C9-4C5C-9D56-18D39549B702}"/>
              </a:ext>
            </a:extLst>
          </p:cNvPr>
          <p:cNvSpPr>
            <a:spLocks noGrp="1"/>
          </p:cNvSpPr>
          <p:nvPr/>
        </p:nvSpPr>
        <p:spPr>
          <a:xfrm>
            <a:off x="3476625" y="1381125"/>
            <a:ext cx="2381250" cy="1095375"/>
          </a:xfrm>
          <a:prstGeom prst="roundRect">
            <a:avLst>
              <a:gd name="adj" fmla="val 12174"/>
            </a:avLst>
          </a:prstGeom>
          <a:solidFill>
            <a:srgbClr val="DDEFF5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8" name="U05-DG-007-harmonic-title">
            <a:extLst>
              <a:ext uri="{FF2B5EF4-FFF2-40B4-BE49-F238E27FC236}">
                <a16:creationId xmlns:a16="http://schemas.microsoft.com/office/drawing/2014/main" id="{A93825A7-1B26-42F4-B36F-95108A955C42}"/>
              </a:ext>
            </a:extLst>
          </p:cNvPr>
          <p:cNvSpPr>
            <a:spLocks noGrp="1"/>
          </p:cNvSpPr>
          <p:nvPr/>
        </p:nvSpPr>
        <p:spPr>
          <a:xfrm>
            <a:off x="3648075" y="1504950"/>
            <a:ext cx="2038350" cy="3286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Armónico</a:t>
            </a:r>
          </a:p>
        </p:txBody>
      </p:sp>
      <p:sp>
        <p:nvSpPr>
          <p:cNvPr id="9" name="U05-DG-007-harmonic-body">
            <a:extLst>
              <a:ext uri="{FF2B5EF4-FFF2-40B4-BE49-F238E27FC236}">
                <a16:creationId xmlns:a16="http://schemas.microsoft.com/office/drawing/2014/main" id="{DFB68A19-EB58-43EB-A88A-1B9C263B0133}"/>
              </a:ext>
            </a:extLst>
          </p:cNvPr>
          <p:cNvSpPr>
            <a:spLocks noGrp="1"/>
          </p:cNvSpPr>
          <p:nvPr/>
        </p:nvSpPr>
        <p:spPr>
          <a:xfrm>
            <a:off x="3648075" y="1833563"/>
            <a:ext cx="2038350" cy="5191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fₙ = n f₀</a:t>
            </a:r>
          </a:p>
        </p:txBody>
      </p:sp>
      <p:sp>
        <p:nvSpPr>
          <p:cNvPr id="10" name="U05-DG-007-partial">
            <a:extLst>
              <a:ext uri="{FF2B5EF4-FFF2-40B4-BE49-F238E27FC236}">
                <a16:creationId xmlns:a16="http://schemas.microsoft.com/office/drawing/2014/main" id="{E94FA355-CC77-4C10-A800-88CC8AAEA9BA}"/>
              </a:ext>
            </a:extLst>
          </p:cNvPr>
          <p:cNvSpPr>
            <a:spLocks noGrp="1"/>
          </p:cNvSpPr>
          <p:nvPr/>
        </p:nvSpPr>
        <p:spPr>
          <a:xfrm>
            <a:off x="6191250" y="1381125"/>
            <a:ext cx="2381250" cy="1095375"/>
          </a:xfrm>
          <a:prstGeom prst="roundRect">
            <a:avLst>
              <a:gd name="adj" fmla="val 12174"/>
            </a:avLst>
          </a:prstGeom>
          <a:solidFill>
            <a:srgbClr val="F3F6F8"/>
          </a:solidFill>
          <a:ln w="19050">
            <a:solidFill>
              <a:srgbClr val="8291A3"/>
            </a:solidFill>
            <a:prstDash val="solid"/>
          </a:ln>
        </p:spPr>
      </p:sp>
      <p:sp>
        <p:nvSpPr>
          <p:cNvPr id="11" name="U05-DG-007-partial-title">
            <a:extLst>
              <a:ext uri="{FF2B5EF4-FFF2-40B4-BE49-F238E27FC236}">
                <a16:creationId xmlns:a16="http://schemas.microsoft.com/office/drawing/2014/main" id="{E3923A81-6E89-47AD-AE4C-8985257F7B6E}"/>
              </a:ext>
            </a:extLst>
          </p:cNvPr>
          <p:cNvSpPr>
            <a:spLocks noGrp="1"/>
          </p:cNvSpPr>
          <p:nvPr/>
        </p:nvSpPr>
        <p:spPr>
          <a:xfrm>
            <a:off x="6362700" y="1504950"/>
            <a:ext cx="2038350" cy="3286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Parcial</a:t>
            </a:r>
          </a:p>
        </p:txBody>
      </p:sp>
      <p:sp>
        <p:nvSpPr>
          <p:cNvPr id="12" name="U05-DG-007-partial-body">
            <a:extLst>
              <a:ext uri="{FF2B5EF4-FFF2-40B4-BE49-F238E27FC236}">
                <a16:creationId xmlns:a16="http://schemas.microsoft.com/office/drawing/2014/main" id="{383EA6A4-33E2-4C4A-BF5F-35EA226A9286}"/>
              </a:ext>
            </a:extLst>
          </p:cNvPr>
          <p:cNvSpPr>
            <a:spLocks noGrp="1"/>
          </p:cNvSpPr>
          <p:nvPr/>
        </p:nvSpPr>
        <p:spPr>
          <a:xfrm>
            <a:off x="6362700" y="1833563"/>
            <a:ext cx="2038350" cy="5191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armónico o no</a:t>
            </a:r>
          </a:p>
        </p:txBody>
      </p:sp>
      <p:sp>
        <p:nvSpPr>
          <p:cNvPr id="13" name="U05-DG-007-overtone">
            <a:extLst>
              <a:ext uri="{FF2B5EF4-FFF2-40B4-BE49-F238E27FC236}">
                <a16:creationId xmlns:a16="http://schemas.microsoft.com/office/drawing/2014/main" id="{A9412B94-0471-4039-97CE-BB7F32547179}"/>
              </a:ext>
            </a:extLst>
          </p:cNvPr>
          <p:cNvSpPr>
            <a:spLocks noGrp="1"/>
          </p:cNvSpPr>
          <p:nvPr/>
        </p:nvSpPr>
        <p:spPr>
          <a:xfrm>
            <a:off x="8905875" y="1381125"/>
            <a:ext cx="2381250" cy="1095375"/>
          </a:xfrm>
          <a:prstGeom prst="roundRect">
            <a:avLst>
              <a:gd name="adj" fmla="val 12174"/>
            </a:avLst>
          </a:prstGeom>
          <a:solidFill>
            <a:srgbClr val="E3F2ED"/>
          </a:solidFill>
          <a:ln w="19050">
            <a:solidFill>
              <a:srgbClr val="2D7867"/>
            </a:solidFill>
            <a:prstDash val="solid"/>
          </a:ln>
        </p:spPr>
      </p:sp>
      <p:sp>
        <p:nvSpPr>
          <p:cNvPr id="14" name="U05-DG-007-overtone-title">
            <a:extLst>
              <a:ext uri="{FF2B5EF4-FFF2-40B4-BE49-F238E27FC236}">
                <a16:creationId xmlns:a16="http://schemas.microsoft.com/office/drawing/2014/main" id="{493A7347-6D37-49EA-A63F-752D16FEB448}"/>
              </a:ext>
            </a:extLst>
          </p:cNvPr>
          <p:cNvSpPr>
            <a:spLocks noGrp="1"/>
          </p:cNvSpPr>
          <p:nvPr/>
        </p:nvSpPr>
        <p:spPr>
          <a:xfrm>
            <a:off x="9077325" y="1504950"/>
            <a:ext cx="2038350" cy="3286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Sobretono</a:t>
            </a:r>
          </a:p>
        </p:txBody>
      </p:sp>
      <p:sp>
        <p:nvSpPr>
          <p:cNvPr id="15" name="U05-DG-007-overtone-body">
            <a:extLst>
              <a:ext uri="{FF2B5EF4-FFF2-40B4-BE49-F238E27FC236}">
                <a16:creationId xmlns:a16="http://schemas.microsoft.com/office/drawing/2014/main" id="{4CC64B95-4538-49BD-B957-57389B1E8529}"/>
              </a:ext>
            </a:extLst>
          </p:cNvPr>
          <p:cNvSpPr>
            <a:spLocks noGrp="1"/>
          </p:cNvSpPr>
          <p:nvPr/>
        </p:nvSpPr>
        <p:spPr>
          <a:xfrm>
            <a:off x="9077325" y="1833563"/>
            <a:ext cx="2038350" cy="5191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parcial sobre f₀</a:t>
            </a:r>
          </a:p>
        </p:txBody>
      </p:sp>
      <p:sp>
        <p:nvSpPr>
          <p:cNvPr id="16" name="U05-DG-007-voice_source">
            <a:extLst>
              <a:ext uri="{FF2B5EF4-FFF2-40B4-BE49-F238E27FC236}">
                <a16:creationId xmlns:a16="http://schemas.microsoft.com/office/drawing/2014/main" id="{6AF18A08-EF08-43C8-8F91-BDA2E7863C19}"/>
              </a:ext>
            </a:extLst>
          </p:cNvPr>
          <p:cNvSpPr>
            <a:spLocks noGrp="1"/>
          </p:cNvSpPr>
          <p:nvPr/>
        </p:nvSpPr>
        <p:spPr>
          <a:xfrm>
            <a:off x="1666875" y="4000500"/>
            <a:ext cx="2381250" cy="1143000"/>
          </a:xfrm>
          <a:prstGeom prst="roundRect">
            <a:avLst>
              <a:gd name="adj" fmla="val 11667"/>
            </a:avLst>
          </a:prstGeom>
          <a:solidFill>
            <a:srgbClr val="EFF8FA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17" name="U05-DG-007-voice_source-title">
            <a:extLst>
              <a:ext uri="{FF2B5EF4-FFF2-40B4-BE49-F238E27FC236}">
                <a16:creationId xmlns:a16="http://schemas.microsoft.com/office/drawing/2014/main" id="{AE017A3E-2D69-4067-88F9-CD8A80AD186C}"/>
              </a:ext>
            </a:extLst>
          </p:cNvPr>
          <p:cNvSpPr>
            <a:spLocks noGrp="1"/>
          </p:cNvSpPr>
          <p:nvPr/>
        </p:nvSpPr>
        <p:spPr>
          <a:xfrm>
            <a:off x="1838325" y="4124325"/>
            <a:ext cx="2038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Fuente</a:t>
            </a:r>
          </a:p>
        </p:txBody>
      </p:sp>
      <p:sp>
        <p:nvSpPr>
          <p:cNvPr id="18" name="U05-DG-007-voice_source-body">
            <a:extLst>
              <a:ext uri="{FF2B5EF4-FFF2-40B4-BE49-F238E27FC236}">
                <a16:creationId xmlns:a16="http://schemas.microsoft.com/office/drawing/2014/main" id="{FC1A1AF4-3B18-45AB-B732-165D64490087}"/>
              </a:ext>
            </a:extLst>
          </p:cNvPr>
          <p:cNvSpPr>
            <a:spLocks noGrp="1"/>
          </p:cNvSpPr>
          <p:nvPr/>
        </p:nvSpPr>
        <p:spPr>
          <a:xfrm>
            <a:off x="1838325" y="4467225"/>
            <a:ext cx="20383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armónicos</a:t>
            </a:r>
          </a:p>
        </p:txBody>
      </p:sp>
      <p:sp>
        <p:nvSpPr>
          <p:cNvPr id="19" name="U05-DG-007-vocal_filter">
            <a:extLst>
              <a:ext uri="{FF2B5EF4-FFF2-40B4-BE49-F238E27FC236}">
                <a16:creationId xmlns:a16="http://schemas.microsoft.com/office/drawing/2014/main" id="{676C5866-D7B7-4F62-9DF4-04BD33879434}"/>
              </a:ext>
            </a:extLst>
          </p:cNvPr>
          <p:cNvSpPr>
            <a:spLocks noGrp="1"/>
          </p:cNvSpPr>
          <p:nvPr/>
        </p:nvSpPr>
        <p:spPr>
          <a:xfrm>
            <a:off x="4905375" y="4000500"/>
            <a:ext cx="2381250" cy="1143000"/>
          </a:xfrm>
          <a:prstGeom prst="roundRect">
            <a:avLst>
              <a:gd name="adj" fmla="val 11667"/>
            </a:avLst>
          </a:prstGeom>
          <a:solidFill>
            <a:srgbClr val="DDEFF5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20" name="U05-DG-007-vocal_filter-title">
            <a:extLst>
              <a:ext uri="{FF2B5EF4-FFF2-40B4-BE49-F238E27FC236}">
                <a16:creationId xmlns:a16="http://schemas.microsoft.com/office/drawing/2014/main" id="{7AD87C3A-74E1-4821-B2B3-F0AB04B7ECD2}"/>
              </a:ext>
            </a:extLst>
          </p:cNvPr>
          <p:cNvSpPr>
            <a:spLocks noGrp="1"/>
          </p:cNvSpPr>
          <p:nvPr/>
        </p:nvSpPr>
        <p:spPr>
          <a:xfrm>
            <a:off x="5076825" y="4124325"/>
            <a:ext cx="2038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Tracto vocal</a:t>
            </a:r>
          </a:p>
        </p:txBody>
      </p:sp>
      <p:sp>
        <p:nvSpPr>
          <p:cNvPr id="21" name="U05-DG-007-vocal_filter-body">
            <a:extLst>
              <a:ext uri="{FF2B5EF4-FFF2-40B4-BE49-F238E27FC236}">
                <a16:creationId xmlns:a16="http://schemas.microsoft.com/office/drawing/2014/main" id="{9773FA41-113A-424B-B874-10327AC5C957}"/>
              </a:ext>
            </a:extLst>
          </p:cNvPr>
          <p:cNvSpPr>
            <a:spLocks noGrp="1"/>
          </p:cNvSpPr>
          <p:nvPr/>
        </p:nvSpPr>
        <p:spPr>
          <a:xfrm>
            <a:off x="5076825" y="4467225"/>
            <a:ext cx="20383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formantes</a:t>
            </a:r>
          </a:p>
        </p:txBody>
      </p:sp>
      <p:sp>
        <p:nvSpPr>
          <p:cNvPr id="22" name="U05-DG-007-voice_output">
            <a:extLst>
              <a:ext uri="{FF2B5EF4-FFF2-40B4-BE49-F238E27FC236}">
                <a16:creationId xmlns:a16="http://schemas.microsoft.com/office/drawing/2014/main" id="{C94C1C44-0581-4E0E-A2D1-67047650F3B8}"/>
              </a:ext>
            </a:extLst>
          </p:cNvPr>
          <p:cNvSpPr>
            <a:spLocks noGrp="1"/>
          </p:cNvSpPr>
          <p:nvPr/>
        </p:nvSpPr>
        <p:spPr>
          <a:xfrm>
            <a:off x="8143875" y="4000500"/>
            <a:ext cx="2381250" cy="1143000"/>
          </a:xfrm>
          <a:prstGeom prst="roundRect">
            <a:avLst>
              <a:gd name="adj" fmla="val 11667"/>
            </a:avLst>
          </a:prstGeom>
          <a:solidFill>
            <a:srgbClr val="E3F2ED"/>
          </a:solidFill>
          <a:ln w="19050">
            <a:solidFill>
              <a:srgbClr val="2D7867"/>
            </a:solidFill>
            <a:prstDash val="solid"/>
          </a:ln>
        </p:spPr>
      </p:sp>
      <p:sp>
        <p:nvSpPr>
          <p:cNvPr id="23" name="U05-DG-007-voice_output-title">
            <a:extLst>
              <a:ext uri="{FF2B5EF4-FFF2-40B4-BE49-F238E27FC236}">
                <a16:creationId xmlns:a16="http://schemas.microsoft.com/office/drawing/2014/main" id="{CC4C265F-91CF-4B38-AB16-2BBA743BA223}"/>
              </a:ext>
            </a:extLst>
          </p:cNvPr>
          <p:cNvSpPr>
            <a:spLocks noGrp="1"/>
          </p:cNvSpPr>
          <p:nvPr/>
        </p:nvSpPr>
        <p:spPr>
          <a:xfrm>
            <a:off x="8315325" y="4124325"/>
            <a:ext cx="2038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Salida</a:t>
            </a:r>
          </a:p>
        </p:txBody>
      </p:sp>
      <p:sp>
        <p:nvSpPr>
          <p:cNvPr id="24" name="U05-DG-007-voice_output-body">
            <a:extLst>
              <a:ext uri="{FF2B5EF4-FFF2-40B4-BE49-F238E27FC236}">
                <a16:creationId xmlns:a16="http://schemas.microsoft.com/office/drawing/2014/main" id="{B9D3CB75-203E-40AA-AB16-8020DFFC4425}"/>
              </a:ext>
            </a:extLst>
          </p:cNvPr>
          <p:cNvSpPr>
            <a:spLocks noGrp="1"/>
          </p:cNvSpPr>
          <p:nvPr/>
        </p:nvSpPr>
        <p:spPr>
          <a:xfrm>
            <a:off x="8315325" y="4467225"/>
            <a:ext cx="20383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señal filtrada</a:t>
            </a:r>
          </a:p>
        </p:txBody>
      </p:sp>
      <p:cxnSp>
        <p:nvCxnSpPr>
          <p:cNvPr id="57" name="U05-DG-007-tax_1"/>
          <p:cNvCxnSpPr>
            <a:stCxn id="4" idx="3"/>
            <a:endCxn id="7" idx="1"/>
          </p:cNvCxnSpPr>
          <p:nvPr/>
        </p:nvCxnSpPr>
        <p:spPr>
          <a:xfrm>
            <a:off x="3143250" y="1928813"/>
            <a:ext cx="333375" cy="0"/>
          </a:xfrm>
          <a:prstGeom prst="straightConnector1">
            <a:avLst/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cxnSp>
        <p:nvCxnSpPr>
          <p:cNvPr id="58" name="U05-DG-007-tax_2"/>
          <p:cNvCxnSpPr>
            <a:stCxn id="7" idx="3"/>
            <a:endCxn id="10" idx="1"/>
          </p:cNvCxnSpPr>
          <p:nvPr/>
        </p:nvCxnSpPr>
        <p:spPr>
          <a:xfrm>
            <a:off x="5857875" y="1928813"/>
            <a:ext cx="333375" cy="0"/>
          </a:xfrm>
          <a:prstGeom prst="straightConnector1">
            <a:avLst/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cxnSp>
        <p:nvCxnSpPr>
          <p:cNvPr id="59" name="U05-DG-007-tax_3"/>
          <p:cNvCxnSpPr>
            <a:stCxn id="10" idx="3"/>
            <a:endCxn id="13" idx="1"/>
          </p:cNvCxnSpPr>
          <p:nvPr/>
        </p:nvCxnSpPr>
        <p:spPr>
          <a:xfrm>
            <a:off x="8572500" y="1928813"/>
            <a:ext cx="333375" cy="0"/>
          </a:xfrm>
          <a:prstGeom prst="straightConnector1">
            <a:avLst/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cxnSp>
        <p:nvCxnSpPr>
          <p:cNvPr id="60" name="U05-DG-007-voice_1"/>
          <p:cNvCxnSpPr>
            <a:stCxn id="16" idx="3"/>
            <a:endCxn id="19" idx="1"/>
          </p:cNvCxnSpPr>
          <p:nvPr/>
        </p:nvCxnSpPr>
        <p:spPr>
          <a:xfrm>
            <a:off x="4048125" y="4572000"/>
            <a:ext cx="857250" cy="0"/>
          </a:xfrm>
          <a:prstGeom prst="straightConnector1">
            <a:avLst/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cxnSp>
        <p:nvCxnSpPr>
          <p:cNvPr id="61" name="U05-DG-007-voice_2"/>
          <p:cNvCxnSpPr>
            <a:stCxn id="19" idx="3"/>
            <a:endCxn id="22" idx="1"/>
          </p:cNvCxnSpPr>
          <p:nvPr/>
        </p:nvCxnSpPr>
        <p:spPr>
          <a:xfrm>
            <a:off x="7286625" y="4572000"/>
            <a:ext cx="857250" cy="0"/>
          </a:xfrm>
          <a:prstGeom prst="straightConnector1">
            <a:avLst/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sp>
        <p:nvSpPr>
          <p:cNvPr id="30" name="diagram-scale-note">
            <a:extLst>
              <a:ext uri="{FF2B5EF4-FFF2-40B4-BE49-F238E27FC236}">
                <a16:creationId xmlns:a16="http://schemas.microsoft.com/office/drawing/2014/main" id="{DBA35A44-0978-4AA2-8C93-602D2EA622EE}"/>
              </a:ext>
            </a:extLst>
          </p:cNvPr>
          <p:cNvSpPr>
            <a:spLocks noGrp="1"/>
          </p:cNvSpPr>
          <p:nvPr/>
        </p:nvSpPr>
        <p:spPr>
          <a:xfrm>
            <a:off x="552450" y="5829300"/>
            <a:ext cx="3905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05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Esquema conceptual · no está a escala</a:t>
            </a:r>
          </a:p>
        </p:txBody>
      </p:sp>
      <p:sp>
        <p:nvSpPr>
          <p:cNvPr id="31" name="caption">
            <a:extLst>
              <a:ext uri="{FF2B5EF4-FFF2-40B4-BE49-F238E27FC236}">
                <a16:creationId xmlns:a16="http://schemas.microsoft.com/office/drawing/2014/main" id="{2BFFD3B5-465C-4421-8265-FFB119F51644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876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Formante y armónico describen objetos diferentes.</a:t>
            </a:r>
          </a:p>
        </p:txBody>
      </p:sp>
      <p:sp>
        <p:nvSpPr>
          <p:cNvPr id="32" name="credit">
            <a:extLst>
              <a:ext uri="{FF2B5EF4-FFF2-40B4-BE49-F238E27FC236}">
                <a16:creationId xmlns:a16="http://schemas.microsoft.com/office/drawing/2014/main" id="{628AC619-DC10-4EB3-A52B-6CB8D2F86D64}"/>
              </a:ext>
            </a:extLst>
          </p:cNvPr>
          <p:cNvSpPr>
            <a:spLocks noGrp="1"/>
          </p:cNvSpPr>
          <p:nvPr/>
        </p:nvSpPr>
        <p:spPr>
          <a:xfrm>
            <a:off x="9382125" y="60769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5.5; Brockmann2011.</a:t>
            </a:r>
          </a:p>
        </p:txBody>
      </p:sp>
      <p:sp>
        <p:nvSpPr>
          <p:cNvPr id="25" name="slide-alt-summary" descr="Líneas armónicas aparecen debajo de una envolvente con dos regiones formánticas.">
            <a:extLst>
              <a:ext uri="{FF2B5EF4-FFF2-40B4-BE49-F238E27FC236}">
                <a16:creationId xmlns:a16="http://schemas.microsoft.com/office/drawing/2014/main" id="{292AFB15-4E8F-3014-13CE-857270EBD9E5}"/>
              </a:ext>
            </a:extLst>
          </p:cNvPr>
          <p:cNvSpPr/>
          <p:nvPr/>
        </p:nvSpPr>
        <p:spPr>
          <a:xfrm>
            <a:off x="12700" y="12700"/>
            <a:ext cx="12700" cy="12700"/>
          </a:xfrm>
          <a:prstGeom prst="rect">
            <a:avLst/>
          </a:prstGeom>
          <a:noFill/>
          <a:ln w="19050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8663046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yebrow">
            <a:extLst>
              <a:ext uri="{FF2B5EF4-FFF2-40B4-BE49-F238E27FC236}">
                <a16:creationId xmlns:a16="http://schemas.microsoft.com/office/drawing/2014/main" id="{92036453-484B-4063-B237-853F3E818663}"/>
              </a:ext>
            </a:extLst>
          </p:cNvPr>
          <p:cNvSpPr>
            <a:spLocks noGrp="1"/>
          </p:cNvSpPr>
          <p:nvPr/>
        </p:nvSpPr>
        <p:spPr>
          <a:xfrm>
            <a:off x="514350" y="2095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071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EBCE1BA6-946B-4CDE-81FD-9914F2B36712}"/>
              </a:ext>
            </a:extLst>
          </p:cNvPr>
          <p:cNvSpPr>
            <a:spLocks noGrp="1"/>
          </p:cNvSpPr>
          <p:nvPr/>
        </p:nvSpPr>
        <p:spPr>
          <a:xfrm>
            <a:off x="495300" y="428625"/>
            <a:ext cx="11191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En una vocal, líneas y envolvente cuentan historias diferentes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BDD4E6E5-2A9E-45F7-BA28-10908D40802B}"/>
              </a:ext>
            </a:extLst>
          </p:cNvPr>
          <p:cNvSpPr>
            <a:spLocks noGrp="1"/>
          </p:cNvSpPr>
          <p:nvPr/>
        </p:nvSpPr>
        <p:spPr>
          <a:xfrm>
            <a:off x="523875" y="971550"/>
            <a:ext cx="11001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Periodicidad de fuente y resonancias del tracto se leen por separado.</a:t>
            </a:r>
          </a:p>
        </p:txBody>
      </p:sp>
      <p:sp>
        <p:nvSpPr>
          <p:cNvPr id="4" name="equation-box">
            <a:extLst>
              <a:ext uri="{FF2B5EF4-FFF2-40B4-BE49-F238E27FC236}">
                <a16:creationId xmlns:a16="http://schemas.microsoft.com/office/drawing/2014/main" id="{9CBE8264-6B1C-48A4-965C-C781EBD7E9E9}"/>
              </a:ext>
            </a:extLst>
          </p:cNvPr>
          <p:cNvSpPr>
            <a:spLocks noGrp="1"/>
          </p:cNvSpPr>
          <p:nvPr/>
        </p:nvSpPr>
        <p:spPr>
          <a:xfrm>
            <a:off x="1143000" y="1619250"/>
            <a:ext cx="9906000" cy="1047750"/>
          </a:xfrm>
          <a:prstGeom prst="roundRect">
            <a:avLst>
              <a:gd name="adj" fmla="val 12727"/>
            </a:avLst>
          </a:prstGeom>
          <a:solidFill>
            <a:srgbClr val="EFECF7"/>
          </a:solidFill>
          <a:ln w="19050">
            <a:solidFill>
              <a:srgbClr val="65539A"/>
            </a:solidFill>
            <a:prstDash val="solid"/>
          </a:ln>
        </p:spPr>
      </p:sp>
      <p:sp>
        <p:nvSpPr>
          <p:cNvPr id="5" name="equation">
            <a:extLst>
              <a:ext uri="{FF2B5EF4-FFF2-40B4-BE49-F238E27FC236}">
                <a16:creationId xmlns:a16="http://schemas.microsoft.com/office/drawing/2014/main" id="{DD1F9633-FEA8-4DF3-9476-0623F9885664}"/>
              </a:ext>
            </a:extLst>
          </p:cNvPr>
          <p:cNvSpPr>
            <a:spLocks noGrp="1"/>
          </p:cNvSpPr>
          <p:nvPr/>
        </p:nvSpPr>
        <p:spPr>
          <a:xfrm>
            <a:off x="1371600" y="1771650"/>
            <a:ext cx="94488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2000"/>
              </a:lnSpc>
              <a:buNone/>
              <a:defRPr sz="3000" b="1" i="0">
                <a:solidFill>
                  <a:srgbClr val="172333"/>
                </a:solidFill>
                <a:latin typeface="Cambria Math"/>
                <a:ea typeface="Cambria Math"/>
                <a:cs typeface="Cambria Math"/>
              </a:defRPr>
            </a:pPr>
            <a:r>
              <a:rPr sz="3000" b="1" i="0">
                <a:solidFill>
                  <a:srgbClr val="172333"/>
                </a:solidFill>
                <a:latin typeface="Cambria Math"/>
                <a:ea typeface="Cambria Math"/>
                <a:cs typeface="Cambria Math"/>
              </a:rPr>
              <a:t>f_0≈100 Hz por espaciado.</a:t>
            </a:r>
          </a:p>
        </p:txBody>
      </p:sp>
      <p:sp>
        <p:nvSpPr>
          <p:cNvPr id="6" name="equation-meaning-box">
            <a:extLst>
              <a:ext uri="{FF2B5EF4-FFF2-40B4-BE49-F238E27FC236}">
                <a16:creationId xmlns:a16="http://schemas.microsoft.com/office/drawing/2014/main" id="{2EBEBB8B-D570-4CAC-9DF8-75DC690196A1}"/>
              </a:ext>
            </a:extLst>
          </p:cNvPr>
          <p:cNvSpPr>
            <a:spLocks noGrp="1"/>
          </p:cNvSpPr>
          <p:nvPr/>
        </p:nvSpPr>
        <p:spPr>
          <a:xfrm>
            <a:off x="857250" y="3000375"/>
            <a:ext cx="4953000" cy="2381250"/>
          </a:xfrm>
          <a:prstGeom prst="roundRect">
            <a:avLst>
              <a:gd name="adj" fmla="val 5600"/>
            </a:avLst>
          </a:prstGeom>
          <a:solidFill>
            <a:srgbClr val="DDEFF5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7" name="equation-meaning-title">
            <a:extLst>
              <a:ext uri="{FF2B5EF4-FFF2-40B4-BE49-F238E27FC236}">
                <a16:creationId xmlns:a16="http://schemas.microsoft.com/office/drawing/2014/main" id="{1B70F0CA-9F97-4DAB-9B83-9956DE09EE8D}"/>
              </a:ext>
            </a:extLst>
          </p:cNvPr>
          <p:cNvSpPr>
            <a:spLocks noGrp="1"/>
          </p:cNvSpPr>
          <p:nvPr/>
        </p:nvSpPr>
        <p:spPr>
          <a:xfrm>
            <a:off x="1028700" y="3133725"/>
            <a:ext cx="4610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Qué significa</a:t>
            </a:r>
          </a:p>
        </p:txBody>
      </p:sp>
      <p:sp>
        <p:nvSpPr>
          <p:cNvPr id="8" name="equation-meaning-body">
            <a:extLst>
              <a:ext uri="{FF2B5EF4-FFF2-40B4-BE49-F238E27FC236}">
                <a16:creationId xmlns:a16="http://schemas.microsoft.com/office/drawing/2014/main" id="{689DF234-47CF-4C59-B0B4-5B7A61C69F71}"/>
              </a:ext>
            </a:extLst>
          </p:cNvPr>
          <p:cNvSpPr>
            <a:spLocks noGrp="1"/>
          </p:cNvSpPr>
          <p:nvPr/>
        </p:nvSpPr>
        <p:spPr>
          <a:xfrm>
            <a:off x="1028700" y="3514725"/>
            <a:ext cx="4610100" cy="1733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caso sintético; registro vocal real pendiente.</a:t>
            </a:r>
          </a:p>
        </p:txBody>
      </p:sp>
      <p:sp>
        <p:nvSpPr>
          <p:cNvPr id="9" name="equation-use-box">
            <a:extLst>
              <a:ext uri="{FF2B5EF4-FFF2-40B4-BE49-F238E27FC236}">
                <a16:creationId xmlns:a16="http://schemas.microsoft.com/office/drawing/2014/main" id="{FF19AFD4-8E35-46EA-9B6C-CF016B43D239}"/>
              </a:ext>
            </a:extLst>
          </p:cNvPr>
          <p:cNvSpPr>
            <a:spLocks noGrp="1"/>
          </p:cNvSpPr>
          <p:nvPr/>
        </p:nvSpPr>
        <p:spPr>
          <a:xfrm>
            <a:off x="6381750" y="3000375"/>
            <a:ext cx="4953000" cy="2381250"/>
          </a:xfrm>
          <a:prstGeom prst="roundRect">
            <a:avLst>
              <a:gd name="adj" fmla="val 5600"/>
            </a:avLst>
          </a:prstGeom>
          <a:solidFill>
            <a:srgbClr val="E3F2ED"/>
          </a:solidFill>
          <a:ln w="19050">
            <a:solidFill>
              <a:srgbClr val="2D7867"/>
            </a:solidFill>
            <a:prstDash val="solid"/>
          </a:ln>
        </p:spPr>
      </p:sp>
      <p:sp>
        <p:nvSpPr>
          <p:cNvPr id="10" name="equation-use-title">
            <a:extLst>
              <a:ext uri="{FF2B5EF4-FFF2-40B4-BE49-F238E27FC236}">
                <a16:creationId xmlns:a16="http://schemas.microsoft.com/office/drawing/2014/main" id="{EFCA9DBF-E7E6-4BE9-A0AF-5D980CAF8E42}"/>
              </a:ext>
            </a:extLst>
          </p:cNvPr>
          <p:cNvSpPr>
            <a:spLocks noGrp="1"/>
          </p:cNvSpPr>
          <p:nvPr/>
        </p:nvSpPr>
        <p:spPr>
          <a:xfrm>
            <a:off x="6553200" y="3133725"/>
            <a:ext cx="4610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Cómo se usa</a:t>
            </a:r>
          </a:p>
        </p:txBody>
      </p:sp>
      <p:sp>
        <p:nvSpPr>
          <p:cNvPr id="11" name="equation-use-body">
            <a:extLst>
              <a:ext uri="{FF2B5EF4-FFF2-40B4-BE49-F238E27FC236}">
                <a16:creationId xmlns:a16="http://schemas.microsoft.com/office/drawing/2014/main" id="{A7357208-C360-4AD0-88D8-98FB0B825C90}"/>
              </a:ext>
            </a:extLst>
          </p:cNvPr>
          <p:cNvSpPr>
            <a:spLocks noGrp="1"/>
          </p:cNvSpPr>
          <p:nvPr/>
        </p:nvSpPr>
        <p:spPr>
          <a:xfrm>
            <a:off x="6553200" y="3514725"/>
            <a:ext cx="4610100" cy="1733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Máximos amplios cerca de 700 y 1100 Hz → regiones de envolvente. Describir no equivale a diagnosticar.</a:t>
            </a:r>
          </a:p>
        </p:txBody>
      </p:sp>
      <p:sp>
        <p:nvSpPr>
          <p:cNvPr id="12" name="caption">
            <a:extLst>
              <a:ext uri="{FF2B5EF4-FFF2-40B4-BE49-F238E27FC236}">
                <a16:creationId xmlns:a16="http://schemas.microsoft.com/office/drawing/2014/main" id="{6623C8D3-87C2-4899-8F89-F53184A254E5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876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Aplicación introductoria del modelo fuente–filtro.</a:t>
            </a:r>
          </a:p>
        </p:txBody>
      </p:sp>
      <p:sp>
        <p:nvSpPr>
          <p:cNvPr id="13" name="credit">
            <a:extLst>
              <a:ext uri="{FF2B5EF4-FFF2-40B4-BE49-F238E27FC236}">
                <a16:creationId xmlns:a16="http://schemas.microsoft.com/office/drawing/2014/main" id="{A12BB8CF-BECB-4381-8CC3-3D584402CC7E}"/>
              </a:ext>
            </a:extLst>
          </p:cNvPr>
          <p:cNvSpPr>
            <a:spLocks noGrp="1"/>
          </p:cNvSpPr>
          <p:nvPr/>
        </p:nvSpPr>
        <p:spPr>
          <a:xfrm>
            <a:off x="9382125" y="60769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aplicación F1; Brockmann2011.</a:t>
            </a:r>
          </a:p>
        </p:txBody>
      </p:sp>
      <p:sp>
        <p:nvSpPr>
          <p:cNvPr id="15" name="slide-alt-summary" descr="Espectro sintético de vocal con líneas cada 100 Hz y envolvente con dos máximos amplios.">
            <a:extLst>
              <a:ext uri="{FF2B5EF4-FFF2-40B4-BE49-F238E27FC236}">
                <a16:creationId xmlns:a16="http://schemas.microsoft.com/office/drawing/2014/main" id="{95186EE5-A694-C54E-87D8-38606A52B4E8}"/>
              </a:ext>
            </a:extLst>
          </p:cNvPr>
          <p:cNvSpPr/>
          <p:nvPr/>
        </p:nvSpPr>
        <p:spPr>
          <a:xfrm>
            <a:off x="12700" y="12700"/>
            <a:ext cx="12700" cy="12700"/>
          </a:xfrm>
          <a:prstGeom prst="rect">
            <a:avLst/>
          </a:prstGeom>
          <a:noFill/>
          <a:ln w="19050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1705772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yebrow">
            <a:extLst>
              <a:ext uri="{FF2B5EF4-FFF2-40B4-BE49-F238E27FC236}">
                <a16:creationId xmlns:a16="http://schemas.microsoft.com/office/drawing/2014/main" id="{CF7CA1C4-31DF-4C1C-9A4B-00430BE9F5BC}"/>
              </a:ext>
            </a:extLst>
          </p:cNvPr>
          <p:cNvSpPr>
            <a:spLocks noGrp="1"/>
          </p:cNvSpPr>
          <p:nvPr/>
        </p:nvSpPr>
        <p:spPr>
          <a:xfrm>
            <a:off x="514350" y="2095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072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01A0FCF0-39AD-4E49-B593-2159A02C494D}"/>
              </a:ext>
            </a:extLst>
          </p:cNvPr>
          <p:cNvSpPr>
            <a:spLocks noGrp="1"/>
          </p:cNvSpPr>
          <p:nvPr/>
        </p:nvSpPr>
        <p:spPr>
          <a:xfrm>
            <a:off x="495300" y="428625"/>
            <a:ext cx="11191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¿Fundamental, armónico, parcial, sobretono o formante?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BFB09EA9-8EAE-411E-913A-5C59575B37F6}"/>
              </a:ext>
            </a:extLst>
          </p:cNvPr>
          <p:cNvSpPr>
            <a:spLocks noGrp="1"/>
          </p:cNvSpPr>
          <p:nvPr/>
        </p:nvSpPr>
        <p:spPr>
          <a:xfrm>
            <a:off x="523875" y="971550"/>
            <a:ext cx="11001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Clasifique y justifique el criterio.</a:t>
            </a:r>
          </a:p>
        </p:txBody>
      </p:sp>
      <p:pic>
        <p:nvPicPr>
          <p:cNvPr id="13" name="Gráfico 1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457200" y="1381125"/>
            <a:ext cx="7524750" cy="4429125"/>
          </a:xfrm>
          <a:prstGeom prst="rect">
            <a:avLst/>
          </a:prstGeom>
        </p:spPr>
      </p:pic>
      <p:sp>
        <p:nvSpPr>
          <p:cNvPr id="5" name="chart-reading-box">
            <a:extLst>
              <a:ext uri="{FF2B5EF4-FFF2-40B4-BE49-F238E27FC236}">
                <a16:creationId xmlns:a16="http://schemas.microsoft.com/office/drawing/2014/main" id="{FDFE7E09-9502-4EFE-9E01-6EB4DBA6099F}"/>
              </a:ext>
            </a:extLst>
          </p:cNvPr>
          <p:cNvSpPr>
            <a:spLocks noGrp="1"/>
          </p:cNvSpPr>
          <p:nvPr/>
        </p:nvSpPr>
        <p:spPr>
          <a:xfrm>
            <a:off x="8239125" y="1476375"/>
            <a:ext cx="3190875" cy="3857625"/>
          </a:xfrm>
          <a:prstGeom prst="roundRect">
            <a:avLst>
              <a:gd name="adj" fmla="val 4179"/>
            </a:avLst>
          </a:prstGeom>
          <a:solidFill>
            <a:srgbClr val="DDEFF5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6" name="chart-reading-title">
            <a:extLst>
              <a:ext uri="{FF2B5EF4-FFF2-40B4-BE49-F238E27FC236}">
                <a16:creationId xmlns:a16="http://schemas.microsoft.com/office/drawing/2014/main" id="{017D39F5-4CF0-413C-986F-ACD857D89CC5}"/>
              </a:ext>
            </a:extLst>
          </p:cNvPr>
          <p:cNvSpPr>
            <a:spLocks noGrp="1"/>
          </p:cNvSpPr>
          <p:nvPr/>
        </p:nvSpPr>
        <p:spPr>
          <a:xfrm>
            <a:off x="8410575" y="1609725"/>
            <a:ext cx="28479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Qué leer</a:t>
            </a:r>
          </a:p>
        </p:txBody>
      </p:sp>
      <p:sp>
        <p:nvSpPr>
          <p:cNvPr id="7" name="chart-reading-body">
            <a:extLst>
              <a:ext uri="{FF2B5EF4-FFF2-40B4-BE49-F238E27FC236}">
                <a16:creationId xmlns:a16="http://schemas.microsoft.com/office/drawing/2014/main" id="{F4A2C57C-0B0E-4BDD-A5A7-F822F169A5F0}"/>
              </a:ext>
            </a:extLst>
          </p:cNvPr>
          <p:cNvSpPr>
            <a:spLocks noGrp="1"/>
          </p:cNvSpPr>
          <p:nvPr/>
        </p:nvSpPr>
        <p:spPr>
          <a:xfrm>
            <a:off x="8410575" y="1990725"/>
            <a:ext cx="2847975" cy="3209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Cinco llamadas sobre dos espectros. Una componente puede admitir varias etiquetas indique por qué. No use “pico mayor” como única evidencia.</a:t>
            </a:r>
          </a:p>
        </p:txBody>
      </p:sp>
      <p:sp>
        <p:nvSpPr>
          <p:cNvPr id="8" name="caption">
            <a:extLst>
              <a:ext uri="{FF2B5EF4-FFF2-40B4-BE49-F238E27FC236}">
                <a16:creationId xmlns:a16="http://schemas.microsoft.com/office/drawing/2014/main" id="{77277B33-E14D-46B3-AEBC-95E714BC5723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876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La etiqueta depende de periodicidad, múltiplo y objeto.</a:t>
            </a:r>
          </a:p>
        </p:txBody>
      </p:sp>
      <p:sp>
        <p:nvSpPr>
          <p:cNvPr id="9" name="credit">
            <a:extLst>
              <a:ext uri="{FF2B5EF4-FFF2-40B4-BE49-F238E27FC236}">
                <a16:creationId xmlns:a16="http://schemas.microsoft.com/office/drawing/2014/main" id="{91AB68FE-A863-4EE0-99BB-B9DA8DA4181E}"/>
              </a:ext>
            </a:extLst>
          </p:cNvPr>
          <p:cNvSpPr>
            <a:spLocks noGrp="1"/>
          </p:cNvSpPr>
          <p:nvPr/>
        </p:nvSpPr>
        <p:spPr>
          <a:xfrm>
            <a:off x="9382125" y="60769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ejercicios C3, L4 y F1.</a:t>
            </a:r>
          </a:p>
        </p:txBody>
      </p:sp>
      <p:sp>
        <p:nvSpPr>
          <p:cNvPr id="4" name="slide-alt-summary" descr="Dos espectros con cinco componentes numeradas para clasificar.">
            <a:extLst>
              <a:ext uri="{FF2B5EF4-FFF2-40B4-BE49-F238E27FC236}">
                <a16:creationId xmlns:a16="http://schemas.microsoft.com/office/drawing/2014/main" id="{F5DEF23C-6D4F-1FFE-3079-D4ED4240B3BC}"/>
              </a:ext>
            </a:extLst>
          </p:cNvPr>
          <p:cNvSpPr/>
          <p:nvPr/>
        </p:nvSpPr>
        <p:spPr>
          <a:xfrm>
            <a:off x="12700" y="12700"/>
            <a:ext cx="12700" cy="12700"/>
          </a:xfrm>
          <a:prstGeom prst="rect">
            <a:avLst/>
          </a:prstGeom>
          <a:noFill/>
          <a:ln w="19050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154637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yebrow">
            <a:extLst>
              <a:ext uri="{FF2B5EF4-FFF2-40B4-BE49-F238E27FC236}">
                <a16:creationId xmlns:a16="http://schemas.microsoft.com/office/drawing/2014/main" id="{4B9AB209-74CF-4CD1-9510-8D0B04D269BE}"/>
              </a:ext>
            </a:extLst>
          </p:cNvPr>
          <p:cNvSpPr>
            <a:spLocks noGrp="1"/>
          </p:cNvSpPr>
          <p:nvPr/>
        </p:nvSpPr>
        <p:spPr>
          <a:xfrm>
            <a:off x="514350" y="2095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073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D8848D52-A111-4A46-9864-40DF6667F2B4}"/>
              </a:ext>
            </a:extLst>
          </p:cNvPr>
          <p:cNvSpPr>
            <a:spLocks noGrp="1"/>
          </p:cNvSpPr>
          <p:nvPr/>
        </p:nvSpPr>
        <p:spPr>
          <a:xfrm>
            <a:off x="495300" y="428625"/>
            <a:ext cx="11191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Hasta acá: periodicidad, componentes y resonancias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88E0A38E-6310-422E-8B33-54E72449584F}"/>
              </a:ext>
            </a:extLst>
          </p:cNvPr>
          <p:cNvSpPr>
            <a:spLocks noGrp="1"/>
          </p:cNvSpPr>
          <p:nvPr/>
        </p:nvSpPr>
        <p:spPr>
          <a:xfrm>
            <a:off x="523875" y="971550"/>
            <a:ext cx="11001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Fuente y sistema aportan informaciones distintas.</a:t>
            </a:r>
          </a:p>
        </p:txBody>
      </p:sp>
      <p:sp>
        <p:nvSpPr>
          <p:cNvPr id="4" name="U05-DG-014-recap_object">
            <a:extLst>
              <a:ext uri="{FF2B5EF4-FFF2-40B4-BE49-F238E27FC236}">
                <a16:creationId xmlns:a16="http://schemas.microsoft.com/office/drawing/2014/main" id="{323D90BD-214E-48EA-8486-C3794563BC67}"/>
              </a:ext>
            </a:extLst>
          </p:cNvPr>
          <p:cNvSpPr>
            <a:spLocks noGrp="1"/>
          </p:cNvSpPr>
          <p:nvPr/>
        </p:nvSpPr>
        <p:spPr>
          <a:xfrm>
            <a:off x="857250" y="1714500"/>
            <a:ext cx="3048000" cy="1238250"/>
          </a:xfrm>
          <a:prstGeom prst="roundRect">
            <a:avLst>
              <a:gd name="adj" fmla="val 10769"/>
            </a:avLst>
          </a:prstGeom>
          <a:solidFill>
            <a:srgbClr val="EFF8FA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5" name="U05-DG-014-recap_object-title">
            <a:extLst>
              <a:ext uri="{FF2B5EF4-FFF2-40B4-BE49-F238E27FC236}">
                <a16:creationId xmlns:a16="http://schemas.microsoft.com/office/drawing/2014/main" id="{D1CD4BDD-58E9-41AD-BDDE-481D464D24B7}"/>
              </a:ext>
            </a:extLst>
          </p:cNvPr>
          <p:cNvSpPr>
            <a:spLocks noGrp="1"/>
          </p:cNvSpPr>
          <p:nvPr/>
        </p:nvSpPr>
        <p:spPr>
          <a:xfrm>
            <a:off x="1028700" y="1838325"/>
            <a:ext cx="27051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Objeto</a:t>
            </a:r>
          </a:p>
        </p:txBody>
      </p:sp>
      <p:sp>
        <p:nvSpPr>
          <p:cNvPr id="6" name="U05-DG-014-recap_object-body">
            <a:extLst>
              <a:ext uri="{FF2B5EF4-FFF2-40B4-BE49-F238E27FC236}">
                <a16:creationId xmlns:a16="http://schemas.microsoft.com/office/drawing/2014/main" id="{634FDFB9-BDA3-46BC-BA4E-E9803BCBF42A}"/>
              </a:ext>
            </a:extLst>
          </p:cNvPr>
          <p:cNvSpPr>
            <a:spLocks noGrp="1"/>
          </p:cNvSpPr>
          <p:nvPr/>
        </p:nvSpPr>
        <p:spPr>
          <a:xfrm>
            <a:off x="1028700" y="2209800"/>
            <a:ext cx="27051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señal / sistema</a:t>
            </a:r>
          </a:p>
        </p:txBody>
      </p:sp>
      <p:sp>
        <p:nvSpPr>
          <p:cNvPr id="7" name="U05-DG-014-recap_axes">
            <a:extLst>
              <a:ext uri="{FF2B5EF4-FFF2-40B4-BE49-F238E27FC236}">
                <a16:creationId xmlns:a16="http://schemas.microsoft.com/office/drawing/2014/main" id="{26771CF7-C7BA-41C3-B168-6C86CE5BF50F}"/>
              </a:ext>
            </a:extLst>
          </p:cNvPr>
          <p:cNvSpPr>
            <a:spLocks noGrp="1"/>
          </p:cNvSpPr>
          <p:nvPr/>
        </p:nvSpPr>
        <p:spPr>
          <a:xfrm>
            <a:off x="4572000" y="1714500"/>
            <a:ext cx="3048000" cy="1238250"/>
          </a:xfrm>
          <a:prstGeom prst="roundRect">
            <a:avLst>
              <a:gd name="adj" fmla="val 10769"/>
            </a:avLst>
          </a:prstGeom>
          <a:solidFill>
            <a:srgbClr val="F3F6F8"/>
          </a:solidFill>
          <a:ln w="19050">
            <a:solidFill>
              <a:srgbClr val="8291A3"/>
            </a:solidFill>
            <a:prstDash val="solid"/>
          </a:ln>
        </p:spPr>
      </p:sp>
      <p:sp>
        <p:nvSpPr>
          <p:cNvPr id="8" name="U05-DG-014-recap_axes-title">
            <a:extLst>
              <a:ext uri="{FF2B5EF4-FFF2-40B4-BE49-F238E27FC236}">
                <a16:creationId xmlns:a16="http://schemas.microsoft.com/office/drawing/2014/main" id="{A1F837E6-A2BD-4307-8194-7151525E9B0E}"/>
              </a:ext>
            </a:extLst>
          </p:cNvPr>
          <p:cNvSpPr>
            <a:spLocks noGrp="1"/>
          </p:cNvSpPr>
          <p:nvPr/>
        </p:nvSpPr>
        <p:spPr>
          <a:xfrm>
            <a:off x="4743450" y="1838325"/>
            <a:ext cx="27051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Ejes</a:t>
            </a:r>
          </a:p>
        </p:txBody>
      </p:sp>
      <p:sp>
        <p:nvSpPr>
          <p:cNvPr id="9" name="U05-DG-014-recap_axes-body">
            <a:extLst>
              <a:ext uri="{FF2B5EF4-FFF2-40B4-BE49-F238E27FC236}">
                <a16:creationId xmlns:a16="http://schemas.microsoft.com/office/drawing/2014/main" id="{5D4037A2-BED1-4232-9F49-35C75D43B787}"/>
              </a:ext>
            </a:extLst>
          </p:cNvPr>
          <p:cNvSpPr>
            <a:spLocks noGrp="1"/>
          </p:cNvSpPr>
          <p:nvPr/>
        </p:nvSpPr>
        <p:spPr>
          <a:xfrm>
            <a:off x="4743450" y="2209800"/>
            <a:ext cx="27051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t / f</a:t>
            </a:r>
          </a:p>
        </p:txBody>
      </p:sp>
      <p:sp>
        <p:nvSpPr>
          <p:cNvPr id="10" name="U05-DG-014-recap_units">
            <a:extLst>
              <a:ext uri="{FF2B5EF4-FFF2-40B4-BE49-F238E27FC236}">
                <a16:creationId xmlns:a16="http://schemas.microsoft.com/office/drawing/2014/main" id="{F7532A64-0F16-489B-BAAA-34297463254B}"/>
              </a:ext>
            </a:extLst>
          </p:cNvPr>
          <p:cNvSpPr>
            <a:spLocks noGrp="1"/>
          </p:cNvSpPr>
          <p:nvPr/>
        </p:nvSpPr>
        <p:spPr>
          <a:xfrm>
            <a:off x="8286750" y="1714500"/>
            <a:ext cx="3048000" cy="1238250"/>
          </a:xfrm>
          <a:prstGeom prst="roundRect">
            <a:avLst>
              <a:gd name="adj" fmla="val 10769"/>
            </a:avLst>
          </a:prstGeom>
          <a:solidFill>
            <a:srgbClr val="F3F6F8"/>
          </a:solidFill>
          <a:ln w="19050">
            <a:solidFill>
              <a:srgbClr val="8291A3"/>
            </a:solidFill>
            <a:prstDash val="solid"/>
          </a:ln>
        </p:spPr>
      </p:sp>
      <p:sp>
        <p:nvSpPr>
          <p:cNvPr id="11" name="U05-DG-014-recap_units-title">
            <a:extLst>
              <a:ext uri="{FF2B5EF4-FFF2-40B4-BE49-F238E27FC236}">
                <a16:creationId xmlns:a16="http://schemas.microsoft.com/office/drawing/2014/main" id="{A3651221-38A3-485F-B3FC-29E9A4E0E9DE}"/>
              </a:ext>
            </a:extLst>
          </p:cNvPr>
          <p:cNvSpPr>
            <a:spLocks noGrp="1"/>
          </p:cNvSpPr>
          <p:nvPr/>
        </p:nvSpPr>
        <p:spPr>
          <a:xfrm>
            <a:off x="8458200" y="1838325"/>
            <a:ext cx="27051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Unidades</a:t>
            </a:r>
          </a:p>
        </p:txBody>
      </p:sp>
      <p:sp>
        <p:nvSpPr>
          <p:cNvPr id="12" name="U05-DG-014-recap_units-body">
            <a:extLst>
              <a:ext uri="{FF2B5EF4-FFF2-40B4-BE49-F238E27FC236}">
                <a16:creationId xmlns:a16="http://schemas.microsoft.com/office/drawing/2014/main" id="{91BFB0A8-21A4-4B96-BBB6-CE8C8477A6F0}"/>
              </a:ext>
            </a:extLst>
          </p:cNvPr>
          <p:cNvSpPr>
            <a:spLocks noGrp="1"/>
          </p:cNvSpPr>
          <p:nvPr/>
        </p:nvSpPr>
        <p:spPr>
          <a:xfrm>
            <a:off x="8458200" y="2209800"/>
            <a:ext cx="27051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s · Hz · Pa · dB</a:t>
            </a:r>
          </a:p>
        </p:txBody>
      </p:sp>
      <p:sp>
        <p:nvSpPr>
          <p:cNvPr id="13" name="U05-DG-014-recap_params">
            <a:extLst>
              <a:ext uri="{FF2B5EF4-FFF2-40B4-BE49-F238E27FC236}">
                <a16:creationId xmlns:a16="http://schemas.microsoft.com/office/drawing/2014/main" id="{F356A493-F3C3-4637-A859-80B1B449A87A}"/>
              </a:ext>
            </a:extLst>
          </p:cNvPr>
          <p:cNvSpPr>
            <a:spLocks noGrp="1"/>
          </p:cNvSpPr>
          <p:nvPr/>
        </p:nvSpPr>
        <p:spPr>
          <a:xfrm>
            <a:off x="2667000" y="3905250"/>
            <a:ext cx="3048000" cy="1238250"/>
          </a:xfrm>
          <a:prstGeom prst="roundRect">
            <a:avLst>
              <a:gd name="adj" fmla="val 10769"/>
            </a:avLst>
          </a:prstGeom>
          <a:solidFill>
            <a:srgbClr val="DDEFF5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14" name="U05-DG-014-recap_params-title">
            <a:extLst>
              <a:ext uri="{FF2B5EF4-FFF2-40B4-BE49-F238E27FC236}">
                <a16:creationId xmlns:a16="http://schemas.microsoft.com/office/drawing/2014/main" id="{5393DC32-2FF6-4D15-B33C-6B33C5C7075D}"/>
              </a:ext>
            </a:extLst>
          </p:cNvPr>
          <p:cNvSpPr>
            <a:spLocks noGrp="1"/>
          </p:cNvSpPr>
          <p:nvPr/>
        </p:nvSpPr>
        <p:spPr>
          <a:xfrm>
            <a:off x="2838450" y="4029075"/>
            <a:ext cx="27051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Parámetros</a:t>
            </a:r>
          </a:p>
        </p:txBody>
      </p:sp>
      <p:sp>
        <p:nvSpPr>
          <p:cNvPr id="15" name="U05-DG-014-recap_params-body">
            <a:extLst>
              <a:ext uri="{FF2B5EF4-FFF2-40B4-BE49-F238E27FC236}">
                <a16:creationId xmlns:a16="http://schemas.microsoft.com/office/drawing/2014/main" id="{EB7A3488-2B3E-4770-AB56-82E912E22AF3}"/>
              </a:ext>
            </a:extLst>
          </p:cNvPr>
          <p:cNvSpPr>
            <a:spLocks noGrp="1"/>
          </p:cNvSpPr>
          <p:nvPr/>
        </p:nvSpPr>
        <p:spPr>
          <a:xfrm>
            <a:off x="2838450" y="4400550"/>
            <a:ext cx="27051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ventana · N · fₛ</a:t>
            </a:r>
          </a:p>
        </p:txBody>
      </p:sp>
      <p:sp>
        <p:nvSpPr>
          <p:cNvPr id="16" name="U05-DG-014-recap_limit">
            <a:extLst>
              <a:ext uri="{FF2B5EF4-FFF2-40B4-BE49-F238E27FC236}">
                <a16:creationId xmlns:a16="http://schemas.microsoft.com/office/drawing/2014/main" id="{210E7A53-97A5-4A1E-A308-F9650D346DF7}"/>
              </a:ext>
            </a:extLst>
          </p:cNvPr>
          <p:cNvSpPr>
            <a:spLocks noGrp="1"/>
          </p:cNvSpPr>
          <p:nvPr/>
        </p:nvSpPr>
        <p:spPr>
          <a:xfrm>
            <a:off x="6477000" y="3905250"/>
            <a:ext cx="3048000" cy="1238250"/>
          </a:xfrm>
          <a:prstGeom prst="roundRect">
            <a:avLst>
              <a:gd name="adj" fmla="val 10769"/>
            </a:avLst>
          </a:prstGeom>
          <a:solidFill>
            <a:srgbClr val="E3F2ED"/>
          </a:solidFill>
          <a:ln w="19050">
            <a:solidFill>
              <a:srgbClr val="2D7867"/>
            </a:solidFill>
            <a:prstDash val="solid"/>
          </a:ln>
        </p:spPr>
      </p:sp>
      <p:sp>
        <p:nvSpPr>
          <p:cNvPr id="17" name="U05-DG-014-recap_limit-title">
            <a:extLst>
              <a:ext uri="{FF2B5EF4-FFF2-40B4-BE49-F238E27FC236}">
                <a16:creationId xmlns:a16="http://schemas.microsoft.com/office/drawing/2014/main" id="{CFF4446B-00D8-4343-9FC2-2EDB6F577924}"/>
              </a:ext>
            </a:extLst>
          </p:cNvPr>
          <p:cNvSpPr>
            <a:spLocks noGrp="1"/>
          </p:cNvSpPr>
          <p:nvPr/>
        </p:nvSpPr>
        <p:spPr>
          <a:xfrm>
            <a:off x="6648450" y="4029075"/>
            <a:ext cx="27051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Límite</a:t>
            </a:r>
          </a:p>
        </p:txBody>
      </p:sp>
      <p:sp>
        <p:nvSpPr>
          <p:cNvPr id="18" name="U05-DG-014-recap_limit-body">
            <a:extLst>
              <a:ext uri="{FF2B5EF4-FFF2-40B4-BE49-F238E27FC236}">
                <a16:creationId xmlns:a16="http://schemas.microsoft.com/office/drawing/2014/main" id="{0866577E-14FA-4D25-A5F8-489971EFA8FC}"/>
              </a:ext>
            </a:extLst>
          </p:cNvPr>
          <p:cNvSpPr>
            <a:spLocks noGrp="1"/>
          </p:cNvSpPr>
          <p:nvPr/>
        </p:nvSpPr>
        <p:spPr>
          <a:xfrm>
            <a:off x="6648450" y="4400550"/>
            <a:ext cx="27051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alcance declarado</a:t>
            </a:r>
          </a:p>
        </p:txBody>
      </p:sp>
      <p:sp>
        <p:nvSpPr>
          <p:cNvPr id="19" name="diagram-scale-note">
            <a:extLst>
              <a:ext uri="{FF2B5EF4-FFF2-40B4-BE49-F238E27FC236}">
                <a16:creationId xmlns:a16="http://schemas.microsoft.com/office/drawing/2014/main" id="{040F0988-EA71-4B30-8569-4A0E24D33CB4}"/>
              </a:ext>
            </a:extLst>
          </p:cNvPr>
          <p:cNvSpPr>
            <a:spLocks noGrp="1"/>
          </p:cNvSpPr>
          <p:nvPr/>
        </p:nvSpPr>
        <p:spPr>
          <a:xfrm>
            <a:off x="552450" y="5829300"/>
            <a:ext cx="3905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05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Esquema conceptual · no está a escala</a:t>
            </a:r>
          </a:p>
        </p:txBody>
      </p:sp>
      <p:sp>
        <p:nvSpPr>
          <p:cNvPr id="20" name="caption">
            <a:extLst>
              <a:ext uri="{FF2B5EF4-FFF2-40B4-BE49-F238E27FC236}">
                <a16:creationId xmlns:a16="http://schemas.microsoft.com/office/drawing/2014/main" id="{FA3E08E0-59F3-44D9-A4C3-1BEBD99F0E5C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876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El modelo fuente–filtro ordena el vocabulario.</a:t>
            </a:r>
          </a:p>
        </p:txBody>
      </p:sp>
      <p:sp>
        <p:nvSpPr>
          <p:cNvPr id="21" name="credit">
            <a:extLst>
              <a:ext uri="{FF2B5EF4-FFF2-40B4-BE49-F238E27FC236}">
                <a16:creationId xmlns:a16="http://schemas.microsoft.com/office/drawing/2014/main" id="{ED6460B3-30CA-4B2E-B29D-509ADD5BC003}"/>
              </a:ext>
            </a:extLst>
          </p:cNvPr>
          <p:cNvSpPr>
            <a:spLocks noGrp="1"/>
          </p:cNvSpPr>
          <p:nvPr/>
        </p:nvSpPr>
        <p:spPr>
          <a:xfrm>
            <a:off x="9382125" y="60769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5.5–5.6.</a:t>
            </a:r>
          </a:p>
        </p:txBody>
      </p:sp>
      <p:sp>
        <p:nvSpPr>
          <p:cNvPr id="23" name="slide-alt-summary" descr="Mapa conecta fuente periódica con líneas y tracto vocal con envolvente.">
            <a:extLst>
              <a:ext uri="{FF2B5EF4-FFF2-40B4-BE49-F238E27FC236}">
                <a16:creationId xmlns:a16="http://schemas.microsoft.com/office/drawing/2014/main" id="{B8D6F076-CA01-31E0-C97C-71B110FFFCE1}"/>
              </a:ext>
            </a:extLst>
          </p:cNvPr>
          <p:cNvSpPr/>
          <p:nvPr/>
        </p:nvSpPr>
        <p:spPr>
          <a:xfrm>
            <a:off x="12700" y="12700"/>
            <a:ext cx="12700" cy="12700"/>
          </a:xfrm>
          <a:prstGeom prst="rect">
            <a:avLst/>
          </a:prstGeom>
          <a:noFill/>
          <a:ln w="19050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2020363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yebrow">
            <a:extLst>
              <a:ext uri="{FF2B5EF4-FFF2-40B4-BE49-F238E27FC236}">
                <a16:creationId xmlns:a16="http://schemas.microsoft.com/office/drawing/2014/main" id="{0569FE6C-A50E-4F00-B38D-6902580672CB}"/>
              </a:ext>
            </a:extLst>
          </p:cNvPr>
          <p:cNvSpPr>
            <a:spLocks noGrp="1"/>
          </p:cNvSpPr>
          <p:nvPr/>
        </p:nvSpPr>
        <p:spPr>
          <a:xfrm>
            <a:off x="514350" y="2095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1" i="0">
                <a:solidFill>
                  <a:srgbClr val="B9D8E7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B9D8E7"/>
                </a:solidFill>
                <a:latin typeface="Calibri"/>
                <a:ea typeface="Calibri"/>
                <a:cs typeface="Calibri"/>
              </a:rPr>
              <a:t>UNIDAD 5 · 074</a:t>
            </a:r>
          </a:p>
        </p:txBody>
      </p:sp>
      <p:sp>
        <p:nvSpPr>
          <p:cNvPr id="2" name="divider-title">
            <a:extLst>
              <a:ext uri="{FF2B5EF4-FFF2-40B4-BE49-F238E27FC236}">
                <a16:creationId xmlns:a16="http://schemas.microsoft.com/office/drawing/2014/main" id="{C01B2F90-DC42-4AE1-8870-2C76229CA7B0}"/>
              </a:ext>
            </a:extLst>
          </p:cNvPr>
          <p:cNvSpPr>
            <a:spLocks noGrp="1"/>
          </p:cNvSpPr>
          <p:nvPr/>
        </p:nvSpPr>
        <p:spPr>
          <a:xfrm>
            <a:off x="714375" y="2190750"/>
            <a:ext cx="104775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lnSpc>
                <a:spcPct val="102000"/>
              </a:lnSpc>
              <a:buNone/>
              <a:defRPr sz="4050" b="1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4050" b="1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Los límites son convenciones bajo condiciones</a:t>
            </a:r>
          </a:p>
        </p:txBody>
      </p:sp>
      <p:sp>
        <p:nvSpPr>
          <p:cNvPr id="3" name="divider-subtitle">
            <a:extLst>
              <a:ext uri="{FF2B5EF4-FFF2-40B4-BE49-F238E27FC236}">
                <a16:creationId xmlns:a16="http://schemas.microsoft.com/office/drawing/2014/main" id="{BD00384B-D20B-4808-AC68-E3D7ECD3E2FF}"/>
              </a:ext>
            </a:extLst>
          </p:cNvPr>
          <p:cNvSpPr>
            <a:spLocks noGrp="1"/>
          </p:cNvSpPr>
          <p:nvPr/>
        </p:nvSpPr>
        <p:spPr>
          <a:xfrm>
            <a:off x="1714500" y="3429000"/>
            <a:ext cx="8763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100" b="0" i="0">
                <a:solidFill>
                  <a:srgbClr val="D6E4EA"/>
                </a:solidFill>
                <a:latin typeface="Calibri"/>
                <a:ea typeface="Calibri"/>
                <a:cs typeface="Calibri"/>
              </a:defRPr>
            </a:pPr>
            <a:r>
              <a:rPr sz="2100" b="0" i="0">
                <a:solidFill>
                  <a:srgbClr val="D6E4EA"/>
                </a:solidFill>
                <a:latin typeface="Calibri"/>
                <a:ea typeface="Calibri"/>
                <a:cs typeface="Calibri"/>
              </a:rPr>
              <a:t>Frecuencia y nivel participan en la detectabilidad.</a:t>
            </a:r>
          </a:p>
        </p:txBody>
      </p:sp>
      <p:sp>
        <p:nvSpPr>
          <p:cNvPr id="4" name="divider-content">
            <a:extLst>
              <a:ext uri="{FF2B5EF4-FFF2-40B4-BE49-F238E27FC236}">
                <a16:creationId xmlns:a16="http://schemas.microsoft.com/office/drawing/2014/main" id="{E994EC39-1C8A-432E-916D-75210C840F18}"/>
              </a:ext>
            </a:extLst>
          </p:cNvPr>
          <p:cNvSpPr>
            <a:spLocks noGrp="1"/>
          </p:cNvSpPr>
          <p:nvPr/>
        </p:nvSpPr>
        <p:spPr>
          <a:xfrm>
            <a:off x="2190750" y="4333875"/>
            <a:ext cx="781050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ctr">
              <a:lnSpc>
                <a:spcPct val="102000"/>
              </a:lnSpc>
              <a:buNone/>
              <a:defRPr sz="1875" b="0" i="0">
                <a:solidFill>
                  <a:srgbClr val="BDD0DA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BDD0DA"/>
                </a:solidFill>
                <a:latin typeface="Calibri"/>
                <a:ea typeface="Calibri"/>
                <a:cs typeface="Calibri"/>
              </a:rPr>
              <a:t>Infrasonido · rango audible convencional · ultrasonido.</a:t>
            </a:r>
          </a:p>
        </p:txBody>
      </p:sp>
      <p:sp>
        <p:nvSpPr>
          <p:cNvPr id="6" name="slide-alt-summary" descr="Eje logarítmico de frecuencia con tres regiones y transiciones aproximadas.">
            <a:extLst>
              <a:ext uri="{FF2B5EF4-FFF2-40B4-BE49-F238E27FC236}">
                <a16:creationId xmlns:a16="http://schemas.microsoft.com/office/drawing/2014/main" id="{023B8EBC-0DDB-A6B3-6089-BD4F9C97CA28}"/>
              </a:ext>
            </a:extLst>
          </p:cNvPr>
          <p:cNvSpPr/>
          <p:nvPr/>
        </p:nvSpPr>
        <p:spPr>
          <a:xfrm>
            <a:off x="12700" y="12700"/>
            <a:ext cx="12700" cy="12700"/>
          </a:xfrm>
          <a:prstGeom prst="rect">
            <a:avLst/>
          </a:prstGeom>
          <a:noFill/>
          <a:ln w="19050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yebrow">
            <a:extLst>
              <a:ext uri="{FF2B5EF4-FFF2-40B4-BE49-F238E27FC236}">
                <a16:creationId xmlns:a16="http://schemas.microsoft.com/office/drawing/2014/main" id="{3AEBCD4C-5688-448D-998C-B548F2E1FF0A}"/>
              </a:ext>
            </a:extLst>
          </p:cNvPr>
          <p:cNvSpPr>
            <a:spLocks noGrp="1"/>
          </p:cNvSpPr>
          <p:nvPr/>
        </p:nvSpPr>
        <p:spPr>
          <a:xfrm>
            <a:off x="514350" y="2095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075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2461B443-1DA4-4398-A703-AC3902D8DDDD}"/>
              </a:ext>
            </a:extLst>
          </p:cNvPr>
          <p:cNvSpPr>
            <a:spLocks noGrp="1"/>
          </p:cNvSpPr>
          <p:nvPr/>
        </p:nvSpPr>
        <p:spPr>
          <a:xfrm>
            <a:off x="495300" y="428625"/>
            <a:ext cx="11191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20 Hz y 20 kHz son fronteras aproximadas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8CEB597F-9693-4AA1-B182-ADB7E4388B1F}"/>
              </a:ext>
            </a:extLst>
          </p:cNvPr>
          <p:cNvSpPr>
            <a:spLocks noGrp="1"/>
          </p:cNvSpPr>
          <p:nvPr/>
        </p:nvSpPr>
        <p:spPr>
          <a:xfrm>
            <a:off x="523875" y="971550"/>
            <a:ext cx="11001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Dependen de oyente, nivel, estímulo y condiciones.</a:t>
            </a:r>
          </a:p>
        </p:txBody>
      </p:sp>
      <p:pic>
        <p:nvPicPr>
          <p:cNvPr id="13" name="Gráfico 1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457200" y="1381125"/>
            <a:ext cx="7524750" cy="4429125"/>
          </a:xfrm>
          <a:prstGeom prst="rect">
            <a:avLst/>
          </a:prstGeom>
        </p:spPr>
      </p:pic>
      <p:sp>
        <p:nvSpPr>
          <p:cNvPr id="5" name="chart-reading-box">
            <a:extLst>
              <a:ext uri="{FF2B5EF4-FFF2-40B4-BE49-F238E27FC236}">
                <a16:creationId xmlns:a16="http://schemas.microsoft.com/office/drawing/2014/main" id="{56F48574-55F4-464C-96F7-F137503DDF59}"/>
              </a:ext>
            </a:extLst>
          </p:cNvPr>
          <p:cNvSpPr>
            <a:spLocks noGrp="1"/>
          </p:cNvSpPr>
          <p:nvPr/>
        </p:nvSpPr>
        <p:spPr>
          <a:xfrm>
            <a:off x="8239125" y="1476375"/>
            <a:ext cx="3190875" cy="3857625"/>
          </a:xfrm>
          <a:prstGeom prst="roundRect">
            <a:avLst>
              <a:gd name="adj" fmla="val 4179"/>
            </a:avLst>
          </a:prstGeom>
          <a:solidFill>
            <a:srgbClr val="DDEFF5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6" name="chart-reading-title">
            <a:extLst>
              <a:ext uri="{FF2B5EF4-FFF2-40B4-BE49-F238E27FC236}">
                <a16:creationId xmlns:a16="http://schemas.microsoft.com/office/drawing/2014/main" id="{EEDD68FE-053A-4CF3-BA3D-8EDA0A85AA34}"/>
              </a:ext>
            </a:extLst>
          </p:cNvPr>
          <p:cNvSpPr>
            <a:spLocks noGrp="1"/>
          </p:cNvSpPr>
          <p:nvPr/>
        </p:nvSpPr>
        <p:spPr>
          <a:xfrm>
            <a:off x="8410575" y="1609725"/>
            <a:ext cx="28479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Qué leer</a:t>
            </a:r>
          </a:p>
        </p:txBody>
      </p:sp>
      <p:sp>
        <p:nvSpPr>
          <p:cNvPr id="7" name="chart-reading-body">
            <a:extLst>
              <a:ext uri="{FF2B5EF4-FFF2-40B4-BE49-F238E27FC236}">
                <a16:creationId xmlns:a16="http://schemas.microsoft.com/office/drawing/2014/main" id="{61855900-9B50-4B0A-A178-820268BB2643}"/>
              </a:ext>
            </a:extLst>
          </p:cNvPr>
          <p:cNvSpPr>
            <a:spLocks noGrp="1"/>
          </p:cNvSpPr>
          <p:nvPr/>
        </p:nvSpPr>
        <p:spPr>
          <a:xfrm>
            <a:off x="8410575" y="1990725"/>
            <a:ext cx="2847975" cy="3209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Infrasonido: por debajo de la región convencional. Audible: región convencional variable. Ultrasonido: por encima. No representan igual sensibilidad dentro del rango.</a:t>
            </a:r>
          </a:p>
        </p:txBody>
      </p:sp>
      <p:sp>
        <p:nvSpPr>
          <p:cNvPr id="8" name="caption">
            <a:extLst>
              <a:ext uri="{FF2B5EF4-FFF2-40B4-BE49-F238E27FC236}">
                <a16:creationId xmlns:a16="http://schemas.microsoft.com/office/drawing/2014/main" id="{FD7383C0-32EF-4E86-A25D-37F0C22C55B5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876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Clasificación conceptual, no normativa ni perceptualmente uniforme.</a:t>
            </a:r>
          </a:p>
        </p:txBody>
      </p:sp>
      <p:sp>
        <p:nvSpPr>
          <p:cNvPr id="9" name="credit">
            <a:extLst>
              <a:ext uri="{FF2B5EF4-FFF2-40B4-BE49-F238E27FC236}">
                <a16:creationId xmlns:a16="http://schemas.microsoft.com/office/drawing/2014/main" id="{3CAFFFF6-84D6-47C1-9819-F51F07E0B382}"/>
              </a:ext>
            </a:extLst>
          </p:cNvPr>
          <p:cNvSpPr>
            <a:spLocks noGrp="1"/>
          </p:cNvSpPr>
          <p:nvPr/>
        </p:nvSpPr>
        <p:spPr>
          <a:xfrm>
            <a:off x="9382125" y="60769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5.7.1; Oxenham2018; ISO 226:2023.</a:t>
            </a:r>
          </a:p>
        </p:txBody>
      </p:sp>
      <p:sp>
        <p:nvSpPr>
          <p:cNvPr id="4" name="slide-alt-summary" descr="Escala logarítmica marca 20 Hz y 20 kHz con bandas de transición y advertencia de aproximación.">
            <a:extLst>
              <a:ext uri="{FF2B5EF4-FFF2-40B4-BE49-F238E27FC236}">
                <a16:creationId xmlns:a16="http://schemas.microsoft.com/office/drawing/2014/main" id="{077D1191-FBFC-ADE2-8E7A-D454F5E86027}"/>
              </a:ext>
            </a:extLst>
          </p:cNvPr>
          <p:cNvSpPr/>
          <p:nvPr/>
        </p:nvSpPr>
        <p:spPr>
          <a:xfrm>
            <a:off x="12700" y="12700"/>
            <a:ext cx="12700" cy="12700"/>
          </a:xfrm>
          <a:prstGeom prst="rect">
            <a:avLst/>
          </a:prstGeom>
          <a:noFill/>
          <a:ln w="19050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8649001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yebrow">
            <a:extLst>
              <a:ext uri="{FF2B5EF4-FFF2-40B4-BE49-F238E27FC236}">
                <a16:creationId xmlns:a16="http://schemas.microsoft.com/office/drawing/2014/main" id="{399636A9-1F1A-4EDD-97E3-A5F3E14CEFE4}"/>
              </a:ext>
            </a:extLst>
          </p:cNvPr>
          <p:cNvSpPr>
            <a:spLocks noGrp="1"/>
          </p:cNvSpPr>
          <p:nvPr/>
        </p:nvSpPr>
        <p:spPr>
          <a:xfrm>
            <a:off x="514350" y="2095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076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5A664C33-8EF7-468E-A7B0-E548E40444DA}"/>
              </a:ext>
            </a:extLst>
          </p:cNvPr>
          <p:cNvSpPr>
            <a:spLocks noGrp="1"/>
          </p:cNvSpPr>
          <p:nvPr/>
        </p:nvSpPr>
        <p:spPr>
          <a:xfrm>
            <a:off x="495300" y="428625"/>
            <a:ext cx="11191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Infrasonido no significa siempre imperceptible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60FF47AD-0B3A-49A3-A471-B3F87B4718F8}"/>
              </a:ext>
            </a:extLst>
          </p:cNvPr>
          <p:cNvSpPr>
            <a:spLocks noGrp="1"/>
          </p:cNvSpPr>
          <p:nvPr/>
        </p:nvSpPr>
        <p:spPr>
          <a:xfrm>
            <a:off x="523875" y="971550"/>
            <a:ext cx="11001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La experiencia depende de más que la frecuencia.</a:t>
            </a:r>
          </a:p>
        </p:txBody>
      </p:sp>
      <p:sp>
        <p:nvSpPr>
          <p:cNvPr id="4" name="main-ideas">
            <a:extLst>
              <a:ext uri="{FF2B5EF4-FFF2-40B4-BE49-F238E27FC236}">
                <a16:creationId xmlns:a16="http://schemas.microsoft.com/office/drawing/2014/main" id="{74229DB7-9598-48F5-8198-3D6F6AD86EE0}"/>
              </a:ext>
            </a:extLst>
          </p:cNvPr>
          <p:cNvSpPr>
            <a:spLocks noGrp="1"/>
          </p:cNvSpPr>
          <p:nvPr/>
        </p:nvSpPr>
        <p:spPr>
          <a:xfrm>
            <a:off x="666750" y="1476375"/>
            <a:ext cx="6762750" cy="3857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76200" rIns="76200" bIns="76200">
            <a:noAutofit/>
          </a:bodyPr>
          <a:lstStyle/>
          <a:p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Considerar nivel, duración, distorsión del sistema y vibración.</a:t>
            </a:r>
          </a:p>
          <a:p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No inferir efecto clínico a partir de la etiqueta.</a:t>
            </a:r>
          </a:p>
        </p:txBody>
      </p:sp>
      <p:sp>
        <p:nvSpPr>
          <p:cNvPr id="5" name="side-panel-box">
            <a:extLst>
              <a:ext uri="{FF2B5EF4-FFF2-40B4-BE49-F238E27FC236}">
                <a16:creationId xmlns:a16="http://schemas.microsoft.com/office/drawing/2014/main" id="{D1469B82-9A74-4519-ACCC-8BE736E72DB4}"/>
              </a:ext>
            </a:extLst>
          </p:cNvPr>
          <p:cNvSpPr>
            <a:spLocks noGrp="1"/>
          </p:cNvSpPr>
          <p:nvPr/>
        </p:nvSpPr>
        <p:spPr>
          <a:xfrm>
            <a:off x="7953375" y="1571625"/>
            <a:ext cx="3476625" cy="3381375"/>
          </a:xfrm>
          <a:prstGeom prst="roundRect">
            <a:avLst>
              <a:gd name="adj" fmla="val 3944"/>
            </a:avLst>
          </a:prstGeom>
          <a:solidFill>
            <a:srgbClr val="E3F2ED"/>
          </a:solidFill>
          <a:ln w="19050">
            <a:solidFill>
              <a:srgbClr val="2D7867"/>
            </a:solidFill>
            <a:prstDash val="solid"/>
          </a:ln>
        </p:spPr>
      </p:sp>
      <p:sp>
        <p:nvSpPr>
          <p:cNvPr id="6" name="side-panel-title">
            <a:extLst>
              <a:ext uri="{FF2B5EF4-FFF2-40B4-BE49-F238E27FC236}">
                <a16:creationId xmlns:a16="http://schemas.microsoft.com/office/drawing/2014/main" id="{7E06C0F9-55AD-4411-971C-344AA2867C2F}"/>
              </a:ext>
            </a:extLst>
          </p:cNvPr>
          <p:cNvSpPr>
            <a:spLocks noGrp="1"/>
          </p:cNvSpPr>
          <p:nvPr/>
        </p:nvSpPr>
        <p:spPr>
          <a:xfrm>
            <a:off x="8124825" y="1704975"/>
            <a:ext cx="31337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Definición</a:t>
            </a:r>
          </a:p>
        </p:txBody>
      </p:sp>
      <p:sp>
        <p:nvSpPr>
          <p:cNvPr id="7" name="side-panel-body">
            <a:extLst>
              <a:ext uri="{FF2B5EF4-FFF2-40B4-BE49-F238E27FC236}">
                <a16:creationId xmlns:a16="http://schemas.microsoft.com/office/drawing/2014/main" id="{AB15FAD1-AF66-4FB7-82C7-DD75FA5952AC}"/>
              </a:ext>
            </a:extLst>
          </p:cNvPr>
          <p:cNvSpPr>
            <a:spLocks noGrp="1"/>
          </p:cNvSpPr>
          <p:nvPr/>
        </p:nvSpPr>
        <p:spPr>
          <a:xfrm>
            <a:off x="8124825" y="2085975"/>
            <a:ext cx="3133725" cy="2733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Infrasonido: frecuencia por debajo de la frontera audible convencional.</a:t>
            </a:r>
          </a:p>
        </p:txBody>
      </p:sp>
      <p:sp>
        <p:nvSpPr>
          <p:cNvPr id="8" name="example-line">
            <a:extLst>
              <a:ext uri="{FF2B5EF4-FFF2-40B4-BE49-F238E27FC236}">
                <a16:creationId xmlns:a16="http://schemas.microsoft.com/office/drawing/2014/main" id="{A75C9274-FD78-487B-BC4F-89B7F19E87E6}"/>
              </a:ext>
            </a:extLst>
          </p:cNvPr>
          <p:cNvSpPr>
            <a:spLocks noGrp="1"/>
          </p:cNvSpPr>
          <p:nvPr/>
        </p:nvSpPr>
        <p:spPr>
          <a:xfrm>
            <a:off x="8096250" y="5095875"/>
            <a:ext cx="3143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Ejemplo: estímulo de baja frecuencia bajo condiciones controladas, sin cifra de umbral.</a:t>
            </a:r>
          </a:p>
        </p:txBody>
      </p:sp>
      <p:sp>
        <p:nvSpPr>
          <p:cNvPr id="9" name="caption">
            <a:extLst>
              <a:ext uri="{FF2B5EF4-FFF2-40B4-BE49-F238E27FC236}">
                <a16:creationId xmlns:a16="http://schemas.microsoft.com/office/drawing/2014/main" id="{CF2ACA1A-BBCC-47F8-BBE6-8DDBF76BAE05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876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Frecuencia y detectabilidad no son sinónimos.</a:t>
            </a:r>
          </a:p>
        </p:txBody>
      </p:sp>
      <p:sp>
        <p:nvSpPr>
          <p:cNvPr id="10" name="credit">
            <a:extLst>
              <a:ext uri="{FF2B5EF4-FFF2-40B4-BE49-F238E27FC236}">
                <a16:creationId xmlns:a16="http://schemas.microsoft.com/office/drawing/2014/main" id="{B3CEA513-35EB-4D02-8AF9-17F0E7B0E563}"/>
              </a:ext>
            </a:extLst>
          </p:cNvPr>
          <p:cNvSpPr>
            <a:spLocks noGrp="1"/>
          </p:cNvSpPr>
          <p:nvPr/>
        </p:nvSpPr>
        <p:spPr>
          <a:xfrm>
            <a:off x="9382125" y="60769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5.7.1; Oxenham2018.</a:t>
            </a:r>
          </a:p>
        </p:txBody>
      </p:sp>
      <p:sp>
        <p:nvSpPr>
          <p:cNvPr id="12" name="slide-alt-summary" descr="Diagrama conceptual combina baja frecuencia con nivel, duración, distorsión y vibración.">
            <a:extLst>
              <a:ext uri="{FF2B5EF4-FFF2-40B4-BE49-F238E27FC236}">
                <a16:creationId xmlns:a16="http://schemas.microsoft.com/office/drawing/2014/main" id="{AA733F43-9C23-D9EE-EABA-D14C55ED2B52}"/>
              </a:ext>
            </a:extLst>
          </p:cNvPr>
          <p:cNvSpPr/>
          <p:nvPr/>
        </p:nvSpPr>
        <p:spPr>
          <a:xfrm>
            <a:off x="12700" y="12700"/>
            <a:ext cx="12700" cy="12700"/>
          </a:xfrm>
          <a:prstGeom prst="rect">
            <a:avLst/>
          </a:prstGeom>
          <a:noFill/>
          <a:ln w="19050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26975773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eyebrow">
            <a:extLst>
              <a:ext uri="{FF2B5EF4-FFF2-40B4-BE49-F238E27FC236}">
                <a16:creationId xmlns:a16="http://schemas.microsoft.com/office/drawing/2014/main" id="{4070F588-2B59-4974-877C-8367E0683417}"/>
              </a:ext>
            </a:extLst>
          </p:cNvPr>
          <p:cNvSpPr>
            <a:spLocks noGrp="1"/>
          </p:cNvSpPr>
          <p:nvPr/>
        </p:nvSpPr>
        <p:spPr>
          <a:xfrm>
            <a:off x="514350" y="2095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077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D36B9794-C5F6-4DCC-BEEB-AAA7424D5AC3}"/>
              </a:ext>
            </a:extLst>
          </p:cNvPr>
          <p:cNvSpPr>
            <a:spLocks noGrp="1"/>
          </p:cNvSpPr>
          <p:nvPr/>
        </p:nvSpPr>
        <p:spPr>
          <a:xfrm>
            <a:off x="495300" y="428625"/>
            <a:ext cx="11191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El rango audible cambia con frecuencia, nivel y oyente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22D46E59-53D9-4573-B3F3-4FA59583B15E}"/>
              </a:ext>
            </a:extLst>
          </p:cNvPr>
          <p:cNvSpPr>
            <a:spLocks noGrp="1"/>
          </p:cNvSpPr>
          <p:nvPr/>
        </p:nvSpPr>
        <p:spPr>
          <a:xfrm>
            <a:off x="523875" y="971550"/>
            <a:ext cx="11001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“Audible” describe una relación.</a:t>
            </a:r>
          </a:p>
        </p:txBody>
      </p:sp>
      <p:sp>
        <p:nvSpPr>
          <p:cNvPr id="4" name="U05-DG-008-frequency_range">
            <a:extLst>
              <a:ext uri="{FF2B5EF4-FFF2-40B4-BE49-F238E27FC236}">
                <a16:creationId xmlns:a16="http://schemas.microsoft.com/office/drawing/2014/main" id="{FF918A49-8493-411C-BF17-E6685079A31A}"/>
              </a:ext>
            </a:extLst>
          </p:cNvPr>
          <p:cNvSpPr>
            <a:spLocks noGrp="1"/>
          </p:cNvSpPr>
          <p:nvPr/>
        </p:nvSpPr>
        <p:spPr>
          <a:xfrm>
            <a:off x="904875" y="1476375"/>
            <a:ext cx="4762500" cy="1333500"/>
          </a:xfrm>
          <a:prstGeom prst="roundRect">
            <a:avLst>
              <a:gd name="adj" fmla="val 10000"/>
            </a:avLst>
          </a:prstGeom>
          <a:solidFill>
            <a:srgbClr val="EFF8FA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5" name="U05-DG-008-frequency_range-title">
            <a:extLst>
              <a:ext uri="{FF2B5EF4-FFF2-40B4-BE49-F238E27FC236}">
                <a16:creationId xmlns:a16="http://schemas.microsoft.com/office/drawing/2014/main" id="{0F191CAB-5F91-4932-A6F4-EAE60496B4E5}"/>
              </a:ext>
            </a:extLst>
          </p:cNvPr>
          <p:cNvSpPr>
            <a:spLocks noGrp="1"/>
          </p:cNvSpPr>
          <p:nvPr/>
        </p:nvSpPr>
        <p:spPr>
          <a:xfrm>
            <a:off x="1076325" y="1600200"/>
            <a:ext cx="4419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Región de frecuencia</a:t>
            </a:r>
          </a:p>
        </p:txBody>
      </p:sp>
      <p:sp>
        <p:nvSpPr>
          <p:cNvPr id="6" name="U05-DG-008-frequency_range-body">
            <a:extLst>
              <a:ext uri="{FF2B5EF4-FFF2-40B4-BE49-F238E27FC236}">
                <a16:creationId xmlns:a16="http://schemas.microsoft.com/office/drawing/2014/main" id="{E4B55705-433C-4204-9FFF-93D8730C978F}"/>
              </a:ext>
            </a:extLst>
          </p:cNvPr>
          <p:cNvSpPr>
            <a:spLocks noGrp="1"/>
          </p:cNvSpPr>
          <p:nvPr/>
        </p:nvSpPr>
        <p:spPr>
          <a:xfrm>
            <a:off x="1076325" y="2000250"/>
            <a:ext cx="44196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infra · audible · ultra</a:t>
            </a:r>
          </a:p>
        </p:txBody>
      </p:sp>
      <p:sp>
        <p:nvSpPr>
          <p:cNvPr id="7" name="U05-DG-008-dynamic_range">
            <a:extLst>
              <a:ext uri="{FF2B5EF4-FFF2-40B4-BE49-F238E27FC236}">
                <a16:creationId xmlns:a16="http://schemas.microsoft.com/office/drawing/2014/main" id="{2C90D6E0-8806-42EC-A457-FE6701B94CFE}"/>
              </a:ext>
            </a:extLst>
          </p:cNvPr>
          <p:cNvSpPr>
            <a:spLocks noGrp="1"/>
          </p:cNvSpPr>
          <p:nvPr/>
        </p:nvSpPr>
        <p:spPr>
          <a:xfrm>
            <a:off x="6524625" y="1476375"/>
            <a:ext cx="4762500" cy="1333500"/>
          </a:xfrm>
          <a:prstGeom prst="roundRect">
            <a:avLst>
              <a:gd name="adj" fmla="val 10000"/>
            </a:avLst>
          </a:prstGeom>
          <a:solidFill>
            <a:srgbClr val="E3F2ED"/>
          </a:solidFill>
          <a:ln w="19050">
            <a:solidFill>
              <a:srgbClr val="2D7867"/>
            </a:solidFill>
            <a:prstDash val="solid"/>
          </a:ln>
        </p:spPr>
      </p:sp>
      <p:sp>
        <p:nvSpPr>
          <p:cNvPr id="8" name="U05-DG-008-dynamic_range-title">
            <a:extLst>
              <a:ext uri="{FF2B5EF4-FFF2-40B4-BE49-F238E27FC236}">
                <a16:creationId xmlns:a16="http://schemas.microsoft.com/office/drawing/2014/main" id="{BB868794-E586-4BEC-84B4-6990A5DF5C92}"/>
              </a:ext>
            </a:extLst>
          </p:cNvPr>
          <p:cNvSpPr>
            <a:spLocks noGrp="1"/>
          </p:cNvSpPr>
          <p:nvPr/>
        </p:nvSpPr>
        <p:spPr>
          <a:xfrm>
            <a:off x="6696075" y="1600200"/>
            <a:ext cx="4419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Rango dinámico</a:t>
            </a:r>
          </a:p>
        </p:txBody>
      </p:sp>
      <p:sp>
        <p:nvSpPr>
          <p:cNvPr id="9" name="U05-DG-008-dynamic_range-body">
            <a:extLst>
              <a:ext uri="{FF2B5EF4-FFF2-40B4-BE49-F238E27FC236}">
                <a16:creationId xmlns:a16="http://schemas.microsoft.com/office/drawing/2014/main" id="{DFB1FF9E-8D73-4E4F-A2C7-838C57D74884}"/>
              </a:ext>
            </a:extLst>
          </p:cNvPr>
          <p:cNvSpPr>
            <a:spLocks noGrp="1"/>
          </p:cNvSpPr>
          <p:nvPr/>
        </p:nvSpPr>
        <p:spPr>
          <a:xfrm>
            <a:off x="6696075" y="2000250"/>
            <a:ext cx="44196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R_D = L_sup − L_inf</a:t>
            </a:r>
          </a:p>
        </p:txBody>
      </p:sp>
      <p:sp>
        <p:nvSpPr>
          <p:cNvPr id="10" name="U05-DG-008-condition_source">
            <a:extLst>
              <a:ext uri="{FF2B5EF4-FFF2-40B4-BE49-F238E27FC236}">
                <a16:creationId xmlns:a16="http://schemas.microsoft.com/office/drawing/2014/main" id="{0747DC2F-383A-4940-85E0-C4AAE45E10CA}"/>
              </a:ext>
            </a:extLst>
          </p:cNvPr>
          <p:cNvSpPr>
            <a:spLocks noGrp="1"/>
          </p:cNvSpPr>
          <p:nvPr/>
        </p:nvSpPr>
        <p:spPr>
          <a:xfrm>
            <a:off x="904875" y="3810000"/>
            <a:ext cx="2286000" cy="1381125"/>
          </a:xfrm>
          <a:prstGeom prst="roundRect">
            <a:avLst>
              <a:gd name="adj" fmla="val 9655"/>
            </a:avLst>
          </a:prstGeom>
          <a:solidFill>
            <a:srgbClr val="F3F6F8"/>
          </a:solidFill>
          <a:ln w="19050">
            <a:solidFill>
              <a:srgbClr val="8291A3"/>
            </a:solidFill>
            <a:prstDash val="solid"/>
          </a:ln>
        </p:spPr>
      </p:sp>
      <p:sp>
        <p:nvSpPr>
          <p:cNvPr id="11" name="U05-DG-008-condition_source-title">
            <a:extLst>
              <a:ext uri="{FF2B5EF4-FFF2-40B4-BE49-F238E27FC236}">
                <a16:creationId xmlns:a16="http://schemas.microsoft.com/office/drawing/2014/main" id="{5579A43B-A3F2-4D3D-B614-26358A35FC94}"/>
              </a:ext>
            </a:extLst>
          </p:cNvPr>
          <p:cNvSpPr>
            <a:spLocks noGrp="1"/>
          </p:cNvSpPr>
          <p:nvPr/>
        </p:nvSpPr>
        <p:spPr>
          <a:xfrm>
            <a:off x="1076325" y="3933825"/>
            <a:ext cx="1943100" cy="4143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Origen</a:t>
            </a:r>
          </a:p>
        </p:txBody>
      </p:sp>
      <p:sp>
        <p:nvSpPr>
          <p:cNvPr id="12" name="U05-DG-008-condition_source-body">
            <a:extLst>
              <a:ext uri="{FF2B5EF4-FFF2-40B4-BE49-F238E27FC236}">
                <a16:creationId xmlns:a16="http://schemas.microsoft.com/office/drawing/2014/main" id="{245CD011-FB6F-46B1-A4E4-44C566F9A324}"/>
              </a:ext>
            </a:extLst>
          </p:cNvPr>
          <p:cNvSpPr>
            <a:spLocks noGrp="1"/>
          </p:cNvSpPr>
          <p:nvPr/>
        </p:nvSpPr>
        <p:spPr>
          <a:xfrm>
            <a:off x="1076325" y="4348163"/>
            <a:ext cx="1943100" cy="7191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persona / fuente</a:t>
            </a:r>
          </a:p>
        </p:txBody>
      </p:sp>
      <p:sp>
        <p:nvSpPr>
          <p:cNvPr id="13" name="U05-DG-008-condition_stimulus">
            <a:extLst>
              <a:ext uri="{FF2B5EF4-FFF2-40B4-BE49-F238E27FC236}">
                <a16:creationId xmlns:a16="http://schemas.microsoft.com/office/drawing/2014/main" id="{0BC3494D-EE94-4791-A8DB-6A1612884B09}"/>
              </a:ext>
            </a:extLst>
          </p:cNvPr>
          <p:cNvSpPr>
            <a:spLocks noGrp="1"/>
          </p:cNvSpPr>
          <p:nvPr/>
        </p:nvSpPr>
        <p:spPr>
          <a:xfrm>
            <a:off x="3571875" y="3810000"/>
            <a:ext cx="2286000" cy="1381125"/>
          </a:xfrm>
          <a:prstGeom prst="roundRect">
            <a:avLst>
              <a:gd name="adj" fmla="val 9655"/>
            </a:avLst>
          </a:prstGeom>
          <a:solidFill>
            <a:srgbClr val="F3F6F8"/>
          </a:solidFill>
          <a:ln w="19050">
            <a:solidFill>
              <a:srgbClr val="8291A3"/>
            </a:solidFill>
            <a:prstDash val="solid"/>
          </a:ln>
        </p:spPr>
      </p:sp>
      <p:sp>
        <p:nvSpPr>
          <p:cNvPr id="14" name="U05-DG-008-condition_stimulus-title">
            <a:extLst>
              <a:ext uri="{FF2B5EF4-FFF2-40B4-BE49-F238E27FC236}">
                <a16:creationId xmlns:a16="http://schemas.microsoft.com/office/drawing/2014/main" id="{F41FB273-36B3-4393-B26E-903ABC1A7C07}"/>
              </a:ext>
            </a:extLst>
          </p:cNvPr>
          <p:cNvSpPr>
            <a:spLocks noGrp="1"/>
          </p:cNvSpPr>
          <p:nvPr/>
        </p:nvSpPr>
        <p:spPr>
          <a:xfrm>
            <a:off x="3743325" y="3933825"/>
            <a:ext cx="1943100" cy="4143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Estímulo</a:t>
            </a:r>
          </a:p>
        </p:txBody>
      </p:sp>
      <p:sp>
        <p:nvSpPr>
          <p:cNvPr id="15" name="U05-DG-008-condition_stimulus-body">
            <a:extLst>
              <a:ext uri="{FF2B5EF4-FFF2-40B4-BE49-F238E27FC236}">
                <a16:creationId xmlns:a16="http://schemas.microsoft.com/office/drawing/2014/main" id="{E8311E12-3E26-4F8A-A195-06B1F8B949AD}"/>
              </a:ext>
            </a:extLst>
          </p:cNvPr>
          <p:cNvSpPr>
            <a:spLocks noGrp="1"/>
          </p:cNvSpPr>
          <p:nvPr/>
        </p:nvSpPr>
        <p:spPr>
          <a:xfrm>
            <a:off x="3743325" y="4348163"/>
            <a:ext cx="1943100" cy="7191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f · duración</a:t>
            </a:r>
          </a:p>
        </p:txBody>
      </p:sp>
      <p:sp>
        <p:nvSpPr>
          <p:cNvPr id="16" name="U05-DG-008-condition_level">
            <a:extLst>
              <a:ext uri="{FF2B5EF4-FFF2-40B4-BE49-F238E27FC236}">
                <a16:creationId xmlns:a16="http://schemas.microsoft.com/office/drawing/2014/main" id="{D5D270C2-CFFB-477B-81DF-9A05A8DEE2AD}"/>
              </a:ext>
            </a:extLst>
          </p:cNvPr>
          <p:cNvSpPr>
            <a:spLocks noGrp="1"/>
          </p:cNvSpPr>
          <p:nvPr/>
        </p:nvSpPr>
        <p:spPr>
          <a:xfrm>
            <a:off x="6238875" y="3810000"/>
            <a:ext cx="2286000" cy="1381125"/>
          </a:xfrm>
          <a:prstGeom prst="roundRect">
            <a:avLst>
              <a:gd name="adj" fmla="val 9655"/>
            </a:avLst>
          </a:prstGeom>
          <a:solidFill>
            <a:srgbClr val="F3F6F8"/>
          </a:solidFill>
          <a:ln w="19050">
            <a:solidFill>
              <a:srgbClr val="8291A3"/>
            </a:solidFill>
            <a:prstDash val="solid"/>
          </a:ln>
        </p:spPr>
      </p:sp>
      <p:sp>
        <p:nvSpPr>
          <p:cNvPr id="17" name="U05-DG-008-condition_level-title">
            <a:extLst>
              <a:ext uri="{FF2B5EF4-FFF2-40B4-BE49-F238E27FC236}">
                <a16:creationId xmlns:a16="http://schemas.microsoft.com/office/drawing/2014/main" id="{8952F611-E2F3-434A-B9E1-89F80F2824DC}"/>
              </a:ext>
            </a:extLst>
          </p:cNvPr>
          <p:cNvSpPr>
            <a:spLocks noGrp="1"/>
          </p:cNvSpPr>
          <p:nvPr/>
        </p:nvSpPr>
        <p:spPr>
          <a:xfrm>
            <a:off x="6410325" y="3933825"/>
            <a:ext cx="1943100" cy="4143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Descriptor</a:t>
            </a:r>
          </a:p>
        </p:txBody>
      </p:sp>
      <p:sp>
        <p:nvSpPr>
          <p:cNvPr id="18" name="U05-DG-008-condition_level-body">
            <a:extLst>
              <a:ext uri="{FF2B5EF4-FFF2-40B4-BE49-F238E27FC236}">
                <a16:creationId xmlns:a16="http://schemas.microsoft.com/office/drawing/2014/main" id="{476D8BAB-7804-42B5-ABAD-8939576E2814}"/>
              </a:ext>
            </a:extLst>
          </p:cNvPr>
          <p:cNvSpPr>
            <a:spLocks noGrp="1"/>
          </p:cNvSpPr>
          <p:nvPr/>
        </p:nvSpPr>
        <p:spPr>
          <a:xfrm>
            <a:off x="6410325" y="4348163"/>
            <a:ext cx="1943100" cy="7191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RMS · pico L_eq</a:t>
            </a:r>
          </a:p>
        </p:txBody>
      </p:sp>
      <p:sp>
        <p:nvSpPr>
          <p:cNvPr id="19" name="U05-DG-008-condition_method">
            <a:extLst>
              <a:ext uri="{FF2B5EF4-FFF2-40B4-BE49-F238E27FC236}">
                <a16:creationId xmlns:a16="http://schemas.microsoft.com/office/drawing/2014/main" id="{6F2FEA76-69BD-469C-B8D8-4EA63CEE2AEB}"/>
              </a:ext>
            </a:extLst>
          </p:cNvPr>
          <p:cNvSpPr>
            <a:spLocks noGrp="1"/>
          </p:cNvSpPr>
          <p:nvPr/>
        </p:nvSpPr>
        <p:spPr>
          <a:xfrm>
            <a:off x="8905875" y="3810000"/>
            <a:ext cx="2381250" cy="1381125"/>
          </a:xfrm>
          <a:prstGeom prst="roundRect">
            <a:avLst>
              <a:gd name="adj" fmla="val 9655"/>
            </a:avLst>
          </a:prstGeom>
          <a:solidFill>
            <a:srgbClr val="DDEFF5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20" name="U05-DG-008-condition_method-title">
            <a:extLst>
              <a:ext uri="{FF2B5EF4-FFF2-40B4-BE49-F238E27FC236}">
                <a16:creationId xmlns:a16="http://schemas.microsoft.com/office/drawing/2014/main" id="{B72FB692-474F-4921-AA93-95DC9F4C0687}"/>
              </a:ext>
            </a:extLst>
          </p:cNvPr>
          <p:cNvSpPr>
            <a:spLocks noGrp="1"/>
          </p:cNvSpPr>
          <p:nvPr/>
        </p:nvSpPr>
        <p:spPr>
          <a:xfrm>
            <a:off x="9077325" y="3933825"/>
            <a:ext cx="2038350" cy="4143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Medición</a:t>
            </a:r>
          </a:p>
        </p:txBody>
      </p:sp>
      <p:sp>
        <p:nvSpPr>
          <p:cNvPr id="21" name="U05-DG-008-condition_method-body">
            <a:extLst>
              <a:ext uri="{FF2B5EF4-FFF2-40B4-BE49-F238E27FC236}">
                <a16:creationId xmlns:a16="http://schemas.microsoft.com/office/drawing/2014/main" id="{5CB25003-6A45-42CC-B4A7-39FC2A55EBCF}"/>
              </a:ext>
            </a:extLst>
          </p:cNvPr>
          <p:cNvSpPr>
            <a:spLocks noGrp="1"/>
          </p:cNvSpPr>
          <p:nvPr/>
        </p:nvSpPr>
        <p:spPr>
          <a:xfrm>
            <a:off x="9077325" y="4348163"/>
            <a:ext cx="2038350" cy="7191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distancia · X</a:t>
            </a:r>
          </a:p>
        </p:txBody>
      </p:sp>
      <p:cxnSp>
        <p:nvCxnSpPr>
          <p:cNvPr id="48" name="U05-DG-008-cond_1"/>
          <p:cNvCxnSpPr>
            <a:stCxn id="4" idx="2"/>
            <a:endCxn id="13" idx="0"/>
          </p:cNvCxnSpPr>
          <p:nvPr/>
        </p:nvCxnSpPr>
        <p:spPr>
          <a:xfrm>
            <a:off x="3286125" y="2809875"/>
            <a:ext cx="1428750" cy="1000125"/>
          </a:xfrm>
          <a:prstGeom prst="bentConnector4">
            <a:avLst>
              <a:gd name="adj1" fmla="val 0"/>
              <a:gd name="adj2" fmla="val 50000"/>
            </a:avLst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cxnSp>
        <p:nvCxnSpPr>
          <p:cNvPr id="49" name="U05-DG-008-cond_2"/>
          <p:cNvCxnSpPr>
            <a:stCxn id="7" idx="2"/>
            <a:endCxn id="16" idx="0"/>
          </p:cNvCxnSpPr>
          <p:nvPr/>
        </p:nvCxnSpPr>
        <p:spPr>
          <a:xfrm flipH="1">
            <a:off x="7381875" y="2809875"/>
            <a:ext cx="1524000" cy="1000125"/>
          </a:xfrm>
          <a:prstGeom prst="bentConnector4">
            <a:avLst>
              <a:gd name="adj1" fmla="val 0"/>
              <a:gd name="adj2" fmla="val 50000"/>
            </a:avLst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sp>
        <p:nvSpPr>
          <p:cNvPr id="24" name="diagram-scale-note">
            <a:extLst>
              <a:ext uri="{FF2B5EF4-FFF2-40B4-BE49-F238E27FC236}">
                <a16:creationId xmlns:a16="http://schemas.microsoft.com/office/drawing/2014/main" id="{DF256045-CACD-4F6A-920D-7D062698ED7B}"/>
              </a:ext>
            </a:extLst>
          </p:cNvPr>
          <p:cNvSpPr>
            <a:spLocks noGrp="1"/>
          </p:cNvSpPr>
          <p:nvPr/>
        </p:nvSpPr>
        <p:spPr>
          <a:xfrm>
            <a:off x="552450" y="5829300"/>
            <a:ext cx="3905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05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Esquema conceptual · no está a escala</a:t>
            </a:r>
          </a:p>
        </p:txBody>
      </p:sp>
      <p:sp>
        <p:nvSpPr>
          <p:cNvPr id="25" name="caption">
            <a:extLst>
              <a:ext uri="{FF2B5EF4-FFF2-40B4-BE49-F238E27FC236}">
                <a16:creationId xmlns:a16="http://schemas.microsoft.com/office/drawing/2014/main" id="{74FFE98B-87B2-41DF-A183-2610F0AA5D8A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876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No existe una caja audible idéntica para todas las personas.</a:t>
            </a:r>
          </a:p>
        </p:txBody>
      </p:sp>
      <p:sp>
        <p:nvSpPr>
          <p:cNvPr id="26" name="credit">
            <a:extLst>
              <a:ext uri="{FF2B5EF4-FFF2-40B4-BE49-F238E27FC236}">
                <a16:creationId xmlns:a16="http://schemas.microsoft.com/office/drawing/2014/main" id="{AF3964DD-0EF6-4E24-B118-96B464594E1C}"/>
              </a:ext>
            </a:extLst>
          </p:cNvPr>
          <p:cNvSpPr>
            <a:spLocks noGrp="1"/>
          </p:cNvSpPr>
          <p:nvPr/>
        </p:nvSpPr>
        <p:spPr>
          <a:xfrm>
            <a:off x="9382125" y="60769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5.7.1; CM U7.</a:t>
            </a:r>
          </a:p>
        </p:txBody>
      </p:sp>
      <p:sp>
        <p:nvSpPr>
          <p:cNvPr id="22" name="slide-alt-summary" descr="Estímulo, condiciones y oyente convergen en la palabra detectabilidad.">
            <a:extLst>
              <a:ext uri="{FF2B5EF4-FFF2-40B4-BE49-F238E27FC236}">
                <a16:creationId xmlns:a16="http://schemas.microsoft.com/office/drawing/2014/main" id="{06F5948B-AB53-D017-BC71-2E2BE3FF5C37}"/>
              </a:ext>
            </a:extLst>
          </p:cNvPr>
          <p:cNvSpPr/>
          <p:nvPr/>
        </p:nvSpPr>
        <p:spPr>
          <a:xfrm>
            <a:off x="12700" y="12700"/>
            <a:ext cx="12700" cy="12700"/>
          </a:xfrm>
          <a:prstGeom prst="rect">
            <a:avLst/>
          </a:prstGeom>
          <a:noFill/>
          <a:ln w="19050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2697577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eyebrow">
            <a:extLst>
              <a:ext uri="{FF2B5EF4-FFF2-40B4-BE49-F238E27FC236}">
                <a16:creationId xmlns:a16="http://schemas.microsoft.com/office/drawing/2014/main" id="{B47BEC59-477C-4B8C-9F73-A95BA368D56B}"/>
              </a:ext>
            </a:extLst>
          </p:cNvPr>
          <p:cNvSpPr>
            <a:spLocks noGrp="1"/>
          </p:cNvSpPr>
          <p:nvPr/>
        </p:nvSpPr>
        <p:spPr>
          <a:xfrm>
            <a:off x="514350" y="2095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078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2BC87E08-2639-4A31-8D89-C518606690EA}"/>
              </a:ext>
            </a:extLst>
          </p:cNvPr>
          <p:cNvSpPr>
            <a:spLocks noGrp="1"/>
          </p:cNvSpPr>
          <p:nvPr/>
        </p:nvSpPr>
        <p:spPr>
          <a:xfrm>
            <a:off x="495300" y="428625"/>
            <a:ext cx="11191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Ultrasonido nombra frecuencia, no una técnica única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4EF42E8F-E0C9-41AD-B821-F5D0E9632390}"/>
              </a:ext>
            </a:extLst>
          </p:cNvPr>
          <p:cNvSpPr>
            <a:spLocks noGrp="1"/>
          </p:cNvSpPr>
          <p:nvPr/>
        </p:nvSpPr>
        <p:spPr>
          <a:xfrm>
            <a:off x="523875" y="971550"/>
            <a:ext cx="11001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La aplicación debe identificarse por procedimiento y propósito.</a:t>
            </a:r>
          </a:p>
        </p:txBody>
      </p:sp>
      <p:sp>
        <p:nvSpPr>
          <p:cNvPr id="4" name="U05-DG-008-frequency_range">
            <a:extLst>
              <a:ext uri="{FF2B5EF4-FFF2-40B4-BE49-F238E27FC236}">
                <a16:creationId xmlns:a16="http://schemas.microsoft.com/office/drawing/2014/main" id="{EF99D18F-07AE-40DE-A3DE-77E9E6CA7060}"/>
              </a:ext>
            </a:extLst>
          </p:cNvPr>
          <p:cNvSpPr>
            <a:spLocks noGrp="1"/>
          </p:cNvSpPr>
          <p:nvPr/>
        </p:nvSpPr>
        <p:spPr>
          <a:xfrm>
            <a:off x="904875" y="1476375"/>
            <a:ext cx="4762500" cy="1333500"/>
          </a:xfrm>
          <a:prstGeom prst="roundRect">
            <a:avLst>
              <a:gd name="adj" fmla="val 10000"/>
            </a:avLst>
          </a:prstGeom>
          <a:solidFill>
            <a:srgbClr val="EFF8FA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5" name="U05-DG-008-frequency_range-title">
            <a:extLst>
              <a:ext uri="{FF2B5EF4-FFF2-40B4-BE49-F238E27FC236}">
                <a16:creationId xmlns:a16="http://schemas.microsoft.com/office/drawing/2014/main" id="{A18F9A32-CB05-4AC2-8DD5-2FA9E6DFAC99}"/>
              </a:ext>
            </a:extLst>
          </p:cNvPr>
          <p:cNvSpPr>
            <a:spLocks noGrp="1"/>
          </p:cNvSpPr>
          <p:nvPr/>
        </p:nvSpPr>
        <p:spPr>
          <a:xfrm>
            <a:off x="1076325" y="1600200"/>
            <a:ext cx="4419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Región de frecuencia</a:t>
            </a:r>
          </a:p>
        </p:txBody>
      </p:sp>
      <p:sp>
        <p:nvSpPr>
          <p:cNvPr id="6" name="U05-DG-008-frequency_range-body">
            <a:extLst>
              <a:ext uri="{FF2B5EF4-FFF2-40B4-BE49-F238E27FC236}">
                <a16:creationId xmlns:a16="http://schemas.microsoft.com/office/drawing/2014/main" id="{86BF6842-5C52-492F-9F49-938E2814C67E}"/>
              </a:ext>
            </a:extLst>
          </p:cNvPr>
          <p:cNvSpPr>
            <a:spLocks noGrp="1"/>
          </p:cNvSpPr>
          <p:nvPr/>
        </p:nvSpPr>
        <p:spPr>
          <a:xfrm>
            <a:off x="1076325" y="2000250"/>
            <a:ext cx="44196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infra · audible · ultra</a:t>
            </a:r>
          </a:p>
        </p:txBody>
      </p:sp>
      <p:sp>
        <p:nvSpPr>
          <p:cNvPr id="7" name="U05-DG-008-dynamic_range">
            <a:extLst>
              <a:ext uri="{FF2B5EF4-FFF2-40B4-BE49-F238E27FC236}">
                <a16:creationId xmlns:a16="http://schemas.microsoft.com/office/drawing/2014/main" id="{944523CA-C7ED-4711-AC5B-E0491A0ED5FF}"/>
              </a:ext>
            </a:extLst>
          </p:cNvPr>
          <p:cNvSpPr>
            <a:spLocks noGrp="1"/>
          </p:cNvSpPr>
          <p:nvPr/>
        </p:nvSpPr>
        <p:spPr>
          <a:xfrm>
            <a:off x="6524625" y="1476375"/>
            <a:ext cx="4762500" cy="1333500"/>
          </a:xfrm>
          <a:prstGeom prst="roundRect">
            <a:avLst>
              <a:gd name="adj" fmla="val 10000"/>
            </a:avLst>
          </a:prstGeom>
          <a:solidFill>
            <a:srgbClr val="E3F2ED"/>
          </a:solidFill>
          <a:ln w="19050">
            <a:solidFill>
              <a:srgbClr val="2D7867"/>
            </a:solidFill>
            <a:prstDash val="solid"/>
          </a:ln>
        </p:spPr>
      </p:sp>
      <p:sp>
        <p:nvSpPr>
          <p:cNvPr id="8" name="U05-DG-008-dynamic_range-title">
            <a:extLst>
              <a:ext uri="{FF2B5EF4-FFF2-40B4-BE49-F238E27FC236}">
                <a16:creationId xmlns:a16="http://schemas.microsoft.com/office/drawing/2014/main" id="{1DFEB8D6-47A1-48EE-BE37-27826D73F813}"/>
              </a:ext>
            </a:extLst>
          </p:cNvPr>
          <p:cNvSpPr>
            <a:spLocks noGrp="1"/>
          </p:cNvSpPr>
          <p:nvPr/>
        </p:nvSpPr>
        <p:spPr>
          <a:xfrm>
            <a:off x="6696075" y="1600200"/>
            <a:ext cx="4419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Rango dinámico</a:t>
            </a:r>
          </a:p>
        </p:txBody>
      </p:sp>
      <p:sp>
        <p:nvSpPr>
          <p:cNvPr id="9" name="U05-DG-008-dynamic_range-body">
            <a:extLst>
              <a:ext uri="{FF2B5EF4-FFF2-40B4-BE49-F238E27FC236}">
                <a16:creationId xmlns:a16="http://schemas.microsoft.com/office/drawing/2014/main" id="{119BC04C-49A8-4A71-AB1E-E91817F23344}"/>
              </a:ext>
            </a:extLst>
          </p:cNvPr>
          <p:cNvSpPr>
            <a:spLocks noGrp="1"/>
          </p:cNvSpPr>
          <p:nvPr/>
        </p:nvSpPr>
        <p:spPr>
          <a:xfrm>
            <a:off x="6696075" y="2000250"/>
            <a:ext cx="44196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R_D = L_sup − L_inf</a:t>
            </a:r>
          </a:p>
        </p:txBody>
      </p:sp>
      <p:sp>
        <p:nvSpPr>
          <p:cNvPr id="10" name="U05-DG-008-condition_source">
            <a:extLst>
              <a:ext uri="{FF2B5EF4-FFF2-40B4-BE49-F238E27FC236}">
                <a16:creationId xmlns:a16="http://schemas.microsoft.com/office/drawing/2014/main" id="{46C90CE8-A01D-4F6F-9421-C169A28934F5}"/>
              </a:ext>
            </a:extLst>
          </p:cNvPr>
          <p:cNvSpPr>
            <a:spLocks noGrp="1"/>
          </p:cNvSpPr>
          <p:nvPr/>
        </p:nvSpPr>
        <p:spPr>
          <a:xfrm>
            <a:off x="904875" y="3810000"/>
            <a:ext cx="2286000" cy="1381125"/>
          </a:xfrm>
          <a:prstGeom prst="roundRect">
            <a:avLst>
              <a:gd name="adj" fmla="val 9655"/>
            </a:avLst>
          </a:prstGeom>
          <a:solidFill>
            <a:srgbClr val="F3F6F8"/>
          </a:solidFill>
          <a:ln w="19050">
            <a:solidFill>
              <a:srgbClr val="8291A3"/>
            </a:solidFill>
            <a:prstDash val="solid"/>
          </a:ln>
        </p:spPr>
      </p:sp>
      <p:sp>
        <p:nvSpPr>
          <p:cNvPr id="11" name="U05-DG-008-condition_source-title">
            <a:extLst>
              <a:ext uri="{FF2B5EF4-FFF2-40B4-BE49-F238E27FC236}">
                <a16:creationId xmlns:a16="http://schemas.microsoft.com/office/drawing/2014/main" id="{18D6BC38-4A21-466B-AB2D-6119C4629C7F}"/>
              </a:ext>
            </a:extLst>
          </p:cNvPr>
          <p:cNvSpPr>
            <a:spLocks noGrp="1"/>
          </p:cNvSpPr>
          <p:nvPr/>
        </p:nvSpPr>
        <p:spPr>
          <a:xfrm>
            <a:off x="1076325" y="3933825"/>
            <a:ext cx="1943100" cy="4143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Origen</a:t>
            </a:r>
          </a:p>
        </p:txBody>
      </p:sp>
      <p:sp>
        <p:nvSpPr>
          <p:cNvPr id="12" name="U05-DG-008-condition_source-body">
            <a:extLst>
              <a:ext uri="{FF2B5EF4-FFF2-40B4-BE49-F238E27FC236}">
                <a16:creationId xmlns:a16="http://schemas.microsoft.com/office/drawing/2014/main" id="{0B987FB4-B224-42E9-8270-732E3A198DB2}"/>
              </a:ext>
            </a:extLst>
          </p:cNvPr>
          <p:cNvSpPr>
            <a:spLocks noGrp="1"/>
          </p:cNvSpPr>
          <p:nvPr/>
        </p:nvSpPr>
        <p:spPr>
          <a:xfrm>
            <a:off x="1076325" y="4348163"/>
            <a:ext cx="1943100" cy="7191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persona / fuente</a:t>
            </a:r>
          </a:p>
        </p:txBody>
      </p:sp>
      <p:sp>
        <p:nvSpPr>
          <p:cNvPr id="13" name="U05-DG-008-condition_stimulus">
            <a:extLst>
              <a:ext uri="{FF2B5EF4-FFF2-40B4-BE49-F238E27FC236}">
                <a16:creationId xmlns:a16="http://schemas.microsoft.com/office/drawing/2014/main" id="{EE6D76D8-B05E-4914-8C0B-FD6B6F0C3C1D}"/>
              </a:ext>
            </a:extLst>
          </p:cNvPr>
          <p:cNvSpPr>
            <a:spLocks noGrp="1"/>
          </p:cNvSpPr>
          <p:nvPr/>
        </p:nvSpPr>
        <p:spPr>
          <a:xfrm>
            <a:off x="3571875" y="3810000"/>
            <a:ext cx="2286000" cy="1381125"/>
          </a:xfrm>
          <a:prstGeom prst="roundRect">
            <a:avLst>
              <a:gd name="adj" fmla="val 9655"/>
            </a:avLst>
          </a:prstGeom>
          <a:solidFill>
            <a:srgbClr val="F3F6F8"/>
          </a:solidFill>
          <a:ln w="19050">
            <a:solidFill>
              <a:srgbClr val="8291A3"/>
            </a:solidFill>
            <a:prstDash val="solid"/>
          </a:ln>
        </p:spPr>
      </p:sp>
      <p:sp>
        <p:nvSpPr>
          <p:cNvPr id="14" name="U05-DG-008-condition_stimulus-title">
            <a:extLst>
              <a:ext uri="{FF2B5EF4-FFF2-40B4-BE49-F238E27FC236}">
                <a16:creationId xmlns:a16="http://schemas.microsoft.com/office/drawing/2014/main" id="{059D9344-0D9A-406C-84F6-3715E4CC8CC6}"/>
              </a:ext>
            </a:extLst>
          </p:cNvPr>
          <p:cNvSpPr>
            <a:spLocks noGrp="1"/>
          </p:cNvSpPr>
          <p:nvPr/>
        </p:nvSpPr>
        <p:spPr>
          <a:xfrm>
            <a:off x="3743325" y="3933825"/>
            <a:ext cx="1943100" cy="4143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Estímulo</a:t>
            </a:r>
          </a:p>
        </p:txBody>
      </p:sp>
      <p:sp>
        <p:nvSpPr>
          <p:cNvPr id="15" name="U05-DG-008-condition_stimulus-body">
            <a:extLst>
              <a:ext uri="{FF2B5EF4-FFF2-40B4-BE49-F238E27FC236}">
                <a16:creationId xmlns:a16="http://schemas.microsoft.com/office/drawing/2014/main" id="{CECCBF46-ECAC-4B32-AD0D-510703457CC2}"/>
              </a:ext>
            </a:extLst>
          </p:cNvPr>
          <p:cNvSpPr>
            <a:spLocks noGrp="1"/>
          </p:cNvSpPr>
          <p:nvPr/>
        </p:nvSpPr>
        <p:spPr>
          <a:xfrm>
            <a:off x="3743325" y="4348163"/>
            <a:ext cx="1943100" cy="7191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f · duración</a:t>
            </a:r>
          </a:p>
        </p:txBody>
      </p:sp>
      <p:sp>
        <p:nvSpPr>
          <p:cNvPr id="16" name="U05-DG-008-condition_level">
            <a:extLst>
              <a:ext uri="{FF2B5EF4-FFF2-40B4-BE49-F238E27FC236}">
                <a16:creationId xmlns:a16="http://schemas.microsoft.com/office/drawing/2014/main" id="{48FF3149-1313-4D66-95FF-D4EF0634969D}"/>
              </a:ext>
            </a:extLst>
          </p:cNvPr>
          <p:cNvSpPr>
            <a:spLocks noGrp="1"/>
          </p:cNvSpPr>
          <p:nvPr/>
        </p:nvSpPr>
        <p:spPr>
          <a:xfrm>
            <a:off x="6238875" y="3810000"/>
            <a:ext cx="2286000" cy="1381125"/>
          </a:xfrm>
          <a:prstGeom prst="roundRect">
            <a:avLst>
              <a:gd name="adj" fmla="val 9655"/>
            </a:avLst>
          </a:prstGeom>
          <a:solidFill>
            <a:srgbClr val="F3F6F8"/>
          </a:solidFill>
          <a:ln w="19050">
            <a:solidFill>
              <a:srgbClr val="8291A3"/>
            </a:solidFill>
            <a:prstDash val="solid"/>
          </a:ln>
        </p:spPr>
      </p:sp>
      <p:sp>
        <p:nvSpPr>
          <p:cNvPr id="17" name="U05-DG-008-condition_level-title">
            <a:extLst>
              <a:ext uri="{FF2B5EF4-FFF2-40B4-BE49-F238E27FC236}">
                <a16:creationId xmlns:a16="http://schemas.microsoft.com/office/drawing/2014/main" id="{8D8A7BBB-918A-44D3-BF8D-F529A8389B8C}"/>
              </a:ext>
            </a:extLst>
          </p:cNvPr>
          <p:cNvSpPr>
            <a:spLocks noGrp="1"/>
          </p:cNvSpPr>
          <p:nvPr/>
        </p:nvSpPr>
        <p:spPr>
          <a:xfrm>
            <a:off x="6410325" y="3933825"/>
            <a:ext cx="1943100" cy="4143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Descriptor</a:t>
            </a:r>
          </a:p>
        </p:txBody>
      </p:sp>
      <p:sp>
        <p:nvSpPr>
          <p:cNvPr id="18" name="U05-DG-008-condition_level-body">
            <a:extLst>
              <a:ext uri="{FF2B5EF4-FFF2-40B4-BE49-F238E27FC236}">
                <a16:creationId xmlns:a16="http://schemas.microsoft.com/office/drawing/2014/main" id="{E78BB93B-4FCB-46D8-9D69-713089BB5E3C}"/>
              </a:ext>
            </a:extLst>
          </p:cNvPr>
          <p:cNvSpPr>
            <a:spLocks noGrp="1"/>
          </p:cNvSpPr>
          <p:nvPr/>
        </p:nvSpPr>
        <p:spPr>
          <a:xfrm>
            <a:off x="6410325" y="4348163"/>
            <a:ext cx="1943100" cy="7191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RMS · pico L_eq</a:t>
            </a:r>
          </a:p>
        </p:txBody>
      </p:sp>
      <p:sp>
        <p:nvSpPr>
          <p:cNvPr id="19" name="U05-DG-008-condition_method">
            <a:extLst>
              <a:ext uri="{FF2B5EF4-FFF2-40B4-BE49-F238E27FC236}">
                <a16:creationId xmlns:a16="http://schemas.microsoft.com/office/drawing/2014/main" id="{90EE78A5-AE00-4CE0-B72E-F51431CC9C9C}"/>
              </a:ext>
            </a:extLst>
          </p:cNvPr>
          <p:cNvSpPr>
            <a:spLocks noGrp="1"/>
          </p:cNvSpPr>
          <p:nvPr/>
        </p:nvSpPr>
        <p:spPr>
          <a:xfrm>
            <a:off x="8905875" y="3810000"/>
            <a:ext cx="2381250" cy="1381125"/>
          </a:xfrm>
          <a:prstGeom prst="roundRect">
            <a:avLst>
              <a:gd name="adj" fmla="val 9655"/>
            </a:avLst>
          </a:prstGeom>
          <a:solidFill>
            <a:srgbClr val="DDEFF5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20" name="U05-DG-008-condition_method-title">
            <a:extLst>
              <a:ext uri="{FF2B5EF4-FFF2-40B4-BE49-F238E27FC236}">
                <a16:creationId xmlns:a16="http://schemas.microsoft.com/office/drawing/2014/main" id="{2E686C83-C11D-4CAD-8E79-2E9F757DF3B7}"/>
              </a:ext>
            </a:extLst>
          </p:cNvPr>
          <p:cNvSpPr>
            <a:spLocks noGrp="1"/>
          </p:cNvSpPr>
          <p:nvPr/>
        </p:nvSpPr>
        <p:spPr>
          <a:xfrm>
            <a:off x="9077325" y="3933825"/>
            <a:ext cx="2038350" cy="4143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Medición</a:t>
            </a:r>
          </a:p>
        </p:txBody>
      </p:sp>
      <p:sp>
        <p:nvSpPr>
          <p:cNvPr id="21" name="U05-DG-008-condition_method-body">
            <a:extLst>
              <a:ext uri="{FF2B5EF4-FFF2-40B4-BE49-F238E27FC236}">
                <a16:creationId xmlns:a16="http://schemas.microsoft.com/office/drawing/2014/main" id="{B3A352A7-94AC-4E7A-BAE7-4E6DA13CA1BC}"/>
              </a:ext>
            </a:extLst>
          </p:cNvPr>
          <p:cNvSpPr>
            <a:spLocks noGrp="1"/>
          </p:cNvSpPr>
          <p:nvPr/>
        </p:nvSpPr>
        <p:spPr>
          <a:xfrm>
            <a:off x="9077325" y="4348163"/>
            <a:ext cx="2038350" cy="7191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distancia · X</a:t>
            </a:r>
          </a:p>
        </p:txBody>
      </p:sp>
      <p:cxnSp>
        <p:nvCxnSpPr>
          <p:cNvPr id="48" name="U05-DG-008-cond_1"/>
          <p:cNvCxnSpPr>
            <a:stCxn id="4" idx="2"/>
            <a:endCxn id="13" idx="0"/>
          </p:cNvCxnSpPr>
          <p:nvPr/>
        </p:nvCxnSpPr>
        <p:spPr>
          <a:xfrm>
            <a:off x="3286125" y="2809875"/>
            <a:ext cx="1428750" cy="1000125"/>
          </a:xfrm>
          <a:prstGeom prst="bentConnector4">
            <a:avLst>
              <a:gd name="adj1" fmla="val 0"/>
              <a:gd name="adj2" fmla="val 50000"/>
            </a:avLst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cxnSp>
        <p:nvCxnSpPr>
          <p:cNvPr id="49" name="U05-DG-008-cond_2"/>
          <p:cNvCxnSpPr>
            <a:stCxn id="7" idx="2"/>
            <a:endCxn id="16" idx="0"/>
          </p:cNvCxnSpPr>
          <p:nvPr/>
        </p:nvCxnSpPr>
        <p:spPr>
          <a:xfrm flipH="1">
            <a:off x="7381875" y="2809875"/>
            <a:ext cx="1524000" cy="1000125"/>
          </a:xfrm>
          <a:prstGeom prst="bentConnector4">
            <a:avLst>
              <a:gd name="adj1" fmla="val 0"/>
              <a:gd name="adj2" fmla="val 50000"/>
            </a:avLst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sp>
        <p:nvSpPr>
          <p:cNvPr id="24" name="diagram-scale-note">
            <a:extLst>
              <a:ext uri="{FF2B5EF4-FFF2-40B4-BE49-F238E27FC236}">
                <a16:creationId xmlns:a16="http://schemas.microsoft.com/office/drawing/2014/main" id="{B90B2D82-CA4A-4C7D-A854-D0AD47107124}"/>
              </a:ext>
            </a:extLst>
          </p:cNvPr>
          <p:cNvSpPr>
            <a:spLocks noGrp="1"/>
          </p:cNvSpPr>
          <p:nvPr/>
        </p:nvSpPr>
        <p:spPr>
          <a:xfrm>
            <a:off x="552450" y="5829300"/>
            <a:ext cx="3905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05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Esquema conceptual · no está a escala</a:t>
            </a:r>
          </a:p>
        </p:txBody>
      </p:sp>
      <p:sp>
        <p:nvSpPr>
          <p:cNvPr id="25" name="caption">
            <a:extLst>
              <a:ext uri="{FF2B5EF4-FFF2-40B4-BE49-F238E27FC236}">
                <a16:creationId xmlns:a16="http://schemas.microsoft.com/office/drawing/2014/main" id="{FC479C27-FCCA-4C38-B792-2DF5B0EBFFC4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876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La etiqueta frecuencial no reemplaza la descripción de la técnica.</a:t>
            </a:r>
          </a:p>
        </p:txBody>
      </p:sp>
      <p:sp>
        <p:nvSpPr>
          <p:cNvPr id="26" name="credit">
            <a:extLst>
              <a:ext uri="{FF2B5EF4-FFF2-40B4-BE49-F238E27FC236}">
                <a16:creationId xmlns:a16="http://schemas.microsoft.com/office/drawing/2014/main" id="{8C7CDC86-61F4-4061-A399-5BFEEB55E51F}"/>
              </a:ext>
            </a:extLst>
          </p:cNvPr>
          <p:cNvSpPr>
            <a:spLocks noGrp="1"/>
          </p:cNvSpPr>
          <p:nvPr/>
        </p:nvSpPr>
        <p:spPr>
          <a:xfrm>
            <a:off x="9382125" y="60769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5.7.1.</a:t>
            </a:r>
          </a:p>
        </p:txBody>
      </p:sp>
      <p:sp>
        <p:nvSpPr>
          <p:cNvPr id="22" name="slide-alt-summary" descr="Esquema técnico separa región ultrasónica, imagenología y contraejemplo de OEA.">
            <a:extLst>
              <a:ext uri="{FF2B5EF4-FFF2-40B4-BE49-F238E27FC236}">
                <a16:creationId xmlns:a16="http://schemas.microsoft.com/office/drawing/2014/main" id="{F652F630-E32B-6D4D-50D0-6A71EAD77D23}"/>
              </a:ext>
            </a:extLst>
          </p:cNvPr>
          <p:cNvSpPr/>
          <p:nvPr/>
        </p:nvSpPr>
        <p:spPr>
          <a:xfrm>
            <a:off x="12700" y="12700"/>
            <a:ext cx="12700" cy="12700"/>
          </a:xfrm>
          <a:prstGeom prst="rect">
            <a:avLst/>
          </a:prstGeom>
          <a:noFill/>
          <a:ln w="19050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17057724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eyebrow">
            <a:extLst>
              <a:ext uri="{FF2B5EF4-FFF2-40B4-BE49-F238E27FC236}">
                <a16:creationId xmlns:a16="http://schemas.microsoft.com/office/drawing/2014/main" id="{07E5636E-B1B3-4A6A-92BE-6426DB2DBA2E}"/>
              </a:ext>
            </a:extLst>
          </p:cNvPr>
          <p:cNvSpPr>
            <a:spLocks noGrp="1"/>
          </p:cNvSpPr>
          <p:nvPr/>
        </p:nvSpPr>
        <p:spPr>
          <a:xfrm>
            <a:off x="514350" y="2095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079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557319EB-C069-4FF3-B973-4C5941EEDAC5}"/>
              </a:ext>
            </a:extLst>
          </p:cNvPr>
          <p:cNvSpPr>
            <a:spLocks noGrp="1"/>
          </p:cNvSpPr>
          <p:nvPr/>
        </p:nvSpPr>
        <p:spPr>
          <a:xfrm>
            <a:off x="495300" y="428625"/>
            <a:ext cx="11191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Un rango dinámico compara dos niveles compatibles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1BE6D0AC-234B-456C-A54C-08D7D3F97622}"/>
              </a:ext>
            </a:extLst>
          </p:cNvPr>
          <p:cNvSpPr>
            <a:spLocks noGrp="1"/>
          </p:cNvSpPr>
          <p:nvPr/>
        </p:nvSpPr>
        <p:spPr>
          <a:xfrm>
            <a:off x="523875" y="971550"/>
            <a:ext cx="11001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Los extremos deben compartir magnitud, referencia y condición.</a:t>
            </a:r>
          </a:p>
        </p:txBody>
      </p:sp>
      <p:sp>
        <p:nvSpPr>
          <p:cNvPr id="4" name="U05-DG-008-frequency_range">
            <a:extLst>
              <a:ext uri="{FF2B5EF4-FFF2-40B4-BE49-F238E27FC236}">
                <a16:creationId xmlns:a16="http://schemas.microsoft.com/office/drawing/2014/main" id="{FE806761-5E65-49B2-AF84-87C6F687B3D1}"/>
              </a:ext>
            </a:extLst>
          </p:cNvPr>
          <p:cNvSpPr>
            <a:spLocks noGrp="1"/>
          </p:cNvSpPr>
          <p:nvPr/>
        </p:nvSpPr>
        <p:spPr>
          <a:xfrm>
            <a:off x="904875" y="1476375"/>
            <a:ext cx="4762500" cy="1333500"/>
          </a:xfrm>
          <a:prstGeom prst="roundRect">
            <a:avLst>
              <a:gd name="adj" fmla="val 10000"/>
            </a:avLst>
          </a:prstGeom>
          <a:solidFill>
            <a:srgbClr val="EFF8FA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5" name="U05-DG-008-frequency_range-title">
            <a:extLst>
              <a:ext uri="{FF2B5EF4-FFF2-40B4-BE49-F238E27FC236}">
                <a16:creationId xmlns:a16="http://schemas.microsoft.com/office/drawing/2014/main" id="{51AEE839-AC34-47BB-BAB8-3C39ED82A279}"/>
              </a:ext>
            </a:extLst>
          </p:cNvPr>
          <p:cNvSpPr>
            <a:spLocks noGrp="1"/>
          </p:cNvSpPr>
          <p:nvPr/>
        </p:nvSpPr>
        <p:spPr>
          <a:xfrm>
            <a:off x="1076325" y="1600200"/>
            <a:ext cx="4419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Región de frecuencia</a:t>
            </a:r>
          </a:p>
        </p:txBody>
      </p:sp>
      <p:sp>
        <p:nvSpPr>
          <p:cNvPr id="6" name="U05-DG-008-frequency_range-body">
            <a:extLst>
              <a:ext uri="{FF2B5EF4-FFF2-40B4-BE49-F238E27FC236}">
                <a16:creationId xmlns:a16="http://schemas.microsoft.com/office/drawing/2014/main" id="{9BDC9137-F67B-40CC-A3F1-D5018E7EE496}"/>
              </a:ext>
            </a:extLst>
          </p:cNvPr>
          <p:cNvSpPr>
            <a:spLocks noGrp="1"/>
          </p:cNvSpPr>
          <p:nvPr/>
        </p:nvSpPr>
        <p:spPr>
          <a:xfrm>
            <a:off x="1076325" y="2000250"/>
            <a:ext cx="44196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infra · audible · ultra</a:t>
            </a:r>
          </a:p>
        </p:txBody>
      </p:sp>
      <p:sp>
        <p:nvSpPr>
          <p:cNvPr id="7" name="U05-DG-008-dynamic_range">
            <a:extLst>
              <a:ext uri="{FF2B5EF4-FFF2-40B4-BE49-F238E27FC236}">
                <a16:creationId xmlns:a16="http://schemas.microsoft.com/office/drawing/2014/main" id="{20C5C0CF-0E76-494C-BB0B-0F18E3743994}"/>
              </a:ext>
            </a:extLst>
          </p:cNvPr>
          <p:cNvSpPr>
            <a:spLocks noGrp="1"/>
          </p:cNvSpPr>
          <p:nvPr/>
        </p:nvSpPr>
        <p:spPr>
          <a:xfrm>
            <a:off x="6524625" y="1476375"/>
            <a:ext cx="4762500" cy="1333500"/>
          </a:xfrm>
          <a:prstGeom prst="roundRect">
            <a:avLst>
              <a:gd name="adj" fmla="val 10000"/>
            </a:avLst>
          </a:prstGeom>
          <a:solidFill>
            <a:srgbClr val="E3F2ED"/>
          </a:solidFill>
          <a:ln w="19050">
            <a:solidFill>
              <a:srgbClr val="2D7867"/>
            </a:solidFill>
            <a:prstDash val="solid"/>
          </a:ln>
        </p:spPr>
      </p:sp>
      <p:sp>
        <p:nvSpPr>
          <p:cNvPr id="8" name="U05-DG-008-dynamic_range-title">
            <a:extLst>
              <a:ext uri="{FF2B5EF4-FFF2-40B4-BE49-F238E27FC236}">
                <a16:creationId xmlns:a16="http://schemas.microsoft.com/office/drawing/2014/main" id="{DECA476C-7851-49D1-80A6-50A453C4526D}"/>
              </a:ext>
            </a:extLst>
          </p:cNvPr>
          <p:cNvSpPr>
            <a:spLocks noGrp="1"/>
          </p:cNvSpPr>
          <p:nvPr/>
        </p:nvSpPr>
        <p:spPr>
          <a:xfrm>
            <a:off x="6696075" y="1600200"/>
            <a:ext cx="4419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Rango dinámico</a:t>
            </a:r>
          </a:p>
        </p:txBody>
      </p:sp>
      <p:sp>
        <p:nvSpPr>
          <p:cNvPr id="9" name="U05-DG-008-dynamic_range-body">
            <a:extLst>
              <a:ext uri="{FF2B5EF4-FFF2-40B4-BE49-F238E27FC236}">
                <a16:creationId xmlns:a16="http://schemas.microsoft.com/office/drawing/2014/main" id="{3C3A5816-C23F-4B05-B055-FCA20F34A7E0}"/>
              </a:ext>
            </a:extLst>
          </p:cNvPr>
          <p:cNvSpPr>
            <a:spLocks noGrp="1"/>
          </p:cNvSpPr>
          <p:nvPr/>
        </p:nvSpPr>
        <p:spPr>
          <a:xfrm>
            <a:off x="6696075" y="2000250"/>
            <a:ext cx="44196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R_D = L_sup − L_inf</a:t>
            </a:r>
          </a:p>
        </p:txBody>
      </p:sp>
      <p:sp>
        <p:nvSpPr>
          <p:cNvPr id="10" name="U05-DG-008-condition_source">
            <a:extLst>
              <a:ext uri="{FF2B5EF4-FFF2-40B4-BE49-F238E27FC236}">
                <a16:creationId xmlns:a16="http://schemas.microsoft.com/office/drawing/2014/main" id="{8F17BFF0-B19C-4ED5-AE9B-828EB945ADEC}"/>
              </a:ext>
            </a:extLst>
          </p:cNvPr>
          <p:cNvSpPr>
            <a:spLocks noGrp="1"/>
          </p:cNvSpPr>
          <p:nvPr/>
        </p:nvSpPr>
        <p:spPr>
          <a:xfrm>
            <a:off x="904875" y="3810000"/>
            <a:ext cx="2286000" cy="1381125"/>
          </a:xfrm>
          <a:prstGeom prst="roundRect">
            <a:avLst>
              <a:gd name="adj" fmla="val 9655"/>
            </a:avLst>
          </a:prstGeom>
          <a:solidFill>
            <a:srgbClr val="F3F6F8"/>
          </a:solidFill>
          <a:ln w="19050">
            <a:solidFill>
              <a:srgbClr val="8291A3"/>
            </a:solidFill>
            <a:prstDash val="solid"/>
          </a:ln>
        </p:spPr>
      </p:sp>
      <p:sp>
        <p:nvSpPr>
          <p:cNvPr id="11" name="U05-DG-008-condition_source-title">
            <a:extLst>
              <a:ext uri="{FF2B5EF4-FFF2-40B4-BE49-F238E27FC236}">
                <a16:creationId xmlns:a16="http://schemas.microsoft.com/office/drawing/2014/main" id="{CE96380E-F056-49E3-AC22-0AE561C88095}"/>
              </a:ext>
            </a:extLst>
          </p:cNvPr>
          <p:cNvSpPr>
            <a:spLocks noGrp="1"/>
          </p:cNvSpPr>
          <p:nvPr/>
        </p:nvSpPr>
        <p:spPr>
          <a:xfrm>
            <a:off x="1076325" y="3933825"/>
            <a:ext cx="1943100" cy="4143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Origen</a:t>
            </a:r>
          </a:p>
        </p:txBody>
      </p:sp>
      <p:sp>
        <p:nvSpPr>
          <p:cNvPr id="12" name="U05-DG-008-condition_source-body">
            <a:extLst>
              <a:ext uri="{FF2B5EF4-FFF2-40B4-BE49-F238E27FC236}">
                <a16:creationId xmlns:a16="http://schemas.microsoft.com/office/drawing/2014/main" id="{E276A5A3-C37D-4ED1-8173-47042023F4C2}"/>
              </a:ext>
            </a:extLst>
          </p:cNvPr>
          <p:cNvSpPr>
            <a:spLocks noGrp="1"/>
          </p:cNvSpPr>
          <p:nvPr/>
        </p:nvSpPr>
        <p:spPr>
          <a:xfrm>
            <a:off x="1076325" y="4348163"/>
            <a:ext cx="1943100" cy="7191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persona / fuente</a:t>
            </a:r>
          </a:p>
        </p:txBody>
      </p:sp>
      <p:sp>
        <p:nvSpPr>
          <p:cNvPr id="13" name="U05-DG-008-condition_stimulus">
            <a:extLst>
              <a:ext uri="{FF2B5EF4-FFF2-40B4-BE49-F238E27FC236}">
                <a16:creationId xmlns:a16="http://schemas.microsoft.com/office/drawing/2014/main" id="{84CF2AA0-F546-48EA-AD6E-91E3D9ECFDCA}"/>
              </a:ext>
            </a:extLst>
          </p:cNvPr>
          <p:cNvSpPr>
            <a:spLocks noGrp="1"/>
          </p:cNvSpPr>
          <p:nvPr/>
        </p:nvSpPr>
        <p:spPr>
          <a:xfrm>
            <a:off x="3571875" y="3810000"/>
            <a:ext cx="2286000" cy="1381125"/>
          </a:xfrm>
          <a:prstGeom prst="roundRect">
            <a:avLst>
              <a:gd name="adj" fmla="val 9655"/>
            </a:avLst>
          </a:prstGeom>
          <a:solidFill>
            <a:srgbClr val="F3F6F8"/>
          </a:solidFill>
          <a:ln w="19050">
            <a:solidFill>
              <a:srgbClr val="8291A3"/>
            </a:solidFill>
            <a:prstDash val="solid"/>
          </a:ln>
        </p:spPr>
      </p:sp>
      <p:sp>
        <p:nvSpPr>
          <p:cNvPr id="14" name="U05-DG-008-condition_stimulus-title">
            <a:extLst>
              <a:ext uri="{FF2B5EF4-FFF2-40B4-BE49-F238E27FC236}">
                <a16:creationId xmlns:a16="http://schemas.microsoft.com/office/drawing/2014/main" id="{B6996666-5300-4795-9959-AA1A31F65474}"/>
              </a:ext>
            </a:extLst>
          </p:cNvPr>
          <p:cNvSpPr>
            <a:spLocks noGrp="1"/>
          </p:cNvSpPr>
          <p:nvPr/>
        </p:nvSpPr>
        <p:spPr>
          <a:xfrm>
            <a:off x="3743325" y="3933825"/>
            <a:ext cx="1943100" cy="4143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Estímulo</a:t>
            </a:r>
          </a:p>
        </p:txBody>
      </p:sp>
      <p:sp>
        <p:nvSpPr>
          <p:cNvPr id="15" name="U05-DG-008-condition_stimulus-body">
            <a:extLst>
              <a:ext uri="{FF2B5EF4-FFF2-40B4-BE49-F238E27FC236}">
                <a16:creationId xmlns:a16="http://schemas.microsoft.com/office/drawing/2014/main" id="{CAE1CF74-5921-48C6-B5BD-793EF7873A59}"/>
              </a:ext>
            </a:extLst>
          </p:cNvPr>
          <p:cNvSpPr>
            <a:spLocks noGrp="1"/>
          </p:cNvSpPr>
          <p:nvPr/>
        </p:nvSpPr>
        <p:spPr>
          <a:xfrm>
            <a:off x="3743325" y="4348163"/>
            <a:ext cx="1943100" cy="7191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f · duración</a:t>
            </a:r>
          </a:p>
        </p:txBody>
      </p:sp>
      <p:sp>
        <p:nvSpPr>
          <p:cNvPr id="16" name="U05-DG-008-condition_level">
            <a:extLst>
              <a:ext uri="{FF2B5EF4-FFF2-40B4-BE49-F238E27FC236}">
                <a16:creationId xmlns:a16="http://schemas.microsoft.com/office/drawing/2014/main" id="{F47887C3-9EB6-4D2B-B152-8760EE77D3A2}"/>
              </a:ext>
            </a:extLst>
          </p:cNvPr>
          <p:cNvSpPr>
            <a:spLocks noGrp="1"/>
          </p:cNvSpPr>
          <p:nvPr/>
        </p:nvSpPr>
        <p:spPr>
          <a:xfrm>
            <a:off x="6238875" y="3810000"/>
            <a:ext cx="2286000" cy="1381125"/>
          </a:xfrm>
          <a:prstGeom prst="roundRect">
            <a:avLst>
              <a:gd name="adj" fmla="val 9655"/>
            </a:avLst>
          </a:prstGeom>
          <a:solidFill>
            <a:srgbClr val="F3F6F8"/>
          </a:solidFill>
          <a:ln w="19050">
            <a:solidFill>
              <a:srgbClr val="8291A3"/>
            </a:solidFill>
            <a:prstDash val="solid"/>
          </a:ln>
        </p:spPr>
      </p:sp>
      <p:sp>
        <p:nvSpPr>
          <p:cNvPr id="17" name="U05-DG-008-condition_level-title">
            <a:extLst>
              <a:ext uri="{FF2B5EF4-FFF2-40B4-BE49-F238E27FC236}">
                <a16:creationId xmlns:a16="http://schemas.microsoft.com/office/drawing/2014/main" id="{52C8677E-0A3E-4BA7-BF8F-C42F752AEC4C}"/>
              </a:ext>
            </a:extLst>
          </p:cNvPr>
          <p:cNvSpPr>
            <a:spLocks noGrp="1"/>
          </p:cNvSpPr>
          <p:nvPr/>
        </p:nvSpPr>
        <p:spPr>
          <a:xfrm>
            <a:off x="6410325" y="3933825"/>
            <a:ext cx="1943100" cy="4143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Descriptor</a:t>
            </a:r>
          </a:p>
        </p:txBody>
      </p:sp>
      <p:sp>
        <p:nvSpPr>
          <p:cNvPr id="18" name="U05-DG-008-condition_level-body">
            <a:extLst>
              <a:ext uri="{FF2B5EF4-FFF2-40B4-BE49-F238E27FC236}">
                <a16:creationId xmlns:a16="http://schemas.microsoft.com/office/drawing/2014/main" id="{461AC645-DBA3-45A4-B628-66F7B096E8D9}"/>
              </a:ext>
            </a:extLst>
          </p:cNvPr>
          <p:cNvSpPr>
            <a:spLocks noGrp="1"/>
          </p:cNvSpPr>
          <p:nvPr/>
        </p:nvSpPr>
        <p:spPr>
          <a:xfrm>
            <a:off x="6410325" y="4348163"/>
            <a:ext cx="1943100" cy="7191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RMS · pico L_eq</a:t>
            </a:r>
          </a:p>
        </p:txBody>
      </p:sp>
      <p:sp>
        <p:nvSpPr>
          <p:cNvPr id="19" name="U05-DG-008-condition_method">
            <a:extLst>
              <a:ext uri="{FF2B5EF4-FFF2-40B4-BE49-F238E27FC236}">
                <a16:creationId xmlns:a16="http://schemas.microsoft.com/office/drawing/2014/main" id="{10FB369D-A9B3-4211-B5B8-37F825DE6ADB}"/>
              </a:ext>
            </a:extLst>
          </p:cNvPr>
          <p:cNvSpPr>
            <a:spLocks noGrp="1"/>
          </p:cNvSpPr>
          <p:nvPr/>
        </p:nvSpPr>
        <p:spPr>
          <a:xfrm>
            <a:off x="8905875" y="3810000"/>
            <a:ext cx="2381250" cy="1381125"/>
          </a:xfrm>
          <a:prstGeom prst="roundRect">
            <a:avLst>
              <a:gd name="adj" fmla="val 9655"/>
            </a:avLst>
          </a:prstGeom>
          <a:solidFill>
            <a:srgbClr val="DDEFF5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20" name="U05-DG-008-condition_method-title">
            <a:extLst>
              <a:ext uri="{FF2B5EF4-FFF2-40B4-BE49-F238E27FC236}">
                <a16:creationId xmlns:a16="http://schemas.microsoft.com/office/drawing/2014/main" id="{71D1C8E2-15C8-434D-B82C-7A15C8EE3262}"/>
              </a:ext>
            </a:extLst>
          </p:cNvPr>
          <p:cNvSpPr>
            <a:spLocks noGrp="1"/>
          </p:cNvSpPr>
          <p:nvPr/>
        </p:nvSpPr>
        <p:spPr>
          <a:xfrm>
            <a:off x="9077325" y="3933825"/>
            <a:ext cx="2038350" cy="4143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Medición</a:t>
            </a:r>
          </a:p>
        </p:txBody>
      </p:sp>
      <p:sp>
        <p:nvSpPr>
          <p:cNvPr id="21" name="U05-DG-008-condition_method-body">
            <a:extLst>
              <a:ext uri="{FF2B5EF4-FFF2-40B4-BE49-F238E27FC236}">
                <a16:creationId xmlns:a16="http://schemas.microsoft.com/office/drawing/2014/main" id="{76DFF513-512F-4E3F-8C85-1E3C9911FA8E}"/>
              </a:ext>
            </a:extLst>
          </p:cNvPr>
          <p:cNvSpPr>
            <a:spLocks noGrp="1"/>
          </p:cNvSpPr>
          <p:nvPr/>
        </p:nvSpPr>
        <p:spPr>
          <a:xfrm>
            <a:off x="9077325" y="4348163"/>
            <a:ext cx="2038350" cy="7191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distancia · X</a:t>
            </a:r>
          </a:p>
        </p:txBody>
      </p:sp>
      <p:cxnSp>
        <p:nvCxnSpPr>
          <p:cNvPr id="48" name="U05-DG-008-cond_1"/>
          <p:cNvCxnSpPr>
            <a:stCxn id="4" idx="2"/>
            <a:endCxn id="13" idx="0"/>
          </p:cNvCxnSpPr>
          <p:nvPr/>
        </p:nvCxnSpPr>
        <p:spPr>
          <a:xfrm>
            <a:off x="3286125" y="2809875"/>
            <a:ext cx="1428750" cy="1000125"/>
          </a:xfrm>
          <a:prstGeom prst="bentConnector4">
            <a:avLst>
              <a:gd name="adj1" fmla="val 0"/>
              <a:gd name="adj2" fmla="val 50000"/>
            </a:avLst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cxnSp>
        <p:nvCxnSpPr>
          <p:cNvPr id="49" name="U05-DG-008-cond_2"/>
          <p:cNvCxnSpPr>
            <a:stCxn id="7" idx="2"/>
            <a:endCxn id="16" idx="0"/>
          </p:cNvCxnSpPr>
          <p:nvPr/>
        </p:nvCxnSpPr>
        <p:spPr>
          <a:xfrm flipH="1">
            <a:off x="7381875" y="2809875"/>
            <a:ext cx="1524000" cy="1000125"/>
          </a:xfrm>
          <a:prstGeom prst="bentConnector4">
            <a:avLst>
              <a:gd name="adj1" fmla="val 0"/>
              <a:gd name="adj2" fmla="val 50000"/>
            </a:avLst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sp>
        <p:nvSpPr>
          <p:cNvPr id="24" name="diagram-scale-note">
            <a:extLst>
              <a:ext uri="{FF2B5EF4-FFF2-40B4-BE49-F238E27FC236}">
                <a16:creationId xmlns:a16="http://schemas.microsoft.com/office/drawing/2014/main" id="{31A8D81E-DBE7-4E18-8DEE-0F34489CE760}"/>
              </a:ext>
            </a:extLst>
          </p:cNvPr>
          <p:cNvSpPr>
            <a:spLocks noGrp="1"/>
          </p:cNvSpPr>
          <p:nvPr/>
        </p:nvSpPr>
        <p:spPr>
          <a:xfrm>
            <a:off x="552450" y="5829300"/>
            <a:ext cx="3905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05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Esquema conceptual · no está a escala</a:t>
            </a:r>
          </a:p>
        </p:txBody>
      </p:sp>
      <p:sp>
        <p:nvSpPr>
          <p:cNvPr id="25" name="caption">
            <a:extLst>
              <a:ext uri="{FF2B5EF4-FFF2-40B4-BE49-F238E27FC236}">
                <a16:creationId xmlns:a16="http://schemas.microsoft.com/office/drawing/2014/main" id="{3A730FC4-B77D-4852-A09B-4FF273EF8DCF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876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Un rango dinámico es una diferencia de niveles.</a:t>
            </a:r>
          </a:p>
        </p:txBody>
      </p:sp>
      <p:sp>
        <p:nvSpPr>
          <p:cNvPr id="26" name="credit">
            <a:extLst>
              <a:ext uri="{FF2B5EF4-FFF2-40B4-BE49-F238E27FC236}">
                <a16:creationId xmlns:a16="http://schemas.microsoft.com/office/drawing/2014/main" id="{C42AA1D5-2485-40BA-AA3C-690FD4C29691}"/>
              </a:ext>
            </a:extLst>
          </p:cNvPr>
          <p:cNvSpPr>
            <a:spLocks noGrp="1"/>
          </p:cNvSpPr>
          <p:nvPr/>
        </p:nvSpPr>
        <p:spPr>
          <a:xfrm>
            <a:off x="9382125" y="60769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5.7.2, ec. 5.15; NOT.</a:t>
            </a:r>
          </a:p>
        </p:txBody>
      </p:sp>
      <p:sp>
        <p:nvSpPr>
          <p:cNvPr id="22" name="slide-alt-summary" descr="Escala de niveles con límites inferior y superior y ecuación de diferencia.">
            <a:extLst>
              <a:ext uri="{FF2B5EF4-FFF2-40B4-BE49-F238E27FC236}">
                <a16:creationId xmlns:a16="http://schemas.microsoft.com/office/drawing/2014/main" id="{9DCB30AB-5CDE-5E54-D1E7-928BA7487231}"/>
              </a:ext>
            </a:extLst>
          </p:cNvPr>
          <p:cNvSpPr/>
          <p:nvPr/>
        </p:nvSpPr>
        <p:spPr>
          <a:xfrm>
            <a:off x="12700" y="12700"/>
            <a:ext cx="12700" cy="12700"/>
          </a:xfrm>
          <a:prstGeom prst="rect">
            <a:avLst/>
          </a:prstGeom>
          <a:noFill/>
          <a:ln w="19050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eyebrow">
            <a:extLst>
              <a:ext uri="{FF2B5EF4-FFF2-40B4-BE49-F238E27FC236}">
                <a16:creationId xmlns:a16="http://schemas.microsoft.com/office/drawing/2014/main" id="{6A0A7624-5091-427F-85DB-13CAC25E2DBF}"/>
              </a:ext>
            </a:extLst>
          </p:cNvPr>
          <p:cNvSpPr>
            <a:spLocks noGrp="1"/>
          </p:cNvSpPr>
          <p:nvPr/>
        </p:nvSpPr>
        <p:spPr>
          <a:xfrm>
            <a:off x="514350" y="2095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080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98DF882B-FC50-4DB6-967F-DE05907CF985}"/>
              </a:ext>
            </a:extLst>
          </p:cNvPr>
          <p:cNvSpPr>
            <a:spLocks noGrp="1"/>
          </p:cNvSpPr>
          <p:nvPr/>
        </p:nvSpPr>
        <p:spPr>
          <a:xfrm>
            <a:off x="495300" y="428625"/>
            <a:ext cx="11191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El rango vocal depende de tarea y montaje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3EE6303D-31E5-444B-AA46-8BFBC0FA720A}"/>
              </a:ext>
            </a:extLst>
          </p:cNvPr>
          <p:cNvSpPr>
            <a:spLocks noGrp="1"/>
          </p:cNvSpPr>
          <p:nvPr/>
        </p:nvSpPr>
        <p:spPr>
          <a:xfrm>
            <a:off x="523875" y="971550"/>
            <a:ext cx="11001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Ejemplo hipotético, no valor universal.</a:t>
            </a:r>
          </a:p>
        </p:txBody>
      </p:sp>
      <p:sp>
        <p:nvSpPr>
          <p:cNvPr id="4" name="U05-DG-008-frequency_range">
            <a:extLst>
              <a:ext uri="{FF2B5EF4-FFF2-40B4-BE49-F238E27FC236}">
                <a16:creationId xmlns:a16="http://schemas.microsoft.com/office/drawing/2014/main" id="{E82779B2-B279-4BE0-96BC-1364F56466C7}"/>
              </a:ext>
            </a:extLst>
          </p:cNvPr>
          <p:cNvSpPr>
            <a:spLocks noGrp="1"/>
          </p:cNvSpPr>
          <p:nvPr/>
        </p:nvSpPr>
        <p:spPr>
          <a:xfrm>
            <a:off x="904875" y="1476375"/>
            <a:ext cx="4762500" cy="1333500"/>
          </a:xfrm>
          <a:prstGeom prst="roundRect">
            <a:avLst>
              <a:gd name="adj" fmla="val 10000"/>
            </a:avLst>
          </a:prstGeom>
          <a:solidFill>
            <a:srgbClr val="EFF8FA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5" name="U05-DG-008-frequency_range-title">
            <a:extLst>
              <a:ext uri="{FF2B5EF4-FFF2-40B4-BE49-F238E27FC236}">
                <a16:creationId xmlns:a16="http://schemas.microsoft.com/office/drawing/2014/main" id="{2704ED21-E4E1-4646-B100-D3866213060C}"/>
              </a:ext>
            </a:extLst>
          </p:cNvPr>
          <p:cNvSpPr>
            <a:spLocks noGrp="1"/>
          </p:cNvSpPr>
          <p:nvPr/>
        </p:nvSpPr>
        <p:spPr>
          <a:xfrm>
            <a:off x="1076325" y="1600200"/>
            <a:ext cx="4419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Región de frecuencia</a:t>
            </a:r>
          </a:p>
        </p:txBody>
      </p:sp>
      <p:sp>
        <p:nvSpPr>
          <p:cNvPr id="6" name="U05-DG-008-frequency_range-body">
            <a:extLst>
              <a:ext uri="{FF2B5EF4-FFF2-40B4-BE49-F238E27FC236}">
                <a16:creationId xmlns:a16="http://schemas.microsoft.com/office/drawing/2014/main" id="{2AEA51EA-C751-45FC-95F2-27F425D0DAF1}"/>
              </a:ext>
            </a:extLst>
          </p:cNvPr>
          <p:cNvSpPr>
            <a:spLocks noGrp="1"/>
          </p:cNvSpPr>
          <p:nvPr/>
        </p:nvSpPr>
        <p:spPr>
          <a:xfrm>
            <a:off x="1076325" y="2000250"/>
            <a:ext cx="44196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infra · audible · ultra</a:t>
            </a:r>
          </a:p>
        </p:txBody>
      </p:sp>
      <p:sp>
        <p:nvSpPr>
          <p:cNvPr id="7" name="U05-DG-008-dynamic_range">
            <a:extLst>
              <a:ext uri="{FF2B5EF4-FFF2-40B4-BE49-F238E27FC236}">
                <a16:creationId xmlns:a16="http://schemas.microsoft.com/office/drawing/2014/main" id="{C94374F1-418E-4536-9081-139B1EC40138}"/>
              </a:ext>
            </a:extLst>
          </p:cNvPr>
          <p:cNvSpPr>
            <a:spLocks noGrp="1"/>
          </p:cNvSpPr>
          <p:nvPr/>
        </p:nvSpPr>
        <p:spPr>
          <a:xfrm>
            <a:off x="6524625" y="1476375"/>
            <a:ext cx="4762500" cy="1333500"/>
          </a:xfrm>
          <a:prstGeom prst="roundRect">
            <a:avLst>
              <a:gd name="adj" fmla="val 10000"/>
            </a:avLst>
          </a:prstGeom>
          <a:solidFill>
            <a:srgbClr val="E3F2ED"/>
          </a:solidFill>
          <a:ln w="19050">
            <a:solidFill>
              <a:srgbClr val="2D7867"/>
            </a:solidFill>
            <a:prstDash val="solid"/>
          </a:ln>
        </p:spPr>
      </p:sp>
      <p:sp>
        <p:nvSpPr>
          <p:cNvPr id="8" name="U05-DG-008-dynamic_range-title">
            <a:extLst>
              <a:ext uri="{FF2B5EF4-FFF2-40B4-BE49-F238E27FC236}">
                <a16:creationId xmlns:a16="http://schemas.microsoft.com/office/drawing/2014/main" id="{0DA7F172-CFC1-4CAD-85F4-EE9B98B992AB}"/>
              </a:ext>
            </a:extLst>
          </p:cNvPr>
          <p:cNvSpPr>
            <a:spLocks noGrp="1"/>
          </p:cNvSpPr>
          <p:nvPr/>
        </p:nvSpPr>
        <p:spPr>
          <a:xfrm>
            <a:off x="6696075" y="1600200"/>
            <a:ext cx="4419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Rango dinámico</a:t>
            </a:r>
          </a:p>
        </p:txBody>
      </p:sp>
      <p:sp>
        <p:nvSpPr>
          <p:cNvPr id="9" name="U05-DG-008-dynamic_range-body">
            <a:extLst>
              <a:ext uri="{FF2B5EF4-FFF2-40B4-BE49-F238E27FC236}">
                <a16:creationId xmlns:a16="http://schemas.microsoft.com/office/drawing/2014/main" id="{89150F22-08E0-4E77-8ED4-A251D991200D}"/>
              </a:ext>
            </a:extLst>
          </p:cNvPr>
          <p:cNvSpPr>
            <a:spLocks noGrp="1"/>
          </p:cNvSpPr>
          <p:nvPr/>
        </p:nvSpPr>
        <p:spPr>
          <a:xfrm>
            <a:off x="6696075" y="2000250"/>
            <a:ext cx="44196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R_D = L_sup − L_inf</a:t>
            </a:r>
          </a:p>
        </p:txBody>
      </p:sp>
      <p:sp>
        <p:nvSpPr>
          <p:cNvPr id="10" name="U05-DG-008-condition_source">
            <a:extLst>
              <a:ext uri="{FF2B5EF4-FFF2-40B4-BE49-F238E27FC236}">
                <a16:creationId xmlns:a16="http://schemas.microsoft.com/office/drawing/2014/main" id="{C22965F2-2FE2-47F1-AEC6-86B876A013AB}"/>
              </a:ext>
            </a:extLst>
          </p:cNvPr>
          <p:cNvSpPr>
            <a:spLocks noGrp="1"/>
          </p:cNvSpPr>
          <p:nvPr/>
        </p:nvSpPr>
        <p:spPr>
          <a:xfrm>
            <a:off x="904875" y="3810000"/>
            <a:ext cx="2286000" cy="1381125"/>
          </a:xfrm>
          <a:prstGeom prst="roundRect">
            <a:avLst>
              <a:gd name="adj" fmla="val 9655"/>
            </a:avLst>
          </a:prstGeom>
          <a:solidFill>
            <a:srgbClr val="F3F6F8"/>
          </a:solidFill>
          <a:ln w="19050">
            <a:solidFill>
              <a:srgbClr val="8291A3"/>
            </a:solidFill>
            <a:prstDash val="solid"/>
          </a:ln>
        </p:spPr>
      </p:sp>
      <p:sp>
        <p:nvSpPr>
          <p:cNvPr id="11" name="U05-DG-008-condition_source-title">
            <a:extLst>
              <a:ext uri="{FF2B5EF4-FFF2-40B4-BE49-F238E27FC236}">
                <a16:creationId xmlns:a16="http://schemas.microsoft.com/office/drawing/2014/main" id="{41D81100-ED2D-44A7-B49C-A35826C37B72}"/>
              </a:ext>
            </a:extLst>
          </p:cNvPr>
          <p:cNvSpPr>
            <a:spLocks noGrp="1"/>
          </p:cNvSpPr>
          <p:nvPr/>
        </p:nvSpPr>
        <p:spPr>
          <a:xfrm>
            <a:off x="1076325" y="3933825"/>
            <a:ext cx="1943100" cy="4143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Origen</a:t>
            </a:r>
          </a:p>
        </p:txBody>
      </p:sp>
      <p:sp>
        <p:nvSpPr>
          <p:cNvPr id="12" name="U05-DG-008-condition_source-body">
            <a:extLst>
              <a:ext uri="{FF2B5EF4-FFF2-40B4-BE49-F238E27FC236}">
                <a16:creationId xmlns:a16="http://schemas.microsoft.com/office/drawing/2014/main" id="{17F028A2-CCDB-40C7-A387-E63C4500C176}"/>
              </a:ext>
            </a:extLst>
          </p:cNvPr>
          <p:cNvSpPr>
            <a:spLocks noGrp="1"/>
          </p:cNvSpPr>
          <p:nvPr/>
        </p:nvSpPr>
        <p:spPr>
          <a:xfrm>
            <a:off x="1076325" y="4348163"/>
            <a:ext cx="1943100" cy="7191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persona / fuente</a:t>
            </a:r>
          </a:p>
        </p:txBody>
      </p:sp>
      <p:sp>
        <p:nvSpPr>
          <p:cNvPr id="13" name="U05-DG-008-condition_stimulus">
            <a:extLst>
              <a:ext uri="{FF2B5EF4-FFF2-40B4-BE49-F238E27FC236}">
                <a16:creationId xmlns:a16="http://schemas.microsoft.com/office/drawing/2014/main" id="{8BE7A533-9EBB-4BC0-872E-4F367E642774}"/>
              </a:ext>
            </a:extLst>
          </p:cNvPr>
          <p:cNvSpPr>
            <a:spLocks noGrp="1"/>
          </p:cNvSpPr>
          <p:nvPr/>
        </p:nvSpPr>
        <p:spPr>
          <a:xfrm>
            <a:off x="3571875" y="3810000"/>
            <a:ext cx="2286000" cy="1381125"/>
          </a:xfrm>
          <a:prstGeom prst="roundRect">
            <a:avLst>
              <a:gd name="adj" fmla="val 9655"/>
            </a:avLst>
          </a:prstGeom>
          <a:solidFill>
            <a:srgbClr val="F3F6F8"/>
          </a:solidFill>
          <a:ln w="19050">
            <a:solidFill>
              <a:srgbClr val="8291A3"/>
            </a:solidFill>
            <a:prstDash val="solid"/>
          </a:ln>
        </p:spPr>
      </p:sp>
      <p:sp>
        <p:nvSpPr>
          <p:cNvPr id="14" name="U05-DG-008-condition_stimulus-title">
            <a:extLst>
              <a:ext uri="{FF2B5EF4-FFF2-40B4-BE49-F238E27FC236}">
                <a16:creationId xmlns:a16="http://schemas.microsoft.com/office/drawing/2014/main" id="{4E6D2836-BFB6-4B87-A611-38CEAA5A0553}"/>
              </a:ext>
            </a:extLst>
          </p:cNvPr>
          <p:cNvSpPr>
            <a:spLocks noGrp="1"/>
          </p:cNvSpPr>
          <p:nvPr/>
        </p:nvSpPr>
        <p:spPr>
          <a:xfrm>
            <a:off x="3743325" y="3933825"/>
            <a:ext cx="1943100" cy="4143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Estímulo</a:t>
            </a:r>
          </a:p>
        </p:txBody>
      </p:sp>
      <p:sp>
        <p:nvSpPr>
          <p:cNvPr id="15" name="U05-DG-008-condition_stimulus-body">
            <a:extLst>
              <a:ext uri="{FF2B5EF4-FFF2-40B4-BE49-F238E27FC236}">
                <a16:creationId xmlns:a16="http://schemas.microsoft.com/office/drawing/2014/main" id="{E8B9EE89-2EC2-4184-8DF8-9CC736F6C74A}"/>
              </a:ext>
            </a:extLst>
          </p:cNvPr>
          <p:cNvSpPr>
            <a:spLocks noGrp="1"/>
          </p:cNvSpPr>
          <p:nvPr/>
        </p:nvSpPr>
        <p:spPr>
          <a:xfrm>
            <a:off x="3743325" y="4348163"/>
            <a:ext cx="1943100" cy="7191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f · duración</a:t>
            </a:r>
          </a:p>
        </p:txBody>
      </p:sp>
      <p:sp>
        <p:nvSpPr>
          <p:cNvPr id="16" name="U05-DG-008-condition_level">
            <a:extLst>
              <a:ext uri="{FF2B5EF4-FFF2-40B4-BE49-F238E27FC236}">
                <a16:creationId xmlns:a16="http://schemas.microsoft.com/office/drawing/2014/main" id="{DEA77AE4-9E0B-4F98-BD9F-FF2BDE67F658}"/>
              </a:ext>
            </a:extLst>
          </p:cNvPr>
          <p:cNvSpPr>
            <a:spLocks noGrp="1"/>
          </p:cNvSpPr>
          <p:nvPr/>
        </p:nvSpPr>
        <p:spPr>
          <a:xfrm>
            <a:off x="6238875" y="3810000"/>
            <a:ext cx="2286000" cy="1381125"/>
          </a:xfrm>
          <a:prstGeom prst="roundRect">
            <a:avLst>
              <a:gd name="adj" fmla="val 9655"/>
            </a:avLst>
          </a:prstGeom>
          <a:solidFill>
            <a:srgbClr val="F3F6F8"/>
          </a:solidFill>
          <a:ln w="19050">
            <a:solidFill>
              <a:srgbClr val="8291A3"/>
            </a:solidFill>
            <a:prstDash val="solid"/>
          </a:ln>
        </p:spPr>
      </p:sp>
      <p:sp>
        <p:nvSpPr>
          <p:cNvPr id="17" name="U05-DG-008-condition_level-title">
            <a:extLst>
              <a:ext uri="{FF2B5EF4-FFF2-40B4-BE49-F238E27FC236}">
                <a16:creationId xmlns:a16="http://schemas.microsoft.com/office/drawing/2014/main" id="{523BF646-FAC5-4609-9B3A-37767D66F86A}"/>
              </a:ext>
            </a:extLst>
          </p:cNvPr>
          <p:cNvSpPr>
            <a:spLocks noGrp="1"/>
          </p:cNvSpPr>
          <p:nvPr/>
        </p:nvSpPr>
        <p:spPr>
          <a:xfrm>
            <a:off x="6410325" y="3933825"/>
            <a:ext cx="1943100" cy="4143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Descriptor</a:t>
            </a:r>
          </a:p>
        </p:txBody>
      </p:sp>
      <p:sp>
        <p:nvSpPr>
          <p:cNvPr id="18" name="U05-DG-008-condition_level-body">
            <a:extLst>
              <a:ext uri="{FF2B5EF4-FFF2-40B4-BE49-F238E27FC236}">
                <a16:creationId xmlns:a16="http://schemas.microsoft.com/office/drawing/2014/main" id="{5534914E-85A5-4CA2-8AB5-9508144A192D}"/>
              </a:ext>
            </a:extLst>
          </p:cNvPr>
          <p:cNvSpPr>
            <a:spLocks noGrp="1"/>
          </p:cNvSpPr>
          <p:nvPr/>
        </p:nvSpPr>
        <p:spPr>
          <a:xfrm>
            <a:off x="6410325" y="4348163"/>
            <a:ext cx="1943100" cy="7191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RMS · pico L_eq</a:t>
            </a:r>
          </a:p>
        </p:txBody>
      </p:sp>
      <p:sp>
        <p:nvSpPr>
          <p:cNvPr id="19" name="U05-DG-008-condition_method">
            <a:extLst>
              <a:ext uri="{FF2B5EF4-FFF2-40B4-BE49-F238E27FC236}">
                <a16:creationId xmlns:a16="http://schemas.microsoft.com/office/drawing/2014/main" id="{DCF762EA-6654-40D7-B05E-647BC97B110A}"/>
              </a:ext>
            </a:extLst>
          </p:cNvPr>
          <p:cNvSpPr>
            <a:spLocks noGrp="1"/>
          </p:cNvSpPr>
          <p:nvPr/>
        </p:nvSpPr>
        <p:spPr>
          <a:xfrm>
            <a:off x="8905875" y="3810000"/>
            <a:ext cx="2381250" cy="1381125"/>
          </a:xfrm>
          <a:prstGeom prst="roundRect">
            <a:avLst>
              <a:gd name="adj" fmla="val 9655"/>
            </a:avLst>
          </a:prstGeom>
          <a:solidFill>
            <a:srgbClr val="DDEFF5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20" name="U05-DG-008-condition_method-title">
            <a:extLst>
              <a:ext uri="{FF2B5EF4-FFF2-40B4-BE49-F238E27FC236}">
                <a16:creationId xmlns:a16="http://schemas.microsoft.com/office/drawing/2014/main" id="{2DE6E14B-B989-4F0E-A16D-CAB69B2F52FD}"/>
              </a:ext>
            </a:extLst>
          </p:cNvPr>
          <p:cNvSpPr>
            <a:spLocks noGrp="1"/>
          </p:cNvSpPr>
          <p:nvPr/>
        </p:nvSpPr>
        <p:spPr>
          <a:xfrm>
            <a:off x="9077325" y="3933825"/>
            <a:ext cx="2038350" cy="4143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Medición</a:t>
            </a:r>
          </a:p>
        </p:txBody>
      </p:sp>
      <p:sp>
        <p:nvSpPr>
          <p:cNvPr id="21" name="U05-DG-008-condition_method-body">
            <a:extLst>
              <a:ext uri="{FF2B5EF4-FFF2-40B4-BE49-F238E27FC236}">
                <a16:creationId xmlns:a16="http://schemas.microsoft.com/office/drawing/2014/main" id="{BEB17580-995E-4AB3-9FD7-90A9DDC91A0E}"/>
              </a:ext>
            </a:extLst>
          </p:cNvPr>
          <p:cNvSpPr>
            <a:spLocks noGrp="1"/>
          </p:cNvSpPr>
          <p:nvPr/>
        </p:nvSpPr>
        <p:spPr>
          <a:xfrm>
            <a:off x="9077325" y="4348163"/>
            <a:ext cx="2038350" cy="7191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distancia · X</a:t>
            </a:r>
          </a:p>
        </p:txBody>
      </p:sp>
      <p:cxnSp>
        <p:nvCxnSpPr>
          <p:cNvPr id="48" name="U05-DG-008-cond_1"/>
          <p:cNvCxnSpPr>
            <a:stCxn id="4" idx="2"/>
            <a:endCxn id="13" idx="0"/>
          </p:cNvCxnSpPr>
          <p:nvPr/>
        </p:nvCxnSpPr>
        <p:spPr>
          <a:xfrm>
            <a:off x="3286125" y="2809875"/>
            <a:ext cx="1428750" cy="1000125"/>
          </a:xfrm>
          <a:prstGeom prst="bentConnector4">
            <a:avLst>
              <a:gd name="adj1" fmla="val 0"/>
              <a:gd name="adj2" fmla="val 50000"/>
            </a:avLst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cxnSp>
        <p:nvCxnSpPr>
          <p:cNvPr id="49" name="U05-DG-008-cond_2"/>
          <p:cNvCxnSpPr>
            <a:stCxn id="7" idx="2"/>
            <a:endCxn id="16" idx="0"/>
          </p:cNvCxnSpPr>
          <p:nvPr/>
        </p:nvCxnSpPr>
        <p:spPr>
          <a:xfrm flipH="1">
            <a:off x="7381875" y="2809875"/>
            <a:ext cx="1524000" cy="1000125"/>
          </a:xfrm>
          <a:prstGeom prst="bentConnector4">
            <a:avLst>
              <a:gd name="adj1" fmla="val 0"/>
              <a:gd name="adj2" fmla="val 50000"/>
            </a:avLst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sp>
        <p:nvSpPr>
          <p:cNvPr id="24" name="diagram-scale-note">
            <a:extLst>
              <a:ext uri="{FF2B5EF4-FFF2-40B4-BE49-F238E27FC236}">
                <a16:creationId xmlns:a16="http://schemas.microsoft.com/office/drawing/2014/main" id="{998BCCBD-F31F-4B45-8DA0-A0FA370C09C6}"/>
              </a:ext>
            </a:extLst>
          </p:cNvPr>
          <p:cNvSpPr>
            <a:spLocks noGrp="1"/>
          </p:cNvSpPr>
          <p:nvPr/>
        </p:nvSpPr>
        <p:spPr>
          <a:xfrm>
            <a:off x="552450" y="5829300"/>
            <a:ext cx="3905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05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Esquema conceptual · no está a escala</a:t>
            </a:r>
          </a:p>
        </p:txBody>
      </p:sp>
      <p:sp>
        <p:nvSpPr>
          <p:cNvPr id="25" name="caption">
            <a:extLst>
              <a:ext uri="{FF2B5EF4-FFF2-40B4-BE49-F238E27FC236}">
                <a16:creationId xmlns:a16="http://schemas.microsoft.com/office/drawing/2014/main" id="{F6033D30-D4EB-4B9D-AD9D-C5A12C39F92B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876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No confundir rango dinámico con rango de pitch o sonoridad.</a:t>
            </a:r>
          </a:p>
        </p:txBody>
      </p:sp>
      <p:sp>
        <p:nvSpPr>
          <p:cNvPr id="26" name="credit">
            <a:extLst>
              <a:ext uri="{FF2B5EF4-FFF2-40B4-BE49-F238E27FC236}">
                <a16:creationId xmlns:a16="http://schemas.microsoft.com/office/drawing/2014/main" id="{C1027F4D-264A-49CC-95EC-65C2A0F47905}"/>
              </a:ext>
            </a:extLst>
          </p:cNvPr>
          <p:cNvSpPr>
            <a:spLocks noGrp="1"/>
          </p:cNvSpPr>
          <p:nvPr/>
        </p:nvSpPr>
        <p:spPr>
          <a:xfrm>
            <a:off x="9382125" y="60769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aplicación F5.</a:t>
            </a:r>
          </a:p>
        </p:txBody>
      </p:sp>
      <p:sp>
        <p:nvSpPr>
          <p:cNvPr id="22" name="slide-alt-summary" descr="Escala de 62 a 86 dB SPL rodeada por cinco condiciones de medición.">
            <a:extLst>
              <a:ext uri="{FF2B5EF4-FFF2-40B4-BE49-F238E27FC236}">
                <a16:creationId xmlns:a16="http://schemas.microsoft.com/office/drawing/2014/main" id="{8782C0EE-9654-88CC-F034-730E3F02081A}"/>
              </a:ext>
            </a:extLst>
          </p:cNvPr>
          <p:cNvSpPr/>
          <p:nvPr/>
        </p:nvSpPr>
        <p:spPr>
          <a:xfrm>
            <a:off x="12700" y="12700"/>
            <a:ext cx="12700" cy="12700"/>
          </a:xfrm>
          <a:prstGeom prst="rect">
            <a:avLst/>
          </a:prstGeom>
          <a:noFill/>
          <a:ln w="19050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17057724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yebrow">
            <a:extLst>
              <a:ext uri="{FF2B5EF4-FFF2-40B4-BE49-F238E27FC236}">
                <a16:creationId xmlns:a16="http://schemas.microsoft.com/office/drawing/2014/main" id="{BACED413-AE9B-4C59-A963-55B571DE1F63}"/>
              </a:ext>
            </a:extLst>
          </p:cNvPr>
          <p:cNvSpPr>
            <a:spLocks noGrp="1"/>
          </p:cNvSpPr>
          <p:nvPr/>
        </p:nvSpPr>
        <p:spPr>
          <a:xfrm>
            <a:off x="514350" y="2095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081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98719973-7B9E-497E-A16C-502603AC87EE}"/>
              </a:ext>
            </a:extLst>
          </p:cNvPr>
          <p:cNvSpPr>
            <a:spLocks noGrp="1"/>
          </p:cNvSpPr>
          <p:nvPr/>
        </p:nvSpPr>
        <p:spPr>
          <a:xfrm>
            <a:off x="495300" y="428625"/>
            <a:ext cx="11191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Un instrumento tampoco tiene un único rango dinámico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162AD42F-4AB2-4933-91B4-6F123CB68B48}"/>
              </a:ext>
            </a:extLst>
          </p:cNvPr>
          <p:cNvSpPr>
            <a:spLocks noGrp="1"/>
          </p:cNvSpPr>
          <p:nvPr/>
        </p:nvSpPr>
        <p:spPr>
          <a:xfrm>
            <a:off x="523875" y="971550"/>
            <a:ext cx="11001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Técnica, nota, sala y posición modifican los extremos.</a:t>
            </a:r>
          </a:p>
        </p:txBody>
      </p:sp>
      <p:sp>
        <p:nvSpPr>
          <p:cNvPr id="4" name="main-ideas">
            <a:extLst>
              <a:ext uri="{FF2B5EF4-FFF2-40B4-BE49-F238E27FC236}">
                <a16:creationId xmlns:a16="http://schemas.microsoft.com/office/drawing/2014/main" id="{7D57B52B-3F57-481A-9843-C9D10F21F951}"/>
              </a:ext>
            </a:extLst>
          </p:cNvPr>
          <p:cNvSpPr>
            <a:spLocks noGrp="1"/>
          </p:cNvSpPr>
          <p:nvPr/>
        </p:nvSpPr>
        <p:spPr>
          <a:xfrm>
            <a:off x="666750" y="1476375"/>
            <a:ext cx="6762750" cy="3857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76200" rIns="76200" bIns="76200">
            <a:noAutofit/>
          </a:bodyPr>
          <a:lstStyle/>
          <a:p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Antes de comparar valores, declarar: instrumento</a:t>
            </a:r>
          </a:p>
          <a:p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ejecución</a:t>
            </a:r>
          </a:p>
          <a:p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distancia y orientación</a:t>
            </a:r>
          </a:p>
          <a:p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sala</a:t>
            </a:r>
          </a:p>
          <a:p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descriptor.</a:t>
            </a:r>
          </a:p>
          <a:p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No usar una tabla genérica sin fuente.</a:t>
            </a:r>
          </a:p>
        </p:txBody>
      </p:sp>
      <p:sp>
        <p:nvSpPr>
          <p:cNvPr id="5" name="side-panel-box">
            <a:extLst>
              <a:ext uri="{FF2B5EF4-FFF2-40B4-BE49-F238E27FC236}">
                <a16:creationId xmlns:a16="http://schemas.microsoft.com/office/drawing/2014/main" id="{4988177E-3DB6-425F-8F54-7F0ADAC73940}"/>
              </a:ext>
            </a:extLst>
          </p:cNvPr>
          <p:cNvSpPr>
            <a:spLocks noGrp="1"/>
          </p:cNvSpPr>
          <p:nvPr/>
        </p:nvSpPr>
        <p:spPr>
          <a:xfrm>
            <a:off x="7953375" y="1571625"/>
            <a:ext cx="3476625" cy="3381375"/>
          </a:xfrm>
          <a:prstGeom prst="roundRect">
            <a:avLst>
              <a:gd name="adj" fmla="val 3944"/>
            </a:avLst>
          </a:prstGeom>
          <a:solidFill>
            <a:srgbClr val="DDEFF5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6" name="side-panel-title">
            <a:extLst>
              <a:ext uri="{FF2B5EF4-FFF2-40B4-BE49-F238E27FC236}">
                <a16:creationId xmlns:a16="http://schemas.microsoft.com/office/drawing/2014/main" id="{F7E46FC6-0DC3-41E5-81BD-BCF63EEE1715}"/>
              </a:ext>
            </a:extLst>
          </p:cNvPr>
          <p:cNvSpPr>
            <a:spLocks noGrp="1"/>
          </p:cNvSpPr>
          <p:nvPr/>
        </p:nvSpPr>
        <p:spPr>
          <a:xfrm>
            <a:off x="8124825" y="1704975"/>
            <a:ext cx="31337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Definición</a:t>
            </a:r>
          </a:p>
        </p:txBody>
      </p:sp>
      <p:sp>
        <p:nvSpPr>
          <p:cNvPr id="7" name="side-panel-body">
            <a:extLst>
              <a:ext uri="{FF2B5EF4-FFF2-40B4-BE49-F238E27FC236}">
                <a16:creationId xmlns:a16="http://schemas.microsoft.com/office/drawing/2014/main" id="{070E2025-4FE0-4612-9D20-CFE92659BC77}"/>
              </a:ext>
            </a:extLst>
          </p:cNvPr>
          <p:cNvSpPr>
            <a:spLocks noGrp="1"/>
          </p:cNvSpPr>
          <p:nvPr/>
        </p:nvSpPr>
        <p:spPr>
          <a:xfrm>
            <a:off x="8124825" y="2085975"/>
            <a:ext cx="3133725" cy="2733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Rango instrumental: diferencia entre niveles extremos bajo un protocolo definido.</a:t>
            </a:r>
          </a:p>
        </p:txBody>
      </p:sp>
      <p:sp>
        <p:nvSpPr>
          <p:cNvPr id="8" name="example-line">
            <a:extLst>
              <a:ext uri="{FF2B5EF4-FFF2-40B4-BE49-F238E27FC236}">
                <a16:creationId xmlns:a16="http://schemas.microsoft.com/office/drawing/2014/main" id="{FBB57190-B0D1-4190-B332-40B0AC4C8CD6}"/>
              </a:ext>
            </a:extLst>
          </p:cNvPr>
          <p:cNvSpPr>
            <a:spLocks noGrp="1"/>
          </p:cNvSpPr>
          <p:nvPr/>
        </p:nvSpPr>
        <p:spPr>
          <a:xfrm>
            <a:off x="8096250" y="5095875"/>
            <a:ext cx="3143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Ejemplo: plantilla de medición, sin cifras.</a:t>
            </a:r>
          </a:p>
        </p:txBody>
      </p:sp>
      <p:sp>
        <p:nvSpPr>
          <p:cNvPr id="9" name="caption">
            <a:extLst>
              <a:ext uri="{FF2B5EF4-FFF2-40B4-BE49-F238E27FC236}">
                <a16:creationId xmlns:a16="http://schemas.microsoft.com/office/drawing/2014/main" id="{78951C08-D272-4CA5-9C63-013D22C66012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876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Los datos concretos requieren fuente y montaje reproducible.</a:t>
            </a:r>
          </a:p>
        </p:txBody>
      </p:sp>
      <p:sp>
        <p:nvSpPr>
          <p:cNvPr id="10" name="credit">
            <a:extLst>
              <a:ext uri="{FF2B5EF4-FFF2-40B4-BE49-F238E27FC236}">
                <a16:creationId xmlns:a16="http://schemas.microsoft.com/office/drawing/2014/main" id="{E57E5B5D-51BB-4796-8C4C-F87CBF186859}"/>
              </a:ext>
            </a:extLst>
          </p:cNvPr>
          <p:cNvSpPr>
            <a:spLocks noGrp="1"/>
          </p:cNvSpPr>
          <p:nvPr/>
        </p:nvSpPr>
        <p:spPr>
          <a:xfrm>
            <a:off x="9382125" y="60769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PO; TEX 5.7.2; OD.</a:t>
            </a:r>
          </a:p>
        </p:txBody>
      </p:sp>
      <p:sp>
        <p:nvSpPr>
          <p:cNvPr id="12" name="slide-alt-summary" descr="Instrumento esquemático acompañado por cinco variables de control.">
            <a:extLst>
              <a:ext uri="{FF2B5EF4-FFF2-40B4-BE49-F238E27FC236}">
                <a16:creationId xmlns:a16="http://schemas.microsoft.com/office/drawing/2014/main" id="{A98EE848-4DF8-7AF2-0661-0EB26E2EC6AD}"/>
              </a:ext>
            </a:extLst>
          </p:cNvPr>
          <p:cNvSpPr/>
          <p:nvPr/>
        </p:nvSpPr>
        <p:spPr>
          <a:xfrm>
            <a:off x="12700" y="12700"/>
            <a:ext cx="12700" cy="12700"/>
          </a:xfrm>
          <a:prstGeom prst="rect">
            <a:avLst/>
          </a:prstGeom>
          <a:noFill/>
          <a:ln w="19050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17057724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eyebrow">
            <a:extLst>
              <a:ext uri="{FF2B5EF4-FFF2-40B4-BE49-F238E27FC236}">
                <a16:creationId xmlns:a16="http://schemas.microsoft.com/office/drawing/2014/main" id="{1E769947-0AFE-4546-A59D-83C1566F2A6B}"/>
              </a:ext>
            </a:extLst>
          </p:cNvPr>
          <p:cNvSpPr>
            <a:spLocks noGrp="1"/>
          </p:cNvSpPr>
          <p:nvPr/>
        </p:nvSpPr>
        <p:spPr>
          <a:xfrm>
            <a:off x="514350" y="2095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082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9D671D17-F31D-4E77-991D-E4F532066A4B}"/>
              </a:ext>
            </a:extLst>
          </p:cNvPr>
          <p:cNvSpPr>
            <a:spLocks noGrp="1"/>
          </p:cNvSpPr>
          <p:nvPr/>
        </p:nvSpPr>
        <p:spPr>
          <a:xfrm>
            <a:off x="495300" y="428625"/>
            <a:ext cx="11191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El “umbral de dolor” no es un techo universal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B0900D7A-FF35-4E19-A5E8-9A2715BD7AFE}"/>
              </a:ext>
            </a:extLst>
          </p:cNvPr>
          <p:cNvSpPr>
            <a:spLocks noGrp="1"/>
          </p:cNvSpPr>
          <p:nvPr/>
        </p:nvSpPr>
        <p:spPr>
          <a:xfrm>
            <a:off x="523875" y="971550"/>
            <a:ext cx="11001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El criterio superior debe definirse explícitamente.</a:t>
            </a:r>
          </a:p>
        </p:txBody>
      </p:sp>
      <p:sp>
        <p:nvSpPr>
          <p:cNvPr id="4" name="U05-DG-008-frequency_range">
            <a:extLst>
              <a:ext uri="{FF2B5EF4-FFF2-40B4-BE49-F238E27FC236}">
                <a16:creationId xmlns:a16="http://schemas.microsoft.com/office/drawing/2014/main" id="{9A238489-FC8F-4339-98B6-BCFB20F34DBF}"/>
              </a:ext>
            </a:extLst>
          </p:cNvPr>
          <p:cNvSpPr>
            <a:spLocks noGrp="1"/>
          </p:cNvSpPr>
          <p:nvPr/>
        </p:nvSpPr>
        <p:spPr>
          <a:xfrm>
            <a:off x="904875" y="1476375"/>
            <a:ext cx="4762500" cy="1333500"/>
          </a:xfrm>
          <a:prstGeom prst="roundRect">
            <a:avLst>
              <a:gd name="adj" fmla="val 10000"/>
            </a:avLst>
          </a:prstGeom>
          <a:solidFill>
            <a:srgbClr val="EFF8FA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5" name="U05-DG-008-frequency_range-title">
            <a:extLst>
              <a:ext uri="{FF2B5EF4-FFF2-40B4-BE49-F238E27FC236}">
                <a16:creationId xmlns:a16="http://schemas.microsoft.com/office/drawing/2014/main" id="{61DB1215-F75A-4BB4-8D03-452357D3997A}"/>
              </a:ext>
            </a:extLst>
          </p:cNvPr>
          <p:cNvSpPr>
            <a:spLocks noGrp="1"/>
          </p:cNvSpPr>
          <p:nvPr/>
        </p:nvSpPr>
        <p:spPr>
          <a:xfrm>
            <a:off x="1076325" y="1600200"/>
            <a:ext cx="4419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Región de frecuencia</a:t>
            </a:r>
          </a:p>
        </p:txBody>
      </p:sp>
      <p:sp>
        <p:nvSpPr>
          <p:cNvPr id="6" name="U05-DG-008-frequency_range-body">
            <a:extLst>
              <a:ext uri="{FF2B5EF4-FFF2-40B4-BE49-F238E27FC236}">
                <a16:creationId xmlns:a16="http://schemas.microsoft.com/office/drawing/2014/main" id="{B4708919-5412-4A61-9F19-BC796150D63B}"/>
              </a:ext>
            </a:extLst>
          </p:cNvPr>
          <p:cNvSpPr>
            <a:spLocks noGrp="1"/>
          </p:cNvSpPr>
          <p:nvPr/>
        </p:nvSpPr>
        <p:spPr>
          <a:xfrm>
            <a:off x="1076325" y="2000250"/>
            <a:ext cx="44196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infra · audible · ultra</a:t>
            </a:r>
          </a:p>
        </p:txBody>
      </p:sp>
      <p:sp>
        <p:nvSpPr>
          <p:cNvPr id="7" name="U05-DG-008-dynamic_range">
            <a:extLst>
              <a:ext uri="{FF2B5EF4-FFF2-40B4-BE49-F238E27FC236}">
                <a16:creationId xmlns:a16="http://schemas.microsoft.com/office/drawing/2014/main" id="{7E0502F4-0C25-4EDD-ADA0-5CEF075D8B83}"/>
              </a:ext>
            </a:extLst>
          </p:cNvPr>
          <p:cNvSpPr>
            <a:spLocks noGrp="1"/>
          </p:cNvSpPr>
          <p:nvPr/>
        </p:nvSpPr>
        <p:spPr>
          <a:xfrm>
            <a:off x="6524625" y="1476375"/>
            <a:ext cx="4762500" cy="1333500"/>
          </a:xfrm>
          <a:prstGeom prst="roundRect">
            <a:avLst>
              <a:gd name="adj" fmla="val 10000"/>
            </a:avLst>
          </a:prstGeom>
          <a:solidFill>
            <a:srgbClr val="E3F2ED"/>
          </a:solidFill>
          <a:ln w="19050">
            <a:solidFill>
              <a:srgbClr val="2D7867"/>
            </a:solidFill>
            <a:prstDash val="solid"/>
          </a:ln>
        </p:spPr>
      </p:sp>
      <p:sp>
        <p:nvSpPr>
          <p:cNvPr id="8" name="U05-DG-008-dynamic_range-title">
            <a:extLst>
              <a:ext uri="{FF2B5EF4-FFF2-40B4-BE49-F238E27FC236}">
                <a16:creationId xmlns:a16="http://schemas.microsoft.com/office/drawing/2014/main" id="{528802A8-3259-4E44-8C36-50FFEED3FBFE}"/>
              </a:ext>
            </a:extLst>
          </p:cNvPr>
          <p:cNvSpPr>
            <a:spLocks noGrp="1"/>
          </p:cNvSpPr>
          <p:nvPr/>
        </p:nvSpPr>
        <p:spPr>
          <a:xfrm>
            <a:off x="6696075" y="1600200"/>
            <a:ext cx="4419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Rango dinámico</a:t>
            </a:r>
          </a:p>
        </p:txBody>
      </p:sp>
      <p:sp>
        <p:nvSpPr>
          <p:cNvPr id="9" name="U05-DG-008-dynamic_range-body">
            <a:extLst>
              <a:ext uri="{FF2B5EF4-FFF2-40B4-BE49-F238E27FC236}">
                <a16:creationId xmlns:a16="http://schemas.microsoft.com/office/drawing/2014/main" id="{622B7784-1171-43E4-8294-76C63D311AA5}"/>
              </a:ext>
            </a:extLst>
          </p:cNvPr>
          <p:cNvSpPr>
            <a:spLocks noGrp="1"/>
          </p:cNvSpPr>
          <p:nvPr/>
        </p:nvSpPr>
        <p:spPr>
          <a:xfrm>
            <a:off x="6696075" y="2000250"/>
            <a:ext cx="44196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R_D = L_sup − L_inf</a:t>
            </a:r>
          </a:p>
        </p:txBody>
      </p:sp>
      <p:sp>
        <p:nvSpPr>
          <p:cNvPr id="10" name="U05-DG-008-condition_source">
            <a:extLst>
              <a:ext uri="{FF2B5EF4-FFF2-40B4-BE49-F238E27FC236}">
                <a16:creationId xmlns:a16="http://schemas.microsoft.com/office/drawing/2014/main" id="{E6CD463D-5116-4834-91C3-71B40C99832C}"/>
              </a:ext>
            </a:extLst>
          </p:cNvPr>
          <p:cNvSpPr>
            <a:spLocks noGrp="1"/>
          </p:cNvSpPr>
          <p:nvPr/>
        </p:nvSpPr>
        <p:spPr>
          <a:xfrm>
            <a:off x="904875" y="3810000"/>
            <a:ext cx="2286000" cy="1381125"/>
          </a:xfrm>
          <a:prstGeom prst="roundRect">
            <a:avLst>
              <a:gd name="adj" fmla="val 9655"/>
            </a:avLst>
          </a:prstGeom>
          <a:solidFill>
            <a:srgbClr val="F3F6F8"/>
          </a:solidFill>
          <a:ln w="19050">
            <a:solidFill>
              <a:srgbClr val="8291A3"/>
            </a:solidFill>
            <a:prstDash val="solid"/>
          </a:ln>
        </p:spPr>
      </p:sp>
      <p:sp>
        <p:nvSpPr>
          <p:cNvPr id="11" name="U05-DG-008-condition_source-title">
            <a:extLst>
              <a:ext uri="{FF2B5EF4-FFF2-40B4-BE49-F238E27FC236}">
                <a16:creationId xmlns:a16="http://schemas.microsoft.com/office/drawing/2014/main" id="{CF01F1AE-94B2-49B1-8609-AFB9C7839C47}"/>
              </a:ext>
            </a:extLst>
          </p:cNvPr>
          <p:cNvSpPr>
            <a:spLocks noGrp="1"/>
          </p:cNvSpPr>
          <p:nvPr/>
        </p:nvSpPr>
        <p:spPr>
          <a:xfrm>
            <a:off x="1076325" y="3933825"/>
            <a:ext cx="1943100" cy="4143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Origen</a:t>
            </a:r>
          </a:p>
        </p:txBody>
      </p:sp>
      <p:sp>
        <p:nvSpPr>
          <p:cNvPr id="12" name="U05-DG-008-condition_source-body">
            <a:extLst>
              <a:ext uri="{FF2B5EF4-FFF2-40B4-BE49-F238E27FC236}">
                <a16:creationId xmlns:a16="http://schemas.microsoft.com/office/drawing/2014/main" id="{0BFB8F59-D33A-4A1E-BB6B-787B030F3999}"/>
              </a:ext>
            </a:extLst>
          </p:cNvPr>
          <p:cNvSpPr>
            <a:spLocks noGrp="1"/>
          </p:cNvSpPr>
          <p:nvPr/>
        </p:nvSpPr>
        <p:spPr>
          <a:xfrm>
            <a:off x="1076325" y="4348163"/>
            <a:ext cx="1943100" cy="7191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persona / fuente</a:t>
            </a:r>
          </a:p>
        </p:txBody>
      </p:sp>
      <p:sp>
        <p:nvSpPr>
          <p:cNvPr id="13" name="U05-DG-008-condition_stimulus">
            <a:extLst>
              <a:ext uri="{FF2B5EF4-FFF2-40B4-BE49-F238E27FC236}">
                <a16:creationId xmlns:a16="http://schemas.microsoft.com/office/drawing/2014/main" id="{613944C7-7BA1-4DF1-B771-DE06F559C3B8}"/>
              </a:ext>
            </a:extLst>
          </p:cNvPr>
          <p:cNvSpPr>
            <a:spLocks noGrp="1"/>
          </p:cNvSpPr>
          <p:nvPr/>
        </p:nvSpPr>
        <p:spPr>
          <a:xfrm>
            <a:off x="3571875" y="3810000"/>
            <a:ext cx="2286000" cy="1381125"/>
          </a:xfrm>
          <a:prstGeom prst="roundRect">
            <a:avLst>
              <a:gd name="adj" fmla="val 9655"/>
            </a:avLst>
          </a:prstGeom>
          <a:solidFill>
            <a:srgbClr val="F3F6F8"/>
          </a:solidFill>
          <a:ln w="19050">
            <a:solidFill>
              <a:srgbClr val="8291A3"/>
            </a:solidFill>
            <a:prstDash val="solid"/>
          </a:ln>
        </p:spPr>
      </p:sp>
      <p:sp>
        <p:nvSpPr>
          <p:cNvPr id="14" name="U05-DG-008-condition_stimulus-title">
            <a:extLst>
              <a:ext uri="{FF2B5EF4-FFF2-40B4-BE49-F238E27FC236}">
                <a16:creationId xmlns:a16="http://schemas.microsoft.com/office/drawing/2014/main" id="{3FE69453-BCA1-4EF4-A47E-DE2CF9F9C045}"/>
              </a:ext>
            </a:extLst>
          </p:cNvPr>
          <p:cNvSpPr>
            <a:spLocks noGrp="1"/>
          </p:cNvSpPr>
          <p:nvPr/>
        </p:nvSpPr>
        <p:spPr>
          <a:xfrm>
            <a:off x="3743325" y="3933825"/>
            <a:ext cx="1943100" cy="4143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Estímulo</a:t>
            </a:r>
          </a:p>
        </p:txBody>
      </p:sp>
      <p:sp>
        <p:nvSpPr>
          <p:cNvPr id="15" name="U05-DG-008-condition_stimulus-body">
            <a:extLst>
              <a:ext uri="{FF2B5EF4-FFF2-40B4-BE49-F238E27FC236}">
                <a16:creationId xmlns:a16="http://schemas.microsoft.com/office/drawing/2014/main" id="{6B48DE93-1862-4C00-B3E1-D1D875AF27D4}"/>
              </a:ext>
            </a:extLst>
          </p:cNvPr>
          <p:cNvSpPr>
            <a:spLocks noGrp="1"/>
          </p:cNvSpPr>
          <p:nvPr/>
        </p:nvSpPr>
        <p:spPr>
          <a:xfrm>
            <a:off x="3743325" y="4348163"/>
            <a:ext cx="1943100" cy="7191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f · duración</a:t>
            </a:r>
          </a:p>
        </p:txBody>
      </p:sp>
      <p:sp>
        <p:nvSpPr>
          <p:cNvPr id="16" name="U05-DG-008-condition_level">
            <a:extLst>
              <a:ext uri="{FF2B5EF4-FFF2-40B4-BE49-F238E27FC236}">
                <a16:creationId xmlns:a16="http://schemas.microsoft.com/office/drawing/2014/main" id="{908C8363-5A33-47BF-A9A3-965E6A2AE22F}"/>
              </a:ext>
            </a:extLst>
          </p:cNvPr>
          <p:cNvSpPr>
            <a:spLocks noGrp="1"/>
          </p:cNvSpPr>
          <p:nvPr/>
        </p:nvSpPr>
        <p:spPr>
          <a:xfrm>
            <a:off x="6238875" y="3810000"/>
            <a:ext cx="2286000" cy="1381125"/>
          </a:xfrm>
          <a:prstGeom prst="roundRect">
            <a:avLst>
              <a:gd name="adj" fmla="val 9655"/>
            </a:avLst>
          </a:prstGeom>
          <a:solidFill>
            <a:srgbClr val="F3F6F8"/>
          </a:solidFill>
          <a:ln w="19050">
            <a:solidFill>
              <a:srgbClr val="8291A3"/>
            </a:solidFill>
            <a:prstDash val="solid"/>
          </a:ln>
        </p:spPr>
      </p:sp>
      <p:sp>
        <p:nvSpPr>
          <p:cNvPr id="17" name="U05-DG-008-condition_level-title">
            <a:extLst>
              <a:ext uri="{FF2B5EF4-FFF2-40B4-BE49-F238E27FC236}">
                <a16:creationId xmlns:a16="http://schemas.microsoft.com/office/drawing/2014/main" id="{F2397EBE-DCA8-48F3-A7B0-67A2F803C886}"/>
              </a:ext>
            </a:extLst>
          </p:cNvPr>
          <p:cNvSpPr>
            <a:spLocks noGrp="1"/>
          </p:cNvSpPr>
          <p:nvPr/>
        </p:nvSpPr>
        <p:spPr>
          <a:xfrm>
            <a:off x="6410325" y="3933825"/>
            <a:ext cx="1943100" cy="4143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Descriptor</a:t>
            </a:r>
          </a:p>
        </p:txBody>
      </p:sp>
      <p:sp>
        <p:nvSpPr>
          <p:cNvPr id="18" name="U05-DG-008-condition_level-body">
            <a:extLst>
              <a:ext uri="{FF2B5EF4-FFF2-40B4-BE49-F238E27FC236}">
                <a16:creationId xmlns:a16="http://schemas.microsoft.com/office/drawing/2014/main" id="{08CB6E7D-924A-463D-BDD9-F15963E41FB3}"/>
              </a:ext>
            </a:extLst>
          </p:cNvPr>
          <p:cNvSpPr>
            <a:spLocks noGrp="1"/>
          </p:cNvSpPr>
          <p:nvPr/>
        </p:nvSpPr>
        <p:spPr>
          <a:xfrm>
            <a:off x="6410325" y="4348163"/>
            <a:ext cx="1943100" cy="7191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RMS · pico L_eq</a:t>
            </a:r>
          </a:p>
        </p:txBody>
      </p:sp>
      <p:sp>
        <p:nvSpPr>
          <p:cNvPr id="19" name="U05-DG-008-condition_method">
            <a:extLst>
              <a:ext uri="{FF2B5EF4-FFF2-40B4-BE49-F238E27FC236}">
                <a16:creationId xmlns:a16="http://schemas.microsoft.com/office/drawing/2014/main" id="{E66BF998-D390-420B-B005-04031862DC4A}"/>
              </a:ext>
            </a:extLst>
          </p:cNvPr>
          <p:cNvSpPr>
            <a:spLocks noGrp="1"/>
          </p:cNvSpPr>
          <p:nvPr/>
        </p:nvSpPr>
        <p:spPr>
          <a:xfrm>
            <a:off x="8905875" y="3810000"/>
            <a:ext cx="2381250" cy="1381125"/>
          </a:xfrm>
          <a:prstGeom prst="roundRect">
            <a:avLst>
              <a:gd name="adj" fmla="val 9655"/>
            </a:avLst>
          </a:prstGeom>
          <a:solidFill>
            <a:srgbClr val="DDEFF5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20" name="U05-DG-008-condition_method-title">
            <a:extLst>
              <a:ext uri="{FF2B5EF4-FFF2-40B4-BE49-F238E27FC236}">
                <a16:creationId xmlns:a16="http://schemas.microsoft.com/office/drawing/2014/main" id="{CC7F2E3F-9E96-454F-92A7-1FFCF3A5EBA0}"/>
              </a:ext>
            </a:extLst>
          </p:cNvPr>
          <p:cNvSpPr>
            <a:spLocks noGrp="1"/>
          </p:cNvSpPr>
          <p:nvPr/>
        </p:nvSpPr>
        <p:spPr>
          <a:xfrm>
            <a:off x="9077325" y="3933825"/>
            <a:ext cx="2038350" cy="4143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Medición</a:t>
            </a:r>
          </a:p>
        </p:txBody>
      </p:sp>
      <p:sp>
        <p:nvSpPr>
          <p:cNvPr id="21" name="U05-DG-008-condition_method-body">
            <a:extLst>
              <a:ext uri="{FF2B5EF4-FFF2-40B4-BE49-F238E27FC236}">
                <a16:creationId xmlns:a16="http://schemas.microsoft.com/office/drawing/2014/main" id="{469BDCDD-59FE-4F01-9AC1-871D52FC1729}"/>
              </a:ext>
            </a:extLst>
          </p:cNvPr>
          <p:cNvSpPr>
            <a:spLocks noGrp="1"/>
          </p:cNvSpPr>
          <p:nvPr/>
        </p:nvSpPr>
        <p:spPr>
          <a:xfrm>
            <a:off x="9077325" y="4348163"/>
            <a:ext cx="2038350" cy="7191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distancia · X</a:t>
            </a:r>
          </a:p>
        </p:txBody>
      </p:sp>
      <p:cxnSp>
        <p:nvCxnSpPr>
          <p:cNvPr id="48" name="U05-DG-008-cond_1"/>
          <p:cNvCxnSpPr>
            <a:stCxn id="4" idx="2"/>
            <a:endCxn id="13" idx="0"/>
          </p:cNvCxnSpPr>
          <p:nvPr/>
        </p:nvCxnSpPr>
        <p:spPr>
          <a:xfrm>
            <a:off x="3286125" y="2809875"/>
            <a:ext cx="1428750" cy="1000125"/>
          </a:xfrm>
          <a:prstGeom prst="bentConnector4">
            <a:avLst>
              <a:gd name="adj1" fmla="val 0"/>
              <a:gd name="adj2" fmla="val 50000"/>
            </a:avLst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cxnSp>
        <p:nvCxnSpPr>
          <p:cNvPr id="49" name="U05-DG-008-cond_2"/>
          <p:cNvCxnSpPr>
            <a:stCxn id="7" idx="2"/>
            <a:endCxn id="16" idx="0"/>
          </p:cNvCxnSpPr>
          <p:nvPr/>
        </p:nvCxnSpPr>
        <p:spPr>
          <a:xfrm flipH="1">
            <a:off x="7381875" y="2809875"/>
            <a:ext cx="1524000" cy="1000125"/>
          </a:xfrm>
          <a:prstGeom prst="bentConnector4">
            <a:avLst>
              <a:gd name="adj1" fmla="val 0"/>
              <a:gd name="adj2" fmla="val 50000"/>
            </a:avLst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sp>
        <p:nvSpPr>
          <p:cNvPr id="24" name="diagram-scale-note">
            <a:extLst>
              <a:ext uri="{FF2B5EF4-FFF2-40B4-BE49-F238E27FC236}">
                <a16:creationId xmlns:a16="http://schemas.microsoft.com/office/drawing/2014/main" id="{7E814FD8-6953-46AF-8D8D-04C5E227EC68}"/>
              </a:ext>
            </a:extLst>
          </p:cNvPr>
          <p:cNvSpPr>
            <a:spLocks noGrp="1"/>
          </p:cNvSpPr>
          <p:nvPr/>
        </p:nvSpPr>
        <p:spPr>
          <a:xfrm>
            <a:off x="552450" y="5829300"/>
            <a:ext cx="3905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05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Esquema conceptual · no está a escala</a:t>
            </a:r>
          </a:p>
        </p:txBody>
      </p:sp>
      <p:sp>
        <p:nvSpPr>
          <p:cNvPr id="25" name="caption">
            <a:extLst>
              <a:ext uri="{FF2B5EF4-FFF2-40B4-BE49-F238E27FC236}">
                <a16:creationId xmlns:a16="http://schemas.microsoft.com/office/drawing/2014/main" id="{A4A92DD9-07DC-4D45-8AD4-D3CBD0E9FE84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876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El término obligatorio se conserva con sus límites de validez.</a:t>
            </a:r>
          </a:p>
        </p:txBody>
      </p:sp>
      <p:sp>
        <p:nvSpPr>
          <p:cNvPr id="26" name="credit">
            <a:extLst>
              <a:ext uri="{FF2B5EF4-FFF2-40B4-BE49-F238E27FC236}">
                <a16:creationId xmlns:a16="http://schemas.microsoft.com/office/drawing/2014/main" id="{3B3181D2-6925-4191-BEC9-F328D3A409A1}"/>
              </a:ext>
            </a:extLst>
          </p:cNvPr>
          <p:cNvSpPr>
            <a:spLocks noGrp="1"/>
          </p:cNvSpPr>
          <p:nvPr/>
        </p:nvSpPr>
        <p:spPr>
          <a:xfrm>
            <a:off x="9382125" y="60769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PO; TEX 5.7.2; OD-U05-07.</a:t>
            </a:r>
          </a:p>
        </p:txBody>
      </p:sp>
      <p:sp>
        <p:nvSpPr>
          <p:cNvPr id="22" name="slide-alt-summary" descr="Dos límites auditivos conceptuales acompañados por condiciones y un rótulo de criterio definido.">
            <a:extLst>
              <a:ext uri="{FF2B5EF4-FFF2-40B4-BE49-F238E27FC236}">
                <a16:creationId xmlns:a16="http://schemas.microsoft.com/office/drawing/2014/main" id="{BEE94EF3-CCEE-E389-3B8B-84386DF580CD}"/>
              </a:ext>
            </a:extLst>
          </p:cNvPr>
          <p:cNvSpPr/>
          <p:nvPr/>
        </p:nvSpPr>
        <p:spPr>
          <a:xfrm>
            <a:off x="12700" y="12700"/>
            <a:ext cx="12700" cy="12700"/>
          </a:xfrm>
          <a:prstGeom prst="rect">
            <a:avLst/>
          </a:prstGeom>
          <a:noFill/>
          <a:ln w="19050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41329192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yebrow">
            <a:extLst>
              <a:ext uri="{FF2B5EF4-FFF2-40B4-BE49-F238E27FC236}">
                <a16:creationId xmlns:a16="http://schemas.microsoft.com/office/drawing/2014/main" id="{4872C7D4-302E-46A8-98E8-E6405B495595}"/>
              </a:ext>
            </a:extLst>
          </p:cNvPr>
          <p:cNvSpPr>
            <a:spLocks noGrp="1"/>
          </p:cNvSpPr>
          <p:nvPr/>
        </p:nvSpPr>
        <p:spPr>
          <a:xfrm>
            <a:off x="514350" y="2095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083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7D62504D-9F8C-464C-8440-4FF0DAC2CD28}"/>
              </a:ext>
            </a:extLst>
          </p:cNvPr>
          <p:cNvSpPr>
            <a:spLocks noGrp="1"/>
          </p:cNvSpPr>
          <p:nvPr/>
        </p:nvSpPr>
        <p:spPr>
          <a:xfrm>
            <a:off x="495300" y="428625"/>
            <a:ext cx="11191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Hasta acá: frecuencia, nivel y condición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F80D569F-4F41-4A78-B3C7-B3E75DF1A2CA}"/>
              </a:ext>
            </a:extLst>
          </p:cNvPr>
          <p:cNvSpPr>
            <a:spLocks noGrp="1"/>
          </p:cNvSpPr>
          <p:nvPr/>
        </p:nvSpPr>
        <p:spPr>
          <a:xfrm>
            <a:off x="523875" y="971550"/>
            <a:ext cx="11001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Dos tipos de rango, dos preguntas distintas.</a:t>
            </a:r>
          </a:p>
        </p:txBody>
      </p:sp>
      <p:sp>
        <p:nvSpPr>
          <p:cNvPr id="4" name="U05-DG-014-recap_object">
            <a:extLst>
              <a:ext uri="{FF2B5EF4-FFF2-40B4-BE49-F238E27FC236}">
                <a16:creationId xmlns:a16="http://schemas.microsoft.com/office/drawing/2014/main" id="{12E467B2-4FA6-4015-B568-7872CB1B6BA5}"/>
              </a:ext>
            </a:extLst>
          </p:cNvPr>
          <p:cNvSpPr>
            <a:spLocks noGrp="1"/>
          </p:cNvSpPr>
          <p:nvPr/>
        </p:nvSpPr>
        <p:spPr>
          <a:xfrm>
            <a:off x="857250" y="1714500"/>
            <a:ext cx="3048000" cy="1238250"/>
          </a:xfrm>
          <a:prstGeom prst="roundRect">
            <a:avLst>
              <a:gd name="adj" fmla="val 10769"/>
            </a:avLst>
          </a:prstGeom>
          <a:solidFill>
            <a:srgbClr val="EFF8FA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5" name="U05-DG-014-recap_object-title">
            <a:extLst>
              <a:ext uri="{FF2B5EF4-FFF2-40B4-BE49-F238E27FC236}">
                <a16:creationId xmlns:a16="http://schemas.microsoft.com/office/drawing/2014/main" id="{F79ABFA7-FE96-41CA-827F-C3308FD52903}"/>
              </a:ext>
            </a:extLst>
          </p:cNvPr>
          <p:cNvSpPr>
            <a:spLocks noGrp="1"/>
          </p:cNvSpPr>
          <p:nvPr/>
        </p:nvSpPr>
        <p:spPr>
          <a:xfrm>
            <a:off x="1028700" y="1838325"/>
            <a:ext cx="27051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Objeto</a:t>
            </a:r>
          </a:p>
        </p:txBody>
      </p:sp>
      <p:sp>
        <p:nvSpPr>
          <p:cNvPr id="6" name="U05-DG-014-recap_object-body">
            <a:extLst>
              <a:ext uri="{FF2B5EF4-FFF2-40B4-BE49-F238E27FC236}">
                <a16:creationId xmlns:a16="http://schemas.microsoft.com/office/drawing/2014/main" id="{F4FE47C3-2D01-4251-8F78-1AD34062F4FD}"/>
              </a:ext>
            </a:extLst>
          </p:cNvPr>
          <p:cNvSpPr>
            <a:spLocks noGrp="1"/>
          </p:cNvSpPr>
          <p:nvPr/>
        </p:nvSpPr>
        <p:spPr>
          <a:xfrm>
            <a:off x="1028700" y="2209800"/>
            <a:ext cx="27051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señal / sistema</a:t>
            </a:r>
          </a:p>
        </p:txBody>
      </p:sp>
      <p:sp>
        <p:nvSpPr>
          <p:cNvPr id="7" name="U05-DG-014-recap_axes">
            <a:extLst>
              <a:ext uri="{FF2B5EF4-FFF2-40B4-BE49-F238E27FC236}">
                <a16:creationId xmlns:a16="http://schemas.microsoft.com/office/drawing/2014/main" id="{383F4E85-261D-4C22-B788-2654E4E639A0}"/>
              </a:ext>
            </a:extLst>
          </p:cNvPr>
          <p:cNvSpPr>
            <a:spLocks noGrp="1"/>
          </p:cNvSpPr>
          <p:nvPr/>
        </p:nvSpPr>
        <p:spPr>
          <a:xfrm>
            <a:off x="4572000" y="1714500"/>
            <a:ext cx="3048000" cy="1238250"/>
          </a:xfrm>
          <a:prstGeom prst="roundRect">
            <a:avLst>
              <a:gd name="adj" fmla="val 10769"/>
            </a:avLst>
          </a:prstGeom>
          <a:solidFill>
            <a:srgbClr val="F3F6F8"/>
          </a:solidFill>
          <a:ln w="19050">
            <a:solidFill>
              <a:srgbClr val="8291A3"/>
            </a:solidFill>
            <a:prstDash val="solid"/>
          </a:ln>
        </p:spPr>
      </p:sp>
      <p:sp>
        <p:nvSpPr>
          <p:cNvPr id="8" name="U05-DG-014-recap_axes-title">
            <a:extLst>
              <a:ext uri="{FF2B5EF4-FFF2-40B4-BE49-F238E27FC236}">
                <a16:creationId xmlns:a16="http://schemas.microsoft.com/office/drawing/2014/main" id="{B05A40E6-767F-4016-B83F-FB1CFC510B6A}"/>
              </a:ext>
            </a:extLst>
          </p:cNvPr>
          <p:cNvSpPr>
            <a:spLocks noGrp="1"/>
          </p:cNvSpPr>
          <p:nvPr/>
        </p:nvSpPr>
        <p:spPr>
          <a:xfrm>
            <a:off x="4743450" y="1838325"/>
            <a:ext cx="27051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Ejes</a:t>
            </a:r>
          </a:p>
        </p:txBody>
      </p:sp>
      <p:sp>
        <p:nvSpPr>
          <p:cNvPr id="9" name="U05-DG-014-recap_axes-body">
            <a:extLst>
              <a:ext uri="{FF2B5EF4-FFF2-40B4-BE49-F238E27FC236}">
                <a16:creationId xmlns:a16="http://schemas.microsoft.com/office/drawing/2014/main" id="{BCD6EEF3-E45E-4494-921B-F1E39FD4C392}"/>
              </a:ext>
            </a:extLst>
          </p:cNvPr>
          <p:cNvSpPr>
            <a:spLocks noGrp="1"/>
          </p:cNvSpPr>
          <p:nvPr/>
        </p:nvSpPr>
        <p:spPr>
          <a:xfrm>
            <a:off x="4743450" y="2209800"/>
            <a:ext cx="27051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t / f</a:t>
            </a:r>
          </a:p>
        </p:txBody>
      </p:sp>
      <p:sp>
        <p:nvSpPr>
          <p:cNvPr id="10" name="U05-DG-014-recap_units">
            <a:extLst>
              <a:ext uri="{FF2B5EF4-FFF2-40B4-BE49-F238E27FC236}">
                <a16:creationId xmlns:a16="http://schemas.microsoft.com/office/drawing/2014/main" id="{9BD02C94-3B8C-4B30-9264-D125E3AE8BAD}"/>
              </a:ext>
            </a:extLst>
          </p:cNvPr>
          <p:cNvSpPr>
            <a:spLocks noGrp="1"/>
          </p:cNvSpPr>
          <p:nvPr/>
        </p:nvSpPr>
        <p:spPr>
          <a:xfrm>
            <a:off x="8286750" y="1714500"/>
            <a:ext cx="3048000" cy="1238250"/>
          </a:xfrm>
          <a:prstGeom prst="roundRect">
            <a:avLst>
              <a:gd name="adj" fmla="val 10769"/>
            </a:avLst>
          </a:prstGeom>
          <a:solidFill>
            <a:srgbClr val="F3F6F8"/>
          </a:solidFill>
          <a:ln w="19050">
            <a:solidFill>
              <a:srgbClr val="8291A3"/>
            </a:solidFill>
            <a:prstDash val="solid"/>
          </a:ln>
        </p:spPr>
      </p:sp>
      <p:sp>
        <p:nvSpPr>
          <p:cNvPr id="11" name="U05-DG-014-recap_units-title">
            <a:extLst>
              <a:ext uri="{FF2B5EF4-FFF2-40B4-BE49-F238E27FC236}">
                <a16:creationId xmlns:a16="http://schemas.microsoft.com/office/drawing/2014/main" id="{40850FFA-1D69-4C95-9377-AF1A92F51C7D}"/>
              </a:ext>
            </a:extLst>
          </p:cNvPr>
          <p:cNvSpPr>
            <a:spLocks noGrp="1"/>
          </p:cNvSpPr>
          <p:nvPr/>
        </p:nvSpPr>
        <p:spPr>
          <a:xfrm>
            <a:off x="8458200" y="1838325"/>
            <a:ext cx="27051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Unidades</a:t>
            </a:r>
          </a:p>
        </p:txBody>
      </p:sp>
      <p:sp>
        <p:nvSpPr>
          <p:cNvPr id="12" name="U05-DG-014-recap_units-body">
            <a:extLst>
              <a:ext uri="{FF2B5EF4-FFF2-40B4-BE49-F238E27FC236}">
                <a16:creationId xmlns:a16="http://schemas.microsoft.com/office/drawing/2014/main" id="{1AD7B0AF-EBF0-4C63-A0EC-BEFDE1CEF23C}"/>
              </a:ext>
            </a:extLst>
          </p:cNvPr>
          <p:cNvSpPr>
            <a:spLocks noGrp="1"/>
          </p:cNvSpPr>
          <p:nvPr/>
        </p:nvSpPr>
        <p:spPr>
          <a:xfrm>
            <a:off x="8458200" y="2209800"/>
            <a:ext cx="27051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s · Hz · Pa · dB</a:t>
            </a:r>
          </a:p>
        </p:txBody>
      </p:sp>
      <p:sp>
        <p:nvSpPr>
          <p:cNvPr id="13" name="U05-DG-014-recap_params">
            <a:extLst>
              <a:ext uri="{FF2B5EF4-FFF2-40B4-BE49-F238E27FC236}">
                <a16:creationId xmlns:a16="http://schemas.microsoft.com/office/drawing/2014/main" id="{40253274-7C81-4E1E-B72E-5183C4279781}"/>
              </a:ext>
            </a:extLst>
          </p:cNvPr>
          <p:cNvSpPr>
            <a:spLocks noGrp="1"/>
          </p:cNvSpPr>
          <p:nvPr/>
        </p:nvSpPr>
        <p:spPr>
          <a:xfrm>
            <a:off x="2667000" y="3905250"/>
            <a:ext cx="3048000" cy="1238250"/>
          </a:xfrm>
          <a:prstGeom prst="roundRect">
            <a:avLst>
              <a:gd name="adj" fmla="val 10769"/>
            </a:avLst>
          </a:prstGeom>
          <a:solidFill>
            <a:srgbClr val="DDEFF5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14" name="U05-DG-014-recap_params-title">
            <a:extLst>
              <a:ext uri="{FF2B5EF4-FFF2-40B4-BE49-F238E27FC236}">
                <a16:creationId xmlns:a16="http://schemas.microsoft.com/office/drawing/2014/main" id="{6A281D09-72C2-43F8-9274-FAD82B1FE2C2}"/>
              </a:ext>
            </a:extLst>
          </p:cNvPr>
          <p:cNvSpPr>
            <a:spLocks noGrp="1"/>
          </p:cNvSpPr>
          <p:nvPr/>
        </p:nvSpPr>
        <p:spPr>
          <a:xfrm>
            <a:off x="2838450" y="4029075"/>
            <a:ext cx="27051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Parámetros</a:t>
            </a:r>
          </a:p>
        </p:txBody>
      </p:sp>
      <p:sp>
        <p:nvSpPr>
          <p:cNvPr id="15" name="U05-DG-014-recap_params-body">
            <a:extLst>
              <a:ext uri="{FF2B5EF4-FFF2-40B4-BE49-F238E27FC236}">
                <a16:creationId xmlns:a16="http://schemas.microsoft.com/office/drawing/2014/main" id="{344948A0-ECC3-4E39-9E48-6E1199763FA0}"/>
              </a:ext>
            </a:extLst>
          </p:cNvPr>
          <p:cNvSpPr>
            <a:spLocks noGrp="1"/>
          </p:cNvSpPr>
          <p:nvPr/>
        </p:nvSpPr>
        <p:spPr>
          <a:xfrm>
            <a:off x="2838450" y="4400550"/>
            <a:ext cx="27051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ventana · N · fₛ</a:t>
            </a:r>
          </a:p>
        </p:txBody>
      </p:sp>
      <p:sp>
        <p:nvSpPr>
          <p:cNvPr id="16" name="U05-DG-014-recap_limit">
            <a:extLst>
              <a:ext uri="{FF2B5EF4-FFF2-40B4-BE49-F238E27FC236}">
                <a16:creationId xmlns:a16="http://schemas.microsoft.com/office/drawing/2014/main" id="{ECA3A33A-2BD9-4E5A-A030-18EE021FDD16}"/>
              </a:ext>
            </a:extLst>
          </p:cNvPr>
          <p:cNvSpPr>
            <a:spLocks noGrp="1"/>
          </p:cNvSpPr>
          <p:nvPr/>
        </p:nvSpPr>
        <p:spPr>
          <a:xfrm>
            <a:off x="6477000" y="3905250"/>
            <a:ext cx="3048000" cy="1238250"/>
          </a:xfrm>
          <a:prstGeom prst="roundRect">
            <a:avLst>
              <a:gd name="adj" fmla="val 10769"/>
            </a:avLst>
          </a:prstGeom>
          <a:solidFill>
            <a:srgbClr val="E3F2ED"/>
          </a:solidFill>
          <a:ln w="19050">
            <a:solidFill>
              <a:srgbClr val="2D7867"/>
            </a:solidFill>
            <a:prstDash val="solid"/>
          </a:ln>
        </p:spPr>
      </p:sp>
      <p:sp>
        <p:nvSpPr>
          <p:cNvPr id="17" name="U05-DG-014-recap_limit-title">
            <a:extLst>
              <a:ext uri="{FF2B5EF4-FFF2-40B4-BE49-F238E27FC236}">
                <a16:creationId xmlns:a16="http://schemas.microsoft.com/office/drawing/2014/main" id="{D7C820AB-CB6D-4C1D-83B7-13A77B150427}"/>
              </a:ext>
            </a:extLst>
          </p:cNvPr>
          <p:cNvSpPr>
            <a:spLocks noGrp="1"/>
          </p:cNvSpPr>
          <p:nvPr/>
        </p:nvSpPr>
        <p:spPr>
          <a:xfrm>
            <a:off x="6648450" y="4029075"/>
            <a:ext cx="27051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Límite</a:t>
            </a:r>
          </a:p>
        </p:txBody>
      </p:sp>
      <p:sp>
        <p:nvSpPr>
          <p:cNvPr id="18" name="U05-DG-014-recap_limit-body">
            <a:extLst>
              <a:ext uri="{FF2B5EF4-FFF2-40B4-BE49-F238E27FC236}">
                <a16:creationId xmlns:a16="http://schemas.microsoft.com/office/drawing/2014/main" id="{BF3C2273-F4A9-4120-AF75-BC967E203A76}"/>
              </a:ext>
            </a:extLst>
          </p:cNvPr>
          <p:cNvSpPr>
            <a:spLocks noGrp="1"/>
          </p:cNvSpPr>
          <p:nvPr/>
        </p:nvSpPr>
        <p:spPr>
          <a:xfrm>
            <a:off x="6648450" y="4400550"/>
            <a:ext cx="27051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alcance declarado</a:t>
            </a:r>
          </a:p>
        </p:txBody>
      </p:sp>
      <p:sp>
        <p:nvSpPr>
          <p:cNvPr id="19" name="diagram-scale-note">
            <a:extLst>
              <a:ext uri="{FF2B5EF4-FFF2-40B4-BE49-F238E27FC236}">
                <a16:creationId xmlns:a16="http://schemas.microsoft.com/office/drawing/2014/main" id="{7048C557-9184-42CB-84A1-9ABC1C907C4B}"/>
              </a:ext>
            </a:extLst>
          </p:cNvPr>
          <p:cNvSpPr>
            <a:spLocks noGrp="1"/>
          </p:cNvSpPr>
          <p:nvPr/>
        </p:nvSpPr>
        <p:spPr>
          <a:xfrm>
            <a:off x="552450" y="5829300"/>
            <a:ext cx="3905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05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Esquema conceptual · no está a escala</a:t>
            </a:r>
          </a:p>
        </p:txBody>
      </p:sp>
      <p:sp>
        <p:nvSpPr>
          <p:cNvPr id="20" name="caption">
            <a:extLst>
              <a:ext uri="{FF2B5EF4-FFF2-40B4-BE49-F238E27FC236}">
                <a16:creationId xmlns:a16="http://schemas.microsoft.com/office/drawing/2014/main" id="{D1FDE275-3A5B-4C6C-8686-8F52DAEA1A15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876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Ningún límite es interpretable sin condiciones.</a:t>
            </a:r>
          </a:p>
        </p:txBody>
      </p:sp>
      <p:sp>
        <p:nvSpPr>
          <p:cNvPr id="21" name="credit">
            <a:extLst>
              <a:ext uri="{FF2B5EF4-FFF2-40B4-BE49-F238E27FC236}">
                <a16:creationId xmlns:a16="http://schemas.microsoft.com/office/drawing/2014/main" id="{A1CEC121-A79C-453A-8AAD-830F48431750}"/>
              </a:ext>
            </a:extLst>
          </p:cNvPr>
          <p:cNvSpPr>
            <a:spLocks noGrp="1"/>
          </p:cNvSpPr>
          <p:nvPr/>
        </p:nvSpPr>
        <p:spPr>
          <a:xfrm>
            <a:off x="9382125" y="60769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5.7.</a:t>
            </a:r>
          </a:p>
        </p:txBody>
      </p:sp>
      <p:sp>
        <p:nvSpPr>
          <p:cNvPr id="23" name="slide-alt-summary" descr="Ejes de frecuencia y nivel se cruzan junto a una lista de condiciones.">
            <a:extLst>
              <a:ext uri="{FF2B5EF4-FFF2-40B4-BE49-F238E27FC236}">
                <a16:creationId xmlns:a16="http://schemas.microsoft.com/office/drawing/2014/main" id="{0BD9A1A9-335B-7CDD-A47B-63E15E13CC09}"/>
              </a:ext>
            </a:extLst>
          </p:cNvPr>
          <p:cNvSpPr/>
          <p:nvPr/>
        </p:nvSpPr>
        <p:spPr>
          <a:xfrm>
            <a:off x="12700" y="12700"/>
            <a:ext cx="12700" cy="12700"/>
          </a:xfrm>
          <a:prstGeom prst="rect">
            <a:avLst/>
          </a:prstGeom>
          <a:noFill/>
          <a:ln w="19050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20203634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yebrow">
            <a:extLst>
              <a:ext uri="{FF2B5EF4-FFF2-40B4-BE49-F238E27FC236}">
                <a16:creationId xmlns:a16="http://schemas.microsoft.com/office/drawing/2014/main" id="{7E21CC56-96A4-434F-A267-8A9FB2EAF9E4}"/>
              </a:ext>
            </a:extLst>
          </p:cNvPr>
          <p:cNvSpPr>
            <a:spLocks noGrp="1"/>
          </p:cNvSpPr>
          <p:nvPr/>
        </p:nvSpPr>
        <p:spPr>
          <a:xfrm>
            <a:off x="514350" y="2095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1" i="0">
                <a:solidFill>
                  <a:srgbClr val="B9D8E7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B9D8E7"/>
                </a:solidFill>
                <a:latin typeface="Calibri"/>
                <a:ea typeface="Calibri"/>
                <a:cs typeface="Calibri"/>
              </a:rPr>
              <a:t>UNIDAD 5 · 084</a:t>
            </a:r>
          </a:p>
        </p:txBody>
      </p:sp>
      <p:sp>
        <p:nvSpPr>
          <p:cNvPr id="2" name="divider-title">
            <a:extLst>
              <a:ext uri="{FF2B5EF4-FFF2-40B4-BE49-F238E27FC236}">
                <a16:creationId xmlns:a16="http://schemas.microsoft.com/office/drawing/2014/main" id="{D86B79CA-1C49-4AD6-A30E-9A722C2F1C16}"/>
              </a:ext>
            </a:extLst>
          </p:cNvPr>
          <p:cNvSpPr>
            <a:spLocks noGrp="1"/>
          </p:cNvSpPr>
          <p:nvPr/>
        </p:nvSpPr>
        <p:spPr>
          <a:xfrm>
            <a:off x="714375" y="2190750"/>
            <a:ext cx="104775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lnSpc>
                <a:spcPct val="102000"/>
              </a:lnSpc>
              <a:buNone/>
              <a:defRPr sz="4050" b="1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4050" b="1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Dividir el espectro por razones, no por diferencias fijas</a:t>
            </a:r>
          </a:p>
        </p:txBody>
      </p:sp>
      <p:sp>
        <p:nvSpPr>
          <p:cNvPr id="3" name="divider-subtitle">
            <a:extLst>
              <a:ext uri="{FF2B5EF4-FFF2-40B4-BE49-F238E27FC236}">
                <a16:creationId xmlns:a16="http://schemas.microsoft.com/office/drawing/2014/main" id="{16D8FBD6-2422-489F-93CF-552E941A6757}"/>
              </a:ext>
            </a:extLst>
          </p:cNvPr>
          <p:cNvSpPr>
            <a:spLocks noGrp="1"/>
          </p:cNvSpPr>
          <p:nvPr/>
        </p:nvSpPr>
        <p:spPr>
          <a:xfrm>
            <a:off x="1714500" y="3429000"/>
            <a:ext cx="8763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100" b="0" i="0">
                <a:solidFill>
                  <a:srgbClr val="D6E4EA"/>
                </a:solidFill>
                <a:latin typeface="Calibri"/>
                <a:ea typeface="Calibri"/>
                <a:cs typeface="Calibri"/>
              </a:defRPr>
            </a:pPr>
            <a:r>
              <a:rPr sz="2100" b="0" i="0">
                <a:solidFill>
                  <a:srgbClr val="D6E4EA"/>
                </a:solidFill>
                <a:latin typeface="Calibri"/>
                <a:ea typeface="Calibri"/>
                <a:cs typeface="Calibri"/>
              </a:rPr>
              <a:t>Una octava conserva la relación 2:1.</a:t>
            </a:r>
          </a:p>
        </p:txBody>
      </p:sp>
      <p:sp>
        <p:nvSpPr>
          <p:cNvPr id="4" name="divider-content">
            <a:extLst>
              <a:ext uri="{FF2B5EF4-FFF2-40B4-BE49-F238E27FC236}">
                <a16:creationId xmlns:a16="http://schemas.microsoft.com/office/drawing/2014/main" id="{03E9DB03-0C88-497F-A398-262C85F6224A}"/>
              </a:ext>
            </a:extLst>
          </p:cNvPr>
          <p:cNvSpPr>
            <a:spLocks noGrp="1"/>
          </p:cNvSpPr>
          <p:nvPr/>
        </p:nvSpPr>
        <p:spPr>
          <a:xfrm>
            <a:off x="2190750" y="4333875"/>
            <a:ext cx="781050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ctr">
              <a:lnSpc>
                <a:spcPct val="102000"/>
              </a:lnSpc>
              <a:buNone/>
              <a:defRPr sz="1875" b="0" i="0">
                <a:solidFill>
                  <a:srgbClr val="BDD0DA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BDD0DA"/>
                </a:solidFill>
                <a:latin typeface="Calibri"/>
                <a:ea typeface="Calibri"/>
                <a:cs typeface="Calibri"/>
              </a:rPr>
              <a:t>¿Cómo resumimos un espectro sin conservar cada bin?</a:t>
            </a:r>
          </a:p>
        </p:txBody>
      </p:sp>
      <p:sp>
        <p:nvSpPr>
          <p:cNvPr id="6" name="slide-alt-summary" descr="Bandas contiguas ocupan igual longitud en un eje logarítmico.">
            <a:extLst>
              <a:ext uri="{FF2B5EF4-FFF2-40B4-BE49-F238E27FC236}">
                <a16:creationId xmlns:a16="http://schemas.microsoft.com/office/drawing/2014/main" id="{4490AC36-E8F2-5858-4D4D-C5AE860B28D4}"/>
              </a:ext>
            </a:extLst>
          </p:cNvPr>
          <p:cNvSpPr/>
          <p:nvPr/>
        </p:nvSpPr>
        <p:spPr>
          <a:xfrm>
            <a:off x="12700" y="12700"/>
            <a:ext cx="12700" cy="12700"/>
          </a:xfrm>
          <a:prstGeom prst="rect">
            <a:avLst/>
          </a:prstGeom>
          <a:noFill/>
          <a:ln w="19050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yebrow">
            <a:extLst>
              <a:ext uri="{FF2B5EF4-FFF2-40B4-BE49-F238E27FC236}">
                <a16:creationId xmlns:a16="http://schemas.microsoft.com/office/drawing/2014/main" id="{A32435C8-75D9-4EB0-BA3E-2CA905009D16}"/>
              </a:ext>
            </a:extLst>
          </p:cNvPr>
          <p:cNvSpPr>
            <a:spLocks noGrp="1"/>
          </p:cNvSpPr>
          <p:nvPr/>
        </p:nvSpPr>
        <p:spPr>
          <a:xfrm>
            <a:off x="514350" y="2095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085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14175DC3-B365-48B5-A229-C1CDC65FBB15}"/>
              </a:ext>
            </a:extLst>
          </p:cNvPr>
          <p:cNvSpPr>
            <a:spLocks noGrp="1"/>
          </p:cNvSpPr>
          <p:nvPr/>
        </p:nvSpPr>
        <p:spPr>
          <a:xfrm>
            <a:off x="495300" y="428625"/>
            <a:ext cx="11191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Agrupar frecuencias resume el espectro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94CCCC31-E359-4867-9925-C1FCADB9F59D}"/>
              </a:ext>
            </a:extLst>
          </p:cNvPr>
          <p:cNvSpPr>
            <a:spLocks noGrp="1"/>
          </p:cNvSpPr>
          <p:nvPr/>
        </p:nvSpPr>
        <p:spPr>
          <a:xfrm>
            <a:off x="523875" y="971550"/>
            <a:ext cx="11001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Se conserva energía por intervalo y se pierde detalle fino.</a:t>
            </a:r>
          </a:p>
        </p:txBody>
      </p:sp>
      <p:pic>
        <p:nvPicPr>
          <p:cNvPr id="13" name="Gráfico 1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457200" y="1381125"/>
            <a:ext cx="7524750" cy="4429125"/>
          </a:xfrm>
          <a:prstGeom prst="rect">
            <a:avLst/>
          </a:prstGeom>
        </p:spPr>
      </p:pic>
      <p:sp>
        <p:nvSpPr>
          <p:cNvPr id="5" name="chart-reading-box">
            <a:extLst>
              <a:ext uri="{FF2B5EF4-FFF2-40B4-BE49-F238E27FC236}">
                <a16:creationId xmlns:a16="http://schemas.microsoft.com/office/drawing/2014/main" id="{FCE61440-996B-4A50-87AD-CE8748CEAAD6}"/>
              </a:ext>
            </a:extLst>
          </p:cNvPr>
          <p:cNvSpPr>
            <a:spLocks noGrp="1"/>
          </p:cNvSpPr>
          <p:nvPr/>
        </p:nvSpPr>
        <p:spPr>
          <a:xfrm>
            <a:off x="8239125" y="1476375"/>
            <a:ext cx="3190875" cy="3857625"/>
          </a:xfrm>
          <a:prstGeom prst="roundRect">
            <a:avLst>
              <a:gd name="adj" fmla="val 4179"/>
            </a:avLst>
          </a:prstGeom>
          <a:solidFill>
            <a:srgbClr val="DDEFF5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6" name="chart-reading-title">
            <a:extLst>
              <a:ext uri="{FF2B5EF4-FFF2-40B4-BE49-F238E27FC236}">
                <a16:creationId xmlns:a16="http://schemas.microsoft.com/office/drawing/2014/main" id="{BBA3C818-7028-4D44-86C2-8ACB7CA807AB}"/>
              </a:ext>
            </a:extLst>
          </p:cNvPr>
          <p:cNvSpPr>
            <a:spLocks noGrp="1"/>
          </p:cNvSpPr>
          <p:nvPr/>
        </p:nvSpPr>
        <p:spPr>
          <a:xfrm>
            <a:off x="8410575" y="1609725"/>
            <a:ext cx="28479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Qué leer</a:t>
            </a:r>
          </a:p>
        </p:txBody>
      </p:sp>
      <p:sp>
        <p:nvSpPr>
          <p:cNvPr id="7" name="chart-reading-body">
            <a:extLst>
              <a:ext uri="{FF2B5EF4-FFF2-40B4-BE49-F238E27FC236}">
                <a16:creationId xmlns:a16="http://schemas.microsoft.com/office/drawing/2014/main" id="{28184391-B0A1-4684-91A1-AD624A5C68EF}"/>
              </a:ext>
            </a:extLst>
          </p:cNvPr>
          <p:cNvSpPr>
            <a:spLocks noGrp="1"/>
          </p:cNvSpPr>
          <p:nvPr/>
        </p:nvSpPr>
        <p:spPr>
          <a:xfrm>
            <a:off x="8410575" y="1990725"/>
            <a:ext cx="2847975" cy="3209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Espectro fino: localiza componentes. Niveles por banda: integran entre límites. Elegir según la pregunta.</a:t>
            </a:r>
          </a:p>
        </p:txBody>
      </p:sp>
      <p:sp>
        <p:nvSpPr>
          <p:cNvPr id="8" name="caption">
            <a:extLst>
              <a:ext uri="{FF2B5EF4-FFF2-40B4-BE49-F238E27FC236}">
                <a16:creationId xmlns:a16="http://schemas.microsoft.com/office/drawing/2014/main" id="{5C6F6F96-6AE1-471C-8D1D-B29157EB40F1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876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Una banda no es un bin ensanchado.</a:t>
            </a:r>
          </a:p>
        </p:txBody>
      </p:sp>
      <p:sp>
        <p:nvSpPr>
          <p:cNvPr id="9" name="credit">
            <a:extLst>
              <a:ext uri="{FF2B5EF4-FFF2-40B4-BE49-F238E27FC236}">
                <a16:creationId xmlns:a16="http://schemas.microsoft.com/office/drawing/2014/main" id="{3724EC2C-C7EB-4C43-B44F-7BD790C0D0EF}"/>
              </a:ext>
            </a:extLst>
          </p:cNvPr>
          <p:cNvSpPr>
            <a:spLocks noGrp="1"/>
          </p:cNvSpPr>
          <p:nvPr/>
        </p:nvSpPr>
        <p:spPr>
          <a:xfrm>
            <a:off x="9382125" y="60769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5.4.7 y 5.8.</a:t>
            </a:r>
          </a:p>
        </p:txBody>
      </p:sp>
      <p:sp>
        <p:nvSpPr>
          <p:cNvPr id="4" name="slide-alt-summary" descr="Espectro de líneas se compara con barras que integran grupos de frecuencias.">
            <a:extLst>
              <a:ext uri="{FF2B5EF4-FFF2-40B4-BE49-F238E27FC236}">
                <a16:creationId xmlns:a16="http://schemas.microsoft.com/office/drawing/2014/main" id="{0F5F46D8-3A27-9863-28A4-E0C0E1C2D4E4}"/>
              </a:ext>
            </a:extLst>
          </p:cNvPr>
          <p:cNvSpPr/>
          <p:nvPr/>
        </p:nvSpPr>
        <p:spPr>
          <a:xfrm>
            <a:off x="12700" y="12700"/>
            <a:ext cx="12700" cy="12700"/>
          </a:xfrm>
          <a:prstGeom prst="rect">
            <a:avLst/>
          </a:prstGeom>
          <a:noFill/>
          <a:ln w="19050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8649001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eyebrow">
            <a:extLst>
              <a:ext uri="{FF2B5EF4-FFF2-40B4-BE49-F238E27FC236}">
                <a16:creationId xmlns:a16="http://schemas.microsoft.com/office/drawing/2014/main" id="{6997D63F-537B-4F1E-AD43-6C80AEE1631E}"/>
              </a:ext>
            </a:extLst>
          </p:cNvPr>
          <p:cNvSpPr>
            <a:spLocks noGrp="1"/>
          </p:cNvSpPr>
          <p:nvPr/>
        </p:nvSpPr>
        <p:spPr>
          <a:xfrm>
            <a:off x="514350" y="2095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086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6981BF79-45CF-46F3-85FA-2BBF53C3CB34}"/>
              </a:ext>
            </a:extLst>
          </p:cNvPr>
          <p:cNvSpPr>
            <a:spLocks noGrp="1"/>
          </p:cNvSpPr>
          <p:nvPr/>
        </p:nvSpPr>
        <p:spPr>
          <a:xfrm>
            <a:off x="495300" y="428625"/>
            <a:ext cx="11191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Una octava cumple f_H/f_L=2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A64ABE23-F861-402C-8616-D5B3B3968FC5}"/>
              </a:ext>
            </a:extLst>
          </p:cNvPr>
          <p:cNvSpPr>
            <a:spLocks noGrp="1"/>
          </p:cNvSpPr>
          <p:nvPr/>
        </p:nvSpPr>
        <p:spPr>
          <a:xfrm>
            <a:off x="523875" y="971550"/>
            <a:ext cx="11001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Las fracciones de octava conservan una razón general.</a:t>
            </a:r>
          </a:p>
        </p:txBody>
      </p:sp>
      <p:sp>
        <p:nvSpPr>
          <p:cNvPr id="4" name="U05-DG-009-octave">
            <a:extLst>
              <a:ext uri="{FF2B5EF4-FFF2-40B4-BE49-F238E27FC236}">
                <a16:creationId xmlns:a16="http://schemas.microsoft.com/office/drawing/2014/main" id="{15510738-BE63-416B-8DB5-FE6E7466B19B}"/>
              </a:ext>
            </a:extLst>
          </p:cNvPr>
          <p:cNvSpPr>
            <a:spLocks noGrp="1"/>
          </p:cNvSpPr>
          <p:nvPr/>
        </p:nvSpPr>
        <p:spPr>
          <a:xfrm>
            <a:off x="1762125" y="1381125"/>
            <a:ext cx="8667750" cy="1000125"/>
          </a:xfrm>
          <a:prstGeom prst="roundRect">
            <a:avLst>
              <a:gd name="adj" fmla="val 13333"/>
            </a:avLst>
          </a:prstGeom>
          <a:solidFill>
            <a:srgbClr val="DDEFF5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5" name="U05-DG-009-octave-title">
            <a:extLst>
              <a:ext uri="{FF2B5EF4-FFF2-40B4-BE49-F238E27FC236}">
                <a16:creationId xmlns:a16="http://schemas.microsoft.com/office/drawing/2014/main" id="{062B14FF-9529-4360-B1A0-FFB3615F4BBF}"/>
              </a:ext>
            </a:extLst>
          </p:cNvPr>
          <p:cNvSpPr>
            <a:spLocks noGrp="1"/>
          </p:cNvSpPr>
          <p:nvPr/>
        </p:nvSpPr>
        <p:spPr>
          <a:xfrm>
            <a:off x="1933575" y="1504950"/>
            <a:ext cx="8324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Octava: 707,1 Hz → f_c=1000 Hz → 1414,2 Hz</a:t>
            </a:r>
          </a:p>
        </p:txBody>
      </p:sp>
      <p:sp>
        <p:nvSpPr>
          <p:cNvPr id="6" name="U05-DG-009-octave-body">
            <a:extLst>
              <a:ext uri="{FF2B5EF4-FFF2-40B4-BE49-F238E27FC236}">
                <a16:creationId xmlns:a16="http://schemas.microsoft.com/office/drawing/2014/main" id="{0E2AD1AD-B505-41EA-A712-284FCC6FFA29}"/>
              </a:ext>
            </a:extLst>
          </p:cNvPr>
          <p:cNvSpPr>
            <a:spLocks noGrp="1"/>
          </p:cNvSpPr>
          <p:nvPr/>
        </p:nvSpPr>
        <p:spPr>
          <a:xfrm>
            <a:off x="1933575" y="1828800"/>
            <a:ext cx="83248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f_H/f_L = 2</a:t>
            </a:r>
          </a:p>
        </p:txBody>
      </p:sp>
      <p:sp>
        <p:nvSpPr>
          <p:cNvPr id="7" name="U05-DG-009-third_low">
            <a:extLst>
              <a:ext uri="{FF2B5EF4-FFF2-40B4-BE49-F238E27FC236}">
                <a16:creationId xmlns:a16="http://schemas.microsoft.com/office/drawing/2014/main" id="{B18CBC59-7BD1-4B78-B9B8-E7FEF42D0F9D}"/>
              </a:ext>
            </a:extLst>
          </p:cNvPr>
          <p:cNvSpPr>
            <a:spLocks noGrp="1"/>
          </p:cNvSpPr>
          <p:nvPr/>
        </p:nvSpPr>
        <p:spPr>
          <a:xfrm>
            <a:off x="1762125" y="3333750"/>
            <a:ext cx="2667000" cy="1476375"/>
          </a:xfrm>
          <a:prstGeom prst="roundRect">
            <a:avLst>
              <a:gd name="adj" fmla="val 9032"/>
            </a:avLst>
          </a:prstGeom>
          <a:solidFill>
            <a:srgbClr val="EFF8FA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8" name="U05-DG-009-third_low-title">
            <a:extLst>
              <a:ext uri="{FF2B5EF4-FFF2-40B4-BE49-F238E27FC236}">
                <a16:creationId xmlns:a16="http://schemas.microsoft.com/office/drawing/2014/main" id="{C859A6CE-68CF-4DFA-A0D0-0CB4ABC8256F}"/>
              </a:ext>
            </a:extLst>
          </p:cNvPr>
          <p:cNvSpPr>
            <a:spLocks noGrp="1"/>
          </p:cNvSpPr>
          <p:nvPr/>
        </p:nvSpPr>
        <p:spPr>
          <a:xfrm>
            <a:off x="1933575" y="3457575"/>
            <a:ext cx="23241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1.er tercio</a:t>
            </a:r>
          </a:p>
        </p:txBody>
      </p:sp>
      <p:sp>
        <p:nvSpPr>
          <p:cNvPr id="9" name="U05-DG-009-third_low-body">
            <a:extLst>
              <a:ext uri="{FF2B5EF4-FFF2-40B4-BE49-F238E27FC236}">
                <a16:creationId xmlns:a16="http://schemas.microsoft.com/office/drawing/2014/main" id="{55AC48F4-A28B-42E1-A32F-9DB7256EAA12}"/>
              </a:ext>
            </a:extLst>
          </p:cNvPr>
          <p:cNvSpPr>
            <a:spLocks noGrp="1"/>
          </p:cNvSpPr>
          <p:nvPr/>
        </p:nvSpPr>
        <p:spPr>
          <a:xfrm>
            <a:off x="1933575" y="3886200"/>
            <a:ext cx="23241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f_c=793,7 Hz B=183,8 Hz</a:t>
            </a:r>
          </a:p>
        </p:txBody>
      </p:sp>
      <p:sp>
        <p:nvSpPr>
          <p:cNvPr id="10" name="U05-DG-009-third_mid">
            <a:extLst>
              <a:ext uri="{FF2B5EF4-FFF2-40B4-BE49-F238E27FC236}">
                <a16:creationId xmlns:a16="http://schemas.microsoft.com/office/drawing/2014/main" id="{55DA88C8-A6C9-4E65-AF68-2B1DA0094E2F}"/>
              </a:ext>
            </a:extLst>
          </p:cNvPr>
          <p:cNvSpPr>
            <a:spLocks noGrp="1"/>
          </p:cNvSpPr>
          <p:nvPr/>
        </p:nvSpPr>
        <p:spPr>
          <a:xfrm>
            <a:off x="4762500" y="3333750"/>
            <a:ext cx="2667000" cy="1476375"/>
          </a:xfrm>
          <a:prstGeom prst="roundRect">
            <a:avLst>
              <a:gd name="adj" fmla="val 9032"/>
            </a:avLst>
          </a:prstGeom>
          <a:solidFill>
            <a:srgbClr val="F3F6F8"/>
          </a:solidFill>
          <a:ln w="19050">
            <a:solidFill>
              <a:srgbClr val="8291A3"/>
            </a:solidFill>
            <a:prstDash val="solid"/>
          </a:ln>
        </p:spPr>
      </p:sp>
      <p:sp>
        <p:nvSpPr>
          <p:cNvPr id="11" name="U05-DG-009-third_mid-title">
            <a:extLst>
              <a:ext uri="{FF2B5EF4-FFF2-40B4-BE49-F238E27FC236}">
                <a16:creationId xmlns:a16="http://schemas.microsoft.com/office/drawing/2014/main" id="{C92F9858-32B3-453B-8A22-9740C06B00E7}"/>
              </a:ext>
            </a:extLst>
          </p:cNvPr>
          <p:cNvSpPr>
            <a:spLocks noGrp="1"/>
          </p:cNvSpPr>
          <p:nvPr/>
        </p:nvSpPr>
        <p:spPr>
          <a:xfrm>
            <a:off x="4933950" y="3457575"/>
            <a:ext cx="23241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2.º tercio</a:t>
            </a:r>
          </a:p>
        </p:txBody>
      </p:sp>
      <p:sp>
        <p:nvSpPr>
          <p:cNvPr id="12" name="U05-DG-009-third_mid-body">
            <a:extLst>
              <a:ext uri="{FF2B5EF4-FFF2-40B4-BE49-F238E27FC236}">
                <a16:creationId xmlns:a16="http://schemas.microsoft.com/office/drawing/2014/main" id="{0EC1383F-4763-45CC-B6D6-29208DA3245E}"/>
              </a:ext>
            </a:extLst>
          </p:cNvPr>
          <p:cNvSpPr>
            <a:spLocks noGrp="1"/>
          </p:cNvSpPr>
          <p:nvPr/>
        </p:nvSpPr>
        <p:spPr>
          <a:xfrm>
            <a:off x="4933950" y="3886200"/>
            <a:ext cx="23241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f_c=1000 Hz B=231,6 Hz</a:t>
            </a:r>
          </a:p>
        </p:txBody>
      </p:sp>
      <p:sp>
        <p:nvSpPr>
          <p:cNvPr id="13" name="U05-DG-009-third_high">
            <a:extLst>
              <a:ext uri="{FF2B5EF4-FFF2-40B4-BE49-F238E27FC236}">
                <a16:creationId xmlns:a16="http://schemas.microsoft.com/office/drawing/2014/main" id="{AA938072-6290-49E4-862F-4911BECCBDD6}"/>
              </a:ext>
            </a:extLst>
          </p:cNvPr>
          <p:cNvSpPr>
            <a:spLocks noGrp="1"/>
          </p:cNvSpPr>
          <p:nvPr/>
        </p:nvSpPr>
        <p:spPr>
          <a:xfrm>
            <a:off x="7762875" y="3333750"/>
            <a:ext cx="2667000" cy="1476375"/>
          </a:xfrm>
          <a:prstGeom prst="roundRect">
            <a:avLst>
              <a:gd name="adj" fmla="val 9032"/>
            </a:avLst>
          </a:prstGeom>
          <a:solidFill>
            <a:srgbClr val="E3F2ED"/>
          </a:solidFill>
          <a:ln w="19050">
            <a:solidFill>
              <a:srgbClr val="2D7867"/>
            </a:solidFill>
            <a:prstDash val="solid"/>
          </a:ln>
        </p:spPr>
      </p:sp>
      <p:sp>
        <p:nvSpPr>
          <p:cNvPr id="14" name="U05-DG-009-third_high-title">
            <a:extLst>
              <a:ext uri="{FF2B5EF4-FFF2-40B4-BE49-F238E27FC236}">
                <a16:creationId xmlns:a16="http://schemas.microsoft.com/office/drawing/2014/main" id="{3701FE4B-9DE3-463C-97FF-7491C24224E8}"/>
              </a:ext>
            </a:extLst>
          </p:cNvPr>
          <p:cNvSpPr>
            <a:spLocks noGrp="1"/>
          </p:cNvSpPr>
          <p:nvPr/>
        </p:nvSpPr>
        <p:spPr>
          <a:xfrm>
            <a:off x="7934325" y="3457575"/>
            <a:ext cx="23241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3.er tercio</a:t>
            </a:r>
          </a:p>
        </p:txBody>
      </p:sp>
      <p:sp>
        <p:nvSpPr>
          <p:cNvPr id="15" name="U05-DG-009-third_high-body">
            <a:extLst>
              <a:ext uri="{FF2B5EF4-FFF2-40B4-BE49-F238E27FC236}">
                <a16:creationId xmlns:a16="http://schemas.microsoft.com/office/drawing/2014/main" id="{9DC8A624-18CA-49AC-A142-884D74812C47}"/>
              </a:ext>
            </a:extLst>
          </p:cNvPr>
          <p:cNvSpPr>
            <a:spLocks noGrp="1"/>
          </p:cNvSpPr>
          <p:nvPr/>
        </p:nvSpPr>
        <p:spPr>
          <a:xfrm>
            <a:off x="7934325" y="3886200"/>
            <a:ext cx="23241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f_c=1259,9 Hz B=291,8 Hz</a:t>
            </a:r>
          </a:p>
        </p:txBody>
      </p:sp>
      <p:cxnSp>
        <p:nvCxnSpPr>
          <p:cNvPr id="36" name="U05-DG-009-oct_1"/>
          <p:cNvCxnSpPr>
            <a:stCxn id="7" idx="3"/>
            <a:endCxn id="10" idx="1"/>
          </p:cNvCxnSpPr>
          <p:nvPr/>
        </p:nvCxnSpPr>
        <p:spPr>
          <a:xfrm>
            <a:off x="4429125" y="4071938"/>
            <a:ext cx="333375" cy="0"/>
          </a:xfrm>
          <a:prstGeom prst="straightConnector1">
            <a:avLst/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cxnSp>
        <p:nvCxnSpPr>
          <p:cNvPr id="37" name="U05-DG-009-oct_2"/>
          <p:cNvCxnSpPr>
            <a:stCxn id="10" idx="3"/>
            <a:endCxn id="13" idx="1"/>
          </p:cNvCxnSpPr>
          <p:nvPr/>
        </p:nvCxnSpPr>
        <p:spPr>
          <a:xfrm>
            <a:off x="7429500" y="4071938"/>
            <a:ext cx="333375" cy="0"/>
          </a:xfrm>
          <a:prstGeom prst="straightConnector1">
            <a:avLst/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sp>
        <p:nvSpPr>
          <p:cNvPr id="18" name="diagram-scale-note">
            <a:extLst>
              <a:ext uri="{FF2B5EF4-FFF2-40B4-BE49-F238E27FC236}">
                <a16:creationId xmlns:a16="http://schemas.microsoft.com/office/drawing/2014/main" id="{AD08ED3C-D299-4FF8-B8EC-24AAFE9E2175}"/>
              </a:ext>
            </a:extLst>
          </p:cNvPr>
          <p:cNvSpPr>
            <a:spLocks noGrp="1"/>
          </p:cNvSpPr>
          <p:nvPr/>
        </p:nvSpPr>
        <p:spPr>
          <a:xfrm>
            <a:off x="552450" y="5829300"/>
            <a:ext cx="3905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05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Esquema conceptual · no está a escala</a:t>
            </a:r>
          </a:p>
        </p:txBody>
      </p:sp>
      <p:sp>
        <p:nvSpPr>
          <p:cNvPr id="19" name="caption">
            <a:extLst>
              <a:ext uri="{FF2B5EF4-FFF2-40B4-BE49-F238E27FC236}">
                <a16:creationId xmlns:a16="http://schemas.microsoft.com/office/drawing/2014/main" id="{0C7320F2-D1FD-482E-8169-A718158FA6EB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876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En escala logarítmica, razones iguales ocupan distancias iguales.</a:t>
            </a:r>
          </a:p>
        </p:txBody>
      </p:sp>
      <p:sp>
        <p:nvSpPr>
          <p:cNvPr id="20" name="credit">
            <a:extLst>
              <a:ext uri="{FF2B5EF4-FFF2-40B4-BE49-F238E27FC236}">
                <a16:creationId xmlns:a16="http://schemas.microsoft.com/office/drawing/2014/main" id="{E2BA664E-F829-48E9-BCD0-027B2E2D4D2D}"/>
              </a:ext>
            </a:extLst>
          </p:cNvPr>
          <p:cNvSpPr>
            <a:spLocks noGrp="1"/>
          </p:cNvSpPr>
          <p:nvPr/>
        </p:nvSpPr>
        <p:spPr>
          <a:xfrm>
            <a:off x="9382125" y="60769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5.8, ec. 5.17.</a:t>
            </a:r>
          </a:p>
        </p:txBody>
      </p:sp>
      <p:sp>
        <p:nvSpPr>
          <p:cNvPr id="16" name="slide-alt-summary" descr="Ecuación de razón y segmentos iguales en eje logarítmico.">
            <a:extLst>
              <a:ext uri="{FF2B5EF4-FFF2-40B4-BE49-F238E27FC236}">
                <a16:creationId xmlns:a16="http://schemas.microsoft.com/office/drawing/2014/main" id="{860B0390-C87E-636B-159F-A32175F567F4}"/>
              </a:ext>
            </a:extLst>
          </p:cNvPr>
          <p:cNvSpPr/>
          <p:nvPr/>
        </p:nvSpPr>
        <p:spPr>
          <a:xfrm>
            <a:off x="12700" y="12700"/>
            <a:ext cx="12700" cy="12700"/>
          </a:xfrm>
          <a:prstGeom prst="rect">
            <a:avLst/>
          </a:prstGeom>
          <a:noFill/>
          <a:ln w="19050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eyebrow">
            <a:extLst>
              <a:ext uri="{FF2B5EF4-FFF2-40B4-BE49-F238E27FC236}">
                <a16:creationId xmlns:a16="http://schemas.microsoft.com/office/drawing/2014/main" id="{F0662BE1-DBEA-491B-BE2C-F236803CF1F0}"/>
              </a:ext>
            </a:extLst>
          </p:cNvPr>
          <p:cNvSpPr>
            <a:spLocks noGrp="1"/>
          </p:cNvSpPr>
          <p:nvPr/>
        </p:nvSpPr>
        <p:spPr>
          <a:xfrm>
            <a:off x="514350" y="2095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087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01320BF5-9D10-4FD8-A8D4-AF0428F87166}"/>
              </a:ext>
            </a:extLst>
          </p:cNvPr>
          <p:cNvSpPr>
            <a:spLocks noGrp="1"/>
          </p:cNvSpPr>
          <p:nvPr/>
        </p:nvSpPr>
        <p:spPr>
          <a:xfrm>
            <a:off x="495300" y="428625"/>
            <a:ext cx="11191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Una serie armónica no avanza por octavas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614C35E0-A88A-4027-8005-B0593B8FFF52}"/>
              </a:ext>
            </a:extLst>
          </p:cNvPr>
          <p:cNvSpPr>
            <a:spLocks noGrp="1"/>
          </p:cNvSpPr>
          <p:nvPr/>
        </p:nvSpPr>
        <p:spPr>
          <a:xfrm>
            <a:off x="523875" y="971550"/>
            <a:ext cx="11001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Múltiplos enteros y razones 2:1 no son la misma regla.</a:t>
            </a:r>
          </a:p>
        </p:txBody>
      </p:sp>
      <p:sp>
        <p:nvSpPr>
          <p:cNvPr id="4" name="U05-DG-009-octave">
            <a:extLst>
              <a:ext uri="{FF2B5EF4-FFF2-40B4-BE49-F238E27FC236}">
                <a16:creationId xmlns:a16="http://schemas.microsoft.com/office/drawing/2014/main" id="{83F5A600-6D74-4F14-B1DE-30498B9BA0A2}"/>
              </a:ext>
            </a:extLst>
          </p:cNvPr>
          <p:cNvSpPr>
            <a:spLocks noGrp="1"/>
          </p:cNvSpPr>
          <p:nvPr/>
        </p:nvSpPr>
        <p:spPr>
          <a:xfrm>
            <a:off x="1762125" y="1381125"/>
            <a:ext cx="8667750" cy="1000125"/>
          </a:xfrm>
          <a:prstGeom prst="roundRect">
            <a:avLst>
              <a:gd name="adj" fmla="val 13333"/>
            </a:avLst>
          </a:prstGeom>
          <a:solidFill>
            <a:srgbClr val="DDEFF5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5" name="U05-DG-009-octave-title">
            <a:extLst>
              <a:ext uri="{FF2B5EF4-FFF2-40B4-BE49-F238E27FC236}">
                <a16:creationId xmlns:a16="http://schemas.microsoft.com/office/drawing/2014/main" id="{8DEF16A2-F3A9-4171-BF4A-D68E46213624}"/>
              </a:ext>
            </a:extLst>
          </p:cNvPr>
          <p:cNvSpPr>
            <a:spLocks noGrp="1"/>
          </p:cNvSpPr>
          <p:nvPr/>
        </p:nvSpPr>
        <p:spPr>
          <a:xfrm>
            <a:off x="1933575" y="1504950"/>
            <a:ext cx="8324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Octava: 707,1 Hz → f_c=1000 Hz → 1414,2 Hz</a:t>
            </a:r>
          </a:p>
        </p:txBody>
      </p:sp>
      <p:sp>
        <p:nvSpPr>
          <p:cNvPr id="6" name="U05-DG-009-octave-body">
            <a:extLst>
              <a:ext uri="{FF2B5EF4-FFF2-40B4-BE49-F238E27FC236}">
                <a16:creationId xmlns:a16="http://schemas.microsoft.com/office/drawing/2014/main" id="{96042984-9B9F-415C-81B4-E29033F5A054}"/>
              </a:ext>
            </a:extLst>
          </p:cNvPr>
          <p:cNvSpPr>
            <a:spLocks noGrp="1"/>
          </p:cNvSpPr>
          <p:nvPr/>
        </p:nvSpPr>
        <p:spPr>
          <a:xfrm>
            <a:off x="1933575" y="1828800"/>
            <a:ext cx="83248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f_H/f_L = 2</a:t>
            </a:r>
          </a:p>
        </p:txBody>
      </p:sp>
      <p:sp>
        <p:nvSpPr>
          <p:cNvPr id="7" name="U05-DG-009-third_low">
            <a:extLst>
              <a:ext uri="{FF2B5EF4-FFF2-40B4-BE49-F238E27FC236}">
                <a16:creationId xmlns:a16="http://schemas.microsoft.com/office/drawing/2014/main" id="{7CF5C042-0512-4729-903D-1D8842A0A245}"/>
              </a:ext>
            </a:extLst>
          </p:cNvPr>
          <p:cNvSpPr>
            <a:spLocks noGrp="1"/>
          </p:cNvSpPr>
          <p:nvPr/>
        </p:nvSpPr>
        <p:spPr>
          <a:xfrm>
            <a:off x="1762125" y="3333750"/>
            <a:ext cx="2667000" cy="1476375"/>
          </a:xfrm>
          <a:prstGeom prst="roundRect">
            <a:avLst>
              <a:gd name="adj" fmla="val 9032"/>
            </a:avLst>
          </a:prstGeom>
          <a:solidFill>
            <a:srgbClr val="EFF8FA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8" name="U05-DG-009-third_low-title">
            <a:extLst>
              <a:ext uri="{FF2B5EF4-FFF2-40B4-BE49-F238E27FC236}">
                <a16:creationId xmlns:a16="http://schemas.microsoft.com/office/drawing/2014/main" id="{0C475234-0727-4398-9FC4-5109945A3B46}"/>
              </a:ext>
            </a:extLst>
          </p:cNvPr>
          <p:cNvSpPr>
            <a:spLocks noGrp="1"/>
          </p:cNvSpPr>
          <p:nvPr/>
        </p:nvSpPr>
        <p:spPr>
          <a:xfrm>
            <a:off x="1933575" y="3457575"/>
            <a:ext cx="23241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1.er tercio</a:t>
            </a:r>
          </a:p>
        </p:txBody>
      </p:sp>
      <p:sp>
        <p:nvSpPr>
          <p:cNvPr id="9" name="U05-DG-009-third_low-body">
            <a:extLst>
              <a:ext uri="{FF2B5EF4-FFF2-40B4-BE49-F238E27FC236}">
                <a16:creationId xmlns:a16="http://schemas.microsoft.com/office/drawing/2014/main" id="{DA1FB914-7E9F-413B-B43C-78BBF1BACACA}"/>
              </a:ext>
            </a:extLst>
          </p:cNvPr>
          <p:cNvSpPr>
            <a:spLocks noGrp="1"/>
          </p:cNvSpPr>
          <p:nvPr/>
        </p:nvSpPr>
        <p:spPr>
          <a:xfrm>
            <a:off x="1933575" y="3886200"/>
            <a:ext cx="23241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f_c=793,7 Hz B=183,8 Hz</a:t>
            </a:r>
          </a:p>
        </p:txBody>
      </p:sp>
      <p:sp>
        <p:nvSpPr>
          <p:cNvPr id="10" name="U05-DG-009-third_mid">
            <a:extLst>
              <a:ext uri="{FF2B5EF4-FFF2-40B4-BE49-F238E27FC236}">
                <a16:creationId xmlns:a16="http://schemas.microsoft.com/office/drawing/2014/main" id="{117EB2D7-8303-4C26-AB38-23A9A138A33E}"/>
              </a:ext>
            </a:extLst>
          </p:cNvPr>
          <p:cNvSpPr>
            <a:spLocks noGrp="1"/>
          </p:cNvSpPr>
          <p:nvPr/>
        </p:nvSpPr>
        <p:spPr>
          <a:xfrm>
            <a:off x="4762500" y="3333750"/>
            <a:ext cx="2667000" cy="1476375"/>
          </a:xfrm>
          <a:prstGeom prst="roundRect">
            <a:avLst>
              <a:gd name="adj" fmla="val 9032"/>
            </a:avLst>
          </a:prstGeom>
          <a:solidFill>
            <a:srgbClr val="F3F6F8"/>
          </a:solidFill>
          <a:ln w="19050">
            <a:solidFill>
              <a:srgbClr val="8291A3"/>
            </a:solidFill>
            <a:prstDash val="solid"/>
          </a:ln>
        </p:spPr>
      </p:sp>
      <p:sp>
        <p:nvSpPr>
          <p:cNvPr id="11" name="U05-DG-009-third_mid-title">
            <a:extLst>
              <a:ext uri="{FF2B5EF4-FFF2-40B4-BE49-F238E27FC236}">
                <a16:creationId xmlns:a16="http://schemas.microsoft.com/office/drawing/2014/main" id="{341B5642-3803-4A2D-AD41-8556A4F80EA5}"/>
              </a:ext>
            </a:extLst>
          </p:cNvPr>
          <p:cNvSpPr>
            <a:spLocks noGrp="1"/>
          </p:cNvSpPr>
          <p:nvPr/>
        </p:nvSpPr>
        <p:spPr>
          <a:xfrm>
            <a:off x="4933950" y="3457575"/>
            <a:ext cx="23241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2.º tercio</a:t>
            </a:r>
          </a:p>
        </p:txBody>
      </p:sp>
      <p:sp>
        <p:nvSpPr>
          <p:cNvPr id="12" name="U05-DG-009-third_mid-body">
            <a:extLst>
              <a:ext uri="{FF2B5EF4-FFF2-40B4-BE49-F238E27FC236}">
                <a16:creationId xmlns:a16="http://schemas.microsoft.com/office/drawing/2014/main" id="{B8497A1F-1791-4E2C-9834-AB9BAA85D436}"/>
              </a:ext>
            </a:extLst>
          </p:cNvPr>
          <p:cNvSpPr>
            <a:spLocks noGrp="1"/>
          </p:cNvSpPr>
          <p:nvPr/>
        </p:nvSpPr>
        <p:spPr>
          <a:xfrm>
            <a:off x="4933950" y="3886200"/>
            <a:ext cx="23241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f_c=1000 Hz B=231,6 Hz</a:t>
            </a:r>
          </a:p>
        </p:txBody>
      </p:sp>
      <p:sp>
        <p:nvSpPr>
          <p:cNvPr id="13" name="U05-DG-009-third_high">
            <a:extLst>
              <a:ext uri="{FF2B5EF4-FFF2-40B4-BE49-F238E27FC236}">
                <a16:creationId xmlns:a16="http://schemas.microsoft.com/office/drawing/2014/main" id="{556F85DA-D75F-41A0-BDF6-21F8A6E0123A}"/>
              </a:ext>
            </a:extLst>
          </p:cNvPr>
          <p:cNvSpPr>
            <a:spLocks noGrp="1"/>
          </p:cNvSpPr>
          <p:nvPr/>
        </p:nvSpPr>
        <p:spPr>
          <a:xfrm>
            <a:off x="7762875" y="3333750"/>
            <a:ext cx="2667000" cy="1476375"/>
          </a:xfrm>
          <a:prstGeom prst="roundRect">
            <a:avLst>
              <a:gd name="adj" fmla="val 9032"/>
            </a:avLst>
          </a:prstGeom>
          <a:solidFill>
            <a:srgbClr val="E3F2ED"/>
          </a:solidFill>
          <a:ln w="19050">
            <a:solidFill>
              <a:srgbClr val="2D7867"/>
            </a:solidFill>
            <a:prstDash val="solid"/>
          </a:ln>
        </p:spPr>
      </p:sp>
      <p:sp>
        <p:nvSpPr>
          <p:cNvPr id="14" name="U05-DG-009-third_high-title">
            <a:extLst>
              <a:ext uri="{FF2B5EF4-FFF2-40B4-BE49-F238E27FC236}">
                <a16:creationId xmlns:a16="http://schemas.microsoft.com/office/drawing/2014/main" id="{01D5A411-4267-44B5-9888-AE409CCAEA6A}"/>
              </a:ext>
            </a:extLst>
          </p:cNvPr>
          <p:cNvSpPr>
            <a:spLocks noGrp="1"/>
          </p:cNvSpPr>
          <p:nvPr/>
        </p:nvSpPr>
        <p:spPr>
          <a:xfrm>
            <a:off x="7934325" y="3457575"/>
            <a:ext cx="23241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3.er tercio</a:t>
            </a:r>
          </a:p>
        </p:txBody>
      </p:sp>
      <p:sp>
        <p:nvSpPr>
          <p:cNvPr id="15" name="U05-DG-009-third_high-body">
            <a:extLst>
              <a:ext uri="{FF2B5EF4-FFF2-40B4-BE49-F238E27FC236}">
                <a16:creationId xmlns:a16="http://schemas.microsoft.com/office/drawing/2014/main" id="{121BF440-D595-460B-A8A9-3990850760E9}"/>
              </a:ext>
            </a:extLst>
          </p:cNvPr>
          <p:cNvSpPr>
            <a:spLocks noGrp="1"/>
          </p:cNvSpPr>
          <p:nvPr/>
        </p:nvSpPr>
        <p:spPr>
          <a:xfrm>
            <a:off x="7934325" y="3886200"/>
            <a:ext cx="23241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f_c=1259,9 Hz B=291,8 Hz</a:t>
            </a:r>
          </a:p>
        </p:txBody>
      </p:sp>
      <p:cxnSp>
        <p:nvCxnSpPr>
          <p:cNvPr id="36" name="U05-DG-009-oct_1"/>
          <p:cNvCxnSpPr>
            <a:stCxn id="7" idx="3"/>
            <a:endCxn id="10" idx="1"/>
          </p:cNvCxnSpPr>
          <p:nvPr/>
        </p:nvCxnSpPr>
        <p:spPr>
          <a:xfrm>
            <a:off x="4429125" y="4071938"/>
            <a:ext cx="333375" cy="0"/>
          </a:xfrm>
          <a:prstGeom prst="straightConnector1">
            <a:avLst/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cxnSp>
        <p:nvCxnSpPr>
          <p:cNvPr id="37" name="U05-DG-009-oct_2"/>
          <p:cNvCxnSpPr>
            <a:stCxn id="10" idx="3"/>
            <a:endCxn id="13" idx="1"/>
          </p:cNvCxnSpPr>
          <p:nvPr/>
        </p:nvCxnSpPr>
        <p:spPr>
          <a:xfrm>
            <a:off x="7429500" y="4071938"/>
            <a:ext cx="333375" cy="0"/>
          </a:xfrm>
          <a:prstGeom prst="straightConnector1">
            <a:avLst/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sp>
        <p:nvSpPr>
          <p:cNvPr id="18" name="diagram-scale-note">
            <a:extLst>
              <a:ext uri="{FF2B5EF4-FFF2-40B4-BE49-F238E27FC236}">
                <a16:creationId xmlns:a16="http://schemas.microsoft.com/office/drawing/2014/main" id="{9E82DA65-54B8-4A15-B611-2516A4CD15CB}"/>
              </a:ext>
            </a:extLst>
          </p:cNvPr>
          <p:cNvSpPr>
            <a:spLocks noGrp="1"/>
          </p:cNvSpPr>
          <p:nvPr/>
        </p:nvSpPr>
        <p:spPr>
          <a:xfrm>
            <a:off x="552450" y="5829300"/>
            <a:ext cx="3905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05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Esquema conceptual · no está a escala</a:t>
            </a:r>
          </a:p>
        </p:txBody>
      </p:sp>
      <p:sp>
        <p:nvSpPr>
          <p:cNvPr id="19" name="caption">
            <a:extLst>
              <a:ext uri="{FF2B5EF4-FFF2-40B4-BE49-F238E27FC236}">
                <a16:creationId xmlns:a16="http://schemas.microsoft.com/office/drawing/2014/main" id="{09EE5948-7484-47C8-B0CC-F6EEE8653E9C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876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Una serie armónica contiene algunas relaciones de octava, pero no es una escala de octavas.</a:t>
            </a:r>
          </a:p>
        </p:txBody>
      </p:sp>
      <p:sp>
        <p:nvSpPr>
          <p:cNvPr id="20" name="credit">
            <a:extLst>
              <a:ext uri="{FF2B5EF4-FFF2-40B4-BE49-F238E27FC236}">
                <a16:creationId xmlns:a16="http://schemas.microsoft.com/office/drawing/2014/main" id="{14619934-8CF4-48EA-AA6A-138704CB0243}"/>
              </a:ext>
            </a:extLst>
          </p:cNvPr>
          <p:cNvSpPr>
            <a:spLocks noGrp="1"/>
          </p:cNvSpPr>
          <p:nvPr/>
        </p:nvSpPr>
        <p:spPr>
          <a:xfrm>
            <a:off x="9382125" y="60769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PO; TEX 5.6 y 5.8; EP.</a:t>
            </a:r>
          </a:p>
        </p:txBody>
      </p:sp>
      <p:sp>
        <p:nvSpPr>
          <p:cNvPr id="16" name="slide-alt-summary" descr="Dos rectas numéricas contrastan múltiplos armónicos con saltos de razón dos.">
            <a:extLst>
              <a:ext uri="{FF2B5EF4-FFF2-40B4-BE49-F238E27FC236}">
                <a16:creationId xmlns:a16="http://schemas.microsoft.com/office/drawing/2014/main" id="{AE231FDC-884B-E632-C0D9-FDCB2C39962B}"/>
              </a:ext>
            </a:extLst>
          </p:cNvPr>
          <p:cNvSpPr/>
          <p:nvPr/>
        </p:nvSpPr>
        <p:spPr>
          <a:xfrm>
            <a:off x="12700" y="12700"/>
            <a:ext cx="12700" cy="12700"/>
          </a:xfrm>
          <a:prstGeom prst="rect">
            <a:avLst/>
          </a:prstGeom>
          <a:noFill/>
          <a:ln w="19050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eyebrow">
            <a:extLst>
              <a:ext uri="{FF2B5EF4-FFF2-40B4-BE49-F238E27FC236}">
                <a16:creationId xmlns:a16="http://schemas.microsoft.com/office/drawing/2014/main" id="{2FAF823A-F64B-43A5-AA83-FC19F16E1F91}"/>
              </a:ext>
            </a:extLst>
          </p:cNvPr>
          <p:cNvSpPr>
            <a:spLocks noGrp="1"/>
          </p:cNvSpPr>
          <p:nvPr/>
        </p:nvSpPr>
        <p:spPr>
          <a:xfrm>
            <a:off x="514350" y="2095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088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611B5F59-A7E2-4AA9-968A-AD39C38CDF41}"/>
              </a:ext>
            </a:extLst>
          </p:cNvPr>
          <p:cNvSpPr>
            <a:spLocks noGrp="1"/>
          </p:cNvSpPr>
          <p:nvPr/>
        </p:nvSpPr>
        <p:spPr>
          <a:xfrm>
            <a:off x="495300" y="428625"/>
            <a:ext cx="11191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El centro geométrico conserva simetría de razones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4AE626B7-10F8-4AAD-9C83-3AF79F5F1175}"/>
              </a:ext>
            </a:extLst>
          </p:cNvPr>
          <p:cNvSpPr>
            <a:spLocks noGrp="1"/>
          </p:cNvSpPr>
          <p:nvPr/>
        </p:nvSpPr>
        <p:spPr>
          <a:xfrm>
            <a:off x="523875" y="971550"/>
            <a:ext cx="11001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En bandas logarítmicas no usamos la media aritmética.</a:t>
            </a:r>
          </a:p>
        </p:txBody>
      </p:sp>
      <p:sp>
        <p:nvSpPr>
          <p:cNvPr id="4" name="U05-DG-009-octave">
            <a:extLst>
              <a:ext uri="{FF2B5EF4-FFF2-40B4-BE49-F238E27FC236}">
                <a16:creationId xmlns:a16="http://schemas.microsoft.com/office/drawing/2014/main" id="{5EAD767E-9453-4084-9377-B6FAF8586AB0}"/>
              </a:ext>
            </a:extLst>
          </p:cNvPr>
          <p:cNvSpPr>
            <a:spLocks noGrp="1"/>
          </p:cNvSpPr>
          <p:nvPr/>
        </p:nvSpPr>
        <p:spPr>
          <a:xfrm>
            <a:off x="1762125" y="1381125"/>
            <a:ext cx="8667750" cy="1000125"/>
          </a:xfrm>
          <a:prstGeom prst="roundRect">
            <a:avLst>
              <a:gd name="adj" fmla="val 13333"/>
            </a:avLst>
          </a:prstGeom>
          <a:solidFill>
            <a:srgbClr val="DDEFF5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5" name="U05-DG-009-octave-title">
            <a:extLst>
              <a:ext uri="{FF2B5EF4-FFF2-40B4-BE49-F238E27FC236}">
                <a16:creationId xmlns:a16="http://schemas.microsoft.com/office/drawing/2014/main" id="{6E054FB0-B491-4EA6-BC69-6640969B2648}"/>
              </a:ext>
            </a:extLst>
          </p:cNvPr>
          <p:cNvSpPr>
            <a:spLocks noGrp="1"/>
          </p:cNvSpPr>
          <p:nvPr/>
        </p:nvSpPr>
        <p:spPr>
          <a:xfrm>
            <a:off x="1933575" y="1504950"/>
            <a:ext cx="8324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Octava: 707,1 Hz → f_c=1000 Hz → 1414,2 Hz</a:t>
            </a:r>
          </a:p>
        </p:txBody>
      </p:sp>
      <p:sp>
        <p:nvSpPr>
          <p:cNvPr id="6" name="U05-DG-009-octave-body">
            <a:extLst>
              <a:ext uri="{FF2B5EF4-FFF2-40B4-BE49-F238E27FC236}">
                <a16:creationId xmlns:a16="http://schemas.microsoft.com/office/drawing/2014/main" id="{6E305AFD-181E-4BC6-9C7F-6F71A58B6C82}"/>
              </a:ext>
            </a:extLst>
          </p:cNvPr>
          <p:cNvSpPr>
            <a:spLocks noGrp="1"/>
          </p:cNvSpPr>
          <p:nvPr/>
        </p:nvSpPr>
        <p:spPr>
          <a:xfrm>
            <a:off x="1933575" y="1828800"/>
            <a:ext cx="83248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f_H/f_L = 2</a:t>
            </a:r>
          </a:p>
        </p:txBody>
      </p:sp>
      <p:sp>
        <p:nvSpPr>
          <p:cNvPr id="7" name="U05-DG-009-third_low">
            <a:extLst>
              <a:ext uri="{FF2B5EF4-FFF2-40B4-BE49-F238E27FC236}">
                <a16:creationId xmlns:a16="http://schemas.microsoft.com/office/drawing/2014/main" id="{44692919-ACE5-449F-9144-8793C6CAE37B}"/>
              </a:ext>
            </a:extLst>
          </p:cNvPr>
          <p:cNvSpPr>
            <a:spLocks noGrp="1"/>
          </p:cNvSpPr>
          <p:nvPr/>
        </p:nvSpPr>
        <p:spPr>
          <a:xfrm>
            <a:off x="1762125" y="3333750"/>
            <a:ext cx="2667000" cy="1476375"/>
          </a:xfrm>
          <a:prstGeom prst="roundRect">
            <a:avLst>
              <a:gd name="adj" fmla="val 9032"/>
            </a:avLst>
          </a:prstGeom>
          <a:solidFill>
            <a:srgbClr val="EFF8FA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8" name="U05-DG-009-third_low-title">
            <a:extLst>
              <a:ext uri="{FF2B5EF4-FFF2-40B4-BE49-F238E27FC236}">
                <a16:creationId xmlns:a16="http://schemas.microsoft.com/office/drawing/2014/main" id="{DA9191D9-724F-4A1D-906A-90FFCB5A6DF6}"/>
              </a:ext>
            </a:extLst>
          </p:cNvPr>
          <p:cNvSpPr>
            <a:spLocks noGrp="1"/>
          </p:cNvSpPr>
          <p:nvPr/>
        </p:nvSpPr>
        <p:spPr>
          <a:xfrm>
            <a:off x="1933575" y="3457575"/>
            <a:ext cx="23241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1.er tercio</a:t>
            </a:r>
          </a:p>
        </p:txBody>
      </p:sp>
      <p:sp>
        <p:nvSpPr>
          <p:cNvPr id="9" name="U05-DG-009-third_low-body">
            <a:extLst>
              <a:ext uri="{FF2B5EF4-FFF2-40B4-BE49-F238E27FC236}">
                <a16:creationId xmlns:a16="http://schemas.microsoft.com/office/drawing/2014/main" id="{327987A5-D44B-49E2-8825-7CCA6A7087D8}"/>
              </a:ext>
            </a:extLst>
          </p:cNvPr>
          <p:cNvSpPr>
            <a:spLocks noGrp="1"/>
          </p:cNvSpPr>
          <p:nvPr/>
        </p:nvSpPr>
        <p:spPr>
          <a:xfrm>
            <a:off x="1933575" y="3886200"/>
            <a:ext cx="23241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f_c=793,7 Hz B=183,8 Hz</a:t>
            </a:r>
          </a:p>
        </p:txBody>
      </p:sp>
      <p:sp>
        <p:nvSpPr>
          <p:cNvPr id="10" name="U05-DG-009-third_mid">
            <a:extLst>
              <a:ext uri="{FF2B5EF4-FFF2-40B4-BE49-F238E27FC236}">
                <a16:creationId xmlns:a16="http://schemas.microsoft.com/office/drawing/2014/main" id="{4088E83E-95BE-4ED0-8BD2-EB47AEECA5D7}"/>
              </a:ext>
            </a:extLst>
          </p:cNvPr>
          <p:cNvSpPr>
            <a:spLocks noGrp="1"/>
          </p:cNvSpPr>
          <p:nvPr/>
        </p:nvSpPr>
        <p:spPr>
          <a:xfrm>
            <a:off x="4762500" y="3333750"/>
            <a:ext cx="2667000" cy="1476375"/>
          </a:xfrm>
          <a:prstGeom prst="roundRect">
            <a:avLst>
              <a:gd name="adj" fmla="val 9032"/>
            </a:avLst>
          </a:prstGeom>
          <a:solidFill>
            <a:srgbClr val="F3F6F8"/>
          </a:solidFill>
          <a:ln w="19050">
            <a:solidFill>
              <a:srgbClr val="8291A3"/>
            </a:solidFill>
            <a:prstDash val="solid"/>
          </a:ln>
        </p:spPr>
      </p:sp>
      <p:sp>
        <p:nvSpPr>
          <p:cNvPr id="11" name="U05-DG-009-third_mid-title">
            <a:extLst>
              <a:ext uri="{FF2B5EF4-FFF2-40B4-BE49-F238E27FC236}">
                <a16:creationId xmlns:a16="http://schemas.microsoft.com/office/drawing/2014/main" id="{3A971BE8-0938-469C-A737-4D81F7A2A131}"/>
              </a:ext>
            </a:extLst>
          </p:cNvPr>
          <p:cNvSpPr>
            <a:spLocks noGrp="1"/>
          </p:cNvSpPr>
          <p:nvPr/>
        </p:nvSpPr>
        <p:spPr>
          <a:xfrm>
            <a:off x="4933950" y="3457575"/>
            <a:ext cx="23241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2.º tercio</a:t>
            </a:r>
          </a:p>
        </p:txBody>
      </p:sp>
      <p:sp>
        <p:nvSpPr>
          <p:cNvPr id="12" name="U05-DG-009-third_mid-body">
            <a:extLst>
              <a:ext uri="{FF2B5EF4-FFF2-40B4-BE49-F238E27FC236}">
                <a16:creationId xmlns:a16="http://schemas.microsoft.com/office/drawing/2014/main" id="{467B80A9-00A2-482D-84F2-D87961A57FE7}"/>
              </a:ext>
            </a:extLst>
          </p:cNvPr>
          <p:cNvSpPr>
            <a:spLocks noGrp="1"/>
          </p:cNvSpPr>
          <p:nvPr/>
        </p:nvSpPr>
        <p:spPr>
          <a:xfrm>
            <a:off x="4933950" y="3886200"/>
            <a:ext cx="23241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f_c=1000 Hz B=231,6 Hz</a:t>
            </a:r>
          </a:p>
        </p:txBody>
      </p:sp>
      <p:sp>
        <p:nvSpPr>
          <p:cNvPr id="13" name="U05-DG-009-third_high">
            <a:extLst>
              <a:ext uri="{FF2B5EF4-FFF2-40B4-BE49-F238E27FC236}">
                <a16:creationId xmlns:a16="http://schemas.microsoft.com/office/drawing/2014/main" id="{3F498779-E0E1-4989-8D30-939398D7257E}"/>
              </a:ext>
            </a:extLst>
          </p:cNvPr>
          <p:cNvSpPr>
            <a:spLocks noGrp="1"/>
          </p:cNvSpPr>
          <p:nvPr/>
        </p:nvSpPr>
        <p:spPr>
          <a:xfrm>
            <a:off x="7762875" y="3333750"/>
            <a:ext cx="2667000" cy="1476375"/>
          </a:xfrm>
          <a:prstGeom prst="roundRect">
            <a:avLst>
              <a:gd name="adj" fmla="val 9032"/>
            </a:avLst>
          </a:prstGeom>
          <a:solidFill>
            <a:srgbClr val="E3F2ED"/>
          </a:solidFill>
          <a:ln w="19050">
            <a:solidFill>
              <a:srgbClr val="2D7867"/>
            </a:solidFill>
            <a:prstDash val="solid"/>
          </a:ln>
        </p:spPr>
      </p:sp>
      <p:sp>
        <p:nvSpPr>
          <p:cNvPr id="14" name="U05-DG-009-third_high-title">
            <a:extLst>
              <a:ext uri="{FF2B5EF4-FFF2-40B4-BE49-F238E27FC236}">
                <a16:creationId xmlns:a16="http://schemas.microsoft.com/office/drawing/2014/main" id="{1459A67A-5CE3-4AF8-8494-450C6F760397}"/>
              </a:ext>
            </a:extLst>
          </p:cNvPr>
          <p:cNvSpPr>
            <a:spLocks noGrp="1"/>
          </p:cNvSpPr>
          <p:nvPr/>
        </p:nvSpPr>
        <p:spPr>
          <a:xfrm>
            <a:off x="7934325" y="3457575"/>
            <a:ext cx="23241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3.er tercio</a:t>
            </a:r>
          </a:p>
        </p:txBody>
      </p:sp>
      <p:sp>
        <p:nvSpPr>
          <p:cNvPr id="15" name="U05-DG-009-third_high-body">
            <a:extLst>
              <a:ext uri="{FF2B5EF4-FFF2-40B4-BE49-F238E27FC236}">
                <a16:creationId xmlns:a16="http://schemas.microsoft.com/office/drawing/2014/main" id="{936FA058-8313-4796-97BF-8944637A687B}"/>
              </a:ext>
            </a:extLst>
          </p:cNvPr>
          <p:cNvSpPr>
            <a:spLocks noGrp="1"/>
          </p:cNvSpPr>
          <p:nvPr/>
        </p:nvSpPr>
        <p:spPr>
          <a:xfrm>
            <a:off x="7934325" y="3886200"/>
            <a:ext cx="23241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f_c=1259,9 Hz B=291,8 Hz</a:t>
            </a:r>
          </a:p>
        </p:txBody>
      </p:sp>
      <p:cxnSp>
        <p:nvCxnSpPr>
          <p:cNvPr id="36" name="U05-DG-009-oct_1"/>
          <p:cNvCxnSpPr>
            <a:stCxn id="7" idx="3"/>
            <a:endCxn id="10" idx="1"/>
          </p:cNvCxnSpPr>
          <p:nvPr/>
        </p:nvCxnSpPr>
        <p:spPr>
          <a:xfrm>
            <a:off x="4429125" y="4071938"/>
            <a:ext cx="333375" cy="0"/>
          </a:xfrm>
          <a:prstGeom prst="straightConnector1">
            <a:avLst/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cxnSp>
        <p:nvCxnSpPr>
          <p:cNvPr id="37" name="U05-DG-009-oct_2"/>
          <p:cNvCxnSpPr>
            <a:stCxn id="10" idx="3"/>
            <a:endCxn id="13" idx="1"/>
          </p:cNvCxnSpPr>
          <p:nvPr/>
        </p:nvCxnSpPr>
        <p:spPr>
          <a:xfrm>
            <a:off x="7429500" y="4071938"/>
            <a:ext cx="333375" cy="0"/>
          </a:xfrm>
          <a:prstGeom prst="straightConnector1">
            <a:avLst/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sp>
        <p:nvSpPr>
          <p:cNvPr id="18" name="diagram-scale-note">
            <a:extLst>
              <a:ext uri="{FF2B5EF4-FFF2-40B4-BE49-F238E27FC236}">
                <a16:creationId xmlns:a16="http://schemas.microsoft.com/office/drawing/2014/main" id="{D8963A1B-7115-4795-9CF9-809B79E63AF3}"/>
              </a:ext>
            </a:extLst>
          </p:cNvPr>
          <p:cNvSpPr>
            <a:spLocks noGrp="1"/>
          </p:cNvSpPr>
          <p:nvPr/>
        </p:nvSpPr>
        <p:spPr>
          <a:xfrm>
            <a:off x="552450" y="5829300"/>
            <a:ext cx="3905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05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Esquema conceptual · no está a escala</a:t>
            </a:r>
          </a:p>
        </p:txBody>
      </p:sp>
      <p:sp>
        <p:nvSpPr>
          <p:cNvPr id="19" name="caption">
            <a:extLst>
              <a:ext uri="{FF2B5EF4-FFF2-40B4-BE49-F238E27FC236}">
                <a16:creationId xmlns:a16="http://schemas.microsoft.com/office/drawing/2014/main" id="{D454B95E-531D-4B4C-9641-4671B682D86A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876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f_c/f_L=f_H/f_c.</a:t>
            </a:r>
          </a:p>
        </p:txBody>
      </p:sp>
      <p:sp>
        <p:nvSpPr>
          <p:cNvPr id="20" name="credit">
            <a:extLst>
              <a:ext uri="{FF2B5EF4-FFF2-40B4-BE49-F238E27FC236}">
                <a16:creationId xmlns:a16="http://schemas.microsoft.com/office/drawing/2014/main" id="{58C7E03C-B8EF-46DF-ACEA-7D801322C67F}"/>
              </a:ext>
            </a:extLst>
          </p:cNvPr>
          <p:cNvSpPr>
            <a:spLocks noGrp="1"/>
          </p:cNvSpPr>
          <p:nvPr/>
        </p:nvSpPr>
        <p:spPr>
          <a:xfrm>
            <a:off x="9382125" y="60769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5.8, ec. 5.16.</a:t>
            </a:r>
          </a:p>
        </p:txBody>
      </p:sp>
      <p:sp>
        <p:nvSpPr>
          <p:cNvPr id="16" name="slide-alt-summary" descr="Centro geométrico ubicado entre dos límites con razones iguales.">
            <a:extLst>
              <a:ext uri="{FF2B5EF4-FFF2-40B4-BE49-F238E27FC236}">
                <a16:creationId xmlns:a16="http://schemas.microsoft.com/office/drawing/2014/main" id="{9AE79C03-75D4-2DDF-DC74-9BFA29BCCB6B}"/>
              </a:ext>
            </a:extLst>
          </p:cNvPr>
          <p:cNvSpPr/>
          <p:nvPr/>
        </p:nvSpPr>
        <p:spPr>
          <a:xfrm>
            <a:off x="12700" y="12700"/>
            <a:ext cx="12700" cy="12700"/>
          </a:xfrm>
          <a:prstGeom prst="rect">
            <a:avLst/>
          </a:prstGeom>
          <a:noFill/>
          <a:ln w="19050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eyebrow">
            <a:extLst>
              <a:ext uri="{FF2B5EF4-FFF2-40B4-BE49-F238E27FC236}">
                <a16:creationId xmlns:a16="http://schemas.microsoft.com/office/drawing/2014/main" id="{AB9D9988-8F53-4FDE-B087-B5C966DDA4C8}"/>
              </a:ext>
            </a:extLst>
          </p:cNvPr>
          <p:cNvSpPr>
            <a:spLocks noGrp="1"/>
          </p:cNvSpPr>
          <p:nvPr/>
        </p:nvSpPr>
        <p:spPr>
          <a:xfrm>
            <a:off x="514350" y="2095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089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9A4ACBAB-5633-424B-A7F5-3AE49B89A10A}"/>
              </a:ext>
            </a:extLst>
          </p:cNvPr>
          <p:cNvSpPr>
            <a:spLocks noGrp="1"/>
          </p:cNvSpPr>
          <p:nvPr/>
        </p:nvSpPr>
        <p:spPr>
          <a:xfrm>
            <a:off x="495300" y="428625"/>
            <a:ext cx="11191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Los límites se ubican simétricamente en escala logarítmica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F5B5A808-5CB5-4C5E-B778-0B3FD6D85139}"/>
              </a:ext>
            </a:extLst>
          </p:cNvPr>
          <p:cNvSpPr>
            <a:spLocks noGrp="1"/>
          </p:cNvSpPr>
          <p:nvPr/>
        </p:nvSpPr>
        <p:spPr>
          <a:xfrm>
            <a:off x="523875" y="971550"/>
            <a:ext cx="11001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El factor depende de cuántas bandas caben en una octava.</a:t>
            </a:r>
          </a:p>
        </p:txBody>
      </p:sp>
      <p:sp>
        <p:nvSpPr>
          <p:cNvPr id="4" name="U05-DG-009-octave">
            <a:extLst>
              <a:ext uri="{FF2B5EF4-FFF2-40B4-BE49-F238E27FC236}">
                <a16:creationId xmlns:a16="http://schemas.microsoft.com/office/drawing/2014/main" id="{2B11A739-4C6F-4CAC-851E-FEAB3C5D2020}"/>
              </a:ext>
            </a:extLst>
          </p:cNvPr>
          <p:cNvSpPr>
            <a:spLocks noGrp="1"/>
          </p:cNvSpPr>
          <p:nvPr/>
        </p:nvSpPr>
        <p:spPr>
          <a:xfrm>
            <a:off x="1762125" y="1381125"/>
            <a:ext cx="8667750" cy="1000125"/>
          </a:xfrm>
          <a:prstGeom prst="roundRect">
            <a:avLst>
              <a:gd name="adj" fmla="val 13333"/>
            </a:avLst>
          </a:prstGeom>
          <a:solidFill>
            <a:srgbClr val="DDEFF5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5" name="U05-DG-009-octave-title">
            <a:extLst>
              <a:ext uri="{FF2B5EF4-FFF2-40B4-BE49-F238E27FC236}">
                <a16:creationId xmlns:a16="http://schemas.microsoft.com/office/drawing/2014/main" id="{C5434918-F2E5-41D0-9F68-AF6CBAF277E0}"/>
              </a:ext>
            </a:extLst>
          </p:cNvPr>
          <p:cNvSpPr>
            <a:spLocks noGrp="1"/>
          </p:cNvSpPr>
          <p:nvPr/>
        </p:nvSpPr>
        <p:spPr>
          <a:xfrm>
            <a:off x="1933575" y="1504950"/>
            <a:ext cx="8324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Octava: 707,1 Hz → f_c=1000 Hz → 1414,2 Hz</a:t>
            </a:r>
          </a:p>
        </p:txBody>
      </p:sp>
      <p:sp>
        <p:nvSpPr>
          <p:cNvPr id="6" name="U05-DG-009-octave-body">
            <a:extLst>
              <a:ext uri="{FF2B5EF4-FFF2-40B4-BE49-F238E27FC236}">
                <a16:creationId xmlns:a16="http://schemas.microsoft.com/office/drawing/2014/main" id="{F246FE13-ED9C-4721-AC0C-F3F3DDF62060}"/>
              </a:ext>
            </a:extLst>
          </p:cNvPr>
          <p:cNvSpPr>
            <a:spLocks noGrp="1"/>
          </p:cNvSpPr>
          <p:nvPr/>
        </p:nvSpPr>
        <p:spPr>
          <a:xfrm>
            <a:off x="1933575" y="1828800"/>
            <a:ext cx="83248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f_H/f_L = 2</a:t>
            </a:r>
          </a:p>
        </p:txBody>
      </p:sp>
      <p:sp>
        <p:nvSpPr>
          <p:cNvPr id="7" name="U05-DG-009-third_low">
            <a:extLst>
              <a:ext uri="{FF2B5EF4-FFF2-40B4-BE49-F238E27FC236}">
                <a16:creationId xmlns:a16="http://schemas.microsoft.com/office/drawing/2014/main" id="{9551FBDE-C455-48C4-AE18-ADEF6224F860}"/>
              </a:ext>
            </a:extLst>
          </p:cNvPr>
          <p:cNvSpPr>
            <a:spLocks noGrp="1"/>
          </p:cNvSpPr>
          <p:nvPr/>
        </p:nvSpPr>
        <p:spPr>
          <a:xfrm>
            <a:off x="1762125" y="3333750"/>
            <a:ext cx="2667000" cy="1476375"/>
          </a:xfrm>
          <a:prstGeom prst="roundRect">
            <a:avLst>
              <a:gd name="adj" fmla="val 9032"/>
            </a:avLst>
          </a:prstGeom>
          <a:solidFill>
            <a:srgbClr val="EFF8FA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8" name="U05-DG-009-third_low-title">
            <a:extLst>
              <a:ext uri="{FF2B5EF4-FFF2-40B4-BE49-F238E27FC236}">
                <a16:creationId xmlns:a16="http://schemas.microsoft.com/office/drawing/2014/main" id="{2A6FDAB4-5364-4D69-8A00-7486023B9354}"/>
              </a:ext>
            </a:extLst>
          </p:cNvPr>
          <p:cNvSpPr>
            <a:spLocks noGrp="1"/>
          </p:cNvSpPr>
          <p:nvPr/>
        </p:nvSpPr>
        <p:spPr>
          <a:xfrm>
            <a:off x="1933575" y="3457575"/>
            <a:ext cx="23241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1.er tercio</a:t>
            </a:r>
          </a:p>
        </p:txBody>
      </p:sp>
      <p:sp>
        <p:nvSpPr>
          <p:cNvPr id="9" name="U05-DG-009-third_low-body">
            <a:extLst>
              <a:ext uri="{FF2B5EF4-FFF2-40B4-BE49-F238E27FC236}">
                <a16:creationId xmlns:a16="http://schemas.microsoft.com/office/drawing/2014/main" id="{A355F2FF-70B3-49C3-AA0F-BAA8D7D57BA6}"/>
              </a:ext>
            </a:extLst>
          </p:cNvPr>
          <p:cNvSpPr>
            <a:spLocks noGrp="1"/>
          </p:cNvSpPr>
          <p:nvPr/>
        </p:nvSpPr>
        <p:spPr>
          <a:xfrm>
            <a:off x="1933575" y="3886200"/>
            <a:ext cx="23241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f_c=793,7 Hz B=183,8 Hz</a:t>
            </a:r>
          </a:p>
        </p:txBody>
      </p:sp>
      <p:sp>
        <p:nvSpPr>
          <p:cNvPr id="10" name="U05-DG-009-third_mid">
            <a:extLst>
              <a:ext uri="{FF2B5EF4-FFF2-40B4-BE49-F238E27FC236}">
                <a16:creationId xmlns:a16="http://schemas.microsoft.com/office/drawing/2014/main" id="{C6299698-1CB8-42E5-9822-80B548C9524D}"/>
              </a:ext>
            </a:extLst>
          </p:cNvPr>
          <p:cNvSpPr>
            <a:spLocks noGrp="1"/>
          </p:cNvSpPr>
          <p:nvPr/>
        </p:nvSpPr>
        <p:spPr>
          <a:xfrm>
            <a:off x="4762500" y="3333750"/>
            <a:ext cx="2667000" cy="1476375"/>
          </a:xfrm>
          <a:prstGeom prst="roundRect">
            <a:avLst>
              <a:gd name="adj" fmla="val 9032"/>
            </a:avLst>
          </a:prstGeom>
          <a:solidFill>
            <a:srgbClr val="F3F6F8"/>
          </a:solidFill>
          <a:ln w="19050">
            <a:solidFill>
              <a:srgbClr val="8291A3"/>
            </a:solidFill>
            <a:prstDash val="solid"/>
          </a:ln>
        </p:spPr>
      </p:sp>
      <p:sp>
        <p:nvSpPr>
          <p:cNvPr id="11" name="U05-DG-009-third_mid-title">
            <a:extLst>
              <a:ext uri="{FF2B5EF4-FFF2-40B4-BE49-F238E27FC236}">
                <a16:creationId xmlns:a16="http://schemas.microsoft.com/office/drawing/2014/main" id="{95026D92-9718-4BE9-B18C-049817B365AB}"/>
              </a:ext>
            </a:extLst>
          </p:cNvPr>
          <p:cNvSpPr>
            <a:spLocks noGrp="1"/>
          </p:cNvSpPr>
          <p:nvPr/>
        </p:nvSpPr>
        <p:spPr>
          <a:xfrm>
            <a:off x="4933950" y="3457575"/>
            <a:ext cx="23241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2.º tercio</a:t>
            </a:r>
          </a:p>
        </p:txBody>
      </p:sp>
      <p:sp>
        <p:nvSpPr>
          <p:cNvPr id="12" name="U05-DG-009-third_mid-body">
            <a:extLst>
              <a:ext uri="{FF2B5EF4-FFF2-40B4-BE49-F238E27FC236}">
                <a16:creationId xmlns:a16="http://schemas.microsoft.com/office/drawing/2014/main" id="{8A01A163-0F60-4E26-899A-D71DB5EFA8D4}"/>
              </a:ext>
            </a:extLst>
          </p:cNvPr>
          <p:cNvSpPr>
            <a:spLocks noGrp="1"/>
          </p:cNvSpPr>
          <p:nvPr/>
        </p:nvSpPr>
        <p:spPr>
          <a:xfrm>
            <a:off x="4933950" y="3886200"/>
            <a:ext cx="23241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f_c=1000 Hz B=231,6 Hz</a:t>
            </a:r>
          </a:p>
        </p:txBody>
      </p:sp>
      <p:sp>
        <p:nvSpPr>
          <p:cNvPr id="13" name="U05-DG-009-third_high">
            <a:extLst>
              <a:ext uri="{FF2B5EF4-FFF2-40B4-BE49-F238E27FC236}">
                <a16:creationId xmlns:a16="http://schemas.microsoft.com/office/drawing/2014/main" id="{F718C57C-367D-4DDE-9D9E-1C70D5E68DD7}"/>
              </a:ext>
            </a:extLst>
          </p:cNvPr>
          <p:cNvSpPr>
            <a:spLocks noGrp="1"/>
          </p:cNvSpPr>
          <p:nvPr/>
        </p:nvSpPr>
        <p:spPr>
          <a:xfrm>
            <a:off x="7762875" y="3333750"/>
            <a:ext cx="2667000" cy="1476375"/>
          </a:xfrm>
          <a:prstGeom prst="roundRect">
            <a:avLst>
              <a:gd name="adj" fmla="val 9032"/>
            </a:avLst>
          </a:prstGeom>
          <a:solidFill>
            <a:srgbClr val="E3F2ED"/>
          </a:solidFill>
          <a:ln w="19050">
            <a:solidFill>
              <a:srgbClr val="2D7867"/>
            </a:solidFill>
            <a:prstDash val="solid"/>
          </a:ln>
        </p:spPr>
      </p:sp>
      <p:sp>
        <p:nvSpPr>
          <p:cNvPr id="14" name="U05-DG-009-third_high-title">
            <a:extLst>
              <a:ext uri="{FF2B5EF4-FFF2-40B4-BE49-F238E27FC236}">
                <a16:creationId xmlns:a16="http://schemas.microsoft.com/office/drawing/2014/main" id="{7AC07E8B-529B-46A3-9525-77A7A4E8409A}"/>
              </a:ext>
            </a:extLst>
          </p:cNvPr>
          <p:cNvSpPr>
            <a:spLocks noGrp="1"/>
          </p:cNvSpPr>
          <p:nvPr/>
        </p:nvSpPr>
        <p:spPr>
          <a:xfrm>
            <a:off x="7934325" y="3457575"/>
            <a:ext cx="23241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3.er tercio</a:t>
            </a:r>
          </a:p>
        </p:txBody>
      </p:sp>
      <p:sp>
        <p:nvSpPr>
          <p:cNvPr id="15" name="U05-DG-009-third_high-body">
            <a:extLst>
              <a:ext uri="{FF2B5EF4-FFF2-40B4-BE49-F238E27FC236}">
                <a16:creationId xmlns:a16="http://schemas.microsoft.com/office/drawing/2014/main" id="{1FD36218-4093-46A5-880B-E988EFF445EE}"/>
              </a:ext>
            </a:extLst>
          </p:cNvPr>
          <p:cNvSpPr>
            <a:spLocks noGrp="1"/>
          </p:cNvSpPr>
          <p:nvPr/>
        </p:nvSpPr>
        <p:spPr>
          <a:xfrm>
            <a:off x="7934325" y="3886200"/>
            <a:ext cx="23241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f_c=1259,9 Hz B=291,8 Hz</a:t>
            </a:r>
          </a:p>
        </p:txBody>
      </p:sp>
      <p:cxnSp>
        <p:nvCxnSpPr>
          <p:cNvPr id="36" name="U05-DG-009-oct_1"/>
          <p:cNvCxnSpPr>
            <a:stCxn id="7" idx="3"/>
            <a:endCxn id="10" idx="1"/>
          </p:cNvCxnSpPr>
          <p:nvPr/>
        </p:nvCxnSpPr>
        <p:spPr>
          <a:xfrm>
            <a:off x="4429125" y="4071938"/>
            <a:ext cx="333375" cy="0"/>
          </a:xfrm>
          <a:prstGeom prst="straightConnector1">
            <a:avLst/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cxnSp>
        <p:nvCxnSpPr>
          <p:cNvPr id="37" name="U05-DG-009-oct_2"/>
          <p:cNvCxnSpPr>
            <a:stCxn id="10" idx="3"/>
            <a:endCxn id="13" idx="1"/>
          </p:cNvCxnSpPr>
          <p:nvPr/>
        </p:nvCxnSpPr>
        <p:spPr>
          <a:xfrm>
            <a:off x="7429500" y="4071938"/>
            <a:ext cx="333375" cy="0"/>
          </a:xfrm>
          <a:prstGeom prst="straightConnector1">
            <a:avLst/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sp>
        <p:nvSpPr>
          <p:cNvPr id="18" name="diagram-scale-note">
            <a:extLst>
              <a:ext uri="{FF2B5EF4-FFF2-40B4-BE49-F238E27FC236}">
                <a16:creationId xmlns:a16="http://schemas.microsoft.com/office/drawing/2014/main" id="{9D1A06F6-22AA-4DCC-B6DC-B00DAA5FD207}"/>
              </a:ext>
            </a:extLst>
          </p:cNvPr>
          <p:cNvSpPr>
            <a:spLocks noGrp="1"/>
          </p:cNvSpPr>
          <p:nvPr/>
        </p:nvSpPr>
        <p:spPr>
          <a:xfrm>
            <a:off x="552450" y="5829300"/>
            <a:ext cx="3905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05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Esquema conceptual · no está a escala</a:t>
            </a:r>
          </a:p>
        </p:txBody>
      </p:sp>
      <p:sp>
        <p:nvSpPr>
          <p:cNvPr id="19" name="caption">
            <a:extLst>
              <a:ext uri="{FF2B5EF4-FFF2-40B4-BE49-F238E27FC236}">
                <a16:creationId xmlns:a16="http://schemas.microsoft.com/office/drawing/2014/main" id="{CB13EBBF-5B0E-4EB4-B1DF-6EB5ACA368E6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876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Los límites son recíprocos respecto del centro.</a:t>
            </a:r>
          </a:p>
        </p:txBody>
      </p:sp>
      <p:sp>
        <p:nvSpPr>
          <p:cNvPr id="20" name="credit">
            <a:extLst>
              <a:ext uri="{FF2B5EF4-FFF2-40B4-BE49-F238E27FC236}">
                <a16:creationId xmlns:a16="http://schemas.microsoft.com/office/drawing/2014/main" id="{04213224-8CD4-48A2-AD93-58B9138A7520}"/>
              </a:ext>
            </a:extLst>
          </p:cNvPr>
          <p:cNvSpPr>
            <a:spLocks noGrp="1"/>
          </p:cNvSpPr>
          <p:nvPr/>
        </p:nvSpPr>
        <p:spPr>
          <a:xfrm>
            <a:off x="9382125" y="60769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5.8, ec. 5.18.</a:t>
            </a:r>
          </a:p>
        </p:txBody>
      </p:sp>
      <p:sp>
        <p:nvSpPr>
          <p:cNvPr id="16" name="slide-alt-summary" descr="Dos ecuaciones apuntan a los límites inferior y superior de un eje de banda.">
            <a:extLst>
              <a:ext uri="{FF2B5EF4-FFF2-40B4-BE49-F238E27FC236}">
                <a16:creationId xmlns:a16="http://schemas.microsoft.com/office/drawing/2014/main" id="{862643E9-24E3-E775-0A8C-EB791701AC3A}"/>
              </a:ext>
            </a:extLst>
          </p:cNvPr>
          <p:cNvSpPr/>
          <p:nvPr/>
        </p:nvSpPr>
        <p:spPr>
          <a:xfrm>
            <a:off x="12700" y="12700"/>
            <a:ext cx="12700" cy="12700"/>
          </a:xfrm>
          <a:prstGeom prst="rect">
            <a:avLst/>
          </a:prstGeom>
          <a:noFill/>
          <a:ln w="19050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eyebrow">
            <a:extLst>
              <a:ext uri="{FF2B5EF4-FFF2-40B4-BE49-F238E27FC236}">
                <a16:creationId xmlns:a16="http://schemas.microsoft.com/office/drawing/2014/main" id="{911AAC24-7C94-49B7-B1EF-011EB5572D6F}"/>
              </a:ext>
            </a:extLst>
          </p:cNvPr>
          <p:cNvSpPr>
            <a:spLocks noGrp="1"/>
          </p:cNvSpPr>
          <p:nvPr/>
        </p:nvSpPr>
        <p:spPr>
          <a:xfrm>
            <a:off x="514350" y="2095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090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F322DE1A-6040-4E32-BC8B-86E91B729CF6}"/>
              </a:ext>
            </a:extLst>
          </p:cNvPr>
          <p:cNvSpPr>
            <a:spLocks noGrp="1"/>
          </p:cNvSpPr>
          <p:nvPr/>
        </p:nvSpPr>
        <p:spPr>
          <a:xfrm>
            <a:off x="495300" y="428625"/>
            <a:ext cx="11191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El ancho en hertz es B=f_H−f_L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3B7F95C1-1607-4AC5-8C40-46C07AB3D515}"/>
              </a:ext>
            </a:extLst>
          </p:cNvPr>
          <p:cNvSpPr>
            <a:spLocks noGrp="1"/>
          </p:cNvSpPr>
          <p:nvPr/>
        </p:nvSpPr>
        <p:spPr>
          <a:xfrm>
            <a:off x="523875" y="971550"/>
            <a:ext cx="11001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Igual ancho relativo produce mayor ancho absoluto a frecuencias altas.</a:t>
            </a:r>
          </a:p>
        </p:txBody>
      </p:sp>
      <p:sp>
        <p:nvSpPr>
          <p:cNvPr id="4" name="U05-DG-009-octave">
            <a:extLst>
              <a:ext uri="{FF2B5EF4-FFF2-40B4-BE49-F238E27FC236}">
                <a16:creationId xmlns:a16="http://schemas.microsoft.com/office/drawing/2014/main" id="{5E8DC1EE-BCC5-4132-A158-577D58FDF8EB}"/>
              </a:ext>
            </a:extLst>
          </p:cNvPr>
          <p:cNvSpPr>
            <a:spLocks noGrp="1"/>
          </p:cNvSpPr>
          <p:nvPr/>
        </p:nvSpPr>
        <p:spPr>
          <a:xfrm>
            <a:off x="1762125" y="1381125"/>
            <a:ext cx="8667750" cy="1000125"/>
          </a:xfrm>
          <a:prstGeom prst="roundRect">
            <a:avLst>
              <a:gd name="adj" fmla="val 13333"/>
            </a:avLst>
          </a:prstGeom>
          <a:solidFill>
            <a:srgbClr val="DDEFF5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5" name="U05-DG-009-octave-title">
            <a:extLst>
              <a:ext uri="{FF2B5EF4-FFF2-40B4-BE49-F238E27FC236}">
                <a16:creationId xmlns:a16="http://schemas.microsoft.com/office/drawing/2014/main" id="{D1D62E86-1012-4889-A0D2-211049B2ADBD}"/>
              </a:ext>
            </a:extLst>
          </p:cNvPr>
          <p:cNvSpPr>
            <a:spLocks noGrp="1"/>
          </p:cNvSpPr>
          <p:nvPr/>
        </p:nvSpPr>
        <p:spPr>
          <a:xfrm>
            <a:off x="1933575" y="1504950"/>
            <a:ext cx="8324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Octava: 707,1 Hz → f_c=1000 Hz → 1414,2 Hz</a:t>
            </a:r>
          </a:p>
        </p:txBody>
      </p:sp>
      <p:sp>
        <p:nvSpPr>
          <p:cNvPr id="6" name="U05-DG-009-octave-body">
            <a:extLst>
              <a:ext uri="{FF2B5EF4-FFF2-40B4-BE49-F238E27FC236}">
                <a16:creationId xmlns:a16="http://schemas.microsoft.com/office/drawing/2014/main" id="{542B14AE-2921-4D76-85A9-EE4AC4D751B8}"/>
              </a:ext>
            </a:extLst>
          </p:cNvPr>
          <p:cNvSpPr>
            <a:spLocks noGrp="1"/>
          </p:cNvSpPr>
          <p:nvPr/>
        </p:nvSpPr>
        <p:spPr>
          <a:xfrm>
            <a:off x="1933575" y="1828800"/>
            <a:ext cx="83248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f_H/f_L = 2</a:t>
            </a:r>
          </a:p>
        </p:txBody>
      </p:sp>
      <p:sp>
        <p:nvSpPr>
          <p:cNvPr id="7" name="U05-DG-009-third_low">
            <a:extLst>
              <a:ext uri="{FF2B5EF4-FFF2-40B4-BE49-F238E27FC236}">
                <a16:creationId xmlns:a16="http://schemas.microsoft.com/office/drawing/2014/main" id="{5195FA6A-78B0-4021-A6C8-F845A019A522}"/>
              </a:ext>
            </a:extLst>
          </p:cNvPr>
          <p:cNvSpPr>
            <a:spLocks noGrp="1"/>
          </p:cNvSpPr>
          <p:nvPr/>
        </p:nvSpPr>
        <p:spPr>
          <a:xfrm>
            <a:off x="1762125" y="3333750"/>
            <a:ext cx="2667000" cy="1476375"/>
          </a:xfrm>
          <a:prstGeom prst="roundRect">
            <a:avLst>
              <a:gd name="adj" fmla="val 9032"/>
            </a:avLst>
          </a:prstGeom>
          <a:solidFill>
            <a:srgbClr val="EFF8FA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8" name="U05-DG-009-third_low-title">
            <a:extLst>
              <a:ext uri="{FF2B5EF4-FFF2-40B4-BE49-F238E27FC236}">
                <a16:creationId xmlns:a16="http://schemas.microsoft.com/office/drawing/2014/main" id="{954E34DC-33D8-464D-BCC5-5CA2061E9EB7}"/>
              </a:ext>
            </a:extLst>
          </p:cNvPr>
          <p:cNvSpPr>
            <a:spLocks noGrp="1"/>
          </p:cNvSpPr>
          <p:nvPr/>
        </p:nvSpPr>
        <p:spPr>
          <a:xfrm>
            <a:off x="1933575" y="3457575"/>
            <a:ext cx="23241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1.er tercio</a:t>
            </a:r>
          </a:p>
        </p:txBody>
      </p:sp>
      <p:sp>
        <p:nvSpPr>
          <p:cNvPr id="9" name="U05-DG-009-third_low-body">
            <a:extLst>
              <a:ext uri="{FF2B5EF4-FFF2-40B4-BE49-F238E27FC236}">
                <a16:creationId xmlns:a16="http://schemas.microsoft.com/office/drawing/2014/main" id="{D74CB560-4870-4924-AB44-0EACA4EB340C}"/>
              </a:ext>
            </a:extLst>
          </p:cNvPr>
          <p:cNvSpPr>
            <a:spLocks noGrp="1"/>
          </p:cNvSpPr>
          <p:nvPr/>
        </p:nvSpPr>
        <p:spPr>
          <a:xfrm>
            <a:off x="1933575" y="3886200"/>
            <a:ext cx="23241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f_c=793,7 Hz B=183,8 Hz</a:t>
            </a:r>
          </a:p>
        </p:txBody>
      </p:sp>
      <p:sp>
        <p:nvSpPr>
          <p:cNvPr id="10" name="U05-DG-009-third_mid">
            <a:extLst>
              <a:ext uri="{FF2B5EF4-FFF2-40B4-BE49-F238E27FC236}">
                <a16:creationId xmlns:a16="http://schemas.microsoft.com/office/drawing/2014/main" id="{FEC30EA1-0F53-4F52-99B5-B2D839025A0A}"/>
              </a:ext>
            </a:extLst>
          </p:cNvPr>
          <p:cNvSpPr>
            <a:spLocks noGrp="1"/>
          </p:cNvSpPr>
          <p:nvPr/>
        </p:nvSpPr>
        <p:spPr>
          <a:xfrm>
            <a:off x="4762500" y="3333750"/>
            <a:ext cx="2667000" cy="1476375"/>
          </a:xfrm>
          <a:prstGeom prst="roundRect">
            <a:avLst>
              <a:gd name="adj" fmla="val 9032"/>
            </a:avLst>
          </a:prstGeom>
          <a:solidFill>
            <a:srgbClr val="F3F6F8"/>
          </a:solidFill>
          <a:ln w="19050">
            <a:solidFill>
              <a:srgbClr val="8291A3"/>
            </a:solidFill>
            <a:prstDash val="solid"/>
          </a:ln>
        </p:spPr>
      </p:sp>
      <p:sp>
        <p:nvSpPr>
          <p:cNvPr id="11" name="U05-DG-009-third_mid-title">
            <a:extLst>
              <a:ext uri="{FF2B5EF4-FFF2-40B4-BE49-F238E27FC236}">
                <a16:creationId xmlns:a16="http://schemas.microsoft.com/office/drawing/2014/main" id="{EF02E66E-E572-4D07-BCF0-FF65FD908EA9}"/>
              </a:ext>
            </a:extLst>
          </p:cNvPr>
          <p:cNvSpPr>
            <a:spLocks noGrp="1"/>
          </p:cNvSpPr>
          <p:nvPr/>
        </p:nvSpPr>
        <p:spPr>
          <a:xfrm>
            <a:off x="4933950" y="3457575"/>
            <a:ext cx="23241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2.º tercio</a:t>
            </a:r>
          </a:p>
        </p:txBody>
      </p:sp>
      <p:sp>
        <p:nvSpPr>
          <p:cNvPr id="12" name="U05-DG-009-third_mid-body">
            <a:extLst>
              <a:ext uri="{FF2B5EF4-FFF2-40B4-BE49-F238E27FC236}">
                <a16:creationId xmlns:a16="http://schemas.microsoft.com/office/drawing/2014/main" id="{8225AB61-4DE6-4070-92B7-C7C98C23DB9A}"/>
              </a:ext>
            </a:extLst>
          </p:cNvPr>
          <p:cNvSpPr>
            <a:spLocks noGrp="1"/>
          </p:cNvSpPr>
          <p:nvPr/>
        </p:nvSpPr>
        <p:spPr>
          <a:xfrm>
            <a:off x="4933950" y="3886200"/>
            <a:ext cx="23241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f_c=1000 Hz B=231,6 Hz</a:t>
            </a:r>
          </a:p>
        </p:txBody>
      </p:sp>
      <p:sp>
        <p:nvSpPr>
          <p:cNvPr id="13" name="U05-DG-009-third_high">
            <a:extLst>
              <a:ext uri="{FF2B5EF4-FFF2-40B4-BE49-F238E27FC236}">
                <a16:creationId xmlns:a16="http://schemas.microsoft.com/office/drawing/2014/main" id="{50BD79EC-380A-4562-9B7A-DC1A3DD7F58F}"/>
              </a:ext>
            </a:extLst>
          </p:cNvPr>
          <p:cNvSpPr>
            <a:spLocks noGrp="1"/>
          </p:cNvSpPr>
          <p:nvPr/>
        </p:nvSpPr>
        <p:spPr>
          <a:xfrm>
            <a:off x="7762875" y="3333750"/>
            <a:ext cx="2667000" cy="1476375"/>
          </a:xfrm>
          <a:prstGeom prst="roundRect">
            <a:avLst>
              <a:gd name="adj" fmla="val 9032"/>
            </a:avLst>
          </a:prstGeom>
          <a:solidFill>
            <a:srgbClr val="E3F2ED"/>
          </a:solidFill>
          <a:ln w="19050">
            <a:solidFill>
              <a:srgbClr val="2D7867"/>
            </a:solidFill>
            <a:prstDash val="solid"/>
          </a:ln>
        </p:spPr>
      </p:sp>
      <p:sp>
        <p:nvSpPr>
          <p:cNvPr id="14" name="U05-DG-009-third_high-title">
            <a:extLst>
              <a:ext uri="{FF2B5EF4-FFF2-40B4-BE49-F238E27FC236}">
                <a16:creationId xmlns:a16="http://schemas.microsoft.com/office/drawing/2014/main" id="{493BA426-23F0-4EC5-B5FC-0A32C8B28B0B}"/>
              </a:ext>
            </a:extLst>
          </p:cNvPr>
          <p:cNvSpPr>
            <a:spLocks noGrp="1"/>
          </p:cNvSpPr>
          <p:nvPr/>
        </p:nvSpPr>
        <p:spPr>
          <a:xfrm>
            <a:off x="7934325" y="3457575"/>
            <a:ext cx="23241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3.er tercio</a:t>
            </a:r>
          </a:p>
        </p:txBody>
      </p:sp>
      <p:sp>
        <p:nvSpPr>
          <p:cNvPr id="15" name="U05-DG-009-third_high-body">
            <a:extLst>
              <a:ext uri="{FF2B5EF4-FFF2-40B4-BE49-F238E27FC236}">
                <a16:creationId xmlns:a16="http://schemas.microsoft.com/office/drawing/2014/main" id="{CDD8BF90-E34B-4F3A-B329-F4474350EE3A}"/>
              </a:ext>
            </a:extLst>
          </p:cNvPr>
          <p:cNvSpPr>
            <a:spLocks noGrp="1"/>
          </p:cNvSpPr>
          <p:nvPr/>
        </p:nvSpPr>
        <p:spPr>
          <a:xfrm>
            <a:off x="7934325" y="3886200"/>
            <a:ext cx="23241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f_c=1259,9 Hz B=291,8 Hz</a:t>
            </a:r>
          </a:p>
        </p:txBody>
      </p:sp>
      <p:cxnSp>
        <p:nvCxnSpPr>
          <p:cNvPr id="36" name="U05-DG-009-oct_1"/>
          <p:cNvCxnSpPr>
            <a:stCxn id="7" idx="3"/>
            <a:endCxn id="10" idx="1"/>
          </p:cNvCxnSpPr>
          <p:nvPr/>
        </p:nvCxnSpPr>
        <p:spPr>
          <a:xfrm>
            <a:off x="4429125" y="4071938"/>
            <a:ext cx="333375" cy="0"/>
          </a:xfrm>
          <a:prstGeom prst="straightConnector1">
            <a:avLst/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cxnSp>
        <p:nvCxnSpPr>
          <p:cNvPr id="37" name="U05-DG-009-oct_2"/>
          <p:cNvCxnSpPr>
            <a:stCxn id="10" idx="3"/>
            <a:endCxn id="13" idx="1"/>
          </p:cNvCxnSpPr>
          <p:nvPr/>
        </p:nvCxnSpPr>
        <p:spPr>
          <a:xfrm>
            <a:off x="7429500" y="4071938"/>
            <a:ext cx="333375" cy="0"/>
          </a:xfrm>
          <a:prstGeom prst="straightConnector1">
            <a:avLst/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sp>
        <p:nvSpPr>
          <p:cNvPr id="18" name="diagram-scale-note">
            <a:extLst>
              <a:ext uri="{FF2B5EF4-FFF2-40B4-BE49-F238E27FC236}">
                <a16:creationId xmlns:a16="http://schemas.microsoft.com/office/drawing/2014/main" id="{3E873BAB-ECD7-4BDE-A6A8-D7616AEA1E2E}"/>
              </a:ext>
            </a:extLst>
          </p:cNvPr>
          <p:cNvSpPr>
            <a:spLocks noGrp="1"/>
          </p:cNvSpPr>
          <p:nvPr/>
        </p:nvSpPr>
        <p:spPr>
          <a:xfrm>
            <a:off x="552450" y="5829300"/>
            <a:ext cx="3905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05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Esquema conceptual · no está a escala</a:t>
            </a:r>
          </a:p>
        </p:txBody>
      </p:sp>
      <p:sp>
        <p:nvSpPr>
          <p:cNvPr id="19" name="caption">
            <a:extLst>
              <a:ext uri="{FF2B5EF4-FFF2-40B4-BE49-F238E27FC236}">
                <a16:creationId xmlns:a16="http://schemas.microsoft.com/office/drawing/2014/main" id="{17F4E745-1D3F-4208-BBDF-CF16615B749C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876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Una razón constante no implica diferencia constante.</a:t>
            </a:r>
          </a:p>
        </p:txBody>
      </p:sp>
      <p:sp>
        <p:nvSpPr>
          <p:cNvPr id="20" name="credit">
            <a:extLst>
              <a:ext uri="{FF2B5EF4-FFF2-40B4-BE49-F238E27FC236}">
                <a16:creationId xmlns:a16="http://schemas.microsoft.com/office/drawing/2014/main" id="{467A0904-6F32-4161-BD3B-DBA3D9EA0DF7}"/>
              </a:ext>
            </a:extLst>
          </p:cNvPr>
          <p:cNvSpPr>
            <a:spLocks noGrp="1"/>
          </p:cNvSpPr>
          <p:nvPr/>
        </p:nvSpPr>
        <p:spPr>
          <a:xfrm>
            <a:off x="9382125" y="60769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PO; TEX 5.8, ec. 5.19.</a:t>
            </a:r>
          </a:p>
        </p:txBody>
      </p:sp>
      <p:sp>
        <p:nvSpPr>
          <p:cNvPr id="16" name="slide-alt-summary" descr="Dos bandas con igual razón muestran anchos distintos medidos en hertz.">
            <a:extLst>
              <a:ext uri="{FF2B5EF4-FFF2-40B4-BE49-F238E27FC236}">
                <a16:creationId xmlns:a16="http://schemas.microsoft.com/office/drawing/2014/main" id="{B620EF3B-524C-F8F2-8D09-B5148EF70765}"/>
              </a:ext>
            </a:extLst>
          </p:cNvPr>
          <p:cNvSpPr/>
          <p:nvPr/>
        </p:nvSpPr>
        <p:spPr>
          <a:xfrm>
            <a:off x="12700" y="12700"/>
            <a:ext cx="12700" cy="12700"/>
          </a:xfrm>
          <a:prstGeom prst="rect">
            <a:avLst/>
          </a:prstGeom>
          <a:noFill/>
          <a:ln w="19050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eyebrow">
            <a:extLst>
              <a:ext uri="{FF2B5EF4-FFF2-40B4-BE49-F238E27FC236}">
                <a16:creationId xmlns:a16="http://schemas.microsoft.com/office/drawing/2014/main" id="{4BFD1735-22D0-4CB8-BC5C-916025AD7EF4}"/>
              </a:ext>
            </a:extLst>
          </p:cNvPr>
          <p:cNvSpPr>
            <a:spLocks noGrp="1"/>
          </p:cNvSpPr>
          <p:nvPr/>
        </p:nvSpPr>
        <p:spPr>
          <a:xfrm>
            <a:off x="514350" y="2095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091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FAB50D6E-FA11-4BCD-8700-6D75A66A9B12}"/>
              </a:ext>
            </a:extLst>
          </p:cNvPr>
          <p:cNvSpPr>
            <a:spLocks noGrp="1"/>
          </p:cNvSpPr>
          <p:nvPr/>
        </p:nvSpPr>
        <p:spPr>
          <a:xfrm>
            <a:off x="495300" y="428625"/>
            <a:ext cx="11191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Tres tercios completan una octava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AB33FA69-FBFA-45CF-B644-19561AD2169B}"/>
              </a:ext>
            </a:extLst>
          </p:cNvPr>
          <p:cNvSpPr>
            <a:spLocks noGrp="1"/>
          </p:cNvSpPr>
          <p:nvPr/>
        </p:nvSpPr>
        <p:spPr>
          <a:xfrm>
            <a:off x="523875" y="971550"/>
            <a:ext cx="11001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Igual longitud logarítmica; distinto ancho en hertz.</a:t>
            </a:r>
          </a:p>
        </p:txBody>
      </p:sp>
      <p:sp>
        <p:nvSpPr>
          <p:cNvPr id="4" name="U05-DG-009-octave">
            <a:extLst>
              <a:ext uri="{FF2B5EF4-FFF2-40B4-BE49-F238E27FC236}">
                <a16:creationId xmlns:a16="http://schemas.microsoft.com/office/drawing/2014/main" id="{7C51723B-91F6-4483-9272-A728068ED4A7}"/>
              </a:ext>
            </a:extLst>
          </p:cNvPr>
          <p:cNvSpPr>
            <a:spLocks noGrp="1"/>
          </p:cNvSpPr>
          <p:nvPr/>
        </p:nvSpPr>
        <p:spPr>
          <a:xfrm>
            <a:off x="1762125" y="1381125"/>
            <a:ext cx="8667750" cy="1000125"/>
          </a:xfrm>
          <a:prstGeom prst="roundRect">
            <a:avLst>
              <a:gd name="adj" fmla="val 13333"/>
            </a:avLst>
          </a:prstGeom>
          <a:solidFill>
            <a:srgbClr val="DDEFF5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5" name="U05-DG-009-octave-title">
            <a:extLst>
              <a:ext uri="{FF2B5EF4-FFF2-40B4-BE49-F238E27FC236}">
                <a16:creationId xmlns:a16="http://schemas.microsoft.com/office/drawing/2014/main" id="{C2EA4E7F-B972-4EE8-B87E-F03DAF6B7FFD}"/>
              </a:ext>
            </a:extLst>
          </p:cNvPr>
          <p:cNvSpPr>
            <a:spLocks noGrp="1"/>
          </p:cNvSpPr>
          <p:nvPr/>
        </p:nvSpPr>
        <p:spPr>
          <a:xfrm>
            <a:off x="1933575" y="1504950"/>
            <a:ext cx="8324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Octava: 707,1 Hz → f_c=1000 Hz → 1414,2 Hz</a:t>
            </a:r>
          </a:p>
        </p:txBody>
      </p:sp>
      <p:sp>
        <p:nvSpPr>
          <p:cNvPr id="6" name="U05-DG-009-octave-body">
            <a:extLst>
              <a:ext uri="{FF2B5EF4-FFF2-40B4-BE49-F238E27FC236}">
                <a16:creationId xmlns:a16="http://schemas.microsoft.com/office/drawing/2014/main" id="{E7E57613-034D-487C-B2A4-788C2627A848}"/>
              </a:ext>
            </a:extLst>
          </p:cNvPr>
          <p:cNvSpPr>
            <a:spLocks noGrp="1"/>
          </p:cNvSpPr>
          <p:nvPr/>
        </p:nvSpPr>
        <p:spPr>
          <a:xfrm>
            <a:off x="1933575" y="1828800"/>
            <a:ext cx="83248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f_H/f_L = 2</a:t>
            </a:r>
          </a:p>
        </p:txBody>
      </p:sp>
      <p:sp>
        <p:nvSpPr>
          <p:cNvPr id="7" name="U05-DG-009-third_low">
            <a:extLst>
              <a:ext uri="{FF2B5EF4-FFF2-40B4-BE49-F238E27FC236}">
                <a16:creationId xmlns:a16="http://schemas.microsoft.com/office/drawing/2014/main" id="{9E4C42C8-3A81-45B5-BB28-6DC282FCDA8F}"/>
              </a:ext>
            </a:extLst>
          </p:cNvPr>
          <p:cNvSpPr>
            <a:spLocks noGrp="1"/>
          </p:cNvSpPr>
          <p:nvPr/>
        </p:nvSpPr>
        <p:spPr>
          <a:xfrm>
            <a:off x="1762125" y="3333750"/>
            <a:ext cx="2667000" cy="1476375"/>
          </a:xfrm>
          <a:prstGeom prst="roundRect">
            <a:avLst>
              <a:gd name="adj" fmla="val 9032"/>
            </a:avLst>
          </a:prstGeom>
          <a:solidFill>
            <a:srgbClr val="EFF8FA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8" name="U05-DG-009-third_low-title">
            <a:extLst>
              <a:ext uri="{FF2B5EF4-FFF2-40B4-BE49-F238E27FC236}">
                <a16:creationId xmlns:a16="http://schemas.microsoft.com/office/drawing/2014/main" id="{8CA23CE1-4EF2-4E90-AB18-11F68EEC2CA4}"/>
              </a:ext>
            </a:extLst>
          </p:cNvPr>
          <p:cNvSpPr>
            <a:spLocks noGrp="1"/>
          </p:cNvSpPr>
          <p:nvPr/>
        </p:nvSpPr>
        <p:spPr>
          <a:xfrm>
            <a:off x="1933575" y="3457575"/>
            <a:ext cx="23241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1.er tercio</a:t>
            </a:r>
          </a:p>
        </p:txBody>
      </p:sp>
      <p:sp>
        <p:nvSpPr>
          <p:cNvPr id="9" name="U05-DG-009-third_low-body">
            <a:extLst>
              <a:ext uri="{FF2B5EF4-FFF2-40B4-BE49-F238E27FC236}">
                <a16:creationId xmlns:a16="http://schemas.microsoft.com/office/drawing/2014/main" id="{F82EEB67-E608-48F3-A3EB-372B76419E38}"/>
              </a:ext>
            </a:extLst>
          </p:cNvPr>
          <p:cNvSpPr>
            <a:spLocks noGrp="1"/>
          </p:cNvSpPr>
          <p:nvPr/>
        </p:nvSpPr>
        <p:spPr>
          <a:xfrm>
            <a:off x="1933575" y="3886200"/>
            <a:ext cx="23241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f_c=793,7 Hz B=183,8 Hz</a:t>
            </a:r>
          </a:p>
        </p:txBody>
      </p:sp>
      <p:sp>
        <p:nvSpPr>
          <p:cNvPr id="10" name="U05-DG-009-third_mid">
            <a:extLst>
              <a:ext uri="{FF2B5EF4-FFF2-40B4-BE49-F238E27FC236}">
                <a16:creationId xmlns:a16="http://schemas.microsoft.com/office/drawing/2014/main" id="{F225CB80-7CB3-4106-B4A9-2B51156A58F9}"/>
              </a:ext>
            </a:extLst>
          </p:cNvPr>
          <p:cNvSpPr>
            <a:spLocks noGrp="1"/>
          </p:cNvSpPr>
          <p:nvPr/>
        </p:nvSpPr>
        <p:spPr>
          <a:xfrm>
            <a:off x="4762500" y="3333750"/>
            <a:ext cx="2667000" cy="1476375"/>
          </a:xfrm>
          <a:prstGeom prst="roundRect">
            <a:avLst>
              <a:gd name="adj" fmla="val 9032"/>
            </a:avLst>
          </a:prstGeom>
          <a:solidFill>
            <a:srgbClr val="F3F6F8"/>
          </a:solidFill>
          <a:ln w="19050">
            <a:solidFill>
              <a:srgbClr val="8291A3"/>
            </a:solidFill>
            <a:prstDash val="solid"/>
          </a:ln>
        </p:spPr>
      </p:sp>
      <p:sp>
        <p:nvSpPr>
          <p:cNvPr id="11" name="U05-DG-009-third_mid-title">
            <a:extLst>
              <a:ext uri="{FF2B5EF4-FFF2-40B4-BE49-F238E27FC236}">
                <a16:creationId xmlns:a16="http://schemas.microsoft.com/office/drawing/2014/main" id="{EFED84C9-3108-44B7-8270-9319644B058F}"/>
              </a:ext>
            </a:extLst>
          </p:cNvPr>
          <p:cNvSpPr>
            <a:spLocks noGrp="1"/>
          </p:cNvSpPr>
          <p:nvPr/>
        </p:nvSpPr>
        <p:spPr>
          <a:xfrm>
            <a:off x="4933950" y="3457575"/>
            <a:ext cx="23241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2.º tercio</a:t>
            </a:r>
          </a:p>
        </p:txBody>
      </p:sp>
      <p:sp>
        <p:nvSpPr>
          <p:cNvPr id="12" name="U05-DG-009-third_mid-body">
            <a:extLst>
              <a:ext uri="{FF2B5EF4-FFF2-40B4-BE49-F238E27FC236}">
                <a16:creationId xmlns:a16="http://schemas.microsoft.com/office/drawing/2014/main" id="{794CCE4F-22BE-4B1B-AEF4-36AA17C98B6A}"/>
              </a:ext>
            </a:extLst>
          </p:cNvPr>
          <p:cNvSpPr>
            <a:spLocks noGrp="1"/>
          </p:cNvSpPr>
          <p:nvPr/>
        </p:nvSpPr>
        <p:spPr>
          <a:xfrm>
            <a:off x="4933950" y="3886200"/>
            <a:ext cx="23241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f_c=1000 Hz B=231,6 Hz</a:t>
            </a:r>
          </a:p>
        </p:txBody>
      </p:sp>
      <p:sp>
        <p:nvSpPr>
          <p:cNvPr id="13" name="U05-DG-009-third_high">
            <a:extLst>
              <a:ext uri="{FF2B5EF4-FFF2-40B4-BE49-F238E27FC236}">
                <a16:creationId xmlns:a16="http://schemas.microsoft.com/office/drawing/2014/main" id="{4BE52F87-C15A-4DEC-A8CA-EF4FB5BE51F8}"/>
              </a:ext>
            </a:extLst>
          </p:cNvPr>
          <p:cNvSpPr>
            <a:spLocks noGrp="1"/>
          </p:cNvSpPr>
          <p:nvPr/>
        </p:nvSpPr>
        <p:spPr>
          <a:xfrm>
            <a:off x="7762875" y="3333750"/>
            <a:ext cx="2667000" cy="1476375"/>
          </a:xfrm>
          <a:prstGeom prst="roundRect">
            <a:avLst>
              <a:gd name="adj" fmla="val 9032"/>
            </a:avLst>
          </a:prstGeom>
          <a:solidFill>
            <a:srgbClr val="E3F2ED"/>
          </a:solidFill>
          <a:ln w="19050">
            <a:solidFill>
              <a:srgbClr val="2D7867"/>
            </a:solidFill>
            <a:prstDash val="solid"/>
          </a:ln>
        </p:spPr>
      </p:sp>
      <p:sp>
        <p:nvSpPr>
          <p:cNvPr id="14" name="U05-DG-009-third_high-title">
            <a:extLst>
              <a:ext uri="{FF2B5EF4-FFF2-40B4-BE49-F238E27FC236}">
                <a16:creationId xmlns:a16="http://schemas.microsoft.com/office/drawing/2014/main" id="{9C59143B-2DA7-4FF6-B8E8-2E2B69646D7A}"/>
              </a:ext>
            </a:extLst>
          </p:cNvPr>
          <p:cNvSpPr>
            <a:spLocks noGrp="1"/>
          </p:cNvSpPr>
          <p:nvPr/>
        </p:nvSpPr>
        <p:spPr>
          <a:xfrm>
            <a:off x="7934325" y="3457575"/>
            <a:ext cx="23241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3.er tercio</a:t>
            </a:r>
          </a:p>
        </p:txBody>
      </p:sp>
      <p:sp>
        <p:nvSpPr>
          <p:cNvPr id="15" name="U05-DG-009-third_high-body">
            <a:extLst>
              <a:ext uri="{FF2B5EF4-FFF2-40B4-BE49-F238E27FC236}">
                <a16:creationId xmlns:a16="http://schemas.microsoft.com/office/drawing/2014/main" id="{C69E75F9-FFB7-4F9A-A7A6-545243360A8E}"/>
              </a:ext>
            </a:extLst>
          </p:cNvPr>
          <p:cNvSpPr>
            <a:spLocks noGrp="1"/>
          </p:cNvSpPr>
          <p:nvPr/>
        </p:nvSpPr>
        <p:spPr>
          <a:xfrm>
            <a:off x="7934325" y="3886200"/>
            <a:ext cx="23241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f_c=1259,9 Hz B=291,8 Hz</a:t>
            </a:r>
          </a:p>
        </p:txBody>
      </p:sp>
      <p:cxnSp>
        <p:nvCxnSpPr>
          <p:cNvPr id="36" name="U05-DG-009-oct_1"/>
          <p:cNvCxnSpPr>
            <a:stCxn id="7" idx="3"/>
            <a:endCxn id="10" idx="1"/>
          </p:cNvCxnSpPr>
          <p:nvPr/>
        </p:nvCxnSpPr>
        <p:spPr>
          <a:xfrm>
            <a:off x="4429125" y="4071938"/>
            <a:ext cx="333375" cy="0"/>
          </a:xfrm>
          <a:prstGeom prst="straightConnector1">
            <a:avLst/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cxnSp>
        <p:nvCxnSpPr>
          <p:cNvPr id="37" name="U05-DG-009-oct_2"/>
          <p:cNvCxnSpPr>
            <a:stCxn id="10" idx="3"/>
            <a:endCxn id="13" idx="1"/>
          </p:cNvCxnSpPr>
          <p:nvPr/>
        </p:nvCxnSpPr>
        <p:spPr>
          <a:xfrm>
            <a:off x="7429500" y="4071938"/>
            <a:ext cx="333375" cy="0"/>
          </a:xfrm>
          <a:prstGeom prst="straightConnector1">
            <a:avLst/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sp>
        <p:nvSpPr>
          <p:cNvPr id="18" name="diagram-scale-note">
            <a:extLst>
              <a:ext uri="{FF2B5EF4-FFF2-40B4-BE49-F238E27FC236}">
                <a16:creationId xmlns:a16="http://schemas.microsoft.com/office/drawing/2014/main" id="{98D72624-F4C8-469B-B9E1-3ADF11F78A9C}"/>
              </a:ext>
            </a:extLst>
          </p:cNvPr>
          <p:cNvSpPr>
            <a:spLocks noGrp="1"/>
          </p:cNvSpPr>
          <p:nvPr/>
        </p:nvSpPr>
        <p:spPr>
          <a:xfrm>
            <a:off x="552450" y="5829300"/>
            <a:ext cx="3905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05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Esquema conceptual · no está a escala</a:t>
            </a:r>
          </a:p>
        </p:txBody>
      </p:sp>
      <p:sp>
        <p:nvSpPr>
          <p:cNvPr id="19" name="caption">
            <a:extLst>
              <a:ext uri="{FF2B5EF4-FFF2-40B4-BE49-F238E27FC236}">
                <a16:creationId xmlns:a16="http://schemas.microsoft.com/office/drawing/2014/main" id="{8169B089-E744-4660-9523-3AF223B0F5A0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876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Tres razones iguales componen una razón total 2:1.</a:t>
            </a:r>
          </a:p>
        </p:txBody>
      </p:sp>
      <p:sp>
        <p:nvSpPr>
          <p:cNvPr id="20" name="credit">
            <a:extLst>
              <a:ext uri="{FF2B5EF4-FFF2-40B4-BE49-F238E27FC236}">
                <a16:creationId xmlns:a16="http://schemas.microsoft.com/office/drawing/2014/main" id="{986AEE30-7580-4C78-A917-DA559C732EC0}"/>
              </a:ext>
            </a:extLst>
          </p:cNvPr>
          <p:cNvSpPr>
            <a:spLocks noGrp="1"/>
          </p:cNvSpPr>
          <p:nvPr/>
        </p:nvSpPr>
        <p:spPr>
          <a:xfrm>
            <a:off x="9382125" y="60769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fig. 5.6; IEC 61260-1 pendiente.</a:t>
            </a:r>
          </a:p>
        </p:txBody>
      </p:sp>
      <p:sp>
        <p:nvSpPr>
          <p:cNvPr id="16" name="slide-alt-summary" descr="Una octava se divide en tres segmentos iguales sobre un eje logarítmico.">
            <a:extLst>
              <a:ext uri="{FF2B5EF4-FFF2-40B4-BE49-F238E27FC236}">
                <a16:creationId xmlns:a16="http://schemas.microsoft.com/office/drawing/2014/main" id="{3C8EE736-A33C-ED75-CED4-C017FEF0E375}"/>
              </a:ext>
            </a:extLst>
          </p:cNvPr>
          <p:cNvSpPr/>
          <p:nvPr/>
        </p:nvSpPr>
        <p:spPr>
          <a:xfrm>
            <a:off x="12700" y="12700"/>
            <a:ext cx="12700" cy="12700"/>
          </a:xfrm>
          <a:prstGeom prst="rect">
            <a:avLst/>
          </a:prstGeom>
          <a:noFill/>
          <a:ln w="19050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95449240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eyebrow">
            <a:extLst>
              <a:ext uri="{FF2B5EF4-FFF2-40B4-BE49-F238E27FC236}">
                <a16:creationId xmlns:a16="http://schemas.microsoft.com/office/drawing/2014/main" id="{5F481FB9-C3AA-42C4-A417-E02F594709FF}"/>
              </a:ext>
            </a:extLst>
          </p:cNvPr>
          <p:cNvSpPr>
            <a:spLocks noGrp="1"/>
          </p:cNvSpPr>
          <p:nvPr/>
        </p:nvSpPr>
        <p:spPr>
          <a:xfrm>
            <a:off x="514350" y="2095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092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ECA0A337-7E6E-478D-86B0-3843EF6CBC20}"/>
              </a:ext>
            </a:extLst>
          </p:cNvPr>
          <p:cNvSpPr>
            <a:spLocks noGrp="1"/>
          </p:cNvSpPr>
          <p:nvPr/>
        </p:nvSpPr>
        <p:spPr>
          <a:xfrm>
            <a:off x="495300" y="428625"/>
            <a:ext cx="11191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Tercio de octava centrado en 1000 Hz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9F7FD40F-6735-4AF0-8928-9DA33024B2A6}"/>
              </a:ext>
            </a:extLst>
          </p:cNvPr>
          <p:cNvSpPr>
            <a:spLocks noGrp="1"/>
          </p:cNvSpPr>
          <p:nvPr/>
        </p:nvSpPr>
        <p:spPr>
          <a:xfrm>
            <a:off x="523875" y="971550"/>
            <a:ext cx="11001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Cálculo exacto antes del redondeo nominal.</a:t>
            </a:r>
          </a:p>
        </p:txBody>
      </p:sp>
      <p:sp>
        <p:nvSpPr>
          <p:cNvPr id="4" name="U05-DG-009-octave">
            <a:extLst>
              <a:ext uri="{FF2B5EF4-FFF2-40B4-BE49-F238E27FC236}">
                <a16:creationId xmlns:a16="http://schemas.microsoft.com/office/drawing/2014/main" id="{A04E58C0-3D26-4FCE-A20B-B89151AD23DC}"/>
              </a:ext>
            </a:extLst>
          </p:cNvPr>
          <p:cNvSpPr>
            <a:spLocks noGrp="1"/>
          </p:cNvSpPr>
          <p:nvPr/>
        </p:nvSpPr>
        <p:spPr>
          <a:xfrm>
            <a:off x="1762125" y="1381125"/>
            <a:ext cx="8667750" cy="1000125"/>
          </a:xfrm>
          <a:prstGeom prst="roundRect">
            <a:avLst>
              <a:gd name="adj" fmla="val 13333"/>
            </a:avLst>
          </a:prstGeom>
          <a:solidFill>
            <a:srgbClr val="DDEFF5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5" name="U05-DG-009-octave-title">
            <a:extLst>
              <a:ext uri="{FF2B5EF4-FFF2-40B4-BE49-F238E27FC236}">
                <a16:creationId xmlns:a16="http://schemas.microsoft.com/office/drawing/2014/main" id="{0A4FDAB7-F659-4985-A511-15DC610AE505}"/>
              </a:ext>
            </a:extLst>
          </p:cNvPr>
          <p:cNvSpPr>
            <a:spLocks noGrp="1"/>
          </p:cNvSpPr>
          <p:nvPr/>
        </p:nvSpPr>
        <p:spPr>
          <a:xfrm>
            <a:off x="1933575" y="1504950"/>
            <a:ext cx="8324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Octava: 707,1 Hz → f_c=1000 Hz → 1414,2 Hz</a:t>
            </a:r>
          </a:p>
        </p:txBody>
      </p:sp>
      <p:sp>
        <p:nvSpPr>
          <p:cNvPr id="6" name="U05-DG-009-octave-body">
            <a:extLst>
              <a:ext uri="{FF2B5EF4-FFF2-40B4-BE49-F238E27FC236}">
                <a16:creationId xmlns:a16="http://schemas.microsoft.com/office/drawing/2014/main" id="{B8E35D53-5826-41FC-AEBA-8C12A81662F6}"/>
              </a:ext>
            </a:extLst>
          </p:cNvPr>
          <p:cNvSpPr>
            <a:spLocks noGrp="1"/>
          </p:cNvSpPr>
          <p:nvPr/>
        </p:nvSpPr>
        <p:spPr>
          <a:xfrm>
            <a:off x="1933575" y="1828800"/>
            <a:ext cx="83248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f_H/f_L = 2</a:t>
            </a:r>
          </a:p>
        </p:txBody>
      </p:sp>
      <p:sp>
        <p:nvSpPr>
          <p:cNvPr id="7" name="U05-DG-009-third_low">
            <a:extLst>
              <a:ext uri="{FF2B5EF4-FFF2-40B4-BE49-F238E27FC236}">
                <a16:creationId xmlns:a16="http://schemas.microsoft.com/office/drawing/2014/main" id="{7B26C318-B7D4-4085-A6D8-DFEC8D30EA55}"/>
              </a:ext>
            </a:extLst>
          </p:cNvPr>
          <p:cNvSpPr>
            <a:spLocks noGrp="1"/>
          </p:cNvSpPr>
          <p:nvPr/>
        </p:nvSpPr>
        <p:spPr>
          <a:xfrm>
            <a:off x="1762125" y="3333750"/>
            <a:ext cx="2667000" cy="1476375"/>
          </a:xfrm>
          <a:prstGeom prst="roundRect">
            <a:avLst>
              <a:gd name="adj" fmla="val 9032"/>
            </a:avLst>
          </a:prstGeom>
          <a:solidFill>
            <a:srgbClr val="EFF8FA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8" name="U05-DG-009-third_low-title">
            <a:extLst>
              <a:ext uri="{FF2B5EF4-FFF2-40B4-BE49-F238E27FC236}">
                <a16:creationId xmlns:a16="http://schemas.microsoft.com/office/drawing/2014/main" id="{96E700C1-BBD4-44B5-BFDC-3BA8DEF9FA75}"/>
              </a:ext>
            </a:extLst>
          </p:cNvPr>
          <p:cNvSpPr>
            <a:spLocks noGrp="1"/>
          </p:cNvSpPr>
          <p:nvPr/>
        </p:nvSpPr>
        <p:spPr>
          <a:xfrm>
            <a:off x="1933575" y="3457575"/>
            <a:ext cx="23241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1.er tercio</a:t>
            </a:r>
          </a:p>
        </p:txBody>
      </p:sp>
      <p:sp>
        <p:nvSpPr>
          <p:cNvPr id="9" name="U05-DG-009-third_low-body">
            <a:extLst>
              <a:ext uri="{FF2B5EF4-FFF2-40B4-BE49-F238E27FC236}">
                <a16:creationId xmlns:a16="http://schemas.microsoft.com/office/drawing/2014/main" id="{CA1A751C-B415-43EC-B413-616481157CDC}"/>
              </a:ext>
            </a:extLst>
          </p:cNvPr>
          <p:cNvSpPr>
            <a:spLocks noGrp="1"/>
          </p:cNvSpPr>
          <p:nvPr/>
        </p:nvSpPr>
        <p:spPr>
          <a:xfrm>
            <a:off x="1933575" y="3886200"/>
            <a:ext cx="23241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f_c=793,7 Hz B=183,8 Hz</a:t>
            </a:r>
          </a:p>
        </p:txBody>
      </p:sp>
      <p:sp>
        <p:nvSpPr>
          <p:cNvPr id="10" name="U05-DG-009-third_mid">
            <a:extLst>
              <a:ext uri="{FF2B5EF4-FFF2-40B4-BE49-F238E27FC236}">
                <a16:creationId xmlns:a16="http://schemas.microsoft.com/office/drawing/2014/main" id="{616BE8B3-D412-4DD1-9DB2-0FECD4231090}"/>
              </a:ext>
            </a:extLst>
          </p:cNvPr>
          <p:cNvSpPr>
            <a:spLocks noGrp="1"/>
          </p:cNvSpPr>
          <p:nvPr/>
        </p:nvSpPr>
        <p:spPr>
          <a:xfrm>
            <a:off x="4762500" y="3333750"/>
            <a:ext cx="2667000" cy="1476375"/>
          </a:xfrm>
          <a:prstGeom prst="roundRect">
            <a:avLst>
              <a:gd name="adj" fmla="val 9032"/>
            </a:avLst>
          </a:prstGeom>
          <a:solidFill>
            <a:srgbClr val="F3F6F8"/>
          </a:solidFill>
          <a:ln w="19050">
            <a:solidFill>
              <a:srgbClr val="8291A3"/>
            </a:solidFill>
            <a:prstDash val="solid"/>
          </a:ln>
        </p:spPr>
      </p:sp>
      <p:sp>
        <p:nvSpPr>
          <p:cNvPr id="11" name="U05-DG-009-third_mid-title">
            <a:extLst>
              <a:ext uri="{FF2B5EF4-FFF2-40B4-BE49-F238E27FC236}">
                <a16:creationId xmlns:a16="http://schemas.microsoft.com/office/drawing/2014/main" id="{6EA99C3D-94F4-4ACF-9504-065A191DBB13}"/>
              </a:ext>
            </a:extLst>
          </p:cNvPr>
          <p:cNvSpPr>
            <a:spLocks noGrp="1"/>
          </p:cNvSpPr>
          <p:nvPr/>
        </p:nvSpPr>
        <p:spPr>
          <a:xfrm>
            <a:off x="4933950" y="3457575"/>
            <a:ext cx="23241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2.º tercio</a:t>
            </a:r>
          </a:p>
        </p:txBody>
      </p:sp>
      <p:sp>
        <p:nvSpPr>
          <p:cNvPr id="12" name="U05-DG-009-third_mid-body">
            <a:extLst>
              <a:ext uri="{FF2B5EF4-FFF2-40B4-BE49-F238E27FC236}">
                <a16:creationId xmlns:a16="http://schemas.microsoft.com/office/drawing/2014/main" id="{F53B19B5-3079-401C-B896-73EA2F910608}"/>
              </a:ext>
            </a:extLst>
          </p:cNvPr>
          <p:cNvSpPr>
            <a:spLocks noGrp="1"/>
          </p:cNvSpPr>
          <p:nvPr/>
        </p:nvSpPr>
        <p:spPr>
          <a:xfrm>
            <a:off x="4933950" y="3886200"/>
            <a:ext cx="23241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f_c=1000 Hz B=231,6 Hz</a:t>
            </a:r>
          </a:p>
        </p:txBody>
      </p:sp>
      <p:sp>
        <p:nvSpPr>
          <p:cNvPr id="13" name="U05-DG-009-third_high">
            <a:extLst>
              <a:ext uri="{FF2B5EF4-FFF2-40B4-BE49-F238E27FC236}">
                <a16:creationId xmlns:a16="http://schemas.microsoft.com/office/drawing/2014/main" id="{EAE4678F-6FC4-4370-B156-4FED783C5692}"/>
              </a:ext>
            </a:extLst>
          </p:cNvPr>
          <p:cNvSpPr>
            <a:spLocks noGrp="1"/>
          </p:cNvSpPr>
          <p:nvPr/>
        </p:nvSpPr>
        <p:spPr>
          <a:xfrm>
            <a:off x="7762875" y="3333750"/>
            <a:ext cx="2667000" cy="1476375"/>
          </a:xfrm>
          <a:prstGeom prst="roundRect">
            <a:avLst>
              <a:gd name="adj" fmla="val 9032"/>
            </a:avLst>
          </a:prstGeom>
          <a:solidFill>
            <a:srgbClr val="E3F2ED"/>
          </a:solidFill>
          <a:ln w="19050">
            <a:solidFill>
              <a:srgbClr val="2D7867"/>
            </a:solidFill>
            <a:prstDash val="solid"/>
          </a:ln>
        </p:spPr>
      </p:sp>
      <p:sp>
        <p:nvSpPr>
          <p:cNvPr id="14" name="U05-DG-009-third_high-title">
            <a:extLst>
              <a:ext uri="{FF2B5EF4-FFF2-40B4-BE49-F238E27FC236}">
                <a16:creationId xmlns:a16="http://schemas.microsoft.com/office/drawing/2014/main" id="{F223B975-2694-4695-A32B-F05653842982}"/>
              </a:ext>
            </a:extLst>
          </p:cNvPr>
          <p:cNvSpPr>
            <a:spLocks noGrp="1"/>
          </p:cNvSpPr>
          <p:nvPr/>
        </p:nvSpPr>
        <p:spPr>
          <a:xfrm>
            <a:off x="7934325" y="3457575"/>
            <a:ext cx="23241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3.er tercio</a:t>
            </a:r>
          </a:p>
        </p:txBody>
      </p:sp>
      <p:sp>
        <p:nvSpPr>
          <p:cNvPr id="15" name="U05-DG-009-third_high-body">
            <a:extLst>
              <a:ext uri="{FF2B5EF4-FFF2-40B4-BE49-F238E27FC236}">
                <a16:creationId xmlns:a16="http://schemas.microsoft.com/office/drawing/2014/main" id="{163BD85C-9F75-4C04-80C2-61A0B31186AA}"/>
              </a:ext>
            </a:extLst>
          </p:cNvPr>
          <p:cNvSpPr>
            <a:spLocks noGrp="1"/>
          </p:cNvSpPr>
          <p:nvPr/>
        </p:nvSpPr>
        <p:spPr>
          <a:xfrm>
            <a:off x="7934325" y="3886200"/>
            <a:ext cx="23241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f_c=1259,9 Hz B=291,8 Hz</a:t>
            </a:r>
          </a:p>
        </p:txBody>
      </p:sp>
      <p:cxnSp>
        <p:nvCxnSpPr>
          <p:cNvPr id="36" name="U05-DG-009-oct_1"/>
          <p:cNvCxnSpPr>
            <a:stCxn id="7" idx="3"/>
            <a:endCxn id="10" idx="1"/>
          </p:cNvCxnSpPr>
          <p:nvPr/>
        </p:nvCxnSpPr>
        <p:spPr>
          <a:xfrm>
            <a:off x="4429125" y="4071938"/>
            <a:ext cx="333375" cy="0"/>
          </a:xfrm>
          <a:prstGeom prst="straightConnector1">
            <a:avLst/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cxnSp>
        <p:nvCxnSpPr>
          <p:cNvPr id="37" name="U05-DG-009-oct_2"/>
          <p:cNvCxnSpPr>
            <a:stCxn id="10" idx="3"/>
            <a:endCxn id="13" idx="1"/>
          </p:cNvCxnSpPr>
          <p:nvPr/>
        </p:nvCxnSpPr>
        <p:spPr>
          <a:xfrm>
            <a:off x="7429500" y="4071938"/>
            <a:ext cx="333375" cy="0"/>
          </a:xfrm>
          <a:prstGeom prst="straightConnector1">
            <a:avLst/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sp>
        <p:nvSpPr>
          <p:cNvPr id="18" name="diagram-scale-note">
            <a:extLst>
              <a:ext uri="{FF2B5EF4-FFF2-40B4-BE49-F238E27FC236}">
                <a16:creationId xmlns:a16="http://schemas.microsoft.com/office/drawing/2014/main" id="{E9FF07A9-ED42-4C07-95D3-A1502A1ACED2}"/>
              </a:ext>
            </a:extLst>
          </p:cNvPr>
          <p:cNvSpPr>
            <a:spLocks noGrp="1"/>
          </p:cNvSpPr>
          <p:nvPr/>
        </p:nvSpPr>
        <p:spPr>
          <a:xfrm>
            <a:off x="552450" y="5829300"/>
            <a:ext cx="3905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05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Esquema conceptual · no está a escala</a:t>
            </a:r>
          </a:p>
        </p:txBody>
      </p:sp>
      <p:sp>
        <p:nvSpPr>
          <p:cNvPr id="19" name="caption">
            <a:extLst>
              <a:ext uri="{FF2B5EF4-FFF2-40B4-BE49-F238E27FC236}">
                <a16:creationId xmlns:a16="http://schemas.microsoft.com/office/drawing/2014/main" id="{992FA703-7C01-4592-AF3B-4BC394F3E6DF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876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El resultado conserva unidad y criterio de cálculo.</a:t>
            </a:r>
          </a:p>
        </p:txBody>
      </p:sp>
      <p:sp>
        <p:nvSpPr>
          <p:cNvPr id="20" name="credit">
            <a:extLst>
              <a:ext uri="{FF2B5EF4-FFF2-40B4-BE49-F238E27FC236}">
                <a16:creationId xmlns:a16="http://schemas.microsoft.com/office/drawing/2014/main" id="{DACEE38F-B261-4F88-AE59-165B4B6742E1}"/>
              </a:ext>
            </a:extLst>
          </p:cNvPr>
          <p:cNvSpPr>
            <a:spLocks noGrp="1"/>
          </p:cNvSpPr>
          <p:nvPr/>
        </p:nvSpPr>
        <p:spPr>
          <a:xfrm>
            <a:off x="9382125" y="60769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5.8.1; corrección documentada en storyboard.</a:t>
            </a:r>
          </a:p>
        </p:txBody>
      </p:sp>
      <p:sp>
        <p:nvSpPr>
          <p:cNvPr id="16" name="slide-alt-summary" descr="Banda centrada en 1000 Hz con límites 890,9 y 1122,5 Hz y ancho 231,6 Hz.">
            <a:extLst>
              <a:ext uri="{FF2B5EF4-FFF2-40B4-BE49-F238E27FC236}">
                <a16:creationId xmlns:a16="http://schemas.microsoft.com/office/drawing/2014/main" id="{6893F11D-FE6D-1F1A-5D03-6A15AE96B001}"/>
              </a:ext>
            </a:extLst>
          </p:cNvPr>
          <p:cNvSpPr/>
          <p:nvPr/>
        </p:nvSpPr>
        <p:spPr>
          <a:xfrm>
            <a:off x="12700" y="12700"/>
            <a:ext cx="12700" cy="12700"/>
          </a:xfrm>
          <a:prstGeom prst="rect">
            <a:avLst/>
          </a:prstGeom>
          <a:noFill/>
          <a:ln w="19050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33635661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eyebrow">
            <a:extLst>
              <a:ext uri="{FF2B5EF4-FFF2-40B4-BE49-F238E27FC236}">
                <a16:creationId xmlns:a16="http://schemas.microsoft.com/office/drawing/2014/main" id="{BD9912EC-6658-4330-A6EB-C3F53BB0758C}"/>
              </a:ext>
            </a:extLst>
          </p:cNvPr>
          <p:cNvSpPr>
            <a:spLocks noGrp="1"/>
          </p:cNvSpPr>
          <p:nvPr/>
        </p:nvSpPr>
        <p:spPr>
          <a:xfrm>
            <a:off x="514350" y="2095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093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992888F2-8526-4B2A-BF71-7A81FFB4A83C}"/>
              </a:ext>
            </a:extLst>
          </p:cNvPr>
          <p:cNvSpPr>
            <a:spLocks noGrp="1"/>
          </p:cNvSpPr>
          <p:nvPr/>
        </p:nvSpPr>
        <p:spPr>
          <a:xfrm>
            <a:off x="495300" y="428625"/>
            <a:ext cx="11191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¿Qué banda tiene mayor ancho en hertz?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BADD678C-D753-4668-B0ED-FFBDDD6F9FDE}"/>
              </a:ext>
            </a:extLst>
          </p:cNvPr>
          <p:cNvSpPr>
            <a:spLocks noGrp="1"/>
          </p:cNvSpPr>
          <p:nvPr/>
        </p:nvSpPr>
        <p:spPr>
          <a:xfrm>
            <a:off x="523875" y="971550"/>
            <a:ext cx="11001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Compare octavas centradas en 500 y 2000 Hz.</a:t>
            </a:r>
          </a:p>
        </p:txBody>
      </p:sp>
      <p:sp>
        <p:nvSpPr>
          <p:cNvPr id="4" name="U05-DG-009-octave">
            <a:extLst>
              <a:ext uri="{FF2B5EF4-FFF2-40B4-BE49-F238E27FC236}">
                <a16:creationId xmlns:a16="http://schemas.microsoft.com/office/drawing/2014/main" id="{582D1DBC-D8BD-44B6-8EFF-0C3C985C9BE8}"/>
              </a:ext>
            </a:extLst>
          </p:cNvPr>
          <p:cNvSpPr>
            <a:spLocks noGrp="1"/>
          </p:cNvSpPr>
          <p:nvPr/>
        </p:nvSpPr>
        <p:spPr>
          <a:xfrm>
            <a:off x="1762125" y="1381125"/>
            <a:ext cx="8667750" cy="1000125"/>
          </a:xfrm>
          <a:prstGeom prst="roundRect">
            <a:avLst>
              <a:gd name="adj" fmla="val 13333"/>
            </a:avLst>
          </a:prstGeom>
          <a:solidFill>
            <a:srgbClr val="DDEFF5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5" name="U05-DG-009-octave-title">
            <a:extLst>
              <a:ext uri="{FF2B5EF4-FFF2-40B4-BE49-F238E27FC236}">
                <a16:creationId xmlns:a16="http://schemas.microsoft.com/office/drawing/2014/main" id="{D084615B-246A-45E9-85AC-84C1871988F6}"/>
              </a:ext>
            </a:extLst>
          </p:cNvPr>
          <p:cNvSpPr>
            <a:spLocks noGrp="1"/>
          </p:cNvSpPr>
          <p:nvPr/>
        </p:nvSpPr>
        <p:spPr>
          <a:xfrm>
            <a:off x="1933575" y="1504950"/>
            <a:ext cx="8324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Octava: 707,1 Hz → f_c=1000 Hz → 1414,2 Hz</a:t>
            </a:r>
          </a:p>
        </p:txBody>
      </p:sp>
      <p:sp>
        <p:nvSpPr>
          <p:cNvPr id="6" name="U05-DG-009-octave-body">
            <a:extLst>
              <a:ext uri="{FF2B5EF4-FFF2-40B4-BE49-F238E27FC236}">
                <a16:creationId xmlns:a16="http://schemas.microsoft.com/office/drawing/2014/main" id="{BDCE93D1-DE1E-4E8C-816C-640D4054889A}"/>
              </a:ext>
            </a:extLst>
          </p:cNvPr>
          <p:cNvSpPr>
            <a:spLocks noGrp="1"/>
          </p:cNvSpPr>
          <p:nvPr/>
        </p:nvSpPr>
        <p:spPr>
          <a:xfrm>
            <a:off x="1933575" y="1828800"/>
            <a:ext cx="83248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f_H/f_L = 2</a:t>
            </a:r>
          </a:p>
        </p:txBody>
      </p:sp>
      <p:sp>
        <p:nvSpPr>
          <p:cNvPr id="7" name="U05-DG-009-third_low">
            <a:extLst>
              <a:ext uri="{FF2B5EF4-FFF2-40B4-BE49-F238E27FC236}">
                <a16:creationId xmlns:a16="http://schemas.microsoft.com/office/drawing/2014/main" id="{DC17DF0F-93A8-4F0D-BFF9-B273AE0DAD85}"/>
              </a:ext>
            </a:extLst>
          </p:cNvPr>
          <p:cNvSpPr>
            <a:spLocks noGrp="1"/>
          </p:cNvSpPr>
          <p:nvPr/>
        </p:nvSpPr>
        <p:spPr>
          <a:xfrm>
            <a:off x="1762125" y="3333750"/>
            <a:ext cx="2667000" cy="1476375"/>
          </a:xfrm>
          <a:prstGeom prst="roundRect">
            <a:avLst>
              <a:gd name="adj" fmla="val 9032"/>
            </a:avLst>
          </a:prstGeom>
          <a:solidFill>
            <a:srgbClr val="EFF8FA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8" name="U05-DG-009-third_low-title">
            <a:extLst>
              <a:ext uri="{FF2B5EF4-FFF2-40B4-BE49-F238E27FC236}">
                <a16:creationId xmlns:a16="http://schemas.microsoft.com/office/drawing/2014/main" id="{4A0B45D0-38F9-44E1-8288-FFB020EA5A85}"/>
              </a:ext>
            </a:extLst>
          </p:cNvPr>
          <p:cNvSpPr>
            <a:spLocks noGrp="1"/>
          </p:cNvSpPr>
          <p:nvPr/>
        </p:nvSpPr>
        <p:spPr>
          <a:xfrm>
            <a:off x="1933575" y="3457575"/>
            <a:ext cx="23241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1.er tercio</a:t>
            </a:r>
          </a:p>
        </p:txBody>
      </p:sp>
      <p:sp>
        <p:nvSpPr>
          <p:cNvPr id="9" name="U05-DG-009-third_low-body">
            <a:extLst>
              <a:ext uri="{FF2B5EF4-FFF2-40B4-BE49-F238E27FC236}">
                <a16:creationId xmlns:a16="http://schemas.microsoft.com/office/drawing/2014/main" id="{C3D76F08-A7E8-49FB-A330-8999C31F09D1}"/>
              </a:ext>
            </a:extLst>
          </p:cNvPr>
          <p:cNvSpPr>
            <a:spLocks noGrp="1"/>
          </p:cNvSpPr>
          <p:nvPr/>
        </p:nvSpPr>
        <p:spPr>
          <a:xfrm>
            <a:off x="1933575" y="3886200"/>
            <a:ext cx="23241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f_c=793,7 Hz B=183,8 Hz</a:t>
            </a:r>
          </a:p>
        </p:txBody>
      </p:sp>
      <p:sp>
        <p:nvSpPr>
          <p:cNvPr id="10" name="U05-DG-009-third_mid">
            <a:extLst>
              <a:ext uri="{FF2B5EF4-FFF2-40B4-BE49-F238E27FC236}">
                <a16:creationId xmlns:a16="http://schemas.microsoft.com/office/drawing/2014/main" id="{506949DF-7F91-41A7-B50C-706EA83AFB92}"/>
              </a:ext>
            </a:extLst>
          </p:cNvPr>
          <p:cNvSpPr>
            <a:spLocks noGrp="1"/>
          </p:cNvSpPr>
          <p:nvPr/>
        </p:nvSpPr>
        <p:spPr>
          <a:xfrm>
            <a:off x="4762500" y="3333750"/>
            <a:ext cx="2667000" cy="1476375"/>
          </a:xfrm>
          <a:prstGeom prst="roundRect">
            <a:avLst>
              <a:gd name="adj" fmla="val 9032"/>
            </a:avLst>
          </a:prstGeom>
          <a:solidFill>
            <a:srgbClr val="F3F6F8"/>
          </a:solidFill>
          <a:ln w="19050">
            <a:solidFill>
              <a:srgbClr val="8291A3"/>
            </a:solidFill>
            <a:prstDash val="solid"/>
          </a:ln>
        </p:spPr>
      </p:sp>
      <p:sp>
        <p:nvSpPr>
          <p:cNvPr id="11" name="U05-DG-009-third_mid-title">
            <a:extLst>
              <a:ext uri="{FF2B5EF4-FFF2-40B4-BE49-F238E27FC236}">
                <a16:creationId xmlns:a16="http://schemas.microsoft.com/office/drawing/2014/main" id="{CA9C66E7-7EE7-4587-93A0-247CB87D2FE4}"/>
              </a:ext>
            </a:extLst>
          </p:cNvPr>
          <p:cNvSpPr>
            <a:spLocks noGrp="1"/>
          </p:cNvSpPr>
          <p:nvPr/>
        </p:nvSpPr>
        <p:spPr>
          <a:xfrm>
            <a:off x="4933950" y="3457575"/>
            <a:ext cx="23241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2.º tercio</a:t>
            </a:r>
          </a:p>
        </p:txBody>
      </p:sp>
      <p:sp>
        <p:nvSpPr>
          <p:cNvPr id="12" name="U05-DG-009-third_mid-body">
            <a:extLst>
              <a:ext uri="{FF2B5EF4-FFF2-40B4-BE49-F238E27FC236}">
                <a16:creationId xmlns:a16="http://schemas.microsoft.com/office/drawing/2014/main" id="{D7690401-E160-4578-B37B-82ABDA5F61EE}"/>
              </a:ext>
            </a:extLst>
          </p:cNvPr>
          <p:cNvSpPr>
            <a:spLocks noGrp="1"/>
          </p:cNvSpPr>
          <p:nvPr/>
        </p:nvSpPr>
        <p:spPr>
          <a:xfrm>
            <a:off x="4933950" y="3886200"/>
            <a:ext cx="23241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f_c=1000 Hz B=231,6 Hz</a:t>
            </a:r>
          </a:p>
        </p:txBody>
      </p:sp>
      <p:sp>
        <p:nvSpPr>
          <p:cNvPr id="13" name="U05-DG-009-third_high">
            <a:extLst>
              <a:ext uri="{FF2B5EF4-FFF2-40B4-BE49-F238E27FC236}">
                <a16:creationId xmlns:a16="http://schemas.microsoft.com/office/drawing/2014/main" id="{DBF085EB-C27D-4597-8FC7-D1C251CB30BF}"/>
              </a:ext>
            </a:extLst>
          </p:cNvPr>
          <p:cNvSpPr>
            <a:spLocks noGrp="1"/>
          </p:cNvSpPr>
          <p:nvPr/>
        </p:nvSpPr>
        <p:spPr>
          <a:xfrm>
            <a:off x="7762875" y="3333750"/>
            <a:ext cx="2667000" cy="1476375"/>
          </a:xfrm>
          <a:prstGeom prst="roundRect">
            <a:avLst>
              <a:gd name="adj" fmla="val 9032"/>
            </a:avLst>
          </a:prstGeom>
          <a:solidFill>
            <a:srgbClr val="E3F2ED"/>
          </a:solidFill>
          <a:ln w="19050">
            <a:solidFill>
              <a:srgbClr val="2D7867"/>
            </a:solidFill>
            <a:prstDash val="solid"/>
          </a:ln>
        </p:spPr>
      </p:sp>
      <p:sp>
        <p:nvSpPr>
          <p:cNvPr id="14" name="U05-DG-009-third_high-title">
            <a:extLst>
              <a:ext uri="{FF2B5EF4-FFF2-40B4-BE49-F238E27FC236}">
                <a16:creationId xmlns:a16="http://schemas.microsoft.com/office/drawing/2014/main" id="{1564FF68-993D-4A17-8443-9D11C36B42D4}"/>
              </a:ext>
            </a:extLst>
          </p:cNvPr>
          <p:cNvSpPr>
            <a:spLocks noGrp="1"/>
          </p:cNvSpPr>
          <p:nvPr/>
        </p:nvSpPr>
        <p:spPr>
          <a:xfrm>
            <a:off x="7934325" y="3457575"/>
            <a:ext cx="23241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3.er tercio</a:t>
            </a:r>
          </a:p>
        </p:txBody>
      </p:sp>
      <p:sp>
        <p:nvSpPr>
          <p:cNvPr id="15" name="U05-DG-009-third_high-body">
            <a:extLst>
              <a:ext uri="{FF2B5EF4-FFF2-40B4-BE49-F238E27FC236}">
                <a16:creationId xmlns:a16="http://schemas.microsoft.com/office/drawing/2014/main" id="{4AC42B3E-62EF-4957-86C4-C949C2C4569B}"/>
              </a:ext>
            </a:extLst>
          </p:cNvPr>
          <p:cNvSpPr>
            <a:spLocks noGrp="1"/>
          </p:cNvSpPr>
          <p:nvPr/>
        </p:nvSpPr>
        <p:spPr>
          <a:xfrm>
            <a:off x="7934325" y="3886200"/>
            <a:ext cx="23241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f_c=1259,9 Hz B=291,8 Hz</a:t>
            </a:r>
          </a:p>
        </p:txBody>
      </p:sp>
      <p:cxnSp>
        <p:nvCxnSpPr>
          <p:cNvPr id="36" name="U05-DG-009-oct_1"/>
          <p:cNvCxnSpPr>
            <a:stCxn id="7" idx="3"/>
            <a:endCxn id="10" idx="1"/>
          </p:cNvCxnSpPr>
          <p:nvPr/>
        </p:nvCxnSpPr>
        <p:spPr>
          <a:xfrm>
            <a:off x="4429125" y="4071938"/>
            <a:ext cx="333375" cy="0"/>
          </a:xfrm>
          <a:prstGeom prst="straightConnector1">
            <a:avLst/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cxnSp>
        <p:nvCxnSpPr>
          <p:cNvPr id="37" name="U05-DG-009-oct_2"/>
          <p:cNvCxnSpPr>
            <a:stCxn id="10" idx="3"/>
            <a:endCxn id="13" idx="1"/>
          </p:cNvCxnSpPr>
          <p:nvPr/>
        </p:nvCxnSpPr>
        <p:spPr>
          <a:xfrm>
            <a:off x="7429500" y="4071938"/>
            <a:ext cx="333375" cy="0"/>
          </a:xfrm>
          <a:prstGeom prst="straightConnector1">
            <a:avLst/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sp>
        <p:nvSpPr>
          <p:cNvPr id="18" name="diagram-scale-note">
            <a:extLst>
              <a:ext uri="{FF2B5EF4-FFF2-40B4-BE49-F238E27FC236}">
                <a16:creationId xmlns:a16="http://schemas.microsoft.com/office/drawing/2014/main" id="{98E6845F-CCA2-47FA-8A7C-A2E90F360ABA}"/>
              </a:ext>
            </a:extLst>
          </p:cNvPr>
          <p:cNvSpPr>
            <a:spLocks noGrp="1"/>
          </p:cNvSpPr>
          <p:nvPr/>
        </p:nvSpPr>
        <p:spPr>
          <a:xfrm>
            <a:off x="552450" y="5829300"/>
            <a:ext cx="3905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05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Esquema conceptual · no está a escala</a:t>
            </a:r>
          </a:p>
        </p:txBody>
      </p:sp>
      <p:sp>
        <p:nvSpPr>
          <p:cNvPr id="19" name="caption">
            <a:extLst>
              <a:ext uri="{FF2B5EF4-FFF2-40B4-BE49-F238E27FC236}">
                <a16:creationId xmlns:a16="http://schemas.microsoft.com/office/drawing/2014/main" id="{74B09CFD-8BE2-474C-B85B-8000BEDD16D6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876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A mayor frecuencia central, mayor ancho absoluto para la misma fracción.</a:t>
            </a:r>
          </a:p>
        </p:txBody>
      </p:sp>
      <p:sp>
        <p:nvSpPr>
          <p:cNvPr id="20" name="credit">
            <a:extLst>
              <a:ext uri="{FF2B5EF4-FFF2-40B4-BE49-F238E27FC236}">
                <a16:creationId xmlns:a16="http://schemas.microsoft.com/office/drawing/2014/main" id="{B5D81A95-5B35-4FA4-98A1-721C551570B5}"/>
              </a:ext>
            </a:extLst>
          </p:cNvPr>
          <p:cNvSpPr>
            <a:spLocks noGrp="1"/>
          </p:cNvSpPr>
          <p:nvPr/>
        </p:nvSpPr>
        <p:spPr>
          <a:xfrm>
            <a:off x="9382125" y="60769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ejercicios G3/A2 adaptados.</a:t>
            </a:r>
          </a:p>
        </p:txBody>
      </p:sp>
      <p:sp>
        <p:nvSpPr>
          <p:cNvPr id="16" name="slide-alt-summary" descr="Dos bandas de octava con centros en 500 y 2000 Hz y campos vacíos para límites y ancho.">
            <a:extLst>
              <a:ext uri="{FF2B5EF4-FFF2-40B4-BE49-F238E27FC236}">
                <a16:creationId xmlns:a16="http://schemas.microsoft.com/office/drawing/2014/main" id="{3B9CDFF9-A34A-7CA1-724B-C5B9B64AF694}"/>
              </a:ext>
            </a:extLst>
          </p:cNvPr>
          <p:cNvSpPr/>
          <p:nvPr/>
        </p:nvSpPr>
        <p:spPr>
          <a:xfrm>
            <a:off x="12700" y="12700"/>
            <a:ext cx="12700" cy="12700"/>
          </a:xfrm>
          <a:prstGeom prst="rect">
            <a:avLst/>
          </a:prstGeom>
          <a:noFill/>
          <a:ln w="19050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1546375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yebrow">
            <a:extLst>
              <a:ext uri="{FF2B5EF4-FFF2-40B4-BE49-F238E27FC236}">
                <a16:creationId xmlns:a16="http://schemas.microsoft.com/office/drawing/2014/main" id="{A6C51755-8E71-4AF6-AE1C-06A71AE3166A}"/>
              </a:ext>
            </a:extLst>
          </p:cNvPr>
          <p:cNvSpPr>
            <a:spLocks noGrp="1"/>
          </p:cNvSpPr>
          <p:nvPr/>
        </p:nvSpPr>
        <p:spPr>
          <a:xfrm>
            <a:off x="514350" y="2095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094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7381A659-BD71-4B68-AB27-3737EF1360FE}"/>
              </a:ext>
            </a:extLst>
          </p:cNvPr>
          <p:cNvSpPr>
            <a:spLocks noGrp="1"/>
          </p:cNvSpPr>
          <p:nvPr/>
        </p:nvSpPr>
        <p:spPr>
          <a:xfrm>
            <a:off x="495300" y="428625"/>
            <a:ext cx="11191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Hasta acá: bin, banda, octava y tercio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EDC41211-5FE2-438F-9B18-72F01A25A231}"/>
              </a:ext>
            </a:extLst>
          </p:cNvPr>
          <p:cNvSpPr>
            <a:spLocks noGrp="1"/>
          </p:cNvSpPr>
          <p:nvPr/>
        </p:nvSpPr>
        <p:spPr>
          <a:xfrm>
            <a:off x="523875" y="971550"/>
            <a:ext cx="11001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Cuatro entidades que no deben confundirse.</a:t>
            </a:r>
          </a:p>
        </p:txBody>
      </p:sp>
      <p:sp>
        <p:nvSpPr>
          <p:cNvPr id="4" name="U05-DG-014-recap_object">
            <a:extLst>
              <a:ext uri="{FF2B5EF4-FFF2-40B4-BE49-F238E27FC236}">
                <a16:creationId xmlns:a16="http://schemas.microsoft.com/office/drawing/2014/main" id="{9CF18045-6A7F-4CB4-A3B1-38698D4B67DC}"/>
              </a:ext>
            </a:extLst>
          </p:cNvPr>
          <p:cNvSpPr>
            <a:spLocks noGrp="1"/>
          </p:cNvSpPr>
          <p:nvPr/>
        </p:nvSpPr>
        <p:spPr>
          <a:xfrm>
            <a:off x="857250" y="1714500"/>
            <a:ext cx="3048000" cy="1238250"/>
          </a:xfrm>
          <a:prstGeom prst="roundRect">
            <a:avLst>
              <a:gd name="adj" fmla="val 10769"/>
            </a:avLst>
          </a:prstGeom>
          <a:solidFill>
            <a:srgbClr val="EFF8FA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5" name="U05-DG-014-recap_object-title">
            <a:extLst>
              <a:ext uri="{FF2B5EF4-FFF2-40B4-BE49-F238E27FC236}">
                <a16:creationId xmlns:a16="http://schemas.microsoft.com/office/drawing/2014/main" id="{486F30E8-823E-4F8A-AB3E-C674717A623C}"/>
              </a:ext>
            </a:extLst>
          </p:cNvPr>
          <p:cNvSpPr>
            <a:spLocks noGrp="1"/>
          </p:cNvSpPr>
          <p:nvPr/>
        </p:nvSpPr>
        <p:spPr>
          <a:xfrm>
            <a:off x="1028700" y="1838325"/>
            <a:ext cx="27051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Objeto</a:t>
            </a:r>
          </a:p>
        </p:txBody>
      </p:sp>
      <p:sp>
        <p:nvSpPr>
          <p:cNvPr id="6" name="U05-DG-014-recap_object-body">
            <a:extLst>
              <a:ext uri="{FF2B5EF4-FFF2-40B4-BE49-F238E27FC236}">
                <a16:creationId xmlns:a16="http://schemas.microsoft.com/office/drawing/2014/main" id="{56BE4824-693A-48BC-AF2D-6B1F1C5FD7AD}"/>
              </a:ext>
            </a:extLst>
          </p:cNvPr>
          <p:cNvSpPr>
            <a:spLocks noGrp="1"/>
          </p:cNvSpPr>
          <p:nvPr/>
        </p:nvSpPr>
        <p:spPr>
          <a:xfrm>
            <a:off x="1028700" y="2209800"/>
            <a:ext cx="27051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señal / sistema</a:t>
            </a:r>
          </a:p>
        </p:txBody>
      </p:sp>
      <p:sp>
        <p:nvSpPr>
          <p:cNvPr id="7" name="U05-DG-014-recap_axes">
            <a:extLst>
              <a:ext uri="{FF2B5EF4-FFF2-40B4-BE49-F238E27FC236}">
                <a16:creationId xmlns:a16="http://schemas.microsoft.com/office/drawing/2014/main" id="{81EEE25F-BD5E-42A3-BA4B-E3FAAD4FA4E7}"/>
              </a:ext>
            </a:extLst>
          </p:cNvPr>
          <p:cNvSpPr>
            <a:spLocks noGrp="1"/>
          </p:cNvSpPr>
          <p:nvPr/>
        </p:nvSpPr>
        <p:spPr>
          <a:xfrm>
            <a:off x="4572000" y="1714500"/>
            <a:ext cx="3048000" cy="1238250"/>
          </a:xfrm>
          <a:prstGeom prst="roundRect">
            <a:avLst>
              <a:gd name="adj" fmla="val 10769"/>
            </a:avLst>
          </a:prstGeom>
          <a:solidFill>
            <a:srgbClr val="F3F6F8"/>
          </a:solidFill>
          <a:ln w="19050">
            <a:solidFill>
              <a:srgbClr val="8291A3"/>
            </a:solidFill>
            <a:prstDash val="solid"/>
          </a:ln>
        </p:spPr>
      </p:sp>
      <p:sp>
        <p:nvSpPr>
          <p:cNvPr id="8" name="U05-DG-014-recap_axes-title">
            <a:extLst>
              <a:ext uri="{FF2B5EF4-FFF2-40B4-BE49-F238E27FC236}">
                <a16:creationId xmlns:a16="http://schemas.microsoft.com/office/drawing/2014/main" id="{71CF724B-4333-4627-AE0C-2AE22AEE8D84}"/>
              </a:ext>
            </a:extLst>
          </p:cNvPr>
          <p:cNvSpPr>
            <a:spLocks noGrp="1"/>
          </p:cNvSpPr>
          <p:nvPr/>
        </p:nvSpPr>
        <p:spPr>
          <a:xfrm>
            <a:off x="4743450" y="1838325"/>
            <a:ext cx="27051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Ejes</a:t>
            </a:r>
          </a:p>
        </p:txBody>
      </p:sp>
      <p:sp>
        <p:nvSpPr>
          <p:cNvPr id="9" name="U05-DG-014-recap_axes-body">
            <a:extLst>
              <a:ext uri="{FF2B5EF4-FFF2-40B4-BE49-F238E27FC236}">
                <a16:creationId xmlns:a16="http://schemas.microsoft.com/office/drawing/2014/main" id="{DF8C4A2B-2E05-4D73-9D2C-EF972052CE8B}"/>
              </a:ext>
            </a:extLst>
          </p:cNvPr>
          <p:cNvSpPr>
            <a:spLocks noGrp="1"/>
          </p:cNvSpPr>
          <p:nvPr/>
        </p:nvSpPr>
        <p:spPr>
          <a:xfrm>
            <a:off x="4743450" y="2209800"/>
            <a:ext cx="27051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t / f</a:t>
            </a:r>
          </a:p>
        </p:txBody>
      </p:sp>
      <p:sp>
        <p:nvSpPr>
          <p:cNvPr id="10" name="U05-DG-014-recap_units">
            <a:extLst>
              <a:ext uri="{FF2B5EF4-FFF2-40B4-BE49-F238E27FC236}">
                <a16:creationId xmlns:a16="http://schemas.microsoft.com/office/drawing/2014/main" id="{D4C159D3-EC80-4FB7-8B7B-1FB015E0777D}"/>
              </a:ext>
            </a:extLst>
          </p:cNvPr>
          <p:cNvSpPr>
            <a:spLocks noGrp="1"/>
          </p:cNvSpPr>
          <p:nvPr/>
        </p:nvSpPr>
        <p:spPr>
          <a:xfrm>
            <a:off x="8286750" y="1714500"/>
            <a:ext cx="3048000" cy="1238250"/>
          </a:xfrm>
          <a:prstGeom prst="roundRect">
            <a:avLst>
              <a:gd name="adj" fmla="val 10769"/>
            </a:avLst>
          </a:prstGeom>
          <a:solidFill>
            <a:srgbClr val="F3F6F8"/>
          </a:solidFill>
          <a:ln w="19050">
            <a:solidFill>
              <a:srgbClr val="8291A3"/>
            </a:solidFill>
            <a:prstDash val="solid"/>
          </a:ln>
        </p:spPr>
      </p:sp>
      <p:sp>
        <p:nvSpPr>
          <p:cNvPr id="11" name="U05-DG-014-recap_units-title">
            <a:extLst>
              <a:ext uri="{FF2B5EF4-FFF2-40B4-BE49-F238E27FC236}">
                <a16:creationId xmlns:a16="http://schemas.microsoft.com/office/drawing/2014/main" id="{17831F70-B413-468A-B9CA-A87962E105F1}"/>
              </a:ext>
            </a:extLst>
          </p:cNvPr>
          <p:cNvSpPr>
            <a:spLocks noGrp="1"/>
          </p:cNvSpPr>
          <p:nvPr/>
        </p:nvSpPr>
        <p:spPr>
          <a:xfrm>
            <a:off x="8458200" y="1838325"/>
            <a:ext cx="27051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Unidades</a:t>
            </a:r>
          </a:p>
        </p:txBody>
      </p:sp>
      <p:sp>
        <p:nvSpPr>
          <p:cNvPr id="12" name="U05-DG-014-recap_units-body">
            <a:extLst>
              <a:ext uri="{FF2B5EF4-FFF2-40B4-BE49-F238E27FC236}">
                <a16:creationId xmlns:a16="http://schemas.microsoft.com/office/drawing/2014/main" id="{6BCE9B6B-5D58-4489-A1EB-E3A072B75C6C}"/>
              </a:ext>
            </a:extLst>
          </p:cNvPr>
          <p:cNvSpPr>
            <a:spLocks noGrp="1"/>
          </p:cNvSpPr>
          <p:nvPr/>
        </p:nvSpPr>
        <p:spPr>
          <a:xfrm>
            <a:off x="8458200" y="2209800"/>
            <a:ext cx="27051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s · Hz · Pa · dB</a:t>
            </a:r>
          </a:p>
        </p:txBody>
      </p:sp>
      <p:sp>
        <p:nvSpPr>
          <p:cNvPr id="13" name="U05-DG-014-recap_params">
            <a:extLst>
              <a:ext uri="{FF2B5EF4-FFF2-40B4-BE49-F238E27FC236}">
                <a16:creationId xmlns:a16="http://schemas.microsoft.com/office/drawing/2014/main" id="{881FE5B2-1C04-427F-A47D-9E0C272A92C5}"/>
              </a:ext>
            </a:extLst>
          </p:cNvPr>
          <p:cNvSpPr>
            <a:spLocks noGrp="1"/>
          </p:cNvSpPr>
          <p:nvPr/>
        </p:nvSpPr>
        <p:spPr>
          <a:xfrm>
            <a:off x="2667000" y="3905250"/>
            <a:ext cx="3048000" cy="1238250"/>
          </a:xfrm>
          <a:prstGeom prst="roundRect">
            <a:avLst>
              <a:gd name="adj" fmla="val 10769"/>
            </a:avLst>
          </a:prstGeom>
          <a:solidFill>
            <a:srgbClr val="DDEFF5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14" name="U05-DG-014-recap_params-title">
            <a:extLst>
              <a:ext uri="{FF2B5EF4-FFF2-40B4-BE49-F238E27FC236}">
                <a16:creationId xmlns:a16="http://schemas.microsoft.com/office/drawing/2014/main" id="{14803FA8-6401-4227-9397-68DC7176B82A}"/>
              </a:ext>
            </a:extLst>
          </p:cNvPr>
          <p:cNvSpPr>
            <a:spLocks noGrp="1"/>
          </p:cNvSpPr>
          <p:nvPr/>
        </p:nvSpPr>
        <p:spPr>
          <a:xfrm>
            <a:off x="2838450" y="4029075"/>
            <a:ext cx="27051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Parámetros</a:t>
            </a:r>
          </a:p>
        </p:txBody>
      </p:sp>
      <p:sp>
        <p:nvSpPr>
          <p:cNvPr id="15" name="U05-DG-014-recap_params-body">
            <a:extLst>
              <a:ext uri="{FF2B5EF4-FFF2-40B4-BE49-F238E27FC236}">
                <a16:creationId xmlns:a16="http://schemas.microsoft.com/office/drawing/2014/main" id="{70BDD580-B746-4AA7-8A2F-5CCE91CD5FEE}"/>
              </a:ext>
            </a:extLst>
          </p:cNvPr>
          <p:cNvSpPr>
            <a:spLocks noGrp="1"/>
          </p:cNvSpPr>
          <p:nvPr/>
        </p:nvSpPr>
        <p:spPr>
          <a:xfrm>
            <a:off x="2838450" y="4400550"/>
            <a:ext cx="27051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ventana · N · fₛ</a:t>
            </a:r>
          </a:p>
        </p:txBody>
      </p:sp>
      <p:sp>
        <p:nvSpPr>
          <p:cNvPr id="16" name="U05-DG-014-recap_limit">
            <a:extLst>
              <a:ext uri="{FF2B5EF4-FFF2-40B4-BE49-F238E27FC236}">
                <a16:creationId xmlns:a16="http://schemas.microsoft.com/office/drawing/2014/main" id="{A2C0040F-E884-455E-83BA-D7D14416BD19}"/>
              </a:ext>
            </a:extLst>
          </p:cNvPr>
          <p:cNvSpPr>
            <a:spLocks noGrp="1"/>
          </p:cNvSpPr>
          <p:nvPr/>
        </p:nvSpPr>
        <p:spPr>
          <a:xfrm>
            <a:off x="6477000" y="3905250"/>
            <a:ext cx="3048000" cy="1238250"/>
          </a:xfrm>
          <a:prstGeom prst="roundRect">
            <a:avLst>
              <a:gd name="adj" fmla="val 10769"/>
            </a:avLst>
          </a:prstGeom>
          <a:solidFill>
            <a:srgbClr val="E3F2ED"/>
          </a:solidFill>
          <a:ln w="19050">
            <a:solidFill>
              <a:srgbClr val="2D7867"/>
            </a:solidFill>
            <a:prstDash val="solid"/>
          </a:ln>
        </p:spPr>
      </p:sp>
      <p:sp>
        <p:nvSpPr>
          <p:cNvPr id="17" name="U05-DG-014-recap_limit-title">
            <a:extLst>
              <a:ext uri="{FF2B5EF4-FFF2-40B4-BE49-F238E27FC236}">
                <a16:creationId xmlns:a16="http://schemas.microsoft.com/office/drawing/2014/main" id="{2888D423-EEE2-4F00-85FE-9CE4D5826FCE}"/>
              </a:ext>
            </a:extLst>
          </p:cNvPr>
          <p:cNvSpPr>
            <a:spLocks noGrp="1"/>
          </p:cNvSpPr>
          <p:nvPr/>
        </p:nvSpPr>
        <p:spPr>
          <a:xfrm>
            <a:off x="6648450" y="4029075"/>
            <a:ext cx="27051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Límite</a:t>
            </a:r>
          </a:p>
        </p:txBody>
      </p:sp>
      <p:sp>
        <p:nvSpPr>
          <p:cNvPr id="18" name="U05-DG-014-recap_limit-body">
            <a:extLst>
              <a:ext uri="{FF2B5EF4-FFF2-40B4-BE49-F238E27FC236}">
                <a16:creationId xmlns:a16="http://schemas.microsoft.com/office/drawing/2014/main" id="{4CEEC905-ED72-4038-9004-1E2E76B5496B}"/>
              </a:ext>
            </a:extLst>
          </p:cNvPr>
          <p:cNvSpPr>
            <a:spLocks noGrp="1"/>
          </p:cNvSpPr>
          <p:nvPr/>
        </p:nvSpPr>
        <p:spPr>
          <a:xfrm>
            <a:off x="6648450" y="4400550"/>
            <a:ext cx="27051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alcance declarado</a:t>
            </a:r>
          </a:p>
        </p:txBody>
      </p:sp>
      <p:sp>
        <p:nvSpPr>
          <p:cNvPr id="19" name="diagram-scale-note">
            <a:extLst>
              <a:ext uri="{FF2B5EF4-FFF2-40B4-BE49-F238E27FC236}">
                <a16:creationId xmlns:a16="http://schemas.microsoft.com/office/drawing/2014/main" id="{956FE939-3480-48B0-A6EF-EB7B628070C3}"/>
              </a:ext>
            </a:extLst>
          </p:cNvPr>
          <p:cNvSpPr>
            <a:spLocks noGrp="1"/>
          </p:cNvSpPr>
          <p:nvPr/>
        </p:nvSpPr>
        <p:spPr>
          <a:xfrm>
            <a:off x="552450" y="5829300"/>
            <a:ext cx="3905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05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Esquema conceptual · no está a escala</a:t>
            </a:r>
          </a:p>
        </p:txBody>
      </p:sp>
      <p:sp>
        <p:nvSpPr>
          <p:cNvPr id="20" name="caption">
            <a:extLst>
              <a:ext uri="{FF2B5EF4-FFF2-40B4-BE49-F238E27FC236}">
                <a16:creationId xmlns:a16="http://schemas.microsoft.com/office/drawing/2014/main" id="{353AC940-35F0-4ACD-A8FA-A275C2E3B6BA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876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La elección depende del objeto y de la resolución necesaria.</a:t>
            </a:r>
          </a:p>
        </p:txBody>
      </p:sp>
      <p:sp>
        <p:nvSpPr>
          <p:cNvPr id="21" name="credit">
            <a:extLst>
              <a:ext uri="{FF2B5EF4-FFF2-40B4-BE49-F238E27FC236}">
                <a16:creationId xmlns:a16="http://schemas.microsoft.com/office/drawing/2014/main" id="{9533CDE2-D50B-4903-A3A3-16A4F6E9A8FB}"/>
              </a:ext>
            </a:extLst>
          </p:cNvPr>
          <p:cNvSpPr>
            <a:spLocks noGrp="1"/>
          </p:cNvSpPr>
          <p:nvPr/>
        </p:nvSpPr>
        <p:spPr>
          <a:xfrm>
            <a:off x="9382125" y="60769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5.4.7 y 5.8.</a:t>
            </a:r>
          </a:p>
        </p:txBody>
      </p:sp>
      <p:sp>
        <p:nvSpPr>
          <p:cNvPr id="23" name="slide-alt-summary" descr="Comparación compacta entre bin, banda, octava y tercio.">
            <a:extLst>
              <a:ext uri="{FF2B5EF4-FFF2-40B4-BE49-F238E27FC236}">
                <a16:creationId xmlns:a16="http://schemas.microsoft.com/office/drawing/2014/main" id="{8102A7C3-660E-1987-A5D3-9F80269CD542}"/>
              </a:ext>
            </a:extLst>
          </p:cNvPr>
          <p:cNvSpPr/>
          <p:nvPr/>
        </p:nvSpPr>
        <p:spPr>
          <a:xfrm>
            <a:off x="12700" y="12700"/>
            <a:ext cx="12700" cy="12700"/>
          </a:xfrm>
          <a:prstGeom prst="rect">
            <a:avLst/>
          </a:prstGeom>
          <a:noFill/>
          <a:ln w="19050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20203634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yebrow">
            <a:extLst>
              <a:ext uri="{FF2B5EF4-FFF2-40B4-BE49-F238E27FC236}">
                <a16:creationId xmlns:a16="http://schemas.microsoft.com/office/drawing/2014/main" id="{D22E00DD-40E3-480E-BE5B-CA2795C1710A}"/>
              </a:ext>
            </a:extLst>
          </p:cNvPr>
          <p:cNvSpPr>
            <a:spLocks noGrp="1"/>
          </p:cNvSpPr>
          <p:nvPr/>
        </p:nvSpPr>
        <p:spPr>
          <a:xfrm>
            <a:off x="514350" y="2095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1" i="0">
                <a:solidFill>
                  <a:srgbClr val="B9D8E7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B9D8E7"/>
                </a:solidFill>
                <a:latin typeface="Calibri"/>
                <a:ea typeface="Calibri"/>
                <a:cs typeface="Calibri"/>
              </a:rPr>
              <a:t>UNIDAD 5 · 095</a:t>
            </a:r>
          </a:p>
        </p:txBody>
      </p:sp>
      <p:sp>
        <p:nvSpPr>
          <p:cNvPr id="2" name="divider-title">
            <a:extLst>
              <a:ext uri="{FF2B5EF4-FFF2-40B4-BE49-F238E27FC236}">
                <a16:creationId xmlns:a16="http://schemas.microsoft.com/office/drawing/2014/main" id="{D4C7F22C-0233-4F3E-B32A-087740A1B043}"/>
              </a:ext>
            </a:extLst>
          </p:cNvPr>
          <p:cNvSpPr>
            <a:spLocks noGrp="1"/>
          </p:cNvSpPr>
          <p:nvPr/>
        </p:nvSpPr>
        <p:spPr>
          <a:xfrm>
            <a:off x="714375" y="2190750"/>
            <a:ext cx="104775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lnSpc>
                <a:spcPct val="102000"/>
              </a:lnSpc>
              <a:buNone/>
              <a:defRPr sz="4050" b="1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4050" b="1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Un filtro modifica componentes según frecuencia</a:t>
            </a:r>
          </a:p>
        </p:txBody>
      </p:sp>
      <p:sp>
        <p:nvSpPr>
          <p:cNvPr id="3" name="divider-subtitle">
            <a:extLst>
              <a:ext uri="{FF2B5EF4-FFF2-40B4-BE49-F238E27FC236}">
                <a16:creationId xmlns:a16="http://schemas.microsoft.com/office/drawing/2014/main" id="{19B36BB2-79A9-438D-AE5D-A9E97532ED79}"/>
              </a:ext>
            </a:extLst>
          </p:cNvPr>
          <p:cNvSpPr>
            <a:spLocks noGrp="1"/>
          </p:cNvSpPr>
          <p:nvPr/>
        </p:nvSpPr>
        <p:spPr>
          <a:xfrm>
            <a:off x="1714500" y="3429000"/>
            <a:ext cx="8763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100" b="0" i="0">
                <a:solidFill>
                  <a:srgbClr val="D6E4EA"/>
                </a:solidFill>
                <a:latin typeface="Calibri"/>
                <a:ea typeface="Calibri"/>
                <a:cs typeface="Calibri"/>
              </a:defRPr>
            </a:pPr>
            <a:r>
              <a:rPr sz="2100" b="0" i="0">
                <a:solidFill>
                  <a:srgbClr val="D6E4EA"/>
                </a:solidFill>
                <a:latin typeface="Calibri"/>
                <a:ea typeface="Calibri"/>
                <a:cs typeface="Calibri"/>
              </a:rPr>
              <a:t>Su respuesta define qué regiones conserva o atenúa.</a:t>
            </a:r>
          </a:p>
        </p:txBody>
      </p:sp>
      <p:sp>
        <p:nvSpPr>
          <p:cNvPr id="4" name="divider-content">
            <a:extLst>
              <a:ext uri="{FF2B5EF4-FFF2-40B4-BE49-F238E27FC236}">
                <a16:creationId xmlns:a16="http://schemas.microsoft.com/office/drawing/2014/main" id="{8E8C2B3C-428D-455E-86F0-0B921174F2A9}"/>
              </a:ext>
            </a:extLst>
          </p:cNvPr>
          <p:cNvSpPr>
            <a:spLocks noGrp="1"/>
          </p:cNvSpPr>
          <p:nvPr/>
        </p:nvSpPr>
        <p:spPr>
          <a:xfrm>
            <a:off x="2190750" y="4333875"/>
            <a:ext cx="781050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ctr">
              <a:lnSpc>
                <a:spcPct val="102000"/>
              </a:lnSpc>
              <a:buNone/>
              <a:defRPr sz="1875" b="0" i="0">
                <a:solidFill>
                  <a:srgbClr val="BDD0DA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BDD0DA"/>
                </a:solidFill>
                <a:latin typeface="Calibri"/>
                <a:ea typeface="Calibri"/>
                <a:cs typeface="Calibri"/>
              </a:rPr>
              <a:t>Pasa bajos · Pasa altos · Pasa banda · Elimina banda.</a:t>
            </a:r>
          </a:p>
        </p:txBody>
      </p:sp>
      <p:sp>
        <p:nvSpPr>
          <p:cNvPr id="6" name="slide-alt-summary" descr="Cuatro respuestas de filtro esquemáticas con una escala frecuencial común.">
            <a:extLst>
              <a:ext uri="{FF2B5EF4-FFF2-40B4-BE49-F238E27FC236}">
                <a16:creationId xmlns:a16="http://schemas.microsoft.com/office/drawing/2014/main" id="{AF71CF97-D234-615D-B488-F5D2D1B604AE}"/>
              </a:ext>
            </a:extLst>
          </p:cNvPr>
          <p:cNvSpPr/>
          <p:nvPr/>
        </p:nvSpPr>
        <p:spPr>
          <a:xfrm>
            <a:off x="12700" y="12700"/>
            <a:ext cx="12700" cy="12700"/>
          </a:xfrm>
          <a:prstGeom prst="rect">
            <a:avLst/>
          </a:prstGeom>
          <a:noFill/>
          <a:ln w="19050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eyebrow">
            <a:extLst>
              <a:ext uri="{FF2B5EF4-FFF2-40B4-BE49-F238E27FC236}">
                <a16:creationId xmlns:a16="http://schemas.microsoft.com/office/drawing/2014/main" id="{6616FBD7-20F6-4C6C-BC8F-06D4598FFFEF}"/>
              </a:ext>
            </a:extLst>
          </p:cNvPr>
          <p:cNvSpPr>
            <a:spLocks noGrp="1"/>
          </p:cNvSpPr>
          <p:nvPr/>
        </p:nvSpPr>
        <p:spPr>
          <a:xfrm>
            <a:off x="514350" y="2095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096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F71ADD1F-D7CF-4C01-A111-65A9CEDC30BD}"/>
              </a:ext>
            </a:extLst>
          </p:cNvPr>
          <p:cNvSpPr>
            <a:spLocks noGrp="1"/>
          </p:cNvSpPr>
          <p:nvPr/>
        </p:nvSpPr>
        <p:spPr>
          <a:xfrm>
            <a:off x="495300" y="428625"/>
            <a:ext cx="11191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Un filtro se describe por respuesta, cortes y transición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D29973FD-77E0-485E-BDEE-68F7261D136F}"/>
              </a:ext>
            </a:extLst>
          </p:cNvPr>
          <p:cNvSpPr>
            <a:spLocks noGrp="1"/>
          </p:cNvSpPr>
          <p:nvPr/>
        </p:nvSpPr>
        <p:spPr>
          <a:xfrm>
            <a:off x="523875" y="971550"/>
            <a:ext cx="11001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Tipo y frecuencia de corte no alcanzan por sí solos.</a:t>
            </a:r>
          </a:p>
        </p:txBody>
      </p:sp>
      <p:sp>
        <p:nvSpPr>
          <p:cNvPr id="4" name="U05-DG-010-filter_input">
            <a:extLst>
              <a:ext uri="{FF2B5EF4-FFF2-40B4-BE49-F238E27FC236}">
                <a16:creationId xmlns:a16="http://schemas.microsoft.com/office/drawing/2014/main" id="{4E7D31E9-7CF3-4369-A545-EBA66FAB1583}"/>
              </a:ext>
            </a:extLst>
          </p:cNvPr>
          <p:cNvSpPr>
            <a:spLocks noGrp="1"/>
          </p:cNvSpPr>
          <p:nvPr/>
        </p:nvSpPr>
        <p:spPr>
          <a:xfrm>
            <a:off x="1143000" y="1285875"/>
            <a:ext cx="2381250" cy="1095375"/>
          </a:xfrm>
          <a:prstGeom prst="roundRect">
            <a:avLst>
              <a:gd name="adj" fmla="val 12174"/>
            </a:avLst>
          </a:prstGeom>
          <a:solidFill>
            <a:srgbClr val="EFF8FA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5" name="U05-DG-010-filter_input-title">
            <a:extLst>
              <a:ext uri="{FF2B5EF4-FFF2-40B4-BE49-F238E27FC236}">
                <a16:creationId xmlns:a16="http://schemas.microsoft.com/office/drawing/2014/main" id="{8B31333A-243A-472E-AB65-F6866E9C946F}"/>
              </a:ext>
            </a:extLst>
          </p:cNvPr>
          <p:cNvSpPr>
            <a:spLocks noGrp="1"/>
          </p:cNvSpPr>
          <p:nvPr/>
        </p:nvSpPr>
        <p:spPr>
          <a:xfrm>
            <a:off x="1314450" y="1409700"/>
            <a:ext cx="2038350" cy="3286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Entrada</a:t>
            </a:r>
          </a:p>
        </p:txBody>
      </p:sp>
      <p:sp>
        <p:nvSpPr>
          <p:cNvPr id="6" name="U05-DG-010-filter_input-body">
            <a:extLst>
              <a:ext uri="{FF2B5EF4-FFF2-40B4-BE49-F238E27FC236}">
                <a16:creationId xmlns:a16="http://schemas.microsoft.com/office/drawing/2014/main" id="{0E2EA92B-8199-47B7-B052-2B419C118085}"/>
              </a:ext>
            </a:extLst>
          </p:cNvPr>
          <p:cNvSpPr>
            <a:spLocks noGrp="1"/>
          </p:cNvSpPr>
          <p:nvPr/>
        </p:nvSpPr>
        <p:spPr>
          <a:xfrm>
            <a:off x="1314450" y="1738313"/>
            <a:ext cx="2038350" cy="5191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espectro X(f)</a:t>
            </a:r>
          </a:p>
        </p:txBody>
      </p:sp>
      <p:sp>
        <p:nvSpPr>
          <p:cNvPr id="7" name="U05-DG-010-filter_system">
            <a:extLst>
              <a:ext uri="{FF2B5EF4-FFF2-40B4-BE49-F238E27FC236}">
                <a16:creationId xmlns:a16="http://schemas.microsoft.com/office/drawing/2014/main" id="{83CB55D6-5905-462F-9662-B100482678DD}"/>
              </a:ext>
            </a:extLst>
          </p:cNvPr>
          <p:cNvSpPr>
            <a:spLocks noGrp="1"/>
          </p:cNvSpPr>
          <p:nvPr/>
        </p:nvSpPr>
        <p:spPr>
          <a:xfrm>
            <a:off x="4905375" y="1285875"/>
            <a:ext cx="2381250" cy="1095375"/>
          </a:xfrm>
          <a:prstGeom prst="roundRect">
            <a:avLst>
              <a:gd name="adj" fmla="val 12174"/>
            </a:avLst>
          </a:prstGeom>
          <a:solidFill>
            <a:srgbClr val="DDEFF5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8" name="U05-DG-010-filter_system-title">
            <a:extLst>
              <a:ext uri="{FF2B5EF4-FFF2-40B4-BE49-F238E27FC236}">
                <a16:creationId xmlns:a16="http://schemas.microsoft.com/office/drawing/2014/main" id="{AC6DA8FF-2FC1-499C-AF31-02013C4F165F}"/>
              </a:ext>
            </a:extLst>
          </p:cNvPr>
          <p:cNvSpPr>
            <a:spLocks noGrp="1"/>
          </p:cNvSpPr>
          <p:nvPr/>
        </p:nvSpPr>
        <p:spPr>
          <a:xfrm>
            <a:off x="5076825" y="1409700"/>
            <a:ext cx="2038350" cy="3286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Filtro</a:t>
            </a:r>
          </a:p>
        </p:txBody>
      </p:sp>
      <p:sp>
        <p:nvSpPr>
          <p:cNvPr id="9" name="U05-DG-010-filter_system-body">
            <a:extLst>
              <a:ext uri="{FF2B5EF4-FFF2-40B4-BE49-F238E27FC236}">
                <a16:creationId xmlns:a16="http://schemas.microsoft.com/office/drawing/2014/main" id="{283CBC6F-B2EC-475F-AE9D-2376C92158BF}"/>
              </a:ext>
            </a:extLst>
          </p:cNvPr>
          <p:cNvSpPr>
            <a:spLocks noGrp="1"/>
          </p:cNvSpPr>
          <p:nvPr/>
        </p:nvSpPr>
        <p:spPr>
          <a:xfrm>
            <a:off x="5076825" y="1738313"/>
            <a:ext cx="2038350" cy="5191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respuesta H(f)</a:t>
            </a:r>
          </a:p>
        </p:txBody>
      </p:sp>
      <p:sp>
        <p:nvSpPr>
          <p:cNvPr id="10" name="U05-DG-010-filter_output">
            <a:extLst>
              <a:ext uri="{FF2B5EF4-FFF2-40B4-BE49-F238E27FC236}">
                <a16:creationId xmlns:a16="http://schemas.microsoft.com/office/drawing/2014/main" id="{5989F818-AB50-4306-BE9F-2DDCC2C3E2BB}"/>
              </a:ext>
            </a:extLst>
          </p:cNvPr>
          <p:cNvSpPr>
            <a:spLocks noGrp="1"/>
          </p:cNvSpPr>
          <p:nvPr/>
        </p:nvSpPr>
        <p:spPr>
          <a:xfrm>
            <a:off x="8667750" y="1285875"/>
            <a:ext cx="2381250" cy="1095375"/>
          </a:xfrm>
          <a:prstGeom prst="roundRect">
            <a:avLst>
              <a:gd name="adj" fmla="val 12174"/>
            </a:avLst>
          </a:prstGeom>
          <a:solidFill>
            <a:srgbClr val="EFF8FA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11" name="U05-DG-010-filter_output-title">
            <a:extLst>
              <a:ext uri="{FF2B5EF4-FFF2-40B4-BE49-F238E27FC236}">
                <a16:creationId xmlns:a16="http://schemas.microsoft.com/office/drawing/2014/main" id="{DF35E336-3A4B-4B59-BAE1-D1038A4633F4}"/>
              </a:ext>
            </a:extLst>
          </p:cNvPr>
          <p:cNvSpPr>
            <a:spLocks noGrp="1"/>
          </p:cNvSpPr>
          <p:nvPr/>
        </p:nvSpPr>
        <p:spPr>
          <a:xfrm>
            <a:off x="8839200" y="1409700"/>
            <a:ext cx="2038350" cy="3286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Salida</a:t>
            </a:r>
          </a:p>
        </p:txBody>
      </p:sp>
      <p:sp>
        <p:nvSpPr>
          <p:cNvPr id="12" name="U05-DG-010-filter_output-body">
            <a:extLst>
              <a:ext uri="{FF2B5EF4-FFF2-40B4-BE49-F238E27FC236}">
                <a16:creationId xmlns:a16="http://schemas.microsoft.com/office/drawing/2014/main" id="{842FA5ED-31E8-4FFD-99C8-48DED8A84A88}"/>
              </a:ext>
            </a:extLst>
          </p:cNvPr>
          <p:cNvSpPr>
            <a:spLocks noGrp="1"/>
          </p:cNvSpPr>
          <p:nvPr/>
        </p:nvSpPr>
        <p:spPr>
          <a:xfrm>
            <a:off x="8839200" y="1738313"/>
            <a:ext cx="2038350" cy="5191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Y(f)=X(f)H(f)</a:t>
            </a:r>
          </a:p>
        </p:txBody>
      </p:sp>
      <p:sp>
        <p:nvSpPr>
          <p:cNvPr id="13" name="U05-DG-010-lowpass">
            <a:extLst>
              <a:ext uri="{FF2B5EF4-FFF2-40B4-BE49-F238E27FC236}">
                <a16:creationId xmlns:a16="http://schemas.microsoft.com/office/drawing/2014/main" id="{C68AA1AC-0C7B-4D63-8A63-42D3B7B08ABC}"/>
              </a:ext>
            </a:extLst>
          </p:cNvPr>
          <p:cNvSpPr>
            <a:spLocks noGrp="1"/>
          </p:cNvSpPr>
          <p:nvPr/>
        </p:nvSpPr>
        <p:spPr>
          <a:xfrm>
            <a:off x="714375" y="4000500"/>
            <a:ext cx="2286000" cy="1095375"/>
          </a:xfrm>
          <a:prstGeom prst="roundRect">
            <a:avLst>
              <a:gd name="adj" fmla="val 12174"/>
            </a:avLst>
          </a:prstGeom>
          <a:solidFill>
            <a:srgbClr val="F3F6F8"/>
          </a:solidFill>
          <a:ln w="19050">
            <a:solidFill>
              <a:srgbClr val="8291A3"/>
            </a:solidFill>
            <a:prstDash val="solid"/>
          </a:ln>
        </p:spPr>
      </p:sp>
      <p:sp>
        <p:nvSpPr>
          <p:cNvPr id="14" name="U05-DG-010-lowpass-title">
            <a:extLst>
              <a:ext uri="{FF2B5EF4-FFF2-40B4-BE49-F238E27FC236}">
                <a16:creationId xmlns:a16="http://schemas.microsoft.com/office/drawing/2014/main" id="{A812D6EE-5C1B-4274-B823-9E0FAA3CCE37}"/>
              </a:ext>
            </a:extLst>
          </p:cNvPr>
          <p:cNvSpPr>
            <a:spLocks noGrp="1"/>
          </p:cNvSpPr>
          <p:nvPr/>
        </p:nvSpPr>
        <p:spPr>
          <a:xfrm>
            <a:off x="885825" y="4124325"/>
            <a:ext cx="1943100" cy="3286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Pasa bajos</a:t>
            </a:r>
          </a:p>
        </p:txBody>
      </p:sp>
      <p:sp>
        <p:nvSpPr>
          <p:cNvPr id="15" name="U05-DG-010-lowpass-body">
            <a:extLst>
              <a:ext uri="{FF2B5EF4-FFF2-40B4-BE49-F238E27FC236}">
                <a16:creationId xmlns:a16="http://schemas.microsoft.com/office/drawing/2014/main" id="{A2937772-58BE-4A77-8E8D-7745979C84FC}"/>
              </a:ext>
            </a:extLst>
          </p:cNvPr>
          <p:cNvSpPr>
            <a:spLocks noGrp="1"/>
          </p:cNvSpPr>
          <p:nvPr/>
        </p:nvSpPr>
        <p:spPr>
          <a:xfrm>
            <a:off x="885825" y="4452938"/>
            <a:ext cx="1943100" cy="5191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pasa f bajas</a:t>
            </a:r>
          </a:p>
        </p:txBody>
      </p:sp>
      <p:sp>
        <p:nvSpPr>
          <p:cNvPr id="16" name="U05-DG-010-highpass">
            <a:extLst>
              <a:ext uri="{FF2B5EF4-FFF2-40B4-BE49-F238E27FC236}">
                <a16:creationId xmlns:a16="http://schemas.microsoft.com/office/drawing/2014/main" id="{DAA7129D-20BE-4165-9E8B-486057812DA2}"/>
              </a:ext>
            </a:extLst>
          </p:cNvPr>
          <p:cNvSpPr>
            <a:spLocks noGrp="1"/>
          </p:cNvSpPr>
          <p:nvPr/>
        </p:nvSpPr>
        <p:spPr>
          <a:xfrm>
            <a:off x="3476625" y="4000500"/>
            <a:ext cx="2286000" cy="1095375"/>
          </a:xfrm>
          <a:prstGeom prst="roundRect">
            <a:avLst>
              <a:gd name="adj" fmla="val 12174"/>
            </a:avLst>
          </a:prstGeom>
          <a:solidFill>
            <a:srgbClr val="F3F6F8"/>
          </a:solidFill>
          <a:ln w="19050">
            <a:solidFill>
              <a:srgbClr val="8291A3"/>
            </a:solidFill>
            <a:prstDash val="solid"/>
          </a:ln>
        </p:spPr>
      </p:sp>
      <p:sp>
        <p:nvSpPr>
          <p:cNvPr id="17" name="U05-DG-010-highpass-title">
            <a:extLst>
              <a:ext uri="{FF2B5EF4-FFF2-40B4-BE49-F238E27FC236}">
                <a16:creationId xmlns:a16="http://schemas.microsoft.com/office/drawing/2014/main" id="{49F7BCC7-3DE9-4526-9B0A-430D1FC51A9A}"/>
              </a:ext>
            </a:extLst>
          </p:cNvPr>
          <p:cNvSpPr>
            <a:spLocks noGrp="1"/>
          </p:cNvSpPr>
          <p:nvPr/>
        </p:nvSpPr>
        <p:spPr>
          <a:xfrm>
            <a:off x="3648075" y="4124325"/>
            <a:ext cx="1943100" cy="3286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Pasa altos</a:t>
            </a:r>
          </a:p>
        </p:txBody>
      </p:sp>
      <p:sp>
        <p:nvSpPr>
          <p:cNvPr id="18" name="U05-DG-010-highpass-body">
            <a:extLst>
              <a:ext uri="{FF2B5EF4-FFF2-40B4-BE49-F238E27FC236}">
                <a16:creationId xmlns:a16="http://schemas.microsoft.com/office/drawing/2014/main" id="{42BE53C2-AE5B-4929-91D3-4E4B838BE732}"/>
              </a:ext>
            </a:extLst>
          </p:cNvPr>
          <p:cNvSpPr>
            <a:spLocks noGrp="1"/>
          </p:cNvSpPr>
          <p:nvPr/>
        </p:nvSpPr>
        <p:spPr>
          <a:xfrm>
            <a:off x="3648075" y="4452938"/>
            <a:ext cx="1943100" cy="5191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pasa f altas</a:t>
            </a:r>
          </a:p>
        </p:txBody>
      </p:sp>
      <p:sp>
        <p:nvSpPr>
          <p:cNvPr id="19" name="U05-DG-010-bandpass">
            <a:extLst>
              <a:ext uri="{FF2B5EF4-FFF2-40B4-BE49-F238E27FC236}">
                <a16:creationId xmlns:a16="http://schemas.microsoft.com/office/drawing/2014/main" id="{79635C6D-7323-475E-ACE8-504F553EAAF1}"/>
              </a:ext>
            </a:extLst>
          </p:cNvPr>
          <p:cNvSpPr>
            <a:spLocks noGrp="1"/>
          </p:cNvSpPr>
          <p:nvPr/>
        </p:nvSpPr>
        <p:spPr>
          <a:xfrm>
            <a:off x="6238875" y="4000500"/>
            <a:ext cx="2286000" cy="1095375"/>
          </a:xfrm>
          <a:prstGeom prst="roundRect">
            <a:avLst>
              <a:gd name="adj" fmla="val 12174"/>
            </a:avLst>
          </a:prstGeom>
          <a:solidFill>
            <a:srgbClr val="E3F2ED"/>
          </a:solidFill>
          <a:ln w="19050">
            <a:solidFill>
              <a:srgbClr val="2D7867"/>
            </a:solidFill>
            <a:prstDash val="solid"/>
          </a:ln>
        </p:spPr>
      </p:sp>
      <p:sp>
        <p:nvSpPr>
          <p:cNvPr id="20" name="U05-DG-010-bandpass-title">
            <a:extLst>
              <a:ext uri="{FF2B5EF4-FFF2-40B4-BE49-F238E27FC236}">
                <a16:creationId xmlns:a16="http://schemas.microsoft.com/office/drawing/2014/main" id="{5057F5AE-57FC-4D1D-8347-AB506255E87A}"/>
              </a:ext>
            </a:extLst>
          </p:cNvPr>
          <p:cNvSpPr>
            <a:spLocks noGrp="1"/>
          </p:cNvSpPr>
          <p:nvPr/>
        </p:nvSpPr>
        <p:spPr>
          <a:xfrm>
            <a:off x="6410325" y="4124325"/>
            <a:ext cx="1943100" cy="3286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Pasa banda</a:t>
            </a:r>
          </a:p>
        </p:txBody>
      </p:sp>
      <p:sp>
        <p:nvSpPr>
          <p:cNvPr id="21" name="U05-DG-010-bandpass-body">
            <a:extLst>
              <a:ext uri="{FF2B5EF4-FFF2-40B4-BE49-F238E27FC236}">
                <a16:creationId xmlns:a16="http://schemas.microsoft.com/office/drawing/2014/main" id="{8E2F007D-9C02-48B0-93E6-65FF4F2D77FA}"/>
              </a:ext>
            </a:extLst>
          </p:cNvPr>
          <p:cNvSpPr>
            <a:spLocks noGrp="1"/>
          </p:cNvSpPr>
          <p:nvPr/>
        </p:nvSpPr>
        <p:spPr>
          <a:xfrm>
            <a:off x="6410325" y="4452938"/>
            <a:ext cx="1943100" cy="5191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pasa f_L…f_H</a:t>
            </a:r>
          </a:p>
        </p:txBody>
      </p:sp>
      <p:sp>
        <p:nvSpPr>
          <p:cNvPr id="22" name="U05-DG-010-bandstop">
            <a:extLst>
              <a:ext uri="{FF2B5EF4-FFF2-40B4-BE49-F238E27FC236}">
                <a16:creationId xmlns:a16="http://schemas.microsoft.com/office/drawing/2014/main" id="{FE9EBBA5-471C-4CB9-8B95-A4A127EB6AFF}"/>
              </a:ext>
            </a:extLst>
          </p:cNvPr>
          <p:cNvSpPr>
            <a:spLocks noGrp="1"/>
          </p:cNvSpPr>
          <p:nvPr/>
        </p:nvSpPr>
        <p:spPr>
          <a:xfrm>
            <a:off x="9001125" y="4000500"/>
            <a:ext cx="2286000" cy="1095375"/>
          </a:xfrm>
          <a:prstGeom prst="roundRect">
            <a:avLst>
              <a:gd name="adj" fmla="val 12174"/>
            </a:avLst>
          </a:prstGeom>
          <a:solidFill>
            <a:srgbClr val="E3F2ED"/>
          </a:solidFill>
          <a:ln w="19050">
            <a:solidFill>
              <a:srgbClr val="2D7867"/>
            </a:solidFill>
            <a:prstDash val="solid"/>
          </a:ln>
        </p:spPr>
      </p:sp>
      <p:sp>
        <p:nvSpPr>
          <p:cNvPr id="23" name="U05-DG-010-bandstop-title">
            <a:extLst>
              <a:ext uri="{FF2B5EF4-FFF2-40B4-BE49-F238E27FC236}">
                <a16:creationId xmlns:a16="http://schemas.microsoft.com/office/drawing/2014/main" id="{40F77FED-4E86-4AE0-B489-2F664221C65C}"/>
              </a:ext>
            </a:extLst>
          </p:cNvPr>
          <p:cNvSpPr>
            <a:spLocks noGrp="1"/>
          </p:cNvSpPr>
          <p:nvPr/>
        </p:nvSpPr>
        <p:spPr>
          <a:xfrm>
            <a:off x="9172575" y="4124325"/>
            <a:ext cx="1943100" cy="3286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Rechazo</a:t>
            </a:r>
          </a:p>
        </p:txBody>
      </p:sp>
      <p:sp>
        <p:nvSpPr>
          <p:cNvPr id="24" name="U05-DG-010-bandstop-body">
            <a:extLst>
              <a:ext uri="{FF2B5EF4-FFF2-40B4-BE49-F238E27FC236}">
                <a16:creationId xmlns:a16="http://schemas.microsoft.com/office/drawing/2014/main" id="{8DBD090A-8294-4D6B-8EE4-2EB4F35024FD}"/>
              </a:ext>
            </a:extLst>
          </p:cNvPr>
          <p:cNvSpPr>
            <a:spLocks noGrp="1"/>
          </p:cNvSpPr>
          <p:nvPr/>
        </p:nvSpPr>
        <p:spPr>
          <a:xfrm>
            <a:off x="9172575" y="4452938"/>
            <a:ext cx="1943100" cy="5191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f_L…f_H</a:t>
            </a:r>
          </a:p>
        </p:txBody>
      </p:sp>
      <p:cxnSp>
        <p:nvCxnSpPr>
          <p:cNvPr id="58" name="U05-DG-010-filter_1"/>
          <p:cNvCxnSpPr>
            <a:stCxn id="4" idx="3"/>
            <a:endCxn id="7" idx="1"/>
          </p:cNvCxnSpPr>
          <p:nvPr/>
        </p:nvCxnSpPr>
        <p:spPr>
          <a:xfrm>
            <a:off x="3524250" y="1833563"/>
            <a:ext cx="1381125" cy="0"/>
          </a:xfrm>
          <a:prstGeom prst="straightConnector1">
            <a:avLst/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cxnSp>
        <p:nvCxnSpPr>
          <p:cNvPr id="59" name="U05-DG-010-filter_2"/>
          <p:cNvCxnSpPr>
            <a:stCxn id="7" idx="3"/>
            <a:endCxn id="10" idx="1"/>
          </p:cNvCxnSpPr>
          <p:nvPr/>
        </p:nvCxnSpPr>
        <p:spPr>
          <a:xfrm>
            <a:off x="7286625" y="1833563"/>
            <a:ext cx="1381125" cy="0"/>
          </a:xfrm>
          <a:prstGeom prst="straightConnector1">
            <a:avLst/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cxnSp>
        <p:nvCxnSpPr>
          <p:cNvPr id="60" name="U05-DG-010-filter_branch_1"/>
          <p:cNvCxnSpPr>
            <a:stCxn id="7" idx="2"/>
            <a:endCxn id="13" idx="0"/>
          </p:cNvCxnSpPr>
          <p:nvPr/>
        </p:nvCxnSpPr>
        <p:spPr>
          <a:xfrm flipH="1">
            <a:off x="1857375" y="2381250"/>
            <a:ext cx="4238625" cy="1619250"/>
          </a:xfrm>
          <a:prstGeom prst="bentConnector4">
            <a:avLst>
              <a:gd name="adj1" fmla="val 0"/>
              <a:gd name="adj2" fmla="val 50000"/>
            </a:avLst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cxnSp>
        <p:nvCxnSpPr>
          <p:cNvPr id="61" name="U05-DG-010-filter_branch_2"/>
          <p:cNvCxnSpPr>
            <a:stCxn id="7" idx="2"/>
            <a:endCxn id="16" idx="0"/>
          </p:cNvCxnSpPr>
          <p:nvPr/>
        </p:nvCxnSpPr>
        <p:spPr>
          <a:xfrm flipH="1">
            <a:off x="4619625" y="2381250"/>
            <a:ext cx="1476375" cy="1619250"/>
          </a:xfrm>
          <a:prstGeom prst="bentConnector4">
            <a:avLst>
              <a:gd name="adj1" fmla="val 0"/>
              <a:gd name="adj2" fmla="val 50000"/>
            </a:avLst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cxnSp>
        <p:nvCxnSpPr>
          <p:cNvPr id="62" name="U05-DG-010-filter_branch_3"/>
          <p:cNvCxnSpPr>
            <a:stCxn id="7" idx="2"/>
            <a:endCxn id="19" idx="0"/>
          </p:cNvCxnSpPr>
          <p:nvPr/>
        </p:nvCxnSpPr>
        <p:spPr>
          <a:xfrm>
            <a:off x="6096000" y="2381250"/>
            <a:ext cx="1285875" cy="1619250"/>
          </a:xfrm>
          <a:prstGeom prst="bentConnector4">
            <a:avLst>
              <a:gd name="adj1" fmla="val 0"/>
              <a:gd name="adj2" fmla="val 50000"/>
            </a:avLst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cxnSp>
        <p:nvCxnSpPr>
          <p:cNvPr id="63" name="U05-DG-010-filter_branch_4"/>
          <p:cNvCxnSpPr>
            <a:stCxn id="7" idx="2"/>
            <a:endCxn id="22" idx="0"/>
          </p:cNvCxnSpPr>
          <p:nvPr/>
        </p:nvCxnSpPr>
        <p:spPr>
          <a:xfrm>
            <a:off x="6096000" y="2381250"/>
            <a:ext cx="4048125" cy="1619250"/>
          </a:xfrm>
          <a:prstGeom prst="bentConnector4">
            <a:avLst>
              <a:gd name="adj1" fmla="val 0"/>
              <a:gd name="adj2" fmla="val 50000"/>
            </a:avLst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sp>
        <p:nvSpPr>
          <p:cNvPr id="31" name="diagram-scale-note">
            <a:extLst>
              <a:ext uri="{FF2B5EF4-FFF2-40B4-BE49-F238E27FC236}">
                <a16:creationId xmlns:a16="http://schemas.microsoft.com/office/drawing/2014/main" id="{1C857194-9902-47B4-97B2-E5105B106989}"/>
              </a:ext>
            </a:extLst>
          </p:cNvPr>
          <p:cNvSpPr>
            <a:spLocks noGrp="1"/>
          </p:cNvSpPr>
          <p:nvPr/>
        </p:nvSpPr>
        <p:spPr>
          <a:xfrm>
            <a:off x="552450" y="5829300"/>
            <a:ext cx="3905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05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Esquema conceptual · no está a escala</a:t>
            </a:r>
          </a:p>
        </p:txBody>
      </p:sp>
      <p:sp>
        <p:nvSpPr>
          <p:cNvPr id="32" name="caption">
            <a:extLst>
              <a:ext uri="{FF2B5EF4-FFF2-40B4-BE49-F238E27FC236}">
                <a16:creationId xmlns:a16="http://schemas.microsoft.com/office/drawing/2014/main" id="{5E09E4D2-F739-49C1-9FF9-378D91B4DA16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876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El modelo ideal es una referencia; la respuesta real cambia gradualmente.</a:t>
            </a:r>
          </a:p>
        </p:txBody>
      </p:sp>
      <p:sp>
        <p:nvSpPr>
          <p:cNvPr id="33" name="credit">
            <a:extLst>
              <a:ext uri="{FF2B5EF4-FFF2-40B4-BE49-F238E27FC236}">
                <a16:creationId xmlns:a16="http://schemas.microsoft.com/office/drawing/2014/main" id="{1ADC78FA-E3E9-43B9-8F68-849AC1501F38}"/>
              </a:ext>
            </a:extLst>
          </p:cNvPr>
          <p:cNvSpPr>
            <a:spLocks noGrp="1"/>
          </p:cNvSpPr>
          <p:nvPr/>
        </p:nvSpPr>
        <p:spPr>
          <a:xfrm>
            <a:off x="9382125" y="60769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5.9; GLO.</a:t>
            </a:r>
          </a:p>
        </p:txBody>
      </p:sp>
      <p:sp>
        <p:nvSpPr>
          <p:cNvPr id="25" name="slide-alt-summary" descr="Respuesta de filtro real anotada con paso, transición, rechazo y corte.">
            <a:extLst>
              <a:ext uri="{FF2B5EF4-FFF2-40B4-BE49-F238E27FC236}">
                <a16:creationId xmlns:a16="http://schemas.microsoft.com/office/drawing/2014/main" id="{4C832648-7FD9-C816-3D30-48B643A5864E}"/>
              </a:ext>
            </a:extLst>
          </p:cNvPr>
          <p:cNvSpPr/>
          <p:nvPr/>
        </p:nvSpPr>
        <p:spPr>
          <a:xfrm>
            <a:off x="12700" y="12700"/>
            <a:ext cx="12700" cy="12700"/>
          </a:xfrm>
          <a:prstGeom prst="rect">
            <a:avLst/>
          </a:prstGeom>
          <a:noFill/>
          <a:ln w="19050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86630461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yebrow">
            <a:extLst>
              <a:ext uri="{FF2B5EF4-FFF2-40B4-BE49-F238E27FC236}">
                <a16:creationId xmlns:a16="http://schemas.microsoft.com/office/drawing/2014/main" id="{FAF17C12-5CB6-47A1-A898-6AC3EAD6C61E}"/>
              </a:ext>
            </a:extLst>
          </p:cNvPr>
          <p:cNvSpPr>
            <a:spLocks noGrp="1"/>
          </p:cNvSpPr>
          <p:nvPr/>
        </p:nvSpPr>
        <p:spPr>
          <a:xfrm>
            <a:off x="514350" y="2095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097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0F96B955-81C9-4394-9CEB-6729483461C0}"/>
              </a:ext>
            </a:extLst>
          </p:cNvPr>
          <p:cNvSpPr>
            <a:spLocks noGrp="1"/>
          </p:cNvSpPr>
          <p:nvPr/>
        </p:nvSpPr>
        <p:spPr>
          <a:xfrm>
            <a:off x="495300" y="428625"/>
            <a:ext cx="11191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Pasa bajos y pasa altos conservan regiones opuestas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4C4DB6A4-07C0-4927-970B-2A2D043E9FCB}"/>
              </a:ext>
            </a:extLst>
          </p:cNvPr>
          <p:cNvSpPr>
            <a:spLocks noGrp="1"/>
          </p:cNvSpPr>
          <p:nvPr/>
        </p:nvSpPr>
        <p:spPr>
          <a:xfrm>
            <a:off x="523875" y="971550"/>
            <a:ext cx="11001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Las dos respuestas comparten una frecuencia de corte declarada.</a:t>
            </a:r>
          </a:p>
        </p:txBody>
      </p:sp>
      <p:pic>
        <p:nvPicPr>
          <p:cNvPr id="13" name="Gráfico 1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457200" y="1381125"/>
            <a:ext cx="7524750" cy="4429125"/>
          </a:xfrm>
          <a:prstGeom prst="rect">
            <a:avLst/>
          </a:prstGeom>
        </p:spPr>
      </p:pic>
      <p:sp>
        <p:nvSpPr>
          <p:cNvPr id="5" name="chart-reading-box">
            <a:extLst>
              <a:ext uri="{FF2B5EF4-FFF2-40B4-BE49-F238E27FC236}">
                <a16:creationId xmlns:a16="http://schemas.microsoft.com/office/drawing/2014/main" id="{B8FB87DF-1808-483E-8E7B-D92AAC78B3B2}"/>
              </a:ext>
            </a:extLst>
          </p:cNvPr>
          <p:cNvSpPr>
            <a:spLocks noGrp="1"/>
          </p:cNvSpPr>
          <p:nvPr/>
        </p:nvSpPr>
        <p:spPr>
          <a:xfrm>
            <a:off x="8239125" y="1476375"/>
            <a:ext cx="3190875" cy="3857625"/>
          </a:xfrm>
          <a:prstGeom prst="roundRect">
            <a:avLst>
              <a:gd name="adj" fmla="val 4179"/>
            </a:avLst>
          </a:prstGeom>
          <a:solidFill>
            <a:srgbClr val="DDEFF5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6" name="chart-reading-title">
            <a:extLst>
              <a:ext uri="{FF2B5EF4-FFF2-40B4-BE49-F238E27FC236}">
                <a16:creationId xmlns:a16="http://schemas.microsoft.com/office/drawing/2014/main" id="{1BFB6514-5475-4249-BE89-C1AC5C14D426}"/>
              </a:ext>
            </a:extLst>
          </p:cNvPr>
          <p:cNvSpPr>
            <a:spLocks noGrp="1"/>
          </p:cNvSpPr>
          <p:nvPr/>
        </p:nvSpPr>
        <p:spPr>
          <a:xfrm>
            <a:off x="8410575" y="1609725"/>
            <a:ext cx="28479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Qué leer</a:t>
            </a:r>
          </a:p>
        </p:txBody>
      </p:sp>
      <p:sp>
        <p:nvSpPr>
          <p:cNvPr id="7" name="chart-reading-body">
            <a:extLst>
              <a:ext uri="{FF2B5EF4-FFF2-40B4-BE49-F238E27FC236}">
                <a16:creationId xmlns:a16="http://schemas.microsoft.com/office/drawing/2014/main" id="{DE447258-51FA-4E81-B244-C9276EDD6171}"/>
              </a:ext>
            </a:extLst>
          </p:cNvPr>
          <p:cNvSpPr>
            <a:spLocks noGrp="1"/>
          </p:cNvSpPr>
          <p:nvPr/>
        </p:nvSpPr>
        <p:spPr>
          <a:xfrm>
            <a:off x="8410575" y="1990725"/>
            <a:ext cx="2847975" cy="3209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Pasa bajos: conserva bajas frecuencias. Pasa altos: conserva altas. Ambos presentan transición en un modelo real.</a:t>
            </a:r>
          </a:p>
        </p:txBody>
      </p:sp>
      <p:sp>
        <p:nvSpPr>
          <p:cNvPr id="8" name="caption">
            <a:extLst>
              <a:ext uri="{FF2B5EF4-FFF2-40B4-BE49-F238E27FC236}">
                <a16:creationId xmlns:a16="http://schemas.microsoft.com/office/drawing/2014/main" id="{3349CE87-A28D-408E-A89A-EE4A85FA3F1D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876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Leer primero ejes y regiones; después asociar consecuencias sonoras.</a:t>
            </a:r>
          </a:p>
        </p:txBody>
      </p:sp>
      <p:sp>
        <p:nvSpPr>
          <p:cNvPr id="9" name="credit">
            <a:extLst>
              <a:ext uri="{FF2B5EF4-FFF2-40B4-BE49-F238E27FC236}">
                <a16:creationId xmlns:a16="http://schemas.microsoft.com/office/drawing/2014/main" id="{FB0EF3D6-D3BF-4633-9C8D-C1BAFF290EFE}"/>
              </a:ext>
            </a:extLst>
          </p:cNvPr>
          <p:cNvSpPr>
            <a:spLocks noGrp="1"/>
          </p:cNvSpPr>
          <p:nvPr/>
        </p:nvSpPr>
        <p:spPr>
          <a:xfrm>
            <a:off x="9382125" y="60769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fig. 5.7a–b.</a:t>
            </a:r>
          </a:p>
        </p:txBody>
      </p:sp>
      <p:sp>
        <p:nvSpPr>
          <p:cNvPr id="4" name="slide-alt-summary" descr="Respuestas pasa bajos y pasa altos comparten escala logarítmica y cortes señalados.">
            <a:extLst>
              <a:ext uri="{FF2B5EF4-FFF2-40B4-BE49-F238E27FC236}">
                <a16:creationId xmlns:a16="http://schemas.microsoft.com/office/drawing/2014/main" id="{88E3F4F7-AC92-6DC7-D7A4-E7FE8F43660B}"/>
              </a:ext>
            </a:extLst>
          </p:cNvPr>
          <p:cNvSpPr/>
          <p:nvPr/>
        </p:nvSpPr>
        <p:spPr>
          <a:xfrm>
            <a:off x="12700" y="12700"/>
            <a:ext cx="12700" cy="12700"/>
          </a:xfrm>
          <a:prstGeom prst="rect">
            <a:avLst/>
          </a:prstGeom>
          <a:noFill/>
          <a:ln w="19050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yebrow">
            <a:extLst>
              <a:ext uri="{FF2B5EF4-FFF2-40B4-BE49-F238E27FC236}">
                <a16:creationId xmlns:a16="http://schemas.microsoft.com/office/drawing/2014/main" id="{5C646D41-83E0-49B0-A1D9-5D268A8A4D8A}"/>
              </a:ext>
            </a:extLst>
          </p:cNvPr>
          <p:cNvSpPr>
            <a:spLocks noGrp="1"/>
          </p:cNvSpPr>
          <p:nvPr/>
        </p:nvSpPr>
        <p:spPr>
          <a:xfrm>
            <a:off x="514350" y="2095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098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0DEE0BC6-2A3B-4F62-9124-643E4963CE93}"/>
              </a:ext>
            </a:extLst>
          </p:cNvPr>
          <p:cNvSpPr>
            <a:spLocks noGrp="1"/>
          </p:cNvSpPr>
          <p:nvPr/>
        </p:nvSpPr>
        <p:spPr>
          <a:xfrm>
            <a:off x="495300" y="428625"/>
            <a:ext cx="11191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Pasa banda y elimina banda usan dos límites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F08A002B-D258-4BC7-851C-CC5C8C7D2E67}"/>
              </a:ext>
            </a:extLst>
          </p:cNvPr>
          <p:cNvSpPr>
            <a:spLocks noGrp="1"/>
          </p:cNvSpPr>
          <p:nvPr/>
        </p:nvSpPr>
        <p:spPr>
          <a:xfrm>
            <a:off x="523875" y="971550"/>
            <a:ext cx="11001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Entre f_L y f_H, una respuesta conserva y la otra atenúa.</a:t>
            </a:r>
          </a:p>
        </p:txBody>
      </p:sp>
      <p:pic>
        <p:nvPicPr>
          <p:cNvPr id="13" name="Gráfico 1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457200" y="1381125"/>
            <a:ext cx="7524750" cy="4429125"/>
          </a:xfrm>
          <a:prstGeom prst="rect">
            <a:avLst/>
          </a:prstGeom>
        </p:spPr>
      </p:pic>
      <p:sp>
        <p:nvSpPr>
          <p:cNvPr id="5" name="chart-reading-box">
            <a:extLst>
              <a:ext uri="{FF2B5EF4-FFF2-40B4-BE49-F238E27FC236}">
                <a16:creationId xmlns:a16="http://schemas.microsoft.com/office/drawing/2014/main" id="{F079EBD1-2905-497D-A1A0-4150800B28C4}"/>
              </a:ext>
            </a:extLst>
          </p:cNvPr>
          <p:cNvSpPr>
            <a:spLocks noGrp="1"/>
          </p:cNvSpPr>
          <p:nvPr/>
        </p:nvSpPr>
        <p:spPr>
          <a:xfrm>
            <a:off x="8239125" y="1476375"/>
            <a:ext cx="3190875" cy="3857625"/>
          </a:xfrm>
          <a:prstGeom prst="roundRect">
            <a:avLst>
              <a:gd name="adj" fmla="val 4179"/>
            </a:avLst>
          </a:prstGeom>
          <a:solidFill>
            <a:srgbClr val="DDEFF5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6" name="chart-reading-title">
            <a:extLst>
              <a:ext uri="{FF2B5EF4-FFF2-40B4-BE49-F238E27FC236}">
                <a16:creationId xmlns:a16="http://schemas.microsoft.com/office/drawing/2014/main" id="{9E531B19-01C3-4A2A-9CA4-1FBEE138CA0E}"/>
              </a:ext>
            </a:extLst>
          </p:cNvPr>
          <p:cNvSpPr>
            <a:spLocks noGrp="1"/>
          </p:cNvSpPr>
          <p:nvPr/>
        </p:nvSpPr>
        <p:spPr>
          <a:xfrm>
            <a:off x="8410575" y="1609725"/>
            <a:ext cx="28479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Qué leer</a:t>
            </a:r>
          </a:p>
        </p:txBody>
      </p:sp>
      <p:sp>
        <p:nvSpPr>
          <p:cNvPr id="7" name="chart-reading-body">
            <a:extLst>
              <a:ext uri="{FF2B5EF4-FFF2-40B4-BE49-F238E27FC236}">
                <a16:creationId xmlns:a16="http://schemas.microsoft.com/office/drawing/2014/main" id="{267A41CA-68E1-40AC-892F-DF5F8CDFBC3A}"/>
              </a:ext>
            </a:extLst>
          </p:cNvPr>
          <p:cNvSpPr>
            <a:spLocks noGrp="1"/>
          </p:cNvSpPr>
          <p:nvPr/>
        </p:nvSpPr>
        <p:spPr>
          <a:xfrm>
            <a:off x="8410575" y="1990725"/>
            <a:ext cx="2847975" cy="3209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Pasa banda: región central de paso. Elimina banda: región central de rechazo. Notch: rechazo relativamente estrecho.</a:t>
            </a:r>
          </a:p>
        </p:txBody>
      </p:sp>
      <p:sp>
        <p:nvSpPr>
          <p:cNvPr id="8" name="caption">
            <a:extLst>
              <a:ext uri="{FF2B5EF4-FFF2-40B4-BE49-F238E27FC236}">
                <a16:creationId xmlns:a16="http://schemas.microsoft.com/office/drawing/2014/main" id="{7CB6B947-7CB2-41A7-9C2A-4930C1D40586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876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Centro y ancho describen una región del sistema.</a:t>
            </a:r>
          </a:p>
        </p:txBody>
      </p:sp>
      <p:sp>
        <p:nvSpPr>
          <p:cNvPr id="9" name="credit">
            <a:extLst>
              <a:ext uri="{FF2B5EF4-FFF2-40B4-BE49-F238E27FC236}">
                <a16:creationId xmlns:a16="http://schemas.microsoft.com/office/drawing/2014/main" id="{21AEE361-2C82-4B5B-B10B-EEAEE7892DA0}"/>
              </a:ext>
            </a:extLst>
          </p:cNvPr>
          <p:cNvSpPr>
            <a:spLocks noGrp="1"/>
          </p:cNvSpPr>
          <p:nvPr/>
        </p:nvSpPr>
        <p:spPr>
          <a:xfrm>
            <a:off x="9382125" y="60769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fig. 5.7c–d.</a:t>
            </a:r>
          </a:p>
        </p:txBody>
      </p:sp>
      <p:sp>
        <p:nvSpPr>
          <p:cNvPr id="4" name="slide-alt-summary" descr="Respuestas pasa banda y elimina banda con límites inferior y superior.">
            <a:extLst>
              <a:ext uri="{FF2B5EF4-FFF2-40B4-BE49-F238E27FC236}">
                <a16:creationId xmlns:a16="http://schemas.microsoft.com/office/drawing/2014/main" id="{62D737DD-3FD5-AF6E-B361-66966A99E3DF}"/>
              </a:ext>
            </a:extLst>
          </p:cNvPr>
          <p:cNvSpPr/>
          <p:nvPr/>
        </p:nvSpPr>
        <p:spPr>
          <a:xfrm>
            <a:off x="12700" y="12700"/>
            <a:ext cx="12700" cy="12700"/>
          </a:xfrm>
          <a:prstGeom prst="rect">
            <a:avLst/>
          </a:prstGeom>
          <a:noFill/>
          <a:ln w="19050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yebrow">
            <a:extLst>
              <a:ext uri="{FF2B5EF4-FFF2-40B4-BE49-F238E27FC236}">
                <a16:creationId xmlns:a16="http://schemas.microsoft.com/office/drawing/2014/main" id="{3741F2BD-1D64-4A51-B7E3-97EA5E52CE81}"/>
              </a:ext>
            </a:extLst>
          </p:cNvPr>
          <p:cNvSpPr>
            <a:spLocks noGrp="1"/>
          </p:cNvSpPr>
          <p:nvPr/>
        </p:nvSpPr>
        <p:spPr>
          <a:xfrm>
            <a:off x="514350" y="2095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099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F84D1AF3-5971-4670-B68E-56AD35F2EDCD}"/>
              </a:ext>
            </a:extLst>
          </p:cNvPr>
          <p:cNvSpPr>
            <a:spLocks noGrp="1"/>
          </p:cNvSpPr>
          <p:nvPr/>
        </p:nvSpPr>
        <p:spPr>
          <a:xfrm>
            <a:off x="495300" y="428625"/>
            <a:ext cx="11191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Un filtro real no cambia de forma instantánea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8FA27247-A3BB-43D1-B1D2-E12FF6EE4533}"/>
              </a:ext>
            </a:extLst>
          </p:cNvPr>
          <p:cNvSpPr>
            <a:spLocks noGrp="1"/>
          </p:cNvSpPr>
          <p:nvPr/>
        </p:nvSpPr>
        <p:spPr>
          <a:xfrm>
            <a:off x="523875" y="971550"/>
            <a:ext cx="11001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El rectángulo ideal no es una especificación universal.</a:t>
            </a:r>
          </a:p>
        </p:txBody>
      </p:sp>
      <p:pic>
        <p:nvPicPr>
          <p:cNvPr id="10" name="Gráfico 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457200" y="1257300"/>
            <a:ext cx="11277600" cy="4686300"/>
          </a:xfrm>
          <a:prstGeom prst="rect">
            <a:avLst/>
          </a:prstGeom>
        </p:spPr>
      </p:pic>
      <p:sp>
        <p:nvSpPr>
          <p:cNvPr id="5" name="caption">
            <a:extLst>
              <a:ext uri="{FF2B5EF4-FFF2-40B4-BE49-F238E27FC236}">
                <a16:creationId xmlns:a16="http://schemas.microsoft.com/office/drawing/2014/main" id="{85FB8DC2-5578-4962-BDA4-5DAA1ED14E01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876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Tipo de filtro y orden del modelo son informaciones diferentes.</a:t>
            </a:r>
          </a:p>
        </p:txBody>
      </p:sp>
      <p:sp>
        <p:nvSpPr>
          <p:cNvPr id="6" name="credit">
            <a:extLst>
              <a:ext uri="{FF2B5EF4-FFF2-40B4-BE49-F238E27FC236}">
                <a16:creationId xmlns:a16="http://schemas.microsoft.com/office/drawing/2014/main" id="{A477E64D-AB3D-4FD6-841F-ABBD423CFB32}"/>
              </a:ext>
            </a:extLst>
          </p:cNvPr>
          <p:cNvSpPr>
            <a:spLocks noGrp="1"/>
          </p:cNvSpPr>
          <p:nvPr/>
        </p:nvSpPr>
        <p:spPr>
          <a:xfrm>
            <a:off x="9382125" y="60769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fig. 5.7; script U5.</a:t>
            </a:r>
          </a:p>
        </p:txBody>
      </p:sp>
      <p:sp>
        <p:nvSpPr>
          <p:cNvPr id="4" name="slide-alt-summary" descr="Cuatro paneles comparan respuestas ideales discontinuas con curvas Butterworth suaves.">
            <a:extLst>
              <a:ext uri="{FF2B5EF4-FFF2-40B4-BE49-F238E27FC236}">
                <a16:creationId xmlns:a16="http://schemas.microsoft.com/office/drawing/2014/main" id="{9951D805-101D-B49B-EB07-53F841DACBDF}"/>
              </a:ext>
            </a:extLst>
          </p:cNvPr>
          <p:cNvSpPr/>
          <p:nvPr/>
        </p:nvSpPr>
        <p:spPr>
          <a:xfrm>
            <a:off x="12700" y="12700"/>
            <a:ext cx="12700" cy="12700"/>
          </a:xfrm>
          <a:prstGeom prst="rect">
            <a:avLst/>
          </a:prstGeom>
          <a:noFill/>
          <a:ln w="19050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95449240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eyebrow">
            <a:extLst>
              <a:ext uri="{FF2B5EF4-FFF2-40B4-BE49-F238E27FC236}">
                <a16:creationId xmlns:a16="http://schemas.microsoft.com/office/drawing/2014/main" id="{FAC8C72E-B7FB-4C3B-9369-A07CE24F585A}"/>
              </a:ext>
            </a:extLst>
          </p:cNvPr>
          <p:cNvSpPr>
            <a:spLocks noGrp="1"/>
          </p:cNvSpPr>
          <p:nvPr/>
        </p:nvSpPr>
        <p:spPr>
          <a:xfrm>
            <a:off x="514350" y="2095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100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304155E2-A2FA-4638-92BC-29C2F66859A9}"/>
              </a:ext>
            </a:extLst>
          </p:cNvPr>
          <p:cNvSpPr>
            <a:spLocks noGrp="1"/>
          </p:cNvSpPr>
          <p:nvPr/>
        </p:nvSpPr>
        <p:spPr>
          <a:xfrm>
            <a:off x="495300" y="428625"/>
            <a:ext cx="11191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La frecuencia de corte requiere un criterio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E27F522-333D-4500-8F7B-45A160DB7A77}"/>
              </a:ext>
            </a:extLst>
          </p:cNvPr>
          <p:cNvSpPr>
            <a:spLocks noGrp="1"/>
          </p:cNvSpPr>
          <p:nvPr/>
        </p:nvSpPr>
        <p:spPr>
          <a:xfrm>
            <a:off x="523875" y="971550"/>
            <a:ext cx="11001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−3 dB es frecuente, pero no universal.</a:t>
            </a:r>
          </a:p>
        </p:txBody>
      </p:sp>
      <p:sp>
        <p:nvSpPr>
          <p:cNvPr id="4" name="U05-DG-010-filter_input">
            <a:extLst>
              <a:ext uri="{FF2B5EF4-FFF2-40B4-BE49-F238E27FC236}">
                <a16:creationId xmlns:a16="http://schemas.microsoft.com/office/drawing/2014/main" id="{EDC500AB-E4EB-46C8-B4D1-6B7410C2878F}"/>
              </a:ext>
            </a:extLst>
          </p:cNvPr>
          <p:cNvSpPr>
            <a:spLocks noGrp="1"/>
          </p:cNvSpPr>
          <p:nvPr/>
        </p:nvSpPr>
        <p:spPr>
          <a:xfrm>
            <a:off x="1143000" y="1285875"/>
            <a:ext cx="2381250" cy="1095375"/>
          </a:xfrm>
          <a:prstGeom prst="roundRect">
            <a:avLst>
              <a:gd name="adj" fmla="val 12174"/>
            </a:avLst>
          </a:prstGeom>
          <a:solidFill>
            <a:srgbClr val="EFF8FA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5" name="U05-DG-010-filter_input-title">
            <a:extLst>
              <a:ext uri="{FF2B5EF4-FFF2-40B4-BE49-F238E27FC236}">
                <a16:creationId xmlns:a16="http://schemas.microsoft.com/office/drawing/2014/main" id="{2024892A-F0BA-4021-A4A1-D48C7AA4DCD8}"/>
              </a:ext>
            </a:extLst>
          </p:cNvPr>
          <p:cNvSpPr>
            <a:spLocks noGrp="1"/>
          </p:cNvSpPr>
          <p:nvPr/>
        </p:nvSpPr>
        <p:spPr>
          <a:xfrm>
            <a:off x="1314450" y="1409700"/>
            <a:ext cx="2038350" cy="3286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Entrada</a:t>
            </a:r>
          </a:p>
        </p:txBody>
      </p:sp>
      <p:sp>
        <p:nvSpPr>
          <p:cNvPr id="6" name="U05-DG-010-filter_input-body">
            <a:extLst>
              <a:ext uri="{FF2B5EF4-FFF2-40B4-BE49-F238E27FC236}">
                <a16:creationId xmlns:a16="http://schemas.microsoft.com/office/drawing/2014/main" id="{87217F03-A101-430C-B095-3E265452DC95}"/>
              </a:ext>
            </a:extLst>
          </p:cNvPr>
          <p:cNvSpPr>
            <a:spLocks noGrp="1"/>
          </p:cNvSpPr>
          <p:nvPr/>
        </p:nvSpPr>
        <p:spPr>
          <a:xfrm>
            <a:off x="1314450" y="1738313"/>
            <a:ext cx="2038350" cy="5191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espectro X(f)</a:t>
            </a:r>
          </a:p>
        </p:txBody>
      </p:sp>
      <p:sp>
        <p:nvSpPr>
          <p:cNvPr id="7" name="U05-DG-010-filter_system">
            <a:extLst>
              <a:ext uri="{FF2B5EF4-FFF2-40B4-BE49-F238E27FC236}">
                <a16:creationId xmlns:a16="http://schemas.microsoft.com/office/drawing/2014/main" id="{9497FD2D-6A60-4CDD-8890-3C447AD68856}"/>
              </a:ext>
            </a:extLst>
          </p:cNvPr>
          <p:cNvSpPr>
            <a:spLocks noGrp="1"/>
          </p:cNvSpPr>
          <p:nvPr/>
        </p:nvSpPr>
        <p:spPr>
          <a:xfrm>
            <a:off x="4905375" y="1285875"/>
            <a:ext cx="2381250" cy="1095375"/>
          </a:xfrm>
          <a:prstGeom prst="roundRect">
            <a:avLst>
              <a:gd name="adj" fmla="val 12174"/>
            </a:avLst>
          </a:prstGeom>
          <a:solidFill>
            <a:srgbClr val="DDEFF5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8" name="U05-DG-010-filter_system-title">
            <a:extLst>
              <a:ext uri="{FF2B5EF4-FFF2-40B4-BE49-F238E27FC236}">
                <a16:creationId xmlns:a16="http://schemas.microsoft.com/office/drawing/2014/main" id="{241EA50D-C877-4D8D-A2FE-98DF45D2585D}"/>
              </a:ext>
            </a:extLst>
          </p:cNvPr>
          <p:cNvSpPr>
            <a:spLocks noGrp="1"/>
          </p:cNvSpPr>
          <p:nvPr/>
        </p:nvSpPr>
        <p:spPr>
          <a:xfrm>
            <a:off x="5076825" y="1409700"/>
            <a:ext cx="2038350" cy="3286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Filtro</a:t>
            </a:r>
          </a:p>
        </p:txBody>
      </p:sp>
      <p:sp>
        <p:nvSpPr>
          <p:cNvPr id="9" name="U05-DG-010-filter_system-body">
            <a:extLst>
              <a:ext uri="{FF2B5EF4-FFF2-40B4-BE49-F238E27FC236}">
                <a16:creationId xmlns:a16="http://schemas.microsoft.com/office/drawing/2014/main" id="{C35DBAA1-1EB5-4425-8AFB-984EB4F0C9A4}"/>
              </a:ext>
            </a:extLst>
          </p:cNvPr>
          <p:cNvSpPr>
            <a:spLocks noGrp="1"/>
          </p:cNvSpPr>
          <p:nvPr/>
        </p:nvSpPr>
        <p:spPr>
          <a:xfrm>
            <a:off x="5076825" y="1738313"/>
            <a:ext cx="2038350" cy="5191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respuesta H(f)</a:t>
            </a:r>
          </a:p>
        </p:txBody>
      </p:sp>
      <p:sp>
        <p:nvSpPr>
          <p:cNvPr id="10" name="U05-DG-010-filter_output">
            <a:extLst>
              <a:ext uri="{FF2B5EF4-FFF2-40B4-BE49-F238E27FC236}">
                <a16:creationId xmlns:a16="http://schemas.microsoft.com/office/drawing/2014/main" id="{D5B88BAA-48A4-48D9-8509-C457A5E5AD17}"/>
              </a:ext>
            </a:extLst>
          </p:cNvPr>
          <p:cNvSpPr>
            <a:spLocks noGrp="1"/>
          </p:cNvSpPr>
          <p:nvPr/>
        </p:nvSpPr>
        <p:spPr>
          <a:xfrm>
            <a:off x="8667750" y="1285875"/>
            <a:ext cx="2381250" cy="1095375"/>
          </a:xfrm>
          <a:prstGeom prst="roundRect">
            <a:avLst>
              <a:gd name="adj" fmla="val 12174"/>
            </a:avLst>
          </a:prstGeom>
          <a:solidFill>
            <a:srgbClr val="EFF8FA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11" name="U05-DG-010-filter_output-title">
            <a:extLst>
              <a:ext uri="{FF2B5EF4-FFF2-40B4-BE49-F238E27FC236}">
                <a16:creationId xmlns:a16="http://schemas.microsoft.com/office/drawing/2014/main" id="{2AE8021C-182B-482B-9D60-61047697F289}"/>
              </a:ext>
            </a:extLst>
          </p:cNvPr>
          <p:cNvSpPr>
            <a:spLocks noGrp="1"/>
          </p:cNvSpPr>
          <p:nvPr/>
        </p:nvSpPr>
        <p:spPr>
          <a:xfrm>
            <a:off x="8839200" y="1409700"/>
            <a:ext cx="2038350" cy="3286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Salida</a:t>
            </a:r>
          </a:p>
        </p:txBody>
      </p:sp>
      <p:sp>
        <p:nvSpPr>
          <p:cNvPr id="12" name="U05-DG-010-filter_output-body">
            <a:extLst>
              <a:ext uri="{FF2B5EF4-FFF2-40B4-BE49-F238E27FC236}">
                <a16:creationId xmlns:a16="http://schemas.microsoft.com/office/drawing/2014/main" id="{DA54DCA4-25FF-4A22-861A-C3092E5ABD2D}"/>
              </a:ext>
            </a:extLst>
          </p:cNvPr>
          <p:cNvSpPr>
            <a:spLocks noGrp="1"/>
          </p:cNvSpPr>
          <p:nvPr/>
        </p:nvSpPr>
        <p:spPr>
          <a:xfrm>
            <a:off x="8839200" y="1738313"/>
            <a:ext cx="2038350" cy="5191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Y(f)=X(f)H(f)</a:t>
            </a:r>
          </a:p>
        </p:txBody>
      </p:sp>
      <p:sp>
        <p:nvSpPr>
          <p:cNvPr id="13" name="U05-DG-010-lowpass">
            <a:extLst>
              <a:ext uri="{FF2B5EF4-FFF2-40B4-BE49-F238E27FC236}">
                <a16:creationId xmlns:a16="http://schemas.microsoft.com/office/drawing/2014/main" id="{5B49EB66-18E4-4148-9A46-A76AED1ED713}"/>
              </a:ext>
            </a:extLst>
          </p:cNvPr>
          <p:cNvSpPr>
            <a:spLocks noGrp="1"/>
          </p:cNvSpPr>
          <p:nvPr/>
        </p:nvSpPr>
        <p:spPr>
          <a:xfrm>
            <a:off x="714375" y="4000500"/>
            <a:ext cx="2286000" cy="1095375"/>
          </a:xfrm>
          <a:prstGeom prst="roundRect">
            <a:avLst>
              <a:gd name="adj" fmla="val 12174"/>
            </a:avLst>
          </a:prstGeom>
          <a:solidFill>
            <a:srgbClr val="F3F6F8"/>
          </a:solidFill>
          <a:ln w="19050">
            <a:solidFill>
              <a:srgbClr val="8291A3"/>
            </a:solidFill>
            <a:prstDash val="solid"/>
          </a:ln>
        </p:spPr>
      </p:sp>
      <p:sp>
        <p:nvSpPr>
          <p:cNvPr id="14" name="U05-DG-010-lowpass-title">
            <a:extLst>
              <a:ext uri="{FF2B5EF4-FFF2-40B4-BE49-F238E27FC236}">
                <a16:creationId xmlns:a16="http://schemas.microsoft.com/office/drawing/2014/main" id="{A5943A08-A4EC-40FC-A9E8-AF2DDDA9CFD5}"/>
              </a:ext>
            </a:extLst>
          </p:cNvPr>
          <p:cNvSpPr>
            <a:spLocks noGrp="1"/>
          </p:cNvSpPr>
          <p:nvPr/>
        </p:nvSpPr>
        <p:spPr>
          <a:xfrm>
            <a:off x="885825" y="4124325"/>
            <a:ext cx="1943100" cy="3286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Pasa bajos</a:t>
            </a:r>
          </a:p>
        </p:txBody>
      </p:sp>
      <p:sp>
        <p:nvSpPr>
          <p:cNvPr id="15" name="U05-DG-010-lowpass-body">
            <a:extLst>
              <a:ext uri="{FF2B5EF4-FFF2-40B4-BE49-F238E27FC236}">
                <a16:creationId xmlns:a16="http://schemas.microsoft.com/office/drawing/2014/main" id="{FDE9BF2F-935E-4ACE-A6FD-B74DF747B96E}"/>
              </a:ext>
            </a:extLst>
          </p:cNvPr>
          <p:cNvSpPr>
            <a:spLocks noGrp="1"/>
          </p:cNvSpPr>
          <p:nvPr/>
        </p:nvSpPr>
        <p:spPr>
          <a:xfrm>
            <a:off x="885825" y="4452938"/>
            <a:ext cx="1943100" cy="5191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pasa f bajas</a:t>
            </a:r>
          </a:p>
        </p:txBody>
      </p:sp>
      <p:sp>
        <p:nvSpPr>
          <p:cNvPr id="16" name="U05-DG-010-highpass">
            <a:extLst>
              <a:ext uri="{FF2B5EF4-FFF2-40B4-BE49-F238E27FC236}">
                <a16:creationId xmlns:a16="http://schemas.microsoft.com/office/drawing/2014/main" id="{C5D35102-4FBA-4056-902C-A74AAAE3378F}"/>
              </a:ext>
            </a:extLst>
          </p:cNvPr>
          <p:cNvSpPr>
            <a:spLocks noGrp="1"/>
          </p:cNvSpPr>
          <p:nvPr/>
        </p:nvSpPr>
        <p:spPr>
          <a:xfrm>
            <a:off x="3476625" y="4000500"/>
            <a:ext cx="2286000" cy="1095375"/>
          </a:xfrm>
          <a:prstGeom prst="roundRect">
            <a:avLst>
              <a:gd name="adj" fmla="val 12174"/>
            </a:avLst>
          </a:prstGeom>
          <a:solidFill>
            <a:srgbClr val="F3F6F8"/>
          </a:solidFill>
          <a:ln w="19050">
            <a:solidFill>
              <a:srgbClr val="8291A3"/>
            </a:solidFill>
            <a:prstDash val="solid"/>
          </a:ln>
        </p:spPr>
      </p:sp>
      <p:sp>
        <p:nvSpPr>
          <p:cNvPr id="17" name="U05-DG-010-highpass-title">
            <a:extLst>
              <a:ext uri="{FF2B5EF4-FFF2-40B4-BE49-F238E27FC236}">
                <a16:creationId xmlns:a16="http://schemas.microsoft.com/office/drawing/2014/main" id="{0D2EFC14-E900-4289-A875-ECA534A6D65E}"/>
              </a:ext>
            </a:extLst>
          </p:cNvPr>
          <p:cNvSpPr>
            <a:spLocks noGrp="1"/>
          </p:cNvSpPr>
          <p:nvPr/>
        </p:nvSpPr>
        <p:spPr>
          <a:xfrm>
            <a:off x="3648075" y="4124325"/>
            <a:ext cx="1943100" cy="3286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Pasa altos</a:t>
            </a:r>
          </a:p>
        </p:txBody>
      </p:sp>
      <p:sp>
        <p:nvSpPr>
          <p:cNvPr id="18" name="U05-DG-010-highpass-body">
            <a:extLst>
              <a:ext uri="{FF2B5EF4-FFF2-40B4-BE49-F238E27FC236}">
                <a16:creationId xmlns:a16="http://schemas.microsoft.com/office/drawing/2014/main" id="{762285CD-8BBB-4DD2-BC0E-2C825E208CB9}"/>
              </a:ext>
            </a:extLst>
          </p:cNvPr>
          <p:cNvSpPr>
            <a:spLocks noGrp="1"/>
          </p:cNvSpPr>
          <p:nvPr/>
        </p:nvSpPr>
        <p:spPr>
          <a:xfrm>
            <a:off x="3648075" y="4452938"/>
            <a:ext cx="1943100" cy="5191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pasa f altas</a:t>
            </a:r>
          </a:p>
        </p:txBody>
      </p:sp>
      <p:sp>
        <p:nvSpPr>
          <p:cNvPr id="19" name="U05-DG-010-bandpass">
            <a:extLst>
              <a:ext uri="{FF2B5EF4-FFF2-40B4-BE49-F238E27FC236}">
                <a16:creationId xmlns:a16="http://schemas.microsoft.com/office/drawing/2014/main" id="{92635954-9D5D-47C1-88A5-93C73C64B495}"/>
              </a:ext>
            </a:extLst>
          </p:cNvPr>
          <p:cNvSpPr>
            <a:spLocks noGrp="1"/>
          </p:cNvSpPr>
          <p:nvPr/>
        </p:nvSpPr>
        <p:spPr>
          <a:xfrm>
            <a:off x="6238875" y="4000500"/>
            <a:ext cx="2286000" cy="1095375"/>
          </a:xfrm>
          <a:prstGeom prst="roundRect">
            <a:avLst>
              <a:gd name="adj" fmla="val 12174"/>
            </a:avLst>
          </a:prstGeom>
          <a:solidFill>
            <a:srgbClr val="E3F2ED"/>
          </a:solidFill>
          <a:ln w="19050">
            <a:solidFill>
              <a:srgbClr val="2D7867"/>
            </a:solidFill>
            <a:prstDash val="solid"/>
          </a:ln>
        </p:spPr>
      </p:sp>
      <p:sp>
        <p:nvSpPr>
          <p:cNvPr id="20" name="U05-DG-010-bandpass-title">
            <a:extLst>
              <a:ext uri="{FF2B5EF4-FFF2-40B4-BE49-F238E27FC236}">
                <a16:creationId xmlns:a16="http://schemas.microsoft.com/office/drawing/2014/main" id="{CA05ACAD-9F03-4C1B-BC13-CEC5611B32C0}"/>
              </a:ext>
            </a:extLst>
          </p:cNvPr>
          <p:cNvSpPr>
            <a:spLocks noGrp="1"/>
          </p:cNvSpPr>
          <p:nvPr/>
        </p:nvSpPr>
        <p:spPr>
          <a:xfrm>
            <a:off x="6410325" y="4124325"/>
            <a:ext cx="1943100" cy="3286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Pasa banda</a:t>
            </a:r>
          </a:p>
        </p:txBody>
      </p:sp>
      <p:sp>
        <p:nvSpPr>
          <p:cNvPr id="21" name="U05-DG-010-bandpass-body">
            <a:extLst>
              <a:ext uri="{FF2B5EF4-FFF2-40B4-BE49-F238E27FC236}">
                <a16:creationId xmlns:a16="http://schemas.microsoft.com/office/drawing/2014/main" id="{7EBE5DE5-60D9-400C-947A-3843A2B9F211}"/>
              </a:ext>
            </a:extLst>
          </p:cNvPr>
          <p:cNvSpPr>
            <a:spLocks noGrp="1"/>
          </p:cNvSpPr>
          <p:nvPr/>
        </p:nvSpPr>
        <p:spPr>
          <a:xfrm>
            <a:off x="6410325" y="4452938"/>
            <a:ext cx="1943100" cy="5191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pasa f_L…f_H</a:t>
            </a:r>
          </a:p>
        </p:txBody>
      </p:sp>
      <p:sp>
        <p:nvSpPr>
          <p:cNvPr id="22" name="U05-DG-010-bandstop">
            <a:extLst>
              <a:ext uri="{FF2B5EF4-FFF2-40B4-BE49-F238E27FC236}">
                <a16:creationId xmlns:a16="http://schemas.microsoft.com/office/drawing/2014/main" id="{70604BCC-2EB9-4B8D-83AC-D5D3F181BEFB}"/>
              </a:ext>
            </a:extLst>
          </p:cNvPr>
          <p:cNvSpPr>
            <a:spLocks noGrp="1"/>
          </p:cNvSpPr>
          <p:nvPr/>
        </p:nvSpPr>
        <p:spPr>
          <a:xfrm>
            <a:off x="9001125" y="4000500"/>
            <a:ext cx="2286000" cy="1095375"/>
          </a:xfrm>
          <a:prstGeom prst="roundRect">
            <a:avLst>
              <a:gd name="adj" fmla="val 12174"/>
            </a:avLst>
          </a:prstGeom>
          <a:solidFill>
            <a:srgbClr val="E3F2ED"/>
          </a:solidFill>
          <a:ln w="19050">
            <a:solidFill>
              <a:srgbClr val="2D7867"/>
            </a:solidFill>
            <a:prstDash val="solid"/>
          </a:ln>
        </p:spPr>
      </p:sp>
      <p:sp>
        <p:nvSpPr>
          <p:cNvPr id="23" name="U05-DG-010-bandstop-title">
            <a:extLst>
              <a:ext uri="{FF2B5EF4-FFF2-40B4-BE49-F238E27FC236}">
                <a16:creationId xmlns:a16="http://schemas.microsoft.com/office/drawing/2014/main" id="{14819C9A-D10D-4D2B-B7C7-79627735EF07}"/>
              </a:ext>
            </a:extLst>
          </p:cNvPr>
          <p:cNvSpPr>
            <a:spLocks noGrp="1"/>
          </p:cNvSpPr>
          <p:nvPr/>
        </p:nvSpPr>
        <p:spPr>
          <a:xfrm>
            <a:off x="9172575" y="4124325"/>
            <a:ext cx="1943100" cy="3286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Rechazo</a:t>
            </a:r>
          </a:p>
        </p:txBody>
      </p:sp>
      <p:sp>
        <p:nvSpPr>
          <p:cNvPr id="24" name="U05-DG-010-bandstop-body">
            <a:extLst>
              <a:ext uri="{FF2B5EF4-FFF2-40B4-BE49-F238E27FC236}">
                <a16:creationId xmlns:a16="http://schemas.microsoft.com/office/drawing/2014/main" id="{C6BA450F-79DB-4D09-AE70-5515F66F6BB2}"/>
              </a:ext>
            </a:extLst>
          </p:cNvPr>
          <p:cNvSpPr>
            <a:spLocks noGrp="1"/>
          </p:cNvSpPr>
          <p:nvPr/>
        </p:nvSpPr>
        <p:spPr>
          <a:xfrm>
            <a:off x="9172575" y="4452938"/>
            <a:ext cx="1943100" cy="5191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f_L…f_H</a:t>
            </a:r>
          </a:p>
        </p:txBody>
      </p:sp>
      <p:cxnSp>
        <p:nvCxnSpPr>
          <p:cNvPr id="58" name="U05-DG-010-filter_1"/>
          <p:cNvCxnSpPr>
            <a:stCxn id="4" idx="3"/>
            <a:endCxn id="7" idx="1"/>
          </p:cNvCxnSpPr>
          <p:nvPr/>
        </p:nvCxnSpPr>
        <p:spPr>
          <a:xfrm>
            <a:off x="3524250" y="1833563"/>
            <a:ext cx="1381125" cy="0"/>
          </a:xfrm>
          <a:prstGeom prst="straightConnector1">
            <a:avLst/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cxnSp>
        <p:nvCxnSpPr>
          <p:cNvPr id="59" name="U05-DG-010-filter_2"/>
          <p:cNvCxnSpPr>
            <a:stCxn id="7" idx="3"/>
            <a:endCxn id="10" idx="1"/>
          </p:cNvCxnSpPr>
          <p:nvPr/>
        </p:nvCxnSpPr>
        <p:spPr>
          <a:xfrm>
            <a:off x="7286625" y="1833563"/>
            <a:ext cx="1381125" cy="0"/>
          </a:xfrm>
          <a:prstGeom prst="straightConnector1">
            <a:avLst/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cxnSp>
        <p:nvCxnSpPr>
          <p:cNvPr id="60" name="U05-DG-010-filter_branch_1"/>
          <p:cNvCxnSpPr>
            <a:stCxn id="7" idx="2"/>
            <a:endCxn id="13" idx="0"/>
          </p:cNvCxnSpPr>
          <p:nvPr/>
        </p:nvCxnSpPr>
        <p:spPr>
          <a:xfrm flipH="1">
            <a:off x="1857375" y="2381250"/>
            <a:ext cx="4238625" cy="1619250"/>
          </a:xfrm>
          <a:prstGeom prst="bentConnector4">
            <a:avLst>
              <a:gd name="adj1" fmla="val 0"/>
              <a:gd name="adj2" fmla="val 50000"/>
            </a:avLst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cxnSp>
        <p:nvCxnSpPr>
          <p:cNvPr id="61" name="U05-DG-010-filter_branch_2"/>
          <p:cNvCxnSpPr>
            <a:stCxn id="7" idx="2"/>
            <a:endCxn id="16" idx="0"/>
          </p:cNvCxnSpPr>
          <p:nvPr/>
        </p:nvCxnSpPr>
        <p:spPr>
          <a:xfrm flipH="1">
            <a:off x="4619625" y="2381250"/>
            <a:ext cx="1476375" cy="1619250"/>
          </a:xfrm>
          <a:prstGeom prst="bentConnector4">
            <a:avLst>
              <a:gd name="adj1" fmla="val 0"/>
              <a:gd name="adj2" fmla="val 50000"/>
            </a:avLst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cxnSp>
        <p:nvCxnSpPr>
          <p:cNvPr id="62" name="U05-DG-010-filter_branch_3"/>
          <p:cNvCxnSpPr>
            <a:stCxn id="7" idx="2"/>
            <a:endCxn id="19" idx="0"/>
          </p:cNvCxnSpPr>
          <p:nvPr/>
        </p:nvCxnSpPr>
        <p:spPr>
          <a:xfrm>
            <a:off x="6096000" y="2381250"/>
            <a:ext cx="1285875" cy="1619250"/>
          </a:xfrm>
          <a:prstGeom prst="bentConnector4">
            <a:avLst>
              <a:gd name="adj1" fmla="val 0"/>
              <a:gd name="adj2" fmla="val 50000"/>
            </a:avLst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cxnSp>
        <p:nvCxnSpPr>
          <p:cNvPr id="63" name="U05-DG-010-filter_branch_4"/>
          <p:cNvCxnSpPr>
            <a:stCxn id="7" idx="2"/>
            <a:endCxn id="22" idx="0"/>
          </p:cNvCxnSpPr>
          <p:nvPr/>
        </p:nvCxnSpPr>
        <p:spPr>
          <a:xfrm>
            <a:off x="6096000" y="2381250"/>
            <a:ext cx="4048125" cy="1619250"/>
          </a:xfrm>
          <a:prstGeom prst="bentConnector4">
            <a:avLst>
              <a:gd name="adj1" fmla="val 0"/>
              <a:gd name="adj2" fmla="val 50000"/>
            </a:avLst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sp>
        <p:nvSpPr>
          <p:cNvPr id="31" name="diagram-scale-note">
            <a:extLst>
              <a:ext uri="{FF2B5EF4-FFF2-40B4-BE49-F238E27FC236}">
                <a16:creationId xmlns:a16="http://schemas.microsoft.com/office/drawing/2014/main" id="{5D87FB78-E586-4CA3-9EB7-124406101422}"/>
              </a:ext>
            </a:extLst>
          </p:cNvPr>
          <p:cNvSpPr>
            <a:spLocks noGrp="1"/>
          </p:cNvSpPr>
          <p:nvPr/>
        </p:nvSpPr>
        <p:spPr>
          <a:xfrm>
            <a:off x="552450" y="5829300"/>
            <a:ext cx="3905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05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Esquema conceptual · no está a escala</a:t>
            </a:r>
          </a:p>
        </p:txBody>
      </p:sp>
      <p:sp>
        <p:nvSpPr>
          <p:cNvPr id="32" name="caption">
            <a:extLst>
              <a:ext uri="{FF2B5EF4-FFF2-40B4-BE49-F238E27FC236}">
                <a16:creationId xmlns:a16="http://schemas.microsoft.com/office/drawing/2014/main" id="{6C2D2932-CE04-49DF-A87B-3794D546819F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876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Una línea vertical no reemplaza el criterio.</a:t>
            </a:r>
          </a:p>
        </p:txBody>
      </p:sp>
      <p:sp>
        <p:nvSpPr>
          <p:cNvPr id="33" name="credit">
            <a:extLst>
              <a:ext uri="{FF2B5EF4-FFF2-40B4-BE49-F238E27FC236}">
                <a16:creationId xmlns:a16="http://schemas.microsoft.com/office/drawing/2014/main" id="{03CE0516-3C95-4348-AC61-8EBDC8FC4C66}"/>
              </a:ext>
            </a:extLst>
          </p:cNvPr>
          <p:cNvSpPr>
            <a:spLocks noGrp="1"/>
          </p:cNvSpPr>
          <p:nvPr/>
        </p:nvSpPr>
        <p:spPr>
          <a:xfrm>
            <a:off x="9382125" y="60769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5.9; GLO; OD-U05-23.</a:t>
            </a:r>
          </a:p>
        </p:txBody>
      </p:sp>
      <p:sp>
        <p:nvSpPr>
          <p:cNvPr id="25" name="slide-alt-summary" descr="Curva real con punto de menos 3 dB y una región de transición sombreada.">
            <a:extLst>
              <a:ext uri="{FF2B5EF4-FFF2-40B4-BE49-F238E27FC236}">
                <a16:creationId xmlns:a16="http://schemas.microsoft.com/office/drawing/2014/main" id="{C68DE778-C23A-860A-A744-420A4140EC3B}"/>
              </a:ext>
            </a:extLst>
          </p:cNvPr>
          <p:cNvSpPr/>
          <p:nvPr/>
        </p:nvSpPr>
        <p:spPr>
          <a:xfrm>
            <a:off x="12700" y="12700"/>
            <a:ext cx="12700" cy="12700"/>
          </a:xfrm>
          <a:prstGeom prst="rect">
            <a:avLst/>
          </a:prstGeom>
          <a:noFill/>
          <a:ln w="19050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41329192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eyebrow">
            <a:extLst>
              <a:ext uri="{FF2B5EF4-FFF2-40B4-BE49-F238E27FC236}">
                <a16:creationId xmlns:a16="http://schemas.microsoft.com/office/drawing/2014/main" id="{0C7FD820-CE6B-4F51-BAD7-9BD6BBE2F9A5}"/>
              </a:ext>
            </a:extLst>
          </p:cNvPr>
          <p:cNvSpPr>
            <a:spLocks noGrp="1"/>
          </p:cNvSpPr>
          <p:nvPr/>
        </p:nvSpPr>
        <p:spPr>
          <a:xfrm>
            <a:off x="514350" y="2095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101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156D830E-6B25-4145-93AD-70545015EA6F}"/>
              </a:ext>
            </a:extLst>
          </p:cNvPr>
          <p:cNvSpPr>
            <a:spLocks noGrp="1"/>
          </p:cNvSpPr>
          <p:nvPr/>
        </p:nvSpPr>
        <p:spPr>
          <a:xfrm>
            <a:off x="495300" y="428625"/>
            <a:ext cx="11191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Un pasa banda se describe con límites, centro y ancho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E376B131-7937-4CAF-9E61-F2C4FC31F798}"/>
              </a:ext>
            </a:extLst>
          </p:cNvPr>
          <p:cNvSpPr>
            <a:spLocks noGrp="1"/>
          </p:cNvSpPr>
          <p:nvPr/>
        </p:nvSpPr>
        <p:spPr>
          <a:xfrm>
            <a:off x="523875" y="971550"/>
            <a:ext cx="11001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Los mismos símbolos pueden describir una banda de análisis o un sistema.</a:t>
            </a:r>
          </a:p>
        </p:txBody>
      </p:sp>
      <p:sp>
        <p:nvSpPr>
          <p:cNvPr id="4" name="U05-DG-010-filter_input">
            <a:extLst>
              <a:ext uri="{FF2B5EF4-FFF2-40B4-BE49-F238E27FC236}">
                <a16:creationId xmlns:a16="http://schemas.microsoft.com/office/drawing/2014/main" id="{FE90D00F-C9EB-4EB9-9CC4-1C4DBB06C793}"/>
              </a:ext>
            </a:extLst>
          </p:cNvPr>
          <p:cNvSpPr>
            <a:spLocks noGrp="1"/>
          </p:cNvSpPr>
          <p:nvPr/>
        </p:nvSpPr>
        <p:spPr>
          <a:xfrm>
            <a:off x="1143000" y="1285875"/>
            <a:ext cx="2381250" cy="1095375"/>
          </a:xfrm>
          <a:prstGeom prst="roundRect">
            <a:avLst>
              <a:gd name="adj" fmla="val 12174"/>
            </a:avLst>
          </a:prstGeom>
          <a:solidFill>
            <a:srgbClr val="EFF8FA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5" name="U05-DG-010-filter_input-title">
            <a:extLst>
              <a:ext uri="{FF2B5EF4-FFF2-40B4-BE49-F238E27FC236}">
                <a16:creationId xmlns:a16="http://schemas.microsoft.com/office/drawing/2014/main" id="{427ECEC3-A802-4667-A11B-EE57AD87B42B}"/>
              </a:ext>
            </a:extLst>
          </p:cNvPr>
          <p:cNvSpPr>
            <a:spLocks noGrp="1"/>
          </p:cNvSpPr>
          <p:nvPr/>
        </p:nvSpPr>
        <p:spPr>
          <a:xfrm>
            <a:off x="1314450" y="1409700"/>
            <a:ext cx="2038350" cy="3286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Entrada</a:t>
            </a:r>
          </a:p>
        </p:txBody>
      </p:sp>
      <p:sp>
        <p:nvSpPr>
          <p:cNvPr id="6" name="U05-DG-010-filter_input-body">
            <a:extLst>
              <a:ext uri="{FF2B5EF4-FFF2-40B4-BE49-F238E27FC236}">
                <a16:creationId xmlns:a16="http://schemas.microsoft.com/office/drawing/2014/main" id="{80D039B7-9931-4CE3-A402-75E8BE24DD39}"/>
              </a:ext>
            </a:extLst>
          </p:cNvPr>
          <p:cNvSpPr>
            <a:spLocks noGrp="1"/>
          </p:cNvSpPr>
          <p:nvPr/>
        </p:nvSpPr>
        <p:spPr>
          <a:xfrm>
            <a:off x="1314450" y="1738313"/>
            <a:ext cx="2038350" cy="5191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espectro X(f)</a:t>
            </a:r>
          </a:p>
        </p:txBody>
      </p:sp>
      <p:sp>
        <p:nvSpPr>
          <p:cNvPr id="7" name="U05-DG-010-filter_system">
            <a:extLst>
              <a:ext uri="{FF2B5EF4-FFF2-40B4-BE49-F238E27FC236}">
                <a16:creationId xmlns:a16="http://schemas.microsoft.com/office/drawing/2014/main" id="{E98FA8CB-2B02-45A3-A17D-A7768FE45233}"/>
              </a:ext>
            </a:extLst>
          </p:cNvPr>
          <p:cNvSpPr>
            <a:spLocks noGrp="1"/>
          </p:cNvSpPr>
          <p:nvPr/>
        </p:nvSpPr>
        <p:spPr>
          <a:xfrm>
            <a:off x="4905375" y="1285875"/>
            <a:ext cx="2381250" cy="1095375"/>
          </a:xfrm>
          <a:prstGeom prst="roundRect">
            <a:avLst>
              <a:gd name="adj" fmla="val 12174"/>
            </a:avLst>
          </a:prstGeom>
          <a:solidFill>
            <a:srgbClr val="DDEFF5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8" name="U05-DG-010-filter_system-title">
            <a:extLst>
              <a:ext uri="{FF2B5EF4-FFF2-40B4-BE49-F238E27FC236}">
                <a16:creationId xmlns:a16="http://schemas.microsoft.com/office/drawing/2014/main" id="{0CD49AC2-4D85-4E93-B388-126BF5BD4557}"/>
              </a:ext>
            </a:extLst>
          </p:cNvPr>
          <p:cNvSpPr>
            <a:spLocks noGrp="1"/>
          </p:cNvSpPr>
          <p:nvPr/>
        </p:nvSpPr>
        <p:spPr>
          <a:xfrm>
            <a:off x="5076825" y="1409700"/>
            <a:ext cx="2038350" cy="3286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Filtro</a:t>
            </a:r>
          </a:p>
        </p:txBody>
      </p:sp>
      <p:sp>
        <p:nvSpPr>
          <p:cNvPr id="9" name="U05-DG-010-filter_system-body">
            <a:extLst>
              <a:ext uri="{FF2B5EF4-FFF2-40B4-BE49-F238E27FC236}">
                <a16:creationId xmlns:a16="http://schemas.microsoft.com/office/drawing/2014/main" id="{B7EB8B1C-BA2D-4BDF-A52D-91524035D588}"/>
              </a:ext>
            </a:extLst>
          </p:cNvPr>
          <p:cNvSpPr>
            <a:spLocks noGrp="1"/>
          </p:cNvSpPr>
          <p:nvPr/>
        </p:nvSpPr>
        <p:spPr>
          <a:xfrm>
            <a:off x="5076825" y="1738313"/>
            <a:ext cx="2038350" cy="5191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respuesta H(f)</a:t>
            </a:r>
          </a:p>
        </p:txBody>
      </p:sp>
      <p:sp>
        <p:nvSpPr>
          <p:cNvPr id="10" name="U05-DG-010-filter_output">
            <a:extLst>
              <a:ext uri="{FF2B5EF4-FFF2-40B4-BE49-F238E27FC236}">
                <a16:creationId xmlns:a16="http://schemas.microsoft.com/office/drawing/2014/main" id="{A094FE5B-5F74-4308-9660-90E9E2FDBE4F}"/>
              </a:ext>
            </a:extLst>
          </p:cNvPr>
          <p:cNvSpPr>
            <a:spLocks noGrp="1"/>
          </p:cNvSpPr>
          <p:nvPr/>
        </p:nvSpPr>
        <p:spPr>
          <a:xfrm>
            <a:off x="8667750" y="1285875"/>
            <a:ext cx="2381250" cy="1095375"/>
          </a:xfrm>
          <a:prstGeom prst="roundRect">
            <a:avLst>
              <a:gd name="adj" fmla="val 12174"/>
            </a:avLst>
          </a:prstGeom>
          <a:solidFill>
            <a:srgbClr val="EFF8FA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11" name="U05-DG-010-filter_output-title">
            <a:extLst>
              <a:ext uri="{FF2B5EF4-FFF2-40B4-BE49-F238E27FC236}">
                <a16:creationId xmlns:a16="http://schemas.microsoft.com/office/drawing/2014/main" id="{0FAB5B62-4837-45E9-82AF-FD7D42DC478B}"/>
              </a:ext>
            </a:extLst>
          </p:cNvPr>
          <p:cNvSpPr>
            <a:spLocks noGrp="1"/>
          </p:cNvSpPr>
          <p:nvPr/>
        </p:nvSpPr>
        <p:spPr>
          <a:xfrm>
            <a:off x="8839200" y="1409700"/>
            <a:ext cx="2038350" cy="3286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Salida</a:t>
            </a:r>
          </a:p>
        </p:txBody>
      </p:sp>
      <p:sp>
        <p:nvSpPr>
          <p:cNvPr id="12" name="U05-DG-010-filter_output-body">
            <a:extLst>
              <a:ext uri="{FF2B5EF4-FFF2-40B4-BE49-F238E27FC236}">
                <a16:creationId xmlns:a16="http://schemas.microsoft.com/office/drawing/2014/main" id="{C7654737-ECB7-45F2-9DFA-8FCDFB0418FF}"/>
              </a:ext>
            </a:extLst>
          </p:cNvPr>
          <p:cNvSpPr>
            <a:spLocks noGrp="1"/>
          </p:cNvSpPr>
          <p:nvPr/>
        </p:nvSpPr>
        <p:spPr>
          <a:xfrm>
            <a:off x="8839200" y="1738313"/>
            <a:ext cx="2038350" cy="5191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Y(f)=X(f)H(f)</a:t>
            </a:r>
          </a:p>
        </p:txBody>
      </p:sp>
      <p:sp>
        <p:nvSpPr>
          <p:cNvPr id="13" name="U05-DG-010-lowpass">
            <a:extLst>
              <a:ext uri="{FF2B5EF4-FFF2-40B4-BE49-F238E27FC236}">
                <a16:creationId xmlns:a16="http://schemas.microsoft.com/office/drawing/2014/main" id="{0EEFA28A-66B6-4297-A35D-13C8ECB097B3}"/>
              </a:ext>
            </a:extLst>
          </p:cNvPr>
          <p:cNvSpPr>
            <a:spLocks noGrp="1"/>
          </p:cNvSpPr>
          <p:nvPr/>
        </p:nvSpPr>
        <p:spPr>
          <a:xfrm>
            <a:off x="714375" y="4000500"/>
            <a:ext cx="2286000" cy="1095375"/>
          </a:xfrm>
          <a:prstGeom prst="roundRect">
            <a:avLst>
              <a:gd name="adj" fmla="val 12174"/>
            </a:avLst>
          </a:prstGeom>
          <a:solidFill>
            <a:srgbClr val="F3F6F8"/>
          </a:solidFill>
          <a:ln w="19050">
            <a:solidFill>
              <a:srgbClr val="8291A3"/>
            </a:solidFill>
            <a:prstDash val="solid"/>
          </a:ln>
        </p:spPr>
      </p:sp>
      <p:sp>
        <p:nvSpPr>
          <p:cNvPr id="14" name="U05-DG-010-lowpass-title">
            <a:extLst>
              <a:ext uri="{FF2B5EF4-FFF2-40B4-BE49-F238E27FC236}">
                <a16:creationId xmlns:a16="http://schemas.microsoft.com/office/drawing/2014/main" id="{18AE5380-0EBA-49B2-9520-44E480BAAA7E}"/>
              </a:ext>
            </a:extLst>
          </p:cNvPr>
          <p:cNvSpPr>
            <a:spLocks noGrp="1"/>
          </p:cNvSpPr>
          <p:nvPr/>
        </p:nvSpPr>
        <p:spPr>
          <a:xfrm>
            <a:off x="885825" y="4124325"/>
            <a:ext cx="1943100" cy="3286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Pasa bajos</a:t>
            </a:r>
          </a:p>
        </p:txBody>
      </p:sp>
      <p:sp>
        <p:nvSpPr>
          <p:cNvPr id="15" name="U05-DG-010-lowpass-body">
            <a:extLst>
              <a:ext uri="{FF2B5EF4-FFF2-40B4-BE49-F238E27FC236}">
                <a16:creationId xmlns:a16="http://schemas.microsoft.com/office/drawing/2014/main" id="{25B7EB82-5A4A-4BB2-8458-14D05FC82261}"/>
              </a:ext>
            </a:extLst>
          </p:cNvPr>
          <p:cNvSpPr>
            <a:spLocks noGrp="1"/>
          </p:cNvSpPr>
          <p:nvPr/>
        </p:nvSpPr>
        <p:spPr>
          <a:xfrm>
            <a:off x="885825" y="4452938"/>
            <a:ext cx="1943100" cy="5191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pasa f bajas</a:t>
            </a:r>
          </a:p>
        </p:txBody>
      </p:sp>
      <p:sp>
        <p:nvSpPr>
          <p:cNvPr id="16" name="U05-DG-010-highpass">
            <a:extLst>
              <a:ext uri="{FF2B5EF4-FFF2-40B4-BE49-F238E27FC236}">
                <a16:creationId xmlns:a16="http://schemas.microsoft.com/office/drawing/2014/main" id="{B3E3B73E-48D4-44EE-89AC-76EC121776B7}"/>
              </a:ext>
            </a:extLst>
          </p:cNvPr>
          <p:cNvSpPr>
            <a:spLocks noGrp="1"/>
          </p:cNvSpPr>
          <p:nvPr/>
        </p:nvSpPr>
        <p:spPr>
          <a:xfrm>
            <a:off x="3476625" y="4000500"/>
            <a:ext cx="2286000" cy="1095375"/>
          </a:xfrm>
          <a:prstGeom prst="roundRect">
            <a:avLst>
              <a:gd name="adj" fmla="val 12174"/>
            </a:avLst>
          </a:prstGeom>
          <a:solidFill>
            <a:srgbClr val="F3F6F8"/>
          </a:solidFill>
          <a:ln w="19050">
            <a:solidFill>
              <a:srgbClr val="8291A3"/>
            </a:solidFill>
            <a:prstDash val="solid"/>
          </a:ln>
        </p:spPr>
      </p:sp>
      <p:sp>
        <p:nvSpPr>
          <p:cNvPr id="17" name="U05-DG-010-highpass-title">
            <a:extLst>
              <a:ext uri="{FF2B5EF4-FFF2-40B4-BE49-F238E27FC236}">
                <a16:creationId xmlns:a16="http://schemas.microsoft.com/office/drawing/2014/main" id="{35F8C1C0-823F-43AB-B195-A3FDC9C2E5F2}"/>
              </a:ext>
            </a:extLst>
          </p:cNvPr>
          <p:cNvSpPr>
            <a:spLocks noGrp="1"/>
          </p:cNvSpPr>
          <p:nvPr/>
        </p:nvSpPr>
        <p:spPr>
          <a:xfrm>
            <a:off x="3648075" y="4124325"/>
            <a:ext cx="1943100" cy="3286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Pasa altos</a:t>
            </a:r>
          </a:p>
        </p:txBody>
      </p:sp>
      <p:sp>
        <p:nvSpPr>
          <p:cNvPr id="18" name="U05-DG-010-highpass-body">
            <a:extLst>
              <a:ext uri="{FF2B5EF4-FFF2-40B4-BE49-F238E27FC236}">
                <a16:creationId xmlns:a16="http://schemas.microsoft.com/office/drawing/2014/main" id="{54BD9927-5BDA-461D-8791-F90A0F905B75}"/>
              </a:ext>
            </a:extLst>
          </p:cNvPr>
          <p:cNvSpPr>
            <a:spLocks noGrp="1"/>
          </p:cNvSpPr>
          <p:nvPr/>
        </p:nvSpPr>
        <p:spPr>
          <a:xfrm>
            <a:off x="3648075" y="4452938"/>
            <a:ext cx="1943100" cy="5191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pasa f altas</a:t>
            </a:r>
          </a:p>
        </p:txBody>
      </p:sp>
      <p:sp>
        <p:nvSpPr>
          <p:cNvPr id="19" name="U05-DG-010-bandpass">
            <a:extLst>
              <a:ext uri="{FF2B5EF4-FFF2-40B4-BE49-F238E27FC236}">
                <a16:creationId xmlns:a16="http://schemas.microsoft.com/office/drawing/2014/main" id="{B412EB18-ECA5-4305-B9C8-93D4731776B3}"/>
              </a:ext>
            </a:extLst>
          </p:cNvPr>
          <p:cNvSpPr>
            <a:spLocks noGrp="1"/>
          </p:cNvSpPr>
          <p:nvPr/>
        </p:nvSpPr>
        <p:spPr>
          <a:xfrm>
            <a:off x="6238875" y="4000500"/>
            <a:ext cx="2286000" cy="1095375"/>
          </a:xfrm>
          <a:prstGeom prst="roundRect">
            <a:avLst>
              <a:gd name="adj" fmla="val 12174"/>
            </a:avLst>
          </a:prstGeom>
          <a:solidFill>
            <a:srgbClr val="E3F2ED"/>
          </a:solidFill>
          <a:ln w="19050">
            <a:solidFill>
              <a:srgbClr val="2D7867"/>
            </a:solidFill>
            <a:prstDash val="solid"/>
          </a:ln>
        </p:spPr>
      </p:sp>
      <p:sp>
        <p:nvSpPr>
          <p:cNvPr id="20" name="U05-DG-010-bandpass-title">
            <a:extLst>
              <a:ext uri="{FF2B5EF4-FFF2-40B4-BE49-F238E27FC236}">
                <a16:creationId xmlns:a16="http://schemas.microsoft.com/office/drawing/2014/main" id="{29A10D15-2F47-440A-8DC8-3F549EEF2A98}"/>
              </a:ext>
            </a:extLst>
          </p:cNvPr>
          <p:cNvSpPr>
            <a:spLocks noGrp="1"/>
          </p:cNvSpPr>
          <p:nvPr/>
        </p:nvSpPr>
        <p:spPr>
          <a:xfrm>
            <a:off x="6410325" y="4124325"/>
            <a:ext cx="1943100" cy="3286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Pasa banda</a:t>
            </a:r>
          </a:p>
        </p:txBody>
      </p:sp>
      <p:sp>
        <p:nvSpPr>
          <p:cNvPr id="21" name="U05-DG-010-bandpass-body">
            <a:extLst>
              <a:ext uri="{FF2B5EF4-FFF2-40B4-BE49-F238E27FC236}">
                <a16:creationId xmlns:a16="http://schemas.microsoft.com/office/drawing/2014/main" id="{C98C49D8-ACBD-460B-88ED-622629242454}"/>
              </a:ext>
            </a:extLst>
          </p:cNvPr>
          <p:cNvSpPr>
            <a:spLocks noGrp="1"/>
          </p:cNvSpPr>
          <p:nvPr/>
        </p:nvSpPr>
        <p:spPr>
          <a:xfrm>
            <a:off x="6410325" y="4452938"/>
            <a:ext cx="1943100" cy="5191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pasa f_L…f_H</a:t>
            </a:r>
          </a:p>
        </p:txBody>
      </p:sp>
      <p:sp>
        <p:nvSpPr>
          <p:cNvPr id="22" name="U05-DG-010-bandstop">
            <a:extLst>
              <a:ext uri="{FF2B5EF4-FFF2-40B4-BE49-F238E27FC236}">
                <a16:creationId xmlns:a16="http://schemas.microsoft.com/office/drawing/2014/main" id="{02CCA7BF-2563-4948-9D79-022EC27FE0DB}"/>
              </a:ext>
            </a:extLst>
          </p:cNvPr>
          <p:cNvSpPr>
            <a:spLocks noGrp="1"/>
          </p:cNvSpPr>
          <p:nvPr/>
        </p:nvSpPr>
        <p:spPr>
          <a:xfrm>
            <a:off x="9001125" y="4000500"/>
            <a:ext cx="2286000" cy="1095375"/>
          </a:xfrm>
          <a:prstGeom prst="roundRect">
            <a:avLst>
              <a:gd name="adj" fmla="val 12174"/>
            </a:avLst>
          </a:prstGeom>
          <a:solidFill>
            <a:srgbClr val="E3F2ED"/>
          </a:solidFill>
          <a:ln w="19050">
            <a:solidFill>
              <a:srgbClr val="2D7867"/>
            </a:solidFill>
            <a:prstDash val="solid"/>
          </a:ln>
        </p:spPr>
      </p:sp>
      <p:sp>
        <p:nvSpPr>
          <p:cNvPr id="23" name="U05-DG-010-bandstop-title">
            <a:extLst>
              <a:ext uri="{FF2B5EF4-FFF2-40B4-BE49-F238E27FC236}">
                <a16:creationId xmlns:a16="http://schemas.microsoft.com/office/drawing/2014/main" id="{CE5B8CF3-6A7A-4848-8BCE-9A69E8250D8E}"/>
              </a:ext>
            </a:extLst>
          </p:cNvPr>
          <p:cNvSpPr>
            <a:spLocks noGrp="1"/>
          </p:cNvSpPr>
          <p:nvPr/>
        </p:nvSpPr>
        <p:spPr>
          <a:xfrm>
            <a:off x="9172575" y="4124325"/>
            <a:ext cx="1943100" cy="3286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Rechazo</a:t>
            </a:r>
          </a:p>
        </p:txBody>
      </p:sp>
      <p:sp>
        <p:nvSpPr>
          <p:cNvPr id="24" name="U05-DG-010-bandstop-body">
            <a:extLst>
              <a:ext uri="{FF2B5EF4-FFF2-40B4-BE49-F238E27FC236}">
                <a16:creationId xmlns:a16="http://schemas.microsoft.com/office/drawing/2014/main" id="{D8B11E71-1DBB-413E-AA69-EAF5FD108CF3}"/>
              </a:ext>
            </a:extLst>
          </p:cNvPr>
          <p:cNvSpPr>
            <a:spLocks noGrp="1"/>
          </p:cNvSpPr>
          <p:nvPr/>
        </p:nvSpPr>
        <p:spPr>
          <a:xfrm>
            <a:off x="9172575" y="4452938"/>
            <a:ext cx="1943100" cy="5191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f_L…f_H</a:t>
            </a:r>
          </a:p>
        </p:txBody>
      </p:sp>
      <p:cxnSp>
        <p:nvCxnSpPr>
          <p:cNvPr id="58" name="U05-DG-010-filter_1"/>
          <p:cNvCxnSpPr>
            <a:stCxn id="4" idx="3"/>
            <a:endCxn id="7" idx="1"/>
          </p:cNvCxnSpPr>
          <p:nvPr/>
        </p:nvCxnSpPr>
        <p:spPr>
          <a:xfrm>
            <a:off x="3524250" y="1833563"/>
            <a:ext cx="1381125" cy="0"/>
          </a:xfrm>
          <a:prstGeom prst="straightConnector1">
            <a:avLst/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cxnSp>
        <p:nvCxnSpPr>
          <p:cNvPr id="59" name="U05-DG-010-filter_2"/>
          <p:cNvCxnSpPr>
            <a:stCxn id="7" idx="3"/>
            <a:endCxn id="10" idx="1"/>
          </p:cNvCxnSpPr>
          <p:nvPr/>
        </p:nvCxnSpPr>
        <p:spPr>
          <a:xfrm>
            <a:off x="7286625" y="1833563"/>
            <a:ext cx="1381125" cy="0"/>
          </a:xfrm>
          <a:prstGeom prst="straightConnector1">
            <a:avLst/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cxnSp>
        <p:nvCxnSpPr>
          <p:cNvPr id="60" name="U05-DG-010-filter_branch_1"/>
          <p:cNvCxnSpPr>
            <a:stCxn id="7" idx="2"/>
            <a:endCxn id="13" idx="0"/>
          </p:cNvCxnSpPr>
          <p:nvPr/>
        </p:nvCxnSpPr>
        <p:spPr>
          <a:xfrm flipH="1">
            <a:off x="1857375" y="2381250"/>
            <a:ext cx="4238625" cy="1619250"/>
          </a:xfrm>
          <a:prstGeom prst="bentConnector4">
            <a:avLst>
              <a:gd name="adj1" fmla="val 0"/>
              <a:gd name="adj2" fmla="val 50000"/>
            </a:avLst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cxnSp>
        <p:nvCxnSpPr>
          <p:cNvPr id="61" name="U05-DG-010-filter_branch_2"/>
          <p:cNvCxnSpPr>
            <a:stCxn id="7" idx="2"/>
            <a:endCxn id="16" idx="0"/>
          </p:cNvCxnSpPr>
          <p:nvPr/>
        </p:nvCxnSpPr>
        <p:spPr>
          <a:xfrm flipH="1">
            <a:off x="4619625" y="2381250"/>
            <a:ext cx="1476375" cy="1619250"/>
          </a:xfrm>
          <a:prstGeom prst="bentConnector4">
            <a:avLst>
              <a:gd name="adj1" fmla="val 0"/>
              <a:gd name="adj2" fmla="val 50000"/>
            </a:avLst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cxnSp>
        <p:nvCxnSpPr>
          <p:cNvPr id="62" name="U05-DG-010-filter_branch_3"/>
          <p:cNvCxnSpPr>
            <a:stCxn id="7" idx="2"/>
            <a:endCxn id="19" idx="0"/>
          </p:cNvCxnSpPr>
          <p:nvPr/>
        </p:nvCxnSpPr>
        <p:spPr>
          <a:xfrm>
            <a:off x="6096000" y="2381250"/>
            <a:ext cx="1285875" cy="1619250"/>
          </a:xfrm>
          <a:prstGeom prst="bentConnector4">
            <a:avLst>
              <a:gd name="adj1" fmla="val 0"/>
              <a:gd name="adj2" fmla="val 50000"/>
            </a:avLst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cxnSp>
        <p:nvCxnSpPr>
          <p:cNvPr id="63" name="U05-DG-010-filter_branch_4"/>
          <p:cNvCxnSpPr>
            <a:stCxn id="7" idx="2"/>
            <a:endCxn id="22" idx="0"/>
          </p:cNvCxnSpPr>
          <p:nvPr/>
        </p:nvCxnSpPr>
        <p:spPr>
          <a:xfrm>
            <a:off x="6096000" y="2381250"/>
            <a:ext cx="4048125" cy="1619250"/>
          </a:xfrm>
          <a:prstGeom prst="bentConnector4">
            <a:avLst>
              <a:gd name="adj1" fmla="val 0"/>
              <a:gd name="adj2" fmla="val 50000"/>
            </a:avLst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sp>
        <p:nvSpPr>
          <p:cNvPr id="31" name="diagram-scale-note">
            <a:extLst>
              <a:ext uri="{FF2B5EF4-FFF2-40B4-BE49-F238E27FC236}">
                <a16:creationId xmlns:a16="http://schemas.microsoft.com/office/drawing/2014/main" id="{73169621-3F8C-42EC-9799-74F0951FCDE0}"/>
              </a:ext>
            </a:extLst>
          </p:cNvPr>
          <p:cNvSpPr>
            <a:spLocks noGrp="1"/>
          </p:cNvSpPr>
          <p:nvPr/>
        </p:nvSpPr>
        <p:spPr>
          <a:xfrm>
            <a:off x="552450" y="5829300"/>
            <a:ext cx="3905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05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Esquema conceptual · no está a escala</a:t>
            </a:r>
          </a:p>
        </p:txBody>
      </p:sp>
      <p:sp>
        <p:nvSpPr>
          <p:cNvPr id="32" name="caption">
            <a:extLst>
              <a:ext uri="{FF2B5EF4-FFF2-40B4-BE49-F238E27FC236}">
                <a16:creationId xmlns:a16="http://schemas.microsoft.com/office/drawing/2014/main" id="{A9C7AAAB-2D30-4DB2-8973-8E6DAD08E890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876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El objeto “sistema” evita confundir este ancho con una banda de medición.</a:t>
            </a:r>
          </a:p>
        </p:txBody>
      </p:sp>
      <p:sp>
        <p:nvSpPr>
          <p:cNvPr id="33" name="credit">
            <a:extLst>
              <a:ext uri="{FF2B5EF4-FFF2-40B4-BE49-F238E27FC236}">
                <a16:creationId xmlns:a16="http://schemas.microsoft.com/office/drawing/2014/main" id="{C1148CC9-FF01-4229-8789-38F4A2261C34}"/>
              </a:ext>
            </a:extLst>
          </p:cNvPr>
          <p:cNvSpPr>
            <a:spLocks noGrp="1"/>
          </p:cNvSpPr>
          <p:nvPr/>
        </p:nvSpPr>
        <p:spPr>
          <a:xfrm>
            <a:off x="9382125" y="60769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5.9.</a:t>
            </a:r>
          </a:p>
        </p:txBody>
      </p:sp>
      <p:sp>
        <p:nvSpPr>
          <p:cNvPr id="25" name="slide-alt-summary" descr="Curva pasa banda con límites 500 y 2000 Hz, centro 1000 Hz y ancho 1500 Hz.">
            <a:extLst>
              <a:ext uri="{FF2B5EF4-FFF2-40B4-BE49-F238E27FC236}">
                <a16:creationId xmlns:a16="http://schemas.microsoft.com/office/drawing/2014/main" id="{88EBFA5F-5082-F0F5-8019-9E9E8689F426}"/>
              </a:ext>
            </a:extLst>
          </p:cNvPr>
          <p:cNvSpPr/>
          <p:nvPr/>
        </p:nvSpPr>
        <p:spPr>
          <a:xfrm>
            <a:off x="12700" y="12700"/>
            <a:ext cx="12700" cy="12700"/>
          </a:xfrm>
          <a:prstGeom prst="rect">
            <a:avLst/>
          </a:prstGeom>
          <a:noFill/>
          <a:ln w="19050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33635661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yebrow">
            <a:extLst>
              <a:ext uri="{FF2B5EF4-FFF2-40B4-BE49-F238E27FC236}">
                <a16:creationId xmlns:a16="http://schemas.microsoft.com/office/drawing/2014/main" id="{B8649569-7195-426C-83DD-0D4AF3389DD8}"/>
              </a:ext>
            </a:extLst>
          </p:cNvPr>
          <p:cNvSpPr>
            <a:spLocks noGrp="1"/>
          </p:cNvSpPr>
          <p:nvPr/>
        </p:nvSpPr>
        <p:spPr>
          <a:xfrm>
            <a:off x="514350" y="2095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102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0F88D853-99E7-434D-A2C5-03C8E224B8BA}"/>
              </a:ext>
            </a:extLst>
          </p:cNvPr>
          <p:cNvSpPr>
            <a:spLocks noGrp="1"/>
          </p:cNvSpPr>
          <p:nvPr/>
        </p:nvSpPr>
        <p:spPr>
          <a:xfrm>
            <a:off x="495300" y="428625"/>
            <a:ext cx="11191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Escuchar qué conserva cada filtro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7097DEC0-E394-4FE5-B61E-CE509E45B44E}"/>
              </a:ext>
            </a:extLst>
          </p:cNvPr>
          <p:cNvSpPr>
            <a:spLocks noGrp="1"/>
          </p:cNvSpPr>
          <p:nvPr/>
        </p:nvSpPr>
        <p:spPr>
          <a:xfrm>
            <a:off x="523875" y="971550"/>
            <a:ext cx="11001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La escucha es demostración, no medición.</a:t>
            </a:r>
          </a:p>
        </p:txBody>
      </p:sp>
      <p:pic>
        <p:nvPicPr>
          <p:cNvPr id="10" name="Gráfico 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457200" y="1257300"/>
            <a:ext cx="11277600" cy="4686300"/>
          </a:xfrm>
          <a:prstGeom prst="rect">
            <a:avLst/>
          </a:prstGeom>
        </p:spPr>
      </p:pic>
      <p:sp>
        <p:nvSpPr>
          <p:cNvPr id="5" name="caption">
            <a:extLst>
              <a:ext uri="{FF2B5EF4-FFF2-40B4-BE49-F238E27FC236}">
                <a16:creationId xmlns:a16="http://schemas.microsoft.com/office/drawing/2014/main" id="{66A1B9CB-1B3B-4248-8B9F-389B8FB0F83A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876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El efecto audible depende de la señal, nivel y respuesta aplicada.</a:t>
            </a:r>
          </a:p>
        </p:txBody>
      </p:sp>
      <p:sp>
        <p:nvSpPr>
          <p:cNvPr id="6" name="credit">
            <a:extLst>
              <a:ext uri="{FF2B5EF4-FFF2-40B4-BE49-F238E27FC236}">
                <a16:creationId xmlns:a16="http://schemas.microsoft.com/office/drawing/2014/main" id="{E6BAF02E-984E-4718-A63D-7D117C2FAFBF}"/>
              </a:ext>
            </a:extLst>
          </p:cNvPr>
          <p:cNvSpPr>
            <a:spLocks noGrp="1"/>
          </p:cNvSpPr>
          <p:nvPr/>
        </p:nvSpPr>
        <p:spPr>
          <a:xfrm>
            <a:off x="9382125" y="60769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5.9; EP.</a:t>
            </a:r>
          </a:p>
        </p:txBody>
      </p:sp>
      <p:sp>
        <p:nvSpPr>
          <p:cNvPr id="4" name="slide-alt-summary" descr="Cuatro espectros muestran señal original y tres versiones filtradas.">
            <a:extLst>
              <a:ext uri="{FF2B5EF4-FFF2-40B4-BE49-F238E27FC236}">
                <a16:creationId xmlns:a16="http://schemas.microsoft.com/office/drawing/2014/main" id="{9927EA97-FBA2-2A7F-21D1-7C8BEA1697E1}"/>
              </a:ext>
            </a:extLst>
          </p:cNvPr>
          <p:cNvSpPr/>
          <p:nvPr/>
        </p:nvSpPr>
        <p:spPr>
          <a:xfrm>
            <a:off x="12700" y="12700"/>
            <a:ext cx="12700" cy="12700"/>
          </a:xfrm>
          <a:prstGeom prst="rect">
            <a:avLst/>
          </a:prstGeom>
          <a:noFill/>
          <a:ln w="19050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46213385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yebrow">
            <a:extLst>
              <a:ext uri="{FF2B5EF4-FFF2-40B4-BE49-F238E27FC236}">
                <a16:creationId xmlns:a16="http://schemas.microsoft.com/office/drawing/2014/main" id="{E11EBF01-4946-44FE-865C-270D119FAD46}"/>
              </a:ext>
            </a:extLst>
          </p:cNvPr>
          <p:cNvSpPr>
            <a:spLocks noGrp="1"/>
          </p:cNvSpPr>
          <p:nvPr/>
        </p:nvSpPr>
        <p:spPr>
          <a:xfrm>
            <a:off x="514350" y="2095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103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3ED52E53-0AE4-4159-87A6-E235D1111640}"/>
              </a:ext>
            </a:extLst>
          </p:cNvPr>
          <p:cNvSpPr>
            <a:spLocks noGrp="1"/>
          </p:cNvSpPr>
          <p:nvPr/>
        </p:nvSpPr>
        <p:spPr>
          <a:xfrm>
            <a:off x="495300" y="428625"/>
            <a:ext cx="11191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¿Qué filtro representa cada curva?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049927DA-E71D-4705-8226-C25E51631EA6}"/>
              </a:ext>
            </a:extLst>
          </p:cNvPr>
          <p:cNvSpPr>
            <a:spLocks noGrp="1"/>
          </p:cNvSpPr>
          <p:nvPr/>
        </p:nvSpPr>
        <p:spPr>
          <a:xfrm>
            <a:off x="523875" y="971550"/>
            <a:ext cx="11001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Identifique paso, rechazo y transición.</a:t>
            </a:r>
          </a:p>
        </p:txBody>
      </p:sp>
      <p:pic>
        <p:nvPicPr>
          <p:cNvPr id="13" name="Gráfico 1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457200" y="1381125"/>
            <a:ext cx="7524750" cy="4429125"/>
          </a:xfrm>
          <a:prstGeom prst="rect">
            <a:avLst/>
          </a:prstGeom>
        </p:spPr>
      </p:pic>
      <p:sp>
        <p:nvSpPr>
          <p:cNvPr id="5" name="chart-reading-box">
            <a:extLst>
              <a:ext uri="{FF2B5EF4-FFF2-40B4-BE49-F238E27FC236}">
                <a16:creationId xmlns:a16="http://schemas.microsoft.com/office/drawing/2014/main" id="{4A203557-7E04-4B6D-968F-EA16154249AF}"/>
              </a:ext>
            </a:extLst>
          </p:cNvPr>
          <p:cNvSpPr>
            <a:spLocks noGrp="1"/>
          </p:cNvSpPr>
          <p:nvPr/>
        </p:nvSpPr>
        <p:spPr>
          <a:xfrm>
            <a:off x="8239125" y="1476375"/>
            <a:ext cx="3190875" cy="3857625"/>
          </a:xfrm>
          <a:prstGeom prst="roundRect">
            <a:avLst>
              <a:gd name="adj" fmla="val 4179"/>
            </a:avLst>
          </a:prstGeom>
          <a:solidFill>
            <a:srgbClr val="DDEFF5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6" name="chart-reading-title">
            <a:extLst>
              <a:ext uri="{FF2B5EF4-FFF2-40B4-BE49-F238E27FC236}">
                <a16:creationId xmlns:a16="http://schemas.microsoft.com/office/drawing/2014/main" id="{70C44303-EE34-4419-8D92-36F77E97C0F0}"/>
              </a:ext>
            </a:extLst>
          </p:cNvPr>
          <p:cNvSpPr>
            <a:spLocks noGrp="1"/>
          </p:cNvSpPr>
          <p:nvPr/>
        </p:nvSpPr>
        <p:spPr>
          <a:xfrm>
            <a:off x="8410575" y="1609725"/>
            <a:ext cx="28479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Qué leer</a:t>
            </a:r>
          </a:p>
        </p:txBody>
      </p:sp>
      <p:sp>
        <p:nvSpPr>
          <p:cNvPr id="7" name="chart-reading-body">
            <a:extLst>
              <a:ext uri="{FF2B5EF4-FFF2-40B4-BE49-F238E27FC236}">
                <a16:creationId xmlns:a16="http://schemas.microsoft.com/office/drawing/2014/main" id="{17388BDC-AD41-4EE5-ADBA-ACC9F329BA13}"/>
              </a:ext>
            </a:extLst>
          </p:cNvPr>
          <p:cNvSpPr>
            <a:spLocks noGrp="1"/>
          </p:cNvSpPr>
          <p:nvPr/>
        </p:nvSpPr>
        <p:spPr>
          <a:xfrm>
            <a:off x="8410575" y="1990725"/>
            <a:ext cx="2847975" cy="3209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Para cada curva: tipo de filtro región conservada región atenuada criterio visible o faltante.</a:t>
            </a:r>
          </a:p>
        </p:txBody>
      </p:sp>
      <p:sp>
        <p:nvSpPr>
          <p:cNvPr id="8" name="caption">
            <a:extLst>
              <a:ext uri="{FF2B5EF4-FFF2-40B4-BE49-F238E27FC236}">
                <a16:creationId xmlns:a16="http://schemas.microsoft.com/office/drawing/2014/main" id="{9E6FD5B1-CC88-4A55-A5C4-524306239F1A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876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El tipo se decide por la respuesta, no por la forma de la caja.</a:t>
            </a:r>
          </a:p>
        </p:txBody>
      </p:sp>
      <p:sp>
        <p:nvSpPr>
          <p:cNvPr id="9" name="credit">
            <a:extLst>
              <a:ext uri="{FF2B5EF4-FFF2-40B4-BE49-F238E27FC236}">
                <a16:creationId xmlns:a16="http://schemas.microsoft.com/office/drawing/2014/main" id="{05827926-5640-45F4-BF64-4A6DCA4BD7E0}"/>
              </a:ext>
            </a:extLst>
          </p:cNvPr>
          <p:cNvSpPr>
            <a:spLocks noGrp="1"/>
          </p:cNvSpPr>
          <p:nvPr/>
        </p:nvSpPr>
        <p:spPr>
          <a:xfrm>
            <a:off x="9382125" y="60769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ejercicio L5.</a:t>
            </a:r>
          </a:p>
        </p:txBody>
      </p:sp>
      <p:sp>
        <p:nvSpPr>
          <p:cNvPr id="4" name="slide-alt-summary" descr="Cuatro respuestas sin nombre para clasificar como filtros básicos.">
            <a:extLst>
              <a:ext uri="{FF2B5EF4-FFF2-40B4-BE49-F238E27FC236}">
                <a16:creationId xmlns:a16="http://schemas.microsoft.com/office/drawing/2014/main" id="{C00A80E1-1E60-46C3-E4E3-59F0D1D15F97}"/>
              </a:ext>
            </a:extLst>
          </p:cNvPr>
          <p:cNvSpPr/>
          <p:nvPr/>
        </p:nvSpPr>
        <p:spPr>
          <a:xfrm>
            <a:off x="12700" y="12700"/>
            <a:ext cx="12700" cy="12700"/>
          </a:xfrm>
          <a:prstGeom prst="rect">
            <a:avLst/>
          </a:prstGeom>
          <a:noFill/>
          <a:ln w="19050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73297158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eyebrow">
            <a:extLst>
              <a:ext uri="{FF2B5EF4-FFF2-40B4-BE49-F238E27FC236}">
                <a16:creationId xmlns:a16="http://schemas.microsoft.com/office/drawing/2014/main" id="{B9A5B665-0801-4FFD-8F8F-E5D575EF1077}"/>
              </a:ext>
            </a:extLst>
          </p:cNvPr>
          <p:cNvSpPr>
            <a:spLocks noGrp="1"/>
          </p:cNvSpPr>
          <p:nvPr/>
        </p:nvSpPr>
        <p:spPr>
          <a:xfrm>
            <a:off x="514350" y="2095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104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A8D6F598-E2AC-482F-9628-1FB2C96E8A76}"/>
              </a:ext>
            </a:extLst>
          </p:cNvPr>
          <p:cNvSpPr>
            <a:spLocks noGrp="1"/>
          </p:cNvSpPr>
          <p:nvPr/>
        </p:nvSpPr>
        <p:spPr>
          <a:xfrm>
            <a:off x="495300" y="428625"/>
            <a:ext cx="11191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85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285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Filtrar, ponderar y filtrar un estímulo persiguen propósitos distintos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C468EF7B-04F1-4315-A5BE-7848772C2C8C}"/>
              </a:ext>
            </a:extLst>
          </p:cNvPr>
          <p:cNvSpPr>
            <a:spLocks noGrp="1"/>
          </p:cNvSpPr>
          <p:nvPr/>
        </p:nvSpPr>
        <p:spPr>
          <a:xfrm>
            <a:off x="523875" y="971550"/>
            <a:ext cx="11001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Operaciones semejantes; objetos y salidas diferentes.</a:t>
            </a:r>
          </a:p>
        </p:txBody>
      </p:sp>
      <p:sp>
        <p:nvSpPr>
          <p:cNvPr id="4" name="U05-DG-010-filter_input">
            <a:extLst>
              <a:ext uri="{FF2B5EF4-FFF2-40B4-BE49-F238E27FC236}">
                <a16:creationId xmlns:a16="http://schemas.microsoft.com/office/drawing/2014/main" id="{2CF663C6-05DC-4B7D-9967-089AE8495C7B}"/>
              </a:ext>
            </a:extLst>
          </p:cNvPr>
          <p:cNvSpPr>
            <a:spLocks noGrp="1"/>
          </p:cNvSpPr>
          <p:nvPr/>
        </p:nvSpPr>
        <p:spPr>
          <a:xfrm>
            <a:off x="1143000" y="1285875"/>
            <a:ext cx="2381250" cy="1095375"/>
          </a:xfrm>
          <a:prstGeom prst="roundRect">
            <a:avLst>
              <a:gd name="adj" fmla="val 12174"/>
            </a:avLst>
          </a:prstGeom>
          <a:solidFill>
            <a:srgbClr val="EFF8FA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5" name="U05-DG-010-filter_input-title">
            <a:extLst>
              <a:ext uri="{FF2B5EF4-FFF2-40B4-BE49-F238E27FC236}">
                <a16:creationId xmlns:a16="http://schemas.microsoft.com/office/drawing/2014/main" id="{4E69E956-C16B-419F-B02F-3FDAF686C280}"/>
              </a:ext>
            </a:extLst>
          </p:cNvPr>
          <p:cNvSpPr>
            <a:spLocks noGrp="1"/>
          </p:cNvSpPr>
          <p:nvPr/>
        </p:nvSpPr>
        <p:spPr>
          <a:xfrm>
            <a:off x="1314450" y="1409700"/>
            <a:ext cx="2038350" cy="3286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Entrada</a:t>
            </a:r>
          </a:p>
        </p:txBody>
      </p:sp>
      <p:sp>
        <p:nvSpPr>
          <p:cNvPr id="6" name="U05-DG-010-filter_input-body">
            <a:extLst>
              <a:ext uri="{FF2B5EF4-FFF2-40B4-BE49-F238E27FC236}">
                <a16:creationId xmlns:a16="http://schemas.microsoft.com/office/drawing/2014/main" id="{2491DFCC-7736-43FE-9C2E-0AC60F93EDAA}"/>
              </a:ext>
            </a:extLst>
          </p:cNvPr>
          <p:cNvSpPr>
            <a:spLocks noGrp="1"/>
          </p:cNvSpPr>
          <p:nvPr/>
        </p:nvSpPr>
        <p:spPr>
          <a:xfrm>
            <a:off x="1314450" y="1738313"/>
            <a:ext cx="2038350" cy="5191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espectro X(f)</a:t>
            </a:r>
          </a:p>
        </p:txBody>
      </p:sp>
      <p:sp>
        <p:nvSpPr>
          <p:cNvPr id="7" name="U05-DG-010-filter_system">
            <a:extLst>
              <a:ext uri="{FF2B5EF4-FFF2-40B4-BE49-F238E27FC236}">
                <a16:creationId xmlns:a16="http://schemas.microsoft.com/office/drawing/2014/main" id="{0D5CE997-8EE9-4A96-A04D-3A26B360B0DF}"/>
              </a:ext>
            </a:extLst>
          </p:cNvPr>
          <p:cNvSpPr>
            <a:spLocks noGrp="1"/>
          </p:cNvSpPr>
          <p:nvPr/>
        </p:nvSpPr>
        <p:spPr>
          <a:xfrm>
            <a:off x="4905375" y="1285875"/>
            <a:ext cx="2381250" cy="1095375"/>
          </a:xfrm>
          <a:prstGeom prst="roundRect">
            <a:avLst>
              <a:gd name="adj" fmla="val 12174"/>
            </a:avLst>
          </a:prstGeom>
          <a:solidFill>
            <a:srgbClr val="DDEFF5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8" name="U05-DG-010-filter_system-title">
            <a:extLst>
              <a:ext uri="{FF2B5EF4-FFF2-40B4-BE49-F238E27FC236}">
                <a16:creationId xmlns:a16="http://schemas.microsoft.com/office/drawing/2014/main" id="{FFF3CB9F-6E33-496D-B3B3-21766172507B}"/>
              </a:ext>
            </a:extLst>
          </p:cNvPr>
          <p:cNvSpPr>
            <a:spLocks noGrp="1"/>
          </p:cNvSpPr>
          <p:nvPr/>
        </p:nvSpPr>
        <p:spPr>
          <a:xfrm>
            <a:off x="5076825" y="1409700"/>
            <a:ext cx="2038350" cy="3286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Filtro</a:t>
            </a:r>
          </a:p>
        </p:txBody>
      </p:sp>
      <p:sp>
        <p:nvSpPr>
          <p:cNvPr id="9" name="U05-DG-010-filter_system-body">
            <a:extLst>
              <a:ext uri="{FF2B5EF4-FFF2-40B4-BE49-F238E27FC236}">
                <a16:creationId xmlns:a16="http://schemas.microsoft.com/office/drawing/2014/main" id="{1409FE08-8337-4D61-ADF9-B6596A472F28}"/>
              </a:ext>
            </a:extLst>
          </p:cNvPr>
          <p:cNvSpPr>
            <a:spLocks noGrp="1"/>
          </p:cNvSpPr>
          <p:nvPr/>
        </p:nvSpPr>
        <p:spPr>
          <a:xfrm>
            <a:off x="5076825" y="1738313"/>
            <a:ext cx="2038350" cy="5191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respuesta H(f)</a:t>
            </a:r>
          </a:p>
        </p:txBody>
      </p:sp>
      <p:sp>
        <p:nvSpPr>
          <p:cNvPr id="10" name="U05-DG-010-filter_output">
            <a:extLst>
              <a:ext uri="{FF2B5EF4-FFF2-40B4-BE49-F238E27FC236}">
                <a16:creationId xmlns:a16="http://schemas.microsoft.com/office/drawing/2014/main" id="{C090765F-1791-40E6-B424-6776165699BB}"/>
              </a:ext>
            </a:extLst>
          </p:cNvPr>
          <p:cNvSpPr>
            <a:spLocks noGrp="1"/>
          </p:cNvSpPr>
          <p:nvPr/>
        </p:nvSpPr>
        <p:spPr>
          <a:xfrm>
            <a:off x="8667750" y="1285875"/>
            <a:ext cx="2381250" cy="1095375"/>
          </a:xfrm>
          <a:prstGeom prst="roundRect">
            <a:avLst>
              <a:gd name="adj" fmla="val 12174"/>
            </a:avLst>
          </a:prstGeom>
          <a:solidFill>
            <a:srgbClr val="EFF8FA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11" name="U05-DG-010-filter_output-title">
            <a:extLst>
              <a:ext uri="{FF2B5EF4-FFF2-40B4-BE49-F238E27FC236}">
                <a16:creationId xmlns:a16="http://schemas.microsoft.com/office/drawing/2014/main" id="{DFAE9283-F6F3-463A-918E-FE8C7D2BE455}"/>
              </a:ext>
            </a:extLst>
          </p:cNvPr>
          <p:cNvSpPr>
            <a:spLocks noGrp="1"/>
          </p:cNvSpPr>
          <p:nvPr/>
        </p:nvSpPr>
        <p:spPr>
          <a:xfrm>
            <a:off x="8839200" y="1409700"/>
            <a:ext cx="2038350" cy="3286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Salida</a:t>
            </a:r>
          </a:p>
        </p:txBody>
      </p:sp>
      <p:sp>
        <p:nvSpPr>
          <p:cNvPr id="12" name="U05-DG-010-filter_output-body">
            <a:extLst>
              <a:ext uri="{FF2B5EF4-FFF2-40B4-BE49-F238E27FC236}">
                <a16:creationId xmlns:a16="http://schemas.microsoft.com/office/drawing/2014/main" id="{8732E4A1-E82D-4463-9BD1-A37C2F3016F8}"/>
              </a:ext>
            </a:extLst>
          </p:cNvPr>
          <p:cNvSpPr>
            <a:spLocks noGrp="1"/>
          </p:cNvSpPr>
          <p:nvPr/>
        </p:nvSpPr>
        <p:spPr>
          <a:xfrm>
            <a:off x="8839200" y="1738313"/>
            <a:ext cx="2038350" cy="5191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Y(f)=X(f)H(f)</a:t>
            </a:r>
          </a:p>
        </p:txBody>
      </p:sp>
      <p:sp>
        <p:nvSpPr>
          <p:cNvPr id="13" name="U05-DG-010-lowpass">
            <a:extLst>
              <a:ext uri="{FF2B5EF4-FFF2-40B4-BE49-F238E27FC236}">
                <a16:creationId xmlns:a16="http://schemas.microsoft.com/office/drawing/2014/main" id="{A3C40DFA-38A0-4D14-B9AF-0C28BE5421BB}"/>
              </a:ext>
            </a:extLst>
          </p:cNvPr>
          <p:cNvSpPr>
            <a:spLocks noGrp="1"/>
          </p:cNvSpPr>
          <p:nvPr/>
        </p:nvSpPr>
        <p:spPr>
          <a:xfrm>
            <a:off x="714375" y="4000500"/>
            <a:ext cx="2286000" cy="1095375"/>
          </a:xfrm>
          <a:prstGeom prst="roundRect">
            <a:avLst>
              <a:gd name="adj" fmla="val 12174"/>
            </a:avLst>
          </a:prstGeom>
          <a:solidFill>
            <a:srgbClr val="F3F6F8"/>
          </a:solidFill>
          <a:ln w="19050">
            <a:solidFill>
              <a:srgbClr val="8291A3"/>
            </a:solidFill>
            <a:prstDash val="solid"/>
          </a:ln>
        </p:spPr>
      </p:sp>
      <p:sp>
        <p:nvSpPr>
          <p:cNvPr id="14" name="U05-DG-010-lowpass-title">
            <a:extLst>
              <a:ext uri="{FF2B5EF4-FFF2-40B4-BE49-F238E27FC236}">
                <a16:creationId xmlns:a16="http://schemas.microsoft.com/office/drawing/2014/main" id="{4D3CC762-92E3-48CA-B29C-50575ABDEE66}"/>
              </a:ext>
            </a:extLst>
          </p:cNvPr>
          <p:cNvSpPr>
            <a:spLocks noGrp="1"/>
          </p:cNvSpPr>
          <p:nvPr/>
        </p:nvSpPr>
        <p:spPr>
          <a:xfrm>
            <a:off x="885825" y="4124325"/>
            <a:ext cx="1943100" cy="3286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Pasa bajos</a:t>
            </a:r>
          </a:p>
        </p:txBody>
      </p:sp>
      <p:sp>
        <p:nvSpPr>
          <p:cNvPr id="15" name="U05-DG-010-lowpass-body">
            <a:extLst>
              <a:ext uri="{FF2B5EF4-FFF2-40B4-BE49-F238E27FC236}">
                <a16:creationId xmlns:a16="http://schemas.microsoft.com/office/drawing/2014/main" id="{E6318AC9-A00D-4BDA-8190-E74FCBA1D4DD}"/>
              </a:ext>
            </a:extLst>
          </p:cNvPr>
          <p:cNvSpPr>
            <a:spLocks noGrp="1"/>
          </p:cNvSpPr>
          <p:nvPr/>
        </p:nvSpPr>
        <p:spPr>
          <a:xfrm>
            <a:off x="885825" y="4452938"/>
            <a:ext cx="1943100" cy="5191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pasa f bajas</a:t>
            </a:r>
          </a:p>
        </p:txBody>
      </p:sp>
      <p:sp>
        <p:nvSpPr>
          <p:cNvPr id="16" name="U05-DG-010-highpass">
            <a:extLst>
              <a:ext uri="{FF2B5EF4-FFF2-40B4-BE49-F238E27FC236}">
                <a16:creationId xmlns:a16="http://schemas.microsoft.com/office/drawing/2014/main" id="{0CBE5DD1-BB4E-4EA1-8F03-4008BA6A85B0}"/>
              </a:ext>
            </a:extLst>
          </p:cNvPr>
          <p:cNvSpPr>
            <a:spLocks noGrp="1"/>
          </p:cNvSpPr>
          <p:nvPr/>
        </p:nvSpPr>
        <p:spPr>
          <a:xfrm>
            <a:off x="3476625" y="4000500"/>
            <a:ext cx="2286000" cy="1095375"/>
          </a:xfrm>
          <a:prstGeom prst="roundRect">
            <a:avLst>
              <a:gd name="adj" fmla="val 12174"/>
            </a:avLst>
          </a:prstGeom>
          <a:solidFill>
            <a:srgbClr val="F3F6F8"/>
          </a:solidFill>
          <a:ln w="19050">
            <a:solidFill>
              <a:srgbClr val="8291A3"/>
            </a:solidFill>
            <a:prstDash val="solid"/>
          </a:ln>
        </p:spPr>
      </p:sp>
      <p:sp>
        <p:nvSpPr>
          <p:cNvPr id="17" name="U05-DG-010-highpass-title">
            <a:extLst>
              <a:ext uri="{FF2B5EF4-FFF2-40B4-BE49-F238E27FC236}">
                <a16:creationId xmlns:a16="http://schemas.microsoft.com/office/drawing/2014/main" id="{3E26A621-3BD6-40AB-BB33-D3896971DABB}"/>
              </a:ext>
            </a:extLst>
          </p:cNvPr>
          <p:cNvSpPr>
            <a:spLocks noGrp="1"/>
          </p:cNvSpPr>
          <p:nvPr/>
        </p:nvSpPr>
        <p:spPr>
          <a:xfrm>
            <a:off x="3648075" y="4124325"/>
            <a:ext cx="1943100" cy="3286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Pasa altos</a:t>
            </a:r>
          </a:p>
        </p:txBody>
      </p:sp>
      <p:sp>
        <p:nvSpPr>
          <p:cNvPr id="18" name="U05-DG-010-highpass-body">
            <a:extLst>
              <a:ext uri="{FF2B5EF4-FFF2-40B4-BE49-F238E27FC236}">
                <a16:creationId xmlns:a16="http://schemas.microsoft.com/office/drawing/2014/main" id="{3FD88E90-B6DA-4A85-A824-E5F96F9373D7}"/>
              </a:ext>
            </a:extLst>
          </p:cNvPr>
          <p:cNvSpPr>
            <a:spLocks noGrp="1"/>
          </p:cNvSpPr>
          <p:nvPr/>
        </p:nvSpPr>
        <p:spPr>
          <a:xfrm>
            <a:off x="3648075" y="4452938"/>
            <a:ext cx="1943100" cy="5191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pasa f altas</a:t>
            </a:r>
          </a:p>
        </p:txBody>
      </p:sp>
      <p:sp>
        <p:nvSpPr>
          <p:cNvPr id="19" name="U05-DG-010-bandpass">
            <a:extLst>
              <a:ext uri="{FF2B5EF4-FFF2-40B4-BE49-F238E27FC236}">
                <a16:creationId xmlns:a16="http://schemas.microsoft.com/office/drawing/2014/main" id="{1F36C38F-75BC-47FE-8EF3-7252CDE9D612}"/>
              </a:ext>
            </a:extLst>
          </p:cNvPr>
          <p:cNvSpPr>
            <a:spLocks noGrp="1"/>
          </p:cNvSpPr>
          <p:nvPr/>
        </p:nvSpPr>
        <p:spPr>
          <a:xfrm>
            <a:off x="6238875" y="4000500"/>
            <a:ext cx="2286000" cy="1095375"/>
          </a:xfrm>
          <a:prstGeom prst="roundRect">
            <a:avLst>
              <a:gd name="adj" fmla="val 12174"/>
            </a:avLst>
          </a:prstGeom>
          <a:solidFill>
            <a:srgbClr val="E3F2ED"/>
          </a:solidFill>
          <a:ln w="19050">
            <a:solidFill>
              <a:srgbClr val="2D7867"/>
            </a:solidFill>
            <a:prstDash val="solid"/>
          </a:ln>
        </p:spPr>
      </p:sp>
      <p:sp>
        <p:nvSpPr>
          <p:cNvPr id="20" name="U05-DG-010-bandpass-title">
            <a:extLst>
              <a:ext uri="{FF2B5EF4-FFF2-40B4-BE49-F238E27FC236}">
                <a16:creationId xmlns:a16="http://schemas.microsoft.com/office/drawing/2014/main" id="{40468568-EAB5-436A-B524-1310F415C370}"/>
              </a:ext>
            </a:extLst>
          </p:cNvPr>
          <p:cNvSpPr>
            <a:spLocks noGrp="1"/>
          </p:cNvSpPr>
          <p:nvPr/>
        </p:nvSpPr>
        <p:spPr>
          <a:xfrm>
            <a:off x="6410325" y="4124325"/>
            <a:ext cx="1943100" cy="3286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Pasa banda</a:t>
            </a:r>
          </a:p>
        </p:txBody>
      </p:sp>
      <p:sp>
        <p:nvSpPr>
          <p:cNvPr id="21" name="U05-DG-010-bandpass-body">
            <a:extLst>
              <a:ext uri="{FF2B5EF4-FFF2-40B4-BE49-F238E27FC236}">
                <a16:creationId xmlns:a16="http://schemas.microsoft.com/office/drawing/2014/main" id="{AD595D05-8177-46F4-81BC-C41945C3D2D0}"/>
              </a:ext>
            </a:extLst>
          </p:cNvPr>
          <p:cNvSpPr>
            <a:spLocks noGrp="1"/>
          </p:cNvSpPr>
          <p:nvPr/>
        </p:nvSpPr>
        <p:spPr>
          <a:xfrm>
            <a:off x="6410325" y="4452938"/>
            <a:ext cx="1943100" cy="5191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pasa f_L…f_H</a:t>
            </a:r>
          </a:p>
        </p:txBody>
      </p:sp>
      <p:sp>
        <p:nvSpPr>
          <p:cNvPr id="22" name="U05-DG-010-bandstop">
            <a:extLst>
              <a:ext uri="{FF2B5EF4-FFF2-40B4-BE49-F238E27FC236}">
                <a16:creationId xmlns:a16="http://schemas.microsoft.com/office/drawing/2014/main" id="{2A36DDB6-B0F9-490D-B99D-4A9FD66ACB08}"/>
              </a:ext>
            </a:extLst>
          </p:cNvPr>
          <p:cNvSpPr>
            <a:spLocks noGrp="1"/>
          </p:cNvSpPr>
          <p:nvPr/>
        </p:nvSpPr>
        <p:spPr>
          <a:xfrm>
            <a:off x="9001125" y="4000500"/>
            <a:ext cx="2286000" cy="1095375"/>
          </a:xfrm>
          <a:prstGeom prst="roundRect">
            <a:avLst>
              <a:gd name="adj" fmla="val 12174"/>
            </a:avLst>
          </a:prstGeom>
          <a:solidFill>
            <a:srgbClr val="E3F2ED"/>
          </a:solidFill>
          <a:ln w="19050">
            <a:solidFill>
              <a:srgbClr val="2D7867"/>
            </a:solidFill>
            <a:prstDash val="solid"/>
          </a:ln>
        </p:spPr>
      </p:sp>
      <p:sp>
        <p:nvSpPr>
          <p:cNvPr id="23" name="U05-DG-010-bandstop-title">
            <a:extLst>
              <a:ext uri="{FF2B5EF4-FFF2-40B4-BE49-F238E27FC236}">
                <a16:creationId xmlns:a16="http://schemas.microsoft.com/office/drawing/2014/main" id="{64016C0A-5F77-4928-A10D-ED1400948A0E}"/>
              </a:ext>
            </a:extLst>
          </p:cNvPr>
          <p:cNvSpPr>
            <a:spLocks noGrp="1"/>
          </p:cNvSpPr>
          <p:nvPr/>
        </p:nvSpPr>
        <p:spPr>
          <a:xfrm>
            <a:off x="9172575" y="4124325"/>
            <a:ext cx="1943100" cy="3286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Rechazo</a:t>
            </a:r>
          </a:p>
        </p:txBody>
      </p:sp>
      <p:sp>
        <p:nvSpPr>
          <p:cNvPr id="24" name="U05-DG-010-bandstop-body">
            <a:extLst>
              <a:ext uri="{FF2B5EF4-FFF2-40B4-BE49-F238E27FC236}">
                <a16:creationId xmlns:a16="http://schemas.microsoft.com/office/drawing/2014/main" id="{1209BE62-8316-4370-ACAF-CA2373C1C29F}"/>
              </a:ext>
            </a:extLst>
          </p:cNvPr>
          <p:cNvSpPr>
            <a:spLocks noGrp="1"/>
          </p:cNvSpPr>
          <p:nvPr/>
        </p:nvSpPr>
        <p:spPr>
          <a:xfrm>
            <a:off x="9172575" y="4452938"/>
            <a:ext cx="1943100" cy="5191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f_L…f_H</a:t>
            </a:r>
          </a:p>
        </p:txBody>
      </p:sp>
      <p:cxnSp>
        <p:nvCxnSpPr>
          <p:cNvPr id="58" name="U05-DG-010-filter_1"/>
          <p:cNvCxnSpPr>
            <a:stCxn id="4" idx="3"/>
            <a:endCxn id="7" idx="1"/>
          </p:cNvCxnSpPr>
          <p:nvPr/>
        </p:nvCxnSpPr>
        <p:spPr>
          <a:xfrm>
            <a:off x="3524250" y="1833563"/>
            <a:ext cx="1381125" cy="0"/>
          </a:xfrm>
          <a:prstGeom prst="straightConnector1">
            <a:avLst/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cxnSp>
        <p:nvCxnSpPr>
          <p:cNvPr id="59" name="U05-DG-010-filter_2"/>
          <p:cNvCxnSpPr>
            <a:stCxn id="7" idx="3"/>
            <a:endCxn id="10" idx="1"/>
          </p:cNvCxnSpPr>
          <p:nvPr/>
        </p:nvCxnSpPr>
        <p:spPr>
          <a:xfrm>
            <a:off x="7286625" y="1833563"/>
            <a:ext cx="1381125" cy="0"/>
          </a:xfrm>
          <a:prstGeom prst="straightConnector1">
            <a:avLst/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cxnSp>
        <p:nvCxnSpPr>
          <p:cNvPr id="60" name="U05-DG-010-filter_branch_1"/>
          <p:cNvCxnSpPr>
            <a:stCxn id="7" idx="2"/>
            <a:endCxn id="13" idx="0"/>
          </p:cNvCxnSpPr>
          <p:nvPr/>
        </p:nvCxnSpPr>
        <p:spPr>
          <a:xfrm flipH="1">
            <a:off x="1857375" y="2381250"/>
            <a:ext cx="4238625" cy="1619250"/>
          </a:xfrm>
          <a:prstGeom prst="bentConnector4">
            <a:avLst>
              <a:gd name="adj1" fmla="val 0"/>
              <a:gd name="adj2" fmla="val 50000"/>
            </a:avLst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cxnSp>
        <p:nvCxnSpPr>
          <p:cNvPr id="61" name="U05-DG-010-filter_branch_2"/>
          <p:cNvCxnSpPr>
            <a:stCxn id="7" idx="2"/>
            <a:endCxn id="16" idx="0"/>
          </p:cNvCxnSpPr>
          <p:nvPr/>
        </p:nvCxnSpPr>
        <p:spPr>
          <a:xfrm flipH="1">
            <a:off x="4619625" y="2381250"/>
            <a:ext cx="1476375" cy="1619250"/>
          </a:xfrm>
          <a:prstGeom prst="bentConnector4">
            <a:avLst>
              <a:gd name="adj1" fmla="val 0"/>
              <a:gd name="adj2" fmla="val 50000"/>
            </a:avLst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cxnSp>
        <p:nvCxnSpPr>
          <p:cNvPr id="62" name="U05-DG-010-filter_branch_3"/>
          <p:cNvCxnSpPr>
            <a:stCxn id="7" idx="2"/>
            <a:endCxn id="19" idx="0"/>
          </p:cNvCxnSpPr>
          <p:nvPr/>
        </p:nvCxnSpPr>
        <p:spPr>
          <a:xfrm>
            <a:off x="6096000" y="2381250"/>
            <a:ext cx="1285875" cy="1619250"/>
          </a:xfrm>
          <a:prstGeom prst="bentConnector4">
            <a:avLst>
              <a:gd name="adj1" fmla="val 0"/>
              <a:gd name="adj2" fmla="val 50000"/>
            </a:avLst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cxnSp>
        <p:nvCxnSpPr>
          <p:cNvPr id="63" name="U05-DG-010-filter_branch_4"/>
          <p:cNvCxnSpPr>
            <a:stCxn id="7" idx="2"/>
            <a:endCxn id="22" idx="0"/>
          </p:cNvCxnSpPr>
          <p:nvPr/>
        </p:nvCxnSpPr>
        <p:spPr>
          <a:xfrm>
            <a:off x="6096000" y="2381250"/>
            <a:ext cx="4048125" cy="1619250"/>
          </a:xfrm>
          <a:prstGeom prst="bentConnector4">
            <a:avLst>
              <a:gd name="adj1" fmla="val 0"/>
              <a:gd name="adj2" fmla="val 50000"/>
            </a:avLst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sp>
        <p:nvSpPr>
          <p:cNvPr id="31" name="diagram-scale-note">
            <a:extLst>
              <a:ext uri="{FF2B5EF4-FFF2-40B4-BE49-F238E27FC236}">
                <a16:creationId xmlns:a16="http://schemas.microsoft.com/office/drawing/2014/main" id="{3C723CDB-2804-47A4-A7A1-B36E50E2F6E1}"/>
              </a:ext>
            </a:extLst>
          </p:cNvPr>
          <p:cNvSpPr>
            <a:spLocks noGrp="1"/>
          </p:cNvSpPr>
          <p:nvPr/>
        </p:nvSpPr>
        <p:spPr>
          <a:xfrm>
            <a:off x="552450" y="5829300"/>
            <a:ext cx="3905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05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Esquema conceptual · no está a escala</a:t>
            </a:r>
          </a:p>
        </p:txBody>
      </p:sp>
      <p:sp>
        <p:nvSpPr>
          <p:cNvPr id="32" name="caption">
            <a:extLst>
              <a:ext uri="{FF2B5EF4-FFF2-40B4-BE49-F238E27FC236}">
                <a16:creationId xmlns:a16="http://schemas.microsoft.com/office/drawing/2014/main" id="{C9509E91-108C-4AAC-B27B-F336EEA193F6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876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El propósito define qué significa la respuesta.</a:t>
            </a:r>
          </a:p>
        </p:txBody>
      </p:sp>
      <p:sp>
        <p:nvSpPr>
          <p:cNvPr id="33" name="credit">
            <a:extLst>
              <a:ext uri="{FF2B5EF4-FFF2-40B4-BE49-F238E27FC236}">
                <a16:creationId xmlns:a16="http://schemas.microsoft.com/office/drawing/2014/main" id="{4C048C52-89BC-43CF-94CB-AB730C146DC9}"/>
              </a:ext>
            </a:extLst>
          </p:cNvPr>
          <p:cNvSpPr>
            <a:spLocks noGrp="1"/>
          </p:cNvSpPr>
          <p:nvPr/>
        </p:nvSpPr>
        <p:spPr>
          <a:xfrm>
            <a:off x="9382125" y="60769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5.9.1; GLO.</a:t>
            </a:r>
          </a:p>
        </p:txBody>
      </p:sp>
      <p:sp>
        <p:nvSpPr>
          <p:cNvPr id="25" name="slide-alt-summary" descr="Tres cadenas paralelas comparan objeto, propósito y resultado de filtrado, ponderación y estímulo audiométrico.">
            <a:extLst>
              <a:ext uri="{FF2B5EF4-FFF2-40B4-BE49-F238E27FC236}">
                <a16:creationId xmlns:a16="http://schemas.microsoft.com/office/drawing/2014/main" id="{2DB458BD-195B-0B78-4403-1B6C79EAFFF1}"/>
              </a:ext>
            </a:extLst>
          </p:cNvPr>
          <p:cNvSpPr/>
          <p:nvPr/>
        </p:nvSpPr>
        <p:spPr>
          <a:xfrm>
            <a:off x="12700" y="12700"/>
            <a:ext cx="12700" cy="12700"/>
          </a:xfrm>
          <a:prstGeom prst="rect">
            <a:avLst/>
          </a:prstGeom>
          <a:noFill/>
          <a:ln w="19050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51197825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yebrow">
            <a:extLst>
              <a:ext uri="{FF2B5EF4-FFF2-40B4-BE49-F238E27FC236}">
                <a16:creationId xmlns:a16="http://schemas.microsoft.com/office/drawing/2014/main" id="{E7AB4152-E64C-4452-8667-B2C46564B200}"/>
              </a:ext>
            </a:extLst>
          </p:cNvPr>
          <p:cNvSpPr>
            <a:spLocks noGrp="1"/>
          </p:cNvSpPr>
          <p:nvPr/>
        </p:nvSpPr>
        <p:spPr>
          <a:xfrm>
            <a:off x="514350" y="2095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105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7C3DCA2A-4974-4451-A8B8-BBB7BD952131}"/>
              </a:ext>
            </a:extLst>
          </p:cNvPr>
          <p:cNvSpPr>
            <a:spLocks noGrp="1"/>
          </p:cNvSpPr>
          <p:nvPr/>
        </p:nvSpPr>
        <p:spPr>
          <a:xfrm>
            <a:off x="495300" y="428625"/>
            <a:ext cx="11191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Hasta acá: tipo, límites, transición y propósito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D04D84E2-C108-4D35-95E0-C23FE018A955}"/>
              </a:ext>
            </a:extLst>
          </p:cNvPr>
          <p:cNvSpPr>
            <a:spLocks noGrp="1"/>
          </p:cNvSpPr>
          <p:nvPr/>
        </p:nvSpPr>
        <p:spPr>
          <a:xfrm>
            <a:off x="523875" y="971550"/>
            <a:ext cx="11001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Leer un filtro es leer un sistema.</a:t>
            </a:r>
          </a:p>
        </p:txBody>
      </p:sp>
      <p:sp>
        <p:nvSpPr>
          <p:cNvPr id="4" name="U05-DG-014-recap_object">
            <a:extLst>
              <a:ext uri="{FF2B5EF4-FFF2-40B4-BE49-F238E27FC236}">
                <a16:creationId xmlns:a16="http://schemas.microsoft.com/office/drawing/2014/main" id="{F461EF20-CD73-43A4-B7CD-C7A60B8A5422}"/>
              </a:ext>
            </a:extLst>
          </p:cNvPr>
          <p:cNvSpPr>
            <a:spLocks noGrp="1"/>
          </p:cNvSpPr>
          <p:nvPr/>
        </p:nvSpPr>
        <p:spPr>
          <a:xfrm>
            <a:off x="857250" y="1714500"/>
            <a:ext cx="3048000" cy="1238250"/>
          </a:xfrm>
          <a:prstGeom prst="roundRect">
            <a:avLst>
              <a:gd name="adj" fmla="val 10769"/>
            </a:avLst>
          </a:prstGeom>
          <a:solidFill>
            <a:srgbClr val="EFF8FA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5" name="U05-DG-014-recap_object-title">
            <a:extLst>
              <a:ext uri="{FF2B5EF4-FFF2-40B4-BE49-F238E27FC236}">
                <a16:creationId xmlns:a16="http://schemas.microsoft.com/office/drawing/2014/main" id="{1E38D86E-3FA3-43D5-BF19-ED6AFB9DA4A8}"/>
              </a:ext>
            </a:extLst>
          </p:cNvPr>
          <p:cNvSpPr>
            <a:spLocks noGrp="1"/>
          </p:cNvSpPr>
          <p:nvPr/>
        </p:nvSpPr>
        <p:spPr>
          <a:xfrm>
            <a:off x="1028700" y="1838325"/>
            <a:ext cx="27051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Objeto</a:t>
            </a:r>
          </a:p>
        </p:txBody>
      </p:sp>
      <p:sp>
        <p:nvSpPr>
          <p:cNvPr id="6" name="U05-DG-014-recap_object-body">
            <a:extLst>
              <a:ext uri="{FF2B5EF4-FFF2-40B4-BE49-F238E27FC236}">
                <a16:creationId xmlns:a16="http://schemas.microsoft.com/office/drawing/2014/main" id="{C7E20057-9CED-43F2-9B8B-B6C450FABB37}"/>
              </a:ext>
            </a:extLst>
          </p:cNvPr>
          <p:cNvSpPr>
            <a:spLocks noGrp="1"/>
          </p:cNvSpPr>
          <p:nvPr/>
        </p:nvSpPr>
        <p:spPr>
          <a:xfrm>
            <a:off x="1028700" y="2209800"/>
            <a:ext cx="27051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señal / sistema</a:t>
            </a:r>
          </a:p>
        </p:txBody>
      </p:sp>
      <p:sp>
        <p:nvSpPr>
          <p:cNvPr id="7" name="U05-DG-014-recap_axes">
            <a:extLst>
              <a:ext uri="{FF2B5EF4-FFF2-40B4-BE49-F238E27FC236}">
                <a16:creationId xmlns:a16="http://schemas.microsoft.com/office/drawing/2014/main" id="{A02D8F52-E295-4845-9B05-FE9255B84632}"/>
              </a:ext>
            </a:extLst>
          </p:cNvPr>
          <p:cNvSpPr>
            <a:spLocks noGrp="1"/>
          </p:cNvSpPr>
          <p:nvPr/>
        </p:nvSpPr>
        <p:spPr>
          <a:xfrm>
            <a:off x="4572000" y="1714500"/>
            <a:ext cx="3048000" cy="1238250"/>
          </a:xfrm>
          <a:prstGeom prst="roundRect">
            <a:avLst>
              <a:gd name="adj" fmla="val 10769"/>
            </a:avLst>
          </a:prstGeom>
          <a:solidFill>
            <a:srgbClr val="F3F6F8"/>
          </a:solidFill>
          <a:ln w="19050">
            <a:solidFill>
              <a:srgbClr val="8291A3"/>
            </a:solidFill>
            <a:prstDash val="solid"/>
          </a:ln>
        </p:spPr>
      </p:sp>
      <p:sp>
        <p:nvSpPr>
          <p:cNvPr id="8" name="U05-DG-014-recap_axes-title">
            <a:extLst>
              <a:ext uri="{FF2B5EF4-FFF2-40B4-BE49-F238E27FC236}">
                <a16:creationId xmlns:a16="http://schemas.microsoft.com/office/drawing/2014/main" id="{208C37C1-91D4-443A-B06F-5B6CB0D1787F}"/>
              </a:ext>
            </a:extLst>
          </p:cNvPr>
          <p:cNvSpPr>
            <a:spLocks noGrp="1"/>
          </p:cNvSpPr>
          <p:nvPr/>
        </p:nvSpPr>
        <p:spPr>
          <a:xfrm>
            <a:off x="4743450" y="1838325"/>
            <a:ext cx="27051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Ejes</a:t>
            </a:r>
          </a:p>
        </p:txBody>
      </p:sp>
      <p:sp>
        <p:nvSpPr>
          <p:cNvPr id="9" name="U05-DG-014-recap_axes-body">
            <a:extLst>
              <a:ext uri="{FF2B5EF4-FFF2-40B4-BE49-F238E27FC236}">
                <a16:creationId xmlns:a16="http://schemas.microsoft.com/office/drawing/2014/main" id="{1F9307DD-05B8-45E6-BEDC-31992B90D2DB}"/>
              </a:ext>
            </a:extLst>
          </p:cNvPr>
          <p:cNvSpPr>
            <a:spLocks noGrp="1"/>
          </p:cNvSpPr>
          <p:nvPr/>
        </p:nvSpPr>
        <p:spPr>
          <a:xfrm>
            <a:off x="4743450" y="2209800"/>
            <a:ext cx="27051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t / f</a:t>
            </a:r>
          </a:p>
        </p:txBody>
      </p:sp>
      <p:sp>
        <p:nvSpPr>
          <p:cNvPr id="10" name="U05-DG-014-recap_units">
            <a:extLst>
              <a:ext uri="{FF2B5EF4-FFF2-40B4-BE49-F238E27FC236}">
                <a16:creationId xmlns:a16="http://schemas.microsoft.com/office/drawing/2014/main" id="{5B98C6C8-8A73-4C0C-9B8C-E76DD596950F}"/>
              </a:ext>
            </a:extLst>
          </p:cNvPr>
          <p:cNvSpPr>
            <a:spLocks noGrp="1"/>
          </p:cNvSpPr>
          <p:nvPr/>
        </p:nvSpPr>
        <p:spPr>
          <a:xfrm>
            <a:off x="8286750" y="1714500"/>
            <a:ext cx="3048000" cy="1238250"/>
          </a:xfrm>
          <a:prstGeom prst="roundRect">
            <a:avLst>
              <a:gd name="adj" fmla="val 10769"/>
            </a:avLst>
          </a:prstGeom>
          <a:solidFill>
            <a:srgbClr val="F3F6F8"/>
          </a:solidFill>
          <a:ln w="19050">
            <a:solidFill>
              <a:srgbClr val="8291A3"/>
            </a:solidFill>
            <a:prstDash val="solid"/>
          </a:ln>
        </p:spPr>
      </p:sp>
      <p:sp>
        <p:nvSpPr>
          <p:cNvPr id="11" name="U05-DG-014-recap_units-title">
            <a:extLst>
              <a:ext uri="{FF2B5EF4-FFF2-40B4-BE49-F238E27FC236}">
                <a16:creationId xmlns:a16="http://schemas.microsoft.com/office/drawing/2014/main" id="{9DF19B3D-05E8-413E-8D94-8E4E6E203D6B}"/>
              </a:ext>
            </a:extLst>
          </p:cNvPr>
          <p:cNvSpPr>
            <a:spLocks noGrp="1"/>
          </p:cNvSpPr>
          <p:nvPr/>
        </p:nvSpPr>
        <p:spPr>
          <a:xfrm>
            <a:off x="8458200" y="1838325"/>
            <a:ext cx="27051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Unidades</a:t>
            </a:r>
          </a:p>
        </p:txBody>
      </p:sp>
      <p:sp>
        <p:nvSpPr>
          <p:cNvPr id="12" name="U05-DG-014-recap_units-body">
            <a:extLst>
              <a:ext uri="{FF2B5EF4-FFF2-40B4-BE49-F238E27FC236}">
                <a16:creationId xmlns:a16="http://schemas.microsoft.com/office/drawing/2014/main" id="{DB3EB876-3DD0-49BB-9913-B5AB037955D7}"/>
              </a:ext>
            </a:extLst>
          </p:cNvPr>
          <p:cNvSpPr>
            <a:spLocks noGrp="1"/>
          </p:cNvSpPr>
          <p:nvPr/>
        </p:nvSpPr>
        <p:spPr>
          <a:xfrm>
            <a:off x="8458200" y="2209800"/>
            <a:ext cx="27051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s · Hz · Pa · dB</a:t>
            </a:r>
          </a:p>
        </p:txBody>
      </p:sp>
      <p:sp>
        <p:nvSpPr>
          <p:cNvPr id="13" name="U05-DG-014-recap_params">
            <a:extLst>
              <a:ext uri="{FF2B5EF4-FFF2-40B4-BE49-F238E27FC236}">
                <a16:creationId xmlns:a16="http://schemas.microsoft.com/office/drawing/2014/main" id="{D62A39E2-3B7C-40A8-9417-ABA939E4BDC0}"/>
              </a:ext>
            </a:extLst>
          </p:cNvPr>
          <p:cNvSpPr>
            <a:spLocks noGrp="1"/>
          </p:cNvSpPr>
          <p:nvPr/>
        </p:nvSpPr>
        <p:spPr>
          <a:xfrm>
            <a:off x="2667000" y="3905250"/>
            <a:ext cx="3048000" cy="1238250"/>
          </a:xfrm>
          <a:prstGeom prst="roundRect">
            <a:avLst>
              <a:gd name="adj" fmla="val 10769"/>
            </a:avLst>
          </a:prstGeom>
          <a:solidFill>
            <a:srgbClr val="DDEFF5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14" name="U05-DG-014-recap_params-title">
            <a:extLst>
              <a:ext uri="{FF2B5EF4-FFF2-40B4-BE49-F238E27FC236}">
                <a16:creationId xmlns:a16="http://schemas.microsoft.com/office/drawing/2014/main" id="{1EE8BE81-6214-450D-9160-51D391B05AB8}"/>
              </a:ext>
            </a:extLst>
          </p:cNvPr>
          <p:cNvSpPr>
            <a:spLocks noGrp="1"/>
          </p:cNvSpPr>
          <p:nvPr/>
        </p:nvSpPr>
        <p:spPr>
          <a:xfrm>
            <a:off x="2838450" y="4029075"/>
            <a:ext cx="27051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Parámetros</a:t>
            </a:r>
          </a:p>
        </p:txBody>
      </p:sp>
      <p:sp>
        <p:nvSpPr>
          <p:cNvPr id="15" name="U05-DG-014-recap_params-body">
            <a:extLst>
              <a:ext uri="{FF2B5EF4-FFF2-40B4-BE49-F238E27FC236}">
                <a16:creationId xmlns:a16="http://schemas.microsoft.com/office/drawing/2014/main" id="{37B4C2C6-639F-42A1-BFAE-981C36751B40}"/>
              </a:ext>
            </a:extLst>
          </p:cNvPr>
          <p:cNvSpPr>
            <a:spLocks noGrp="1"/>
          </p:cNvSpPr>
          <p:nvPr/>
        </p:nvSpPr>
        <p:spPr>
          <a:xfrm>
            <a:off x="2838450" y="4400550"/>
            <a:ext cx="27051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ventana · N · fₛ</a:t>
            </a:r>
          </a:p>
        </p:txBody>
      </p:sp>
      <p:sp>
        <p:nvSpPr>
          <p:cNvPr id="16" name="U05-DG-014-recap_limit">
            <a:extLst>
              <a:ext uri="{FF2B5EF4-FFF2-40B4-BE49-F238E27FC236}">
                <a16:creationId xmlns:a16="http://schemas.microsoft.com/office/drawing/2014/main" id="{DC23B285-D23F-4B19-80D6-E181E4CF0149}"/>
              </a:ext>
            </a:extLst>
          </p:cNvPr>
          <p:cNvSpPr>
            <a:spLocks noGrp="1"/>
          </p:cNvSpPr>
          <p:nvPr/>
        </p:nvSpPr>
        <p:spPr>
          <a:xfrm>
            <a:off x="6477000" y="3905250"/>
            <a:ext cx="3048000" cy="1238250"/>
          </a:xfrm>
          <a:prstGeom prst="roundRect">
            <a:avLst>
              <a:gd name="adj" fmla="val 10769"/>
            </a:avLst>
          </a:prstGeom>
          <a:solidFill>
            <a:srgbClr val="E3F2ED"/>
          </a:solidFill>
          <a:ln w="19050">
            <a:solidFill>
              <a:srgbClr val="2D7867"/>
            </a:solidFill>
            <a:prstDash val="solid"/>
          </a:ln>
        </p:spPr>
      </p:sp>
      <p:sp>
        <p:nvSpPr>
          <p:cNvPr id="17" name="U05-DG-014-recap_limit-title">
            <a:extLst>
              <a:ext uri="{FF2B5EF4-FFF2-40B4-BE49-F238E27FC236}">
                <a16:creationId xmlns:a16="http://schemas.microsoft.com/office/drawing/2014/main" id="{3A8D616D-3B27-42ED-9F9D-5DFC86573187}"/>
              </a:ext>
            </a:extLst>
          </p:cNvPr>
          <p:cNvSpPr>
            <a:spLocks noGrp="1"/>
          </p:cNvSpPr>
          <p:nvPr/>
        </p:nvSpPr>
        <p:spPr>
          <a:xfrm>
            <a:off x="6648450" y="4029075"/>
            <a:ext cx="27051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Límite</a:t>
            </a:r>
          </a:p>
        </p:txBody>
      </p:sp>
      <p:sp>
        <p:nvSpPr>
          <p:cNvPr id="18" name="U05-DG-014-recap_limit-body">
            <a:extLst>
              <a:ext uri="{FF2B5EF4-FFF2-40B4-BE49-F238E27FC236}">
                <a16:creationId xmlns:a16="http://schemas.microsoft.com/office/drawing/2014/main" id="{74D6A6F7-7E19-4DE7-99CA-C2319A9926DD}"/>
              </a:ext>
            </a:extLst>
          </p:cNvPr>
          <p:cNvSpPr>
            <a:spLocks noGrp="1"/>
          </p:cNvSpPr>
          <p:nvPr/>
        </p:nvSpPr>
        <p:spPr>
          <a:xfrm>
            <a:off x="6648450" y="4400550"/>
            <a:ext cx="27051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alcance declarado</a:t>
            </a:r>
          </a:p>
        </p:txBody>
      </p:sp>
      <p:sp>
        <p:nvSpPr>
          <p:cNvPr id="19" name="diagram-scale-note">
            <a:extLst>
              <a:ext uri="{FF2B5EF4-FFF2-40B4-BE49-F238E27FC236}">
                <a16:creationId xmlns:a16="http://schemas.microsoft.com/office/drawing/2014/main" id="{E7FD3AD8-58EC-4AF7-8B1B-E44054B4AD05}"/>
              </a:ext>
            </a:extLst>
          </p:cNvPr>
          <p:cNvSpPr>
            <a:spLocks noGrp="1"/>
          </p:cNvSpPr>
          <p:nvPr/>
        </p:nvSpPr>
        <p:spPr>
          <a:xfrm>
            <a:off x="552450" y="5829300"/>
            <a:ext cx="3905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05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Esquema conceptual · no está a escala</a:t>
            </a:r>
          </a:p>
        </p:txBody>
      </p:sp>
      <p:sp>
        <p:nvSpPr>
          <p:cNvPr id="20" name="caption">
            <a:extLst>
              <a:ext uri="{FF2B5EF4-FFF2-40B4-BE49-F238E27FC236}">
                <a16:creationId xmlns:a16="http://schemas.microsoft.com/office/drawing/2014/main" id="{BB112A48-4B49-455F-A056-6D6E7C16A0B0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876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La respuesta sola no informa el propósito de uso.</a:t>
            </a:r>
          </a:p>
        </p:txBody>
      </p:sp>
      <p:sp>
        <p:nvSpPr>
          <p:cNvPr id="21" name="credit">
            <a:extLst>
              <a:ext uri="{FF2B5EF4-FFF2-40B4-BE49-F238E27FC236}">
                <a16:creationId xmlns:a16="http://schemas.microsoft.com/office/drawing/2014/main" id="{E9B3AED0-6136-48EF-96A4-8C814C2AF1D6}"/>
              </a:ext>
            </a:extLst>
          </p:cNvPr>
          <p:cNvSpPr>
            <a:spLocks noGrp="1"/>
          </p:cNvSpPr>
          <p:nvPr/>
        </p:nvSpPr>
        <p:spPr>
          <a:xfrm>
            <a:off x="9382125" y="60769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5.9.</a:t>
            </a:r>
          </a:p>
        </p:txBody>
      </p:sp>
      <p:sp>
        <p:nvSpPr>
          <p:cNvPr id="23" name="slide-alt-summary" descr="Rutina de lectura aplicada a cuatro propiedades de un filtro.">
            <a:extLst>
              <a:ext uri="{FF2B5EF4-FFF2-40B4-BE49-F238E27FC236}">
                <a16:creationId xmlns:a16="http://schemas.microsoft.com/office/drawing/2014/main" id="{0A3BB437-F6A7-39B1-3B54-799D34D40645}"/>
              </a:ext>
            </a:extLst>
          </p:cNvPr>
          <p:cNvSpPr/>
          <p:nvPr/>
        </p:nvSpPr>
        <p:spPr>
          <a:xfrm>
            <a:off x="12700" y="12700"/>
            <a:ext cx="12700" cy="12700"/>
          </a:xfrm>
          <a:prstGeom prst="rect">
            <a:avLst/>
          </a:prstGeom>
          <a:noFill/>
          <a:ln w="19050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20203634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yebrow">
            <a:extLst>
              <a:ext uri="{FF2B5EF4-FFF2-40B4-BE49-F238E27FC236}">
                <a16:creationId xmlns:a16="http://schemas.microsoft.com/office/drawing/2014/main" id="{E2D42F75-DA4C-43C3-8F8D-0DA6329A93A9}"/>
              </a:ext>
            </a:extLst>
          </p:cNvPr>
          <p:cNvSpPr>
            <a:spLocks noGrp="1"/>
          </p:cNvSpPr>
          <p:nvPr/>
        </p:nvSpPr>
        <p:spPr>
          <a:xfrm>
            <a:off x="514350" y="2095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1" i="0">
                <a:solidFill>
                  <a:srgbClr val="B9D8E7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B9D8E7"/>
                </a:solidFill>
                <a:latin typeface="Calibri"/>
                <a:ea typeface="Calibri"/>
                <a:cs typeface="Calibri"/>
              </a:rPr>
              <a:t>UNIDAD 5 · 106</a:t>
            </a:r>
          </a:p>
        </p:txBody>
      </p:sp>
      <p:sp>
        <p:nvSpPr>
          <p:cNvPr id="2" name="divider-title">
            <a:extLst>
              <a:ext uri="{FF2B5EF4-FFF2-40B4-BE49-F238E27FC236}">
                <a16:creationId xmlns:a16="http://schemas.microsoft.com/office/drawing/2014/main" id="{D3A803FE-D923-4E81-AC1E-FED5430C733D}"/>
              </a:ext>
            </a:extLst>
          </p:cNvPr>
          <p:cNvSpPr>
            <a:spLocks noGrp="1"/>
          </p:cNvSpPr>
          <p:nvPr/>
        </p:nvSpPr>
        <p:spPr>
          <a:xfrm>
            <a:off x="714375" y="2190750"/>
            <a:ext cx="104775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lnSpc>
                <a:spcPct val="102000"/>
              </a:lnSpc>
              <a:buNone/>
              <a:defRPr sz="4050" b="1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4050" b="1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Ponderar es modificar la respuesta de medición</a:t>
            </a:r>
          </a:p>
        </p:txBody>
      </p:sp>
      <p:sp>
        <p:nvSpPr>
          <p:cNvPr id="3" name="divider-subtitle">
            <a:extLst>
              <a:ext uri="{FF2B5EF4-FFF2-40B4-BE49-F238E27FC236}">
                <a16:creationId xmlns:a16="http://schemas.microsoft.com/office/drawing/2014/main" id="{EBD5FB14-6C6C-4639-8773-AAB44BEB1B39}"/>
              </a:ext>
            </a:extLst>
          </p:cNvPr>
          <p:cNvSpPr>
            <a:spLocks noGrp="1"/>
          </p:cNvSpPr>
          <p:nvPr/>
        </p:nvSpPr>
        <p:spPr>
          <a:xfrm>
            <a:off x="1714500" y="3429000"/>
            <a:ext cx="8763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100" b="0" i="0">
                <a:solidFill>
                  <a:srgbClr val="D6E4EA"/>
                </a:solidFill>
                <a:latin typeface="Calibri"/>
                <a:ea typeface="Calibri"/>
                <a:cs typeface="Calibri"/>
              </a:defRPr>
            </a:pPr>
            <a:r>
              <a:rPr sz="2100" b="0" i="0">
                <a:solidFill>
                  <a:srgbClr val="D6E4EA"/>
                </a:solidFill>
                <a:latin typeface="Calibri"/>
                <a:ea typeface="Calibri"/>
                <a:cs typeface="Calibri"/>
              </a:rPr>
              <a:t>A, C y Z se aplican antes de informar un descriptor.</a:t>
            </a:r>
          </a:p>
        </p:txBody>
      </p:sp>
      <p:sp>
        <p:nvSpPr>
          <p:cNvPr id="4" name="divider-content">
            <a:extLst>
              <a:ext uri="{FF2B5EF4-FFF2-40B4-BE49-F238E27FC236}">
                <a16:creationId xmlns:a16="http://schemas.microsoft.com/office/drawing/2014/main" id="{4E60206A-0BB8-45AD-9AA5-BDFB932EAED6}"/>
              </a:ext>
            </a:extLst>
          </p:cNvPr>
          <p:cNvSpPr>
            <a:spLocks noGrp="1"/>
          </p:cNvSpPr>
          <p:nvPr/>
        </p:nvSpPr>
        <p:spPr>
          <a:xfrm>
            <a:off x="2190750" y="4333875"/>
            <a:ext cx="781050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ctr">
              <a:lnSpc>
                <a:spcPct val="102000"/>
              </a:lnSpc>
              <a:buNone/>
              <a:defRPr sz="1875" b="0" i="0">
                <a:solidFill>
                  <a:srgbClr val="BDD0DA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BDD0DA"/>
                </a:solidFill>
                <a:latin typeface="Calibri"/>
                <a:ea typeface="Calibri"/>
                <a:cs typeface="Calibri"/>
              </a:rPr>
              <a:t>Micrófono → ponderación frecuencial → integración temporal → resultado.</a:t>
            </a:r>
          </a:p>
        </p:txBody>
      </p:sp>
      <p:sp>
        <p:nvSpPr>
          <p:cNvPr id="6" name="slide-alt-summary" descr="Cadena conceptual ubica la ponderación entre micrófono e integración.">
            <a:extLst>
              <a:ext uri="{FF2B5EF4-FFF2-40B4-BE49-F238E27FC236}">
                <a16:creationId xmlns:a16="http://schemas.microsoft.com/office/drawing/2014/main" id="{704F57D7-00A9-8748-AE67-9A8C6747B4B4}"/>
              </a:ext>
            </a:extLst>
          </p:cNvPr>
          <p:cNvSpPr/>
          <p:nvPr/>
        </p:nvSpPr>
        <p:spPr>
          <a:xfrm>
            <a:off x="12700" y="12700"/>
            <a:ext cx="12700" cy="12700"/>
          </a:xfrm>
          <a:prstGeom prst="rect">
            <a:avLst/>
          </a:prstGeom>
          <a:noFill/>
          <a:ln w="19050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yebrow">
            <a:extLst>
              <a:ext uri="{FF2B5EF4-FFF2-40B4-BE49-F238E27FC236}">
                <a16:creationId xmlns:a16="http://schemas.microsoft.com/office/drawing/2014/main" id="{A3343E37-48DC-4A45-8641-E4161CAE1769}"/>
              </a:ext>
            </a:extLst>
          </p:cNvPr>
          <p:cNvSpPr>
            <a:spLocks noGrp="1"/>
          </p:cNvSpPr>
          <p:nvPr/>
        </p:nvSpPr>
        <p:spPr>
          <a:xfrm>
            <a:off x="514350" y="2095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107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B596240B-64E1-478D-AF1A-E584CB5DBE95}"/>
              </a:ext>
            </a:extLst>
          </p:cNvPr>
          <p:cNvSpPr>
            <a:spLocks noGrp="1"/>
          </p:cNvSpPr>
          <p:nvPr/>
        </p:nvSpPr>
        <p:spPr>
          <a:xfrm>
            <a:off x="495300" y="428625"/>
            <a:ext cx="11191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La misma señal produce resultados distintos según la ponderación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C03CF0F9-35C1-4595-9911-89672630B92F}"/>
              </a:ext>
            </a:extLst>
          </p:cNvPr>
          <p:cNvSpPr>
            <a:spLocks noGrp="1"/>
          </p:cNvSpPr>
          <p:nvPr/>
        </p:nvSpPr>
        <p:spPr>
          <a:xfrm>
            <a:off x="523875" y="971550"/>
            <a:ext cx="11001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Cada respuesta corrige frecuencias de manera diferente.</a:t>
            </a:r>
          </a:p>
        </p:txBody>
      </p:sp>
      <p:sp>
        <p:nvSpPr>
          <p:cNvPr id="4" name="main-ideas">
            <a:extLst>
              <a:ext uri="{FF2B5EF4-FFF2-40B4-BE49-F238E27FC236}">
                <a16:creationId xmlns:a16="http://schemas.microsoft.com/office/drawing/2014/main" id="{ADF58033-BD9C-4065-AC3E-F045A6F89104}"/>
              </a:ext>
            </a:extLst>
          </p:cNvPr>
          <p:cNvSpPr>
            <a:spLocks noGrp="1"/>
          </p:cNvSpPr>
          <p:nvPr/>
        </p:nvSpPr>
        <p:spPr>
          <a:xfrm>
            <a:off x="666750" y="1476375"/>
            <a:ext cx="6762750" cy="3857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76200" rIns="76200" bIns="76200">
            <a:noAutofit/>
          </a:bodyPr>
          <a:lstStyle/>
          <a:p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Señal de banda ancha → rutas A, C y Z → integración → descriptores distintos.</a:t>
            </a:r>
          </a:p>
          <a:p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No calcular sin espectro completo.</a:t>
            </a:r>
          </a:p>
        </p:txBody>
      </p:sp>
      <p:sp>
        <p:nvSpPr>
          <p:cNvPr id="5" name="side-panel-box">
            <a:extLst>
              <a:ext uri="{FF2B5EF4-FFF2-40B4-BE49-F238E27FC236}">
                <a16:creationId xmlns:a16="http://schemas.microsoft.com/office/drawing/2014/main" id="{0CFE874D-82D9-49D6-99D5-6522F66077C1}"/>
              </a:ext>
            </a:extLst>
          </p:cNvPr>
          <p:cNvSpPr>
            <a:spLocks noGrp="1"/>
          </p:cNvSpPr>
          <p:nvPr/>
        </p:nvSpPr>
        <p:spPr>
          <a:xfrm>
            <a:off x="7953375" y="1571625"/>
            <a:ext cx="3476625" cy="3381375"/>
          </a:xfrm>
          <a:prstGeom prst="roundRect">
            <a:avLst>
              <a:gd name="adj" fmla="val 3944"/>
            </a:avLst>
          </a:prstGeom>
          <a:solidFill>
            <a:srgbClr val="DDEFF5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6" name="side-panel-title">
            <a:extLst>
              <a:ext uri="{FF2B5EF4-FFF2-40B4-BE49-F238E27FC236}">
                <a16:creationId xmlns:a16="http://schemas.microsoft.com/office/drawing/2014/main" id="{4CF6101B-54E6-41E9-99E9-B3C5892645DA}"/>
              </a:ext>
            </a:extLst>
          </p:cNvPr>
          <p:cNvSpPr>
            <a:spLocks noGrp="1"/>
          </p:cNvSpPr>
          <p:nvPr/>
        </p:nvSpPr>
        <p:spPr>
          <a:xfrm>
            <a:off x="8124825" y="1704975"/>
            <a:ext cx="31337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Definición</a:t>
            </a:r>
          </a:p>
        </p:txBody>
      </p:sp>
      <p:sp>
        <p:nvSpPr>
          <p:cNvPr id="7" name="side-panel-body">
            <a:extLst>
              <a:ext uri="{FF2B5EF4-FFF2-40B4-BE49-F238E27FC236}">
                <a16:creationId xmlns:a16="http://schemas.microsoft.com/office/drawing/2014/main" id="{52F6CCFB-D640-4BD2-B9CE-0B3AEB779184}"/>
              </a:ext>
            </a:extLst>
          </p:cNvPr>
          <p:cNvSpPr>
            <a:spLocks noGrp="1"/>
          </p:cNvSpPr>
          <p:nvPr/>
        </p:nvSpPr>
        <p:spPr>
          <a:xfrm>
            <a:off x="8124825" y="2085975"/>
            <a:ext cx="3133725" cy="2733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Ponderación frecuencial: filtro normalizado del sistema de medición.</a:t>
            </a:r>
          </a:p>
        </p:txBody>
      </p:sp>
      <p:sp>
        <p:nvSpPr>
          <p:cNvPr id="8" name="example-line">
            <a:extLst>
              <a:ext uri="{FF2B5EF4-FFF2-40B4-BE49-F238E27FC236}">
                <a16:creationId xmlns:a16="http://schemas.microsoft.com/office/drawing/2014/main" id="{658FEA19-5B6A-46D6-908A-7B66EABB26BE}"/>
              </a:ext>
            </a:extLst>
          </p:cNvPr>
          <p:cNvSpPr>
            <a:spLocks noGrp="1"/>
          </p:cNvSpPr>
          <p:nvPr/>
        </p:nvSpPr>
        <p:spPr>
          <a:xfrm>
            <a:off x="8096250" y="5095875"/>
            <a:ext cx="3143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Ejemplo: comparación conceptual sin valores.</a:t>
            </a:r>
          </a:p>
        </p:txBody>
      </p:sp>
      <p:sp>
        <p:nvSpPr>
          <p:cNvPr id="9" name="caption">
            <a:extLst>
              <a:ext uri="{FF2B5EF4-FFF2-40B4-BE49-F238E27FC236}">
                <a16:creationId xmlns:a16="http://schemas.microsoft.com/office/drawing/2014/main" id="{A06E7CB2-E5F7-46B1-AA45-8805FC031622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876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La corrección ocurre frecuencia por frecuencia.</a:t>
            </a:r>
          </a:p>
        </p:txBody>
      </p:sp>
      <p:sp>
        <p:nvSpPr>
          <p:cNvPr id="10" name="credit">
            <a:extLst>
              <a:ext uri="{FF2B5EF4-FFF2-40B4-BE49-F238E27FC236}">
                <a16:creationId xmlns:a16="http://schemas.microsoft.com/office/drawing/2014/main" id="{A65E85AA-B92F-4A88-9D2B-B7971F9506C9}"/>
              </a:ext>
            </a:extLst>
          </p:cNvPr>
          <p:cNvSpPr>
            <a:spLocks noGrp="1"/>
          </p:cNvSpPr>
          <p:nvPr/>
        </p:nvSpPr>
        <p:spPr>
          <a:xfrm>
            <a:off x="9382125" y="60769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5.10; EP.</a:t>
            </a:r>
          </a:p>
        </p:txBody>
      </p:sp>
      <p:sp>
        <p:nvSpPr>
          <p:cNvPr id="12" name="slide-alt-summary" descr="Una señal se divide en tres rutas A, C y Z que convergen en resultados distintos.">
            <a:extLst>
              <a:ext uri="{FF2B5EF4-FFF2-40B4-BE49-F238E27FC236}">
                <a16:creationId xmlns:a16="http://schemas.microsoft.com/office/drawing/2014/main" id="{C6A604DB-A347-B1D5-1F69-B8AB638435A2}"/>
              </a:ext>
            </a:extLst>
          </p:cNvPr>
          <p:cNvSpPr/>
          <p:nvPr/>
        </p:nvSpPr>
        <p:spPr>
          <a:xfrm>
            <a:off x="12700" y="12700"/>
            <a:ext cx="12700" cy="12700"/>
          </a:xfrm>
          <a:prstGeom prst="rect">
            <a:avLst/>
          </a:prstGeom>
          <a:noFill/>
          <a:ln w="19050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67438305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yebrow">
            <a:extLst>
              <a:ext uri="{FF2B5EF4-FFF2-40B4-BE49-F238E27FC236}">
                <a16:creationId xmlns:a16="http://schemas.microsoft.com/office/drawing/2014/main" id="{9B83B22E-73EA-4B8A-AC75-A7A7D33BABDE}"/>
              </a:ext>
            </a:extLst>
          </p:cNvPr>
          <p:cNvSpPr>
            <a:spLocks noGrp="1"/>
          </p:cNvSpPr>
          <p:nvPr/>
        </p:nvSpPr>
        <p:spPr>
          <a:xfrm>
            <a:off x="514350" y="2095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108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96A42B99-A22F-46B6-B09C-7C30E9550C7B}"/>
              </a:ext>
            </a:extLst>
          </p:cNvPr>
          <p:cNvSpPr>
            <a:spLocks noGrp="1"/>
          </p:cNvSpPr>
          <p:nvPr/>
        </p:nvSpPr>
        <p:spPr>
          <a:xfrm>
            <a:off x="495300" y="428625"/>
            <a:ext cx="11191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A, C y Z no responden igual a todas las frecuencias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89FC0E7C-2A44-4C1C-8AEE-CDDBC1A660FE}"/>
              </a:ext>
            </a:extLst>
          </p:cNvPr>
          <p:cNvSpPr>
            <a:spLocks noGrp="1"/>
          </p:cNvSpPr>
          <p:nvPr/>
        </p:nvSpPr>
        <p:spPr>
          <a:xfrm>
            <a:off x="523875" y="971550"/>
            <a:ext cx="11001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Curvas nominales; no bandas de tolerancia.</a:t>
            </a:r>
          </a:p>
        </p:txBody>
      </p:sp>
      <p:sp>
        <p:nvSpPr>
          <p:cNvPr id="4" name="main-ideas">
            <a:extLst>
              <a:ext uri="{FF2B5EF4-FFF2-40B4-BE49-F238E27FC236}">
                <a16:creationId xmlns:a16="http://schemas.microsoft.com/office/drawing/2014/main" id="{08234988-599B-4702-86C5-F2D98A3E5FAA}"/>
              </a:ext>
            </a:extLst>
          </p:cNvPr>
          <p:cNvSpPr>
            <a:spLocks noGrp="1"/>
          </p:cNvSpPr>
          <p:nvPr/>
        </p:nvSpPr>
        <p:spPr>
          <a:xfrm>
            <a:off x="666750" y="1476375"/>
            <a:ext cx="6762750" cy="3857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76200" rIns="76200" bIns="76200">
            <a:noAutofit/>
          </a:bodyPr>
          <a:lstStyle/>
          <a:p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A atenúa más las bajas frecuencias.</a:t>
            </a:r>
          </a:p>
          <a:p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C es más plana.</a:t>
            </a:r>
          </a:p>
          <a:p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Z es nominalmente plana dentro de límites definidos.</a:t>
            </a:r>
          </a:p>
          <a:p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Eje: frecuencia logarítmica</a:t>
            </a:r>
          </a:p>
          <a:p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corrección en dB.</a:t>
            </a:r>
          </a:p>
        </p:txBody>
      </p:sp>
      <p:sp>
        <p:nvSpPr>
          <p:cNvPr id="5" name="side-panel-box">
            <a:extLst>
              <a:ext uri="{FF2B5EF4-FFF2-40B4-BE49-F238E27FC236}">
                <a16:creationId xmlns:a16="http://schemas.microsoft.com/office/drawing/2014/main" id="{01B94DA2-1BFC-4D62-B343-12BE9BA3FCF2}"/>
              </a:ext>
            </a:extLst>
          </p:cNvPr>
          <p:cNvSpPr>
            <a:spLocks noGrp="1"/>
          </p:cNvSpPr>
          <p:nvPr/>
        </p:nvSpPr>
        <p:spPr>
          <a:xfrm>
            <a:off x="7953375" y="1571625"/>
            <a:ext cx="3476625" cy="3381375"/>
          </a:xfrm>
          <a:prstGeom prst="roundRect">
            <a:avLst>
              <a:gd name="adj" fmla="val 3944"/>
            </a:avLst>
          </a:prstGeom>
          <a:solidFill>
            <a:srgbClr val="DDEFF5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6" name="side-panel-title">
            <a:extLst>
              <a:ext uri="{FF2B5EF4-FFF2-40B4-BE49-F238E27FC236}">
                <a16:creationId xmlns:a16="http://schemas.microsoft.com/office/drawing/2014/main" id="{7C526FE1-71FA-415B-A9D2-0AB5D822D443}"/>
              </a:ext>
            </a:extLst>
          </p:cNvPr>
          <p:cNvSpPr>
            <a:spLocks noGrp="1"/>
          </p:cNvSpPr>
          <p:nvPr/>
        </p:nvSpPr>
        <p:spPr>
          <a:xfrm>
            <a:off x="8124825" y="1704975"/>
            <a:ext cx="31337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Definición</a:t>
            </a:r>
          </a:p>
        </p:txBody>
      </p:sp>
      <p:sp>
        <p:nvSpPr>
          <p:cNvPr id="7" name="side-panel-body">
            <a:extLst>
              <a:ext uri="{FF2B5EF4-FFF2-40B4-BE49-F238E27FC236}">
                <a16:creationId xmlns:a16="http://schemas.microsoft.com/office/drawing/2014/main" id="{9BA558E8-5BFE-4415-A314-774CF240B897}"/>
              </a:ext>
            </a:extLst>
          </p:cNvPr>
          <p:cNvSpPr>
            <a:spLocks noGrp="1"/>
          </p:cNvSpPr>
          <p:nvPr/>
        </p:nvSpPr>
        <p:spPr>
          <a:xfrm>
            <a:off x="8124825" y="2085975"/>
            <a:ext cx="3133725" cy="2733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Respuesta nominal no demuestra conformidad de un instrumento.</a:t>
            </a:r>
          </a:p>
        </p:txBody>
      </p:sp>
      <p:sp>
        <p:nvSpPr>
          <p:cNvPr id="8" name="example-line">
            <a:extLst>
              <a:ext uri="{FF2B5EF4-FFF2-40B4-BE49-F238E27FC236}">
                <a16:creationId xmlns:a16="http://schemas.microsoft.com/office/drawing/2014/main" id="{5862E904-25EA-44EF-94C8-5120AE93139F}"/>
              </a:ext>
            </a:extLst>
          </p:cNvPr>
          <p:cNvSpPr>
            <a:spLocks noGrp="1"/>
          </p:cNvSpPr>
          <p:nvPr/>
        </p:nvSpPr>
        <p:spPr>
          <a:xfrm>
            <a:off x="8096250" y="5095875"/>
            <a:ext cx="3143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Ejemplo: anclas cualitativas; no mostrar valores hasta verificar IEC 61672-1.</a:t>
            </a:r>
          </a:p>
        </p:txBody>
      </p:sp>
      <p:sp>
        <p:nvSpPr>
          <p:cNvPr id="9" name="caption">
            <a:extLst>
              <a:ext uri="{FF2B5EF4-FFF2-40B4-BE49-F238E27FC236}">
                <a16:creationId xmlns:a16="http://schemas.microsoft.com/office/drawing/2014/main" id="{6A3FB40B-12DF-4386-9470-F2A3F3CB4ACC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876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Recurso cuantitativo pendiente de fuente normativa autorizada.</a:t>
            </a:r>
          </a:p>
        </p:txBody>
      </p:sp>
      <p:sp>
        <p:nvSpPr>
          <p:cNvPr id="10" name="credit">
            <a:extLst>
              <a:ext uri="{FF2B5EF4-FFF2-40B4-BE49-F238E27FC236}">
                <a16:creationId xmlns:a16="http://schemas.microsoft.com/office/drawing/2014/main" id="{E3536D52-B646-47EB-9F03-EBC9E9EFEFCF}"/>
              </a:ext>
            </a:extLst>
          </p:cNvPr>
          <p:cNvSpPr>
            <a:spLocks noGrp="1"/>
          </p:cNvSpPr>
          <p:nvPr/>
        </p:nvSpPr>
        <p:spPr>
          <a:xfrm>
            <a:off x="9382125" y="60769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5.10; IEC 61672-1 pendiente.</a:t>
            </a:r>
          </a:p>
        </p:txBody>
      </p:sp>
      <p:sp>
        <p:nvSpPr>
          <p:cNvPr id="12" name="slide-alt-summary" descr="Esquema cualitativo compara A, C y Z sin valores normativos.">
            <a:extLst>
              <a:ext uri="{FF2B5EF4-FFF2-40B4-BE49-F238E27FC236}">
                <a16:creationId xmlns:a16="http://schemas.microsoft.com/office/drawing/2014/main" id="{182C5A61-1739-C4E9-5D9C-FD6D9C31CB0F}"/>
              </a:ext>
            </a:extLst>
          </p:cNvPr>
          <p:cNvSpPr/>
          <p:nvPr/>
        </p:nvSpPr>
        <p:spPr>
          <a:xfrm>
            <a:off x="12700" y="12700"/>
            <a:ext cx="12700" cy="12700"/>
          </a:xfrm>
          <a:prstGeom prst="rect">
            <a:avLst/>
          </a:prstGeom>
          <a:noFill/>
          <a:ln w="19050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95449240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yebrow">
            <a:extLst>
              <a:ext uri="{FF2B5EF4-FFF2-40B4-BE49-F238E27FC236}">
                <a16:creationId xmlns:a16="http://schemas.microsoft.com/office/drawing/2014/main" id="{B040AC1B-0A0A-4DE8-8E80-9FF8453CF2C7}"/>
              </a:ext>
            </a:extLst>
          </p:cNvPr>
          <p:cNvSpPr>
            <a:spLocks noGrp="1"/>
          </p:cNvSpPr>
          <p:nvPr/>
        </p:nvSpPr>
        <p:spPr>
          <a:xfrm>
            <a:off x="514350" y="2095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109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B773428F-4194-44FC-966A-EE8682537C1F}"/>
              </a:ext>
            </a:extLst>
          </p:cNvPr>
          <p:cNvSpPr>
            <a:spLocks noGrp="1"/>
          </p:cNvSpPr>
          <p:nvPr/>
        </p:nvSpPr>
        <p:spPr>
          <a:xfrm>
            <a:off x="495300" y="428625"/>
            <a:ext cx="11191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La ponderación A es una respuesta normalizada de medición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E59CD76B-90FC-4D0C-9FD5-6FE3F9719DF5}"/>
              </a:ext>
            </a:extLst>
          </p:cNvPr>
          <p:cNvSpPr>
            <a:spLocks noGrp="1"/>
          </p:cNvSpPr>
          <p:nvPr/>
        </p:nvSpPr>
        <p:spPr>
          <a:xfrm>
            <a:off x="523875" y="971550"/>
            <a:ext cx="11001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dB(A) informa respuesta frecuencial, no toda la configuración.</a:t>
            </a:r>
          </a:p>
        </p:txBody>
      </p:sp>
      <p:sp>
        <p:nvSpPr>
          <p:cNvPr id="4" name="main-ideas">
            <a:extLst>
              <a:ext uri="{FF2B5EF4-FFF2-40B4-BE49-F238E27FC236}">
                <a16:creationId xmlns:a16="http://schemas.microsoft.com/office/drawing/2014/main" id="{7C5CA153-40DB-4148-84CE-52B061640AB8}"/>
              </a:ext>
            </a:extLst>
          </p:cNvPr>
          <p:cNvSpPr>
            <a:spLocks noGrp="1"/>
          </p:cNvSpPr>
          <p:nvPr/>
        </p:nvSpPr>
        <p:spPr>
          <a:xfrm>
            <a:off x="666750" y="1476375"/>
            <a:ext cx="6762750" cy="3857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76200" rIns="76200" bIns="76200">
            <a:noAutofit/>
          </a:bodyPr>
          <a:lstStyle/>
          <a:p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Escritura del programa: dBA.</a:t>
            </a:r>
          </a:p>
          <a:p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Escritura adoptada: dB(A) o descriptor completo.</a:t>
            </a:r>
          </a:p>
          <a:p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Ejemplos: L_Aeq,T, L_AFmax.</a:t>
            </a:r>
          </a:p>
        </p:txBody>
      </p:sp>
      <p:sp>
        <p:nvSpPr>
          <p:cNvPr id="5" name="side-panel-box">
            <a:extLst>
              <a:ext uri="{FF2B5EF4-FFF2-40B4-BE49-F238E27FC236}">
                <a16:creationId xmlns:a16="http://schemas.microsoft.com/office/drawing/2014/main" id="{8F2F6F25-6724-4980-B07E-D2B7849205E5}"/>
              </a:ext>
            </a:extLst>
          </p:cNvPr>
          <p:cNvSpPr>
            <a:spLocks noGrp="1"/>
          </p:cNvSpPr>
          <p:nvPr/>
        </p:nvSpPr>
        <p:spPr>
          <a:xfrm>
            <a:off x="7953375" y="1571625"/>
            <a:ext cx="3476625" cy="3381375"/>
          </a:xfrm>
          <a:prstGeom prst="roundRect">
            <a:avLst>
              <a:gd name="adj" fmla="val 3944"/>
            </a:avLst>
          </a:prstGeom>
          <a:solidFill>
            <a:srgbClr val="DDEFF5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6" name="side-panel-title">
            <a:extLst>
              <a:ext uri="{FF2B5EF4-FFF2-40B4-BE49-F238E27FC236}">
                <a16:creationId xmlns:a16="http://schemas.microsoft.com/office/drawing/2014/main" id="{878A135A-79BE-43D0-8C42-0196896D61D1}"/>
              </a:ext>
            </a:extLst>
          </p:cNvPr>
          <p:cNvSpPr>
            <a:spLocks noGrp="1"/>
          </p:cNvSpPr>
          <p:nvPr/>
        </p:nvSpPr>
        <p:spPr>
          <a:xfrm>
            <a:off x="8124825" y="1704975"/>
            <a:ext cx="31337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Definición</a:t>
            </a:r>
          </a:p>
        </p:txBody>
      </p:sp>
      <p:sp>
        <p:nvSpPr>
          <p:cNvPr id="7" name="side-panel-body">
            <a:extLst>
              <a:ext uri="{FF2B5EF4-FFF2-40B4-BE49-F238E27FC236}">
                <a16:creationId xmlns:a16="http://schemas.microsoft.com/office/drawing/2014/main" id="{CEE7ADC0-4F0B-4CFF-877D-2FEB860A0662}"/>
              </a:ext>
            </a:extLst>
          </p:cNvPr>
          <p:cNvSpPr>
            <a:spLocks noGrp="1"/>
          </p:cNvSpPr>
          <p:nvPr/>
        </p:nvSpPr>
        <p:spPr>
          <a:xfrm>
            <a:off x="8124825" y="2085975"/>
            <a:ext cx="3133725" cy="2733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A: ponderación frecuencial; F: respuesta temporal Fast; eq: equivalente; T: intervalo.</a:t>
            </a:r>
          </a:p>
        </p:txBody>
      </p:sp>
      <p:sp>
        <p:nvSpPr>
          <p:cNvPr id="8" name="example-line">
            <a:extLst>
              <a:ext uri="{FF2B5EF4-FFF2-40B4-BE49-F238E27FC236}">
                <a16:creationId xmlns:a16="http://schemas.microsoft.com/office/drawing/2014/main" id="{37DB3965-A2C7-4DBA-9FE5-6FC060B01721}"/>
              </a:ext>
            </a:extLst>
          </p:cNvPr>
          <p:cNvSpPr>
            <a:spLocks noGrp="1"/>
          </p:cNvSpPr>
          <p:nvPr/>
        </p:nvSpPr>
        <p:spPr>
          <a:xfrm>
            <a:off x="8096250" y="5095875"/>
            <a:ext cx="3143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Ejemplo: una lectura debe completar el descriptor.</a:t>
            </a:r>
          </a:p>
        </p:txBody>
      </p:sp>
      <p:sp>
        <p:nvSpPr>
          <p:cNvPr id="9" name="caption">
            <a:extLst>
              <a:ext uri="{FF2B5EF4-FFF2-40B4-BE49-F238E27FC236}">
                <a16:creationId xmlns:a16="http://schemas.microsoft.com/office/drawing/2014/main" id="{B5FE42B9-AA25-4D22-8D03-0F33EB7F663D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876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Ponderación no equivale a audición individual ni a dB HL.</a:t>
            </a:r>
          </a:p>
        </p:txBody>
      </p:sp>
      <p:sp>
        <p:nvSpPr>
          <p:cNvPr id="10" name="credit">
            <a:extLst>
              <a:ext uri="{FF2B5EF4-FFF2-40B4-BE49-F238E27FC236}">
                <a16:creationId xmlns:a16="http://schemas.microsoft.com/office/drawing/2014/main" id="{D8BDAC9B-6A8C-40FE-8A41-96EBD60A9760}"/>
              </a:ext>
            </a:extLst>
          </p:cNvPr>
          <p:cNvSpPr>
            <a:spLocks noGrp="1"/>
          </p:cNvSpPr>
          <p:nvPr/>
        </p:nvSpPr>
        <p:spPr>
          <a:xfrm>
            <a:off x="9382125" y="60769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PO; TEX 5.10; NOT; GLO.</a:t>
            </a:r>
          </a:p>
        </p:txBody>
      </p:sp>
      <p:sp>
        <p:nvSpPr>
          <p:cNvPr id="12" name="slide-alt-summary" descr="Definición de ponderación A junto a ejemplos de descriptores completos.">
            <a:extLst>
              <a:ext uri="{FF2B5EF4-FFF2-40B4-BE49-F238E27FC236}">
                <a16:creationId xmlns:a16="http://schemas.microsoft.com/office/drawing/2014/main" id="{F98B05DB-74E9-6A69-0FC5-086031507A65}"/>
              </a:ext>
            </a:extLst>
          </p:cNvPr>
          <p:cNvSpPr/>
          <p:nvPr/>
        </p:nvSpPr>
        <p:spPr>
          <a:xfrm>
            <a:off x="12700" y="12700"/>
            <a:ext cx="12700" cy="12700"/>
          </a:xfrm>
          <a:prstGeom prst="rect">
            <a:avLst/>
          </a:prstGeom>
          <a:noFill/>
          <a:ln w="19050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86630461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yebrow">
            <a:extLst>
              <a:ext uri="{FF2B5EF4-FFF2-40B4-BE49-F238E27FC236}">
                <a16:creationId xmlns:a16="http://schemas.microsoft.com/office/drawing/2014/main" id="{EB473BC0-11C1-4D7A-93DC-AE4B300C3440}"/>
              </a:ext>
            </a:extLst>
          </p:cNvPr>
          <p:cNvSpPr>
            <a:spLocks noGrp="1"/>
          </p:cNvSpPr>
          <p:nvPr/>
        </p:nvSpPr>
        <p:spPr>
          <a:xfrm>
            <a:off x="514350" y="2095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110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4704C7FA-98F0-4C73-B598-964BA882A5A9}"/>
              </a:ext>
            </a:extLst>
          </p:cNvPr>
          <p:cNvSpPr>
            <a:spLocks noGrp="1"/>
          </p:cNvSpPr>
          <p:nvPr/>
        </p:nvSpPr>
        <p:spPr>
          <a:xfrm>
            <a:off x="495300" y="428625"/>
            <a:ext cx="11191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Para un tono, la corrección se aplica en su frecuencia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7ACB2536-550A-4A03-A99D-BFF3CC2D7020}"/>
              </a:ext>
            </a:extLst>
          </p:cNvPr>
          <p:cNvSpPr>
            <a:spLocks noGrp="1"/>
          </p:cNvSpPr>
          <p:nvPr/>
        </p:nvSpPr>
        <p:spPr>
          <a:xfrm>
            <a:off x="523875" y="971550"/>
            <a:ext cx="11001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Esta suma en dB representa una corrección de respuesta, no suma de fuentes.</a:t>
            </a:r>
          </a:p>
        </p:txBody>
      </p:sp>
      <p:sp>
        <p:nvSpPr>
          <p:cNvPr id="4" name="equation-box">
            <a:extLst>
              <a:ext uri="{FF2B5EF4-FFF2-40B4-BE49-F238E27FC236}">
                <a16:creationId xmlns:a16="http://schemas.microsoft.com/office/drawing/2014/main" id="{B07EF103-8323-443F-BF5C-F6779793DF85}"/>
              </a:ext>
            </a:extLst>
          </p:cNvPr>
          <p:cNvSpPr>
            <a:spLocks noGrp="1"/>
          </p:cNvSpPr>
          <p:nvPr/>
        </p:nvSpPr>
        <p:spPr>
          <a:xfrm>
            <a:off x="1143000" y="1619250"/>
            <a:ext cx="9906000" cy="1047750"/>
          </a:xfrm>
          <a:prstGeom prst="roundRect">
            <a:avLst>
              <a:gd name="adj" fmla="val 12727"/>
            </a:avLst>
          </a:prstGeom>
          <a:solidFill>
            <a:srgbClr val="EFECF7"/>
          </a:solidFill>
          <a:ln w="19050">
            <a:solidFill>
              <a:srgbClr val="65539A"/>
            </a:solidFill>
            <a:prstDash val="solid"/>
          </a:ln>
        </p:spPr>
      </p:sp>
      <p:sp>
        <p:nvSpPr>
          <p:cNvPr id="5" name="equation">
            <a:extLst>
              <a:ext uri="{FF2B5EF4-FFF2-40B4-BE49-F238E27FC236}">
                <a16:creationId xmlns:a16="http://schemas.microsoft.com/office/drawing/2014/main" id="{FAC5E2CD-4D37-4586-AC10-4A04A8196AD7}"/>
              </a:ext>
            </a:extLst>
          </p:cNvPr>
          <p:cNvSpPr>
            <a:spLocks noGrp="1"/>
          </p:cNvSpPr>
          <p:nvPr/>
        </p:nvSpPr>
        <p:spPr>
          <a:xfrm>
            <a:off x="1371600" y="1771650"/>
            <a:ext cx="94488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2000"/>
              </a:lnSpc>
              <a:buNone/>
              <a:defRPr sz="3000" b="1" i="0">
                <a:solidFill>
                  <a:srgbClr val="172333"/>
                </a:solidFill>
                <a:latin typeface="Cambria Math"/>
                <a:ea typeface="Cambria Math"/>
                <a:cs typeface="Cambria Math"/>
              </a:defRPr>
            </a:pPr>
            <a:r>
              <a:rPr sz="3000" b="1" i="0">
                <a:solidFill>
                  <a:srgbClr val="172333"/>
                </a:solidFill>
                <a:latin typeface="Cambria Math"/>
                <a:ea typeface="Cambria Math"/>
                <a:cs typeface="Cambria Math"/>
              </a:rPr>
              <a:t>L_A(f)=L_Z(f)+A(f).</a:t>
            </a:r>
          </a:p>
        </p:txBody>
      </p:sp>
      <p:sp>
        <p:nvSpPr>
          <p:cNvPr id="6" name="equation-meaning-box">
            <a:extLst>
              <a:ext uri="{FF2B5EF4-FFF2-40B4-BE49-F238E27FC236}">
                <a16:creationId xmlns:a16="http://schemas.microsoft.com/office/drawing/2014/main" id="{5AA84D79-4772-49E0-8D66-A2828452BE8E}"/>
              </a:ext>
            </a:extLst>
          </p:cNvPr>
          <p:cNvSpPr>
            <a:spLocks noGrp="1"/>
          </p:cNvSpPr>
          <p:nvPr/>
        </p:nvSpPr>
        <p:spPr>
          <a:xfrm>
            <a:off x="857250" y="3000375"/>
            <a:ext cx="4953000" cy="2381250"/>
          </a:xfrm>
          <a:prstGeom prst="roundRect">
            <a:avLst>
              <a:gd name="adj" fmla="val 5600"/>
            </a:avLst>
          </a:prstGeom>
          <a:solidFill>
            <a:srgbClr val="DDEFF5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7" name="equation-meaning-title">
            <a:extLst>
              <a:ext uri="{FF2B5EF4-FFF2-40B4-BE49-F238E27FC236}">
                <a16:creationId xmlns:a16="http://schemas.microsoft.com/office/drawing/2014/main" id="{30D1555E-3393-4F00-BEC5-64648F7BB0CE}"/>
              </a:ext>
            </a:extLst>
          </p:cNvPr>
          <p:cNvSpPr>
            <a:spLocks noGrp="1"/>
          </p:cNvSpPr>
          <p:nvPr/>
        </p:nvSpPr>
        <p:spPr>
          <a:xfrm>
            <a:off x="1028700" y="3133725"/>
            <a:ext cx="4610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Qué significa</a:t>
            </a:r>
          </a:p>
        </p:txBody>
      </p:sp>
      <p:sp>
        <p:nvSpPr>
          <p:cNvPr id="8" name="equation-meaning-body">
            <a:extLst>
              <a:ext uri="{FF2B5EF4-FFF2-40B4-BE49-F238E27FC236}">
                <a16:creationId xmlns:a16="http://schemas.microsoft.com/office/drawing/2014/main" id="{0600D152-14EE-44D3-9BC3-7E6EAF513393}"/>
              </a:ext>
            </a:extLst>
          </p:cNvPr>
          <p:cNvSpPr>
            <a:spLocks noGrp="1"/>
          </p:cNvSpPr>
          <p:nvPr/>
        </p:nvSpPr>
        <p:spPr>
          <a:xfrm>
            <a:off x="1028700" y="3514725"/>
            <a:ext cx="4610100" cy="1733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L_Z: nivel con ponderación Z; A(f): corrección A en dB; L_A: resultado A.</a:t>
            </a:r>
          </a:p>
        </p:txBody>
      </p:sp>
      <p:sp>
        <p:nvSpPr>
          <p:cNvPr id="9" name="equation-use-box">
            <a:extLst>
              <a:ext uri="{FF2B5EF4-FFF2-40B4-BE49-F238E27FC236}">
                <a16:creationId xmlns:a16="http://schemas.microsoft.com/office/drawing/2014/main" id="{5FB68F6E-A25B-4710-9DEE-A3FB3D4EFD78}"/>
              </a:ext>
            </a:extLst>
          </p:cNvPr>
          <p:cNvSpPr>
            <a:spLocks noGrp="1"/>
          </p:cNvSpPr>
          <p:nvPr/>
        </p:nvSpPr>
        <p:spPr>
          <a:xfrm>
            <a:off x="6381750" y="3000375"/>
            <a:ext cx="4953000" cy="2381250"/>
          </a:xfrm>
          <a:prstGeom prst="roundRect">
            <a:avLst>
              <a:gd name="adj" fmla="val 5600"/>
            </a:avLst>
          </a:prstGeom>
          <a:solidFill>
            <a:srgbClr val="E3F2ED"/>
          </a:solidFill>
          <a:ln w="19050">
            <a:solidFill>
              <a:srgbClr val="2D7867"/>
            </a:solidFill>
            <a:prstDash val="solid"/>
          </a:ln>
        </p:spPr>
      </p:sp>
      <p:sp>
        <p:nvSpPr>
          <p:cNvPr id="10" name="equation-use-title">
            <a:extLst>
              <a:ext uri="{FF2B5EF4-FFF2-40B4-BE49-F238E27FC236}">
                <a16:creationId xmlns:a16="http://schemas.microsoft.com/office/drawing/2014/main" id="{332296FE-6215-4437-A5AD-C9F94F4222B9}"/>
              </a:ext>
            </a:extLst>
          </p:cNvPr>
          <p:cNvSpPr>
            <a:spLocks noGrp="1"/>
          </p:cNvSpPr>
          <p:nvPr/>
        </p:nvSpPr>
        <p:spPr>
          <a:xfrm>
            <a:off x="6553200" y="3133725"/>
            <a:ext cx="4610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Cómo se usa</a:t>
            </a:r>
          </a:p>
        </p:txBody>
      </p:sp>
      <p:sp>
        <p:nvSpPr>
          <p:cNvPr id="11" name="equation-use-body">
            <a:extLst>
              <a:ext uri="{FF2B5EF4-FFF2-40B4-BE49-F238E27FC236}">
                <a16:creationId xmlns:a16="http://schemas.microsoft.com/office/drawing/2014/main" id="{A5116DB8-9C63-456E-B412-344EDB08F866}"/>
              </a:ext>
            </a:extLst>
          </p:cNvPr>
          <p:cNvSpPr>
            <a:spLocks noGrp="1"/>
          </p:cNvSpPr>
          <p:nvPr/>
        </p:nvSpPr>
        <p:spPr>
          <a:xfrm>
            <a:off x="6553200" y="3514725"/>
            <a:ext cx="4610100" cy="1733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tono de 63 Hz, resultado sujeto a verificación normativa.</a:t>
            </a:r>
          </a:p>
        </p:txBody>
      </p:sp>
      <p:sp>
        <p:nvSpPr>
          <p:cNvPr id="12" name="caption">
            <a:extLst>
              <a:ext uri="{FF2B5EF4-FFF2-40B4-BE49-F238E27FC236}">
                <a16:creationId xmlns:a16="http://schemas.microsoft.com/office/drawing/2014/main" id="{5FB502A1-C574-47E2-AFAC-81502520F841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876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La relación no se aplica como constante a señales de banda ancha.</a:t>
            </a:r>
          </a:p>
        </p:txBody>
      </p:sp>
      <p:sp>
        <p:nvSpPr>
          <p:cNvPr id="13" name="credit">
            <a:extLst>
              <a:ext uri="{FF2B5EF4-FFF2-40B4-BE49-F238E27FC236}">
                <a16:creationId xmlns:a16="http://schemas.microsoft.com/office/drawing/2014/main" id="{432B50EA-FB83-4B99-86BC-A864CE7A3081}"/>
              </a:ext>
            </a:extLst>
          </p:cNvPr>
          <p:cNvSpPr>
            <a:spLocks noGrp="1"/>
          </p:cNvSpPr>
          <p:nvPr/>
        </p:nvSpPr>
        <p:spPr>
          <a:xfrm>
            <a:off x="9382125" y="60769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5.10, ec. 5.20; IEC 61672-1 pendiente.</a:t>
            </a:r>
          </a:p>
        </p:txBody>
      </p:sp>
      <p:sp>
        <p:nvSpPr>
          <p:cNvPr id="15" name="slide-alt-summary" descr="Ecuación de corrección para un tono conectada a una frecuencia puntual.">
            <a:extLst>
              <a:ext uri="{FF2B5EF4-FFF2-40B4-BE49-F238E27FC236}">
                <a16:creationId xmlns:a16="http://schemas.microsoft.com/office/drawing/2014/main" id="{6310C64F-AAD0-2D68-2AE7-11AB807A69C9}"/>
              </a:ext>
            </a:extLst>
          </p:cNvPr>
          <p:cNvSpPr/>
          <p:nvPr/>
        </p:nvSpPr>
        <p:spPr>
          <a:xfrm>
            <a:off x="12700" y="12700"/>
            <a:ext cx="12700" cy="12700"/>
          </a:xfrm>
          <a:prstGeom prst="rect">
            <a:avLst/>
          </a:prstGeom>
          <a:noFill/>
          <a:ln w="19050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02286470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yebrow">
            <a:extLst>
              <a:ext uri="{FF2B5EF4-FFF2-40B4-BE49-F238E27FC236}">
                <a16:creationId xmlns:a16="http://schemas.microsoft.com/office/drawing/2014/main" id="{EC3F5A39-43AE-49EF-914F-8B70EBC41204}"/>
              </a:ext>
            </a:extLst>
          </p:cNvPr>
          <p:cNvSpPr>
            <a:spLocks noGrp="1"/>
          </p:cNvSpPr>
          <p:nvPr/>
        </p:nvSpPr>
        <p:spPr>
          <a:xfrm>
            <a:off x="514350" y="2095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111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54649212-8197-4DB1-BD2A-2177B9EC79A4}"/>
              </a:ext>
            </a:extLst>
          </p:cNvPr>
          <p:cNvSpPr>
            <a:spLocks noGrp="1"/>
          </p:cNvSpPr>
          <p:nvPr/>
        </p:nvSpPr>
        <p:spPr>
          <a:xfrm>
            <a:off x="495300" y="428625"/>
            <a:ext cx="11191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Un tono de 63 Hz cambia mucho entre Z y A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4F362091-00A9-42C2-9190-5DD7C44DFDED}"/>
              </a:ext>
            </a:extLst>
          </p:cNvPr>
          <p:cNvSpPr>
            <a:spLocks noGrp="1"/>
          </p:cNvSpPr>
          <p:nvPr/>
        </p:nvSpPr>
        <p:spPr>
          <a:xfrm>
            <a:off x="523875" y="971550"/>
            <a:ext cx="11001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Ejemplo provisional hasta verificar la tabla normativa.</a:t>
            </a:r>
          </a:p>
        </p:txBody>
      </p:sp>
      <p:sp>
        <p:nvSpPr>
          <p:cNvPr id="4" name="equation-box">
            <a:extLst>
              <a:ext uri="{FF2B5EF4-FFF2-40B4-BE49-F238E27FC236}">
                <a16:creationId xmlns:a16="http://schemas.microsoft.com/office/drawing/2014/main" id="{C88B0C0B-2B4B-460B-8FE3-63113621BA6B}"/>
              </a:ext>
            </a:extLst>
          </p:cNvPr>
          <p:cNvSpPr>
            <a:spLocks noGrp="1"/>
          </p:cNvSpPr>
          <p:nvPr/>
        </p:nvSpPr>
        <p:spPr>
          <a:xfrm>
            <a:off x="1143000" y="1619250"/>
            <a:ext cx="9906000" cy="1047750"/>
          </a:xfrm>
          <a:prstGeom prst="roundRect">
            <a:avLst>
              <a:gd name="adj" fmla="val 12727"/>
            </a:avLst>
          </a:prstGeom>
          <a:solidFill>
            <a:srgbClr val="EFECF7"/>
          </a:solidFill>
          <a:ln w="19050">
            <a:solidFill>
              <a:srgbClr val="65539A"/>
            </a:solidFill>
            <a:prstDash val="solid"/>
          </a:ln>
        </p:spPr>
      </p:sp>
      <p:sp>
        <p:nvSpPr>
          <p:cNvPr id="5" name="equation">
            <a:extLst>
              <a:ext uri="{FF2B5EF4-FFF2-40B4-BE49-F238E27FC236}">
                <a16:creationId xmlns:a16="http://schemas.microsoft.com/office/drawing/2014/main" id="{DEB8110F-1848-47A4-8457-4D2D8224E5C6}"/>
              </a:ext>
            </a:extLst>
          </p:cNvPr>
          <p:cNvSpPr>
            <a:spLocks noGrp="1"/>
          </p:cNvSpPr>
          <p:nvPr/>
        </p:nvSpPr>
        <p:spPr>
          <a:xfrm>
            <a:off x="1371600" y="1771650"/>
            <a:ext cx="94488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2000"/>
              </a:lnSpc>
              <a:buNone/>
              <a:defRPr sz="3000" b="1" i="0">
                <a:solidFill>
                  <a:srgbClr val="172333"/>
                </a:solidFill>
                <a:latin typeface="Cambria Math"/>
                <a:ea typeface="Cambria Math"/>
                <a:cs typeface="Cambria Math"/>
              </a:defRPr>
            </a:pPr>
            <a:r>
              <a:rPr sz="3000" b="1" i="0">
                <a:solidFill>
                  <a:srgbClr val="172333"/>
                </a:solidFill>
                <a:latin typeface="Cambria Math"/>
                <a:ea typeface="Cambria Math"/>
                <a:cs typeface="Cambria Math"/>
              </a:rPr>
              <a:t>L_A=L_Z+A(f).</a:t>
            </a:r>
          </a:p>
        </p:txBody>
      </p:sp>
      <p:sp>
        <p:nvSpPr>
          <p:cNvPr id="6" name="equation-meaning-box">
            <a:extLst>
              <a:ext uri="{FF2B5EF4-FFF2-40B4-BE49-F238E27FC236}">
                <a16:creationId xmlns:a16="http://schemas.microsoft.com/office/drawing/2014/main" id="{657535F9-52E7-485B-9058-AAE39804D476}"/>
              </a:ext>
            </a:extLst>
          </p:cNvPr>
          <p:cNvSpPr>
            <a:spLocks noGrp="1"/>
          </p:cNvSpPr>
          <p:nvPr/>
        </p:nvSpPr>
        <p:spPr>
          <a:xfrm>
            <a:off x="857250" y="3000375"/>
            <a:ext cx="4953000" cy="2381250"/>
          </a:xfrm>
          <a:prstGeom prst="roundRect">
            <a:avLst>
              <a:gd name="adj" fmla="val 5600"/>
            </a:avLst>
          </a:prstGeom>
          <a:solidFill>
            <a:srgbClr val="DDEFF5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7" name="equation-meaning-title">
            <a:extLst>
              <a:ext uri="{FF2B5EF4-FFF2-40B4-BE49-F238E27FC236}">
                <a16:creationId xmlns:a16="http://schemas.microsoft.com/office/drawing/2014/main" id="{539D82F5-F412-4D2D-B4F9-2F09365F143B}"/>
              </a:ext>
            </a:extLst>
          </p:cNvPr>
          <p:cNvSpPr>
            <a:spLocks noGrp="1"/>
          </p:cNvSpPr>
          <p:nvPr/>
        </p:nvSpPr>
        <p:spPr>
          <a:xfrm>
            <a:off x="1028700" y="3133725"/>
            <a:ext cx="4610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Qué significa</a:t>
            </a:r>
          </a:p>
        </p:txBody>
      </p:sp>
      <p:sp>
        <p:nvSpPr>
          <p:cNvPr id="8" name="equation-meaning-body">
            <a:extLst>
              <a:ext uri="{FF2B5EF4-FFF2-40B4-BE49-F238E27FC236}">
                <a16:creationId xmlns:a16="http://schemas.microsoft.com/office/drawing/2014/main" id="{F03A06DB-FE85-4753-A90B-B00F27414BC8}"/>
              </a:ext>
            </a:extLst>
          </p:cNvPr>
          <p:cNvSpPr>
            <a:spLocks noGrp="1"/>
          </p:cNvSpPr>
          <p:nvPr/>
        </p:nvSpPr>
        <p:spPr>
          <a:xfrm>
            <a:off x="1028700" y="3514725"/>
            <a:ext cx="4610100" cy="1733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Corrección puntual válida para ese tono y esa edición de tabla.</a:t>
            </a:r>
          </a:p>
        </p:txBody>
      </p:sp>
      <p:sp>
        <p:nvSpPr>
          <p:cNvPr id="9" name="equation-use-box">
            <a:extLst>
              <a:ext uri="{FF2B5EF4-FFF2-40B4-BE49-F238E27FC236}">
                <a16:creationId xmlns:a16="http://schemas.microsoft.com/office/drawing/2014/main" id="{A7B15065-966F-4909-B34F-395242F54CCE}"/>
              </a:ext>
            </a:extLst>
          </p:cNvPr>
          <p:cNvSpPr>
            <a:spLocks noGrp="1"/>
          </p:cNvSpPr>
          <p:nvPr/>
        </p:nvSpPr>
        <p:spPr>
          <a:xfrm>
            <a:off x="6381750" y="3000375"/>
            <a:ext cx="4953000" cy="2381250"/>
          </a:xfrm>
          <a:prstGeom prst="roundRect">
            <a:avLst>
              <a:gd name="adj" fmla="val 5600"/>
            </a:avLst>
          </a:prstGeom>
          <a:solidFill>
            <a:srgbClr val="E3F2ED"/>
          </a:solidFill>
          <a:ln w="19050">
            <a:solidFill>
              <a:srgbClr val="2D7867"/>
            </a:solidFill>
            <a:prstDash val="solid"/>
          </a:ln>
        </p:spPr>
      </p:sp>
      <p:sp>
        <p:nvSpPr>
          <p:cNvPr id="10" name="equation-use-title">
            <a:extLst>
              <a:ext uri="{FF2B5EF4-FFF2-40B4-BE49-F238E27FC236}">
                <a16:creationId xmlns:a16="http://schemas.microsoft.com/office/drawing/2014/main" id="{BA203889-4F5B-4B20-996A-FE9F81ECF1BF}"/>
              </a:ext>
            </a:extLst>
          </p:cNvPr>
          <p:cNvSpPr>
            <a:spLocks noGrp="1"/>
          </p:cNvSpPr>
          <p:nvPr/>
        </p:nvSpPr>
        <p:spPr>
          <a:xfrm>
            <a:off x="6553200" y="3133725"/>
            <a:ext cx="4610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Cómo se usa</a:t>
            </a:r>
          </a:p>
        </p:txBody>
      </p:sp>
      <p:sp>
        <p:nvSpPr>
          <p:cNvPr id="11" name="equation-use-body">
            <a:extLst>
              <a:ext uri="{FF2B5EF4-FFF2-40B4-BE49-F238E27FC236}">
                <a16:creationId xmlns:a16="http://schemas.microsoft.com/office/drawing/2014/main" id="{F832B469-9918-4B9D-BC72-C96319B40A86}"/>
              </a:ext>
            </a:extLst>
          </p:cNvPr>
          <p:cNvSpPr>
            <a:spLocks noGrp="1"/>
          </p:cNvSpPr>
          <p:nvPr/>
        </p:nvSpPr>
        <p:spPr>
          <a:xfrm>
            <a:off x="6553200" y="3514725"/>
            <a:ext cx="4610100" cy="1733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no generalizar a banda ancha ni a percepción.</a:t>
            </a:r>
          </a:p>
        </p:txBody>
      </p:sp>
      <p:sp>
        <p:nvSpPr>
          <p:cNvPr id="12" name="caption">
            <a:extLst>
              <a:ext uri="{FF2B5EF4-FFF2-40B4-BE49-F238E27FC236}">
                <a16:creationId xmlns:a16="http://schemas.microsoft.com/office/drawing/2014/main" id="{35080F9F-9034-4C95-A895-3893E073301F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876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Cifra pendiente de verificación con IEC 61672-1 autorizada.</a:t>
            </a:r>
          </a:p>
        </p:txBody>
      </p:sp>
      <p:sp>
        <p:nvSpPr>
          <p:cNvPr id="13" name="credit">
            <a:extLst>
              <a:ext uri="{FF2B5EF4-FFF2-40B4-BE49-F238E27FC236}">
                <a16:creationId xmlns:a16="http://schemas.microsoft.com/office/drawing/2014/main" id="{972E8B79-AB69-46B4-8F23-65320F39F645}"/>
              </a:ext>
            </a:extLst>
          </p:cNvPr>
          <p:cNvSpPr>
            <a:spLocks noGrp="1"/>
          </p:cNvSpPr>
          <p:nvPr/>
        </p:nvSpPr>
        <p:spPr>
          <a:xfrm>
            <a:off x="9382125" y="60769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5.10.1; IEC 61672-1 pendiente.</a:t>
            </a:r>
          </a:p>
        </p:txBody>
      </p:sp>
      <p:sp>
        <p:nvSpPr>
          <p:cNvPr id="15" name="slide-alt-summary" descr="Cálculo provisional resta 26,2 dB a 80,0 dB y obtiene 53,8 dB(A).">
            <a:extLst>
              <a:ext uri="{FF2B5EF4-FFF2-40B4-BE49-F238E27FC236}">
                <a16:creationId xmlns:a16="http://schemas.microsoft.com/office/drawing/2014/main" id="{6A92D104-C97F-5571-C10D-C9F01CECFB25}"/>
              </a:ext>
            </a:extLst>
          </p:cNvPr>
          <p:cNvSpPr/>
          <p:nvPr/>
        </p:nvSpPr>
        <p:spPr>
          <a:xfrm>
            <a:off x="12700" y="12700"/>
            <a:ext cx="12700" cy="12700"/>
          </a:xfrm>
          <a:prstGeom prst="rect">
            <a:avLst/>
          </a:prstGeom>
          <a:noFill/>
          <a:ln w="19050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33635661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yebrow">
            <a:extLst>
              <a:ext uri="{FF2B5EF4-FFF2-40B4-BE49-F238E27FC236}">
                <a16:creationId xmlns:a16="http://schemas.microsoft.com/office/drawing/2014/main" id="{CFD28B80-1194-4F8E-A39F-D12E1B13BB1D}"/>
              </a:ext>
            </a:extLst>
          </p:cNvPr>
          <p:cNvSpPr>
            <a:spLocks noGrp="1"/>
          </p:cNvSpPr>
          <p:nvPr/>
        </p:nvSpPr>
        <p:spPr>
          <a:xfrm>
            <a:off x="514350" y="2095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112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0C888DAB-240F-4055-B4A0-53482D33E59E}"/>
              </a:ext>
            </a:extLst>
          </p:cNvPr>
          <p:cNvSpPr>
            <a:spLocks noGrp="1"/>
          </p:cNvSpPr>
          <p:nvPr/>
        </p:nvSpPr>
        <p:spPr>
          <a:xfrm>
            <a:off x="495300" y="428625"/>
            <a:ext cx="11191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Una corrección única no alcanza para un sonido de banda ancha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0745A8B7-2330-497E-A42F-D6D6A7BA2780}"/>
              </a:ext>
            </a:extLst>
          </p:cNvPr>
          <p:cNvSpPr>
            <a:spLocks noGrp="1"/>
          </p:cNvSpPr>
          <p:nvPr/>
        </p:nvSpPr>
        <p:spPr>
          <a:xfrm>
            <a:off x="523875" y="971550"/>
            <a:ext cx="11001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Ponderar exige corregir por frecuencia e integrar energéticamente.</a:t>
            </a:r>
          </a:p>
        </p:txBody>
      </p:sp>
      <p:sp>
        <p:nvSpPr>
          <p:cNvPr id="4" name="error-box">
            <a:extLst>
              <a:ext uri="{FF2B5EF4-FFF2-40B4-BE49-F238E27FC236}">
                <a16:creationId xmlns:a16="http://schemas.microsoft.com/office/drawing/2014/main" id="{FB0F9652-B3E0-45C2-8E4B-5A555AA299F8}"/>
              </a:ext>
            </a:extLst>
          </p:cNvPr>
          <p:cNvSpPr>
            <a:spLocks noGrp="1"/>
          </p:cNvSpPr>
          <p:nvPr/>
        </p:nvSpPr>
        <p:spPr>
          <a:xfrm>
            <a:off x="619125" y="1476375"/>
            <a:ext cx="6953250" cy="3714750"/>
          </a:xfrm>
          <a:prstGeom prst="roundRect">
            <a:avLst>
              <a:gd name="adj" fmla="val 3590"/>
            </a:avLst>
          </a:prstGeom>
          <a:solidFill>
            <a:srgbClr val="F3F6F8"/>
          </a:solidFill>
          <a:ln w="19050">
            <a:solidFill>
              <a:srgbClr val="8291A3"/>
            </a:solidFill>
            <a:prstDash val="solid"/>
          </a:ln>
        </p:spPr>
      </p:sp>
      <p:sp>
        <p:nvSpPr>
          <p:cNvPr id="5" name="error-title">
            <a:extLst>
              <a:ext uri="{FF2B5EF4-FFF2-40B4-BE49-F238E27FC236}">
                <a16:creationId xmlns:a16="http://schemas.microsoft.com/office/drawing/2014/main" id="{7E1BB5C3-8BDC-4257-9368-42A24FB82C72}"/>
              </a:ext>
            </a:extLst>
          </p:cNvPr>
          <p:cNvSpPr>
            <a:spLocks noGrp="1"/>
          </p:cNvSpPr>
          <p:nvPr/>
        </p:nvSpPr>
        <p:spPr>
          <a:xfrm>
            <a:off x="790575" y="1609725"/>
            <a:ext cx="6610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75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Error frecuente</a:t>
            </a:r>
          </a:p>
        </p:txBody>
      </p:sp>
      <p:sp>
        <p:nvSpPr>
          <p:cNvPr id="6" name="error-body">
            <a:extLst>
              <a:ext uri="{FF2B5EF4-FFF2-40B4-BE49-F238E27FC236}">
                <a16:creationId xmlns:a16="http://schemas.microsoft.com/office/drawing/2014/main" id="{27D1063E-5854-407A-8895-410ED7469F70}"/>
              </a:ext>
            </a:extLst>
          </p:cNvPr>
          <p:cNvSpPr>
            <a:spLocks noGrp="1"/>
          </p:cNvSpPr>
          <p:nvPr/>
        </p:nvSpPr>
        <p:spPr>
          <a:xfrm>
            <a:off x="790575" y="1990725"/>
            <a:ext cx="6610350" cy="3067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02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02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Error: sumar una constante al nivel total. Corrección: espectro → corrección A por frecuencia → suma energética → descriptor.</a:t>
            </a:r>
          </a:p>
        </p:txBody>
      </p:sp>
      <p:sp>
        <p:nvSpPr>
          <p:cNvPr id="7" name="correction-box">
            <a:extLst>
              <a:ext uri="{FF2B5EF4-FFF2-40B4-BE49-F238E27FC236}">
                <a16:creationId xmlns:a16="http://schemas.microsoft.com/office/drawing/2014/main" id="{4C242C06-17B8-42CB-AA1F-CDC9F13C27FE}"/>
              </a:ext>
            </a:extLst>
          </p:cNvPr>
          <p:cNvSpPr>
            <a:spLocks noGrp="1"/>
          </p:cNvSpPr>
          <p:nvPr/>
        </p:nvSpPr>
        <p:spPr>
          <a:xfrm>
            <a:off x="7953375" y="1476375"/>
            <a:ext cx="3619500" cy="3714750"/>
          </a:xfrm>
          <a:prstGeom prst="roundRect">
            <a:avLst>
              <a:gd name="adj" fmla="val 3684"/>
            </a:avLst>
          </a:prstGeom>
          <a:solidFill>
            <a:srgbClr val="E3F2ED"/>
          </a:solidFill>
          <a:ln w="19050">
            <a:solidFill>
              <a:srgbClr val="2D7867"/>
            </a:solidFill>
            <a:prstDash val="solid"/>
          </a:ln>
        </p:spPr>
      </p:sp>
      <p:sp>
        <p:nvSpPr>
          <p:cNvPr id="8" name="correction-title">
            <a:extLst>
              <a:ext uri="{FF2B5EF4-FFF2-40B4-BE49-F238E27FC236}">
                <a16:creationId xmlns:a16="http://schemas.microsoft.com/office/drawing/2014/main" id="{231758DD-94D3-4018-A711-D8C45CAEE807}"/>
              </a:ext>
            </a:extLst>
          </p:cNvPr>
          <p:cNvSpPr>
            <a:spLocks noGrp="1"/>
          </p:cNvSpPr>
          <p:nvPr/>
        </p:nvSpPr>
        <p:spPr>
          <a:xfrm>
            <a:off x="8124825" y="1609725"/>
            <a:ext cx="3276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Corrección útil</a:t>
            </a:r>
          </a:p>
        </p:txBody>
      </p:sp>
      <p:sp>
        <p:nvSpPr>
          <p:cNvPr id="9" name="correction-body">
            <a:extLst>
              <a:ext uri="{FF2B5EF4-FFF2-40B4-BE49-F238E27FC236}">
                <a16:creationId xmlns:a16="http://schemas.microsoft.com/office/drawing/2014/main" id="{C4E91D66-220F-45A3-8A4A-FA7A30A50E42}"/>
              </a:ext>
            </a:extLst>
          </p:cNvPr>
          <p:cNvSpPr>
            <a:spLocks noGrp="1"/>
          </p:cNvSpPr>
          <p:nvPr/>
        </p:nvSpPr>
        <p:spPr>
          <a:xfrm>
            <a:off x="8124825" y="1990725"/>
            <a:ext cx="3276600" cy="3067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señal con varias bandas.</a:t>
            </a:r>
          </a:p>
        </p:txBody>
      </p:sp>
      <p:sp>
        <p:nvSpPr>
          <p:cNvPr id="10" name="caption">
            <a:extLst>
              <a:ext uri="{FF2B5EF4-FFF2-40B4-BE49-F238E27FC236}">
                <a16:creationId xmlns:a16="http://schemas.microsoft.com/office/drawing/2014/main" id="{357E9EFF-9256-4FD9-942F-772DB910EAB4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876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El ejemplo tonal no se traslada directamente a banda ancha.</a:t>
            </a:r>
          </a:p>
        </p:txBody>
      </p:sp>
      <p:sp>
        <p:nvSpPr>
          <p:cNvPr id="11" name="credit">
            <a:extLst>
              <a:ext uri="{FF2B5EF4-FFF2-40B4-BE49-F238E27FC236}">
                <a16:creationId xmlns:a16="http://schemas.microsoft.com/office/drawing/2014/main" id="{4E2115C2-B477-424B-8E84-6D7B144227C2}"/>
              </a:ext>
            </a:extLst>
          </p:cNvPr>
          <p:cNvSpPr>
            <a:spLocks noGrp="1"/>
          </p:cNvSpPr>
          <p:nvPr/>
        </p:nvSpPr>
        <p:spPr>
          <a:xfrm>
            <a:off x="9382125" y="60769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5.10; ejercicio G5.</a:t>
            </a:r>
          </a:p>
        </p:txBody>
      </p:sp>
      <p:sp>
        <p:nvSpPr>
          <p:cNvPr id="13" name="slide-alt-summary" descr="Proceso de tres etapas corrige componentes diferentes antes de integrarlas.">
            <a:extLst>
              <a:ext uri="{FF2B5EF4-FFF2-40B4-BE49-F238E27FC236}">
                <a16:creationId xmlns:a16="http://schemas.microsoft.com/office/drawing/2014/main" id="{43D931C7-8C81-88F8-903C-40A87E718D77}"/>
              </a:ext>
            </a:extLst>
          </p:cNvPr>
          <p:cNvSpPr/>
          <p:nvPr/>
        </p:nvSpPr>
        <p:spPr>
          <a:xfrm>
            <a:off x="12700" y="12700"/>
            <a:ext cx="12700" cy="12700"/>
          </a:xfrm>
          <a:prstGeom prst="rect">
            <a:avLst/>
          </a:prstGeom>
          <a:noFill/>
          <a:ln w="19050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41329192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yebrow">
            <a:extLst>
              <a:ext uri="{FF2B5EF4-FFF2-40B4-BE49-F238E27FC236}">
                <a16:creationId xmlns:a16="http://schemas.microsoft.com/office/drawing/2014/main" id="{B7EE4E1C-4120-4EBF-84AC-A51C347F9472}"/>
              </a:ext>
            </a:extLst>
          </p:cNvPr>
          <p:cNvSpPr>
            <a:spLocks noGrp="1"/>
          </p:cNvSpPr>
          <p:nvPr/>
        </p:nvSpPr>
        <p:spPr>
          <a:xfrm>
            <a:off x="514350" y="2095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113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0FA95118-54F8-4513-B472-173CA5F31E87}"/>
              </a:ext>
            </a:extLst>
          </p:cNvPr>
          <p:cNvSpPr>
            <a:spLocks noGrp="1"/>
          </p:cNvSpPr>
          <p:nvPr/>
        </p:nvSpPr>
        <p:spPr>
          <a:xfrm>
            <a:off x="495300" y="428625"/>
            <a:ext cx="11191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dB(A), dB SPL, dB HL y sonoridad no son intercambiables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0F64232D-89FB-4D9D-9036-541EA904CAFF}"/>
              </a:ext>
            </a:extLst>
          </p:cNvPr>
          <p:cNvSpPr>
            <a:spLocks noGrp="1"/>
          </p:cNvSpPr>
          <p:nvPr/>
        </p:nvSpPr>
        <p:spPr>
          <a:xfrm>
            <a:off x="523875" y="971550"/>
            <a:ext cx="11001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Magnitud, referencia y percepción responden a procedimientos distintos.</a:t>
            </a:r>
          </a:p>
        </p:txBody>
      </p:sp>
      <p:sp>
        <p:nvSpPr>
          <p:cNvPr id="4" name="main-ideas">
            <a:extLst>
              <a:ext uri="{FF2B5EF4-FFF2-40B4-BE49-F238E27FC236}">
                <a16:creationId xmlns:a16="http://schemas.microsoft.com/office/drawing/2014/main" id="{6D7F4F05-D2AE-4718-821A-CB415E8B7068}"/>
              </a:ext>
            </a:extLst>
          </p:cNvPr>
          <p:cNvSpPr>
            <a:spLocks noGrp="1"/>
          </p:cNvSpPr>
          <p:nvPr/>
        </p:nvSpPr>
        <p:spPr>
          <a:xfrm>
            <a:off x="666750" y="1476375"/>
            <a:ext cx="6762750" cy="3857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76200" rIns="76200" bIns="76200">
            <a:noAutofit/>
          </a:bodyPr>
          <a:lstStyle/>
          <a:p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dB SPL: nivel físico referido a presión.</a:t>
            </a:r>
          </a:p>
          <a:p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dB(A): medición con ponderación A.</a:t>
            </a:r>
          </a:p>
          <a:p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dB HL: referencia audiométrica.</a:t>
            </a:r>
          </a:p>
          <a:p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Sonoridad: atributo perceptual.</a:t>
            </a:r>
          </a:p>
        </p:txBody>
      </p:sp>
      <p:sp>
        <p:nvSpPr>
          <p:cNvPr id="5" name="side-panel-box">
            <a:extLst>
              <a:ext uri="{FF2B5EF4-FFF2-40B4-BE49-F238E27FC236}">
                <a16:creationId xmlns:a16="http://schemas.microsoft.com/office/drawing/2014/main" id="{3B01D326-B6E9-4E92-BD15-6F6D12A9808C}"/>
              </a:ext>
            </a:extLst>
          </p:cNvPr>
          <p:cNvSpPr>
            <a:spLocks noGrp="1"/>
          </p:cNvSpPr>
          <p:nvPr/>
        </p:nvSpPr>
        <p:spPr>
          <a:xfrm>
            <a:off x="7953375" y="1571625"/>
            <a:ext cx="3476625" cy="3381375"/>
          </a:xfrm>
          <a:prstGeom prst="roundRect">
            <a:avLst>
              <a:gd name="adj" fmla="val 3944"/>
            </a:avLst>
          </a:prstGeom>
          <a:solidFill>
            <a:srgbClr val="DDEFF5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6" name="side-panel-title">
            <a:extLst>
              <a:ext uri="{FF2B5EF4-FFF2-40B4-BE49-F238E27FC236}">
                <a16:creationId xmlns:a16="http://schemas.microsoft.com/office/drawing/2014/main" id="{6B88DD26-0B15-4B4A-9235-DB191FAE8C42}"/>
              </a:ext>
            </a:extLst>
          </p:cNvPr>
          <p:cNvSpPr>
            <a:spLocks noGrp="1"/>
          </p:cNvSpPr>
          <p:nvPr/>
        </p:nvSpPr>
        <p:spPr>
          <a:xfrm>
            <a:off x="8124825" y="1704975"/>
            <a:ext cx="31337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Definición</a:t>
            </a:r>
          </a:p>
        </p:txBody>
      </p:sp>
      <p:sp>
        <p:nvSpPr>
          <p:cNvPr id="7" name="side-panel-body">
            <a:extLst>
              <a:ext uri="{FF2B5EF4-FFF2-40B4-BE49-F238E27FC236}">
                <a16:creationId xmlns:a16="http://schemas.microsoft.com/office/drawing/2014/main" id="{CB216115-E48A-4960-B01B-B3AECBB8AC65}"/>
              </a:ext>
            </a:extLst>
          </p:cNvPr>
          <p:cNvSpPr>
            <a:spLocks noGrp="1"/>
          </p:cNvSpPr>
          <p:nvPr/>
        </p:nvSpPr>
        <p:spPr>
          <a:xfrm>
            <a:off x="8124825" y="2085975"/>
            <a:ext cx="3133725" cy="2733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cada término incluye una referencia o procedimiento propio.</a:t>
            </a:r>
          </a:p>
        </p:txBody>
      </p:sp>
      <p:sp>
        <p:nvSpPr>
          <p:cNvPr id="8" name="example-line">
            <a:extLst>
              <a:ext uri="{FF2B5EF4-FFF2-40B4-BE49-F238E27FC236}">
                <a16:creationId xmlns:a16="http://schemas.microsoft.com/office/drawing/2014/main" id="{6A0A0B72-2DA9-4831-9977-6E113D39166F}"/>
              </a:ext>
            </a:extLst>
          </p:cNvPr>
          <p:cNvSpPr>
            <a:spLocks noGrp="1"/>
          </p:cNvSpPr>
          <p:nvPr/>
        </p:nvSpPr>
        <p:spPr>
          <a:xfrm>
            <a:off x="8096250" y="5095875"/>
            <a:ext cx="3143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Ejemplo: 72 dB(A) no se convierte automáticamente en dB HL.</a:t>
            </a:r>
          </a:p>
        </p:txBody>
      </p:sp>
      <p:sp>
        <p:nvSpPr>
          <p:cNvPr id="9" name="caption">
            <a:extLst>
              <a:ext uri="{FF2B5EF4-FFF2-40B4-BE49-F238E27FC236}">
                <a16:creationId xmlns:a16="http://schemas.microsoft.com/office/drawing/2014/main" id="{9A0DFC0A-F6DE-4088-A364-A3BCE3F50CDC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876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Un número en decibeles no identifica por sí solo qué se midió.</a:t>
            </a:r>
          </a:p>
        </p:txBody>
      </p:sp>
      <p:sp>
        <p:nvSpPr>
          <p:cNvPr id="10" name="credit">
            <a:extLst>
              <a:ext uri="{FF2B5EF4-FFF2-40B4-BE49-F238E27FC236}">
                <a16:creationId xmlns:a16="http://schemas.microsoft.com/office/drawing/2014/main" id="{EF8AEDFB-C569-4318-8A25-89D1C256E4AD}"/>
              </a:ext>
            </a:extLst>
          </p:cNvPr>
          <p:cNvSpPr>
            <a:spLocks noGrp="1"/>
          </p:cNvSpPr>
          <p:nvPr/>
        </p:nvSpPr>
        <p:spPr>
          <a:xfrm>
            <a:off x="9382125" y="60769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5.9.1 y 5.12; NOT; GLO.</a:t>
            </a:r>
          </a:p>
        </p:txBody>
      </p:sp>
      <p:sp>
        <p:nvSpPr>
          <p:cNvPr id="12" name="slide-alt-summary" descr="Tabla compara dB SPL, dB(A), dB HL y sonoridad por referencia y alcance.">
            <a:extLst>
              <a:ext uri="{FF2B5EF4-FFF2-40B4-BE49-F238E27FC236}">
                <a16:creationId xmlns:a16="http://schemas.microsoft.com/office/drawing/2014/main" id="{F72412C1-7B7E-C70F-5B84-BBCD11D5CE85}"/>
              </a:ext>
            </a:extLst>
          </p:cNvPr>
          <p:cNvSpPr/>
          <p:nvPr/>
        </p:nvSpPr>
        <p:spPr>
          <a:xfrm>
            <a:off x="12700" y="12700"/>
            <a:ext cx="12700" cy="12700"/>
          </a:xfrm>
          <a:prstGeom prst="rect">
            <a:avLst/>
          </a:prstGeom>
          <a:noFill/>
          <a:ln w="19050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619112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yebrow">
            <a:extLst>
              <a:ext uri="{FF2B5EF4-FFF2-40B4-BE49-F238E27FC236}">
                <a16:creationId xmlns:a16="http://schemas.microsoft.com/office/drawing/2014/main" id="{D1CF051E-7F88-493E-AEEA-2AB2EE050119}"/>
              </a:ext>
            </a:extLst>
          </p:cNvPr>
          <p:cNvSpPr>
            <a:spLocks noGrp="1"/>
          </p:cNvSpPr>
          <p:nvPr/>
        </p:nvSpPr>
        <p:spPr>
          <a:xfrm>
            <a:off x="514350" y="2095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114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81D5D892-1C38-4D1F-87FD-D3EED0A470AA}"/>
              </a:ext>
            </a:extLst>
          </p:cNvPr>
          <p:cNvSpPr>
            <a:spLocks noGrp="1"/>
          </p:cNvSpPr>
          <p:nvPr/>
        </p:nvSpPr>
        <p:spPr>
          <a:xfrm>
            <a:off x="495300" y="428625"/>
            <a:ext cx="11191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“72 dB(A)”: ¿qué sabemos y qué falta?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4AB0393C-6D5D-42F5-BED4-71402C68FC1D}"/>
              </a:ext>
            </a:extLst>
          </p:cNvPr>
          <p:cNvSpPr>
            <a:spLocks noGrp="1"/>
          </p:cNvSpPr>
          <p:nvPr/>
        </p:nvSpPr>
        <p:spPr>
          <a:xfrm>
            <a:off x="523875" y="971550"/>
            <a:ext cx="11001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Auditar una lectura incompleta.</a:t>
            </a:r>
          </a:p>
        </p:txBody>
      </p:sp>
      <p:sp>
        <p:nvSpPr>
          <p:cNvPr id="4" name="question-box">
            <a:extLst>
              <a:ext uri="{FF2B5EF4-FFF2-40B4-BE49-F238E27FC236}">
                <a16:creationId xmlns:a16="http://schemas.microsoft.com/office/drawing/2014/main" id="{EA8BFCC8-9D66-48D6-B638-4F90F8F22530}"/>
              </a:ext>
            </a:extLst>
          </p:cNvPr>
          <p:cNvSpPr>
            <a:spLocks noGrp="1"/>
          </p:cNvSpPr>
          <p:nvPr/>
        </p:nvSpPr>
        <p:spPr>
          <a:xfrm>
            <a:off x="714375" y="1571625"/>
            <a:ext cx="7239000" cy="3429000"/>
          </a:xfrm>
          <a:prstGeom prst="roundRect">
            <a:avLst>
              <a:gd name="adj" fmla="val 3889"/>
            </a:avLst>
          </a:prstGeom>
          <a:solidFill>
            <a:srgbClr val="DDEFF5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5" name="question-title">
            <a:extLst>
              <a:ext uri="{FF2B5EF4-FFF2-40B4-BE49-F238E27FC236}">
                <a16:creationId xmlns:a16="http://schemas.microsoft.com/office/drawing/2014/main" id="{01C119FD-62C1-4EB3-B6AC-46B4F1D20070}"/>
              </a:ext>
            </a:extLst>
          </p:cNvPr>
          <p:cNvSpPr>
            <a:spLocks noGrp="1"/>
          </p:cNvSpPr>
          <p:nvPr/>
        </p:nvSpPr>
        <p:spPr>
          <a:xfrm>
            <a:off x="885825" y="1704975"/>
            <a:ext cx="6896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1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Consigna</a:t>
            </a:r>
          </a:p>
        </p:txBody>
      </p:sp>
      <p:sp>
        <p:nvSpPr>
          <p:cNvPr id="6" name="question-body">
            <a:extLst>
              <a:ext uri="{FF2B5EF4-FFF2-40B4-BE49-F238E27FC236}">
                <a16:creationId xmlns:a16="http://schemas.microsoft.com/office/drawing/2014/main" id="{D2DA2CE5-CCE2-474B-BDEF-39EF9C30E73A}"/>
              </a:ext>
            </a:extLst>
          </p:cNvPr>
          <p:cNvSpPr>
            <a:spLocks noGrp="1"/>
          </p:cNvSpPr>
          <p:nvPr/>
        </p:nvSpPr>
        <p:spPr>
          <a:xfrm>
            <a:off x="885825" y="2085975"/>
            <a:ext cx="6896100" cy="2781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Sabemos: ponderación A. Falta: descriptor temporal; intervalo; respuesta temporal; posición y condiciones; instrumento/procedimiento. ¿Permite inferir dB HL? No.</a:t>
            </a:r>
          </a:p>
        </p:txBody>
      </p:sp>
      <p:sp>
        <p:nvSpPr>
          <p:cNvPr id="7" name="answer-routine-box">
            <a:extLst>
              <a:ext uri="{FF2B5EF4-FFF2-40B4-BE49-F238E27FC236}">
                <a16:creationId xmlns:a16="http://schemas.microsoft.com/office/drawing/2014/main" id="{AAC890CE-83AC-4502-AF46-EDD32E29B9DA}"/>
              </a:ext>
            </a:extLst>
          </p:cNvPr>
          <p:cNvSpPr>
            <a:spLocks noGrp="1"/>
          </p:cNvSpPr>
          <p:nvPr/>
        </p:nvSpPr>
        <p:spPr>
          <a:xfrm>
            <a:off x="8334375" y="1571625"/>
            <a:ext cx="3143250" cy="3429000"/>
          </a:xfrm>
          <a:prstGeom prst="roundRect">
            <a:avLst>
              <a:gd name="adj" fmla="val 4242"/>
            </a:avLst>
          </a:prstGeom>
          <a:solidFill>
            <a:srgbClr val="F3F6F8"/>
          </a:solidFill>
          <a:ln w="19050">
            <a:solidFill>
              <a:srgbClr val="8291A3"/>
            </a:solidFill>
            <a:prstDash val="solid"/>
          </a:ln>
        </p:spPr>
      </p:sp>
      <p:sp>
        <p:nvSpPr>
          <p:cNvPr id="8" name="answer-routine-title">
            <a:extLst>
              <a:ext uri="{FF2B5EF4-FFF2-40B4-BE49-F238E27FC236}">
                <a16:creationId xmlns:a16="http://schemas.microsoft.com/office/drawing/2014/main" id="{DB246303-9015-424D-890F-859CA7A77593}"/>
              </a:ext>
            </a:extLst>
          </p:cNvPr>
          <p:cNvSpPr>
            <a:spLocks noGrp="1"/>
          </p:cNvSpPr>
          <p:nvPr/>
        </p:nvSpPr>
        <p:spPr>
          <a:xfrm>
            <a:off x="8505825" y="1704975"/>
            <a:ext cx="2800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950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950" b="1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Cómo responder</a:t>
            </a:r>
          </a:p>
        </p:txBody>
      </p:sp>
      <p:sp>
        <p:nvSpPr>
          <p:cNvPr id="9" name="answer-routine-body">
            <a:extLst>
              <a:ext uri="{FF2B5EF4-FFF2-40B4-BE49-F238E27FC236}">
                <a16:creationId xmlns:a16="http://schemas.microsoft.com/office/drawing/2014/main" id="{79A5F6C8-7E75-4E94-8548-D99516600E17}"/>
              </a:ext>
            </a:extLst>
          </p:cNvPr>
          <p:cNvSpPr>
            <a:spLocks noGrp="1"/>
          </p:cNvSpPr>
          <p:nvPr/>
        </p:nvSpPr>
        <p:spPr>
          <a:xfrm>
            <a:off x="8505825" y="2085975"/>
            <a:ext cx="2800350" cy="2781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1. Nombrar el objeto. 2. Leer ejes y unidades. 3. Declarar condiciones. 4. Concluir sin exceder la evidencia.</a:t>
            </a:r>
          </a:p>
        </p:txBody>
      </p:sp>
      <p:sp>
        <p:nvSpPr>
          <p:cNvPr id="10" name="caption">
            <a:extLst>
              <a:ext uri="{FF2B5EF4-FFF2-40B4-BE49-F238E27FC236}">
                <a16:creationId xmlns:a16="http://schemas.microsoft.com/office/drawing/2014/main" id="{31B82E0C-FFD3-49E8-A606-A4D02E6F5A11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876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La unidad escrita no reemplaza el descriptor completo.</a:t>
            </a:r>
          </a:p>
        </p:txBody>
      </p:sp>
      <p:sp>
        <p:nvSpPr>
          <p:cNvPr id="11" name="credit">
            <a:extLst>
              <a:ext uri="{FF2B5EF4-FFF2-40B4-BE49-F238E27FC236}">
                <a16:creationId xmlns:a16="http://schemas.microsoft.com/office/drawing/2014/main" id="{6019213F-CD01-4815-8B77-048E916F91DB}"/>
              </a:ext>
            </a:extLst>
          </p:cNvPr>
          <p:cNvSpPr>
            <a:spLocks noGrp="1"/>
          </p:cNvSpPr>
          <p:nvPr/>
        </p:nvSpPr>
        <p:spPr>
          <a:xfrm>
            <a:off x="9382125" y="60769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ejercicios D4/F4.</a:t>
            </a:r>
          </a:p>
        </p:txBody>
      </p:sp>
      <p:sp>
        <p:nvSpPr>
          <p:cNvPr id="13" name="slide-alt-summary" descr="Lectura 72 dB(A) rodeada por cinco campos faltantes.">
            <a:extLst>
              <a:ext uri="{FF2B5EF4-FFF2-40B4-BE49-F238E27FC236}">
                <a16:creationId xmlns:a16="http://schemas.microsoft.com/office/drawing/2014/main" id="{6B1A1610-7340-2A96-9E31-3A611DC4BAE7}"/>
              </a:ext>
            </a:extLst>
          </p:cNvPr>
          <p:cNvSpPr/>
          <p:nvPr/>
        </p:nvSpPr>
        <p:spPr>
          <a:xfrm>
            <a:off x="12700" y="12700"/>
            <a:ext cx="12700" cy="12700"/>
          </a:xfrm>
          <a:prstGeom prst="rect">
            <a:avLst/>
          </a:prstGeom>
          <a:noFill/>
          <a:ln w="19050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73297158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yebrow">
            <a:extLst>
              <a:ext uri="{FF2B5EF4-FFF2-40B4-BE49-F238E27FC236}">
                <a16:creationId xmlns:a16="http://schemas.microsoft.com/office/drawing/2014/main" id="{423AE7E8-F8C7-4D5A-B314-6BD3E6A9A966}"/>
              </a:ext>
            </a:extLst>
          </p:cNvPr>
          <p:cNvSpPr>
            <a:spLocks noGrp="1"/>
          </p:cNvSpPr>
          <p:nvPr/>
        </p:nvSpPr>
        <p:spPr>
          <a:xfrm>
            <a:off x="514350" y="2095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115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DDA51A75-AF69-416D-A273-B97CDAE3DAE5}"/>
              </a:ext>
            </a:extLst>
          </p:cNvPr>
          <p:cNvSpPr>
            <a:spLocks noGrp="1"/>
          </p:cNvSpPr>
          <p:nvPr/>
        </p:nvSpPr>
        <p:spPr>
          <a:xfrm>
            <a:off x="495300" y="428625"/>
            <a:ext cx="11191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Curva nominal y tolerancia de instrumento no son lo mismo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659A1FFA-BAC8-433A-9E98-B0967C6808DA}"/>
              </a:ext>
            </a:extLst>
          </p:cNvPr>
          <p:cNvSpPr>
            <a:spLocks noGrp="1"/>
          </p:cNvSpPr>
          <p:nvPr/>
        </p:nvSpPr>
        <p:spPr>
          <a:xfrm>
            <a:off x="523875" y="971550"/>
            <a:ext cx="11001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Una respuesta objetivo no demuestra conformidad.</a:t>
            </a:r>
          </a:p>
        </p:txBody>
      </p:sp>
      <p:sp>
        <p:nvSpPr>
          <p:cNvPr id="4" name="main-ideas">
            <a:extLst>
              <a:ext uri="{FF2B5EF4-FFF2-40B4-BE49-F238E27FC236}">
                <a16:creationId xmlns:a16="http://schemas.microsoft.com/office/drawing/2014/main" id="{536FD693-FD76-41EE-B92D-BA0680347A91}"/>
              </a:ext>
            </a:extLst>
          </p:cNvPr>
          <p:cNvSpPr>
            <a:spLocks noGrp="1"/>
          </p:cNvSpPr>
          <p:nvPr/>
        </p:nvSpPr>
        <p:spPr>
          <a:xfrm>
            <a:off x="666750" y="1476375"/>
            <a:ext cx="6762750" cy="3857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76200" rIns="76200" bIns="76200">
            <a:noAutofit/>
          </a:bodyPr>
          <a:lstStyle/>
          <a:p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Curva nominal: objetivo de ponderación.</a:t>
            </a:r>
          </a:p>
          <a:p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Tolerancia: banda de aceptación según clase, frecuencia y ensayo.</a:t>
            </a:r>
          </a:p>
          <a:p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Conformidad: requiere procedimiento y evidencia.</a:t>
            </a:r>
          </a:p>
        </p:txBody>
      </p:sp>
      <p:sp>
        <p:nvSpPr>
          <p:cNvPr id="5" name="side-panel-box">
            <a:extLst>
              <a:ext uri="{FF2B5EF4-FFF2-40B4-BE49-F238E27FC236}">
                <a16:creationId xmlns:a16="http://schemas.microsoft.com/office/drawing/2014/main" id="{7341E301-C8AB-479E-A806-4918AEA443EF}"/>
              </a:ext>
            </a:extLst>
          </p:cNvPr>
          <p:cNvSpPr>
            <a:spLocks noGrp="1"/>
          </p:cNvSpPr>
          <p:nvPr/>
        </p:nvSpPr>
        <p:spPr>
          <a:xfrm>
            <a:off x="7953375" y="1571625"/>
            <a:ext cx="3476625" cy="3381375"/>
          </a:xfrm>
          <a:prstGeom prst="roundRect">
            <a:avLst>
              <a:gd name="adj" fmla="val 3944"/>
            </a:avLst>
          </a:prstGeom>
          <a:solidFill>
            <a:srgbClr val="DDEFF5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6" name="side-panel-title">
            <a:extLst>
              <a:ext uri="{FF2B5EF4-FFF2-40B4-BE49-F238E27FC236}">
                <a16:creationId xmlns:a16="http://schemas.microsoft.com/office/drawing/2014/main" id="{77890749-8324-404C-AC04-1C25F7C3F499}"/>
              </a:ext>
            </a:extLst>
          </p:cNvPr>
          <p:cNvSpPr>
            <a:spLocks noGrp="1"/>
          </p:cNvSpPr>
          <p:nvPr/>
        </p:nvSpPr>
        <p:spPr>
          <a:xfrm>
            <a:off x="8124825" y="1704975"/>
            <a:ext cx="31337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Definición</a:t>
            </a:r>
          </a:p>
        </p:txBody>
      </p:sp>
      <p:sp>
        <p:nvSpPr>
          <p:cNvPr id="7" name="side-panel-body">
            <a:extLst>
              <a:ext uri="{FF2B5EF4-FFF2-40B4-BE49-F238E27FC236}">
                <a16:creationId xmlns:a16="http://schemas.microsoft.com/office/drawing/2014/main" id="{03126E94-3F2E-4890-A51E-ECB4AF54DCFA}"/>
              </a:ext>
            </a:extLst>
          </p:cNvPr>
          <p:cNvSpPr>
            <a:spLocks noGrp="1"/>
          </p:cNvSpPr>
          <p:nvPr/>
        </p:nvSpPr>
        <p:spPr>
          <a:xfrm>
            <a:off x="8124825" y="2085975"/>
            <a:ext cx="3133725" cy="2733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esquema conceptual; no reproducir tolerancias.</a:t>
            </a:r>
          </a:p>
        </p:txBody>
      </p:sp>
      <p:sp>
        <p:nvSpPr>
          <p:cNvPr id="8" name="caption">
            <a:extLst>
              <a:ext uri="{FF2B5EF4-FFF2-40B4-BE49-F238E27FC236}">
                <a16:creationId xmlns:a16="http://schemas.microsoft.com/office/drawing/2014/main" id="{4607057E-1EC6-4BB3-922F-FD96EA65EC29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876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Detalle normativo reservado hasta disponer de fuente completa.</a:t>
            </a:r>
          </a:p>
        </p:txBody>
      </p:sp>
      <p:sp>
        <p:nvSpPr>
          <p:cNvPr id="9" name="credit">
            <a:extLst>
              <a:ext uri="{FF2B5EF4-FFF2-40B4-BE49-F238E27FC236}">
                <a16:creationId xmlns:a16="http://schemas.microsoft.com/office/drawing/2014/main" id="{9B59CC99-DBF2-40E4-B04D-9D9E5166C4D2}"/>
              </a:ext>
            </a:extLst>
          </p:cNvPr>
          <p:cNvSpPr>
            <a:spLocks noGrp="1"/>
          </p:cNvSpPr>
          <p:nvPr/>
        </p:nvSpPr>
        <p:spPr>
          <a:xfrm>
            <a:off x="9382125" y="60769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IEC 61672-1 pendiente; OD-U05-21.</a:t>
            </a:r>
          </a:p>
        </p:txBody>
      </p:sp>
      <p:sp>
        <p:nvSpPr>
          <p:cNvPr id="11" name="slide-alt-summary" descr="Curva objetivo central se diferencia de una banda de aceptación conceptual.">
            <a:extLst>
              <a:ext uri="{FF2B5EF4-FFF2-40B4-BE49-F238E27FC236}">
                <a16:creationId xmlns:a16="http://schemas.microsoft.com/office/drawing/2014/main" id="{A98704FB-EF9B-0D5A-B334-5DA6F9619337}"/>
              </a:ext>
            </a:extLst>
          </p:cNvPr>
          <p:cNvSpPr/>
          <p:nvPr/>
        </p:nvSpPr>
        <p:spPr>
          <a:xfrm>
            <a:off x="12700" y="12700"/>
            <a:ext cx="12700" cy="12700"/>
          </a:xfrm>
          <a:prstGeom prst="rect">
            <a:avLst/>
          </a:prstGeom>
          <a:noFill/>
          <a:ln w="19050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yebrow">
            <a:extLst>
              <a:ext uri="{FF2B5EF4-FFF2-40B4-BE49-F238E27FC236}">
                <a16:creationId xmlns:a16="http://schemas.microsoft.com/office/drawing/2014/main" id="{580AB882-6E05-4747-B6E8-2A9C987DC44C}"/>
              </a:ext>
            </a:extLst>
          </p:cNvPr>
          <p:cNvSpPr>
            <a:spLocks noGrp="1"/>
          </p:cNvSpPr>
          <p:nvPr/>
        </p:nvSpPr>
        <p:spPr>
          <a:xfrm>
            <a:off x="514350" y="2095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116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9FBF0A5E-B850-4CD9-9B1E-3052736E2227}"/>
              </a:ext>
            </a:extLst>
          </p:cNvPr>
          <p:cNvSpPr>
            <a:spLocks noGrp="1"/>
          </p:cNvSpPr>
          <p:nvPr/>
        </p:nvSpPr>
        <p:spPr>
          <a:xfrm>
            <a:off x="495300" y="428625"/>
            <a:ext cx="11191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Hasta acá: filtro de medición, descriptor y límite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2239232A-6407-4287-B980-DE7FC562B056}"/>
              </a:ext>
            </a:extLst>
          </p:cNvPr>
          <p:cNvSpPr>
            <a:spLocks noGrp="1"/>
          </p:cNvSpPr>
          <p:nvPr/>
        </p:nvSpPr>
        <p:spPr>
          <a:xfrm>
            <a:off x="523875" y="971550"/>
            <a:ext cx="11001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A/C/Z no completan por sí solas una lectura.</a:t>
            </a:r>
          </a:p>
        </p:txBody>
      </p:sp>
      <p:sp>
        <p:nvSpPr>
          <p:cNvPr id="4" name="U05-DG-014-recap_object">
            <a:extLst>
              <a:ext uri="{FF2B5EF4-FFF2-40B4-BE49-F238E27FC236}">
                <a16:creationId xmlns:a16="http://schemas.microsoft.com/office/drawing/2014/main" id="{B18158C4-0382-4DF7-99B3-DC75DED40387}"/>
              </a:ext>
            </a:extLst>
          </p:cNvPr>
          <p:cNvSpPr>
            <a:spLocks noGrp="1"/>
          </p:cNvSpPr>
          <p:nvPr/>
        </p:nvSpPr>
        <p:spPr>
          <a:xfrm>
            <a:off x="857250" y="1714500"/>
            <a:ext cx="3048000" cy="1238250"/>
          </a:xfrm>
          <a:prstGeom prst="roundRect">
            <a:avLst>
              <a:gd name="adj" fmla="val 10769"/>
            </a:avLst>
          </a:prstGeom>
          <a:solidFill>
            <a:srgbClr val="EFF8FA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5" name="U05-DG-014-recap_object-title">
            <a:extLst>
              <a:ext uri="{FF2B5EF4-FFF2-40B4-BE49-F238E27FC236}">
                <a16:creationId xmlns:a16="http://schemas.microsoft.com/office/drawing/2014/main" id="{108E6CF9-CC4B-4633-B1C9-1655A3EC61B1}"/>
              </a:ext>
            </a:extLst>
          </p:cNvPr>
          <p:cNvSpPr>
            <a:spLocks noGrp="1"/>
          </p:cNvSpPr>
          <p:nvPr/>
        </p:nvSpPr>
        <p:spPr>
          <a:xfrm>
            <a:off x="1028700" y="1838325"/>
            <a:ext cx="27051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Objeto</a:t>
            </a:r>
          </a:p>
        </p:txBody>
      </p:sp>
      <p:sp>
        <p:nvSpPr>
          <p:cNvPr id="6" name="U05-DG-014-recap_object-body">
            <a:extLst>
              <a:ext uri="{FF2B5EF4-FFF2-40B4-BE49-F238E27FC236}">
                <a16:creationId xmlns:a16="http://schemas.microsoft.com/office/drawing/2014/main" id="{5B41442E-A45B-4D7B-B0AC-BEE1691AA53B}"/>
              </a:ext>
            </a:extLst>
          </p:cNvPr>
          <p:cNvSpPr>
            <a:spLocks noGrp="1"/>
          </p:cNvSpPr>
          <p:nvPr/>
        </p:nvSpPr>
        <p:spPr>
          <a:xfrm>
            <a:off x="1028700" y="2209800"/>
            <a:ext cx="27051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señal / sistema</a:t>
            </a:r>
          </a:p>
        </p:txBody>
      </p:sp>
      <p:sp>
        <p:nvSpPr>
          <p:cNvPr id="7" name="U05-DG-014-recap_axes">
            <a:extLst>
              <a:ext uri="{FF2B5EF4-FFF2-40B4-BE49-F238E27FC236}">
                <a16:creationId xmlns:a16="http://schemas.microsoft.com/office/drawing/2014/main" id="{22977B28-B27A-47B7-86D0-943EDC592953}"/>
              </a:ext>
            </a:extLst>
          </p:cNvPr>
          <p:cNvSpPr>
            <a:spLocks noGrp="1"/>
          </p:cNvSpPr>
          <p:nvPr/>
        </p:nvSpPr>
        <p:spPr>
          <a:xfrm>
            <a:off x="4572000" y="1714500"/>
            <a:ext cx="3048000" cy="1238250"/>
          </a:xfrm>
          <a:prstGeom prst="roundRect">
            <a:avLst>
              <a:gd name="adj" fmla="val 10769"/>
            </a:avLst>
          </a:prstGeom>
          <a:solidFill>
            <a:srgbClr val="F3F6F8"/>
          </a:solidFill>
          <a:ln w="19050">
            <a:solidFill>
              <a:srgbClr val="8291A3"/>
            </a:solidFill>
            <a:prstDash val="solid"/>
          </a:ln>
        </p:spPr>
      </p:sp>
      <p:sp>
        <p:nvSpPr>
          <p:cNvPr id="8" name="U05-DG-014-recap_axes-title">
            <a:extLst>
              <a:ext uri="{FF2B5EF4-FFF2-40B4-BE49-F238E27FC236}">
                <a16:creationId xmlns:a16="http://schemas.microsoft.com/office/drawing/2014/main" id="{AC0CB693-7EFA-4B01-BE1A-D400F2B1E4E8}"/>
              </a:ext>
            </a:extLst>
          </p:cNvPr>
          <p:cNvSpPr>
            <a:spLocks noGrp="1"/>
          </p:cNvSpPr>
          <p:nvPr/>
        </p:nvSpPr>
        <p:spPr>
          <a:xfrm>
            <a:off x="4743450" y="1838325"/>
            <a:ext cx="27051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Ejes</a:t>
            </a:r>
          </a:p>
        </p:txBody>
      </p:sp>
      <p:sp>
        <p:nvSpPr>
          <p:cNvPr id="9" name="U05-DG-014-recap_axes-body">
            <a:extLst>
              <a:ext uri="{FF2B5EF4-FFF2-40B4-BE49-F238E27FC236}">
                <a16:creationId xmlns:a16="http://schemas.microsoft.com/office/drawing/2014/main" id="{8F189572-235F-49D6-B9F8-41366048795A}"/>
              </a:ext>
            </a:extLst>
          </p:cNvPr>
          <p:cNvSpPr>
            <a:spLocks noGrp="1"/>
          </p:cNvSpPr>
          <p:nvPr/>
        </p:nvSpPr>
        <p:spPr>
          <a:xfrm>
            <a:off x="4743450" y="2209800"/>
            <a:ext cx="27051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t / f</a:t>
            </a:r>
          </a:p>
        </p:txBody>
      </p:sp>
      <p:sp>
        <p:nvSpPr>
          <p:cNvPr id="10" name="U05-DG-014-recap_units">
            <a:extLst>
              <a:ext uri="{FF2B5EF4-FFF2-40B4-BE49-F238E27FC236}">
                <a16:creationId xmlns:a16="http://schemas.microsoft.com/office/drawing/2014/main" id="{06BD3BEF-2CC1-481B-9A6B-890BBC7D5376}"/>
              </a:ext>
            </a:extLst>
          </p:cNvPr>
          <p:cNvSpPr>
            <a:spLocks noGrp="1"/>
          </p:cNvSpPr>
          <p:nvPr/>
        </p:nvSpPr>
        <p:spPr>
          <a:xfrm>
            <a:off x="8286750" y="1714500"/>
            <a:ext cx="3048000" cy="1238250"/>
          </a:xfrm>
          <a:prstGeom prst="roundRect">
            <a:avLst>
              <a:gd name="adj" fmla="val 10769"/>
            </a:avLst>
          </a:prstGeom>
          <a:solidFill>
            <a:srgbClr val="F3F6F8"/>
          </a:solidFill>
          <a:ln w="19050">
            <a:solidFill>
              <a:srgbClr val="8291A3"/>
            </a:solidFill>
            <a:prstDash val="solid"/>
          </a:ln>
        </p:spPr>
      </p:sp>
      <p:sp>
        <p:nvSpPr>
          <p:cNvPr id="11" name="U05-DG-014-recap_units-title">
            <a:extLst>
              <a:ext uri="{FF2B5EF4-FFF2-40B4-BE49-F238E27FC236}">
                <a16:creationId xmlns:a16="http://schemas.microsoft.com/office/drawing/2014/main" id="{6BC4AECC-00D9-4346-A6C5-E933BD651783}"/>
              </a:ext>
            </a:extLst>
          </p:cNvPr>
          <p:cNvSpPr>
            <a:spLocks noGrp="1"/>
          </p:cNvSpPr>
          <p:nvPr/>
        </p:nvSpPr>
        <p:spPr>
          <a:xfrm>
            <a:off x="8458200" y="1838325"/>
            <a:ext cx="27051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Unidades</a:t>
            </a:r>
          </a:p>
        </p:txBody>
      </p:sp>
      <p:sp>
        <p:nvSpPr>
          <p:cNvPr id="12" name="U05-DG-014-recap_units-body">
            <a:extLst>
              <a:ext uri="{FF2B5EF4-FFF2-40B4-BE49-F238E27FC236}">
                <a16:creationId xmlns:a16="http://schemas.microsoft.com/office/drawing/2014/main" id="{6C89A085-A0AB-4708-8F98-26ED7D85AF92}"/>
              </a:ext>
            </a:extLst>
          </p:cNvPr>
          <p:cNvSpPr>
            <a:spLocks noGrp="1"/>
          </p:cNvSpPr>
          <p:nvPr/>
        </p:nvSpPr>
        <p:spPr>
          <a:xfrm>
            <a:off x="8458200" y="2209800"/>
            <a:ext cx="27051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s · Hz · Pa · dB</a:t>
            </a:r>
          </a:p>
        </p:txBody>
      </p:sp>
      <p:sp>
        <p:nvSpPr>
          <p:cNvPr id="13" name="U05-DG-014-recap_params">
            <a:extLst>
              <a:ext uri="{FF2B5EF4-FFF2-40B4-BE49-F238E27FC236}">
                <a16:creationId xmlns:a16="http://schemas.microsoft.com/office/drawing/2014/main" id="{01895D2C-1021-4D00-9795-6427440DD90F}"/>
              </a:ext>
            </a:extLst>
          </p:cNvPr>
          <p:cNvSpPr>
            <a:spLocks noGrp="1"/>
          </p:cNvSpPr>
          <p:nvPr/>
        </p:nvSpPr>
        <p:spPr>
          <a:xfrm>
            <a:off x="2667000" y="3905250"/>
            <a:ext cx="3048000" cy="1238250"/>
          </a:xfrm>
          <a:prstGeom prst="roundRect">
            <a:avLst>
              <a:gd name="adj" fmla="val 10769"/>
            </a:avLst>
          </a:prstGeom>
          <a:solidFill>
            <a:srgbClr val="DDEFF5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14" name="U05-DG-014-recap_params-title">
            <a:extLst>
              <a:ext uri="{FF2B5EF4-FFF2-40B4-BE49-F238E27FC236}">
                <a16:creationId xmlns:a16="http://schemas.microsoft.com/office/drawing/2014/main" id="{5E4A4296-34C7-4239-B235-A20825D1A81D}"/>
              </a:ext>
            </a:extLst>
          </p:cNvPr>
          <p:cNvSpPr>
            <a:spLocks noGrp="1"/>
          </p:cNvSpPr>
          <p:nvPr/>
        </p:nvSpPr>
        <p:spPr>
          <a:xfrm>
            <a:off x="2838450" y="4029075"/>
            <a:ext cx="27051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Parámetros</a:t>
            </a:r>
          </a:p>
        </p:txBody>
      </p:sp>
      <p:sp>
        <p:nvSpPr>
          <p:cNvPr id="15" name="U05-DG-014-recap_params-body">
            <a:extLst>
              <a:ext uri="{FF2B5EF4-FFF2-40B4-BE49-F238E27FC236}">
                <a16:creationId xmlns:a16="http://schemas.microsoft.com/office/drawing/2014/main" id="{250BF920-FBEA-4B51-AFE4-F23535F0F62A}"/>
              </a:ext>
            </a:extLst>
          </p:cNvPr>
          <p:cNvSpPr>
            <a:spLocks noGrp="1"/>
          </p:cNvSpPr>
          <p:nvPr/>
        </p:nvSpPr>
        <p:spPr>
          <a:xfrm>
            <a:off x="2838450" y="4400550"/>
            <a:ext cx="27051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ventana · N · fₛ</a:t>
            </a:r>
          </a:p>
        </p:txBody>
      </p:sp>
      <p:sp>
        <p:nvSpPr>
          <p:cNvPr id="16" name="U05-DG-014-recap_limit">
            <a:extLst>
              <a:ext uri="{FF2B5EF4-FFF2-40B4-BE49-F238E27FC236}">
                <a16:creationId xmlns:a16="http://schemas.microsoft.com/office/drawing/2014/main" id="{04CC34EE-7178-46E8-8A1A-489E15B28749}"/>
              </a:ext>
            </a:extLst>
          </p:cNvPr>
          <p:cNvSpPr>
            <a:spLocks noGrp="1"/>
          </p:cNvSpPr>
          <p:nvPr/>
        </p:nvSpPr>
        <p:spPr>
          <a:xfrm>
            <a:off x="6477000" y="3905250"/>
            <a:ext cx="3048000" cy="1238250"/>
          </a:xfrm>
          <a:prstGeom prst="roundRect">
            <a:avLst>
              <a:gd name="adj" fmla="val 10769"/>
            </a:avLst>
          </a:prstGeom>
          <a:solidFill>
            <a:srgbClr val="E3F2ED"/>
          </a:solidFill>
          <a:ln w="19050">
            <a:solidFill>
              <a:srgbClr val="2D7867"/>
            </a:solidFill>
            <a:prstDash val="solid"/>
          </a:ln>
        </p:spPr>
      </p:sp>
      <p:sp>
        <p:nvSpPr>
          <p:cNvPr id="17" name="U05-DG-014-recap_limit-title">
            <a:extLst>
              <a:ext uri="{FF2B5EF4-FFF2-40B4-BE49-F238E27FC236}">
                <a16:creationId xmlns:a16="http://schemas.microsoft.com/office/drawing/2014/main" id="{E6089DEE-3868-4ED3-A98C-8F6E7F2EFE8A}"/>
              </a:ext>
            </a:extLst>
          </p:cNvPr>
          <p:cNvSpPr>
            <a:spLocks noGrp="1"/>
          </p:cNvSpPr>
          <p:nvPr/>
        </p:nvSpPr>
        <p:spPr>
          <a:xfrm>
            <a:off x="6648450" y="4029075"/>
            <a:ext cx="27051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Límite</a:t>
            </a:r>
          </a:p>
        </p:txBody>
      </p:sp>
      <p:sp>
        <p:nvSpPr>
          <p:cNvPr id="18" name="U05-DG-014-recap_limit-body">
            <a:extLst>
              <a:ext uri="{FF2B5EF4-FFF2-40B4-BE49-F238E27FC236}">
                <a16:creationId xmlns:a16="http://schemas.microsoft.com/office/drawing/2014/main" id="{BE6686F6-DCCE-43B6-8E6F-E48D67CB60C1}"/>
              </a:ext>
            </a:extLst>
          </p:cNvPr>
          <p:cNvSpPr>
            <a:spLocks noGrp="1"/>
          </p:cNvSpPr>
          <p:nvPr/>
        </p:nvSpPr>
        <p:spPr>
          <a:xfrm>
            <a:off x="6648450" y="4400550"/>
            <a:ext cx="27051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alcance declarado</a:t>
            </a:r>
          </a:p>
        </p:txBody>
      </p:sp>
      <p:sp>
        <p:nvSpPr>
          <p:cNvPr id="19" name="diagram-scale-note">
            <a:extLst>
              <a:ext uri="{FF2B5EF4-FFF2-40B4-BE49-F238E27FC236}">
                <a16:creationId xmlns:a16="http://schemas.microsoft.com/office/drawing/2014/main" id="{DD2E35D0-144E-421F-9E0E-997B53865D80}"/>
              </a:ext>
            </a:extLst>
          </p:cNvPr>
          <p:cNvSpPr>
            <a:spLocks noGrp="1"/>
          </p:cNvSpPr>
          <p:nvPr/>
        </p:nvSpPr>
        <p:spPr>
          <a:xfrm>
            <a:off x="552450" y="5829300"/>
            <a:ext cx="3905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05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Esquema conceptual · no está a escala</a:t>
            </a:r>
          </a:p>
        </p:txBody>
      </p:sp>
      <p:sp>
        <p:nvSpPr>
          <p:cNvPr id="20" name="caption">
            <a:extLst>
              <a:ext uri="{FF2B5EF4-FFF2-40B4-BE49-F238E27FC236}">
                <a16:creationId xmlns:a16="http://schemas.microsoft.com/office/drawing/2014/main" id="{036CEE41-99C3-449E-AD74-435D7994195D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876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El nombre completo del resultado conserva las decisiones de medición.</a:t>
            </a:r>
          </a:p>
        </p:txBody>
      </p:sp>
      <p:sp>
        <p:nvSpPr>
          <p:cNvPr id="21" name="credit">
            <a:extLst>
              <a:ext uri="{FF2B5EF4-FFF2-40B4-BE49-F238E27FC236}">
                <a16:creationId xmlns:a16="http://schemas.microsoft.com/office/drawing/2014/main" id="{60DD100E-3792-4077-9CF6-00AAEFF27B38}"/>
              </a:ext>
            </a:extLst>
          </p:cNvPr>
          <p:cNvSpPr>
            <a:spLocks noGrp="1"/>
          </p:cNvSpPr>
          <p:nvPr/>
        </p:nvSpPr>
        <p:spPr>
          <a:xfrm>
            <a:off x="9382125" y="60769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5.10.</a:t>
            </a:r>
          </a:p>
        </p:txBody>
      </p:sp>
      <p:sp>
        <p:nvSpPr>
          <p:cNvPr id="23" name="slide-alt-summary" descr="Cadena de medición recapitulada con ponderación, descriptor, intervalo y condiciones.">
            <a:extLst>
              <a:ext uri="{FF2B5EF4-FFF2-40B4-BE49-F238E27FC236}">
                <a16:creationId xmlns:a16="http://schemas.microsoft.com/office/drawing/2014/main" id="{41CB5102-CFF0-0973-1531-029E12CF0A9A}"/>
              </a:ext>
            </a:extLst>
          </p:cNvPr>
          <p:cNvSpPr/>
          <p:nvPr/>
        </p:nvSpPr>
        <p:spPr>
          <a:xfrm>
            <a:off x="12700" y="12700"/>
            <a:ext cx="12700" cy="12700"/>
          </a:xfrm>
          <a:prstGeom prst="rect">
            <a:avLst/>
          </a:prstGeom>
          <a:noFill/>
          <a:ln w="19050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20203634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yebrow">
            <a:extLst>
              <a:ext uri="{FF2B5EF4-FFF2-40B4-BE49-F238E27FC236}">
                <a16:creationId xmlns:a16="http://schemas.microsoft.com/office/drawing/2014/main" id="{B49FA5FE-F3FB-42ED-A5C0-C673AFBD0F3A}"/>
              </a:ext>
            </a:extLst>
          </p:cNvPr>
          <p:cNvSpPr>
            <a:spLocks noGrp="1"/>
          </p:cNvSpPr>
          <p:nvPr/>
        </p:nvSpPr>
        <p:spPr>
          <a:xfrm>
            <a:off x="514350" y="2095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1" i="0">
                <a:solidFill>
                  <a:srgbClr val="B9D8E7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B9D8E7"/>
                </a:solidFill>
                <a:latin typeface="Calibri"/>
                <a:ea typeface="Calibri"/>
                <a:cs typeface="Calibri"/>
              </a:rPr>
              <a:t>UNIDAD 5 · 117</a:t>
            </a:r>
          </a:p>
        </p:txBody>
      </p:sp>
      <p:sp>
        <p:nvSpPr>
          <p:cNvPr id="2" name="divider-title">
            <a:extLst>
              <a:ext uri="{FF2B5EF4-FFF2-40B4-BE49-F238E27FC236}">
                <a16:creationId xmlns:a16="http://schemas.microsoft.com/office/drawing/2014/main" id="{14D8350C-C517-46CC-870C-5358D5E1E333}"/>
              </a:ext>
            </a:extLst>
          </p:cNvPr>
          <p:cNvSpPr>
            <a:spLocks noGrp="1"/>
          </p:cNvSpPr>
          <p:nvPr/>
        </p:nvSpPr>
        <p:spPr>
          <a:xfrm>
            <a:off x="714375" y="2190750"/>
            <a:ext cx="104775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lnSpc>
                <a:spcPct val="102000"/>
              </a:lnSpc>
              <a:buNone/>
              <a:defRPr sz="4050" b="1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4050" b="1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Del micrófono al resultado informado</a:t>
            </a:r>
          </a:p>
        </p:txBody>
      </p:sp>
      <p:sp>
        <p:nvSpPr>
          <p:cNvPr id="3" name="divider-subtitle">
            <a:extLst>
              <a:ext uri="{FF2B5EF4-FFF2-40B4-BE49-F238E27FC236}">
                <a16:creationId xmlns:a16="http://schemas.microsoft.com/office/drawing/2014/main" id="{5BFF7F30-22B1-4E90-87AF-526EE3353CE6}"/>
              </a:ext>
            </a:extLst>
          </p:cNvPr>
          <p:cNvSpPr>
            <a:spLocks noGrp="1"/>
          </p:cNvSpPr>
          <p:nvPr/>
        </p:nvSpPr>
        <p:spPr>
          <a:xfrm>
            <a:off x="1714500" y="3429000"/>
            <a:ext cx="8763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100" b="0" i="0">
                <a:solidFill>
                  <a:srgbClr val="D6E4EA"/>
                </a:solidFill>
                <a:latin typeface="Calibri"/>
                <a:ea typeface="Calibri"/>
                <a:cs typeface="Calibri"/>
              </a:defRPr>
            </a:pPr>
            <a:r>
              <a:rPr sz="2100" b="0" i="0">
                <a:solidFill>
                  <a:srgbClr val="D6E4EA"/>
                </a:solidFill>
                <a:latin typeface="Calibri"/>
                <a:ea typeface="Calibri"/>
                <a:cs typeface="Calibri"/>
              </a:rPr>
              <a:t>Un sonómetro procesa presión local bajo una configuración declarada.</a:t>
            </a:r>
          </a:p>
        </p:txBody>
      </p:sp>
      <p:sp>
        <p:nvSpPr>
          <p:cNvPr id="4" name="divider-content">
            <a:extLst>
              <a:ext uri="{FF2B5EF4-FFF2-40B4-BE49-F238E27FC236}">
                <a16:creationId xmlns:a16="http://schemas.microsoft.com/office/drawing/2014/main" id="{DC805CEA-B975-42F5-87BC-193DE955EB23}"/>
              </a:ext>
            </a:extLst>
          </p:cNvPr>
          <p:cNvSpPr>
            <a:spLocks noGrp="1"/>
          </p:cNvSpPr>
          <p:nvPr/>
        </p:nvSpPr>
        <p:spPr>
          <a:xfrm>
            <a:off x="2190750" y="4333875"/>
            <a:ext cx="781050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ctr">
              <a:lnSpc>
                <a:spcPct val="102000"/>
              </a:lnSpc>
              <a:buNone/>
              <a:defRPr sz="1875" b="0" i="0">
                <a:solidFill>
                  <a:srgbClr val="BDD0DA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BDD0DA"/>
                </a:solidFill>
                <a:latin typeface="Calibri"/>
                <a:ea typeface="Calibri"/>
                <a:cs typeface="Calibri"/>
              </a:rPr>
              <a:t>Transducción · Procesamiento · Integración · Informe.</a:t>
            </a:r>
          </a:p>
        </p:txBody>
      </p:sp>
      <p:sp>
        <p:nvSpPr>
          <p:cNvPr id="6" name="slide-alt-summary" descr="Cadena funcional agrupa seis etapas en transducción, procesamiento e informe.">
            <a:extLst>
              <a:ext uri="{FF2B5EF4-FFF2-40B4-BE49-F238E27FC236}">
                <a16:creationId xmlns:a16="http://schemas.microsoft.com/office/drawing/2014/main" id="{1B791699-5871-BF0B-494D-1911254EA3EB}"/>
              </a:ext>
            </a:extLst>
          </p:cNvPr>
          <p:cNvSpPr/>
          <p:nvPr/>
        </p:nvSpPr>
        <p:spPr>
          <a:xfrm>
            <a:off x="12700" y="12700"/>
            <a:ext cx="12700" cy="12700"/>
          </a:xfrm>
          <a:prstGeom prst="rect">
            <a:avLst/>
          </a:prstGeom>
          <a:noFill/>
          <a:ln w="19050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64902343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yebrow">
            <a:extLst>
              <a:ext uri="{FF2B5EF4-FFF2-40B4-BE49-F238E27FC236}">
                <a16:creationId xmlns:a16="http://schemas.microsoft.com/office/drawing/2014/main" id="{20684A49-7DD2-433B-BF3C-00B7DFB4EAC0}"/>
              </a:ext>
            </a:extLst>
          </p:cNvPr>
          <p:cNvSpPr>
            <a:spLocks noGrp="1"/>
          </p:cNvSpPr>
          <p:nvPr/>
        </p:nvSpPr>
        <p:spPr>
          <a:xfrm>
            <a:off x="514350" y="2095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118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663C7C25-BBA5-4783-96DD-0D2B9BAE6518}"/>
              </a:ext>
            </a:extLst>
          </p:cNvPr>
          <p:cNvSpPr>
            <a:spLocks noGrp="1"/>
          </p:cNvSpPr>
          <p:nvPr/>
        </p:nvSpPr>
        <p:spPr>
          <a:xfrm>
            <a:off x="495300" y="428625"/>
            <a:ext cx="11191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Sonómetro, micrófono y calibrador cumplen funciones distintas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B2B1AEE1-7B62-40E4-B9E0-7C2A66BBA50A}"/>
              </a:ext>
            </a:extLst>
          </p:cNvPr>
          <p:cNvSpPr>
            <a:spLocks noGrp="1"/>
          </p:cNvSpPr>
          <p:nvPr/>
        </p:nvSpPr>
        <p:spPr>
          <a:xfrm>
            <a:off x="523875" y="971550"/>
            <a:ext cx="11001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Reconocer componentes no demuestra clase ni conformidad.</a:t>
            </a:r>
          </a:p>
        </p:txBody>
      </p:sp>
      <p:pic>
        <p:nvPicPr>
          <p:cNvPr id="14" name="Imagen 13" descr="Esquema de sonómetro identifica micrófono, cuerpo y calibrador con sus funciones.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094019" y="1381125"/>
            <a:ext cx="1907962" cy="4238625"/>
          </a:xfrm>
          <a:prstGeom prst="roundRect">
            <a:avLst>
              <a:gd name="adj" fmla="val 3596"/>
            </a:avLst>
          </a:prstGeom>
        </p:spPr>
      </p:pic>
      <p:sp>
        <p:nvSpPr>
          <p:cNvPr id="5" name="external-image-text-box">
            <a:extLst>
              <a:ext uri="{FF2B5EF4-FFF2-40B4-BE49-F238E27FC236}">
                <a16:creationId xmlns:a16="http://schemas.microsoft.com/office/drawing/2014/main" id="{E0DEDBFB-3065-4DE7-A03A-60982B84263C}"/>
              </a:ext>
            </a:extLst>
          </p:cNvPr>
          <p:cNvSpPr>
            <a:spLocks noGrp="1"/>
          </p:cNvSpPr>
          <p:nvPr/>
        </p:nvSpPr>
        <p:spPr>
          <a:xfrm>
            <a:off x="6572250" y="1476375"/>
            <a:ext cx="4762500" cy="3381375"/>
          </a:xfrm>
          <a:prstGeom prst="roundRect">
            <a:avLst>
              <a:gd name="adj" fmla="val 3944"/>
            </a:avLst>
          </a:prstGeom>
          <a:solidFill>
            <a:srgbClr val="E3F2ED"/>
          </a:solidFill>
          <a:ln w="19050">
            <a:solidFill>
              <a:srgbClr val="2D7867"/>
            </a:solidFill>
            <a:prstDash val="solid"/>
          </a:ln>
        </p:spPr>
      </p:sp>
      <p:sp>
        <p:nvSpPr>
          <p:cNvPr id="6" name="external-image-text-title">
            <a:extLst>
              <a:ext uri="{FF2B5EF4-FFF2-40B4-BE49-F238E27FC236}">
                <a16:creationId xmlns:a16="http://schemas.microsoft.com/office/drawing/2014/main" id="{FA807B2D-6D04-4070-8D46-DDF999D526AC}"/>
              </a:ext>
            </a:extLst>
          </p:cNvPr>
          <p:cNvSpPr>
            <a:spLocks noGrp="1"/>
          </p:cNvSpPr>
          <p:nvPr/>
        </p:nvSpPr>
        <p:spPr>
          <a:xfrm>
            <a:off x="6743700" y="1609725"/>
            <a:ext cx="4419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Funciones distintas</a:t>
            </a:r>
          </a:p>
        </p:txBody>
      </p:sp>
      <p:sp>
        <p:nvSpPr>
          <p:cNvPr id="7" name="external-image-text-body">
            <a:extLst>
              <a:ext uri="{FF2B5EF4-FFF2-40B4-BE49-F238E27FC236}">
                <a16:creationId xmlns:a16="http://schemas.microsoft.com/office/drawing/2014/main" id="{653A2B1D-A84C-4F4E-9C29-98B9BAE33ED7}"/>
              </a:ext>
            </a:extLst>
          </p:cNvPr>
          <p:cNvSpPr>
            <a:spLocks noGrp="1"/>
          </p:cNvSpPr>
          <p:nvPr/>
        </p:nvSpPr>
        <p:spPr>
          <a:xfrm>
            <a:off x="6743700" y="1990725"/>
            <a:ext cx="4419600" cy="2733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02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02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Micrófono: transduce presión. Cuerpo: acondiciona, procesa e informa. Calibrador acústico: aporta una señal de referencia para una comprobación definida.</a:t>
            </a:r>
          </a:p>
        </p:txBody>
      </p:sp>
      <p:sp>
        <p:nvSpPr>
          <p:cNvPr id="8" name="photo-credit">
            <a:extLst>
              <a:ext uri="{FF2B5EF4-FFF2-40B4-BE49-F238E27FC236}">
                <a16:creationId xmlns:a16="http://schemas.microsoft.com/office/drawing/2014/main" id="{90C3E26F-1A74-4397-9CBA-ED82FD122EA1}"/>
              </a:ext>
            </a:extLst>
          </p:cNvPr>
          <p:cNvSpPr>
            <a:spLocks noGrp="1"/>
          </p:cNvSpPr>
          <p:nvPr/>
        </p:nvSpPr>
        <p:spPr>
          <a:xfrm>
            <a:off x="666750" y="5686425"/>
            <a:ext cx="58102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05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Foto: Harke · dominio público · Wikimedia Commons</a:t>
            </a:r>
          </a:p>
        </p:txBody>
      </p:sp>
      <p:sp>
        <p:nvSpPr>
          <p:cNvPr id="9" name="caption">
            <a:extLst>
              <a:ext uri="{FF2B5EF4-FFF2-40B4-BE49-F238E27FC236}">
                <a16:creationId xmlns:a16="http://schemas.microsoft.com/office/drawing/2014/main" id="{FEF6B337-CEA7-4931-8E6F-DAE024264F4F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876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Fotografía o equipo real sujeto a fuente, licencia y disponibilidad.</a:t>
            </a:r>
          </a:p>
        </p:txBody>
      </p:sp>
      <p:sp>
        <p:nvSpPr>
          <p:cNvPr id="10" name="credit">
            <a:extLst>
              <a:ext uri="{FF2B5EF4-FFF2-40B4-BE49-F238E27FC236}">
                <a16:creationId xmlns:a16="http://schemas.microsoft.com/office/drawing/2014/main" id="{A8CBCA35-CAA5-4D62-A7E2-FAC5FC0A0776}"/>
              </a:ext>
            </a:extLst>
          </p:cNvPr>
          <p:cNvSpPr>
            <a:spLocks noGrp="1"/>
          </p:cNvSpPr>
          <p:nvPr/>
        </p:nvSpPr>
        <p:spPr>
          <a:xfrm>
            <a:off x="9382125" y="60769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5.11.3.</a:t>
            </a:r>
          </a:p>
        </p:txBody>
      </p:sp>
      <p:sp>
        <p:nvSpPr>
          <p:cNvPr id="4" name="slide-alt-summary" descr="Esquema de sonómetro identifica micrófono, cuerpo y calibrador con sus funciones.">
            <a:extLst>
              <a:ext uri="{FF2B5EF4-FFF2-40B4-BE49-F238E27FC236}">
                <a16:creationId xmlns:a16="http://schemas.microsoft.com/office/drawing/2014/main" id="{A0F95360-9E65-1F10-49CF-499642D6353B}"/>
              </a:ext>
            </a:extLst>
          </p:cNvPr>
          <p:cNvSpPr/>
          <p:nvPr/>
        </p:nvSpPr>
        <p:spPr>
          <a:xfrm>
            <a:off x="12700" y="12700"/>
            <a:ext cx="12700" cy="12700"/>
          </a:xfrm>
          <a:prstGeom prst="rect">
            <a:avLst/>
          </a:prstGeom>
          <a:noFill/>
          <a:ln w="19050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87263069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eyebrow">
            <a:extLst>
              <a:ext uri="{FF2B5EF4-FFF2-40B4-BE49-F238E27FC236}">
                <a16:creationId xmlns:a16="http://schemas.microsoft.com/office/drawing/2014/main" id="{3DBCA206-9372-405B-A953-D910A0693A43}"/>
              </a:ext>
            </a:extLst>
          </p:cNvPr>
          <p:cNvSpPr>
            <a:spLocks noGrp="1"/>
          </p:cNvSpPr>
          <p:nvPr/>
        </p:nvSpPr>
        <p:spPr>
          <a:xfrm>
            <a:off x="514350" y="2095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119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633E901C-3051-4687-AA94-133D327944F8}"/>
              </a:ext>
            </a:extLst>
          </p:cNvPr>
          <p:cNvSpPr>
            <a:spLocks noGrp="1"/>
          </p:cNvSpPr>
          <p:nvPr/>
        </p:nvSpPr>
        <p:spPr>
          <a:xfrm>
            <a:off x="495300" y="428625"/>
            <a:ext cx="11191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La presión existe antes de que aparezca un número en pantalla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CE75236A-DDEF-4099-8D6A-CCCAB91E0CF7}"/>
              </a:ext>
            </a:extLst>
          </p:cNvPr>
          <p:cNvSpPr>
            <a:spLocks noGrp="1"/>
          </p:cNvSpPr>
          <p:nvPr/>
        </p:nvSpPr>
        <p:spPr>
          <a:xfrm>
            <a:off x="523875" y="971550"/>
            <a:ext cx="11001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La cadena cambia representación, no el fenómeno ya ocurrido.</a:t>
            </a:r>
          </a:p>
        </p:txBody>
      </p:sp>
      <p:sp>
        <p:nvSpPr>
          <p:cNvPr id="4" name="U05-DG-012-meter_mic">
            <a:extLst>
              <a:ext uri="{FF2B5EF4-FFF2-40B4-BE49-F238E27FC236}">
                <a16:creationId xmlns:a16="http://schemas.microsoft.com/office/drawing/2014/main" id="{C9CD154E-795D-4CA2-B449-99B1BBA4F125}"/>
              </a:ext>
            </a:extLst>
          </p:cNvPr>
          <p:cNvSpPr>
            <a:spLocks noGrp="1"/>
          </p:cNvSpPr>
          <p:nvPr/>
        </p:nvSpPr>
        <p:spPr>
          <a:xfrm>
            <a:off x="857250" y="1476375"/>
            <a:ext cx="2857500" cy="1238250"/>
          </a:xfrm>
          <a:prstGeom prst="roundRect">
            <a:avLst>
              <a:gd name="adj" fmla="val 10769"/>
            </a:avLst>
          </a:prstGeom>
          <a:solidFill>
            <a:srgbClr val="EFF8FA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5" name="U05-DG-012-meter_mic-title">
            <a:extLst>
              <a:ext uri="{FF2B5EF4-FFF2-40B4-BE49-F238E27FC236}">
                <a16:creationId xmlns:a16="http://schemas.microsoft.com/office/drawing/2014/main" id="{C42046CD-2E14-461A-B2C4-F58AB7905A9B}"/>
              </a:ext>
            </a:extLst>
          </p:cNvPr>
          <p:cNvSpPr>
            <a:spLocks noGrp="1"/>
          </p:cNvSpPr>
          <p:nvPr/>
        </p:nvSpPr>
        <p:spPr>
          <a:xfrm>
            <a:off x="1028700" y="1600200"/>
            <a:ext cx="25146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1 · Micrófono</a:t>
            </a:r>
          </a:p>
        </p:txBody>
      </p:sp>
      <p:sp>
        <p:nvSpPr>
          <p:cNvPr id="6" name="U05-DG-012-meter_mic-body">
            <a:extLst>
              <a:ext uri="{FF2B5EF4-FFF2-40B4-BE49-F238E27FC236}">
                <a16:creationId xmlns:a16="http://schemas.microsoft.com/office/drawing/2014/main" id="{89094470-3A15-4BE7-92EA-21383FB12989}"/>
              </a:ext>
            </a:extLst>
          </p:cNvPr>
          <p:cNvSpPr>
            <a:spLocks noGrp="1"/>
          </p:cNvSpPr>
          <p:nvPr/>
        </p:nvSpPr>
        <p:spPr>
          <a:xfrm>
            <a:off x="1028700" y="1971675"/>
            <a:ext cx="25146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p(t) en Pa</a:t>
            </a:r>
          </a:p>
        </p:txBody>
      </p:sp>
      <p:sp>
        <p:nvSpPr>
          <p:cNvPr id="7" name="U05-DG-012-meter_pre">
            <a:extLst>
              <a:ext uri="{FF2B5EF4-FFF2-40B4-BE49-F238E27FC236}">
                <a16:creationId xmlns:a16="http://schemas.microsoft.com/office/drawing/2014/main" id="{3AE845B2-8056-4ADA-AB5C-B82AF1C98E0E}"/>
              </a:ext>
            </a:extLst>
          </p:cNvPr>
          <p:cNvSpPr>
            <a:spLocks noGrp="1"/>
          </p:cNvSpPr>
          <p:nvPr/>
        </p:nvSpPr>
        <p:spPr>
          <a:xfrm>
            <a:off x="4667250" y="1476375"/>
            <a:ext cx="2857500" cy="1238250"/>
          </a:xfrm>
          <a:prstGeom prst="roundRect">
            <a:avLst>
              <a:gd name="adj" fmla="val 10769"/>
            </a:avLst>
          </a:prstGeom>
          <a:solidFill>
            <a:srgbClr val="F3F6F8"/>
          </a:solidFill>
          <a:ln w="19050">
            <a:solidFill>
              <a:srgbClr val="8291A3"/>
            </a:solidFill>
            <a:prstDash val="solid"/>
          </a:ln>
        </p:spPr>
      </p:sp>
      <p:sp>
        <p:nvSpPr>
          <p:cNvPr id="8" name="U05-DG-012-meter_pre-title">
            <a:extLst>
              <a:ext uri="{FF2B5EF4-FFF2-40B4-BE49-F238E27FC236}">
                <a16:creationId xmlns:a16="http://schemas.microsoft.com/office/drawing/2014/main" id="{B3E16494-1EC5-49A2-AC16-30E3F83676D7}"/>
              </a:ext>
            </a:extLst>
          </p:cNvPr>
          <p:cNvSpPr>
            <a:spLocks noGrp="1"/>
          </p:cNvSpPr>
          <p:nvPr/>
        </p:nvSpPr>
        <p:spPr>
          <a:xfrm>
            <a:off x="4838700" y="1600200"/>
            <a:ext cx="25146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2 · Conversión</a:t>
            </a:r>
          </a:p>
        </p:txBody>
      </p:sp>
      <p:sp>
        <p:nvSpPr>
          <p:cNvPr id="9" name="U05-DG-012-meter_pre-body">
            <a:extLst>
              <a:ext uri="{FF2B5EF4-FFF2-40B4-BE49-F238E27FC236}">
                <a16:creationId xmlns:a16="http://schemas.microsoft.com/office/drawing/2014/main" id="{7A53E26D-51EB-4399-999A-B1ACCCC87387}"/>
              </a:ext>
            </a:extLst>
          </p:cNvPr>
          <p:cNvSpPr>
            <a:spLocks noGrp="1"/>
          </p:cNvSpPr>
          <p:nvPr/>
        </p:nvSpPr>
        <p:spPr>
          <a:xfrm>
            <a:off x="4838700" y="1971675"/>
            <a:ext cx="25146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señal digital</a:t>
            </a:r>
          </a:p>
        </p:txBody>
      </p:sp>
      <p:sp>
        <p:nvSpPr>
          <p:cNvPr id="10" name="U05-DG-012-meter_freq">
            <a:extLst>
              <a:ext uri="{FF2B5EF4-FFF2-40B4-BE49-F238E27FC236}">
                <a16:creationId xmlns:a16="http://schemas.microsoft.com/office/drawing/2014/main" id="{BD3E54EB-2F54-4590-9F85-4213F134D060}"/>
              </a:ext>
            </a:extLst>
          </p:cNvPr>
          <p:cNvSpPr>
            <a:spLocks noGrp="1"/>
          </p:cNvSpPr>
          <p:nvPr/>
        </p:nvSpPr>
        <p:spPr>
          <a:xfrm>
            <a:off x="8477250" y="1476375"/>
            <a:ext cx="2857500" cy="1238250"/>
          </a:xfrm>
          <a:prstGeom prst="roundRect">
            <a:avLst>
              <a:gd name="adj" fmla="val 10769"/>
            </a:avLst>
          </a:prstGeom>
          <a:solidFill>
            <a:srgbClr val="DDEFF5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11" name="U05-DG-012-meter_freq-title">
            <a:extLst>
              <a:ext uri="{FF2B5EF4-FFF2-40B4-BE49-F238E27FC236}">
                <a16:creationId xmlns:a16="http://schemas.microsoft.com/office/drawing/2014/main" id="{122F4D58-ADF5-43BF-A575-7D034403265E}"/>
              </a:ext>
            </a:extLst>
          </p:cNvPr>
          <p:cNvSpPr>
            <a:spLocks noGrp="1"/>
          </p:cNvSpPr>
          <p:nvPr/>
        </p:nvSpPr>
        <p:spPr>
          <a:xfrm>
            <a:off x="8648700" y="1600200"/>
            <a:ext cx="25146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3 · Ponderación</a:t>
            </a:r>
          </a:p>
        </p:txBody>
      </p:sp>
      <p:sp>
        <p:nvSpPr>
          <p:cNvPr id="12" name="U05-DG-012-meter_freq-body">
            <a:extLst>
              <a:ext uri="{FF2B5EF4-FFF2-40B4-BE49-F238E27FC236}">
                <a16:creationId xmlns:a16="http://schemas.microsoft.com/office/drawing/2014/main" id="{0C9622F6-7F6F-4FDE-A65C-CBA46F5F0175}"/>
              </a:ext>
            </a:extLst>
          </p:cNvPr>
          <p:cNvSpPr>
            <a:spLocks noGrp="1"/>
          </p:cNvSpPr>
          <p:nvPr/>
        </p:nvSpPr>
        <p:spPr>
          <a:xfrm>
            <a:off x="8648700" y="1971675"/>
            <a:ext cx="25146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A · C · Z</a:t>
            </a:r>
          </a:p>
        </p:txBody>
      </p:sp>
      <p:sp>
        <p:nvSpPr>
          <p:cNvPr id="13" name="U05-DG-012-meter_detect">
            <a:extLst>
              <a:ext uri="{FF2B5EF4-FFF2-40B4-BE49-F238E27FC236}">
                <a16:creationId xmlns:a16="http://schemas.microsoft.com/office/drawing/2014/main" id="{68ABB6BE-4AEE-4542-9820-36A389977D1B}"/>
              </a:ext>
            </a:extLst>
          </p:cNvPr>
          <p:cNvSpPr>
            <a:spLocks noGrp="1"/>
          </p:cNvSpPr>
          <p:nvPr/>
        </p:nvSpPr>
        <p:spPr>
          <a:xfrm>
            <a:off x="8477250" y="3714750"/>
            <a:ext cx="2857500" cy="1238250"/>
          </a:xfrm>
          <a:prstGeom prst="roundRect">
            <a:avLst>
              <a:gd name="adj" fmla="val 10769"/>
            </a:avLst>
          </a:prstGeom>
          <a:solidFill>
            <a:srgbClr val="F3F6F8"/>
          </a:solidFill>
          <a:ln w="19050">
            <a:solidFill>
              <a:srgbClr val="8291A3"/>
            </a:solidFill>
            <a:prstDash val="solid"/>
          </a:ln>
        </p:spPr>
      </p:sp>
      <p:sp>
        <p:nvSpPr>
          <p:cNvPr id="14" name="U05-DG-012-meter_detect-title">
            <a:extLst>
              <a:ext uri="{FF2B5EF4-FFF2-40B4-BE49-F238E27FC236}">
                <a16:creationId xmlns:a16="http://schemas.microsoft.com/office/drawing/2014/main" id="{13025868-6087-45F8-9E43-40ABFB5180F8}"/>
              </a:ext>
            </a:extLst>
          </p:cNvPr>
          <p:cNvSpPr>
            <a:spLocks noGrp="1"/>
          </p:cNvSpPr>
          <p:nvPr/>
        </p:nvSpPr>
        <p:spPr>
          <a:xfrm>
            <a:off x="8648700" y="3838575"/>
            <a:ext cx="25146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4 · Detector</a:t>
            </a:r>
          </a:p>
        </p:txBody>
      </p:sp>
      <p:sp>
        <p:nvSpPr>
          <p:cNvPr id="15" name="U05-DG-012-meter_detect-body">
            <a:extLst>
              <a:ext uri="{FF2B5EF4-FFF2-40B4-BE49-F238E27FC236}">
                <a16:creationId xmlns:a16="http://schemas.microsoft.com/office/drawing/2014/main" id="{7A326D0E-0E20-4636-8274-9CC476DA6EAD}"/>
              </a:ext>
            </a:extLst>
          </p:cNvPr>
          <p:cNvSpPr>
            <a:spLocks noGrp="1"/>
          </p:cNvSpPr>
          <p:nvPr/>
        </p:nvSpPr>
        <p:spPr>
          <a:xfrm>
            <a:off x="8648700" y="4210050"/>
            <a:ext cx="25146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RMS o pico</a:t>
            </a:r>
          </a:p>
        </p:txBody>
      </p:sp>
      <p:sp>
        <p:nvSpPr>
          <p:cNvPr id="16" name="U05-DG-012-meter_time">
            <a:extLst>
              <a:ext uri="{FF2B5EF4-FFF2-40B4-BE49-F238E27FC236}">
                <a16:creationId xmlns:a16="http://schemas.microsoft.com/office/drawing/2014/main" id="{AE8E0251-2C47-44CC-8D72-38A31612F8F6}"/>
              </a:ext>
            </a:extLst>
          </p:cNvPr>
          <p:cNvSpPr>
            <a:spLocks noGrp="1"/>
          </p:cNvSpPr>
          <p:nvPr/>
        </p:nvSpPr>
        <p:spPr>
          <a:xfrm>
            <a:off x="4667250" y="3714750"/>
            <a:ext cx="2857500" cy="1238250"/>
          </a:xfrm>
          <a:prstGeom prst="roundRect">
            <a:avLst>
              <a:gd name="adj" fmla="val 10769"/>
            </a:avLst>
          </a:prstGeom>
          <a:solidFill>
            <a:srgbClr val="E3F2ED"/>
          </a:solidFill>
          <a:ln w="19050">
            <a:solidFill>
              <a:srgbClr val="2D7867"/>
            </a:solidFill>
            <a:prstDash val="solid"/>
          </a:ln>
        </p:spPr>
      </p:sp>
      <p:sp>
        <p:nvSpPr>
          <p:cNvPr id="17" name="U05-DG-012-meter_time-title">
            <a:extLst>
              <a:ext uri="{FF2B5EF4-FFF2-40B4-BE49-F238E27FC236}">
                <a16:creationId xmlns:a16="http://schemas.microsoft.com/office/drawing/2014/main" id="{6FBA631E-4299-44FC-9598-0E087273AC32}"/>
              </a:ext>
            </a:extLst>
          </p:cNvPr>
          <p:cNvSpPr>
            <a:spLocks noGrp="1"/>
          </p:cNvSpPr>
          <p:nvPr/>
        </p:nvSpPr>
        <p:spPr>
          <a:xfrm>
            <a:off x="4838700" y="3838575"/>
            <a:ext cx="25146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5 · Temporal</a:t>
            </a:r>
          </a:p>
        </p:txBody>
      </p:sp>
      <p:sp>
        <p:nvSpPr>
          <p:cNvPr id="18" name="U05-DG-012-meter_time-body">
            <a:extLst>
              <a:ext uri="{FF2B5EF4-FFF2-40B4-BE49-F238E27FC236}">
                <a16:creationId xmlns:a16="http://schemas.microsoft.com/office/drawing/2014/main" id="{3A559090-123F-4370-A70D-24FAA04DEA42}"/>
              </a:ext>
            </a:extLst>
          </p:cNvPr>
          <p:cNvSpPr>
            <a:spLocks noGrp="1"/>
          </p:cNvSpPr>
          <p:nvPr/>
        </p:nvSpPr>
        <p:spPr>
          <a:xfrm>
            <a:off x="4838700" y="4210050"/>
            <a:ext cx="25146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F o S</a:t>
            </a:r>
          </a:p>
        </p:txBody>
      </p:sp>
      <p:sp>
        <p:nvSpPr>
          <p:cNvPr id="19" name="U05-DG-012-meter_report">
            <a:extLst>
              <a:ext uri="{FF2B5EF4-FFF2-40B4-BE49-F238E27FC236}">
                <a16:creationId xmlns:a16="http://schemas.microsoft.com/office/drawing/2014/main" id="{A94EB774-F800-4DFC-B933-DDEB63EE0EA7}"/>
              </a:ext>
            </a:extLst>
          </p:cNvPr>
          <p:cNvSpPr>
            <a:spLocks noGrp="1"/>
          </p:cNvSpPr>
          <p:nvPr/>
        </p:nvSpPr>
        <p:spPr>
          <a:xfrm>
            <a:off x="857250" y="3714750"/>
            <a:ext cx="2857500" cy="1238250"/>
          </a:xfrm>
          <a:prstGeom prst="roundRect">
            <a:avLst>
              <a:gd name="adj" fmla="val 10769"/>
            </a:avLst>
          </a:prstGeom>
          <a:solidFill>
            <a:srgbClr val="E3F2ED"/>
          </a:solidFill>
          <a:ln w="19050">
            <a:solidFill>
              <a:srgbClr val="2D7867"/>
            </a:solidFill>
            <a:prstDash val="solid"/>
          </a:ln>
        </p:spPr>
      </p:sp>
      <p:sp>
        <p:nvSpPr>
          <p:cNvPr id="20" name="U05-DG-012-meter_report-title">
            <a:extLst>
              <a:ext uri="{FF2B5EF4-FFF2-40B4-BE49-F238E27FC236}">
                <a16:creationId xmlns:a16="http://schemas.microsoft.com/office/drawing/2014/main" id="{FEC4AA3A-7C45-456F-87F6-45E6C153DA0E}"/>
              </a:ext>
            </a:extLst>
          </p:cNvPr>
          <p:cNvSpPr>
            <a:spLocks noGrp="1"/>
          </p:cNvSpPr>
          <p:nvPr/>
        </p:nvSpPr>
        <p:spPr>
          <a:xfrm>
            <a:off x="1028700" y="3838575"/>
            <a:ext cx="25146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6 · Informe</a:t>
            </a:r>
          </a:p>
        </p:txBody>
      </p:sp>
      <p:sp>
        <p:nvSpPr>
          <p:cNvPr id="21" name="U05-DG-012-meter_report-body">
            <a:extLst>
              <a:ext uri="{FF2B5EF4-FFF2-40B4-BE49-F238E27FC236}">
                <a16:creationId xmlns:a16="http://schemas.microsoft.com/office/drawing/2014/main" id="{BA214FED-36B5-4882-8EA4-E08CC17BA24C}"/>
              </a:ext>
            </a:extLst>
          </p:cNvPr>
          <p:cNvSpPr>
            <a:spLocks noGrp="1"/>
          </p:cNvSpPr>
          <p:nvPr/>
        </p:nvSpPr>
        <p:spPr>
          <a:xfrm>
            <a:off x="1028700" y="4210050"/>
            <a:ext cx="25146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magnitud · T</a:t>
            </a:r>
          </a:p>
        </p:txBody>
      </p:sp>
      <p:cxnSp>
        <p:nvCxnSpPr>
          <p:cNvPr id="51" name="U05-DG-012-meter_1"/>
          <p:cNvCxnSpPr>
            <a:stCxn id="4" idx="3"/>
            <a:endCxn id="7" idx="1"/>
          </p:cNvCxnSpPr>
          <p:nvPr/>
        </p:nvCxnSpPr>
        <p:spPr>
          <a:xfrm>
            <a:off x="3714750" y="2095500"/>
            <a:ext cx="952500" cy="0"/>
          </a:xfrm>
          <a:prstGeom prst="straightConnector1">
            <a:avLst/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cxnSp>
        <p:nvCxnSpPr>
          <p:cNvPr id="52" name="U05-DG-012-meter_2"/>
          <p:cNvCxnSpPr>
            <a:stCxn id="7" idx="3"/>
            <a:endCxn id="10" idx="1"/>
          </p:cNvCxnSpPr>
          <p:nvPr/>
        </p:nvCxnSpPr>
        <p:spPr>
          <a:xfrm>
            <a:off x="7524750" y="2095500"/>
            <a:ext cx="952500" cy="0"/>
          </a:xfrm>
          <a:prstGeom prst="straightConnector1">
            <a:avLst/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cxnSp>
        <p:nvCxnSpPr>
          <p:cNvPr id="53" name="U05-DG-012-meter_3"/>
          <p:cNvCxnSpPr>
            <a:stCxn id="10" idx="2"/>
            <a:endCxn id="13" idx="0"/>
          </p:cNvCxnSpPr>
          <p:nvPr/>
        </p:nvCxnSpPr>
        <p:spPr>
          <a:xfrm>
            <a:off x="9906000" y="2714625"/>
            <a:ext cx="0" cy="1000125"/>
          </a:xfrm>
          <a:prstGeom prst="straightConnector1">
            <a:avLst/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cxnSp>
        <p:nvCxnSpPr>
          <p:cNvPr id="54" name="U05-DG-012-meter_4"/>
          <p:cNvCxnSpPr>
            <a:stCxn id="13" idx="1"/>
            <a:endCxn id="16" idx="3"/>
          </p:cNvCxnSpPr>
          <p:nvPr/>
        </p:nvCxnSpPr>
        <p:spPr>
          <a:xfrm flipH="1">
            <a:off x="7524750" y="4333875"/>
            <a:ext cx="952500" cy="0"/>
          </a:xfrm>
          <a:prstGeom prst="straightConnector1">
            <a:avLst/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cxnSp>
        <p:nvCxnSpPr>
          <p:cNvPr id="55" name="U05-DG-012-meter_5"/>
          <p:cNvCxnSpPr>
            <a:stCxn id="16" idx="1"/>
            <a:endCxn id="19" idx="3"/>
          </p:cNvCxnSpPr>
          <p:nvPr/>
        </p:nvCxnSpPr>
        <p:spPr>
          <a:xfrm flipH="1">
            <a:off x="3714750" y="4333875"/>
            <a:ext cx="952500" cy="0"/>
          </a:xfrm>
          <a:prstGeom prst="straightConnector1">
            <a:avLst/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sp>
        <p:nvSpPr>
          <p:cNvPr id="27" name="diagram-scale-note">
            <a:extLst>
              <a:ext uri="{FF2B5EF4-FFF2-40B4-BE49-F238E27FC236}">
                <a16:creationId xmlns:a16="http://schemas.microsoft.com/office/drawing/2014/main" id="{A8B42AA4-A6AF-45CC-AB13-6ABED39472C6}"/>
              </a:ext>
            </a:extLst>
          </p:cNvPr>
          <p:cNvSpPr>
            <a:spLocks noGrp="1"/>
          </p:cNvSpPr>
          <p:nvPr/>
        </p:nvSpPr>
        <p:spPr>
          <a:xfrm>
            <a:off x="552450" y="5829300"/>
            <a:ext cx="3905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05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Esquema conceptual · no está a escala</a:t>
            </a:r>
          </a:p>
        </p:txBody>
      </p:sp>
      <p:sp>
        <p:nvSpPr>
          <p:cNvPr id="28" name="caption">
            <a:extLst>
              <a:ext uri="{FF2B5EF4-FFF2-40B4-BE49-F238E27FC236}">
                <a16:creationId xmlns:a16="http://schemas.microsoft.com/office/drawing/2014/main" id="{439C8699-FFCB-48FA-BFA6-FBC46F764128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876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Cada etapa debe conservar su función y configuración.</a:t>
            </a:r>
          </a:p>
        </p:txBody>
      </p:sp>
      <p:sp>
        <p:nvSpPr>
          <p:cNvPr id="29" name="credit">
            <a:extLst>
              <a:ext uri="{FF2B5EF4-FFF2-40B4-BE49-F238E27FC236}">
                <a16:creationId xmlns:a16="http://schemas.microsoft.com/office/drawing/2014/main" id="{C374D303-90AF-4775-A382-8D69C9BD01BF}"/>
              </a:ext>
            </a:extLst>
          </p:cNvPr>
          <p:cNvSpPr>
            <a:spLocks noGrp="1"/>
          </p:cNvSpPr>
          <p:nvPr/>
        </p:nvSpPr>
        <p:spPr>
          <a:xfrm>
            <a:off x="9382125" y="60769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fig. 5.8.</a:t>
            </a:r>
          </a:p>
        </p:txBody>
      </p:sp>
      <p:sp>
        <p:nvSpPr>
          <p:cNvPr id="22" name="slide-alt-summary" descr="Seis cajas en dos filas siguen el recorrido desde presión acústica hasta informe.">
            <a:extLst>
              <a:ext uri="{FF2B5EF4-FFF2-40B4-BE49-F238E27FC236}">
                <a16:creationId xmlns:a16="http://schemas.microsoft.com/office/drawing/2014/main" id="{EDF4DFB9-1396-81C1-E434-42F26BF6CB73}"/>
              </a:ext>
            </a:extLst>
          </p:cNvPr>
          <p:cNvSpPr/>
          <p:nvPr/>
        </p:nvSpPr>
        <p:spPr>
          <a:xfrm>
            <a:off x="12700" y="12700"/>
            <a:ext cx="12700" cy="12700"/>
          </a:xfrm>
          <a:prstGeom prst="rect">
            <a:avLst/>
          </a:prstGeom>
          <a:noFill/>
          <a:ln w="19050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95449240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eyebrow">
            <a:extLst>
              <a:ext uri="{FF2B5EF4-FFF2-40B4-BE49-F238E27FC236}">
                <a16:creationId xmlns:a16="http://schemas.microsoft.com/office/drawing/2014/main" id="{F76FB393-CD5F-4E2A-BB29-29A0DC0C4D8A}"/>
              </a:ext>
            </a:extLst>
          </p:cNvPr>
          <p:cNvSpPr>
            <a:spLocks noGrp="1"/>
          </p:cNvSpPr>
          <p:nvPr/>
        </p:nvSpPr>
        <p:spPr>
          <a:xfrm>
            <a:off x="514350" y="2095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120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EEA321E2-F3BC-4859-88C0-6111F19951E0}"/>
              </a:ext>
            </a:extLst>
          </p:cNvPr>
          <p:cNvSpPr>
            <a:spLocks noGrp="1"/>
          </p:cNvSpPr>
          <p:nvPr/>
        </p:nvSpPr>
        <p:spPr>
          <a:xfrm>
            <a:off x="495300" y="428625"/>
            <a:ext cx="11191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El nivel equivalente conserva la media cuadrática del intervalo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8D486DC4-7CAA-4ACA-B16C-D0FE25577F67}"/>
              </a:ext>
            </a:extLst>
          </p:cNvPr>
          <p:cNvSpPr>
            <a:spLocks noGrp="1"/>
          </p:cNvSpPr>
          <p:nvPr/>
        </p:nvSpPr>
        <p:spPr>
          <a:xfrm>
            <a:off x="523875" y="971550"/>
            <a:ext cx="11001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Un nivel constante equivalente representa la misma contribución energética media.</a:t>
            </a:r>
          </a:p>
        </p:txBody>
      </p:sp>
      <p:sp>
        <p:nvSpPr>
          <p:cNvPr id="4" name="U05-DG-012-meter_mic">
            <a:extLst>
              <a:ext uri="{FF2B5EF4-FFF2-40B4-BE49-F238E27FC236}">
                <a16:creationId xmlns:a16="http://schemas.microsoft.com/office/drawing/2014/main" id="{A241B92B-0EAB-49C0-A643-77E66D5890A8}"/>
              </a:ext>
            </a:extLst>
          </p:cNvPr>
          <p:cNvSpPr>
            <a:spLocks noGrp="1"/>
          </p:cNvSpPr>
          <p:nvPr/>
        </p:nvSpPr>
        <p:spPr>
          <a:xfrm>
            <a:off x="857250" y="1476375"/>
            <a:ext cx="2857500" cy="1238250"/>
          </a:xfrm>
          <a:prstGeom prst="roundRect">
            <a:avLst>
              <a:gd name="adj" fmla="val 10769"/>
            </a:avLst>
          </a:prstGeom>
          <a:solidFill>
            <a:srgbClr val="EFF8FA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5" name="U05-DG-012-meter_mic-title">
            <a:extLst>
              <a:ext uri="{FF2B5EF4-FFF2-40B4-BE49-F238E27FC236}">
                <a16:creationId xmlns:a16="http://schemas.microsoft.com/office/drawing/2014/main" id="{06F0EB6D-DBB2-431B-B5C8-AFAAF0F0143D}"/>
              </a:ext>
            </a:extLst>
          </p:cNvPr>
          <p:cNvSpPr>
            <a:spLocks noGrp="1"/>
          </p:cNvSpPr>
          <p:nvPr/>
        </p:nvSpPr>
        <p:spPr>
          <a:xfrm>
            <a:off x="1028700" y="1600200"/>
            <a:ext cx="25146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1 · Micrófono</a:t>
            </a:r>
          </a:p>
        </p:txBody>
      </p:sp>
      <p:sp>
        <p:nvSpPr>
          <p:cNvPr id="6" name="U05-DG-012-meter_mic-body">
            <a:extLst>
              <a:ext uri="{FF2B5EF4-FFF2-40B4-BE49-F238E27FC236}">
                <a16:creationId xmlns:a16="http://schemas.microsoft.com/office/drawing/2014/main" id="{257F4062-352A-479A-8A26-7039148EA7D1}"/>
              </a:ext>
            </a:extLst>
          </p:cNvPr>
          <p:cNvSpPr>
            <a:spLocks noGrp="1"/>
          </p:cNvSpPr>
          <p:nvPr/>
        </p:nvSpPr>
        <p:spPr>
          <a:xfrm>
            <a:off x="1028700" y="1971675"/>
            <a:ext cx="25146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p(t) en Pa</a:t>
            </a:r>
          </a:p>
        </p:txBody>
      </p:sp>
      <p:sp>
        <p:nvSpPr>
          <p:cNvPr id="7" name="U05-DG-012-meter_pre">
            <a:extLst>
              <a:ext uri="{FF2B5EF4-FFF2-40B4-BE49-F238E27FC236}">
                <a16:creationId xmlns:a16="http://schemas.microsoft.com/office/drawing/2014/main" id="{512DB080-1E76-48C5-AFAA-33483093C6F7}"/>
              </a:ext>
            </a:extLst>
          </p:cNvPr>
          <p:cNvSpPr>
            <a:spLocks noGrp="1"/>
          </p:cNvSpPr>
          <p:nvPr/>
        </p:nvSpPr>
        <p:spPr>
          <a:xfrm>
            <a:off x="4667250" y="1476375"/>
            <a:ext cx="2857500" cy="1238250"/>
          </a:xfrm>
          <a:prstGeom prst="roundRect">
            <a:avLst>
              <a:gd name="adj" fmla="val 10769"/>
            </a:avLst>
          </a:prstGeom>
          <a:solidFill>
            <a:srgbClr val="F3F6F8"/>
          </a:solidFill>
          <a:ln w="19050">
            <a:solidFill>
              <a:srgbClr val="8291A3"/>
            </a:solidFill>
            <a:prstDash val="solid"/>
          </a:ln>
        </p:spPr>
      </p:sp>
      <p:sp>
        <p:nvSpPr>
          <p:cNvPr id="8" name="U05-DG-012-meter_pre-title">
            <a:extLst>
              <a:ext uri="{FF2B5EF4-FFF2-40B4-BE49-F238E27FC236}">
                <a16:creationId xmlns:a16="http://schemas.microsoft.com/office/drawing/2014/main" id="{A434E2F6-9EA4-4D2F-8147-8D7DB92FE8B9}"/>
              </a:ext>
            </a:extLst>
          </p:cNvPr>
          <p:cNvSpPr>
            <a:spLocks noGrp="1"/>
          </p:cNvSpPr>
          <p:nvPr/>
        </p:nvSpPr>
        <p:spPr>
          <a:xfrm>
            <a:off x="4838700" y="1600200"/>
            <a:ext cx="25146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2 · Conversión</a:t>
            </a:r>
          </a:p>
        </p:txBody>
      </p:sp>
      <p:sp>
        <p:nvSpPr>
          <p:cNvPr id="9" name="U05-DG-012-meter_pre-body">
            <a:extLst>
              <a:ext uri="{FF2B5EF4-FFF2-40B4-BE49-F238E27FC236}">
                <a16:creationId xmlns:a16="http://schemas.microsoft.com/office/drawing/2014/main" id="{5E452DB1-291A-455D-B8EC-E44387FCE5AE}"/>
              </a:ext>
            </a:extLst>
          </p:cNvPr>
          <p:cNvSpPr>
            <a:spLocks noGrp="1"/>
          </p:cNvSpPr>
          <p:nvPr/>
        </p:nvSpPr>
        <p:spPr>
          <a:xfrm>
            <a:off x="4838700" y="1971675"/>
            <a:ext cx="25146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señal digital</a:t>
            </a:r>
          </a:p>
        </p:txBody>
      </p:sp>
      <p:sp>
        <p:nvSpPr>
          <p:cNvPr id="10" name="U05-DG-012-meter_freq">
            <a:extLst>
              <a:ext uri="{FF2B5EF4-FFF2-40B4-BE49-F238E27FC236}">
                <a16:creationId xmlns:a16="http://schemas.microsoft.com/office/drawing/2014/main" id="{3A1608F6-401A-4D6D-8E90-0D5D847F0AD7}"/>
              </a:ext>
            </a:extLst>
          </p:cNvPr>
          <p:cNvSpPr>
            <a:spLocks noGrp="1"/>
          </p:cNvSpPr>
          <p:nvPr/>
        </p:nvSpPr>
        <p:spPr>
          <a:xfrm>
            <a:off x="8477250" y="1476375"/>
            <a:ext cx="2857500" cy="1238250"/>
          </a:xfrm>
          <a:prstGeom prst="roundRect">
            <a:avLst>
              <a:gd name="adj" fmla="val 10769"/>
            </a:avLst>
          </a:prstGeom>
          <a:solidFill>
            <a:srgbClr val="DDEFF5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11" name="U05-DG-012-meter_freq-title">
            <a:extLst>
              <a:ext uri="{FF2B5EF4-FFF2-40B4-BE49-F238E27FC236}">
                <a16:creationId xmlns:a16="http://schemas.microsoft.com/office/drawing/2014/main" id="{4CB1C762-C7D0-4933-A9CC-007B87AE7674}"/>
              </a:ext>
            </a:extLst>
          </p:cNvPr>
          <p:cNvSpPr>
            <a:spLocks noGrp="1"/>
          </p:cNvSpPr>
          <p:nvPr/>
        </p:nvSpPr>
        <p:spPr>
          <a:xfrm>
            <a:off x="8648700" y="1600200"/>
            <a:ext cx="25146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3 · Ponderación</a:t>
            </a:r>
          </a:p>
        </p:txBody>
      </p:sp>
      <p:sp>
        <p:nvSpPr>
          <p:cNvPr id="12" name="U05-DG-012-meter_freq-body">
            <a:extLst>
              <a:ext uri="{FF2B5EF4-FFF2-40B4-BE49-F238E27FC236}">
                <a16:creationId xmlns:a16="http://schemas.microsoft.com/office/drawing/2014/main" id="{C7990DA2-CD33-43CD-A7DE-FEF73B086308}"/>
              </a:ext>
            </a:extLst>
          </p:cNvPr>
          <p:cNvSpPr>
            <a:spLocks noGrp="1"/>
          </p:cNvSpPr>
          <p:nvPr/>
        </p:nvSpPr>
        <p:spPr>
          <a:xfrm>
            <a:off x="8648700" y="1971675"/>
            <a:ext cx="25146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A · C · Z</a:t>
            </a:r>
          </a:p>
        </p:txBody>
      </p:sp>
      <p:sp>
        <p:nvSpPr>
          <p:cNvPr id="13" name="U05-DG-012-meter_detect">
            <a:extLst>
              <a:ext uri="{FF2B5EF4-FFF2-40B4-BE49-F238E27FC236}">
                <a16:creationId xmlns:a16="http://schemas.microsoft.com/office/drawing/2014/main" id="{30CF2615-79B8-43DF-8664-5D8A34981864}"/>
              </a:ext>
            </a:extLst>
          </p:cNvPr>
          <p:cNvSpPr>
            <a:spLocks noGrp="1"/>
          </p:cNvSpPr>
          <p:nvPr/>
        </p:nvSpPr>
        <p:spPr>
          <a:xfrm>
            <a:off x="8477250" y="3714750"/>
            <a:ext cx="2857500" cy="1238250"/>
          </a:xfrm>
          <a:prstGeom prst="roundRect">
            <a:avLst>
              <a:gd name="adj" fmla="val 10769"/>
            </a:avLst>
          </a:prstGeom>
          <a:solidFill>
            <a:srgbClr val="F3F6F8"/>
          </a:solidFill>
          <a:ln w="19050">
            <a:solidFill>
              <a:srgbClr val="8291A3"/>
            </a:solidFill>
            <a:prstDash val="solid"/>
          </a:ln>
        </p:spPr>
      </p:sp>
      <p:sp>
        <p:nvSpPr>
          <p:cNvPr id="14" name="U05-DG-012-meter_detect-title">
            <a:extLst>
              <a:ext uri="{FF2B5EF4-FFF2-40B4-BE49-F238E27FC236}">
                <a16:creationId xmlns:a16="http://schemas.microsoft.com/office/drawing/2014/main" id="{A46B7DB1-CB71-4F91-BBBB-288FD8A8CF9B}"/>
              </a:ext>
            </a:extLst>
          </p:cNvPr>
          <p:cNvSpPr>
            <a:spLocks noGrp="1"/>
          </p:cNvSpPr>
          <p:nvPr/>
        </p:nvSpPr>
        <p:spPr>
          <a:xfrm>
            <a:off x="8648700" y="3838575"/>
            <a:ext cx="25146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4 · Detector</a:t>
            </a:r>
          </a:p>
        </p:txBody>
      </p:sp>
      <p:sp>
        <p:nvSpPr>
          <p:cNvPr id="15" name="U05-DG-012-meter_detect-body">
            <a:extLst>
              <a:ext uri="{FF2B5EF4-FFF2-40B4-BE49-F238E27FC236}">
                <a16:creationId xmlns:a16="http://schemas.microsoft.com/office/drawing/2014/main" id="{459CADD7-A7C6-4691-880C-A28F417AED14}"/>
              </a:ext>
            </a:extLst>
          </p:cNvPr>
          <p:cNvSpPr>
            <a:spLocks noGrp="1"/>
          </p:cNvSpPr>
          <p:nvPr/>
        </p:nvSpPr>
        <p:spPr>
          <a:xfrm>
            <a:off x="8648700" y="4210050"/>
            <a:ext cx="25146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RMS o pico</a:t>
            </a:r>
          </a:p>
        </p:txBody>
      </p:sp>
      <p:sp>
        <p:nvSpPr>
          <p:cNvPr id="16" name="U05-DG-012-meter_time">
            <a:extLst>
              <a:ext uri="{FF2B5EF4-FFF2-40B4-BE49-F238E27FC236}">
                <a16:creationId xmlns:a16="http://schemas.microsoft.com/office/drawing/2014/main" id="{94DD5F54-770A-40B3-A469-3541BD90DD89}"/>
              </a:ext>
            </a:extLst>
          </p:cNvPr>
          <p:cNvSpPr>
            <a:spLocks noGrp="1"/>
          </p:cNvSpPr>
          <p:nvPr/>
        </p:nvSpPr>
        <p:spPr>
          <a:xfrm>
            <a:off x="4667250" y="3714750"/>
            <a:ext cx="2857500" cy="1238250"/>
          </a:xfrm>
          <a:prstGeom prst="roundRect">
            <a:avLst>
              <a:gd name="adj" fmla="val 10769"/>
            </a:avLst>
          </a:prstGeom>
          <a:solidFill>
            <a:srgbClr val="E3F2ED"/>
          </a:solidFill>
          <a:ln w="19050">
            <a:solidFill>
              <a:srgbClr val="2D7867"/>
            </a:solidFill>
            <a:prstDash val="solid"/>
          </a:ln>
        </p:spPr>
      </p:sp>
      <p:sp>
        <p:nvSpPr>
          <p:cNvPr id="17" name="U05-DG-012-meter_time-title">
            <a:extLst>
              <a:ext uri="{FF2B5EF4-FFF2-40B4-BE49-F238E27FC236}">
                <a16:creationId xmlns:a16="http://schemas.microsoft.com/office/drawing/2014/main" id="{BC0EFF63-297E-44B3-9E58-AE67749B3C5A}"/>
              </a:ext>
            </a:extLst>
          </p:cNvPr>
          <p:cNvSpPr>
            <a:spLocks noGrp="1"/>
          </p:cNvSpPr>
          <p:nvPr/>
        </p:nvSpPr>
        <p:spPr>
          <a:xfrm>
            <a:off x="4838700" y="3838575"/>
            <a:ext cx="25146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5 · Temporal</a:t>
            </a:r>
          </a:p>
        </p:txBody>
      </p:sp>
      <p:sp>
        <p:nvSpPr>
          <p:cNvPr id="18" name="U05-DG-012-meter_time-body">
            <a:extLst>
              <a:ext uri="{FF2B5EF4-FFF2-40B4-BE49-F238E27FC236}">
                <a16:creationId xmlns:a16="http://schemas.microsoft.com/office/drawing/2014/main" id="{D13F7897-F80F-45C5-8DC1-EE13F5746AF6}"/>
              </a:ext>
            </a:extLst>
          </p:cNvPr>
          <p:cNvSpPr>
            <a:spLocks noGrp="1"/>
          </p:cNvSpPr>
          <p:nvPr/>
        </p:nvSpPr>
        <p:spPr>
          <a:xfrm>
            <a:off x="4838700" y="4210050"/>
            <a:ext cx="25146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F o S</a:t>
            </a:r>
          </a:p>
        </p:txBody>
      </p:sp>
      <p:sp>
        <p:nvSpPr>
          <p:cNvPr id="19" name="U05-DG-012-meter_report">
            <a:extLst>
              <a:ext uri="{FF2B5EF4-FFF2-40B4-BE49-F238E27FC236}">
                <a16:creationId xmlns:a16="http://schemas.microsoft.com/office/drawing/2014/main" id="{B69BC243-2E7E-49FE-91C3-8C3663B14CB2}"/>
              </a:ext>
            </a:extLst>
          </p:cNvPr>
          <p:cNvSpPr>
            <a:spLocks noGrp="1"/>
          </p:cNvSpPr>
          <p:nvPr/>
        </p:nvSpPr>
        <p:spPr>
          <a:xfrm>
            <a:off x="857250" y="3714750"/>
            <a:ext cx="2857500" cy="1238250"/>
          </a:xfrm>
          <a:prstGeom prst="roundRect">
            <a:avLst>
              <a:gd name="adj" fmla="val 10769"/>
            </a:avLst>
          </a:prstGeom>
          <a:solidFill>
            <a:srgbClr val="E3F2ED"/>
          </a:solidFill>
          <a:ln w="19050">
            <a:solidFill>
              <a:srgbClr val="2D7867"/>
            </a:solidFill>
            <a:prstDash val="solid"/>
          </a:ln>
        </p:spPr>
      </p:sp>
      <p:sp>
        <p:nvSpPr>
          <p:cNvPr id="20" name="U05-DG-012-meter_report-title">
            <a:extLst>
              <a:ext uri="{FF2B5EF4-FFF2-40B4-BE49-F238E27FC236}">
                <a16:creationId xmlns:a16="http://schemas.microsoft.com/office/drawing/2014/main" id="{ADC9185B-8256-493A-9C2A-A22CC8595F4B}"/>
              </a:ext>
            </a:extLst>
          </p:cNvPr>
          <p:cNvSpPr>
            <a:spLocks noGrp="1"/>
          </p:cNvSpPr>
          <p:nvPr/>
        </p:nvSpPr>
        <p:spPr>
          <a:xfrm>
            <a:off x="1028700" y="3838575"/>
            <a:ext cx="25146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6 · Informe</a:t>
            </a:r>
          </a:p>
        </p:txBody>
      </p:sp>
      <p:sp>
        <p:nvSpPr>
          <p:cNvPr id="21" name="U05-DG-012-meter_report-body">
            <a:extLst>
              <a:ext uri="{FF2B5EF4-FFF2-40B4-BE49-F238E27FC236}">
                <a16:creationId xmlns:a16="http://schemas.microsoft.com/office/drawing/2014/main" id="{A1CA53F1-5987-42FE-BE90-6282D8250C49}"/>
              </a:ext>
            </a:extLst>
          </p:cNvPr>
          <p:cNvSpPr>
            <a:spLocks noGrp="1"/>
          </p:cNvSpPr>
          <p:nvPr/>
        </p:nvSpPr>
        <p:spPr>
          <a:xfrm>
            <a:off x="1028700" y="4210050"/>
            <a:ext cx="25146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magnitud · T</a:t>
            </a:r>
          </a:p>
        </p:txBody>
      </p:sp>
      <p:cxnSp>
        <p:nvCxnSpPr>
          <p:cNvPr id="51" name="U05-DG-012-meter_1"/>
          <p:cNvCxnSpPr>
            <a:stCxn id="4" idx="3"/>
            <a:endCxn id="7" idx="1"/>
          </p:cNvCxnSpPr>
          <p:nvPr/>
        </p:nvCxnSpPr>
        <p:spPr>
          <a:xfrm>
            <a:off x="3714750" y="2095500"/>
            <a:ext cx="952500" cy="0"/>
          </a:xfrm>
          <a:prstGeom prst="straightConnector1">
            <a:avLst/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cxnSp>
        <p:nvCxnSpPr>
          <p:cNvPr id="52" name="U05-DG-012-meter_2"/>
          <p:cNvCxnSpPr>
            <a:stCxn id="7" idx="3"/>
            <a:endCxn id="10" idx="1"/>
          </p:cNvCxnSpPr>
          <p:nvPr/>
        </p:nvCxnSpPr>
        <p:spPr>
          <a:xfrm>
            <a:off x="7524750" y="2095500"/>
            <a:ext cx="952500" cy="0"/>
          </a:xfrm>
          <a:prstGeom prst="straightConnector1">
            <a:avLst/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cxnSp>
        <p:nvCxnSpPr>
          <p:cNvPr id="53" name="U05-DG-012-meter_3"/>
          <p:cNvCxnSpPr>
            <a:stCxn id="10" idx="2"/>
            <a:endCxn id="13" idx="0"/>
          </p:cNvCxnSpPr>
          <p:nvPr/>
        </p:nvCxnSpPr>
        <p:spPr>
          <a:xfrm>
            <a:off x="9906000" y="2714625"/>
            <a:ext cx="0" cy="1000125"/>
          </a:xfrm>
          <a:prstGeom prst="straightConnector1">
            <a:avLst/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cxnSp>
        <p:nvCxnSpPr>
          <p:cNvPr id="54" name="U05-DG-012-meter_4"/>
          <p:cNvCxnSpPr>
            <a:stCxn id="13" idx="1"/>
            <a:endCxn id="16" idx="3"/>
          </p:cNvCxnSpPr>
          <p:nvPr/>
        </p:nvCxnSpPr>
        <p:spPr>
          <a:xfrm flipH="1">
            <a:off x="7524750" y="4333875"/>
            <a:ext cx="952500" cy="0"/>
          </a:xfrm>
          <a:prstGeom prst="straightConnector1">
            <a:avLst/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cxnSp>
        <p:nvCxnSpPr>
          <p:cNvPr id="55" name="U05-DG-012-meter_5"/>
          <p:cNvCxnSpPr>
            <a:stCxn id="16" idx="1"/>
            <a:endCxn id="19" idx="3"/>
          </p:cNvCxnSpPr>
          <p:nvPr/>
        </p:nvCxnSpPr>
        <p:spPr>
          <a:xfrm flipH="1">
            <a:off x="3714750" y="4333875"/>
            <a:ext cx="952500" cy="0"/>
          </a:xfrm>
          <a:prstGeom prst="straightConnector1">
            <a:avLst/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sp>
        <p:nvSpPr>
          <p:cNvPr id="27" name="diagram-scale-note">
            <a:extLst>
              <a:ext uri="{FF2B5EF4-FFF2-40B4-BE49-F238E27FC236}">
                <a16:creationId xmlns:a16="http://schemas.microsoft.com/office/drawing/2014/main" id="{2142287C-4763-4183-A959-97034962BDC9}"/>
              </a:ext>
            </a:extLst>
          </p:cNvPr>
          <p:cNvSpPr>
            <a:spLocks noGrp="1"/>
          </p:cNvSpPr>
          <p:nvPr/>
        </p:nvSpPr>
        <p:spPr>
          <a:xfrm>
            <a:off x="552450" y="5829300"/>
            <a:ext cx="3905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05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Esquema conceptual · no está a escala</a:t>
            </a:r>
          </a:p>
        </p:txBody>
      </p:sp>
      <p:sp>
        <p:nvSpPr>
          <p:cNvPr id="28" name="caption">
            <a:extLst>
              <a:ext uri="{FF2B5EF4-FFF2-40B4-BE49-F238E27FC236}">
                <a16:creationId xmlns:a16="http://schemas.microsoft.com/office/drawing/2014/main" id="{6F9A6109-D8F7-4022-8D02-809B8CF1F88E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876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La intuición proviene del RMS estudiado en U4.</a:t>
            </a:r>
          </a:p>
        </p:txBody>
      </p:sp>
      <p:sp>
        <p:nvSpPr>
          <p:cNvPr id="29" name="credit">
            <a:extLst>
              <a:ext uri="{FF2B5EF4-FFF2-40B4-BE49-F238E27FC236}">
                <a16:creationId xmlns:a16="http://schemas.microsoft.com/office/drawing/2014/main" id="{9396B985-A932-4608-9193-A7634CCD756C}"/>
              </a:ext>
            </a:extLst>
          </p:cNvPr>
          <p:cNvSpPr>
            <a:spLocks noGrp="1"/>
          </p:cNvSpPr>
          <p:nvPr/>
        </p:nvSpPr>
        <p:spPr>
          <a:xfrm>
            <a:off x="9382125" y="60769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5.11.1; GLO.</a:t>
            </a:r>
          </a:p>
        </p:txBody>
      </p:sp>
      <p:sp>
        <p:nvSpPr>
          <p:cNvPr id="22" name="slide-alt-summary" descr="Señal variable entra a un bloque de promedio cuadrático y produce un nivel constante equivalente.">
            <a:extLst>
              <a:ext uri="{FF2B5EF4-FFF2-40B4-BE49-F238E27FC236}">
                <a16:creationId xmlns:a16="http://schemas.microsoft.com/office/drawing/2014/main" id="{71AADB0A-2C27-B3AA-FF36-FD664B813C3F}"/>
              </a:ext>
            </a:extLst>
          </p:cNvPr>
          <p:cNvSpPr/>
          <p:nvPr/>
        </p:nvSpPr>
        <p:spPr>
          <a:xfrm>
            <a:off x="12700" y="12700"/>
            <a:ext cx="12700" cy="12700"/>
          </a:xfrm>
          <a:prstGeom prst="rect">
            <a:avLst/>
          </a:prstGeom>
          <a:noFill/>
          <a:ln w="19050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86630461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yebrow">
            <a:extLst>
              <a:ext uri="{FF2B5EF4-FFF2-40B4-BE49-F238E27FC236}">
                <a16:creationId xmlns:a16="http://schemas.microsoft.com/office/drawing/2014/main" id="{4915571C-274F-446A-B22F-197D3C70A31B}"/>
              </a:ext>
            </a:extLst>
          </p:cNvPr>
          <p:cNvSpPr>
            <a:spLocks noGrp="1"/>
          </p:cNvSpPr>
          <p:nvPr/>
        </p:nvSpPr>
        <p:spPr>
          <a:xfrm>
            <a:off x="514350" y="2095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121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F25826F9-8AEE-4586-9208-F3F892163879}"/>
              </a:ext>
            </a:extLst>
          </p:cNvPr>
          <p:cNvSpPr>
            <a:spLocks noGrp="1"/>
          </p:cNvSpPr>
          <p:nvPr/>
        </p:nvSpPr>
        <p:spPr>
          <a:xfrm>
            <a:off x="495300" y="428625"/>
            <a:ext cx="11191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70 dB y 80 dB no promedian 75 dB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9D48E340-C484-41B5-ADA9-092BDC2EDFE7}"/>
              </a:ext>
            </a:extLst>
          </p:cNvPr>
          <p:cNvSpPr>
            <a:spLocks noGrp="1"/>
          </p:cNvSpPr>
          <p:nvPr/>
        </p:nvSpPr>
        <p:spPr>
          <a:xfrm>
            <a:off x="523875" y="971550"/>
            <a:ext cx="11001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Para tiempos iguales, domina el tramo de mayor energía.</a:t>
            </a:r>
          </a:p>
        </p:txBody>
      </p:sp>
      <p:pic>
        <p:nvPicPr>
          <p:cNvPr id="13" name="Gráfico 1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457200" y="1381125"/>
            <a:ext cx="7524750" cy="4429125"/>
          </a:xfrm>
          <a:prstGeom prst="rect">
            <a:avLst/>
          </a:prstGeom>
        </p:spPr>
      </p:pic>
      <p:sp>
        <p:nvSpPr>
          <p:cNvPr id="5" name="chart-reading-box">
            <a:extLst>
              <a:ext uri="{FF2B5EF4-FFF2-40B4-BE49-F238E27FC236}">
                <a16:creationId xmlns:a16="http://schemas.microsoft.com/office/drawing/2014/main" id="{36B9CE0C-8D2F-4E02-843B-40AE6B482FA2}"/>
              </a:ext>
            </a:extLst>
          </p:cNvPr>
          <p:cNvSpPr>
            <a:spLocks noGrp="1"/>
          </p:cNvSpPr>
          <p:nvPr/>
        </p:nvSpPr>
        <p:spPr>
          <a:xfrm>
            <a:off x="8239125" y="1476375"/>
            <a:ext cx="3190875" cy="3857625"/>
          </a:xfrm>
          <a:prstGeom prst="roundRect">
            <a:avLst>
              <a:gd name="adj" fmla="val 4179"/>
            </a:avLst>
          </a:prstGeom>
          <a:solidFill>
            <a:srgbClr val="DDEFF5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6" name="chart-reading-title">
            <a:extLst>
              <a:ext uri="{FF2B5EF4-FFF2-40B4-BE49-F238E27FC236}">
                <a16:creationId xmlns:a16="http://schemas.microsoft.com/office/drawing/2014/main" id="{CD49F07C-4F66-450C-AF75-DE23101BEB06}"/>
              </a:ext>
            </a:extLst>
          </p:cNvPr>
          <p:cNvSpPr>
            <a:spLocks noGrp="1"/>
          </p:cNvSpPr>
          <p:nvPr/>
        </p:nvSpPr>
        <p:spPr>
          <a:xfrm>
            <a:off x="8410575" y="1609725"/>
            <a:ext cx="28479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Qué leer</a:t>
            </a:r>
          </a:p>
        </p:txBody>
      </p:sp>
      <p:sp>
        <p:nvSpPr>
          <p:cNvPr id="7" name="chart-reading-body">
            <a:extLst>
              <a:ext uri="{FF2B5EF4-FFF2-40B4-BE49-F238E27FC236}">
                <a16:creationId xmlns:a16="http://schemas.microsoft.com/office/drawing/2014/main" id="{CA928310-0952-4BDA-BBAF-F3419557C9CE}"/>
              </a:ext>
            </a:extLst>
          </p:cNvPr>
          <p:cNvSpPr>
            <a:spLocks noGrp="1"/>
          </p:cNvSpPr>
          <p:nvPr/>
        </p:nvSpPr>
        <p:spPr>
          <a:xfrm>
            <a:off x="8410575" y="1990725"/>
            <a:ext cx="2847975" cy="3209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1. Escala lineal: 10^(70/10) y 10^(80/10). 2. Promedio de ambas contribuciones. 3. Logaritmo: L_eq≈77,4 dB.</a:t>
            </a:r>
          </a:p>
        </p:txBody>
      </p:sp>
      <p:sp>
        <p:nvSpPr>
          <p:cNvPr id="8" name="caption">
            <a:extLst>
              <a:ext uri="{FF2B5EF4-FFF2-40B4-BE49-F238E27FC236}">
                <a16:creationId xmlns:a16="http://schemas.microsoft.com/office/drawing/2014/main" id="{326D602F-FFE0-4D29-B57D-910A95DC52B0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876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Los decibeles se convierten antes de promediar.</a:t>
            </a:r>
          </a:p>
        </p:txBody>
      </p:sp>
      <p:sp>
        <p:nvSpPr>
          <p:cNvPr id="9" name="credit">
            <a:extLst>
              <a:ext uri="{FF2B5EF4-FFF2-40B4-BE49-F238E27FC236}">
                <a16:creationId xmlns:a16="http://schemas.microsoft.com/office/drawing/2014/main" id="{E6F8E152-018D-45A4-BD25-C7AAA72477C6}"/>
              </a:ext>
            </a:extLst>
          </p:cNvPr>
          <p:cNvSpPr>
            <a:spLocks noGrp="1"/>
          </p:cNvSpPr>
          <p:nvPr/>
        </p:nvSpPr>
        <p:spPr>
          <a:xfrm>
            <a:off x="9382125" y="60769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5.11.4.</a:t>
            </a:r>
          </a:p>
        </p:txBody>
      </p:sp>
      <p:sp>
        <p:nvSpPr>
          <p:cNvPr id="4" name="slide-alt-summary" descr="Dos tramos de 70 y 80 dB conducen mediante promedio energético a 77,4 dB.">
            <a:extLst>
              <a:ext uri="{FF2B5EF4-FFF2-40B4-BE49-F238E27FC236}">
                <a16:creationId xmlns:a16="http://schemas.microsoft.com/office/drawing/2014/main" id="{C5BCAB4D-EE49-4EBC-FC8A-8BB5B359A2B8}"/>
              </a:ext>
            </a:extLst>
          </p:cNvPr>
          <p:cNvSpPr/>
          <p:nvPr/>
        </p:nvSpPr>
        <p:spPr>
          <a:xfrm>
            <a:off x="12700" y="12700"/>
            <a:ext cx="12700" cy="12700"/>
          </a:xfrm>
          <a:prstGeom prst="rect">
            <a:avLst/>
          </a:prstGeom>
          <a:noFill/>
          <a:ln w="19050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33635661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eyebrow">
            <a:extLst>
              <a:ext uri="{FF2B5EF4-FFF2-40B4-BE49-F238E27FC236}">
                <a16:creationId xmlns:a16="http://schemas.microsoft.com/office/drawing/2014/main" id="{FA05043A-B996-4875-89AE-FD02165DBA28}"/>
              </a:ext>
            </a:extLst>
          </p:cNvPr>
          <p:cNvSpPr>
            <a:spLocks noGrp="1"/>
          </p:cNvSpPr>
          <p:nvPr/>
        </p:nvSpPr>
        <p:spPr>
          <a:xfrm>
            <a:off x="514350" y="2095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122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42B9C6FE-E56A-449A-A26B-4FB196A10625}"/>
              </a:ext>
            </a:extLst>
          </p:cNvPr>
          <p:cNvSpPr>
            <a:spLocks noGrp="1"/>
          </p:cNvSpPr>
          <p:nvPr/>
        </p:nvSpPr>
        <p:spPr>
          <a:xfrm>
            <a:off x="495300" y="428625"/>
            <a:ext cx="11191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Equivalente, máximo y pico responden preguntas distintas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C10A817B-5A60-4A74-8FC0-6D1F285847F1}"/>
              </a:ext>
            </a:extLst>
          </p:cNvPr>
          <p:cNvSpPr>
            <a:spLocks noGrp="1"/>
          </p:cNvSpPr>
          <p:nvPr/>
        </p:nvSpPr>
        <p:spPr>
          <a:xfrm>
            <a:off x="523875" y="971550"/>
            <a:ext cx="11001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La misma señal alimenta descriptores diferentes.</a:t>
            </a:r>
          </a:p>
        </p:txBody>
      </p:sp>
      <p:sp>
        <p:nvSpPr>
          <p:cNvPr id="4" name="U05-DG-012-meter_mic">
            <a:extLst>
              <a:ext uri="{FF2B5EF4-FFF2-40B4-BE49-F238E27FC236}">
                <a16:creationId xmlns:a16="http://schemas.microsoft.com/office/drawing/2014/main" id="{ACB3CA8D-5B42-4E30-8CC0-CC57754BC2C4}"/>
              </a:ext>
            </a:extLst>
          </p:cNvPr>
          <p:cNvSpPr>
            <a:spLocks noGrp="1"/>
          </p:cNvSpPr>
          <p:nvPr/>
        </p:nvSpPr>
        <p:spPr>
          <a:xfrm>
            <a:off x="857250" y="1476375"/>
            <a:ext cx="2857500" cy="1238250"/>
          </a:xfrm>
          <a:prstGeom prst="roundRect">
            <a:avLst>
              <a:gd name="adj" fmla="val 10769"/>
            </a:avLst>
          </a:prstGeom>
          <a:solidFill>
            <a:srgbClr val="EFF8FA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5" name="U05-DG-012-meter_mic-title">
            <a:extLst>
              <a:ext uri="{FF2B5EF4-FFF2-40B4-BE49-F238E27FC236}">
                <a16:creationId xmlns:a16="http://schemas.microsoft.com/office/drawing/2014/main" id="{E3F86527-6514-4D7E-B027-2215703C75BC}"/>
              </a:ext>
            </a:extLst>
          </p:cNvPr>
          <p:cNvSpPr>
            <a:spLocks noGrp="1"/>
          </p:cNvSpPr>
          <p:nvPr/>
        </p:nvSpPr>
        <p:spPr>
          <a:xfrm>
            <a:off x="1028700" y="1600200"/>
            <a:ext cx="25146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1 · Micrófono</a:t>
            </a:r>
          </a:p>
        </p:txBody>
      </p:sp>
      <p:sp>
        <p:nvSpPr>
          <p:cNvPr id="6" name="U05-DG-012-meter_mic-body">
            <a:extLst>
              <a:ext uri="{FF2B5EF4-FFF2-40B4-BE49-F238E27FC236}">
                <a16:creationId xmlns:a16="http://schemas.microsoft.com/office/drawing/2014/main" id="{CEE1E8E3-492C-48AA-8BED-7B913AA810CE}"/>
              </a:ext>
            </a:extLst>
          </p:cNvPr>
          <p:cNvSpPr>
            <a:spLocks noGrp="1"/>
          </p:cNvSpPr>
          <p:nvPr/>
        </p:nvSpPr>
        <p:spPr>
          <a:xfrm>
            <a:off x="1028700" y="1971675"/>
            <a:ext cx="25146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p(t) en Pa</a:t>
            </a:r>
          </a:p>
        </p:txBody>
      </p:sp>
      <p:sp>
        <p:nvSpPr>
          <p:cNvPr id="7" name="U05-DG-012-meter_pre">
            <a:extLst>
              <a:ext uri="{FF2B5EF4-FFF2-40B4-BE49-F238E27FC236}">
                <a16:creationId xmlns:a16="http://schemas.microsoft.com/office/drawing/2014/main" id="{207BE7F6-719C-429F-B465-A3599F1E5D79}"/>
              </a:ext>
            </a:extLst>
          </p:cNvPr>
          <p:cNvSpPr>
            <a:spLocks noGrp="1"/>
          </p:cNvSpPr>
          <p:nvPr/>
        </p:nvSpPr>
        <p:spPr>
          <a:xfrm>
            <a:off x="4667250" y="1476375"/>
            <a:ext cx="2857500" cy="1238250"/>
          </a:xfrm>
          <a:prstGeom prst="roundRect">
            <a:avLst>
              <a:gd name="adj" fmla="val 10769"/>
            </a:avLst>
          </a:prstGeom>
          <a:solidFill>
            <a:srgbClr val="F3F6F8"/>
          </a:solidFill>
          <a:ln w="19050">
            <a:solidFill>
              <a:srgbClr val="8291A3"/>
            </a:solidFill>
            <a:prstDash val="solid"/>
          </a:ln>
        </p:spPr>
      </p:sp>
      <p:sp>
        <p:nvSpPr>
          <p:cNvPr id="8" name="U05-DG-012-meter_pre-title">
            <a:extLst>
              <a:ext uri="{FF2B5EF4-FFF2-40B4-BE49-F238E27FC236}">
                <a16:creationId xmlns:a16="http://schemas.microsoft.com/office/drawing/2014/main" id="{4BAB5ADF-6044-4435-8731-1327BEFB04CB}"/>
              </a:ext>
            </a:extLst>
          </p:cNvPr>
          <p:cNvSpPr>
            <a:spLocks noGrp="1"/>
          </p:cNvSpPr>
          <p:nvPr/>
        </p:nvSpPr>
        <p:spPr>
          <a:xfrm>
            <a:off x="4838700" y="1600200"/>
            <a:ext cx="25146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2 · Conversión</a:t>
            </a:r>
          </a:p>
        </p:txBody>
      </p:sp>
      <p:sp>
        <p:nvSpPr>
          <p:cNvPr id="9" name="U05-DG-012-meter_pre-body">
            <a:extLst>
              <a:ext uri="{FF2B5EF4-FFF2-40B4-BE49-F238E27FC236}">
                <a16:creationId xmlns:a16="http://schemas.microsoft.com/office/drawing/2014/main" id="{0AA26FE6-7B08-4E37-8663-1DE0E1198CDB}"/>
              </a:ext>
            </a:extLst>
          </p:cNvPr>
          <p:cNvSpPr>
            <a:spLocks noGrp="1"/>
          </p:cNvSpPr>
          <p:nvPr/>
        </p:nvSpPr>
        <p:spPr>
          <a:xfrm>
            <a:off x="4838700" y="1971675"/>
            <a:ext cx="25146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señal digital</a:t>
            </a:r>
          </a:p>
        </p:txBody>
      </p:sp>
      <p:sp>
        <p:nvSpPr>
          <p:cNvPr id="10" name="U05-DG-012-meter_freq">
            <a:extLst>
              <a:ext uri="{FF2B5EF4-FFF2-40B4-BE49-F238E27FC236}">
                <a16:creationId xmlns:a16="http://schemas.microsoft.com/office/drawing/2014/main" id="{E0C1499D-095F-4F01-80DB-F58CEEA204B4}"/>
              </a:ext>
            </a:extLst>
          </p:cNvPr>
          <p:cNvSpPr>
            <a:spLocks noGrp="1"/>
          </p:cNvSpPr>
          <p:nvPr/>
        </p:nvSpPr>
        <p:spPr>
          <a:xfrm>
            <a:off x="8477250" y="1476375"/>
            <a:ext cx="2857500" cy="1238250"/>
          </a:xfrm>
          <a:prstGeom prst="roundRect">
            <a:avLst>
              <a:gd name="adj" fmla="val 10769"/>
            </a:avLst>
          </a:prstGeom>
          <a:solidFill>
            <a:srgbClr val="DDEFF5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11" name="U05-DG-012-meter_freq-title">
            <a:extLst>
              <a:ext uri="{FF2B5EF4-FFF2-40B4-BE49-F238E27FC236}">
                <a16:creationId xmlns:a16="http://schemas.microsoft.com/office/drawing/2014/main" id="{4F1CD81D-F2BE-485C-86EA-26C744043377}"/>
              </a:ext>
            </a:extLst>
          </p:cNvPr>
          <p:cNvSpPr>
            <a:spLocks noGrp="1"/>
          </p:cNvSpPr>
          <p:nvPr/>
        </p:nvSpPr>
        <p:spPr>
          <a:xfrm>
            <a:off x="8648700" y="1600200"/>
            <a:ext cx="25146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3 · Ponderación</a:t>
            </a:r>
          </a:p>
        </p:txBody>
      </p:sp>
      <p:sp>
        <p:nvSpPr>
          <p:cNvPr id="12" name="U05-DG-012-meter_freq-body">
            <a:extLst>
              <a:ext uri="{FF2B5EF4-FFF2-40B4-BE49-F238E27FC236}">
                <a16:creationId xmlns:a16="http://schemas.microsoft.com/office/drawing/2014/main" id="{9022072B-A063-499E-92B7-87A33CF9705F}"/>
              </a:ext>
            </a:extLst>
          </p:cNvPr>
          <p:cNvSpPr>
            <a:spLocks noGrp="1"/>
          </p:cNvSpPr>
          <p:nvPr/>
        </p:nvSpPr>
        <p:spPr>
          <a:xfrm>
            <a:off x="8648700" y="1971675"/>
            <a:ext cx="25146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A · C · Z</a:t>
            </a:r>
          </a:p>
        </p:txBody>
      </p:sp>
      <p:sp>
        <p:nvSpPr>
          <p:cNvPr id="13" name="U05-DG-012-meter_detect">
            <a:extLst>
              <a:ext uri="{FF2B5EF4-FFF2-40B4-BE49-F238E27FC236}">
                <a16:creationId xmlns:a16="http://schemas.microsoft.com/office/drawing/2014/main" id="{B42C5805-2026-4DE8-8CC6-0DFD95E4E44D}"/>
              </a:ext>
            </a:extLst>
          </p:cNvPr>
          <p:cNvSpPr>
            <a:spLocks noGrp="1"/>
          </p:cNvSpPr>
          <p:nvPr/>
        </p:nvSpPr>
        <p:spPr>
          <a:xfrm>
            <a:off x="8477250" y="3714750"/>
            <a:ext cx="2857500" cy="1238250"/>
          </a:xfrm>
          <a:prstGeom prst="roundRect">
            <a:avLst>
              <a:gd name="adj" fmla="val 10769"/>
            </a:avLst>
          </a:prstGeom>
          <a:solidFill>
            <a:srgbClr val="F3F6F8"/>
          </a:solidFill>
          <a:ln w="19050">
            <a:solidFill>
              <a:srgbClr val="8291A3"/>
            </a:solidFill>
            <a:prstDash val="solid"/>
          </a:ln>
        </p:spPr>
      </p:sp>
      <p:sp>
        <p:nvSpPr>
          <p:cNvPr id="14" name="U05-DG-012-meter_detect-title">
            <a:extLst>
              <a:ext uri="{FF2B5EF4-FFF2-40B4-BE49-F238E27FC236}">
                <a16:creationId xmlns:a16="http://schemas.microsoft.com/office/drawing/2014/main" id="{E4960DBF-567D-4852-90EE-F37F51D10E1F}"/>
              </a:ext>
            </a:extLst>
          </p:cNvPr>
          <p:cNvSpPr>
            <a:spLocks noGrp="1"/>
          </p:cNvSpPr>
          <p:nvPr/>
        </p:nvSpPr>
        <p:spPr>
          <a:xfrm>
            <a:off x="8648700" y="3838575"/>
            <a:ext cx="25146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4 · Detector</a:t>
            </a:r>
          </a:p>
        </p:txBody>
      </p:sp>
      <p:sp>
        <p:nvSpPr>
          <p:cNvPr id="15" name="U05-DG-012-meter_detect-body">
            <a:extLst>
              <a:ext uri="{FF2B5EF4-FFF2-40B4-BE49-F238E27FC236}">
                <a16:creationId xmlns:a16="http://schemas.microsoft.com/office/drawing/2014/main" id="{BDA3B5EA-2F68-4D80-9418-28008BBB9E2B}"/>
              </a:ext>
            </a:extLst>
          </p:cNvPr>
          <p:cNvSpPr>
            <a:spLocks noGrp="1"/>
          </p:cNvSpPr>
          <p:nvPr/>
        </p:nvSpPr>
        <p:spPr>
          <a:xfrm>
            <a:off x="8648700" y="4210050"/>
            <a:ext cx="25146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RMS o pico</a:t>
            </a:r>
          </a:p>
        </p:txBody>
      </p:sp>
      <p:sp>
        <p:nvSpPr>
          <p:cNvPr id="16" name="U05-DG-012-meter_time">
            <a:extLst>
              <a:ext uri="{FF2B5EF4-FFF2-40B4-BE49-F238E27FC236}">
                <a16:creationId xmlns:a16="http://schemas.microsoft.com/office/drawing/2014/main" id="{205D9760-E866-425C-80B8-EF1C847C21B1}"/>
              </a:ext>
            </a:extLst>
          </p:cNvPr>
          <p:cNvSpPr>
            <a:spLocks noGrp="1"/>
          </p:cNvSpPr>
          <p:nvPr/>
        </p:nvSpPr>
        <p:spPr>
          <a:xfrm>
            <a:off x="4667250" y="3714750"/>
            <a:ext cx="2857500" cy="1238250"/>
          </a:xfrm>
          <a:prstGeom prst="roundRect">
            <a:avLst>
              <a:gd name="adj" fmla="val 10769"/>
            </a:avLst>
          </a:prstGeom>
          <a:solidFill>
            <a:srgbClr val="E3F2ED"/>
          </a:solidFill>
          <a:ln w="19050">
            <a:solidFill>
              <a:srgbClr val="2D7867"/>
            </a:solidFill>
            <a:prstDash val="solid"/>
          </a:ln>
        </p:spPr>
      </p:sp>
      <p:sp>
        <p:nvSpPr>
          <p:cNvPr id="17" name="U05-DG-012-meter_time-title">
            <a:extLst>
              <a:ext uri="{FF2B5EF4-FFF2-40B4-BE49-F238E27FC236}">
                <a16:creationId xmlns:a16="http://schemas.microsoft.com/office/drawing/2014/main" id="{3FDC7BE6-6228-4938-B04B-83E2B83E2416}"/>
              </a:ext>
            </a:extLst>
          </p:cNvPr>
          <p:cNvSpPr>
            <a:spLocks noGrp="1"/>
          </p:cNvSpPr>
          <p:nvPr/>
        </p:nvSpPr>
        <p:spPr>
          <a:xfrm>
            <a:off x="4838700" y="3838575"/>
            <a:ext cx="25146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5 · Temporal</a:t>
            </a:r>
          </a:p>
        </p:txBody>
      </p:sp>
      <p:sp>
        <p:nvSpPr>
          <p:cNvPr id="18" name="U05-DG-012-meter_time-body">
            <a:extLst>
              <a:ext uri="{FF2B5EF4-FFF2-40B4-BE49-F238E27FC236}">
                <a16:creationId xmlns:a16="http://schemas.microsoft.com/office/drawing/2014/main" id="{3E2F62A1-29A8-4370-BB00-85DFE9864779}"/>
              </a:ext>
            </a:extLst>
          </p:cNvPr>
          <p:cNvSpPr>
            <a:spLocks noGrp="1"/>
          </p:cNvSpPr>
          <p:nvPr/>
        </p:nvSpPr>
        <p:spPr>
          <a:xfrm>
            <a:off x="4838700" y="4210050"/>
            <a:ext cx="25146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F o S</a:t>
            </a:r>
          </a:p>
        </p:txBody>
      </p:sp>
      <p:sp>
        <p:nvSpPr>
          <p:cNvPr id="19" name="U05-DG-012-meter_report">
            <a:extLst>
              <a:ext uri="{FF2B5EF4-FFF2-40B4-BE49-F238E27FC236}">
                <a16:creationId xmlns:a16="http://schemas.microsoft.com/office/drawing/2014/main" id="{0AE401A2-AA38-4D2D-9903-A01D2419205B}"/>
              </a:ext>
            </a:extLst>
          </p:cNvPr>
          <p:cNvSpPr>
            <a:spLocks noGrp="1"/>
          </p:cNvSpPr>
          <p:nvPr/>
        </p:nvSpPr>
        <p:spPr>
          <a:xfrm>
            <a:off x="857250" y="3714750"/>
            <a:ext cx="2857500" cy="1238250"/>
          </a:xfrm>
          <a:prstGeom prst="roundRect">
            <a:avLst>
              <a:gd name="adj" fmla="val 10769"/>
            </a:avLst>
          </a:prstGeom>
          <a:solidFill>
            <a:srgbClr val="E3F2ED"/>
          </a:solidFill>
          <a:ln w="19050">
            <a:solidFill>
              <a:srgbClr val="2D7867"/>
            </a:solidFill>
            <a:prstDash val="solid"/>
          </a:ln>
        </p:spPr>
      </p:sp>
      <p:sp>
        <p:nvSpPr>
          <p:cNvPr id="20" name="U05-DG-012-meter_report-title">
            <a:extLst>
              <a:ext uri="{FF2B5EF4-FFF2-40B4-BE49-F238E27FC236}">
                <a16:creationId xmlns:a16="http://schemas.microsoft.com/office/drawing/2014/main" id="{D7B3F3F5-D883-4713-95C5-868F7CACF09F}"/>
              </a:ext>
            </a:extLst>
          </p:cNvPr>
          <p:cNvSpPr>
            <a:spLocks noGrp="1"/>
          </p:cNvSpPr>
          <p:nvPr/>
        </p:nvSpPr>
        <p:spPr>
          <a:xfrm>
            <a:off x="1028700" y="3838575"/>
            <a:ext cx="25146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6 · Informe</a:t>
            </a:r>
          </a:p>
        </p:txBody>
      </p:sp>
      <p:sp>
        <p:nvSpPr>
          <p:cNvPr id="21" name="U05-DG-012-meter_report-body">
            <a:extLst>
              <a:ext uri="{FF2B5EF4-FFF2-40B4-BE49-F238E27FC236}">
                <a16:creationId xmlns:a16="http://schemas.microsoft.com/office/drawing/2014/main" id="{4BAB80A4-3E70-4971-8EA9-0B47EADE2D1D}"/>
              </a:ext>
            </a:extLst>
          </p:cNvPr>
          <p:cNvSpPr>
            <a:spLocks noGrp="1"/>
          </p:cNvSpPr>
          <p:nvPr/>
        </p:nvSpPr>
        <p:spPr>
          <a:xfrm>
            <a:off x="1028700" y="4210050"/>
            <a:ext cx="25146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magnitud · T</a:t>
            </a:r>
          </a:p>
        </p:txBody>
      </p:sp>
      <p:cxnSp>
        <p:nvCxnSpPr>
          <p:cNvPr id="51" name="U05-DG-012-meter_1"/>
          <p:cNvCxnSpPr>
            <a:stCxn id="4" idx="3"/>
            <a:endCxn id="7" idx="1"/>
          </p:cNvCxnSpPr>
          <p:nvPr/>
        </p:nvCxnSpPr>
        <p:spPr>
          <a:xfrm>
            <a:off x="3714750" y="2095500"/>
            <a:ext cx="952500" cy="0"/>
          </a:xfrm>
          <a:prstGeom prst="straightConnector1">
            <a:avLst/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cxnSp>
        <p:nvCxnSpPr>
          <p:cNvPr id="52" name="U05-DG-012-meter_2"/>
          <p:cNvCxnSpPr>
            <a:stCxn id="7" idx="3"/>
            <a:endCxn id="10" idx="1"/>
          </p:cNvCxnSpPr>
          <p:nvPr/>
        </p:nvCxnSpPr>
        <p:spPr>
          <a:xfrm>
            <a:off x="7524750" y="2095500"/>
            <a:ext cx="952500" cy="0"/>
          </a:xfrm>
          <a:prstGeom prst="straightConnector1">
            <a:avLst/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cxnSp>
        <p:nvCxnSpPr>
          <p:cNvPr id="53" name="U05-DG-012-meter_3"/>
          <p:cNvCxnSpPr>
            <a:stCxn id="10" idx="2"/>
            <a:endCxn id="13" idx="0"/>
          </p:cNvCxnSpPr>
          <p:nvPr/>
        </p:nvCxnSpPr>
        <p:spPr>
          <a:xfrm>
            <a:off x="9906000" y="2714625"/>
            <a:ext cx="0" cy="1000125"/>
          </a:xfrm>
          <a:prstGeom prst="straightConnector1">
            <a:avLst/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cxnSp>
        <p:nvCxnSpPr>
          <p:cNvPr id="54" name="U05-DG-012-meter_4"/>
          <p:cNvCxnSpPr>
            <a:stCxn id="13" idx="1"/>
            <a:endCxn id="16" idx="3"/>
          </p:cNvCxnSpPr>
          <p:nvPr/>
        </p:nvCxnSpPr>
        <p:spPr>
          <a:xfrm flipH="1">
            <a:off x="7524750" y="4333875"/>
            <a:ext cx="952500" cy="0"/>
          </a:xfrm>
          <a:prstGeom prst="straightConnector1">
            <a:avLst/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cxnSp>
        <p:nvCxnSpPr>
          <p:cNvPr id="55" name="U05-DG-012-meter_5"/>
          <p:cNvCxnSpPr>
            <a:stCxn id="16" idx="1"/>
            <a:endCxn id="19" idx="3"/>
          </p:cNvCxnSpPr>
          <p:nvPr/>
        </p:nvCxnSpPr>
        <p:spPr>
          <a:xfrm flipH="1">
            <a:off x="3714750" y="4333875"/>
            <a:ext cx="952500" cy="0"/>
          </a:xfrm>
          <a:prstGeom prst="straightConnector1">
            <a:avLst/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sp>
        <p:nvSpPr>
          <p:cNvPr id="27" name="diagram-scale-note">
            <a:extLst>
              <a:ext uri="{FF2B5EF4-FFF2-40B4-BE49-F238E27FC236}">
                <a16:creationId xmlns:a16="http://schemas.microsoft.com/office/drawing/2014/main" id="{63D28C42-5FD2-44B6-8C0A-6F286EDBE51C}"/>
              </a:ext>
            </a:extLst>
          </p:cNvPr>
          <p:cNvSpPr>
            <a:spLocks noGrp="1"/>
          </p:cNvSpPr>
          <p:nvPr/>
        </p:nvSpPr>
        <p:spPr>
          <a:xfrm>
            <a:off x="552450" y="5829300"/>
            <a:ext cx="3905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05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Esquema conceptual · no está a escala</a:t>
            </a:r>
          </a:p>
        </p:txBody>
      </p:sp>
      <p:sp>
        <p:nvSpPr>
          <p:cNvPr id="28" name="caption">
            <a:extLst>
              <a:ext uri="{FF2B5EF4-FFF2-40B4-BE49-F238E27FC236}">
                <a16:creationId xmlns:a16="http://schemas.microsoft.com/office/drawing/2014/main" id="{2317A139-AE74-4272-8A98-155E879E8A54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876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Informar el descriptor evita llamar “máximo” a resultados distintos.</a:t>
            </a:r>
          </a:p>
        </p:txBody>
      </p:sp>
      <p:sp>
        <p:nvSpPr>
          <p:cNvPr id="29" name="credit">
            <a:extLst>
              <a:ext uri="{FF2B5EF4-FFF2-40B4-BE49-F238E27FC236}">
                <a16:creationId xmlns:a16="http://schemas.microsoft.com/office/drawing/2014/main" id="{70B52E2B-C02E-4F33-B2D5-FA229218E406}"/>
              </a:ext>
            </a:extLst>
          </p:cNvPr>
          <p:cNvSpPr>
            <a:spLocks noGrp="1"/>
          </p:cNvSpPr>
          <p:nvPr/>
        </p:nvSpPr>
        <p:spPr>
          <a:xfrm>
            <a:off x="9382125" y="60769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5.11.1–5.11.2; NOT.</a:t>
            </a:r>
          </a:p>
        </p:txBody>
      </p:sp>
      <p:sp>
        <p:nvSpPr>
          <p:cNvPr id="22" name="slide-alt-summary" descr="Una señal se divide hacia detectores equivalente, máximo temporal y pico.">
            <a:extLst>
              <a:ext uri="{FF2B5EF4-FFF2-40B4-BE49-F238E27FC236}">
                <a16:creationId xmlns:a16="http://schemas.microsoft.com/office/drawing/2014/main" id="{00458EFB-4506-063B-73E7-D184D4B24B51}"/>
              </a:ext>
            </a:extLst>
          </p:cNvPr>
          <p:cNvSpPr/>
          <p:nvPr/>
        </p:nvSpPr>
        <p:spPr>
          <a:xfrm>
            <a:off x="12700" y="12700"/>
            <a:ext cx="12700" cy="12700"/>
          </a:xfrm>
          <a:prstGeom prst="rect">
            <a:avLst/>
          </a:prstGeom>
          <a:noFill/>
          <a:ln w="19050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8321949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yebrow">
            <a:extLst>
              <a:ext uri="{FF2B5EF4-FFF2-40B4-BE49-F238E27FC236}">
                <a16:creationId xmlns:a16="http://schemas.microsoft.com/office/drawing/2014/main" id="{853E71F8-824F-4E74-AE51-57B9536F02EA}"/>
              </a:ext>
            </a:extLst>
          </p:cNvPr>
          <p:cNvSpPr>
            <a:spLocks noGrp="1"/>
          </p:cNvSpPr>
          <p:nvPr/>
        </p:nvSpPr>
        <p:spPr>
          <a:xfrm>
            <a:off x="514350" y="2095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123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56056CAF-0F73-4FC1-8A4A-FED8DF8DDAD9}"/>
              </a:ext>
            </a:extLst>
          </p:cNvPr>
          <p:cNvSpPr>
            <a:spLocks noGrp="1"/>
          </p:cNvSpPr>
          <p:nvPr/>
        </p:nvSpPr>
        <p:spPr>
          <a:xfrm>
            <a:off x="495300" y="428625"/>
            <a:ext cx="11191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El ruido de fondo audiométrico no se verifica con un único dB(A)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84639A06-8CBF-4503-9F1A-F38E039E5213}"/>
              </a:ext>
            </a:extLst>
          </p:cNvPr>
          <p:cNvSpPr>
            <a:spLocks noGrp="1"/>
          </p:cNvSpPr>
          <p:nvPr/>
        </p:nvSpPr>
        <p:spPr>
          <a:xfrm>
            <a:off x="523875" y="971550"/>
            <a:ext cx="11001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El criterio depende de banda, transductor y propósito.</a:t>
            </a:r>
          </a:p>
        </p:txBody>
      </p:sp>
      <p:pic>
        <p:nvPicPr>
          <p:cNvPr id="13" name="Gráfico 1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457200" y="1381125"/>
            <a:ext cx="7524750" cy="4429125"/>
          </a:xfrm>
          <a:prstGeom prst="rect">
            <a:avLst/>
          </a:prstGeom>
        </p:spPr>
      </p:pic>
      <p:sp>
        <p:nvSpPr>
          <p:cNvPr id="5" name="chart-reading-box">
            <a:extLst>
              <a:ext uri="{FF2B5EF4-FFF2-40B4-BE49-F238E27FC236}">
                <a16:creationId xmlns:a16="http://schemas.microsoft.com/office/drawing/2014/main" id="{284E1048-7377-4AF3-914D-CC3CA0BCAFDC}"/>
              </a:ext>
            </a:extLst>
          </p:cNvPr>
          <p:cNvSpPr>
            <a:spLocks noGrp="1"/>
          </p:cNvSpPr>
          <p:nvPr/>
        </p:nvSpPr>
        <p:spPr>
          <a:xfrm>
            <a:off x="8239125" y="1476375"/>
            <a:ext cx="3190875" cy="3857625"/>
          </a:xfrm>
          <a:prstGeom prst="roundRect">
            <a:avLst>
              <a:gd name="adj" fmla="val 4179"/>
            </a:avLst>
          </a:prstGeom>
          <a:solidFill>
            <a:srgbClr val="DDEFF5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6" name="chart-reading-title">
            <a:extLst>
              <a:ext uri="{FF2B5EF4-FFF2-40B4-BE49-F238E27FC236}">
                <a16:creationId xmlns:a16="http://schemas.microsoft.com/office/drawing/2014/main" id="{D0BA2C67-6BC8-474E-A61C-4BF879AA8552}"/>
              </a:ext>
            </a:extLst>
          </p:cNvPr>
          <p:cNvSpPr>
            <a:spLocks noGrp="1"/>
          </p:cNvSpPr>
          <p:nvPr/>
        </p:nvSpPr>
        <p:spPr>
          <a:xfrm>
            <a:off x="8410575" y="1609725"/>
            <a:ext cx="28479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Qué leer</a:t>
            </a:r>
          </a:p>
        </p:txBody>
      </p:sp>
      <p:sp>
        <p:nvSpPr>
          <p:cNvPr id="7" name="chart-reading-body">
            <a:extLst>
              <a:ext uri="{FF2B5EF4-FFF2-40B4-BE49-F238E27FC236}">
                <a16:creationId xmlns:a16="http://schemas.microsoft.com/office/drawing/2014/main" id="{38F932C8-0096-41C6-A7F9-0E53081C9EB1}"/>
              </a:ext>
            </a:extLst>
          </p:cNvPr>
          <p:cNvSpPr>
            <a:spLocks noGrp="1"/>
          </p:cNvSpPr>
          <p:nvPr/>
        </p:nvSpPr>
        <p:spPr>
          <a:xfrm>
            <a:off x="8410575" y="1990725"/>
            <a:ext cx="2847975" cy="3209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Caso didáctico no normativo: compare nivel y límite hipotético en seis bandas. Identifique cuáles superan el límite. No usar una app de teléfono como sustituto del procedimiento.</a:t>
            </a:r>
          </a:p>
        </p:txBody>
      </p:sp>
      <p:sp>
        <p:nvSpPr>
          <p:cNvPr id="8" name="caption">
            <a:extLst>
              <a:ext uri="{FF2B5EF4-FFF2-40B4-BE49-F238E27FC236}">
                <a16:creationId xmlns:a16="http://schemas.microsoft.com/office/drawing/2014/main" id="{7B8C51F4-2D1B-4412-990C-EC35B60D4933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876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Ejercicio de lectura; no evalúa conformidad clínica o laboral.</a:t>
            </a:r>
          </a:p>
        </p:txBody>
      </p:sp>
      <p:sp>
        <p:nvSpPr>
          <p:cNvPr id="9" name="credit">
            <a:extLst>
              <a:ext uri="{FF2B5EF4-FFF2-40B4-BE49-F238E27FC236}">
                <a16:creationId xmlns:a16="http://schemas.microsoft.com/office/drawing/2014/main" id="{B76263D8-A4A0-47E1-83CB-FEC027642C7B}"/>
              </a:ext>
            </a:extLst>
          </p:cNvPr>
          <p:cNvSpPr>
            <a:spLocks noGrp="1"/>
          </p:cNvSpPr>
          <p:nvPr/>
        </p:nvSpPr>
        <p:spPr>
          <a:xfrm>
            <a:off x="9382125" y="60769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aplicación F2; ISO 8253-1/ANSI citadas solo como contexto.</a:t>
            </a:r>
          </a:p>
        </p:txBody>
      </p:sp>
      <p:sp>
        <p:nvSpPr>
          <p:cNvPr id="4" name="slide-alt-summary" descr="Barras por banda se comparan con límites hipotéticos; bandas que exceden llevan tramado.">
            <a:extLst>
              <a:ext uri="{FF2B5EF4-FFF2-40B4-BE49-F238E27FC236}">
                <a16:creationId xmlns:a16="http://schemas.microsoft.com/office/drawing/2014/main" id="{E9281114-91A3-155B-40E3-CA851F0A6BD2}"/>
              </a:ext>
            </a:extLst>
          </p:cNvPr>
          <p:cNvSpPr/>
          <p:nvPr/>
        </p:nvSpPr>
        <p:spPr>
          <a:xfrm>
            <a:off x="12700" y="12700"/>
            <a:ext cx="12700" cy="12700"/>
          </a:xfrm>
          <a:prstGeom prst="rect">
            <a:avLst/>
          </a:prstGeom>
          <a:noFill/>
          <a:ln w="19050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17057724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yebrow">
            <a:extLst>
              <a:ext uri="{FF2B5EF4-FFF2-40B4-BE49-F238E27FC236}">
                <a16:creationId xmlns:a16="http://schemas.microsoft.com/office/drawing/2014/main" id="{E84EBA5C-82B7-40CE-AF0E-CFDEC25989FE}"/>
              </a:ext>
            </a:extLst>
          </p:cNvPr>
          <p:cNvSpPr>
            <a:spLocks noGrp="1"/>
          </p:cNvSpPr>
          <p:nvPr/>
        </p:nvSpPr>
        <p:spPr>
          <a:xfrm>
            <a:off x="514350" y="2095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124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5E0AFF88-5DC0-4A64-B58B-693F157C7475}"/>
              </a:ext>
            </a:extLst>
          </p:cNvPr>
          <p:cNvSpPr>
            <a:spLocks noGrp="1"/>
          </p:cNvSpPr>
          <p:nvPr/>
        </p:nvSpPr>
        <p:spPr>
          <a:xfrm>
            <a:off x="495300" y="428625"/>
            <a:ext cx="11191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Hasta acá: instrumento, configuración y resultado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AF3B2B27-DC7D-4F73-800E-68426E8DACCA}"/>
              </a:ext>
            </a:extLst>
          </p:cNvPr>
          <p:cNvSpPr>
            <a:spLocks noGrp="1"/>
          </p:cNvSpPr>
          <p:nvPr/>
        </p:nvSpPr>
        <p:spPr>
          <a:xfrm>
            <a:off x="523875" y="971550"/>
            <a:ext cx="11001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Seis campos para que una lectura sea interpretable.</a:t>
            </a:r>
          </a:p>
        </p:txBody>
      </p:sp>
      <p:sp>
        <p:nvSpPr>
          <p:cNvPr id="4" name="U05-DG-014-recap_object">
            <a:extLst>
              <a:ext uri="{FF2B5EF4-FFF2-40B4-BE49-F238E27FC236}">
                <a16:creationId xmlns:a16="http://schemas.microsoft.com/office/drawing/2014/main" id="{E8633076-5EDC-46A8-9199-B4D3F3FF16A0}"/>
              </a:ext>
            </a:extLst>
          </p:cNvPr>
          <p:cNvSpPr>
            <a:spLocks noGrp="1"/>
          </p:cNvSpPr>
          <p:nvPr/>
        </p:nvSpPr>
        <p:spPr>
          <a:xfrm>
            <a:off x="857250" y="1714500"/>
            <a:ext cx="3048000" cy="1238250"/>
          </a:xfrm>
          <a:prstGeom prst="roundRect">
            <a:avLst>
              <a:gd name="adj" fmla="val 10769"/>
            </a:avLst>
          </a:prstGeom>
          <a:solidFill>
            <a:srgbClr val="EFF8FA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5" name="U05-DG-014-recap_object-title">
            <a:extLst>
              <a:ext uri="{FF2B5EF4-FFF2-40B4-BE49-F238E27FC236}">
                <a16:creationId xmlns:a16="http://schemas.microsoft.com/office/drawing/2014/main" id="{21E81C55-BF22-4E23-846B-56B5B77FC193}"/>
              </a:ext>
            </a:extLst>
          </p:cNvPr>
          <p:cNvSpPr>
            <a:spLocks noGrp="1"/>
          </p:cNvSpPr>
          <p:nvPr/>
        </p:nvSpPr>
        <p:spPr>
          <a:xfrm>
            <a:off x="1028700" y="1838325"/>
            <a:ext cx="27051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Objeto</a:t>
            </a:r>
          </a:p>
        </p:txBody>
      </p:sp>
      <p:sp>
        <p:nvSpPr>
          <p:cNvPr id="6" name="U05-DG-014-recap_object-body">
            <a:extLst>
              <a:ext uri="{FF2B5EF4-FFF2-40B4-BE49-F238E27FC236}">
                <a16:creationId xmlns:a16="http://schemas.microsoft.com/office/drawing/2014/main" id="{C128DB76-2CF6-4E78-9DF7-839145F92E22}"/>
              </a:ext>
            </a:extLst>
          </p:cNvPr>
          <p:cNvSpPr>
            <a:spLocks noGrp="1"/>
          </p:cNvSpPr>
          <p:nvPr/>
        </p:nvSpPr>
        <p:spPr>
          <a:xfrm>
            <a:off x="1028700" y="2209800"/>
            <a:ext cx="27051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señal / sistema</a:t>
            </a:r>
          </a:p>
        </p:txBody>
      </p:sp>
      <p:sp>
        <p:nvSpPr>
          <p:cNvPr id="7" name="U05-DG-014-recap_axes">
            <a:extLst>
              <a:ext uri="{FF2B5EF4-FFF2-40B4-BE49-F238E27FC236}">
                <a16:creationId xmlns:a16="http://schemas.microsoft.com/office/drawing/2014/main" id="{4A7C7691-2C8E-4734-BF7C-F04A7B879952}"/>
              </a:ext>
            </a:extLst>
          </p:cNvPr>
          <p:cNvSpPr>
            <a:spLocks noGrp="1"/>
          </p:cNvSpPr>
          <p:nvPr/>
        </p:nvSpPr>
        <p:spPr>
          <a:xfrm>
            <a:off x="4572000" y="1714500"/>
            <a:ext cx="3048000" cy="1238250"/>
          </a:xfrm>
          <a:prstGeom prst="roundRect">
            <a:avLst>
              <a:gd name="adj" fmla="val 10769"/>
            </a:avLst>
          </a:prstGeom>
          <a:solidFill>
            <a:srgbClr val="F3F6F8"/>
          </a:solidFill>
          <a:ln w="19050">
            <a:solidFill>
              <a:srgbClr val="8291A3"/>
            </a:solidFill>
            <a:prstDash val="solid"/>
          </a:ln>
        </p:spPr>
      </p:sp>
      <p:sp>
        <p:nvSpPr>
          <p:cNvPr id="8" name="U05-DG-014-recap_axes-title">
            <a:extLst>
              <a:ext uri="{FF2B5EF4-FFF2-40B4-BE49-F238E27FC236}">
                <a16:creationId xmlns:a16="http://schemas.microsoft.com/office/drawing/2014/main" id="{49688828-1A97-4C17-A34B-D92D985CF1D6}"/>
              </a:ext>
            </a:extLst>
          </p:cNvPr>
          <p:cNvSpPr>
            <a:spLocks noGrp="1"/>
          </p:cNvSpPr>
          <p:nvPr/>
        </p:nvSpPr>
        <p:spPr>
          <a:xfrm>
            <a:off x="4743450" y="1838325"/>
            <a:ext cx="27051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Ejes</a:t>
            </a:r>
          </a:p>
        </p:txBody>
      </p:sp>
      <p:sp>
        <p:nvSpPr>
          <p:cNvPr id="9" name="U05-DG-014-recap_axes-body">
            <a:extLst>
              <a:ext uri="{FF2B5EF4-FFF2-40B4-BE49-F238E27FC236}">
                <a16:creationId xmlns:a16="http://schemas.microsoft.com/office/drawing/2014/main" id="{B8115991-9DF0-42C8-B56A-0DE375D3E866}"/>
              </a:ext>
            </a:extLst>
          </p:cNvPr>
          <p:cNvSpPr>
            <a:spLocks noGrp="1"/>
          </p:cNvSpPr>
          <p:nvPr/>
        </p:nvSpPr>
        <p:spPr>
          <a:xfrm>
            <a:off x="4743450" y="2209800"/>
            <a:ext cx="27051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t / f</a:t>
            </a:r>
          </a:p>
        </p:txBody>
      </p:sp>
      <p:sp>
        <p:nvSpPr>
          <p:cNvPr id="10" name="U05-DG-014-recap_units">
            <a:extLst>
              <a:ext uri="{FF2B5EF4-FFF2-40B4-BE49-F238E27FC236}">
                <a16:creationId xmlns:a16="http://schemas.microsoft.com/office/drawing/2014/main" id="{D290FF08-2919-447A-A482-A3330150EF1D}"/>
              </a:ext>
            </a:extLst>
          </p:cNvPr>
          <p:cNvSpPr>
            <a:spLocks noGrp="1"/>
          </p:cNvSpPr>
          <p:nvPr/>
        </p:nvSpPr>
        <p:spPr>
          <a:xfrm>
            <a:off x="8286750" y="1714500"/>
            <a:ext cx="3048000" cy="1238250"/>
          </a:xfrm>
          <a:prstGeom prst="roundRect">
            <a:avLst>
              <a:gd name="adj" fmla="val 10769"/>
            </a:avLst>
          </a:prstGeom>
          <a:solidFill>
            <a:srgbClr val="F3F6F8"/>
          </a:solidFill>
          <a:ln w="19050">
            <a:solidFill>
              <a:srgbClr val="8291A3"/>
            </a:solidFill>
            <a:prstDash val="solid"/>
          </a:ln>
        </p:spPr>
      </p:sp>
      <p:sp>
        <p:nvSpPr>
          <p:cNvPr id="11" name="U05-DG-014-recap_units-title">
            <a:extLst>
              <a:ext uri="{FF2B5EF4-FFF2-40B4-BE49-F238E27FC236}">
                <a16:creationId xmlns:a16="http://schemas.microsoft.com/office/drawing/2014/main" id="{D311EE5D-1773-4FC2-84F5-C011E3CCBF1D}"/>
              </a:ext>
            </a:extLst>
          </p:cNvPr>
          <p:cNvSpPr>
            <a:spLocks noGrp="1"/>
          </p:cNvSpPr>
          <p:nvPr/>
        </p:nvSpPr>
        <p:spPr>
          <a:xfrm>
            <a:off x="8458200" y="1838325"/>
            <a:ext cx="27051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Unidades</a:t>
            </a:r>
          </a:p>
        </p:txBody>
      </p:sp>
      <p:sp>
        <p:nvSpPr>
          <p:cNvPr id="12" name="U05-DG-014-recap_units-body">
            <a:extLst>
              <a:ext uri="{FF2B5EF4-FFF2-40B4-BE49-F238E27FC236}">
                <a16:creationId xmlns:a16="http://schemas.microsoft.com/office/drawing/2014/main" id="{8F912E79-0E30-418C-AC11-4D8AD0C17A0E}"/>
              </a:ext>
            </a:extLst>
          </p:cNvPr>
          <p:cNvSpPr>
            <a:spLocks noGrp="1"/>
          </p:cNvSpPr>
          <p:nvPr/>
        </p:nvSpPr>
        <p:spPr>
          <a:xfrm>
            <a:off x="8458200" y="2209800"/>
            <a:ext cx="27051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s · Hz · Pa · dB</a:t>
            </a:r>
          </a:p>
        </p:txBody>
      </p:sp>
      <p:sp>
        <p:nvSpPr>
          <p:cNvPr id="13" name="U05-DG-014-recap_params">
            <a:extLst>
              <a:ext uri="{FF2B5EF4-FFF2-40B4-BE49-F238E27FC236}">
                <a16:creationId xmlns:a16="http://schemas.microsoft.com/office/drawing/2014/main" id="{4A684154-12D7-4D57-8E56-C471804057AB}"/>
              </a:ext>
            </a:extLst>
          </p:cNvPr>
          <p:cNvSpPr>
            <a:spLocks noGrp="1"/>
          </p:cNvSpPr>
          <p:nvPr/>
        </p:nvSpPr>
        <p:spPr>
          <a:xfrm>
            <a:off x="2667000" y="3905250"/>
            <a:ext cx="3048000" cy="1238250"/>
          </a:xfrm>
          <a:prstGeom prst="roundRect">
            <a:avLst>
              <a:gd name="adj" fmla="val 10769"/>
            </a:avLst>
          </a:prstGeom>
          <a:solidFill>
            <a:srgbClr val="DDEFF5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14" name="U05-DG-014-recap_params-title">
            <a:extLst>
              <a:ext uri="{FF2B5EF4-FFF2-40B4-BE49-F238E27FC236}">
                <a16:creationId xmlns:a16="http://schemas.microsoft.com/office/drawing/2014/main" id="{4DC14634-7D44-4E01-B6F7-990B22F5331D}"/>
              </a:ext>
            </a:extLst>
          </p:cNvPr>
          <p:cNvSpPr>
            <a:spLocks noGrp="1"/>
          </p:cNvSpPr>
          <p:nvPr/>
        </p:nvSpPr>
        <p:spPr>
          <a:xfrm>
            <a:off x="2838450" y="4029075"/>
            <a:ext cx="27051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Parámetros</a:t>
            </a:r>
          </a:p>
        </p:txBody>
      </p:sp>
      <p:sp>
        <p:nvSpPr>
          <p:cNvPr id="15" name="U05-DG-014-recap_params-body">
            <a:extLst>
              <a:ext uri="{FF2B5EF4-FFF2-40B4-BE49-F238E27FC236}">
                <a16:creationId xmlns:a16="http://schemas.microsoft.com/office/drawing/2014/main" id="{54E63410-A3B3-406B-99B0-D52B92BC49BF}"/>
              </a:ext>
            </a:extLst>
          </p:cNvPr>
          <p:cNvSpPr>
            <a:spLocks noGrp="1"/>
          </p:cNvSpPr>
          <p:nvPr/>
        </p:nvSpPr>
        <p:spPr>
          <a:xfrm>
            <a:off x="2838450" y="4400550"/>
            <a:ext cx="27051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ventana · N · fₛ</a:t>
            </a:r>
          </a:p>
        </p:txBody>
      </p:sp>
      <p:sp>
        <p:nvSpPr>
          <p:cNvPr id="16" name="U05-DG-014-recap_limit">
            <a:extLst>
              <a:ext uri="{FF2B5EF4-FFF2-40B4-BE49-F238E27FC236}">
                <a16:creationId xmlns:a16="http://schemas.microsoft.com/office/drawing/2014/main" id="{FEF30099-6F6B-4151-A623-1F0A7C999D13}"/>
              </a:ext>
            </a:extLst>
          </p:cNvPr>
          <p:cNvSpPr>
            <a:spLocks noGrp="1"/>
          </p:cNvSpPr>
          <p:nvPr/>
        </p:nvSpPr>
        <p:spPr>
          <a:xfrm>
            <a:off x="6477000" y="3905250"/>
            <a:ext cx="3048000" cy="1238250"/>
          </a:xfrm>
          <a:prstGeom prst="roundRect">
            <a:avLst>
              <a:gd name="adj" fmla="val 10769"/>
            </a:avLst>
          </a:prstGeom>
          <a:solidFill>
            <a:srgbClr val="E3F2ED"/>
          </a:solidFill>
          <a:ln w="19050">
            <a:solidFill>
              <a:srgbClr val="2D7867"/>
            </a:solidFill>
            <a:prstDash val="solid"/>
          </a:ln>
        </p:spPr>
      </p:sp>
      <p:sp>
        <p:nvSpPr>
          <p:cNvPr id="17" name="U05-DG-014-recap_limit-title">
            <a:extLst>
              <a:ext uri="{FF2B5EF4-FFF2-40B4-BE49-F238E27FC236}">
                <a16:creationId xmlns:a16="http://schemas.microsoft.com/office/drawing/2014/main" id="{38F581E9-9F25-4EFC-B54A-CF62C16E5342}"/>
              </a:ext>
            </a:extLst>
          </p:cNvPr>
          <p:cNvSpPr>
            <a:spLocks noGrp="1"/>
          </p:cNvSpPr>
          <p:nvPr/>
        </p:nvSpPr>
        <p:spPr>
          <a:xfrm>
            <a:off x="6648450" y="4029075"/>
            <a:ext cx="27051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Límite</a:t>
            </a:r>
          </a:p>
        </p:txBody>
      </p:sp>
      <p:sp>
        <p:nvSpPr>
          <p:cNvPr id="18" name="U05-DG-014-recap_limit-body">
            <a:extLst>
              <a:ext uri="{FF2B5EF4-FFF2-40B4-BE49-F238E27FC236}">
                <a16:creationId xmlns:a16="http://schemas.microsoft.com/office/drawing/2014/main" id="{E0659744-4F72-4B8B-BC5F-5EB5FE719C47}"/>
              </a:ext>
            </a:extLst>
          </p:cNvPr>
          <p:cNvSpPr>
            <a:spLocks noGrp="1"/>
          </p:cNvSpPr>
          <p:nvPr/>
        </p:nvSpPr>
        <p:spPr>
          <a:xfrm>
            <a:off x="6648450" y="4400550"/>
            <a:ext cx="27051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alcance declarado</a:t>
            </a:r>
          </a:p>
        </p:txBody>
      </p:sp>
      <p:sp>
        <p:nvSpPr>
          <p:cNvPr id="19" name="diagram-scale-note">
            <a:extLst>
              <a:ext uri="{FF2B5EF4-FFF2-40B4-BE49-F238E27FC236}">
                <a16:creationId xmlns:a16="http://schemas.microsoft.com/office/drawing/2014/main" id="{0A6FEAF9-0AAB-4589-ACBD-B35C11C1E68A}"/>
              </a:ext>
            </a:extLst>
          </p:cNvPr>
          <p:cNvSpPr>
            <a:spLocks noGrp="1"/>
          </p:cNvSpPr>
          <p:nvPr/>
        </p:nvSpPr>
        <p:spPr>
          <a:xfrm>
            <a:off x="552450" y="5829300"/>
            <a:ext cx="3905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05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Esquema conceptual · no está a escala</a:t>
            </a:r>
          </a:p>
        </p:txBody>
      </p:sp>
      <p:sp>
        <p:nvSpPr>
          <p:cNvPr id="20" name="caption">
            <a:extLst>
              <a:ext uri="{FF2B5EF4-FFF2-40B4-BE49-F238E27FC236}">
                <a16:creationId xmlns:a16="http://schemas.microsoft.com/office/drawing/2014/main" id="{243CDC14-0EE8-42A9-B46B-A2C3CECFE53F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876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Una cifra aislada no conserva la cadena que la produjo.</a:t>
            </a:r>
          </a:p>
        </p:txBody>
      </p:sp>
      <p:sp>
        <p:nvSpPr>
          <p:cNvPr id="21" name="credit">
            <a:extLst>
              <a:ext uri="{FF2B5EF4-FFF2-40B4-BE49-F238E27FC236}">
                <a16:creationId xmlns:a16="http://schemas.microsoft.com/office/drawing/2014/main" id="{81BE3AAA-C6B2-461D-BB00-9998E59B27EF}"/>
              </a:ext>
            </a:extLst>
          </p:cNvPr>
          <p:cNvSpPr>
            <a:spLocks noGrp="1"/>
          </p:cNvSpPr>
          <p:nvPr/>
        </p:nvSpPr>
        <p:spPr>
          <a:xfrm>
            <a:off x="9382125" y="60769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5.11–5.13.</a:t>
            </a:r>
          </a:p>
        </p:txBody>
      </p:sp>
      <p:sp>
        <p:nvSpPr>
          <p:cNvPr id="23" name="slide-alt-summary" descr="Lista de seis campos completa una lectura inicialmente expresada solo como 72 dB.">
            <a:extLst>
              <a:ext uri="{FF2B5EF4-FFF2-40B4-BE49-F238E27FC236}">
                <a16:creationId xmlns:a16="http://schemas.microsoft.com/office/drawing/2014/main" id="{0D733C45-A3ED-D31D-4405-34523C23E8CF}"/>
              </a:ext>
            </a:extLst>
          </p:cNvPr>
          <p:cNvSpPr/>
          <p:nvPr/>
        </p:nvSpPr>
        <p:spPr>
          <a:xfrm>
            <a:off x="12700" y="12700"/>
            <a:ext cx="12700" cy="12700"/>
          </a:xfrm>
          <a:prstGeom prst="rect">
            <a:avLst/>
          </a:prstGeom>
          <a:noFill/>
          <a:ln w="19050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20203634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eyebrow">
            <a:extLst>
              <a:ext uri="{FF2B5EF4-FFF2-40B4-BE49-F238E27FC236}">
                <a16:creationId xmlns:a16="http://schemas.microsoft.com/office/drawing/2014/main" id="{2538A952-02FC-4B0B-B3D2-18BC078609CF}"/>
              </a:ext>
            </a:extLst>
          </p:cNvPr>
          <p:cNvSpPr>
            <a:spLocks noGrp="1"/>
          </p:cNvSpPr>
          <p:nvPr/>
        </p:nvSpPr>
        <p:spPr>
          <a:xfrm>
            <a:off x="514350" y="2095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125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3E10A964-63F5-42E0-92C3-86183611ED9C}"/>
              </a:ext>
            </a:extLst>
          </p:cNvPr>
          <p:cNvSpPr>
            <a:spLocks noGrp="1"/>
          </p:cNvSpPr>
          <p:nvPr/>
        </p:nvSpPr>
        <p:spPr>
          <a:xfrm>
            <a:off x="495300" y="428625"/>
            <a:ext cx="11191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Una pregunta profesional determina la representación adecuada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BF9E9DD9-EF78-4E39-A0DC-DF56E2A5EE66}"/>
              </a:ext>
            </a:extLst>
          </p:cNvPr>
          <p:cNvSpPr>
            <a:spLocks noGrp="1"/>
          </p:cNvSpPr>
          <p:nvPr/>
        </p:nvSpPr>
        <p:spPr>
          <a:xfrm>
            <a:off x="523875" y="971550"/>
            <a:ext cx="11001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Elegir la herramienta comienza por identificar el objeto.</a:t>
            </a:r>
          </a:p>
        </p:txBody>
      </p:sp>
      <p:sp>
        <p:nvSpPr>
          <p:cNvPr id="4" name="U05-DG-013-decision_question">
            <a:extLst>
              <a:ext uri="{FF2B5EF4-FFF2-40B4-BE49-F238E27FC236}">
                <a16:creationId xmlns:a16="http://schemas.microsoft.com/office/drawing/2014/main" id="{D41AC0EC-885B-404F-A2FD-0A7B199D0894}"/>
              </a:ext>
            </a:extLst>
          </p:cNvPr>
          <p:cNvSpPr>
            <a:spLocks noGrp="1"/>
          </p:cNvSpPr>
          <p:nvPr/>
        </p:nvSpPr>
        <p:spPr>
          <a:xfrm>
            <a:off x="3714750" y="1095375"/>
            <a:ext cx="4762500" cy="1000125"/>
          </a:xfrm>
          <a:prstGeom prst="roundRect">
            <a:avLst>
              <a:gd name="adj" fmla="val 13333"/>
            </a:avLst>
          </a:prstGeom>
          <a:solidFill>
            <a:srgbClr val="DDEFF5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5" name="U05-DG-013-decision_question-title">
            <a:extLst>
              <a:ext uri="{FF2B5EF4-FFF2-40B4-BE49-F238E27FC236}">
                <a16:creationId xmlns:a16="http://schemas.microsoft.com/office/drawing/2014/main" id="{4D538F2C-48F4-4E55-93FB-011C3167702D}"/>
              </a:ext>
            </a:extLst>
          </p:cNvPr>
          <p:cNvSpPr>
            <a:spLocks noGrp="1"/>
          </p:cNvSpPr>
          <p:nvPr/>
        </p:nvSpPr>
        <p:spPr>
          <a:xfrm>
            <a:off x="3886200" y="1219200"/>
            <a:ext cx="4419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¿Qué objeto necesito describir?</a:t>
            </a:r>
          </a:p>
        </p:txBody>
      </p:sp>
      <p:sp>
        <p:nvSpPr>
          <p:cNvPr id="6" name="U05-DG-013-decision_question-body">
            <a:extLst>
              <a:ext uri="{FF2B5EF4-FFF2-40B4-BE49-F238E27FC236}">
                <a16:creationId xmlns:a16="http://schemas.microsoft.com/office/drawing/2014/main" id="{4838C131-1250-4522-ADBF-F171C1635172}"/>
              </a:ext>
            </a:extLst>
          </p:cNvPr>
          <p:cNvSpPr>
            <a:spLocks noGrp="1"/>
          </p:cNvSpPr>
          <p:nvPr/>
        </p:nvSpPr>
        <p:spPr>
          <a:xfrm>
            <a:off x="3886200" y="1543050"/>
            <a:ext cx="44196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elegir antes de graficar</a:t>
            </a:r>
          </a:p>
        </p:txBody>
      </p:sp>
      <p:sp>
        <p:nvSpPr>
          <p:cNvPr id="7" name="U05-DG-013-decision_signal">
            <a:extLst>
              <a:ext uri="{FF2B5EF4-FFF2-40B4-BE49-F238E27FC236}">
                <a16:creationId xmlns:a16="http://schemas.microsoft.com/office/drawing/2014/main" id="{894C6F66-D289-4CA6-9916-7776BA19D7BA}"/>
              </a:ext>
            </a:extLst>
          </p:cNvPr>
          <p:cNvSpPr>
            <a:spLocks noGrp="1"/>
          </p:cNvSpPr>
          <p:nvPr/>
        </p:nvSpPr>
        <p:spPr>
          <a:xfrm>
            <a:off x="857250" y="2952750"/>
            <a:ext cx="2857500" cy="1285875"/>
          </a:xfrm>
          <a:prstGeom prst="roundRect">
            <a:avLst>
              <a:gd name="adj" fmla="val 10370"/>
            </a:avLst>
          </a:prstGeom>
          <a:solidFill>
            <a:srgbClr val="EFF8FA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8" name="U05-DG-013-decision_signal-title">
            <a:extLst>
              <a:ext uri="{FF2B5EF4-FFF2-40B4-BE49-F238E27FC236}">
                <a16:creationId xmlns:a16="http://schemas.microsoft.com/office/drawing/2014/main" id="{6AD78C56-AFF3-485B-8EE5-32B584FBB40C}"/>
              </a:ext>
            </a:extLst>
          </p:cNvPr>
          <p:cNvSpPr>
            <a:spLocks noGrp="1"/>
          </p:cNvSpPr>
          <p:nvPr/>
        </p:nvSpPr>
        <p:spPr>
          <a:xfrm>
            <a:off x="1028700" y="3076575"/>
            <a:ext cx="2514600" cy="3857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Señal</a:t>
            </a:r>
          </a:p>
        </p:txBody>
      </p:sp>
      <p:sp>
        <p:nvSpPr>
          <p:cNvPr id="9" name="U05-DG-013-decision_signal-body">
            <a:extLst>
              <a:ext uri="{FF2B5EF4-FFF2-40B4-BE49-F238E27FC236}">
                <a16:creationId xmlns:a16="http://schemas.microsoft.com/office/drawing/2014/main" id="{AE9DD52E-E5A9-4169-9AB1-EA206A32FB4D}"/>
              </a:ext>
            </a:extLst>
          </p:cNvPr>
          <p:cNvSpPr>
            <a:spLocks noGrp="1"/>
          </p:cNvSpPr>
          <p:nvPr/>
        </p:nvSpPr>
        <p:spPr>
          <a:xfrm>
            <a:off x="1028700" y="3462338"/>
            <a:ext cx="2514600" cy="6524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tiempo · espectro</a:t>
            </a:r>
          </a:p>
        </p:txBody>
      </p:sp>
      <p:sp>
        <p:nvSpPr>
          <p:cNvPr id="10" name="U05-DG-013-decision_system">
            <a:extLst>
              <a:ext uri="{FF2B5EF4-FFF2-40B4-BE49-F238E27FC236}">
                <a16:creationId xmlns:a16="http://schemas.microsoft.com/office/drawing/2014/main" id="{B071C9A4-A5F6-4226-B4B5-40C12D7F066F}"/>
              </a:ext>
            </a:extLst>
          </p:cNvPr>
          <p:cNvSpPr>
            <a:spLocks noGrp="1"/>
          </p:cNvSpPr>
          <p:nvPr/>
        </p:nvSpPr>
        <p:spPr>
          <a:xfrm>
            <a:off x="4667250" y="2952750"/>
            <a:ext cx="2857500" cy="1285875"/>
          </a:xfrm>
          <a:prstGeom prst="roundRect">
            <a:avLst>
              <a:gd name="adj" fmla="val 10370"/>
            </a:avLst>
          </a:prstGeom>
          <a:solidFill>
            <a:srgbClr val="F3F6F8"/>
          </a:solidFill>
          <a:ln w="19050">
            <a:solidFill>
              <a:srgbClr val="8291A3"/>
            </a:solidFill>
            <a:prstDash val="solid"/>
          </a:ln>
        </p:spPr>
      </p:sp>
      <p:sp>
        <p:nvSpPr>
          <p:cNvPr id="11" name="U05-DG-013-decision_system-title">
            <a:extLst>
              <a:ext uri="{FF2B5EF4-FFF2-40B4-BE49-F238E27FC236}">
                <a16:creationId xmlns:a16="http://schemas.microsoft.com/office/drawing/2014/main" id="{6CC6A11F-9A60-439A-8682-ED036DA07C59}"/>
              </a:ext>
            </a:extLst>
          </p:cNvPr>
          <p:cNvSpPr>
            <a:spLocks noGrp="1"/>
          </p:cNvSpPr>
          <p:nvPr/>
        </p:nvSpPr>
        <p:spPr>
          <a:xfrm>
            <a:off x="4838700" y="3076575"/>
            <a:ext cx="2514600" cy="3857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Sistema</a:t>
            </a:r>
          </a:p>
        </p:txBody>
      </p:sp>
      <p:sp>
        <p:nvSpPr>
          <p:cNvPr id="12" name="U05-DG-013-decision_system-body">
            <a:extLst>
              <a:ext uri="{FF2B5EF4-FFF2-40B4-BE49-F238E27FC236}">
                <a16:creationId xmlns:a16="http://schemas.microsoft.com/office/drawing/2014/main" id="{54CD98ED-05A1-4488-840F-CA763CB0DB80}"/>
              </a:ext>
            </a:extLst>
          </p:cNvPr>
          <p:cNvSpPr>
            <a:spLocks noGrp="1"/>
          </p:cNvSpPr>
          <p:nvPr/>
        </p:nvSpPr>
        <p:spPr>
          <a:xfrm>
            <a:off x="4838700" y="3462338"/>
            <a:ext cx="2514600" cy="6524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respuesta H(f)</a:t>
            </a:r>
          </a:p>
        </p:txBody>
      </p:sp>
      <p:sp>
        <p:nvSpPr>
          <p:cNvPr id="13" name="U05-DG-013-decision_measure">
            <a:extLst>
              <a:ext uri="{FF2B5EF4-FFF2-40B4-BE49-F238E27FC236}">
                <a16:creationId xmlns:a16="http://schemas.microsoft.com/office/drawing/2014/main" id="{A647134A-6888-476B-8E93-76E8530A1E1C}"/>
              </a:ext>
            </a:extLst>
          </p:cNvPr>
          <p:cNvSpPr>
            <a:spLocks noGrp="1"/>
          </p:cNvSpPr>
          <p:nvPr/>
        </p:nvSpPr>
        <p:spPr>
          <a:xfrm>
            <a:off x="8477250" y="2952750"/>
            <a:ext cx="2857500" cy="1285875"/>
          </a:xfrm>
          <a:prstGeom prst="roundRect">
            <a:avLst>
              <a:gd name="adj" fmla="val 10370"/>
            </a:avLst>
          </a:prstGeom>
          <a:solidFill>
            <a:srgbClr val="E3F2ED"/>
          </a:solidFill>
          <a:ln w="19050">
            <a:solidFill>
              <a:srgbClr val="2D7867"/>
            </a:solidFill>
            <a:prstDash val="solid"/>
          </a:ln>
        </p:spPr>
      </p:sp>
      <p:sp>
        <p:nvSpPr>
          <p:cNvPr id="14" name="U05-DG-013-decision_measure-title">
            <a:extLst>
              <a:ext uri="{FF2B5EF4-FFF2-40B4-BE49-F238E27FC236}">
                <a16:creationId xmlns:a16="http://schemas.microsoft.com/office/drawing/2014/main" id="{C6E019DC-EF91-4EF1-B252-AE2004C21396}"/>
              </a:ext>
            </a:extLst>
          </p:cNvPr>
          <p:cNvSpPr>
            <a:spLocks noGrp="1"/>
          </p:cNvSpPr>
          <p:nvPr/>
        </p:nvSpPr>
        <p:spPr>
          <a:xfrm>
            <a:off x="8648700" y="3076575"/>
            <a:ext cx="2514600" cy="3857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Medición</a:t>
            </a:r>
          </a:p>
        </p:txBody>
      </p:sp>
      <p:sp>
        <p:nvSpPr>
          <p:cNvPr id="15" name="U05-DG-013-decision_measure-body">
            <a:extLst>
              <a:ext uri="{FF2B5EF4-FFF2-40B4-BE49-F238E27FC236}">
                <a16:creationId xmlns:a16="http://schemas.microsoft.com/office/drawing/2014/main" id="{9F17B097-A313-4870-ACBB-B123D49005D5}"/>
              </a:ext>
            </a:extLst>
          </p:cNvPr>
          <p:cNvSpPr>
            <a:spLocks noGrp="1"/>
          </p:cNvSpPr>
          <p:nvPr/>
        </p:nvSpPr>
        <p:spPr>
          <a:xfrm>
            <a:off x="8648700" y="3462338"/>
            <a:ext cx="2514600" cy="6524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bandas · X</a:t>
            </a:r>
          </a:p>
        </p:txBody>
      </p:sp>
      <p:sp>
        <p:nvSpPr>
          <p:cNvPr id="16" name="U05-DG-013-decision_limit">
            <a:extLst>
              <a:ext uri="{FF2B5EF4-FFF2-40B4-BE49-F238E27FC236}">
                <a16:creationId xmlns:a16="http://schemas.microsoft.com/office/drawing/2014/main" id="{B935BC01-84DB-4708-ACA5-BFA845A231D8}"/>
              </a:ext>
            </a:extLst>
          </p:cNvPr>
          <p:cNvSpPr>
            <a:spLocks noGrp="1"/>
          </p:cNvSpPr>
          <p:nvPr/>
        </p:nvSpPr>
        <p:spPr>
          <a:xfrm>
            <a:off x="3714750" y="4762500"/>
            <a:ext cx="4762500" cy="1238250"/>
          </a:xfrm>
          <a:prstGeom prst="roundRect">
            <a:avLst>
              <a:gd name="adj" fmla="val 10769"/>
            </a:avLst>
          </a:prstGeom>
          <a:solidFill>
            <a:srgbClr val="F3F6F8"/>
          </a:solidFill>
          <a:ln w="19050">
            <a:solidFill>
              <a:srgbClr val="8291A3"/>
            </a:solidFill>
            <a:prstDash val="solid"/>
          </a:ln>
        </p:spPr>
      </p:sp>
      <p:sp>
        <p:nvSpPr>
          <p:cNvPr id="17" name="U05-DG-013-decision_limit-title">
            <a:extLst>
              <a:ext uri="{FF2B5EF4-FFF2-40B4-BE49-F238E27FC236}">
                <a16:creationId xmlns:a16="http://schemas.microsoft.com/office/drawing/2014/main" id="{487F2EC5-4C1C-4011-8B37-093B53A3BEC5}"/>
              </a:ext>
            </a:extLst>
          </p:cNvPr>
          <p:cNvSpPr>
            <a:spLocks noGrp="1"/>
          </p:cNvSpPr>
          <p:nvPr/>
        </p:nvSpPr>
        <p:spPr>
          <a:xfrm>
            <a:off x="3886200" y="4886325"/>
            <a:ext cx="44196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En toda ruta</a:t>
            </a:r>
          </a:p>
        </p:txBody>
      </p:sp>
      <p:sp>
        <p:nvSpPr>
          <p:cNvPr id="18" name="U05-DG-013-decision_limit-body">
            <a:extLst>
              <a:ext uri="{FF2B5EF4-FFF2-40B4-BE49-F238E27FC236}">
                <a16:creationId xmlns:a16="http://schemas.microsoft.com/office/drawing/2014/main" id="{2314BE10-9BD6-476A-80FD-EA5C500782D8}"/>
              </a:ext>
            </a:extLst>
          </p:cNvPr>
          <p:cNvSpPr>
            <a:spLocks noGrp="1"/>
          </p:cNvSpPr>
          <p:nvPr/>
        </p:nvSpPr>
        <p:spPr>
          <a:xfrm>
            <a:off x="3886200" y="5257800"/>
            <a:ext cx="44196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método · unidad · límite</a:t>
            </a:r>
          </a:p>
        </p:txBody>
      </p:sp>
      <p:cxnSp>
        <p:nvCxnSpPr>
          <p:cNvPr id="46" name="U05-DG-013-decision_1"/>
          <p:cNvCxnSpPr>
            <a:stCxn id="4" idx="2"/>
            <a:endCxn id="7" idx="0"/>
          </p:cNvCxnSpPr>
          <p:nvPr/>
        </p:nvCxnSpPr>
        <p:spPr>
          <a:xfrm flipH="1">
            <a:off x="2286000" y="2095500"/>
            <a:ext cx="3810000" cy="857250"/>
          </a:xfrm>
          <a:prstGeom prst="bentConnector4">
            <a:avLst>
              <a:gd name="adj1" fmla="val 0"/>
              <a:gd name="adj2" fmla="val 50000"/>
            </a:avLst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cxnSp>
        <p:nvCxnSpPr>
          <p:cNvPr id="47" name="U05-DG-013-decision_2"/>
          <p:cNvCxnSpPr>
            <a:stCxn id="4" idx="2"/>
            <a:endCxn id="10" idx="0"/>
          </p:cNvCxnSpPr>
          <p:nvPr/>
        </p:nvCxnSpPr>
        <p:spPr>
          <a:xfrm>
            <a:off x="6096000" y="2095500"/>
            <a:ext cx="0" cy="857250"/>
          </a:xfrm>
          <a:prstGeom prst="straightConnector1">
            <a:avLst/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cxnSp>
        <p:nvCxnSpPr>
          <p:cNvPr id="48" name="U05-DG-013-decision_3"/>
          <p:cNvCxnSpPr>
            <a:stCxn id="4" idx="2"/>
            <a:endCxn id="13" idx="0"/>
          </p:cNvCxnSpPr>
          <p:nvPr/>
        </p:nvCxnSpPr>
        <p:spPr>
          <a:xfrm>
            <a:off x="6096000" y="2095500"/>
            <a:ext cx="3810000" cy="857250"/>
          </a:xfrm>
          <a:prstGeom prst="bentConnector4">
            <a:avLst>
              <a:gd name="adj1" fmla="val 0"/>
              <a:gd name="adj2" fmla="val 50000"/>
            </a:avLst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cxnSp>
        <p:nvCxnSpPr>
          <p:cNvPr id="49" name="U05-DG-013-decision_4"/>
          <p:cNvCxnSpPr>
            <a:stCxn id="7" idx="2"/>
            <a:endCxn id="16" idx="0"/>
          </p:cNvCxnSpPr>
          <p:nvPr/>
        </p:nvCxnSpPr>
        <p:spPr>
          <a:xfrm>
            <a:off x="2286000" y="4238625"/>
            <a:ext cx="3810000" cy="523875"/>
          </a:xfrm>
          <a:prstGeom prst="bentConnector4">
            <a:avLst>
              <a:gd name="adj1" fmla="val 0"/>
              <a:gd name="adj2" fmla="val 50000"/>
            </a:avLst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cxnSp>
        <p:nvCxnSpPr>
          <p:cNvPr id="50" name="U05-DG-013-decision_5"/>
          <p:cNvCxnSpPr>
            <a:stCxn id="10" idx="2"/>
            <a:endCxn id="16" idx="0"/>
          </p:cNvCxnSpPr>
          <p:nvPr/>
        </p:nvCxnSpPr>
        <p:spPr>
          <a:xfrm>
            <a:off x="6096000" y="4238625"/>
            <a:ext cx="0" cy="523875"/>
          </a:xfrm>
          <a:prstGeom prst="straightConnector1">
            <a:avLst/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cxnSp>
        <p:nvCxnSpPr>
          <p:cNvPr id="51" name="U05-DG-013-decision_6"/>
          <p:cNvCxnSpPr>
            <a:stCxn id="13" idx="2"/>
            <a:endCxn id="16" idx="0"/>
          </p:cNvCxnSpPr>
          <p:nvPr/>
        </p:nvCxnSpPr>
        <p:spPr>
          <a:xfrm flipH="1">
            <a:off x="6096000" y="4238625"/>
            <a:ext cx="3810000" cy="523875"/>
          </a:xfrm>
          <a:prstGeom prst="bentConnector4">
            <a:avLst>
              <a:gd name="adj1" fmla="val 0"/>
              <a:gd name="adj2" fmla="val 50000"/>
            </a:avLst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sp>
        <p:nvSpPr>
          <p:cNvPr id="25" name="diagram-scale-note">
            <a:extLst>
              <a:ext uri="{FF2B5EF4-FFF2-40B4-BE49-F238E27FC236}">
                <a16:creationId xmlns:a16="http://schemas.microsoft.com/office/drawing/2014/main" id="{EAE8357D-2BD7-451D-B73A-D6B0823316FE}"/>
              </a:ext>
            </a:extLst>
          </p:cNvPr>
          <p:cNvSpPr>
            <a:spLocks noGrp="1"/>
          </p:cNvSpPr>
          <p:nvPr/>
        </p:nvSpPr>
        <p:spPr>
          <a:xfrm>
            <a:off x="552450" y="5829300"/>
            <a:ext cx="3905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05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Esquema conceptual · no está a escala</a:t>
            </a:r>
          </a:p>
        </p:txBody>
      </p:sp>
      <p:sp>
        <p:nvSpPr>
          <p:cNvPr id="26" name="caption">
            <a:extLst>
              <a:ext uri="{FF2B5EF4-FFF2-40B4-BE49-F238E27FC236}">
                <a16:creationId xmlns:a16="http://schemas.microsoft.com/office/drawing/2014/main" id="{BAFC87F0-E0A8-4FF8-A6C9-EF5C33F4B952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876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Representaciones distintas no son intercambiables.</a:t>
            </a:r>
          </a:p>
        </p:txBody>
      </p:sp>
      <p:sp>
        <p:nvSpPr>
          <p:cNvPr id="27" name="credit">
            <a:extLst>
              <a:ext uri="{FF2B5EF4-FFF2-40B4-BE49-F238E27FC236}">
                <a16:creationId xmlns:a16="http://schemas.microsoft.com/office/drawing/2014/main" id="{EB297CB4-3103-4950-A6B9-BDFA7D347B0A}"/>
              </a:ext>
            </a:extLst>
          </p:cNvPr>
          <p:cNvSpPr>
            <a:spLocks noGrp="1"/>
          </p:cNvSpPr>
          <p:nvPr/>
        </p:nvSpPr>
        <p:spPr>
          <a:xfrm>
            <a:off x="9382125" y="60769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BR; TEX 5.12; EP.</a:t>
            </a:r>
          </a:p>
        </p:txBody>
      </p:sp>
      <p:sp>
        <p:nvSpPr>
          <p:cNvPr id="19" name="slide-alt-summary" descr="Árbol de decisión relaciona cinco preguntas con representaciones adecuadas.">
            <a:extLst>
              <a:ext uri="{FF2B5EF4-FFF2-40B4-BE49-F238E27FC236}">
                <a16:creationId xmlns:a16="http://schemas.microsoft.com/office/drawing/2014/main" id="{ED7DF407-72A4-95F8-1EDA-8D247F921057}"/>
              </a:ext>
            </a:extLst>
          </p:cNvPr>
          <p:cNvSpPr/>
          <p:nvPr/>
        </p:nvSpPr>
        <p:spPr>
          <a:xfrm>
            <a:off x="12700" y="12700"/>
            <a:ext cx="12700" cy="12700"/>
          </a:xfrm>
          <a:prstGeom prst="rect">
            <a:avLst/>
          </a:prstGeom>
          <a:noFill/>
          <a:ln w="19050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17057724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eyebrow">
            <a:extLst>
              <a:ext uri="{FF2B5EF4-FFF2-40B4-BE49-F238E27FC236}">
                <a16:creationId xmlns:a16="http://schemas.microsoft.com/office/drawing/2014/main" id="{04EC08B4-C438-43F9-BBBD-B356864F884C}"/>
              </a:ext>
            </a:extLst>
          </p:cNvPr>
          <p:cNvSpPr>
            <a:spLocks noGrp="1"/>
          </p:cNvSpPr>
          <p:nvPr/>
        </p:nvSpPr>
        <p:spPr>
          <a:xfrm>
            <a:off x="514350" y="2095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126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418081CD-9319-49D9-ACAD-EFC735B4CF5C}"/>
              </a:ext>
            </a:extLst>
          </p:cNvPr>
          <p:cNvSpPr>
            <a:spLocks noGrp="1"/>
          </p:cNvSpPr>
          <p:nvPr/>
        </p:nvSpPr>
        <p:spPr>
          <a:xfrm>
            <a:off x="495300" y="428625"/>
            <a:ext cx="11191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Caso integrador: vocal, espectro y dispositivo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6E7D4E16-F06A-4158-95CA-585C506C9680}"/>
              </a:ext>
            </a:extLst>
          </p:cNvPr>
          <p:cNvSpPr>
            <a:spLocks noGrp="1"/>
          </p:cNvSpPr>
          <p:nvPr/>
        </p:nvSpPr>
        <p:spPr>
          <a:xfrm>
            <a:off x="523875" y="971550"/>
            <a:ext cx="11001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Separe datos de señal, registro y sistema antes de calcular.</a:t>
            </a:r>
          </a:p>
        </p:txBody>
      </p:sp>
      <p:sp>
        <p:nvSpPr>
          <p:cNvPr id="4" name="U05-DG-013-decision_question">
            <a:extLst>
              <a:ext uri="{FF2B5EF4-FFF2-40B4-BE49-F238E27FC236}">
                <a16:creationId xmlns:a16="http://schemas.microsoft.com/office/drawing/2014/main" id="{DA6448DD-C864-4837-9E5B-8E055B84E5C9}"/>
              </a:ext>
            </a:extLst>
          </p:cNvPr>
          <p:cNvSpPr>
            <a:spLocks noGrp="1"/>
          </p:cNvSpPr>
          <p:nvPr/>
        </p:nvSpPr>
        <p:spPr>
          <a:xfrm>
            <a:off x="3714750" y="1095375"/>
            <a:ext cx="4762500" cy="1000125"/>
          </a:xfrm>
          <a:prstGeom prst="roundRect">
            <a:avLst>
              <a:gd name="adj" fmla="val 13333"/>
            </a:avLst>
          </a:prstGeom>
          <a:solidFill>
            <a:srgbClr val="DDEFF5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5" name="U05-DG-013-decision_question-title">
            <a:extLst>
              <a:ext uri="{FF2B5EF4-FFF2-40B4-BE49-F238E27FC236}">
                <a16:creationId xmlns:a16="http://schemas.microsoft.com/office/drawing/2014/main" id="{68BA7922-0ED2-43D0-B052-F08D58C92741}"/>
              </a:ext>
            </a:extLst>
          </p:cNvPr>
          <p:cNvSpPr>
            <a:spLocks noGrp="1"/>
          </p:cNvSpPr>
          <p:nvPr/>
        </p:nvSpPr>
        <p:spPr>
          <a:xfrm>
            <a:off x="3886200" y="1219200"/>
            <a:ext cx="4419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¿Qué objeto necesito describir?</a:t>
            </a:r>
          </a:p>
        </p:txBody>
      </p:sp>
      <p:sp>
        <p:nvSpPr>
          <p:cNvPr id="6" name="U05-DG-013-decision_question-body">
            <a:extLst>
              <a:ext uri="{FF2B5EF4-FFF2-40B4-BE49-F238E27FC236}">
                <a16:creationId xmlns:a16="http://schemas.microsoft.com/office/drawing/2014/main" id="{F012E066-3104-45A2-AC45-EB049BDC5C77}"/>
              </a:ext>
            </a:extLst>
          </p:cNvPr>
          <p:cNvSpPr>
            <a:spLocks noGrp="1"/>
          </p:cNvSpPr>
          <p:nvPr/>
        </p:nvSpPr>
        <p:spPr>
          <a:xfrm>
            <a:off x="3886200" y="1543050"/>
            <a:ext cx="44196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elegir antes de graficar</a:t>
            </a:r>
          </a:p>
        </p:txBody>
      </p:sp>
      <p:sp>
        <p:nvSpPr>
          <p:cNvPr id="7" name="U05-DG-013-decision_signal">
            <a:extLst>
              <a:ext uri="{FF2B5EF4-FFF2-40B4-BE49-F238E27FC236}">
                <a16:creationId xmlns:a16="http://schemas.microsoft.com/office/drawing/2014/main" id="{C079EE0A-3742-4049-A7F5-C370C76D4B63}"/>
              </a:ext>
            </a:extLst>
          </p:cNvPr>
          <p:cNvSpPr>
            <a:spLocks noGrp="1"/>
          </p:cNvSpPr>
          <p:nvPr/>
        </p:nvSpPr>
        <p:spPr>
          <a:xfrm>
            <a:off x="857250" y="2952750"/>
            <a:ext cx="2857500" cy="1285875"/>
          </a:xfrm>
          <a:prstGeom prst="roundRect">
            <a:avLst>
              <a:gd name="adj" fmla="val 10370"/>
            </a:avLst>
          </a:prstGeom>
          <a:solidFill>
            <a:srgbClr val="EFF8FA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8" name="U05-DG-013-decision_signal-title">
            <a:extLst>
              <a:ext uri="{FF2B5EF4-FFF2-40B4-BE49-F238E27FC236}">
                <a16:creationId xmlns:a16="http://schemas.microsoft.com/office/drawing/2014/main" id="{CECC2075-C49A-40A0-B0F0-44FF690D2A54}"/>
              </a:ext>
            </a:extLst>
          </p:cNvPr>
          <p:cNvSpPr>
            <a:spLocks noGrp="1"/>
          </p:cNvSpPr>
          <p:nvPr/>
        </p:nvSpPr>
        <p:spPr>
          <a:xfrm>
            <a:off x="1028700" y="3076575"/>
            <a:ext cx="2514600" cy="3857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Señal</a:t>
            </a:r>
          </a:p>
        </p:txBody>
      </p:sp>
      <p:sp>
        <p:nvSpPr>
          <p:cNvPr id="9" name="U05-DG-013-decision_signal-body">
            <a:extLst>
              <a:ext uri="{FF2B5EF4-FFF2-40B4-BE49-F238E27FC236}">
                <a16:creationId xmlns:a16="http://schemas.microsoft.com/office/drawing/2014/main" id="{F7D80269-6A79-45D7-9BD2-A00704B97D78}"/>
              </a:ext>
            </a:extLst>
          </p:cNvPr>
          <p:cNvSpPr>
            <a:spLocks noGrp="1"/>
          </p:cNvSpPr>
          <p:nvPr/>
        </p:nvSpPr>
        <p:spPr>
          <a:xfrm>
            <a:off x="1028700" y="3462338"/>
            <a:ext cx="2514600" cy="6524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tiempo · espectro</a:t>
            </a:r>
          </a:p>
        </p:txBody>
      </p:sp>
      <p:sp>
        <p:nvSpPr>
          <p:cNvPr id="10" name="U05-DG-013-decision_system">
            <a:extLst>
              <a:ext uri="{FF2B5EF4-FFF2-40B4-BE49-F238E27FC236}">
                <a16:creationId xmlns:a16="http://schemas.microsoft.com/office/drawing/2014/main" id="{9FE25D8F-D5B5-408C-8E80-BAE110FE43D8}"/>
              </a:ext>
            </a:extLst>
          </p:cNvPr>
          <p:cNvSpPr>
            <a:spLocks noGrp="1"/>
          </p:cNvSpPr>
          <p:nvPr/>
        </p:nvSpPr>
        <p:spPr>
          <a:xfrm>
            <a:off x="4667250" y="2952750"/>
            <a:ext cx="2857500" cy="1285875"/>
          </a:xfrm>
          <a:prstGeom prst="roundRect">
            <a:avLst>
              <a:gd name="adj" fmla="val 10370"/>
            </a:avLst>
          </a:prstGeom>
          <a:solidFill>
            <a:srgbClr val="F3F6F8"/>
          </a:solidFill>
          <a:ln w="19050">
            <a:solidFill>
              <a:srgbClr val="8291A3"/>
            </a:solidFill>
            <a:prstDash val="solid"/>
          </a:ln>
        </p:spPr>
      </p:sp>
      <p:sp>
        <p:nvSpPr>
          <p:cNvPr id="11" name="U05-DG-013-decision_system-title">
            <a:extLst>
              <a:ext uri="{FF2B5EF4-FFF2-40B4-BE49-F238E27FC236}">
                <a16:creationId xmlns:a16="http://schemas.microsoft.com/office/drawing/2014/main" id="{8D568671-4B23-4EF0-9CE3-C4AE8F3FEDE0}"/>
              </a:ext>
            </a:extLst>
          </p:cNvPr>
          <p:cNvSpPr>
            <a:spLocks noGrp="1"/>
          </p:cNvSpPr>
          <p:nvPr/>
        </p:nvSpPr>
        <p:spPr>
          <a:xfrm>
            <a:off x="4838700" y="3076575"/>
            <a:ext cx="2514600" cy="3857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Sistema</a:t>
            </a:r>
          </a:p>
        </p:txBody>
      </p:sp>
      <p:sp>
        <p:nvSpPr>
          <p:cNvPr id="12" name="U05-DG-013-decision_system-body">
            <a:extLst>
              <a:ext uri="{FF2B5EF4-FFF2-40B4-BE49-F238E27FC236}">
                <a16:creationId xmlns:a16="http://schemas.microsoft.com/office/drawing/2014/main" id="{EB84A4FE-8967-4928-9F55-B6E22A8D5F4E}"/>
              </a:ext>
            </a:extLst>
          </p:cNvPr>
          <p:cNvSpPr>
            <a:spLocks noGrp="1"/>
          </p:cNvSpPr>
          <p:nvPr/>
        </p:nvSpPr>
        <p:spPr>
          <a:xfrm>
            <a:off x="4838700" y="3462338"/>
            <a:ext cx="2514600" cy="6524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respuesta H(f)</a:t>
            </a:r>
          </a:p>
        </p:txBody>
      </p:sp>
      <p:sp>
        <p:nvSpPr>
          <p:cNvPr id="13" name="U05-DG-013-decision_measure">
            <a:extLst>
              <a:ext uri="{FF2B5EF4-FFF2-40B4-BE49-F238E27FC236}">
                <a16:creationId xmlns:a16="http://schemas.microsoft.com/office/drawing/2014/main" id="{D3A2102E-8E4F-43D1-BFE7-C5C3A37D85A9}"/>
              </a:ext>
            </a:extLst>
          </p:cNvPr>
          <p:cNvSpPr>
            <a:spLocks noGrp="1"/>
          </p:cNvSpPr>
          <p:nvPr/>
        </p:nvSpPr>
        <p:spPr>
          <a:xfrm>
            <a:off x="8477250" y="2952750"/>
            <a:ext cx="2857500" cy="1285875"/>
          </a:xfrm>
          <a:prstGeom prst="roundRect">
            <a:avLst>
              <a:gd name="adj" fmla="val 10370"/>
            </a:avLst>
          </a:prstGeom>
          <a:solidFill>
            <a:srgbClr val="E3F2ED"/>
          </a:solidFill>
          <a:ln w="19050">
            <a:solidFill>
              <a:srgbClr val="2D7867"/>
            </a:solidFill>
            <a:prstDash val="solid"/>
          </a:ln>
        </p:spPr>
      </p:sp>
      <p:sp>
        <p:nvSpPr>
          <p:cNvPr id="14" name="U05-DG-013-decision_measure-title">
            <a:extLst>
              <a:ext uri="{FF2B5EF4-FFF2-40B4-BE49-F238E27FC236}">
                <a16:creationId xmlns:a16="http://schemas.microsoft.com/office/drawing/2014/main" id="{44BD49E7-0DB7-4B9F-9B44-46D5BDD094B9}"/>
              </a:ext>
            </a:extLst>
          </p:cNvPr>
          <p:cNvSpPr>
            <a:spLocks noGrp="1"/>
          </p:cNvSpPr>
          <p:nvPr/>
        </p:nvSpPr>
        <p:spPr>
          <a:xfrm>
            <a:off x="8648700" y="3076575"/>
            <a:ext cx="2514600" cy="3857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Medición</a:t>
            </a:r>
          </a:p>
        </p:txBody>
      </p:sp>
      <p:sp>
        <p:nvSpPr>
          <p:cNvPr id="15" name="U05-DG-013-decision_measure-body">
            <a:extLst>
              <a:ext uri="{FF2B5EF4-FFF2-40B4-BE49-F238E27FC236}">
                <a16:creationId xmlns:a16="http://schemas.microsoft.com/office/drawing/2014/main" id="{6AB49A50-D49D-4229-9BDF-057ECB132F20}"/>
              </a:ext>
            </a:extLst>
          </p:cNvPr>
          <p:cNvSpPr>
            <a:spLocks noGrp="1"/>
          </p:cNvSpPr>
          <p:nvPr/>
        </p:nvSpPr>
        <p:spPr>
          <a:xfrm>
            <a:off x="8648700" y="3462338"/>
            <a:ext cx="2514600" cy="6524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bandas · X</a:t>
            </a:r>
          </a:p>
        </p:txBody>
      </p:sp>
      <p:sp>
        <p:nvSpPr>
          <p:cNvPr id="16" name="U05-DG-013-decision_limit">
            <a:extLst>
              <a:ext uri="{FF2B5EF4-FFF2-40B4-BE49-F238E27FC236}">
                <a16:creationId xmlns:a16="http://schemas.microsoft.com/office/drawing/2014/main" id="{15FB29BE-154F-4443-BE82-5B069991C636}"/>
              </a:ext>
            </a:extLst>
          </p:cNvPr>
          <p:cNvSpPr>
            <a:spLocks noGrp="1"/>
          </p:cNvSpPr>
          <p:nvPr/>
        </p:nvSpPr>
        <p:spPr>
          <a:xfrm>
            <a:off x="3714750" y="4762500"/>
            <a:ext cx="4762500" cy="1238250"/>
          </a:xfrm>
          <a:prstGeom prst="roundRect">
            <a:avLst>
              <a:gd name="adj" fmla="val 10769"/>
            </a:avLst>
          </a:prstGeom>
          <a:solidFill>
            <a:srgbClr val="F3F6F8"/>
          </a:solidFill>
          <a:ln w="19050">
            <a:solidFill>
              <a:srgbClr val="8291A3"/>
            </a:solidFill>
            <a:prstDash val="solid"/>
          </a:ln>
        </p:spPr>
      </p:sp>
      <p:sp>
        <p:nvSpPr>
          <p:cNvPr id="17" name="U05-DG-013-decision_limit-title">
            <a:extLst>
              <a:ext uri="{FF2B5EF4-FFF2-40B4-BE49-F238E27FC236}">
                <a16:creationId xmlns:a16="http://schemas.microsoft.com/office/drawing/2014/main" id="{39010196-B45A-45DB-A1CF-C49650C68266}"/>
              </a:ext>
            </a:extLst>
          </p:cNvPr>
          <p:cNvSpPr>
            <a:spLocks noGrp="1"/>
          </p:cNvSpPr>
          <p:nvPr/>
        </p:nvSpPr>
        <p:spPr>
          <a:xfrm>
            <a:off x="3886200" y="4886325"/>
            <a:ext cx="44196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En toda ruta</a:t>
            </a:r>
          </a:p>
        </p:txBody>
      </p:sp>
      <p:sp>
        <p:nvSpPr>
          <p:cNvPr id="18" name="U05-DG-013-decision_limit-body">
            <a:extLst>
              <a:ext uri="{FF2B5EF4-FFF2-40B4-BE49-F238E27FC236}">
                <a16:creationId xmlns:a16="http://schemas.microsoft.com/office/drawing/2014/main" id="{A1C3B0F8-B46C-4C81-A75A-94098F046E6E}"/>
              </a:ext>
            </a:extLst>
          </p:cNvPr>
          <p:cNvSpPr>
            <a:spLocks noGrp="1"/>
          </p:cNvSpPr>
          <p:nvPr/>
        </p:nvSpPr>
        <p:spPr>
          <a:xfrm>
            <a:off x="3886200" y="5257800"/>
            <a:ext cx="44196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método · unidad · límite</a:t>
            </a:r>
          </a:p>
        </p:txBody>
      </p:sp>
      <p:cxnSp>
        <p:nvCxnSpPr>
          <p:cNvPr id="46" name="U05-DG-013-decision_1"/>
          <p:cNvCxnSpPr>
            <a:stCxn id="4" idx="2"/>
            <a:endCxn id="7" idx="0"/>
          </p:cNvCxnSpPr>
          <p:nvPr/>
        </p:nvCxnSpPr>
        <p:spPr>
          <a:xfrm flipH="1">
            <a:off x="2286000" y="2095500"/>
            <a:ext cx="3810000" cy="857250"/>
          </a:xfrm>
          <a:prstGeom prst="bentConnector4">
            <a:avLst>
              <a:gd name="adj1" fmla="val 0"/>
              <a:gd name="adj2" fmla="val 50000"/>
            </a:avLst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cxnSp>
        <p:nvCxnSpPr>
          <p:cNvPr id="47" name="U05-DG-013-decision_2"/>
          <p:cNvCxnSpPr>
            <a:stCxn id="4" idx="2"/>
            <a:endCxn id="10" idx="0"/>
          </p:cNvCxnSpPr>
          <p:nvPr/>
        </p:nvCxnSpPr>
        <p:spPr>
          <a:xfrm>
            <a:off x="6096000" y="2095500"/>
            <a:ext cx="0" cy="857250"/>
          </a:xfrm>
          <a:prstGeom prst="straightConnector1">
            <a:avLst/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cxnSp>
        <p:nvCxnSpPr>
          <p:cNvPr id="48" name="U05-DG-013-decision_3"/>
          <p:cNvCxnSpPr>
            <a:stCxn id="4" idx="2"/>
            <a:endCxn id="13" idx="0"/>
          </p:cNvCxnSpPr>
          <p:nvPr/>
        </p:nvCxnSpPr>
        <p:spPr>
          <a:xfrm>
            <a:off x="6096000" y="2095500"/>
            <a:ext cx="3810000" cy="857250"/>
          </a:xfrm>
          <a:prstGeom prst="bentConnector4">
            <a:avLst>
              <a:gd name="adj1" fmla="val 0"/>
              <a:gd name="adj2" fmla="val 50000"/>
            </a:avLst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cxnSp>
        <p:nvCxnSpPr>
          <p:cNvPr id="49" name="U05-DG-013-decision_4"/>
          <p:cNvCxnSpPr>
            <a:stCxn id="7" idx="2"/>
            <a:endCxn id="16" idx="0"/>
          </p:cNvCxnSpPr>
          <p:nvPr/>
        </p:nvCxnSpPr>
        <p:spPr>
          <a:xfrm>
            <a:off x="2286000" y="4238625"/>
            <a:ext cx="3810000" cy="523875"/>
          </a:xfrm>
          <a:prstGeom prst="bentConnector4">
            <a:avLst>
              <a:gd name="adj1" fmla="val 0"/>
              <a:gd name="adj2" fmla="val 50000"/>
            </a:avLst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cxnSp>
        <p:nvCxnSpPr>
          <p:cNvPr id="50" name="U05-DG-013-decision_5"/>
          <p:cNvCxnSpPr>
            <a:stCxn id="10" idx="2"/>
            <a:endCxn id="16" idx="0"/>
          </p:cNvCxnSpPr>
          <p:nvPr/>
        </p:nvCxnSpPr>
        <p:spPr>
          <a:xfrm>
            <a:off x="6096000" y="4238625"/>
            <a:ext cx="0" cy="523875"/>
          </a:xfrm>
          <a:prstGeom prst="straightConnector1">
            <a:avLst/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cxnSp>
        <p:nvCxnSpPr>
          <p:cNvPr id="51" name="U05-DG-013-decision_6"/>
          <p:cNvCxnSpPr>
            <a:stCxn id="13" idx="2"/>
            <a:endCxn id="16" idx="0"/>
          </p:cNvCxnSpPr>
          <p:nvPr/>
        </p:nvCxnSpPr>
        <p:spPr>
          <a:xfrm flipH="1">
            <a:off x="6096000" y="4238625"/>
            <a:ext cx="3810000" cy="523875"/>
          </a:xfrm>
          <a:prstGeom prst="bentConnector4">
            <a:avLst>
              <a:gd name="adj1" fmla="val 0"/>
              <a:gd name="adj2" fmla="val 50000"/>
            </a:avLst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sp>
        <p:nvSpPr>
          <p:cNvPr id="25" name="diagram-scale-note">
            <a:extLst>
              <a:ext uri="{FF2B5EF4-FFF2-40B4-BE49-F238E27FC236}">
                <a16:creationId xmlns:a16="http://schemas.microsoft.com/office/drawing/2014/main" id="{319897D8-9D34-4698-901C-3A7FE59AC0F5}"/>
              </a:ext>
            </a:extLst>
          </p:cNvPr>
          <p:cNvSpPr>
            <a:spLocks noGrp="1"/>
          </p:cNvSpPr>
          <p:nvPr/>
        </p:nvSpPr>
        <p:spPr>
          <a:xfrm>
            <a:off x="552450" y="5829300"/>
            <a:ext cx="3905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05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Esquema conceptual · no está a escala</a:t>
            </a:r>
          </a:p>
        </p:txBody>
      </p:sp>
      <p:sp>
        <p:nvSpPr>
          <p:cNvPr id="26" name="caption">
            <a:extLst>
              <a:ext uri="{FF2B5EF4-FFF2-40B4-BE49-F238E27FC236}">
                <a16:creationId xmlns:a16="http://schemas.microsoft.com/office/drawing/2014/main" id="{31C79DD8-A30D-4310-A64B-DFB2E7378A31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876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No resolver hasta clasificar cada dato por objeto.</a:t>
            </a:r>
          </a:p>
        </p:txBody>
      </p:sp>
      <p:sp>
        <p:nvSpPr>
          <p:cNvPr id="27" name="credit">
            <a:extLst>
              <a:ext uri="{FF2B5EF4-FFF2-40B4-BE49-F238E27FC236}">
                <a16:creationId xmlns:a16="http://schemas.microsoft.com/office/drawing/2014/main" id="{2802F456-3EED-4408-AEDD-551A147966D6}"/>
              </a:ext>
            </a:extLst>
          </p:cNvPr>
          <p:cNvSpPr>
            <a:spLocks noGrp="1"/>
          </p:cNvSpPr>
          <p:nvPr/>
        </p:nvSpPr>
        <p:spPr>
          <a:xfrm>
            <a:off x="9382125" y="60769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pregunta I1.</a:t>
            </a:r>
          </a:p>
        </p:txBody>
      </p:sp>
      <p:sp>
        <p:nvSpPr>
          <p:cNvPr id="19" name="slide-alt-summary" descr="Caso se divide en datos de una vocal y datos de un dispositivo con cinco consignas.">
            <a:extLst>
              <a:ext uri="{FF2B5EF4-FFF2-40B4-BE49-F238E27FC236}">
                <a16:creationId xmlns:a16="http://schemas.microsoft.com/office/drawing/2014/main" id="{B6591B37-D17C-A292-2C82-22F87EB823DB}"/>
              </a:ext>
            </a:extLst>
          </p:cNvPr>
          <p:cNvSpPr/>
          <p:nvPr/>
        </p:nvSpPr>
        <p:spPr>
          <a:xfrm>
            <a:off x="12700" y="12700"/>
            <a:ext cx="12700" cy="12700"/>
          </a:xfrm>
          <a:prstGeom prst="rect">
            <a:avLst/>
          </a:prstGeom>
          <a:noFill/>
          <a:ln w="19050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73297158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eyebrow">
            <a:extLst>
              <a:ext uri="{FF2B5EF4-FFF2-40B4-BE49-F238E27FC236}">
                <a16:creationId xmlns:a16="http://schemas.microsoft.com/office/drawing/2014/main" id="{6A8457DF-AADF-402F-ADE9-3915FA306E5D}"/>
              </a:ext>
            </a:extLst>
          </p:cNvPr>
          <p:cNvSpPr>
            <a:spLocks noGrp="1"/>
          </p:cNvSpPr>
          <p:nvPr/>
        </p:nvSpPr>
        <p:spPr>
          <a:xfrm>
            <a:off x="514350" y="2095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127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F3DF0571-D779-4DF7-B41F-4B01A41BCFBF}"/>
              </a:ext>
            </a:extLst>
          </p:cNvPr>
          <p:cNvSpPr>
            <a:spLocks noGrp="1"/>
          </p:cNvSpPr>
          <p:nvPr/>
        </p:nvSpPr>
        <p:spPr>
          <a:xfrm>
            <a:off x="495300" y="428625"/>
            <a:ext cx="11191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Resolver exige separar señal, sistema y condiciones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D8347AF4-D85F-42C8-95AC-5F8CE4331684}"/>
              </a:ext>
            </a:extLst>
          </p:cNvPr>
          <p:cNvSpPr>
            <a:spLocks noGrp="1"/>
          </p:cNvSpPr>
          <p:nvPr/>
        </p:nvSpPr>
        <p:spPr>
          <a:xfrm>
            <a:off x="523875" y="971550"/>
            <a:ext cx="11001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Una ruta de solución, no una repetición de todas las fórmulas.</a:t>
            </a:r>
          </a:p>
        </p:txBody>
      </p:sp>
      <p:sp>
        <p:nvSpPr>
          <p:cNvPr id="4" name="U05-DG-013-decision_question">
            <a:extLst>
              <a:ext uri="{FF2B5EF4-FFF2-40B4-BE49-F238E27FC236}">
                <a16:creationId xmlns:a16="http://schemas.microsoft.com/office/drawing/2014/main" id="{342FC673-37D7-4B43-AB81-87D8500F100A}"/>
              </a:ext>
            </a:extLst>
          </p:cNvPr>
          <p:cNvSpPr>
            <a:spLocks noGrp="1"/>
          </p:cNvSpPr>
          <p:nvPr/>
        </p:nvSpPr>
        <p:spPr>
          <a:xfrm>
            <a:off x="3714750" y="1095375"/>
            <a:ext cx="4762500" cy="1000125"/>
          </a:xfrm>
          <a:prstGeom prst="roundRect">
            <a:avLst>
              <a:gd name="adj" fmla="val 13333"/>
            </a:avLst>
          </a:prstGeom>
          <a:solidFill>
            <a:srgbClr val="DDEFF5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5" name="U05-DG-013-decision_question-title">
            <a:extLst>
              <a:ext uri="{FF2B5EF4-FFF2-40B4-BE49-F238E27FC236}">
                <a16:creationId xmlns:a16="http://schemas.microsoft.com/office/drawing/2014/main" id="{1417141C-80CA-4916-9BF7-6C747A8B4F1B}"/>
              </a:ext>
            </a:extLst>
          </p:cNvPr>
          <p:cNvSpPr>
            <a:spLocks noGrp="1"/>
          </p:cNvSpPr>
          <p:nvPr/>
        </p:nvSpPr>
        <p:spPr>
          <a:xfrm>
            <a:off x="3886200" y="1219200"/>
            <a:ext cx="4419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¿Qué objeto necesito describir?</a:t>
            </a:r>
          </a:p>
        </p:txBody>
      </p:sp>
      <p:sp>
        <p:nvSpPr>
          <p:cNvPr id="6" name="U05-DG-013-decision_question-body">
            <a:extLst>
              <a:ext uri="{FF2B5EF4-FFF2-40B4-BE49-F238E27FC236}">
                <a16:creationId xmlns:a16="http://schemas.microsoft.com/office/drawing/2014/main" id="{332CB824-ACB3-4EEF-B02D-6733335A5DF3}"/>
              </a:ext>
            </a:extLst>
          </p:cNvPr>
          <p:cNvSpPr>
            <a:spLocks noGrp="1"/>
          </p:cNvSpPr>
          <p:nvPr/>
        </p:nvSpPr>
        <p:spPr>
          <a:xfrm>
            <a:off x="3886200" y="1543050"/>
            <a:ext cx="44196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elegir antes de graficar</a:t>
            </a:r>
          </a:p>
        </p:txBody>
      </p:sp>
      <p:sp>
        <p:nvSpPr>
          <p:cNvPr id="7" name="U05-DG-013-decision_signal">
            <a:extLst>
              <a:ext uri="{FF2B5EF4-FFF2-40B4-BE49-F238E27FC236}">
                <a16:creationId xmlns:a16="http://schemas.microsoft.com/office/drawing/2014/main" id="{93528AA9-380A-463E-9C36-8736F280D727}"/>
              </a:ext>
            </a:extLst>
          </p:cNvPr>
          <p:cNvSpPr>
            <a:spLocks noGrp="1"/>
          </p:cNvSpPr>
          <p:nvPr/>
        </p:nvSpPr>
        <p:spPr>
          <a:xfrm>
            <a:off x="857250" y="2952750"/>
            <a:ext cx="2857500" cy="1285875"/>
          </a:xfrm>
          <a:prstGeom prst="roundRect">
            <a:avLst>
              <a:gd name="adj" fmla="val 10370"/>
            </a:avLst>
          </a:prstGeom>
          <a:solidFill>
            <a:srgbClr val="EFF8FA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8" name="U05-DG-013-decision_signal-title">
            <a:extLst>
              <a:ext uri="{FF2B5EF4-FFF2-40B4-BE49-F238E27FC236}">
                <a16:creationId xmlns:a16="http://schemas.microsoft.com/office/drawing/2014/main" id="{41879456-2BDE-4F5B-9020-60CEE55FE418}"/>
              </a:ext>
            </a:extLst>
          </p:cNvPr>
          <p:cNvSpPr>
            <a:spLocks noGrp="1"/>
          </p:cNvSpPr>
          <p:nvPr/>
        </p:nvSpPr>
        <p:spPr>
          <a:xfrm>
            <a:off x="1028700" y="3076575"/>
            <a:ext cx="2514600" cy="3857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Señal</a:t>
            </a:r>
          </a:p>
        </p:txBody>
      </p:sp>
      <p:sp>
        <p:nvSpPr>
          <p:cNvPr id="9" name="U05-DG-013-decision_signal-body">
            <a:extLst>
              <a:ext uri="{FF2B5EF4-FFF2-40B4-BE49-F238E27FC236}">
                <a16:creationId xmlns:a16="http://schemas.microsoft.com/office/drawing/2014/main" id="{465CF4D0-0502-4C64-BAD7-DF74BE053755}"/>
              </a:ext>
            </a:extLst>
          </p:cNvPr>
          <p:cNvSpPr>
            <a:spLocks noGrp="1"/>
          </p:cNvSpPr>
          <p:nvPr/>
        </p:nvSpPr>
        <p:spPr>
          <a:xfrm>
            <a:off x="1028700" y="3462338"/>
            <a:ext cx="2514600" cy="6524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tiempo · espectro</a:t>
            </a:r>
          </a:p>
        </p:txBody>
      </p:sp>
      <p:sp>
        <p:nvSpPr>
          <p:cNvPr id="10" name="U05-DG-013-decision_system">
            <a:extLst>
              <a:ext uri="{FF2B5EF4-FFF2-40B4-BE49-F238E27FC236}">
                <a16:creationId xmlns:a16="http://schemas.microsoft.com/office/drawing/2014/main" id="{B268E460-90DE-4EF9-AAD9-8416AD00C7C9}"/>
              </a:ext>
            </a:extLst>
          </p:cNvPr>
          <p:cNvSpPr>
            <a:spLocks noGrp="1"/>
          </p:cNvSpPr>
          <p:nvPr/>
        </p:nvSpPr>
        <p:spPr>
          <a:xfrm>
            <a:off x="4667250" y="2952750"/>
            <a:ext cx="2857500" cy="1285875"/>
          </a:xfrm>
          <a:prstGeom prst="roundRect">
            <a:avLst>
              <a:gd name="adj" fmla="val 10370"/>
            </a:avLst>
          </a:prstGeom>
          <a:solidFill>
            <a:srgbClr val="F3F6F8"/>
          </a:solidFill>
          <a:ln w="19050">
            <a:solidFill>
              <a:srgbClr val="8291A3"/>
            </a:solidFill>
            <a:prstDash val="solid"/>
          </a:ln>
        </p:spPr>
      </p:sp>
      <p:sp>
        <p:nvSpPr>
          <p:cNvPr id="11" name="U05-DG-013-decision_system-title">
            <a:extLst>
              <a:ext uri="{FF2B5EF4-FFF2-40B4-BE49-F238E27FC236}">
                <a16:creationId xmlns:a16="http://schemas.microsoft.com/office/drawing/2014/main" id="{C2112673-96E0-4454-953C-7EE1A742511C}"/>
              </a:ext>
            </a:extLst>
          </p:cNvPr>
          <p:cNvSpPr>
            <a:spLocks noGrp="1"/>
          </p:cNvSpPr>
          <p:nvPr/>
        </p:nvSpPr>
        <p:spPr>
          <a:xfrm>
            <a:off x="4838700" y="3076575"/>
            <a:ext cx="2514600" cy="3857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Sistema</a:t>
            </a:r>
          </a:p>
        </p:txBody>
      </p:sp>
      <p:sp>
        <p:nvSpPr>
          <p:cNvPr id="12" name="U05-DG-013-decision_system-body">
            <a:extLst>
              <a:ext uri="{FF2B5EF4-FFF2-40B4-BE49-F238E27FC236}">
                <a16:creationId xmlns:a16="http://schemas.microsoft.com/office/drawing/2014/main" id="{7EE0A4AC-2908-4283-A4B0-639CD3468829}"/>
              </a:ext>
            </a:extLst>
          </p:cNvPr>
          <p:cNvSpPr>
            <a:spLocks noGrp="1"/>
          </p:cNvSpPr>
          <p:nvPr/>
        </p:nvSpPr>
        <p:spPr>
          <a:xfrm>
            <a:off x="4838700" y="3462338"/>
            <a:ext cx="2514600" cy="6524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respuesta H(f)</a:t>
            </a:r>
          </a:p>
        </p:txBody>
      </p:sp>
      <p:sp>
        <p:nvSpPr>
          <p:cNvPr id="13" name="U05-DG-013-decision_measure">
            <a:extLst>
              <a:ext uri="{FF2B5EF4-FFF2-40B4-BE49-F238E27FC236}">
                <a16:creationId xmlns:a16="http://schemas.microsoft.com/office/drawing/2014/main" id="{79C6371F-AAAF-46A0-A6B6-A0849F8CB70D}"/>
              </a:ext>
            </a:extLst>
          </p:cNvPr>
          <p:cNvSpPr>
            <a:spLocks noGrp="1"/>
          </p:cNvSpPr>
          <p:nvPr/>
        </p:nvSpPr>
        <p:spPr>
          <a:xfrm>
            <a:off x="8477250" y="2952750"/>
            <a:ext cx="2857500" cy="1285875"/>
          </a:xfrm>
          <a:prstGeom prst="roundRect">
            <a:avLst>
              <a:gd name="adj" fmla="val 10370"/>
            </a:avLst>
          </a:prstGeom>
          <a:solidFill>
            <a:srgbClr val="E3F2ED"/>
          </a:solidFill>
          <a:ln w="19050">
            <a:solidFill>
              <a:srgbClr val="2D7867"/>
            </a:solidFill>
            <a:prstDash val="solid"/>
          </a:ln>
        </p:spPr>
      </p:sp>
      <p:sp>
        <p:nvSpPr>
          <p:cNvPr id="14" name="U05-DG-013-decision_measure-title">
            <a:extLst>
              <a:ext uri="{FF2B5EF4-FFF2-40B4-BE49-F238E27FC236}">
                <a16:creationId xmlns:a16="http://schemas.microsoft.com/office/drawing/2014/main" id="{31853D84-A504-4C20-AE61-E66C20CCDEF6}"/>
              </a:ext>
            </a:extLst>
          </p:cNvPr>
          <p:cNvSpPr>
            <a:spLocks noGrp="1"/>
          </p:cNvSpPr>
          <p:nvPr/>
        </p:nvSpPr>
        <p:spPr>
          <a:xfrm>
            <a:off x="8648700" y="3076575"/>
            <a:ext cx="2514600" cy="3857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Medición</a:t>
            </a:r>
          </a:p>
        </p:txBody>
      </p:sp>
      <p:sp>
        <p:nvSpPr>
          <p:cNvPr id="15" name="U05-DG-013-decision_measure-body">
            <a:extLst>
              <a:ext uri="{FF2B5EF4-FFF2-40B4-BE49-F238E27FC236}">
                <a16:creationId xmlns:a16="http://schemas.microsoft.com/office/drawing/2014/main" id="{76C373A2-D57A-46CC-9984-9E21C20CA45B}"/>
              </a:ext>
            </a:extLst>
          </p:cNvPr>
          <p:cNvSpPr>
            <a:spLocks noGrp="1"/>
          </p:cNvSpPr>
          <p:nvPr/>
        </p:nvSpPr>
        <p:spPr>
          <a:xfrm>
            <a:off x="8648700" y="3462338"/>
            <a:ext cx="2514600" cy="6524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bandas · X</a:t>
            </a:r>
          </a:p>
        </p:txBody>
      </p:sp>
      <p:sp>
        <p:nvSpPr>
          <p:cNvPr id="16" name="U05-DG-013-decision_limit">
            <a:extLst>
              <a:ext uri="{FF2B5EF4-FFF2-40B4-BE49-F238E27FC236}">
                <a16:creationId xmlns:a16="http://schemas.microsoft.com/office/drawing/2014/main" id="{64B7659D-A693-4B5A-8DE4-38F6B6B10C42}"/>
              </a:ext>
            </a:extLst>
          </p:cNvPr>
          <p:cNvSpPr>
            <a:spLocks noGrp="1"/>
          </p:cNvSpPr>
          <p:nvPr/>
        </p:nvSpPr>
        <p:spPr>
          <a:xfrm>
            <a:off x="3714750" y="4762500"/>
            <a:ext cx="4762500" cy="1238250"/>
          </a:xfrm>
          <a:prstGeom prst="roundRect">
            <a:avLst>
              <a:gd name="adj" fmla="val 10769"/>
            </a:avLst>
          </a:prstGeom>
          <a:solidFill>
            <a:srgbClr val="F3F6F8"/>
          </a:solidFill>
          <a:ln w="19050">
            <a:solidFill>
              <a:srgbClr val="8291A3"/>
            </a:solidFill>
            <a:prstDash val="solid"/>
          </a:ln>
        </p:spPr>
      </p:sp>
      <p:sp>
        <p:nvSpPr>
          <p:cNvPr id="17" name="U05-DG-013-decision_limit-title">
            <a:extLst>
              <a:ext uri="{FF2B5EF4-FFF2-40B4-BE49-F238E27FC236}">
                <a16:creationId xmlns:a16="http://schemas.microsoft.com/office/drawing/2014/main" id="{7E1F431F-4F12-4463-8F1E-1A70FBC25895}"/>
              </a:ext>
            </a:extLst>
          </p:cNvPr>
          <p:cNvSpPr>
            <a:spLocks noGrp="1"/>
          </p:cNvSpPr>
          <p:nvPr/>
        </p:nvSpPr>
        <p:spPr>
          <a:xfrm>
            <a:off x="3886200" y="4886325"/>
            <a:ext cx="44196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En toda ruta</a:t>
            </a:r>
          </a:p>
        </p:txBody>
      </p:sp>
      <p:sp>
        <p:nvSpPr>
          <p:cNvPr id="18" name="U05-DG-013-decision_limit-body">
            <a:extLst>
              <a:ext uri="{FF2B5EF4-FFF2-40B4-BE49-F238E27FC236}">
                <a16:creationId xmlns:a16="http://schemas.microsoft.com/office/drawing/2014/main" id="{174CCACC-B4CA-4436-BA6B-4A70FD9CF1EE}"/>
              </a:ext>
            </a:extLst>
          </p:cNvPr>
          <p:cNvSpPr>
            <a:spLocks noGrp="1"/>
          </p:cNvSpPr>
          <p:nvPr/>
        </p:nvSpPr>
        <p:spPr>
          <a:xfrm>
            <a:off x="3886200" y="5257800"/>
            <a:ext cx="44196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método · unidad · límite</a:t>
            </a:r>
          </a:p>
        </p:txBody>
      </p:sp>
      <p:cxnSp>
        <p:nvCxnSpPr>
          <p:cNvPr id="46" name="U05-DG-013-decision_1"/>
          <p:cNvCxnSpPr>
            <a:stCxn id="4" idx="2"/>
            <a:endCxn id="7" idx="0"/>
          </p:cNvCxnSpPr>
          <p:nvPr/>
        </p:nvCxnSpPr>
        <p:spPr>
          <a:xfrm flipH="1">
            <a:off x="2286000" y="2095500"/>
            <a:ext cx="3810000" cy="857250"/>
          </a:xfrm>
          <a:prstGeom prst="bentConnector4">
            <a:avLst>
              <a:gd name="adj1" fmla="val 0"/>
              <a:gd name="adj2" fmla="val 50000"/>
            </a:avLst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cxnSp>
        <p:nvCxnSpPr>
          <p:cNvPr id="47" name="U05-DG-013-decision_2"/>
          <p:cNvCxnSpPr>
            <a:stCxn id="4" idx="2"/>
            <a:endCxn id="10" idx="0"/>
          </p:cNvCxnSpPr>
          <p:nvPr/>
        </p:nvCxnSpPr>
        <p:spPr>
          <a:xfrm>
            <a:off x="6096000" y="2095500"/>
            <a:ext cx="0" cy="857250"/>
          </a:xfrm>
          <a:prstGeom prst="straightConnector1">
            <a:avLst/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cxnSp>
        <p:nvCxnSpPr>
          <p:cNvPr id="48" name="U05-DG-013-decision_3"/>
          <p:cNvCxnSpPr>
            <a:stCxn id="4" idx="2"/>
            <a:endCxn id="13" idx="0"/>
          </p:cNvCxnSpPr>
          <p:nvPr/>
        </p:nvCxnSpPr>
        <p:spPr>
          <a:xfrm>
            <a:off x="6096000" y="2095500"/>
            <a:ext cx="3810000" cy="857250"/>
          </a:xfrm>
          <a:prstGeom prst="bentConnector4">
            <a:avLst>
              <a:gd name="adj1" fmla="val 0"/>
              <a:gd name="adj2" fmla="val 50000"/>
            </a:avLst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cxnSp>
        <p:nvCxnSpPr>
          <p:cNvPr id="49" name="U05-DG-013-decision_4"/>
          <p:cNvCxnSpPr>
            <a:stCxn id="7" idx="2"/>
            <a:endCxn id="16" idx="0"/>
          </p:cNvCxnSpPr>
          <p:nvPr/>
        </p:nvCxnSpPr>
        <p:spPr>
          <a:xfrm>
            <a:off x="2286000" y="4238625"/>
            <a:ext cx="3810000" cy="523875"/>
          </a:xfrm>
          <a:prstGeom prst="bentConnector4">
            <a:avLst>
              <a:gd name="adj1" fmla="val 0"/>
              <a:gd name="adj2" fmla="val 50000"/>
            </a:avLst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cxnSp>
        <p:nvCxnSpPr>
          <p:cNvPr id="50" name="U05-DG-013-decision_5"/>
          <p:cNvCxnSpPr>
            <a:stCxn id="10" idx="2"/>
            <a:endCxn id="16" idx="0"/>
          </p:cNvCxnSpPr>
          <p:nvPr/>
        </p:nvCxnSpPr>
        <p:spPr>
          <a:xfrm>
            <a:off x="6096000" y="4238625"/>
            <a:ext cx="0" cy="523875"/>
          </a:xfrm>
          <a:prstGeom prst="straightConnector1">
            <a:avLst/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cxnSp>
        <p:nvCxnSpPr>
          <p:cNvPr id="51" name="U05-DG-013-decision_6"/>
          <p:cNvCxnSpPr>
            <a:stCxn id="13" idx="2"/>
            <a:endCxn id="16" idx="0"/>
          </p:cNvCxnSpPr>
          <p:nvPr/>
        </p:nvCxnSpPr>
        <p:spPr>
          <a:xfrm flipH="1">
            <a:off x="6096000" y="4238625"/>
            <a:ext cx="3810000" cy="523875"/>
          </a:xfrm>
          <a:prstGeom prst="bentConnector4">
            <a:avLst>
              <a:gd name="adj1" fmla="val 0"/>
              <a:gd name="adj2" fmla="val 50000"/>
            </a:avLst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sp>
        <p:nvSpPr>
          <p:cNvPr id="25" name="diagram-scale-note">
            <a:extLst>
              <a:ext uri="{FF2B5EF4-FFF2-40B4-BE49-F238E27FC236}">
                <a16:creationId xmlns:a16="http://schemas.microsoft.com/office/drawing/2014/main" id="{2DC3E9A9-0A7D-44C3-BE09-3A5B6A390577}"/>
              </a:ext>
            </a:extLst>
          </p:cNvPr>
          <p:cNvSpPr>
            <a:spLocks noGrp="1"/>
          </p:cNvSpPr>
          <p:nvPr/>
        </p:nvSpPr>
        <p:spPr>
          <a:xfrm>
            <a:off x="552450" y="5829300"/>
            <a:ext cx="3905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05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Esquema conceptual · no está a escala</a:t>
            </a:r>
          </a:p>
        </p:txBody>
      </p:sp>
      <p:sp>
        <p:nvSpPr>
          <p:cNvPr id="26" name="caption">
            <a:extLst>
              <a:ext uri="{FF2B5EF4-FFF2-40B4-BE49-F238E27FC236}">
                <a16:creationId xmlns:a16="http://schemas.microsoft.com/office/drawing/2014/main" id="{803B8E0B-7C42-4B52-9384-BC2E418E2512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876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Cada resultado pertenece primero a un objeto.</a:t>
            </a:r>
          </a:p>
        </p:txBody>
      </p:sp>
      <p:sp>
        <p:nvSpPr>
          <p:cNvPr id="27" name="credit">
            <a:extLst>
              <a:ext uri="{FF2B5EF4-FFF2-40B4-BE49-F238E27FC236}">
                <a16:creationId xmlns:a16="http://schemas.microsoft.com/office/drawing/2014/main" id="{D6563784-9F91-4891-AB6B-25B220C4AE4D}"/>
              </a:ext>
            </a:extLst>
          </p:cNvPr>
          <p:cNvSpPr>
            <a:spLocks noGrp="1"/>
          </p:cNvSpPr>
          <p:nvPr/>
        </p:nvSpPr>
        <p:spPr>
          <a:xfrm>
            <a:off x="9382125" y="60769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solución I1.</a:t>
            </a:r>
          </a:p>
        </p:txBody>
      </p:sp>
      <p:sp>
        <p:nvSpPr>
          <p:cNvPr id="19" name="slide-alt-summary" descr="Dos columnas de señal y sistema convergen en una lista de condiciones.">
            <a:extLst>
              <a:ext uri="{FF2B5EF4-FFF2-40B4-BE49-F238E27FC236}">
                <a16:creationId xmlns:a16="http://schemas.microsoft.com/office/drawing/2014/main" id="{E86228D6-207F-F7B9-0AF2-F9FA93E86DC5}"/>
              </a:ext>
            </a:extLst>
          </p:cNvPr>
          <p:cNvSpPr/>
          <p:nvPr/>
        </p:nvSpPr>
        <p:spPr>
          <a:xfrm>
            <a:off x="12700" y="12700"/>
            <a:ext cx="12700" cy="12700"/>
          </a:xfrm>
          <a:prstGeom prst="rect">
            <a:avLst/>
          </a:prstGeom>
          <a:noFill/>
          <a:ln w="19050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33635661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yebrow">
            <a:extLst>
              <a:ext uri="{FF2B5EF4-FFF2-40B4-BE49-F238E27FC236}">
                <a16:creationId xmlns:a16="http://schemas.microsoft.com/office/drawing/2014/main" id="{F11B73A5-BE02-4168-AD53-15C9DF9C0BBB}"/>
              </a:ext>
            </a:extLst>
          </p:cNvPr>
          <p:cNvSpPr>
            <a:spLocks noGrp="1"/>
          </p:cNvSpPr>
          <p:nvPr/>
        </p:nvSpPr>
        <p:spPr>
          <a:xfrm>
            <a:off x="514350" y="2095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128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A0938546-6987-476A-877E-2686E975023B}"/>
              </a:ext>
            </a:extLst>
          </p:cNvPr>
          <p:cNvSpPr>
            <a:spLocks noGrp="1"/>
          </p:cNvSpPr>
          <p:nvPr/>
        </p:nvSpPr>
        <p:spPr>
          <a:xfrm>
            <a:off x="495300" y="428625"/>
            <a:ext cx="11191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Ocho atajos que cambian el significado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971FF5D7-7BDD-4E84-A467-C406C8588401}"/>
              </a:ext>
            </a:extLst>
          </p:cNvPr>
          <p:cNvSpPr>
            <a:spLocks noGrp="1"/>
          </p:cNvSpPr>
          <p:nvPr/>
        </p:nvSpPr>
        <p:spPr>
          <a:xfrm>
            <a:off x="523875" y="971550"/>
            <a:ext cx="11001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Corrija cada afirmación con una evidencia.</a:t>
            </a:r>
          </a:p>
        </p:txBody>
      </p:sp>
      <p:sp>
        <p:nvSpPr>
          <p:cNvPr id="4" name="error-box">
            <a:extLst>
              <a:ext uri="{FF2B5EF4-FFF2-40B4-BE49-F238E27FC236}">
                <a16:creationId xmlns:a16="http://schemas.microsoft.com/office/drawing/2014/main" id="{82855DC4-9F85-4A04-A1FC-696171E199B4}"/>
              </a:ext>
            </a:extLst>
          </p:cNvPr>
          <p:cNvSpPr>
            <a:spLocks noGrp="1"/>
          </p:cNvSpPr>
          <p:nvPr/>
        </p:nvSpPr>
        <p:spPr>
          <a:xfrm>
            <a:off x="619125" y="1476375"/>
            <a:ext cx="6953250" cy="3714750"/>
          </a:xfrm>
          <a:prstGeom prst="roundRect">
            <a:avLst>
              <a:gd name="adj" fmla="val 3590"/>
            </a:avLst>
          </a:prstGeom>
          <a:solidFill>
            <a:srgbClr val="F3F6F8"/>
          </a:solidFill>
          <a:ln w="19050">
            <a:solidFill>
              <a:srgbClr val="8291A3"/>
            </a:solidFill>
            <a:prstDash val="solid"/>
          </a:ln>
        </p:spPr>
      </p:sp>
      <p:sp>
        <p:nvSpPr>
          <p:cNvPr id="5" name="error-title">
            <a:extLst>
              <a:ext uri="{FF2B5EF4-FFF2-40B4-BE49-F238E27FC236}">
                <a16:creationId xmlns:a16="http://schemas.microsoft.com/office/drawing/2014/main" id="{AE4EE2DB-8EF9-4B73-9F97-9FAEE2A2E64D}"/>
              </a:ext>
            </a:extLst>
          </p:cNvPr>
          <p:cNvSpPr>
            <a:spLocks noGrp="1"/>
          </p:cNvSpPr>
          <p:nvPr/>
        </p:nvSpPr>
        <p:spPr>
          <a:xfrm>
            <a:off x="790575" y="1609725"/>
            <a:ext cx="6610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75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Error frecuente</a:t>
            </a:r>
          </a:p>
        </p:txBody>
      </p:sp>
      <p:sp>
        <p:nvSpPr>
          <p:cNvPr id="6" name="error-body">
            <a:extLst>
              <a:ext uri="{FF2B5EF4-FFF2-40B4-BE49-F238E27FC236}">
                <a16:creationId xmlns:a16="http://schemas.microsoft.com/office/drawing/2014/main" id="{DB06C4C3-3689-4A00-BFAF-4F55375CC2A1}"/>
              </a:ext>
            </a:extLst>
          </p:cNvPr>
          <p:cNvSpPr>
            <a:spLocks noGrp="1"/>
          </p:cNvSpPr>
          <p:nvPr/>
        </p:nvSpPr>
        <p:spPr>
          <a:xfrm>
            <a:off x="790575" y="1990725"/>
            <a:ext cx="6610350" cy="3067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02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02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FFT=intensidad; espectro=respuesta; máximo=f_0; bin=banda; ventana corrige todo; octava=Hz fijo; A=audición; L_eq=promedio de dB.</a:t>
            </a:r>
          </a:p>
        </p:txBody>
      </p:sp>
      <p:sp>
        <p:nvSpPr>
          <p:cNvPr id="7" name="correction-box">
            <a:extLst>
              <a:ext uri="{FF2B5EF4-FFF2-40B4-BE49-F238E27FC236}">
                <a16:creationId xmlns:a16="http://schemas.microsoft.com/office/drawing/2014/main" id="{81A886D6-8237-4599-AA52-D210A8237887}"/>
              </a:ext>
            </a:extLst>
          </p:cNvPr>
          <p:cNvSpPr>
            <a:spLocks noGrp="1"/>
          </p:cNvSpPr>
          <p:nvPr/>
        </p:nvSpPr>
        <p:spPr>
          <a:xfrm>
            <a:off x="7953375" y="1476375"/>
            <a:ext cx="3619500" cy="3714750"/>
          </a:xfrm>
          <a:prstGeom prst="roundRect">
            <a:avLst>
              <a:gd name="adj" fmla="val 3684"/>
            </a:avLst>
          </a:prstGeom>
          <a:solidFill>
            <a:srgbClr val="E3F2ED"/>
          </a:solidFill>
          <a:ln w="19050">
            <a:solidFill>
              <a:srgbClr val="2D7867"/>
            </a:solidFill>
            <a:prstDash val="solid"/>
          </a:ln>
        </p:spPr>
      </p:sp>
      <p:sp>
        <p:nvSpPr>
          <p:cNvPr id="8" name="correction-title">
            <a:extLst>
              <a:ext uri="{FF2B5EF4-FFF2-40B4-BE49-F238E27FC236}">
                <a16:creationId xmlns:a16="http://schemas.microsoft.com/office/drawing/2014/main" id="{96EAB222-C5A0-4491-8EBF-FC0ECE51D573}"/>
              </a:ext>
            </a:extLst>
          </p:cNvPr>
          <p:cNvSpPr>
            <a:spLocks noGrp="1"/>
          </p:cNvSpPr>
          <p:nvPr/>
        </p:nvSpPr>
        <p:spPr>
          <a:xfrm>
            <a:off x="8124825" y="1609725"/>
            <a:ext cx="3276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Corrección útil</a:t>
            </a:r>
          </a:p>
        </p:txBody>
      </p:sp>
      <p:sp>
        <p:nvSpPr>
          <p:cNvPr id="9" name="correction-body">
            <a:extLst>
              <a:ext uri="{FF2B5EF4-FFF2-40B4-BE49-F238E27FC236}">
                <a16:creationId xmlns:a16="http://schemas.microsoft.com/office/drawing/2014/main" id="{421A61D4-07E6-468A-B6B2-6537A59CC0EC}"/>
              </a:ext>
            </a:extLst>
          </p:cNvPr>
          <p:cNvSpPr>
            <a:spLocks noGrp="1"/>
          </p:cNvSpPr>
          <p:nvPr/>
        </p:nvSpPr>
        <p:spPr>
          <a:xfrm>
            <a:off x="8124825" y="1990725"/>
            <a:ext cx="3276600" cy="3067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cada error se acompaña por una corrección de una línea.</a:t>
            </a:r>
          </a:p>
        </p:txBody>
      </p:sp>
      <p:sp>
        <p:nvSpPr>
          <p:cNvPr id="10" name="caption">
            <a:extLst>
              <a:ext uri="{FF2B5EF4-FFF2-40B4-BE49-F238E27FC236}">
                <a16:creationId xmlns:a16="http://schemas.microsoft.com/office/drawing/2014/main" id="{19327095-FDE7-4068-9F76-1FE07B4DCF20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876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La precisión terminológica protege la interpretación física.</a:t>
            </a:r>
          </a:p>
        </p:txBody>
      </p:sp>
      <p:sp>
        <p:nvSpPr>
          <p:cNvPr id="11" name="credit">
            <a:extLst>
              <a:ext uri="{FF2B5EF4-FFF2-40B4-BE49-F238E27FC236}">
                <a16:creationId xmlns:a16="http://schemas.microsoft.com/office/drawing/2014/main" id="{250F1C45-DD84-44C8-9265-9C884241693F}"/>
              </a:ext>
            </a:extLst>
          </p:cNvPr>
          <p:cNvSpPr>
            <a:spLocks noGrp="1"/>
          </p:cNvSpPr>
          <p:nvPr/>
        </p:nvSpPr>
        <p:spPr>
          <a:xfrm>
            <a:off x="9382125" y="60769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5.13; BR.</a:t>
            </a:r>
          </a:p>
        </p:txBody>
      </p:sp>
      <p:sp>
        <p:nvSpPr>
          <p:cNvPr id="13" name="slide-alt-summary" descr="Ocho errores frecuentes se enfrentan a ocho correcciones breves.">
            <a:extLst>
              <a:ext uri="{FF2B5EF4-FFF2-40B4-BE49-F238E27FC236}">
                <a16:creationId xmlns:a16="http://schemas.microsoft.com/office/drawing/2014/main" id="{2DCAECFC-B778-1E7F-24F2-44DC519268B5}"/>
              </a:ext>
            </a:extLst>
          </p:cNvPr>
          <p:cNvSpPr/>
          <p:nvPr/>
        </p:nvSpPr>
        <p:spPr>
          <a:xfrm>
            <a:off x="12700" y="12700"/>
            <a:ext cx="12700" cy="12700"/>
          </a:xfrm>
          <a:prstGeom prst="rect">
            <a:avLst/>
          </a:prstGeom>
          <a:noFill/>
          <a:ln w="19050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41329192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yebrow">
            <a:extLst>
              <a:ext uri="{FF2B5EF4-FFF2-40B4-BE49-F238E27FC236}">
                <a16:creationId xmlns:a16="http://schemas.microsoft.com/office/drawing/2014/main" id="{17669FCB-857B-4582-B956-D908AD032ADB}"/>
              </a:ext>
            </a:extLst>
          </p:cNvPr>
          <p:cNvSpPr>
            <a:spLocks noGrp="1"/>
          </p:cNvSpPr>
          <p:nvPr/>
        </p:nvSpPr>
        <p:spPr>
          <a:xfrm>
            <a:off x="514350" y="2095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129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E9719E67-F9CD-4C95-B540-8F479828BE45}"/>
              </a:ext>
            </a:extLst>
          </p:cNvPr>
          <p:cNvSpPr>
            <a:spLocks noGrp="1"/>
          </p:cNvSpPr>
          <p:nvPr/>
        </p:nvSpPr>
        <p:spPr>
          <a:xfrm>
            <a:off x="495300" y="428625"/>
            <a:ext cx="11191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De una señal registrada a una medición interpretable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0CCFDE59-83BE-4AF4-9B0F-DEA504C1C8C7}"/>
              </a:ext>
            </a:extLst>
          </p:cNvPr>
          <p:cNvSpPr>
            <a:spLocks noGrp="1"/>
          </p:cNvSpPr>
          <p:nvPr/>
        </p:nvSpPr>
        <p:spPr>
          <a:xfrm>
            <a:off x="523875" y="971550"/>
            <a:ext cx="11001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Objeto, representación, método, parámetros y límites forman una cadena.</a:t>
            </a:r>
          </a:p>
        </p:txBody>
      </p:sp>
      <p:sp>
        <p:nvSpPr>
          <p:cNvPr id="4" name="U05-DG-001-stage_signal">
            <a:extLst>
              <a:ext uri="{FF2B5EF4-FFF2-40B4-BE49-F238E27FC236}">
                <a16:creationId xmlns:a16="http://schemas.microsoft.com/office/drawing/2014/main" id="{18868BDD-2C9D-478E-AFBF-501851A780CB}"/>
              </a:ext>
            </a:extLst>
          </p:cNvPr>
          <p:cNvSpPr>
            <a:spLocks noGrp="1"/>
          </p:cNvSpPr>
          <p:nvPr/>
        </p:nvSpPr>
        <p:spPr>
          <a:xfrm>
            <a:off x="762000" y="2381250"/>
            <a:ext cx="2333625" cy="1428750"/>
          </a:xfrm>
          <a:prstGeom prst="roundRect">
            <a:avLst>
              <a:gd name="adj" fmla="val 9333"/>
            </a:avLst>
          </a:prstGeom>
          <a:solidFill>
            <a:srgbClr val="EFF8FA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5" name="U05-DG-001-stage_signal-title">
            <a:extLst>
              <a:ext uri="{FF2B5EF4-FFF2-40B4-BE49-F238E27FC236}">
                <a16:creationId xmlns:a16="http://schemas.microsoft.com/office/drawing/2014/main" id="{297AF7A6-D0BD-4589-87B8-EE11A0B84B83}"/>
              </a:ext>
            </a:extLst>
          </p:cNvPr>
          <p:cNvSpPr>
            <a:spLocks noGrp="1"/>
          </p:cNvSpPr>
          <p:nvPr/>
        </p:nvSpPr>
        <p:spPr>
          <a:xfrm>
            <a:off x="933450" y="2505075"/>
            <a:ext cx="199072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1 · Señal</a:t>
            </a:r>
          </a:p>
        </p:txBody>
      </p:sp>
      <p:sp>
        <p:nvSpPr>
          <p:cNvPr id="6" name="U05-DG-001-stage_signal-body">
            <a:extLst>
              <a:ext uri="{FF2B5EF4-FFF2-40B4-BE49-F238E27FC236}">
                <a16:creationId xmlns:a16="http://schemas.microsoft.com/office/drawing/2014/main" id="{7FFE499C-F449-4B60-91E5-BDC628E3C820}"/>
              </a:ext>
            </a:extLst>
          </p:cNvPr>
          <p:cNvSpPr>
            <a:spLocks noGrp="1"/>
          </p:cNvSpPr>
          <p:nvPr/>
        </p:nvSpPr>
        <p:spPr>
          <a:xfrm>
            <a:off x="933450" y="2933700"/>
            <a:ext cx="1990725" cy="752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tiempo · RMS</a:t>
            </a:r>
          </a:p>
        </p:txBody>
      </p:sp>
      <p:sp>
        <p:nvSpPr>
          <p:cNvPr id="7" name="U05-DG-001-stage_repr">
            <a:extLst>
              <a:ext uri="{FF2B5EF4-FFF2-40B4-BE49-F238E27FC236}">
                <a16:creationId xmlns:a16="http://schemas.microsoft.com/office/drawing/2014/main" id="{38D6BF35-7C8C-4D15-86AC-9AEDDFAF2ABD}"/>
              </a:ext>
            </a:extLst>
          </p:cNvPr>
          <p:cNvSpPr>
            <a:spLocks noGrp="1"/>
          </p:cNvSpPr>
          <p:nvPr/>
        </p:nvSpPr>
        <p:spPr>
          <a:xfrm>
            <a:off x="3524250" y="2381250"/>
            <a:ext cx="2333625" cy="1428750"/>
          </a:xfrm>
          <a:prstGeom prst="roundRect">
            <a:avLst>
              <a:gd name="adj" fmla="val 9333"/>
            </a:avLst>
          </a:prstGeom>
          <a:solidFill>
            <a:srgbClr val="DDEFF5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8" name="U05-DG-001-stage_repr-title">
            <a:extLst>
              <a:ext uri="{FF2B5EF4-FFF2-40B4-BE49-F238E27FC236}">
                <a16:creationId xmlns:a16="http://schemas.microsoft.com/office/drawing/2014/main" id="{2864E0E1-EFB4-433C-94D6-ADD800B6FB5E}"/>
              </a:ext>
            </a:extLst>
          </p:cNvPr>
          <p:cNvSpPr>
            <a:spLocks noGrp="1"/>
          </p:cNvSpPr>
          <p:nvPr/>
        </p:nvSpPr>
        <p:spPr>
          <a:xfrm>
            <a:off x="3695700" y="2505075"/>
            <a:ext cx="199072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2 · Fourier</a:t>
            </a:r>
          </a:p>
        </p:txBody>
      </p:sp>
      <p:sp>
        <p:nvSpPr>
          <p:cNvPr id="9" name="U05-DG-001-stage_repr-body">
            <a:extLst>
              <a:ext uri="{FF2B5EF4-FFF2-40B4-BE49-F238E27FC236}">
                <a16:creationId xmlns:a16="http://schemas.microsoft.com/office/drawing/2014/main" id="{4ED40427-ADB8-4CD9-86E5-2FDF00657565}"/>
              </a:ext>
            </a:extLst>
          </p:cNvPr>
          <p:cNvSpPr>
            <a:spLocks noGrp="1"/>
          </p:cNvSpPr>
          <p:nvPr/>
        </p:nvSpPr>
        <p:spPr>
          <a:xfrm>
            <a:off x="3695700" y="2933700"/>
            <a:ext cx="1990725" cy="752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serie · DFT</a:t>
            </a:r>
          </a:p>
        </p:txBody>
      </p:sp>
      <p:sp>
        <p:nvSpPr>
          <p:cNvPr id="10" name="U05-DG-001-stage_interpret">
            <a:extLst>
              <a:ext uri="{FF2B5EF4-FFF2-40B4-BE49-F238E27FC236}">
                <a16:creationId xmlns:a16="http://schemas.microsoft.com/office/drawing/2014/main" id="{A89D0FDF-782A-402F-B4F2-C3C91173EC53}"/>
              </a:ext>
            </a:extLst>
          </p:cNvPr>
          <p:cNvSpPr>
            <a:spLocks noGrp="1"/>
          </p:cNvSpPr>
          <p:nvPr/>
        </p:nvSpPr>
        <p:spPr>
          <a:xfrm>
            <a:off x="6286500" y="2381250"/>
            <a:ext cx="2333625" cy="1428750"/>
          </a:xfrm>
          <a:prstGeom prst="roundRect">
            <a:avLst>
              <a:gd name="adj" fmla="val 9333"/>
            </a:avLst>
          </a:prstGeom>
          <a:solidFill>
            <a:srgbClr val="F3F6F8"/>
          </a:solidFill>
          <a:ln w="19050">
            <a:solidFill>
              <a:srgbClr val="8291A3"/>
            </a:solidFill>
            <a:prstDash val="solid"/>
          </a:ln>
        </p:spPr>
      </p:sp>
      <p:sp>
        <p:nvSpPr>
          <p:cNvPr id="11" name="U05-DG-001-stage_interpret-title">
            <a:extLst>
              <a:ext uri="{FF2B5EF4-FFF2-40B4-BE49-F238E27FC236}">
                <a16:creationId xmlns:a16="http://schemas.microsoft.com/office/drawing/2014/main" id="{63337CA8-0510-4675-A18E-BF403D1A63B5}"/>
              </a:ext>
            </a:extLst>
          </p:cNvPr>
          <p:cNvSpPr>
            <a:spLocks noGrp="1"/>
          </p:cNvSpPr>
          <p:nvPr/>
        </p:nvSpPr>
        <p:spPr>
          <a:xfrm>
            <a:off x="6457950" y="2505075"/>
            <a:ext cx="199072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3 · Lectura</a:t>
            </a:r>
          </a:p>
        </p:txBody>
      </p:sp>
      <p:sp>
        <p:nvSpPr>
          <p:cNvPr id="12" name="U05-DG-001-stage_interpret-body">
            <a:extLst>
              <a:ext uri="{FF2B5EF4-FFF2-40B4-BE49-F238E27FC236}">
                <a16:creationId xmlns:a16="http://schemas.microsoft.com/office/drawing/2014/main" id="{FD3630AC-CF6C-4647-BD13-497849EB4A2D}"/>
              </a:ext>
            </a:extLst>
          </p:cNvPr>
          <p:cNvSpPr>
            <a:spLocks noGrp="1"/>
          </p:cNvSpPr>
          <p:nvPr/>
        </p:nvSpPr>
        <p:spPr>
          <a:xfrm>
            <a:off x="6457950" y="2933700"/>
            <a:ext cx="1990725" cy="752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sistemas · bandas</a:t>
            </a:r>
          </a:p>
        </p:txBody>
      </p:sp>
      <p:sp>
        <p:nvSpPr>
          <p:cNvPr id="13" name="U05-DG-001-stage_measure">
            <a:extLst>
              <a:ext uri="{FF2B5EF4-FFF2-40B4-BE49-F238E27FC236}">
                <a16:creationId xmlns:a16="http://schemas.microsoft.com/office/drawing/2014/main" id="{31581D4C-D77E-4D19-A063-D272FF985B47}"/>
              </a:ext>
            </a:extLst>
          </p:cNvPr>
          <p:cNvSpPr>
            <a:spLocks noGrp="1"/>
          </p:cNvSpPr>
          <p:nvPr/>
        </p:nvSpPr>
        <p:spPr>
          <a:xfrm>
            <a:off x="9048750" y="2381250"/>
            <a:ext cx="2333625" cy="1428750"/>
          </a:xfrm>
          <a:prstGeom prst="roundRect">
            <a:avLst>
              <a:gd name="adj" fmla="val 9333"/>
            </a:avLst>
          </a:prstGeom>
          <a:solidFill>
            <a:srgbClr val="E3F2ED"/>
          </a:solidFill>
          <a:ln w="19050">
            <a:solidFill>
              <a:srgbClr val="2D7867"/>
            </a:solidFill>
            <a:prstDash val="solid"/>
          </a:ln>
        </p:spPr>
      </p:sp>
      <p:sp>
        <p:nvSpPr>
          <p:cNvPr id="14" name="U05-DG-001-stage_measure-title">
            <a:extLst>
              <a:ext uri="{FF2B5EF4-FFF2-40B4-BE49-F238E27FC236}">
                <a16:creationId xmlns:a16="http://schemas.microsoft.com/office/drawing/2014/main" id="{482DE2ED-DBE6-421F-B5DB-696754C3482B}"/>
              </a:ext>
            </a:extLst>
          </p:cNvPr>
          <p:cNvSpPr>
            <a:spLocks noGrp="1"/>
          </p:cNvSpPr>
          <p:nvPr/>
        </p:nvSpPr>
        <p:spPr>
          <a:xfrm>
            <a:off x="9220200" y="2505075"/>
            <a:ext cx="199072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4 · Medición</a:t>
            </a:r>
          </a:p>
        </p:txBody>
      </p:sp>
      <p:sp>
        <p:nvSpPr>
          <p:cNvPr id="15" name="U05-DG-001-stage_measure-body">
            <a:extLst>
              <a:ext uri="{FF2B5EF4-FFF2-40B4-BE49-F238E27FC236}">
                <a16:creationId xmlns:a16="http://schemas.microsoft.com/office/drawing/2014/main" id="{C432D5B6-FC13-4502-9547-F0C678D164E6}"/>
              </a:ext>
            </a:extLst>
          </p:cNvPr>
          <p:cNvSpPr>
            <a:spLocks noGrp="1"/>
          </p:cNvSpPr>
          <p:nvPr/>
        </p:nvSpPr>
        <p:spPr>
          <a:xfrm>
            <a:off x="9220200" y="2933700"/>
            <a:ext cx="1990725" cy="752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ponderación sonómetro</a:t>
            </a:r>
          </a:p>
        </p:txBody>
      </p:sp>
      <p:cxnSp>
        <p:nvCxnSpPr>
          <p:cNvPr id="37" name="U05-DG-001-edge_1"/>
          <p:cNvCxnSpPr>
            <a:stCxn id="4" idx="3"/>
            <a:endCxn id="7" idx="1"/>
          </p:cNvCxnSpPr>
          <p:nvPr/>
        </p:nvCxnSpPr>
        <p:spPr>
          <a:xfrm>
            <a:off x="3095625" y="3095625"/>
            <a:ext cx="428625" cy="0"/>
          </a:xfrm>
          <a:prstGeom prst="straightConnector1">
            <a:avLst/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cxnSp>
        <p:nvCxnSpPr>
          <p:cNvPr id="38" name="U05-DG-001-edge_2"/>
          <p:cNvCxnSpPr>
            <a:stCxn id="7" idx="3"/>
            <a:endCxn id="10" idx="1"/>
          </p:cNvCxnSpPr>
          <p:nvPr/>
        </p:nvCxnSpPr>
        <p:spPr>
          <a:xfrm>
            <a:off x="5857875" y="3095625"/>
            <a:ext cx="428625" cy="0"/>
          </a:xfrm>
          <a:prstGeom prst="straightConnector1">
            <a:avLst/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cxnSp>
        <p:nvCxnSpPr>
          <p:cNvPr id="39" name="U05-DG-001-edge_3"/>
          <p:cNvCxnSpPr>
            <a:stCxn id="10" idx="3"/>
            <a:endCxn id="13" idx="1"/>
          </p:cNvCxnSpPr>
          <p:nvPr/>
        </p:nvCxnSpPr>
        <p:spPr>
          <a:xfrm>
            <a:off x="8620125" y="3095625"/>
            <a:ext cx="428625" cy="0"/>
          </a:xfrm>
          <a:prstGeom prst="straightConnector1">
            <a:avLst/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sp>
        <p:nvSpPr>
          <p:cNvPr id="19" name="diagram-scale-note">
            <a:extLst>
              <a:ext uri="{FF2B5EF4-FFF2-40B4-BE49-F238E27FC236}">
                <a16:creationId xmlns:a16="http://schemas.microsoft.com/office/drawing/2014/main" id="{2D479F4C-B5EC-45F3-B2E1-A206AB956E95}"/>
              </a:ext>
            </a:extLst>
          </p:cNvPr>
          <p:cNvSpPr>
            <a:spLocks noGrp="1"/>
          </p:cNvSpPr>
          <p:nvPr/>
        </p:nvSpPr>
        <p:spPr>
          <a:xfrm>
            <a:off x="552450" y="5829300"/>
            <a:ext cx="3905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05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Esquema conceptual · no está a escala</a:t>
            </a:r>
          </a:p>
        </p:txBody>
      </p:sp>
      <p:sp>
        <p:nvSpPr>
          <p:cNvPr id="20" name="caption">
            <a:extLst>
              <a:ext uri="{FF2B5EF4-FFF2-40B4-BE49-F238E27FC236}">
                <a16:creationId xmlns:a16="http://schemas.microsoft.com/office/drawing/2014/main" id="{3D4FBD8F-F521-48B9-858A-599FC3DDB094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876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Interpretar es conservar la trazabilidad de cada transformación.</a:t>
            </a:r>
          </a:p>
        </p:txBody>
      </p:sp>
      <p:sp>
        <p:nvSpPr>
          <p:cNvPr id="21" name="credit">
            <a:extLst>
              <a:ext uri="{FF2B5EF4-FFF2-40B4-BE49-F238E27FC236}">
                <a16:creationId xmlns:a16="http://schemas.microsoft.com/office/drawing/2014/main" id="{D98B4367-DDEC-43D9-AB7E-4362CAAAFD0C}"/>
              </a:ext>
            </a:extLst>
          </p:cNvPr>
          <p:cNvSpPr>
            <a:spLocks noGrp="1"/>
          </p:cNvSpPr>
          <p:nvPr/>
        </p:nvSpPr>
        <p:spPr>
          <a:xfrm>
            <a:off x="9382125" y="60769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PO; TEX 5.1–5.14; CM; CDM.</a:t>
            </a:r>
          </a:p>
        </p:txBody>
      </p:sp>
      <p:sp>
        <p:nvSpPr>
          <p:cNvPr id="16" name="slide-alt-summary" descr="Mapa de ocho nodos recorre desde señal física hasta conclusión con límites.">
            <a:extLst>
              <a:ext uri="{FF2B5EF4-FFF2-40B4-BE49-F238E27FC236}">
                <a16:creationId xmlns:a16="http://schemas.microsoft.com/office/drawing/2014/main" id="{479D8E84-58F7-3877-B4C2-53DCCBBDC3FE}"/>
              </a:ext>
            </a:extLst>
          </p:cNvPr>
          <p:cNvSpPr/>
          <p:nvPr/>
        </p:nvSpPr>
        <p:spPr>
          <a:xfrm>
            <a:off x="12700" y="12700"/>
            <a:ext cx="12700" cy="12700"/>
          </a:xfrm>
          <a:prstGeom prst="rect">
            <a:avLst/>
          </a:prstGeom>
          <a:noFill/>
          <a:ln w="19050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51530275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yebrow">
            <a:extLst>
              <a:ext uri="{FF2B5EF4-FFF2-40B4-BE49-F238E27FC236}">
                <a16:creationId xmlns:a16="http://schemas.microsoft.com/office/drawing/2014/main" id="{3D8C75E4-883D-4409-8EBF-6EA6B1344560}"/>
              </a:ext>
            </a:extLst>
          </p:cNvPr>
          <p:cNvSpPr>
            <a:spLocks noGrp="1"/>
          </p:cNvSpPr>
          <p:nvPr/>
        </p:nvSpPr>
        <p:spPr>
          <a:xfrm>
            <a:off x="514350" y="2095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130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00910EB2-CB6F-4B35-AC2E-B75D3087E0D3}"/>
              </a:ext>
            </a:extLst>
          </p:cNvPr>
          <p:cNvSpPr>
            <a:spLocks noGrp="1"/>
          </p:cNvSpPr>
          <p:nvPr/>
        </p:nvSpPr>
        <p:spPr>
          <a:xfrm>
            <a:off x="495300" y="428625"/>
            <a:ext cx="11191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¿Qué podés explicar ahora que al inicio no podías?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436BB548-A270-4A98-BB4A-3F98344DE93D}"/>
              </a:ext>
            </a:extLst>
          </p:cNvPr>
          <p:cNvSpPr>
            <a:spLocks noGrp="1"/>
          </p:cNvSpPr>
          <p:nvPr/>
        </p:nvSpPr>
        <p:spPr>
          <a:xfrm>
            <a:off x="523875" y="971550"/>
            <a:ext cx="11001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Recuperación sin calificación punitiva.</a:t>
            </a:r>
          </a:p>
        </p:txBody>
      </p:sp>
      <p:sp>
        <p:nvSpPr>
          <p:cNvPr id="4" name="question-box">
            <a:extLst>
              <a:ext uri="{FF2B5EF4-FFF2-40B4-BE49-F238E27FC236}">
                <a16:creationId xmlns:a16="http://schemas.microsoft.com/office/drawing/2014/main" id="{1FB3DF76-7000-4491-BC29-E302CD5E818E}"/>
              </a:ext>
            </a:extLst>
          </p:cNvPr>
          <p:cNvSpPr>
            <a:spLocks noGrp="1"/>
          </p:cNvSpPr>
          <p:nvPr/>
        </p:nvSpPr>
        <p:spPr>
          <a:xfrm>
            <a:off x="714375" y="1571625"/>
            <a:ext cx="7239000" cy="3429000"/>
          </a:xfrm>
          <a:prstGeom prst="roundRect">
            <a:avLst>
              <a:gd name="adj" fmla="val 3889"/>
            </a:avLst>
          </a:prstGeom>
          <a:solidFill>
            <a:srgbClr val="DDEFF5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5" name="question-title">
            <a:extLst>
              <a:ext uri="{FF2B5EF4-FFF2-40B4-BE49-F238E27FC236}">
                <a16:creationId xmlns:a16="http://schemas.microsoft.com/office/drawing/2014/main" id="{7EC2FE7B-17D6-451D-B6DF-9191989552E5}"/>
              </a:ext>
            </a:extLst>
          </p:cNvPr>
          <p:cNvSpPr>
            <a:spLocks noGrp="1"/>
          </p:cNvSpPr>
          <p:nvPr/>
        </p:nvSpPr>
        <p:spPr>
          <a:xfrm>
            <a:off x="885825" y="1704975"/>
            <a:ext cx="6896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1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Consigna</a:t>
            </a:r>
          </a:p>
        </p:txBody>
      </p:sp>
      <p:sp>
        <p:nvSpPr>
          <p:cNvPr id="6" name="question-body">
            <a:extLst>
              <a:ext uri="{FF2B5EF4-FFF2-40B4-BE49-F238E27FC236}">
                <a16:creationId xmlns:a16="http://schemas.microsoft.com/office/drawing/2014/main" id="{54AEBF48-65A4-4107-BFAA-A76DD076FD09}"/>
              </a:ext>
            </a:extLst>
          </p:cNvPr>
          <p:cNvSpPr>
            <a:spLocks noGrp="1"/>
          </p:cNvSpPr>
          <p:nvPr/>
        </p:nvSpPr>
        <p:spPr>
          <a:xfrm>
            <a:off x="885825" y="2085975"/>
            <a:ext cx="6896100" cy="2781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Vuelva a U05-002 y U05-003. Elija cuatro acciones: identificar objeto; leer ejes; justificar f_0; distinguir señal/sistema; calcular banda; reconocer filtro; completar descriptor; limitar inferencia.</a:t>
            </a:r>
          </a:p>
        </p:txBody>
      </p:sp>
      <p:sp>
        <p:nvSpPr>
          <p:cNvPr id="7" name="answer-routine-box">
            <a:extLst>
              <a:ext uri="{FF2B5EF4-FFF2-40B4-BE49-F238E27FC236}">
                <a16:creationId xmlns:a16="http://schemas.microsoft.com/office/drawing/2014/main" id="{838E8E1F-E545-449D-A632-482DAFA3B946}"/>
              </a:ext>
            </a:extLst>
          </p:cNvPr>
          <p:cNvSpPr>
            <a:spLocks noGrp="1"/>
          </p:cNvSpPr>
          <p:nvPr/>
        </p:nvSpPr>
        <p:spPr>
          <a:xfrm>
            <a:off x="8334375" y="1571625"/>
            <a:ext cx="3143250" cy="3429000"/>
          </a:xfrm>
          <a:prstGeom prst="roundRect">
            <a:avLst>
              <a:gd name="adj" fmla="val 4242"/>
            </a:avLst>
          </a:prstGeom>
          <a:solidFill>
            <a:srgbClr val="F3F6F8"/>
          </a:solidFill>
          <a:ln w="19050">
            <a:solidFill>
              <a:srgbClr val="8291A3"/>
            </a:solidFill>
            <a:prstDash val="solid"/>
          </a:ln>
        </p:spPr>
      </p:sp>
      <p:sp>
        <p:nvSpPr>
          <p:cNvPr id="8" name="answer-routine-title">
            <a:extLst>
              <a:ext uri="{FF2B5EF4-FFF2-40B4-BE49-F238E27FC236}">
                <a16:creationId xmlns:a16="http://schemas.microsoft.com/office/drawing/2014/main" id="{A6C1A6F9-7DCA-4B7B-8217-0051B09AACCF}"/>
              </a:ext>
            </a:extLst>
          </p:cNvPr>
          <p:cNvSpPr>
            <a:spLocks noGrp="1"/>
          </p:cNvSpPr>
          <p:nvPr/>
        </p:nvSpPr>
        <p:spPr>
          <a:xfrm>
            <a:off x="8505825" y="1704975"/>
            <a:ext cx="2800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950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950" b="1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Cómo responder</a:t>
            </a:r>
          </a:p>
        </p:txBody>
      </p:sp>
      <p:sp>
        <p:nvSpPr>
          <p:cNvPr id="9" name="answer-routine-body">
            <a:extLst>
              <a:ext uri="{FF2B5EF4-FFF2-40B4-BE49-F238E27FC236}">
                <a16:creationId xmlns:a16="http://schemas.microsoft.com/office/drawing/2014/main" id="{AD42DB91-88F1-43F4-BB7C-291059ACDB71}"/>
              </a:ext>
            </a:extLst>
          </p:cNvPr>
          <p:cNvSpPr>
            <a:spLocks noGrp="1"/>
          </p:cNvSpPr>
          <p:nvPr/>
        </p:nvSpPr>
        <p:spPr>
          <a:xfrm>
            <a:off x="8505825" y="2085975"/>
            <a:ext cx="2800350" cy="2781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1. Nombrar el objeto. 2. Leer ejes y unidades. 3. Declarar condiciones. 4. Concluir sin exceder la evidencia.</a:t>
            </a:r>
          </a:p>
        </p:txBody>
      </p:sp>
      <p:sp>
        <p:nvSpPr>
          <p:cNvPr id="10" name="caption">
            <a:extLst>
              <a:ext uri="{FF2B5EF4-FFF2-40B4-BE49-F238E27FC236}">
                <a16:creationId xmlns:a16="http://schemas.microsoft.com/office/drawing/2014/main" id="{F8C0A453-4A12-44FA-9449-331784E97924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876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Comprender incluye reconocer qué información falta.</a:t>
            </a:r>
          </a:p>
        </p:txBody>
      </p:sp>
      <p:sp>
        <p:nvSpPr>
          <p:cNvPr id="11" name="credit">
            <a:extLst>
              <a:ext uri="{FF2B5EF4-FFF2-40B4-BE49-F238E27FC236}">
                <a16:creationId xmlns:a16="http://schemas.microsoft.com/office/drawing/2014/main" id="{166DCBB7-AC3F-47AD-88B3-0C59B67E17C0}"/>
              </a:ext>
            </a:extLst>
          </p:cNvPr>
          <p:cNvSpPr>
            <a:spLocks noGrp="1"/>
          </p:cNvSpPr>
          <p:nvPr/>
        </p:nvSpPr>
        <p:spPr>
          <a:xfrm>
            <a:off x="9382125" y="60769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BR objetivos; U05-002–007.</a:t>
            </a:r>
          </a:p>
        </p:txBody>
      </p:sp>
      <p:sp>
        <p:nvSpPr>
          <p:cNvPr id="13" name="slide-alt-summary" descr="Ocho preguntas de autoevaluación junto a una escala personal de seguridad.">
            <a:extLst>
              <a:ext uri="{FF2B5EF4-FFF2-40B4-BE49-F238E27FC236}">
                <a16:creationId xmlns:a16="http://schemas.microsoft.com/office/drawing/2014/main" id="{C75FF121-A82E-B351-0600-6CEFBB470C80}"/>
              </a:ext>
            </a:extLst>
          </p:cNvPr>
          <p:cNvSpPr/>
          <p:nvPr/>
        </p:nvSpPr>
        <p:spPr>
          <a:xfrm>
            <a:off x="12700" y="12700"/>
            <a:ext cx="12700" cy="12700"/>
          </a:xfrm>
          <a:prstGeom prst="rect">
            <a:avLst/>
          </a:prstGeom>
          <a:noFill/>
          <a:ln w="19050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73297158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yebrow">
            <a:extLst>
              <a:ext uri="{FF2B5EF4-FFF2-40B4-BE49-F238E27FC236}">
                <a16:creationId xmlns:a16="http://schemas.microsoft.com/office/drawing/2014/main" id="{019CBF58-45DD-4A3C-A346-522EF00A9922}"/>
              </a:ext>
            </a:extLst>
          </p:cNvPr>
          <p:cNvSpPr>
            <a:spLocks noGrp="1"/>
          </p:cNvSpPr>
          <p:nvPr/>
        </p:nvSpPr>
        <p:spPr>
          <a:xfrm>
            <a:off x="514350" y="2095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1" i="0">
                <a:solidFill>
                  <a:srgbClr val="B9D8E7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B9D8E7"/>
                </a:solidFill>
                <a:latin typeface="Calibri"/>
                <a:ea typeface="Calibri"/>
                <a:cs typeface="Calibri"/>
              </a:rPr>
              <a:t>UNIDAD 5 · 131</a:t>
            </a:r>
          </a:p>
        </p:txBody>
      </p:sp>
      <p:sp>
        <p:nvSpPr>
          <p:cNvPr id="2" name="divider-title">
            <a:extLst>
              <a:ext uri="{FF2B5EF4-FFF2-40B4-BE49-F238E27FC236}">
                <a16:creationId xmlns:a16="http://schemas.microsoft.com/office/drawing/2014/main" id="{B64FC8AB-041A-4B32-B71A-CE18CF064C3F}"/>
              </a:ext>
            </a:extLst>
          </p:cNvPr>
          <p:cNvSpPr>
            <a:spLocks noGrp="1"/>
          </p:cNvSpPr>
          <p:nvPr/>
        </p:nvSpPr>
        <p:spPr>
          <a:xfrm>
            <a:off x="714375" y="2190750"/>
            <a:ext cx="104775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ctr">
            <a:noAutofit/>
          </a:bodyPr>
          <a:lstStyle/>
          <a:p>
            <a:pPr algn="ctr">
              <a:lnSpc>
                <a:spcPct val="102000"/>
              </a:lnSpc>
              <a:buNone/>
              <a:defRPr sz="4050" b="1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defRPr>
            </a:pPr>
            <a:r>
              <a:rPr sz="4050" b="1" i="0">
                <a:solidFill>
                  <a:srgbClr val="FFFFFF"/>
                </a:solidFill>
                <a:latin typeface="Calibri Light"/>
                <a:ea typeface="Calibri Light"/>
                <a:cs typeface="Calibri Light"/>
              </a:rPr>
              <a:t>El oído también responde de manera diferente según frecuencia</a:t>
            </a:r>
          </a:p>
        </p:txBody>
      </p:sp>
      <p:sp>
        <p:nvSpPr>
          <p:cNvPr id="3" name="divider-subtitle">
            <a:extLst>
              <a:ext uri="{FF2B5EF4-FFF2-40B4-BE49-F238E27FC236}">
                <a16:creationId xmlns:a16="http://schemas.microsoft.com/office/drawing/2014/main" id="{27C01885-C08C-4A9A-AF2C-80AD4F746BFD}"/>
              </a:ext>
            </a:extLst>
          </p:cNvPr>
          <p:cNvSpPr>
            <a:spLocks noGrp="1"/>
          </p:cNvSpPr>
          <p:nvPr/>
        </p:nvSpPr>
        <p:spPr>
          <a:xfrm>
            <a:off x="1714500" y="3429000"/>
            <a:ext cx="8763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ctr">
              <a:lnSpc>
                <a:spcPct val="102000"/>
              </a:lnSpc>
              <a:buNone/>
              <a:defRPr sz="2100" b="0" i="0">
                <a:solidFill>
                  <a:srgbClr val="D6E4EA"/>
                </a:solidFill>
                <a:latin typeface="Calibri"/>
                <a:ea typeface="Calibri"/>
                <a:cs typeface="Calibri"/>
              </a:defRPr>
            </a:pPr>
            <a:r>
              <a:rPr sz="2100" b="0" i="0">
                <a:solidFill>
                  <a:srgbClr val="D6E4EA"/>
                </a:solidFill>
                <a:latin typeface="Calibri"/>
                <a:ea typeface="Calibri"/>
                <a:cs typeface="Calibri"/>
              </a:rPr>
              <a:t>Puente a Unidad 6: un sistema biológico, no una FFT.</a:t>
            </a:r>
          </a:p>
        </p:txBody>
      </p:sp>
      <p:sp>
        <p:nvSpPr>
          <p:cNvPr id="4" name="divider-content">
            <a:extLst>
              <a:ext uri="{FF2B5EF4-FFF2-40B4-BE49-F238E27FC236}">
                <a16:creationId xmlns:a16="http://schemas.microsoft.com/office/drawing/2014/main" id="{6AFD91C3-7F2A-49B3-AAA0-86D8E7F761B8}"/>
              </a:ext>
            </a:extLst>
          </p:cNvPr>
          <p:cNvSpPr>
            <a:spLocks noGrp="1"/>
          </p:cNvSpPr>
          <p:nvPr/>
        </p:nvSpPr>
        <p:spPr>
          <a:xfrm>
            <a:off x="2190750" y="4333875"/>
            <a:ext cx="781050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ctr">
              <a:lnSpc>
                <a:spcPct val="102000"/>
              </a:lnSpc>
              <a:buNone/>
              <a:defRPr sz="1875" b="0" i="0">
                <a:solidFill>
                  <a:srgbClr val="BDD0DA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BDD0DA"/>
                </a:solidFill>
                <a:latin typeface="Calibri"/>
                <a:ea typeface="Calibri"/>
                <a:cs typeface="Calibri"/>
              </a:rPr>
              <a:t>Señal acústica → oído externo y medio → cóclea. Pregunta: ¿cómo se transforma físicamente la señal?</a:t>
            </a:r>
          </a:p>
        </p:txBody>
      </p:sp>
      <p:sp>
        <p:nvSpPr>
          <p:cNvPr id="6" name="slide-alt-summary" descr="Señal acústica atraviesa oído externo y medio antes de llegar a la cóclea.">
            <a:extLst>
              <a:ext uri="{FF2B5EF4-FFF2-40B4-BE49-F238E27FC236}">
                <a16:creationId xmlns:a16="http://schemas.microsoft.com/office/drawing/2014/main" id="{3CE4B2F7-7434-74FD-1390-A83511B9C650}"/>
              </a:ext>
            </a:extLst>
          </p:cNvPr>
          <p:cNvSpPr/>
          <p:nvPr/>
        </p:nvSpPr>
        <p:spPr>
          <a:xfrm>
            <a:off x="12700" y="12700"/>
            <a:ext cx="12700" cy="12700"/>
          </a:xfrm>
          <a:prstGeom prst="rect">
            <a:avLst/>
          </a:prstGeom>
          <a:noFill/>
          <a:ln w="19050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80112903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yebrow">
            <a:extLst>
              <a:ext uri="{FF2B5EF4-FFF2-40B4-BE49-F238E27FC236}">
                <a16:creationId xmlns:a16="http://schemas.microsoft.com/office/drawing/2014/main" id="{A685CDEA-12AA-4037-80F5-11F14F5A7D10}"/>
              </a:ext>
            </a:extLst>
          </p:cNvPr>
          <p:cNvSpPr>
            <a:spLocks noGrp="1"/>
          </p:cNvSpPr>
          <p:nvPr/>
        </p:nvSpPr>
        <p:spPr>
          <a:xfrm>
            <a:off x="514350" y="2095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132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0131C92A-C8CE-4163-A53C-C4509751E360}"/>
              </a:ext>
            </a:extLst>
          </p:cNvPr>
          <p:cNvSpPr>
            <a:spLocks noGrp="1"/>
          </p:cNvSpPr>
          <p:nvPr/>
        </p:nvSpPr>
        <p:spPr>
          <a:xfrm>
            <a:off x="495300" y="428625"/>
            <a:ext cx="11191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Fuentes y recursos para continuar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C66B0E12-7AEF-41C4-9A2D-D14CDA279B96}"/>
              </a:ext>
            </a:extLst>
          </p:cNvPr>
          <p:cNvSpPr>
            <a:spLocks noGrp="1"/>
          </p:cNvSpPr>
          <p:nvPr/>
        </p:nvSpPr>
        <p:spPr>
          <a:xfrm>
            <a:off x="523875" y="971550"/>
            <a:ext cx="11001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Jerarquía y trazabilidad antes de ampliar.</a:t>
            </a:r>
          </a:p>
        </p:txBody>
      </p:sp>
      <p:sp>
        <p:nvSpPr>
          <p:cNvPr id="4" name="reference-groups-box">
            <a:extLst>
              <a:ext uri="{FF2B5EF4-FFF2-40B4-BE49-F238E27FC236}">
                <a16:creationId xmlns:a16="http://schemas.microsoft.com/office/drawing/2014/main" id="{3745F9CA-275C-4D40-A3FD-C8F794650FC0}"/>
              </a:ext>
            </a:extLst>
          </p:cNvPr>
          <p:cNvSpPr>
            <a:spLocks noGrp="1"/>
          </p:cNvSpPr>
          <p:nvPr/>
        </p:nvSpPr>
        <p:spPr>
          <a:xfrm>
            <a:off x="666750" y="1619250"/>
            <a:ext cx="4762500" cy="3714750"/>
          </a:xfrm>
          <a:prstGeom prst="roundRect">
            <a:avLst>
              <a:gd name="adj" fmla="val 3590"/>
            </a:avLst>
          </a:prstGeom>
          <a:solidFill>
            <a:srgbClr val="F3F6F8"/>
          </a:solidFill>
          <a:ln w="19050">
            <a:solidFill>
              <a:srgbClr val="8291A3"/>
            </a:solidFill>
            <a:prstDash val="solid"/>
          </a:ln>
        </p:spPr>
      </p:sp>
      <p:sp>
        <p:nvSpPr>
          <p:cNvPr id="5" name="reference-groups-title">
            <a:extLst>
              <a:ext uri="{FF2B5EF4-FFF2-40B4-BE49-F238E27FC236}">
                <a16:creationId xmlns:a16="http://schemas.microsoft.com/office/drawing/2014/main" id="{E94429CF-DFD1-491D-ABC8-D16C444A36D3}"/>
              </a:ext>
            </a:extLst>
          </p:cNvPr>
          <p:cNvSpPr>
            <a:spLocks noGrp="1"/>
          </p:cNvSpPr>
          <p:nvPr/>
        </p:nvSpPr>
        <p:spPr>
          <a:xfrm>
            <a:off x="857250" y="1838325"/>
            <a:ext cx="43338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2100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Fuentes principales</a:t>
            </a:r>
          </a:p>
        </p:txBody>
      </p:sp>
      <p:sp>
        <p:nvSpPr>
          <p:cNvPr id="6" name="reference-groups-list">
            <a:extLst>
              <a:ext uri="{FF2B5EF4-FFF2-40B4-BE49-F238E27FC236}">
                <a16:creationId xmlns:a16="http://schemas.microsoft.com/office/drawing/2014/main" id="{1362BBF4-15C3-4988-8E17-056395C0BB6C}"/>
              </a:ext>
            </a:extLst>
          </p:cNvPr>
          <p:cNvSpPr>
            <a:spLocks noGrp="1"/>
          </p:cNvSpPr>
          <p:nvPr/>
        </p:nvSpPr>
        <p:spPr>
          <a:xfrm>
            <a:off x="904875" y="2381250"/>
            <a:ext cx="4095750" cy="2524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76200" rIns="76200" bIns="76200">
            <a:noAutofit/>
          </a:bodyPr>
          <a:lstStyle/>
          <a:p>
            <a:pPr marL="26" indent="-14">
              <a:lnSpc>
                <a:spcPct val="104000"/>
              </a:lnSpc>
              <a:spcAft>
                <a:spcPts val="10"/>
              </a:spcAft>
              <a:buNone/>
              <a:defRPr sz="2025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Programa oficial</a:t>
            </a:r>
          </a:p>
          <a:p>
            <a:pPr marL="26" indent="-14">
              <a:lnSpc>
                <a:spcPct val="104000"/>
              </a:lnSpc>
              <a:spcAft>
                <a:spcPts val="10"/>
              </a:spcAft>
              <a:buNone/>
              <a:defRPr sz="2025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Libro del curso</a:t>
            </a:r>
          </a:p>
          <a:p>
            <a:pPr marL="26" indent="-14">
              <a:lnSpc>
                <a:spcPct val="104000"/>
              </a:lnSpc>
              <a:spcAft>
                <a:spcPts val="10"/>
              </a:spcAft>
              <a:buNone/>
              <a:defRPr sz="2025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Normas IEC e ISO</a:t>
            </a:r>
          </a:p>
          <a:p>
            <a:pPr marL="26" indent="-14">
              <a:lnSpc>
                <a:spcPct val="104000"/>
              </a:lnSpc>
              <a:spcAft>
                <a:spcPts val="10"/>
              </a:spcAft>
              <a:buNone/>
              <a:defRPr sz="2025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Bibliografía de voz</a:t>
            </a:r>
          </a:p>
          <a:p>
            <a:pPr marL="26" indent="-14">
              <a:lnSpc>
                <a:spcPct val="104000"/>
              </a:lnSpc>
              <a:spcAft>
                <a:spcPts val="10"/>
              </a:spcAft>
              <a:buNone/>
              <a:defRPr sz="2025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Recursos del aula verificados</a:t>
            </a:r>
          </a:p>
        </p:txBody>
      </p:sp>
      <p:sp>
        <p:nvSpPr>
          <p:cNvPr id="7" name="verified-links">
            <a:extLst>
              <a:ext uri="{FF2B5EF4-FFF2-40B4-BE49-F238E27FC236}">
                <a16:creationId xmlns:a16="http://schemas.microsoft.com/office/drawing/2014/main" id="{3AB37A55-3AF3-41E7-A29A-73DCA3F710CB}"/>
              </a:ext>
            </a:extLst>
          </p:cNvPr>
          <p:cNvSpPr>
            <a:spLocks noGrp="1"/>
          </p:cNvSpPr>
          <p:nvPr/>
        </p:nvSpPr>
        <p:spPr>
          <a:xfrm>
            <a:off x="5905500" y="1619250"/>
            <a:ext cx="5619750" cy="3714750"/>
          </a:xfrm>
          <a:prstGeom prst="roundRect">
            <a:avLst>
              <a:gd name="adj" fmla="val 3077"/>
            </a:avLst>
          </a:prstGeom>
          <a:solidFill>
            <a:srgbClr val="EFF8FA"/>
          </a:solidFill>
          <a:ln w="14288">
            <a:solidFill>
              <a:srgbClr val="2474A6"/>
            </a:solidFill>
            <a:prstDash val="solid"/>
          </a:ln>
        </p:spPr>
        <p:txBody>
          <a:bodyPr wrap="square" lIns="190500" tIns="171450" rIns="190500" bIns="171450">
            <a:noAutofit/>
          </a:bodyPr>
          <a:lstStyle/>
          <a:p>
            <a:pPr>
              <a:lnSpc>
                <a:spcPct val="100000"/>
              </a:lnSpc>
              <a:buNone/>
              <a:defRPr sz="1875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Enlaces oficiales verificados</a:t>
            </a:r>
          </a:p>
          <a:p>
            <a:pPr>
              <a:lnSpc>
                <a:spcPct val="100000"/>
              </a:lnSpc>
              <a:buNone/>
              <a:defRPr sz="1875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u="sng">
                <a:solidFill>
                  <a:srgbClr val="172333"/>
                </a:solidFill>
                <a:latin typeface="Calibri"/>
                <a:ea typeface="Calibri"/>
                <a:cs typeface="Calibri"/>
                <a:hlinkClick r:id="rId3"/>
              </a:rPr>
              <a:t>IEC 61672-1:2013
Sonómetros</a:t>
            </a:r>
          </a:p>
          <a:p>
            <a:pPr>
              <a:lnSpc>
                <a:spcPct val="100000"/>
              </a:lnSpc>
              <a:buNone/>
              <a:defRPr sz="1875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u="sng">
                <a:solidFill>
                  <a:srgbClr val="172333"/>
                </a:solidFill>
                <a:latin typeface="Calibri"/>
                <a:ea typeface="Calibri"/>
                <a:cs typeface="Calibri"/>
                <a:hlinkClick r:id="rId4"/>
              </a:rPr>
              <a:t>IEC 61260-1:2014
Filtros de octava y fracciones</a:t>
            </a:r>
          </a:p>
          <a:p>
            <a:pPr>
              <a:lnSpc>
                <a:spcPct val="100000"/>
              </a:lnSpc>
              <a:buNone/>
              <a:defRPr sz="1875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u="sng">
                <a:solidFill>
                  <a:srgbClr val="172333"/>
                </a:solidFill>
                <a:latin typeface="Calibri"/>
                <a:ea typeface="Calibri"/>
                <a:cs typeface="Calibri"/>
                <a:hlinkClick r:id="rId5"/>
              </a:rPr>
              <a:t>NIOSH Sound Level Meter App</a:t>
            </a:r>
          </a:p>
        </p:txBody>
      </p:sp>
      <p:sp>
        <p:nvSpPr>
          <p:cNvPr id="8" name="reference-caution">
            <a:extLst>
              <a:ext uri="{FF2B5EF4-FFF2-40B4-BE49-F238E27FC236}">
                <a16:creationId xmlns:a16="http://schemas.microsoft.com/office/drawing/2014/main" id="{B36B062C-F0A0-4D87-97DB-93C9EAE2A784}"/>
              </a:ext>
            </a:extLst>
          </p:cNvPr>
          <p:cNvSpPr>
            <a:spLocks noGrp="1"/>
          </p:cNvSpPr>
          <p:nvPr/>
        </p:nvSpPr>
        <p:spPr>
          <a:xfrm>
            <a:off x="904875" y="5476875"/>
            <a:ext cx="10382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ctr">
              <a:lnSpc>
                <a:spcPct val="102000"/>
              </a:lnSpc>
              <a:buNone/>
              <a:defRPr sz="1575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575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Edición y alcance deben comprobarse antes de citar o aplicar una norma.</a:t>
            </a:r>
          </a:p>
        </p:txBody>
      </p:sp>
      <p:sp>
        <p:nvSpPr>
          <p:cNvPr id="9" name="caption">
            <a:extLst>
              <a:ext uri="{FF2B5EF4-FFF2-40B4-BE49-F238E27FC236}">
                <a16:creationId xmlns:a16="http://schemas.microsoft.com/office/drawing/2014/main" id="{A0276428-BFFF-4843-8E1D-6CB40ABA6846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876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Enlaces oficiales verificados al cierre de producción; comprobar edición y acceso antes de citar.</a:t>
            </a:r>
          </a:p>
        </p:txBody>
      </p:sp>
      <p:sp>
        <p:nvSpPr>
          <p:cNvPr id="10" name="credit">
            <a:extLst>
              <a:ext uri="{FF2B5EF4-FFF2-40B4-BE49-F238E27FC236}">
                <a16:creationId xmlns:a16="http://schemas.microsoft.com/office/drawing/2014/main" id="{53B3F73D-71A3-4E3C-9734-EC3D57EB43D9}"/>
              </a:ext>
            </a:extLst>
          </p:cNvPr>
          <p:cNvSpPr>
            <a:spLocks noGrp="1"/>
          </p:cNvSpPr>
          <p:nvPr/>
        </p:nvSpPr>
        <p:spPr>
          <a:xfrm>
            <a:off x="9382125" y="60769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PO; references.bib; source_analysis.md.</a:t>
            </a:r>
          </a:p>
        </p:txBody>
      </p:sp>
      <p:sp>
        <p:nvSpPr>
          <p:cNvPr id="12" name="slide-alt-summary" descr="Lista de fuentes principales organizada por programa, libro, normas y bibliografía de voz.">
            <a:extLst>
              <a:ext uri="{FF2B5EF4-FFF2-40B4-BE49-F238E27FC236}">
                <a16:creationId xmlns:a16="http://schemas.microsoft.com/office/drawing/2014/main" id="{5956F18D-AE57-24D8-1351-DEDEFBCF5931}"/>
              </a:ext>
            </a:extLst>
          </p:cNvPr>
          <p:cNvSpPr/>
          <p:nvPr/>
        </p:nvSpPr>
        <p:spPr>
          <a:xfrm>
            <a:off x="12700" y="12700"/>
            <a:ext cx="12700" cy="12700"/>
          </a:xfrm>
          <a:prstGeom prst="rect">
            <a:avLst/>
          </a:prstGeom>
          <a:noFill/>
          <a:ln w="19050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5601764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yebrow">
            <a:extLst>
              <a:ext uri="{FF2B5EF4-FFF2-40B4-BE49-F238E27FC236}">
                <a16:creationId xmlns:a16="http://schemas.microsoft.com/office/drawing/2014/main" id="{508B2B11-F200-4971-B257-4E43A49516ED}"/>
              </a:ext>
            </a:extLst>
          </p:cNvPr>
          <p:cNvSpPr>
            <a:spLocks noGrp="1"/>
          </p:cNvSpPr>
          <p:nvPr/>
        </p:nvSpPr>
        <p:spPr>
          <a:xfrm>
            <a:off x="514350" y="2095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133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4AB762DD-5FDB-4C41-8C22-E8D621586D0C}"/>
              </a:ext>
            </a:extLst>
          </p:cNvPr>
          <p:cNvSpPr>
            <a:spLocks noGrp="1"/>
          </p:cNvSpPr>
          <p:nvPr/>
        </p:nvSpPr>
        <p:spPr>
          <a:xfrm>
            <a:off x="495300" y="428625"/>
            <a:ext cx="11191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Números complejos: una herramienta para magnitud y fase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EBF90C1A-0B94-4A38-8652-C17DB87B5B01}"/>
              </a:ext>
            </a:extLst>
          </p:cNvPr>
          <p:cNvSpPr>
            <a:spLocks noGrp="1"/>
          </p:cNvSpPr>
          <p:nvPr/>
        </p:nvSpPr>
        <p:spPr>
          <a:xfrm>
            <a:off x="523875" y="971550"/>
            <a:ext cx="11001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Apoyo matemático a demanda.</a:t>
            </a:r>
          </a:p>
        </p:txBody>
      </p:sp>
      <p:sp>
        <p:nvSpPr>
          <p:cNvPr id="4" name="equation-box">
            <a:extLst>
              <a:ext uri="{FF2B5EF4-FFF2-40B4-BE49-F238E27FC236}">
                <a16:creationId xmlns:a16="http://schemas.microsoft.com/office/drawing/2014/main" id="{9232C2CA-84ED-48EB-8351-180C7BE6C6E4}"/>
              </a:ext>
            </a:extLst>
          </p:cNvPr>
          <p:cNvSpPr>
            <a:spLocks noGrp="1"/>
          </p:cNvSpPr>
          <p:nvPr/>
        </p:nvSpPr>
        <p:spPr>
          <a:xfrm>
            <a:off x="1143000" y="1619250"/>
            <a:ext cx="9906000" cy="1047750"/>
          </a:xfrm>
          <a:prstGeom prst="roundRect">
            <a:avLst>
              <a:gd name="adj" fmla="val 12727"/>
            </a:avLst>
          </a:prstGeom>
          <a:solidFill>
            <a:srgbClr val="EFECF7"/>
          </a:solidFill>
          <a:ln w="19050">
            <a:solidFill>
              <a:srgbClr val="65539A"/>
            </a:solidFill>
            <a:prstDash val="solid"/>
          </a:ln>
        </p:spPr>
      </p:sp>
      <p:sp>
        <p:nvSpPr>
          <p:cNvPr id="5" name="equation">
            <a:extLst>
              <a:ext uri="{FF2B5EF4-FFF2-40B4-BE49-F238E27FC236}">
                <a16:creationId xmlns:a16="http://schemas.microsoft.com/office/drawing/2014/main" id="{C8948932-2928-41CF-8CF6-AB01B6A72A38}"/>
              </a:ext>
            </a:extLst>
          </p:cNvPr>
          <p:cNvSpPr>
            <a:spLocks noGrp="1"/>
          </p:cNvSpPr>
          <p:nvPr/>
        </p:nvSpPr>
        <p:spPr>
          <a:xfrm>
            <a:off x="1371600" y="1771650"/>
            <a:ext cx="94488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2000"/>
              </a:lnSpc>
              <a:buNone/>
              <a:defRPr sz="3000" b="1" i="0">
                <a:solidFill>
                  <a:srgbClr val="172333"/>
                </a:solidFill>
                <a:latin typeface="Cambria Math"/>
                <a:ea typeface="Cambria Math"/>
                <a:cs typeface="Cambria Math"/>
              </a:defRPr>
            </a:pPr>
            <a:r>
              <a:rPr sz="3000" b="1" i="0">
                <a:solidFill>
                  <a:srgbClr val="172333"/>
                </a:solidFill>
                <a:latin typeface="Cambria Math"/>
                <a:ea typeface="Cambria Math"/>
                <a:cs typeface="Cambria Math"/>
              </a:rPr>
              <a:t>j²=−1; X=|X|e^{jφ}.</a:t>
            </a:r>
          </a:p>
        </p:txBody>
      </p:sp>
      <p:sp>
        <p:nvSpPr>
          <p:cNvPr id="6" name="equation-meaning-box">
            <a:extLst>
              <a:ext uri="{FF2B5EF4-FFF2-40B4-BE49-F238E27FC236}">
                <a16:creationId xmlns:a16="http://schemas.microsoft.com/office/drawing/2014/main" id="{A0732ABD-9675-4B63-B51E-CB414311E362}"/>
              </a:ext>
            </a:extLst>
          </p:cNvPr>
          <p:cNvSpPr>
            <a:spLocks noGrp="1"/>
          </p:cNvSpPr>
          <p:nvPr/>
        </p:nvSpPr>
        <p:spPr>
          <a:xfrm>
            <a:off x="857250" y="3000375"/>
            <a:ext cx="4953000" cy="2381250"/>
          </a:xfrm>
          <a:prstGeom prst="roundRect">
            <a:avLst>
              <a:gd name="adj" fmla="val 5600"/>
            </a:avLst>
          </a:prstGeom>
          <a:solidFill>
            <a:srgbClr val="DDEFF5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7" name="equation-meaning-title">
            <a:extLst>
              <a:ext uri="{FF2B5EF4-FFF2-40B4-BE49-F238E27FC236}">
                <a16:creationId xmlns:a16="http://schemas.microsoft.com/office/drawing/2014/main" id="{693FB8C3-E5C9-4BA4-84E2-F402E2B45048}"/>
              </a:ext>
            </a:extLst>
          </p:cNvPr>
          <p:cNvSpPr>
            <a:spLocks noGrp="1"/>
          </p:cNvSpPr>
          <p:nvPr/>
        </p:nvSpPr>
        <p:spPr>
          <a:xfrm>
            <a:off x="1028700" y="3133725"/>
            <a:ext cx="4610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Qué significa</a:t>
            </a:r>
          </a:p>
        </p:txBody>
      </p:sp>
      <p:sp>
        <p:nvSpPr>
          <p:cNvPr id="8" name="equation-meaning-body">
            <a:extLst>
              <a:ext uri="{FF2B5EF4-FFF2-40B4-BE49-F238E27FC236}">
                <a16:creationId xmlns:a16="http://schemas.microsoft.com/office/drawing/2014/main" id="{A06E5B1B-2DCA-4F33-AA1B-5D6C34C44AB6}"/>
              </a:ext>
            </a:extLst>
          </p:cNvPr>
          <p:cNvSpPr>
            <a:spLocks noGrp="1"/>
          </p:cNvSpPr>
          <p:nvPr/>
        </p:nvSpPr>
        <p:spPr>
          <a:xfrm>
            <a:off x="1028700" y="3514725"/>
            <a:ext cx="4610100" cy="1733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|X|: módulo; φ: fase en rad.</a:t>
            </a:r>
          </a:p>
        </p:txBody>
      </p:sp>
      <p:sp>
        <p:nvSpPr>
          <p:cNvPr id="9" name="equation-use-box">
            <a:extLst>
              <a:ext uri="{FF2B5EF4-FFF2-40B4-BE49-F238E27FC236}">
                <a16:creationId xmlns:a16="http://schemas.microsoft.com/office/drawing/2014/main" id="{D24D6282-0356-45E6-9978-0F5B7BF7C653}"/>
              </a:ext>
            </a:extLst>
          </p:cNvPr>
          <p:cNvSpPr>
            <a:spLocks noGrp="1"/>
          </p:cNvSpPr>
          <p:nvPr/>
        </p:nvSpPr>
        <p:spPr>
          <a:xfrm>
            <a:off x="6381750" y="3000375"/>
            <a:ext cx="4953000" cy="2381250"/>
          </a:xfrm>
          <a:prstGeom prst="roundRect">
            <a:avLst>
              <a:gd name="adj" fmla="val 5600"/>
            </a:avLst>
          </a:prstGeom>
          <a:solidFill>
            <a:srgbClr val="E3F2ED"/>
          </a:solidFill>
          <a:ln w="19050">
            <a:solidFill>
              <a:srgbClr val="2D7867"/>
            </a:solidFill>
            <a:prstDash val="solid"/>
          </a:ln>
        </p:spPr>
      </p:sp>
      <p:sp>
        <p:nvSpPr>
          <p:cNvPr id="10" name="equation-use-title">
            <a:extLst>
              <a:ext uri="{FF2B5EF4-FFF2-40B4-BE49-F238E27FC236}">
                <a16:creationId xmlns:a16="http://schemas.microsoft.com/office/drawing/2014/main" id="{8EAB2A12-E3BC-4050-BDC5-ADDDF293E5C4}"/>
              </a:ext>
            </a:extLst>
          </p:cNvPr>
          <p:cNvSpPr>
            <a:spLocks noGrp="1"/>
          </p:cNvSpPr>
          <p:nvPr/>
        </p:nvSpPr>
        <p:spPr>
          <a:xfrm>
            <a:off x="6553200" y="3133725"/>
            <a:ext cx="4610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Cómo se usa</a:t>
            </a:r>
          </a:p>
        </p:txBody>
      </p:sp>
      <p:sp>
        <p:nvSpPr>
          <p:cNvPr id="11" name="equation-use-body">
            <a:extLst>
              <a:ext uri="{FF2B5EF4-FFF2-40B4-BE49-F238E27FC236}">
                <a16:creationId xmlns:a16="http://schemas.microsoft.com/office/drawing/2014/main" id="{CD9BD2D7-1672-4296-9DCF-C0447534D677}"/>
              </a:ext>
            </a:extLst>
          </p:cNvPr>
          <p:cNvSpPr>
            <a:spLocks noGrp="1"/>
          </p:cNvSpPr>
          <p:nvPr/>
        </p:nvSpPr>
        <p:spPr>
          <a:xfrm>
            <a:off x="6553200" y="3514725"/>
            <a:ext cx="4610100" cy="1733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vector complejo con magnitud fija.</a:t>
            </a:r>
          </a:p>
        </p:txBody>
      </p:sp>
      <p:sp>
        <p:nvSpPr>
          <p:cNvPr id="12" name="caption">
            <a:extLst>
              <a:ext uri="{FF2B5EF4-FFF2-40B4-BE49-F238E27FC236}">
                <a16:creationId xmlns:a16="http://schemas.microsoft.com/office/drawing/2014/main" id="{9499EA8F-149C-4C79-9BAE-047468C1A934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876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La forma compleja compacta dos componentes matemáticas.</a:t>
            </a:r>
          </a:p>
        </p:txBody>
      </p:sp>
      <p:sp>
        <p:nvSpPr>
          <p:cNvPr id="13" name="credit">
            <a:extLst>
              <a:ext uri="{FF2B5EF4-FFF2-40B4-BE49-F238E27FC236}">
                <a16:creationId xmlns:a16="http://schemas.microsoft.com/office/drawing/2014/main" id="{3B5B6153-CB45-4CC9-B222-A951A83AD012}"/>
              </a:ext>
            </a:extLst>
          </p:cNvPr>
          <p:cNvSpPr>
            <a:spLocks noGrp="1"/>
          </p:cNvSpPr>
          <p:nvPr/>
        </p:nvSpPr>
        <p:spPr>
          <a:xfrm>
            <a:off x="9382125" y="60769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5.4.3; NOT.</a:t>
            </a:r>
          </a:p>
        </p:txBody>
      </p:sp>
      <p:sp>
        <p:nvSpPr>
          <p:cNvPr id="15" name="slide-alt-summary" descr="Vector en plano complejo con módulo y ángulo señalados.">
            <a:extLst>
              <a:ext uri="{FF2B5EF4-FFF2-40B4-BE49-F238E27FC236}">
                <a16:creationId xmlns:a16="http://schemas.microsoft.com/office/drawing/2014/main" id="{A41A666B-29BF-1188-0A96-5C5FB7D68A56}"/>
              </a:ext>
            </a:extLst>
          </p:cNvPr>
          <p:cNvSpPr/>
          <p:nvPr/>
        </p:nvSpPr>
        <p:spPr>
          <a:xfrm>
            <a:off x="12700" y="12700"/>
            <a:ext cx="12700" cy="12700"/>
          </a:xfrm>
          <a:prstGeom prst="rect">
            <a:avLst/>
          </a:prstGeom>
          <a:noFill/>
          <a:ln w="19050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yebrow">
            <a:extLst>
              <a:ext uri="{FF2B5EF4-FFF2-40B4-BE49-F238E27FC236}">
                <a16:creationId xmlns:a16="http://schemas.microsoft.com/office/drawing/2014/main" id="{E400A716-3285-42E2-8DE3-8AA997408239}"/>
              </a:ext>
            </a:extLst>
          </p:cNvPr>
          <p:cNvSpPr>
            <a:spLocks noGrp="1"/>
          </p:cNvSpPr>
          <p:nvPr/>
        </p:nvSpPr>
        <p:spPr>
          <a:xfrm>
            <a:off x="514350" y="2095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134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F4181CF7-40E5-488F-A818-84DE6DB33123}"/>
              </a:ext>
            </a:extLst>
          </p:cNvPr>
          <p:cNvSpPr>
            <a:spLocks noGrp="1"/>
          </p:cNvSpPr>
          <p:nvPr/>
        </p:nvSpPr>
        <p:spPr>
          <a:xfrm>
            <a:off x="495300" y="428625"/>
            <a:ext cx="11191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Cómo se calculan a_n y b_n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86EAB7BD-FAD2-4B1C-B394-EE38EE915C60}"/>
              </a:ext>
            </a:extLst>
          </p:cNvPr>
          <p:cNvSpPr>
            <a:spLocks noGrp="1"/>
          </p:cNvSpPr>
          <p:nvPr/>
        </p:nvSpPr>
        <p:spPr>
          <a:xfrm>
            <a:off x="523875" y="971550"/>
            <a:ext cx="11001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Integrar la coincidencia con seno y coseno sobre un período.</a:t>
            </a:r>
          </a:p>
        </p:txBody>
      </p:sp>
      <p:sp>
        <p:nvSpPr>
          <p:cNvPr id="4" name="equation-box">
            <a:extLst>
              <a:ext uri="{FF2B5EF4-FFF2-40B4-BE49-F238E27FC236}">
                <a16:creationId xmlns:a16="http://schemas.microsoft.com/office/drawing/2014/main" id="{D6CBD0EB-1F9B-4576-A7B0-29446AE61278}"/>
              </a:ext>
            </a:extLst>
          </p:cNvPr>
          <p:cNvSpPr>
            <a:spLocks noGrp="1"/>
          </p:cNvSpPr>
          <p:nvPr/>
        </p:nvSpPr>
        <p:spPr>
          <a:xfrm>
            <a:off x="1143000" y="1619250"/>
            <a:ext cx="9906000" cy="1047750"/>
          </a:xfrm>
          <a:prstGeom prst="roundRect">
            <a:avLst>
              <a:gd name="adj" fmla="val 12727"/>
            </a:avLst>
          </a:prstGeom>
          <a:solidFill>
            <a:srgbClr val="EFECF7"/>
          </a:solidFill>
          <a:ln w="19050">
            <a:solidFill>
              <a:srgbClr val="65539A"/>
            </a:solidFill>
            <a:prstDash val="solid"/>
          </a:ln>
        </p:spPr>
      </p:sp>
      <p:sp>
        <p:nvSpPr>
          <p:cNvPr id="5" name="equation">
            <a:extLst>
              <a:ext uri="{FF2B5EF4-FFF2-40B4-BE49-F238E27FC236}">
                <a16:creationId xmlns:a16="http://schemas.microsoft.com/office/drawing/2014/main" id="{95DEA6E0-D827-4844-8B57-760084F8EE86}"/>
              </a:ext>
            </a:extLst>
          </p:cNvPr>
          <p:cNvSpPr>
            <a:spLocks noGrp="1"/>
          </p:cNvSpPr>
          <p:nvPr/>
        </p:nvSpPr>
        <p:spPr>
          <a:xfrm>
            <a:off x="1371600" y="1771650"/>
            <a:ext cx="94488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2000"/>
              </a:lnSpc>
              <a:buNone/>
              <a:defRPr sz="3000" b="1" i="0">
                <a:solidFill>
                  <a:srgbClr val="172333"/>
                </a:solidFill>
                <a:latin typeface="Cambria Math"/>
                <a:ea typeface="Cambria Math"/>
                <a:cs typeface="Cambria Math"/>
              </a:defRPr>
            </a:pPr>
            <a:r>
              <a:rPr sz="3000" b="1" i="0">
                <a:solidFill>
                  <a:srgbClr val="172333"/>
                </a:solidFill>
                <a:latin typeface="Cambria Math"/>
                <a:ea typeface="Cambria Math"/>
                <a:cs typeface="Cambria Math"/>
              </a:rPr>
              <a:t>fórmulas completas de a_n y b_n de U05-023.</a:t>
            </a:r>
          </a:p>
        </p:txBody>
      </p:sp>
      <p:sp>
        <p:nvSpPr>
          <p:cNvPr id="6" name="equation-meaning-box">
            <a:extLst>
              <a:ext uri="{FF2B5EF4-FFF2-40B4-BE49-F238E27FC236}">
                <a16:creationId xmlns:a16="http://schemas.microsoft.com/office/drawing/2014/main" id="{82B15C5D-E773-44C3-9E1D-33E0978440A5}"/>
              </a:ext>
            </a:extLst>
          </p:cNvPr>
          <p:cNvSpPr>
            <a:spLocks noGrp="1"/>
          </p:cNvSpPr>
          <p:nvPr/>
        </p:nvSpPr>
        <p:spPr>
          <a:xfrm>
            <a:off x="857250" y="3000375"/>
            <a:ext cx="4953000" cy="2381250"/>
          </a:xfrm>
          <a:prstGeom prst="roundRect">
            <a:avLst>
              <a:gd name="adj" fmla="val 5600"/>
            </a:avLst>
          </a:prstGeom>
          <a:solidFill>
            <a:srgbClr val="DDEFF5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7" name="equation-meaning-title">
            <a:extLst>
              <a:ext uri="{FF2B5EF4-FFF2-40B4-BE49-F238E27FC236}">
                <a16:creationId xmlns:a16="http://schemas.microsoft.com/office/drawing/2014/main" id="{492F5E00-E50D-4695-B922-7C66522D4855}"/>
              </a:ext>
            </a:extLst>
          </p:cNvPr>
          <p:cNvSpPr>
            <a:spLocks noGrp="1"/>
          </p:cNvSpPr>
          <p:nvPr/>
        </p:nvSpPr>
        <p:spPr>
          <a:xfrm>
            <a:off x="1028700" y="3133725"/>
            <a:ext cx="4610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Qué significa</a:t>
            </a:r>
          </a:p>
        </p:txBody>
      </p:sp>
      <p:sp>
        <p:nvSpPr>
          <p:cNvPr id="8" name="equation-meaning-body">
            <a:extLst>
              <a:ext uri="{FF2B5EF4-FFF2-40B4-BE49-F238E27FC236}">
                <a16:creationId xmlns:a16="http://schemas.microsoft.com/office/drawing/2014/main" id="{2CFFC47E-E4B7-49FC-913E-9A7B3719D8D3}"/>
              </a:ext>
            </a:extLst>
          </p:cNvPr>
          <p:cNvSpPr>
            <a:spLocks noGrp="1"/>
          </p:cNvSpPr>
          <p:nvPr/>
        </p:nvSpPr>
        <p:spPr>
          <a:xfrm>
            <a:off x="1028700" y="3514725"/>
            <a:ext cx="4610100" cy="1733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Proyección: medida de semejanza bajo el producto e integración definidos.</a:t>
            </a:r>
          </a:p>
        </p:txBody>
      </p:sp>
      <p:sp>
        <p:nvSpPr>
          <p:cNvPr id="9" name="equation-use-box">
            <a:extLst>
              <a:ext uri="{FF2B5EF4-FFF2-40B4-BE49-F238E27FC236}">
                <a16:creationId xmlns:a16="http://schemas.microsoft.com/office/drawing/2014/main" id="{09F38351-C524-447C-9BD6-9D31753BD984}"/>
              </a:ext>
            </a:extLst>
          </p:cNvPr>
          <p:cNvSpPr>
            <a:spLocks noGrp="1"/>
          </p:cNvSpPr>
          <p:nvPr/>
        </p:nvSpPr>
        <p:spPr>
          <a:xfrm>
            <a:off x="6381750" y="3000375"/>
            <a:ext cx="4953000" cy="2381250"/>
          </a:xfrm>
          <a:prstGeom prst="roundRect">
            <a:avLst>
              <a:gd name="adj" fmla="val 5600"/>
            </a:avLst>
          </a:prstGeom>
          <a:solidFill>
            <a:srgbClr val="E3F2ED"/>
          </a:solidFill>
          <a:ln w="19050">
            <a:solidFill>
              <a:srgbClr val="2D7867"/>
            </a:solidFill>
            <a:prstDash val="solid"/>
          </a:ln>
        </p:spPr>
      </p:sp>
      <p:sp>
        <p:nvSpPr>
          <p:cNvPr id="10" name="equation-use-title">
            <a:extLst>
              <a:ext uri="{FF2B5EF4-FFF2-40B4-BE49-F238E27FC236}">
                <a16:creationId xmlns:a16="http://schemas.microsoft.com/office/drawing/2014/main" id="{36F5210E-0A27-49D5-8857-891796A2E7B9}"/>
              </a:ext>
            </a:extLst>
          </p:cNvPr>
          <p:cNvSpPr>
            <a:spLocks noGrp="1"/>
          </p:cNvSpPr>
          <p:nvPr/>
        </p:nvSpPr>
        <p:spPr>
          <a:xfrm>
            <a:off x="6553200" y="3133725"/>
            <a:ext cx="4610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Cómo se usa</a:t>
            </a:r>
          </a:p>
        </p:txBody>
      </p:sp>
      <p:sp>
        <p:nvSpPr>
          <p:cNvPr id="11" name="equation-use-body">
            <a:extLst>
              <a:ext uri="{FF2B5EF4-FFF2-40B4-BE49-F238E27FC236}">
                <a16:creationId xmlns:a16="http://schemas.microsoft.com/office/drawing/2014/main" id="{B64353EE-3B0F-4968-A129-1775B8AE9FBE}"/>
              </a:ext>
            </a:extLst>
          </p:cNvPr>
          <p:cNvSpPr>
            <a:spLocks noGrp="1"/>
          </p:cNvSpPr>
          <p:nvPr/>
        </p:nvSpPr>
        <p:spPr>
          <a:xfrm>
            <a:off x="6553200" y="3514725"/>
            <a:ext cx="4610100" cy="1733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simetría par favorece términos coseno.</a:t>
            </a:r>
          </a:p>
        </p:txBody>
      </p:sp>
      <p:sp>
        <p:nvSpPr>
          <p:cNvPr id="12" name="caption">
            <a:extLst>
              <a:ext uri="{FF2B5EF4-FFF2-40B4-BE49-F238E27FC236}">
                <a16:creationId xmlns:a16="http://schemas.microsoft.com/office/drawing/2014/main" id="{32B456F2-3361-4A66-9A24-B27FABAFA059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876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Formalismo de consulta; no requiere resolver integrales en el núcleo.</a:t>
            </a:r>
          </a:p>
        </p:txBody>
      </p:sp>
      <p:sp>
        <p:nvSpPr>
          <p:cNvPr id="13" name="credit">
            <a:extLst>
              <a:ext uri="{FF2B5EF4-FFF2-40B4-BE49-F238E27FC236}">
                <a16:creationId xmlns:a16="http://schemas.microsoft.com/office/drawing/2014/main" id="{788C3C4C-3DF4-4A6E-BBCB-1666FCAC521E}"/>
              </a:ext>
            </a:extLst>
          </p:cNvPr>
          <p:cNvSpPr>
            <a:spLocks noGrp="1"/>
          </p:cNvSpPr>
          <p:nvPr/>
        </p:nvSpPr>
        <p:spPr>
          <a:xfrm>
            <a:off x="9382125" y="60769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5.4.1.</a:t>
            </a:r>
          </a:p>
        </p:txBody>
      </p:sp>
      <p:sp>
        <p:nvSpPr>
          <p:cNvPr id="15" name="slide-alt-summary" descr="Dos integrales comparan una señal con coseno y seno en un período.">
            <a:extLst>
              <a:ext uri="{FF2B5EF4-FFF2-40B4-BE49-F238E27FC236}">
                <a16:creationId xmlns:a16="http://schemas.microsoft.com/office/drawing/2014/main" id="{597D0B6D-8317-893B-FE7C-4C4A64462F4F}"/>
              </a:ext>
            </a:extLst>
          </p:cNvPr>
          <p:cNvSpPr/>
          <p:nvPr/>
        </p:nvSpPr>
        <p:spPr>
          <a:xfrm>
            <a:off x="12700" y="12700"/>
            <a:ext cx="12700" cy="12700"/>
          </a:xfrm>
          <a:prstGeom prst="rect">
            <a:avLst/>
          </a:prstGeom>
          <a:noFill/>
          <a:ln w="19050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yebrow">
            <a:extLst>
              <a:ext uri="{FF2B5EF4-FFF2-40B4-BE49-F238E27FC236}">
                <a16:creationId xmlns:a16="http://schemas.microsoft.com/office/drawing/2014/main" id="{C9DD5AD3-4F78-4104-8F34-7A8A9908FC11}"/>
              </a:ext>
            </a:extLst>
          </p:cNvPr>
          <p:cNvSpPr>
            <a:spLocks noGrp="1"/>
          </p:cNvSpPr>
          <p:nvPr/>
        </p:nvSpPr>
        <p:spPr>
          <a:xfrm>
            <a:off x="514350" y="2095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135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F8BCDD39-F670-4848-9A08-B14552858951}"/>
              </a:ext>
            </a:extLst>
          </p:cNvPr>
          <p:cNvSpPr>
            <a:spLocks noGrp="1"/>
          </p:cNvSpPr>
          <p:nvPr/>
        </p:nvSpPr>
        <p:spPr>
          <a:xfrm>
            <a:off x="495300" y="428625"/>
            <a:ext cx="11191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Convención y unidades de la transformada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EE53AA9A-997B-4F5F-863A-CFF6BD1D4FE0}"/>
              </a:ext>
            </a:extLst>
          </p:cNvPr>
          <p:cNvSpPr>
            <a:spLocks noGrp="1"/>
          </p:cNvSpPr>
          <p:nvPr/>
        </p:nvSpPr>
        <p:spPr>
          <a:xfrm>
            <a:off x="523875" y="971550"/>
            <a:ext cx="11001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Las amplitudes absolutas dependen de definición y normalización.</a:t>
            </a:r>
          </a:p>
        </p:txBody>
      </p:sp>
      <p:sp>
        <p:nvSpPr>
          <p:cNvPr id="4" name="equation-box">
            <a:extLst>
              <a:ext uri="{FF2B5EF4-FFF2-40B4-BE49-F238E27FC236}">
                <a16:creationId xmlns:a16="http://schemas.microsoft.com/office/drawing/2014/main" id="{7CC68FB5-83C4-4CD0-9CC3-B4247A98D338}"/>
              </a:ext>
            </a:extLst>
          </p:cNvPr>
          <p:cNvSpPr>
            <a:spLocks noGrp="1"/>
          </p:cNvSpPr>
          <p:nvPr/>
        </p:nvSpPr>
        <p:spPr>
          <a:xfrm>
            <a:off x="1143000" y="1619250"/>
            <a:ext cx="9906000" cy="1047750"/>
          </a:xfrm>
          <a:prstGeom prst="roundRect">
            <a:avLst>
              <a:gd name="adj" fmla="val 12727"/>
            </a:avLst>
          </a:prstGeom>
          <a:solidFill>
            <a:srgbClr val="EFECF7"/>
          </a:solidFill>
          <a:ln w="19050">
            <a:solidFill>
              <a:srgbClr val="65539A"/>
            </a:solidFill>
            <a:prstDash val="solid"/>
          </a:ln>
        </p:spPr>
      </p:sp>
      <p:sp>
        <p:nvSpPr>
          <p:cNvPr id="5" name="equation">
            <a:extLst>
              <a:ext uri="{FF2B5EF4-FFF2-40B4-BE49-F238E27FC236}">
                <a16:creationId xmlns:a16="http://schemas.microsoft.com/office/drawing/2014/main" id="{4480723B-78E1-49F6-B3FF-AF48109E6662}"/>
              </a:ext>
            </a:extLst>
          </p:cNvPr>
          <p:cNvSpPr>
            <a:spLocks noGrp="1"/>
          </p:cNvSpPr>
          <p:nvPr/>
        </p:nvSpPr>
        <p:spPr>
          <a:xfrm>
            <a:off x="1371600" y="1771650"/>
            <a:ext cx="94488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2000"/>
              </a:lnSpc>
              <a:buNone/>
              <a:defRPr sz="3000" b="1" i="0">
                <a:solidFill>
                  <a:srgbClr val="172333"/>
                </a:solidFill>
                <a:latin typeface="Cambria Math"/>
                <a:ea typeface="Cambria Math"/>
                <a:cs typeface="Cambria Math"/>
              </a:defRPr>
            </a:pPr>
            <a:r>
              <a:rPr sz="3000" b="1" i="0">
                <a:solidFill>
                  <a:srgbClr val="172333"/>
                </a:solidFill>
                <a:latin typeface="Cambria Math"/>
                <a:ea typeface="Cambria Math"/>
                <a:cs typeface="Cambria Math"/>
              </a:rPr>
              <a:t>X(f)=∫x(t)e^{−j2πft}dt; x(t)=∫X(f)e^{j2πft}df.</a:t>
            </a:r>
          </a:p>
        </p:txBody>
      </p:sp>
      <p:sp>
        <p:nvSpPr>
          <p:cNvPr id="6" name="equation-meaning-box">
            <a:extLst>
              <a:ext uri="{FF2B5EF4-FFF2-40B4-BE49-F238E27FC236}">
                <a16:creationId xmlns:a16="http://schemas.microsoft.com/office/drawing/2014/main" id="{91F0867C-0D0D-4ACA-9BF1-6AE7DFC322C2}"/>
              </a:ext>
            </a:extLst>
          </p:cNvPr>
          <p:cNvSpPr>
            <a:spLocks noGrp="1"/>
          </p:cNvSpPr>
          <p:nvPr/>
        </p:nvSpPr>
        <p:spPr>
          <a:xfrm>
            <a:off x="857250" y="3000375"/>
            <a:ext cx="4953000" cy="2381250"/>
          </a:xfrm>
          <a:prstGeom prst="roundRect">
            <a:avLst>
              <a:gd name="adj" fmla="val 5600"/>
            </a:avLst>
          </a:prstGeom>
          <a:solidFill>
            <a:srgbClr val="DDEFF5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7" name="equation-meaning-title">
            <a:extLst>
              <a:ext uri="{FF2B5EF4-FFF2-40B4-BE49-F238E27FC236}">
                <a16:creationId xmlns:a16="http://schemas.microsoft.com/office/drawing/2014/main" id="{8A1DC08A-AE86-44C3-A888-6FDC1BCC8E2D}"/>
              </a:ext>
            </a:extLst>
          </p:cNvPr>
          <p:cNvSpPr>
            <a:spLocks noGrp="1"/>
          </p:cNvSpPr>
          <p:nvPr/>
        </p:nvSpPr>
        <p:spPr>
          <a:xfrm>
            <a:off x="1028700" y="3133725"/>
            <a:ext cx="4610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Qué significa</a:t>
            </a:r>
          </a:p>
        </p:txBody>
      </p:sp>
      <p:sp>
        <p:nvSpPr>
          <p:cNvPr id="8" name="equation-meaning-body">
            <a:extLst>
              <a:ext uri="{FF2B5EF4-FFF2-40B4-BE49-F238E27FC236}">
                <a16:creationId xmlns:a16="http://schemas.microsoft.com/office/drawing/2014/main" id="{52E39DF0-10AF-4532-9122-58FCF3A9744D}"/>
              </a:ext>
            </a:extLst>
          </p:cNvPr>
          <p:cNvSpPr>
            <a:spLocks noGrp="1"/>
          </p:cNvSpPr>
          <p:nvPr/>
        </p:nvSpPr>
        <p:spPr>
          <a:xfrm>
            <a:off x="1028700" y="3514725"/>
            <a:ext cx="4610100" cy="1733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si x tiene unidad U, X tiene U·s con esta convención.</a:t>
            </a:r>
          </a:p>
        </p:txBody>
      </p:sp>
      <p:sp>
        <p:nvSpPr>
          <p:cNvPr id="9" name="equation-use-box">
            <a:extLst>
              <a:ext uri="{FF2B5EF4-FFF2-40B4-BE49-F238E27FC236}">
                <a16:creationId xmlns:a16="http://schemas.microsoft.com/office/drawing/2014/main" id="{579E3BB0-DAEF-469A-9AAE-3F41A20140E2}"/>
              </a:ext>
            </a:extLst>
          </p:cNvPr>
          <p:cNvSpPr>
            <a:spLocks noGrp="1"/>
          </p:cNvSpPr>
          <p:nvPr/>
        </p:nvSpPr>
        <p:spPr>
          <a:xfrm>
            <a:off x="6381750" y="3000375"/>
            <a:ext cx="4953000" cy="2381250"/>
          </a:xfrm>
          <a:prstGeom prst="roundRect">
            <a:avLst>
              <a:gd name="adj" fmla="val 5600"/>
            </a:avLst>
          </a:prstGeom>
          <a:solidFill>
            <a:srgbClr val="E3F2ED"/>
          </a:solidFill>
          <a:ln w="19050">
            <a:solidFill>
              <a:srgbClr val="2D7867"/>
            </a:solidFill>
            <a:prstDash val="solid"/>
          </a:ln>
        </p:spPr>
      </p:sp>
      <p:sp>
        <p:nvSpPr>
          <p:cNvPr id="10" name="equation-use-title">
            <a:extLst>
              <a:ext uri="{FF2B5EF4-FFF2-40B4-BE49-F238E27FC236}">
                <a16:creationId xmlns:a16="http://schemas.microsoft.com/office/drawing/2014/main" id="{648A7E12-A332-431B-BA29-F521FE606618}"/>
              </a:ext>
            </a:extLst>
          </p:cNvPr>
          <p:cNvSpPr>
            <a:spLocks noGrp="1"/>
          </p:cNvSpPr>
          <p:nvPr/>
        </p:nvSpPr>
        <p:spPr>
          <a:xfrm>
            <a:off x="6553200" y="3133725"/>
            <a:ext cx="4610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Cómo se usa</a:t>
            </a:r>
          </a:p>
        </p:txBody>
      </p:sp>
      <p:sp>
        <p:nvSpPr>
          <p:cNvPr id="11" name="equation-use-body">
            <a:extLst>
              <a:ext uri="{FF2B5EF4-FFF2-40B4-BE49-F238E27FC236}">
                <a16:creationId xmlns:a16="http://schemas.microsoft.com/office/drawing/2014/main" id="{26952E69-5ADB-492A-AF50-8C43F233494A}"/>
              </a:ext>
            </a:extLst>
          </p:cNvPr>
          <p:cNvSpPr>
            <a:spLocks noGrp="1"/>
          </p:cNvSpPr>
          <p:nvPr/>
        </p:nvSpPr>
        <p:spPr>
          <a:xfrm>
            <a:off x="6553200" y="3514725"/>
            <a:ext cx="4610100" cy="1733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presión en Pa → transformada en Pa·s.</a:t>
            </a:r>
          </a:p>
        </p:txBody>
      </p:sp>
      <p:sp>
        <p:nvSpPr>
          <p:cNvPr id="12" name="caption">
            <a:extLst>
              <a:ext uri="{FF2B5EF4-FFF2-40B4-BE49-F238E27FC236}">
                <a16:creationId xmlns:a16="http://schemas.microsoft.com/office/drawing/2014/main" id="{1F4FDA6A-7555-4AD0-813E-BC275D6EEBDD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876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No comparar amplitudes de espectros con normalizaciones distintas.</a:t>
            </a:r>
          </a:p>
        </p:txBody>
      </p:sp>
      <p:sp>
        <p:nvSpPr>
          <p:cNvPr id="13" name="credit">
            <a:extLst>
              <a:ext uri="{FF2B5EF4-FFF2-40B4-BE49-F238E27FC236}">
                <a16:creationId xmlns:a16="http://schemas.microsoft.com/office/drawing/2014/main" id="{9CC27736-5BB0-42A0-BA37-38C8790394B8}"/>
              </a:ext>
            </a:extLst>
          </p:cNvPr>
          <p:cNvSpPr>
            <a:spLocks noGrp="1"/>
          </p:cNvSpPr>
          <p:nvPr/>
        </p:nvSpPr>
        <p:spPr>
          <a:xfrm>
            <a:off x="9382125" y="60769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5.4.3; NOT.</a:t>
            </a:r>
          </a:p>
        </p:txBody>
      </p:sp>
      <p:sp>
        <p:nvSpPr>
          <p:cNvPr id="15" name="slide-alt-summary" descr="Transformada directa e inversa se acompañan por una tabla de unidades.">
            <a:extLst>
              <a:ext uri="{FF2B5EF4-FFF2-40B4-BE49-F238E27FC236}">
                <a16:creationId xmlns:a16="http://schemas.microsoft.com/office/drawing/2014/main" id="{E1D32CCA-228B-C465-970F-AE8261CF1F51}"/>
              </a:ext>
            </a:extLst>
          </p:cNvPr>
          <p:cNvSpPr/>
          <p:nvPr/>
        </p:nvSpPr>
        <p:spPr>
          <a:xfrm>
            <a:off x="12700" y="12700"/>
            <a:ext cx="12700" cy="12700"/>
          </a:xfrm>
          <a:prstGeom prst="rect">
            <a:avLst/>
          </a:prstGeom>
          <a:noFill/>
          <a:ln w="19050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yebrow">
            <a:extLst>
              <a:ext uri="{FF2B5EF4-FFF2-40B4-BE49-F238E27FC236}">
                <a16:creationId xmlns:a16="http://schemas.microsoft.com/office/drawing/2014/main" id="{9064A2AA-6C81-459B-9F9B-23D087483ABD}"/>
              </a:ext>
            </a:extLst>
          </p:cNvPr>
          <p:cNvSpPr>
            <a:spLocks noGrp="1"/>
          </p:cNvSpPr>
          <p:nvPr/>
        </p:nvSpPr>
        <p:spPr>
          <a:xfrm>
            <a:off x="514350" y="2095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136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1EA2F773-7774-443E-A182-AA402F3C5EBF}"/>
              </a:ext>
            </a:extLst>
          </p:cNvPr>
          <p:cNvSpPr>
            <a:spLocks noGrp="1"/>
          </p:cNvSpPr>
          <p:nvPr/>
        </p:nvSpPr>
        <p:spPr>
          <a:xfrm>
            <a:off x="495300" y="428625"/>
            <a:ext cx="11191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DFT: índices, frecuencias y normalización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2EC92A3E-E27E-49BE-BAB5-C3C0F0BE8E04}"/>
              </a:ext>
            </a:extLst>
          </p:cNvPr>
          <p:cNvSpPr>
            <a:spLocks noGrp="1"/>
          </p:cNvSpPr>
          <p:nvPr/>
        </p:nvSpPr>
        <p:spPr>
          <a:xfrm>
            <a:off x="523875" y="971550"/>
            <a:ext cx="11001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Referencia técnica reproducible.</a:t>
            </a:r>
          </a:p>
        </p:txBody>
      </p:sp>
      <p:sp>
        <p:nvSpPr>
          <p:cNvPr id="4" name="equation-box">
            <a:extLst>
              <a:ext uri="{FF2B5EF4-FFF2-40B4-BE49-F238E27FC236}">
                <a16:creationId xmlns:a16="http://schemas.microsoft.com/office/drawing/2014/main" id="{061EE57F-812C-4942-81A1-18BEFED19AAC}"/>
              </a:ext>
            </a:extLst>
          </p:cNvPr>
          <p:cNvSpPr>
            <a:spLocks noGrp="1"/>
          </p:cNvSpPr>
          <p:nvPr/>
        </p:nvSpPr>
        <p:spPr>
          <a:xfrm>
            <a:off x="1143000" y="1619250"/>
            <a:ext cx="9906000" cy="1047750"/>
          </a:xfrm>
          <a:prstGeom prst="roundRect">
            <a:avLst>
              <a:gd name="adj" fmla="val 12727"/>
            </a:avLst>
          </a:prstGeom>
          <a:solidFill>
            <a:srgbClr val="EFECF7"/>
          </a:solidFill>
          <a:ln w="19050">
            <a:solidFill>
              <a:srgbClr val="65539A"/>
            </a:solidFill>
            <a:prstDash val="solid"/>
          </a:ln>
        </p:spPr>
      </p:sp>
      <p:sp>
        <p:nvSpPr>
          <p:cNvPr id="5" name="equation">
            <a:extLst>
              <a:ext uri="{FF2B5EF4-FFF2-40B4-BE49-F238E27FC236}">
                <a16:creationId xmlns:a16="http://schemas.microsoft.com/office/drawing/2014/main" id="{02FC05C4-D57D-4DD2-A66B-5CA1FCC9A583}"/>
              </a:ext>
            </a:extLst>
          </p:cNvPr>
          <p:cNvSpPr>
            <a:spLocks noGrp="1"/>
          </p:cNvSpPr>
          <p:nvPr/>
        </p:nvSpPr>
        <p:spPr>
          <a:xfrm>
            <a:off x="1371600" y="1771650"/>
            <a:ext cx="94488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2000"/>
              </a:lnSpc>
              <a:buNone/>
              <a:defRPr sz="3000" b="1" i="0">
                <a:solidFill>
                  <a:srgbClr val="172333"/>
                </a:solidFill>
                <a:latin typeface="Cambria Math"/>
                <a:ea typeface="Cambria Math"/>
                <a:cs typeface="Cambria Math"/>
              </a:defRPr>
            </a:pPr>
            <a:r>
              <a:rPr sz="3000" b="1" i="0">
                <a:solidFill>
                  <a:srgbClr val="172333"/>
                </a:solidFill>
                <a:latin typeface="Cambria Math"/>
                <a:ea typeface="Cambria Math"/>
                <a:cs typeface="Cambria Math"/>
              </a:rPr>
              <a:t>X[k]=Σ_{n=0}^{N−1}x[n]e^{−j2πkn/N}.</a:t>
            </a:r>
          </a:p>
        </p:txBody>
      </p:sp>
      <p:sp>
        <p:nvSpPr>
          <p:cNvPr id="6" name="equation-meaning-box">
            <a:extLst>
              <a:ext uri="{FF2B5EF4-FFF2-40B4-BE49-F238E27FC236}">
                <a16:creationId xmlns:a16="http://schemas.microsoft.com/office/drawing/2014/main" id="{7CD89FCB-9814-4206-990E-3E271E45BA18}"/>
              </a:ext>
            </a:extLst>
          </p:cNvPr>
          <p:cNvSpPr>
            <a:spLocks noGrp="1"/>
          </p:cNvSpPr>
          <p:nvPr/>
        </p:nvSpPr>
        <p:spPr>
          <a:xfrm>
            <a:off x="857250" y="3000375"/>
            <a:ext cx="4953000" cy="2381250"/>
          </a:xfrm>
          <a:prstGeom prst="roundRect">
            <a:avLst>
              <a:gd name="adj" fmla="val 5600"/>
            </a:avLst>
          </a:prstGeom>
          <a:solidFill>
            <a:srgbClr val="DDEFF5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7" name="equation-meaning-title">
            <a:extLst>
              <a:ext uri="{FF2B5EF4-FFF2-40B4-BE49-F238E27FC236}">
                <a16:creationId xmlns:a16="http://schemas.microsoft.com/office/drawing/2014/main" id="{1964A75F-9815-410D-8FBD-46ADD61C2A9D}"/>
              </a:ext>
            </a:extLst>
          </p:cNvPr>
          <p:cNvSpPr>
            <a:spLocks noGrp="1"/>
          </p:cNvSpPr>
          <p:nvPr/>
        </p:nvSpPr>
        <p:spPr>
          <a:xfrm>
            <a:off x="1028700" y="3133725"/>
            <a:ext cx="4610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Qué significa</a:t>
            </a:r>
          </a:p>
        </p:txBody>
      </p:sp>
      <p:sp>
        <p:nvSpPr>
          <p:cNvPr id="8" name="equation-meaning-body">
            <a:extLst>
              <a:ext uri="{FF2B5EF4-FFF2-40B4-BE49-F238E27FC236}">
                <a16:creationId xmlns:a16="http://schemas.microsoft.com/office/drawing/2014/main" id="{DEA801F1-81B3-48EF-B78F-72147491574A}"/>
              </a:ext>
            </a:extLst>
          </p:cNvPr>
          <p:cNvSpPr>
            <a:spLocks noGrp="1"/>
          </p:cNvSpPr>
          <p:nvPr/>
        </p:nvSpPr>
        <p:spPr>
          <a:xfrm>
            <a:off x="1028700" y="3514725"/>
            <a:ext cx="4610100" cy="1733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n,k adimensionales; f_k en Hz.</a:t>
            </a:r>
          </a:p>
        </p:txBody>
      </p:sp>
      <p:sp>
        <p:nvSpPr>
          <p:cNvPr id="9" name="equation-use-box">
            <a:extLst>
              <a:ext uri="{FF2B5EF4-FFF2-40B4-BE49-F238E27FC236}">
                <a16:creationId xmlns:a16="http://schemas.microsoft.com/office/drawing/2014/main" id="{44A21D81-97DA-495C-BAE2-FB32732E89DE}"/>
              </a:ext>
            </a:extLst>
          </p:cNvPr>
          <p:cNvSpPr>
            <a:spLocks noGrp="1"/>
          </p:cNvSpPr>
          <p:nvPr/>
        </p:nvSpPr>
        <p:spPr>
          <a:xfrm>
            <a:off x="6381750" y="3000375"/>
            <a:ext cx="4953000" cy="2381250"/>
          </a:xfrm>
          <a:prstGeom prst="roundRect">
            <a:avLst>
              <a:gd name="adj" fmla="val 5600"/>
            </a:avLst>
          </a:prstGeom>
          <a:solidFill>
            <a:srgbClr val="E3F2ED"/>
          </a:solidFill>
          <a:ln w="19050">
            <a:solidFill>
              <a:srgbClr val="2D7867"/>
            </a:solidFill>
            <a:prstDash val="solid"/>
          </a:ln>
        </p:spPr>
      </p:sp>
      <p:sp>
        <p:nvSpPr>
          <p:cNvPr id="10" name="equation-use-title">
            <a:extLst>
              <a:ext uri="{FF2B5EF4-FFF2-40B4-BE49-F238E27FC236}">
                <a16:creationId xmlns:a16="http://schemas.microsoft.com/office/drawing/2014/main" id="{5B180AB0-246E-4A64-A8F9-D68E28A6C793}"/>
              </a:ext>
            </a:extLst>
          </p:cNvPr>
          <p:cNvSpPr>
            <a:spLocks noGrp="1"/>
          </p:cNvSpPr>
          <p:nvPr/>
        </p:nvSpPr>
        <p:spPr>
          <a:xfrm>
            <a:off x="6553200" y="3133725"/>
            <a:ext cx="4610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Cómo se usa</a:t>
            </a:r>
          </a:p>
        </p:txBody>
      </p:sp>
      <p:sp>
        <p:nvSpPr>
          <p:cNvPr id="11" name="equation-use-body">
            <a:extLst>
              <a:ext uri="{FF2B5EF4-FFF2-40B4-BE49-F238E27FC236}">
                <a16:creationId xmlns:a16="http://schemas.microsoft.com/office/drawing/2014/main" id="{37DAE3A0-E497-4FA3-BAA5-0F52D0D10E02}"/>
              </a:ext>
            </a:extLst>
          </p:cNvPr>
          <p:cNvSpPr>
            <a:spLocks noGrp="1"/>
          </p:cNvSpPr>
          <p:nvPr/>
        </p:nvSpPr>
        <p:spPr>
          <a:xfrm>
            <a:off x="6553200" y="3514725"/>
            <a:ext cx="4610100" cy="1733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bins asociados con k=0,1,2….</a:t>
            </a:r>
          </a:p>
        </p:txBody>
      </p:sp>
      <p:sp>
        <p:nvSpPr>
          <p:cNvPr id="12" name="caption">
            <a:extLst>
              <a:ext uri="{FF2B5EF4-FFF2-40B4-BE49-F238E27FC236}">
                <a16:creationId xmlns:a16="http://schemas.microsoft.com/office/drawing/2014/main" id="{F74438D4-0D13-4202-8386-CD7385406C7C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876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La fórmula no determina por sí sola la ordenada graficada.</a:t>
            </a:r>
          </a:p>
        </p:txBody>
      </p:sp>
      <p:sp>
        <p:nvSpPr>
          <p:cNvPr id="13" name="credit">
            <a:extLst>
              <a:ext uri="{FF2B5EF4-FFF2-40B4-BE49-F238E27FC236}">
                <a16:creationId xmlns:a16="http://schemas.microsoft.com/office/drawing/2014/main" id="{CE8E4AE6-B370-486B-B17E-F19F75BA3126}"/>
              </a:ext>
            </a:extLst>
          </p:cNvPr>
          <p:cNvSpPr>
            <a:spLocks noGrp="1"/>
          </p:cNvSpPr>
          <p:nvPr/>
        </p:nvSpPr>
        <p:spPr>
          <a:xfrm>
            <a:off x="9382125" y="60769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5.4.4; NOT; EP.</a:t>
            </a:r>
          </a:p>
        </p:txBody>
      </p:sp>
      <p:sp>
        <p:nvSpPr>
          <p:cNvPr id="15" name="slide-alt-summary" descr="Sumatoria DFT con callouts para índices, cantidad de muestras y frecuencia asociada.">
            <a:extLst>
              <a:ext uri="{FF2B5EF4-FFF2-40B4-BE49-F238E27FC236}">
                <a16:creationId xmlns:a16="http://schemas.microsoft.com/office/drawing/2014/main" id="{4110AE64-0449-35A4-9078-B0C1B4A9A7E2}"/>
              </a:ext>
            </a:extLst>
          </p:cNvPr>
          <p:cNvSpPr/>
          <p:nvPr/>
        </p:nvSpPr>
        <p:spPr>
          <a:xfrm>
            <a:off x="12700" y="12700"/>
            <a:ext cx="12700" cy="12700"/>
          </a:xfrm>
          <a:prstGeom prst="rect">
            <a:avLst/>
          </a:prstGeom>
          <a:noFill/>
          <a:ln w="19050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yebrow">
            <a:extLst>
              <a:ext uri="{FF2B5EF4-FFF2-40B4-BE49-F238E27FC236}">
                <a16:creationId xmlns:a16="http://schemas.microsoft.com/office/drawing/2014/main" id="{7AF0CC93-51DE-4C3C-BFF4-913033842E28}"/>
              </a:ext>
            </a:extLst>
          </p:cNvPr>
          <p:cNvSpPr>
            <a:spLocks noGrp="1"/>
          </p:cNvSpPr>
          <p:nvPr/>
        </p:nvSpPr>
        <p:spPr>
          <a:xfrm>
            <a:off x="514350" y="2095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137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4DE6E093-8111-45A7-8603-45F7C4C86DAF}"/>
              </a:ext>
            </a:extLst>
          </p:cNvPr>
          <p:cNvSpPr>
            <a:spLocks noGrp="1"/>
          </p:cNvSpPr>
          <p:nvPr/>
        </p:nvSpPr>
        <p:spPr>
          <a:xfrm>
            <a:off x="495300" y="428625"/>
            <a:ext cx="11191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Muestreo y aliasing: límite conceptual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1A94189-C47C-492F-9A1D-8FC4BDBD8DCF}"/>
              </a:ext>
            </a:extLst>
          </p:cNvPr>
          <p:cNvSpPr>
            <a:spLocks noGrp="1"/>
          </p:cNvSpPr>
          <p:nvPr/>
        </p:nvSpPr>
        <p:spPr>
          <a:xfrm>
            <a:off x="523875" y="971550"/>
            <a:ext cx="11001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Frecuencias continuas diferentes pueden compartir las mismas muestras.</a:t>
            </a:r>
          </a:p>
        </p:txBody>
      </p:sp>
      <p:pic>
        <p:nvPicPr>
          <p:cNvPr id="13" name="Gráfico 1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457200" y="1381125"/>
            <a:ext cx="7524750" cy="4429125"/>
          </a:xfrm>
          <a:prstGeom prst="rect">
            <a:avLst/>
          </a:prstGeom>
        </p:spPr>
      </p:pic>
      <p:sp>
        <p:nvSpPr>
          <p:cNvPr id="5" name="chart-reading-box">
            <a:extLst>
              <a:ext uri="{FF2B5EF4-FFF2-40B4-BE49-F238E27FC236}">
                <a16:creationId xmlns:a16="http://schemas.microsoft.com/office/drawing/2014/main" id="{A7D276E9-FC8B-452F-BD5B-ED2284FD792A}"/>
              </a:ext>
            </a:extLst>
          </p:cNvPr>
          <p:cNvSpPr>
            <a:spLocks noGrp="1"/>
          </p:cNvSpPr>
          <p:nvPr/>
        </p:nvSpPr>
        <p:spPr>
          <a:xfrm>
            <a:off x="8239125" y="1476375"/>
            <a:ext cx="3190875" cy="3857625"/>
          </a:xfrm>
          <a:prstGeom prst="roundRect">
            <a:avLst>
              <a:gd name="adj" fmla="val 4179"/>
            </a:avLst>
          </a:prstGeom>
          <a:solidFill>
            <a:srgbClr val="DDEFF5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6" name="chart-reading-title">
            <a:extLst>
              <a:ext uri="{FF2B5EF4-FFF2-40B4-BE49-F238E27FC236}">
                <a16:creationId xmlns:a16="http://schemas.microsoft.com/office/drawing/2014/main" id="{E90606D3-77AF-4D97-867A-1894CD32BD77}"/>
              </a:ext>
            </a:extLst>
          </p:cNvPr>
          <p:cNvSpPr>
            <a:spLocks noGrp="1"/>
          </p:cNvSpPr>
          <p:nvPr/>
        </p:nvSpPr>
        <p:spPr>
          <a:xfrm>
            <a:off x="8410575" y="1609725"/>
            <a:ext cx="28479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Qué leer</a:t>
            </a:r>
          </a:p>
        </p:txBody>
      </p:sp>
      <p:sp>
        <p:nvSpPr>
          <p:cNvPr id="7" name="chart-reading-body">
            <a:extLst>
              <a:ext uri="{FF2B5EF4-FFF2-40B4-BE49-F238E27FC236}">
                <a16:creationId xmlns:a16="http://schemas.microsoft.com/office/drawing/2014/main" id="{D7F2A25D-45D0-4E99-B872-8713F0339656}"/>
              </a:ext>
            </a:extLst>
          </p:cNvPr>
          <p:cNvSpPr>
            <a:spLocks noGrp="1"/>
          </p:cNvSpPr>
          <p:nvPr/>
        </p:nvSpPr>
        <p:spPr>
          <a:xfrm>
            <a:off x="8410575" y="1990725"/>
            <a:ext cx="2847975" cy="3209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Misma f_s, dos senoides candidatas, puntos coincidentes. El límite de Nyquist requiere condiciones y no se evalúa en la ruta central.</a:t>
            </a:r>
          </a:p>
        </p:txBody>
      </p:sp>
      <p:sp>
        <p:nvSpPr>
          <p:cNvPr id="8" name="caption">
            <a:extLst>
              <a:ext uri="{FF2B5EF4-FFF2-40B4-BE49-F238E27FC236}">
                <a16:creationId xmlns:a16="http://schemas.microsoft.com/office/drawing/2014/main" id="{94F9B71C-C8D2-4599-9EF2-90667A2CEEFC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876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Las muestras no conservan información ilimitada.</a:t>
            </a:r>
          </a:p>
        </p:txBody>
      </p:sp>
      <p:sp>
        <p:nvSpPr>
          <p:cNvPr id="9" name="credit">
            <a:extLst>
              <a:ext uri="{FF2B5EF4-FFF2-40B4-BE49-F238E27FC236}">
                <a16:creationId xmlns:a16="http://schemas.microsoft.com/office/drawing/2014/main" id="{0ADD3DCC-86B2-4926-8CCD-9536BA04A5FC}"/>
              </a:ext>
            </a:extLst>
          </p:cNvPr>
          <p:cNvSpPr>
            <a:spLocks noGrp="1"/>
          </p:cNvSpPr>
          <p:nvPr/>
        </p:nvSpPr>
        <p:spPr>
          <a:xfrm>
            <a:off x="9382125" y="60769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OD-U05-22; NOT; EP.</a:t>
            </a:r>
          </a:p>
        </p:txBody>
      </p:sp>
      <p:sp>
        <p:nvSpPr>
          <p:cNvPr id="4" name="slide-alt-summary" descr="Dos senoides continuas atraviesan los mismos puntos de muestreo.">
            <a:extLst>
              <a:ext uri="{FF2B5EF4-FFF2-40B4-BE49-F238E27FC236}">
                <a16:creationId xmlns:a16="http://schemas.microsoft.com/office/drawing/2014/main" id="{4C7575C5-4FC3-8851-C668-6684C849715B}"/>
              </a:ext>
            </a:extLst>
          </p:cNvPr>
          <p:cNvSpPr/>
          <p:nvPr/>
        </p:nvSpPr>
        <p:spPr>
          <a:xfrm>
            <a:off x="12700" y="12700"/>
            <a:ext cx="12700" cy="12700"/>
          </a:xfrm>
          <a:prstGeom prst="rect">
            <a:avLst/>
          </a:prstGeom>
          <a:noFill/>
          <a:ln w="19050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yebrow">
            <a:extLst>
              <a:ext uri="{FF2B5EF4-FFF2-40B4-BE49-F238E27FC236}">
                <a16:creationId xmlns:a16="http://schemas.microsoft.com/office/drawing/2014/main" id="{A0D37EE6-C6F6-4F62-BBB0-516634EF0D47}"/>
              </a:ext>
            </a:extLst>
          </p:cNvPr>
          <p:cNvSpPr>
            <a:spLocks noGrp="1"/>
          </p:cNvSpPr>
          <p:nvPr/>
        </p:nvSpPr>
        <p:spPr>
          <a:xfrm>
            <a:off x="514350" y="2095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138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A2E624AD-14B6-41B8-8126-E771266169F6}"/>
              </a:ext>
            </a:extLst>
          </p:cNvPr>
          <p:cNvSpPr>
            <a:spLocks noGrp="1"/>
          </p:cNvSpPr>
          <p:nvPr/>
        </p:nvSpPr>
        <p:spPr>
          <a:xfrm>
            <a:off x="495300" y="428625"/>
            <a:ext cx="11191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Ventanas: ninguna gana en todos los criterios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1A68A018-5BE8-4C3A-88CE-CBB5C1E129A3}"/>
              </a:ext>
            </a:extLst>
          </p:cNvPr>
          <p:cNvSpPr>
            <a:spLocks noGrp="1"/>
          </p:cNvSpPr>
          <p:nvPr/>
        </p:nvSpPr>
        <p:spPr>
          <a:xfrm>
            <a:off x="523875" y="971550"/>
            <a:ext cx="11001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Seleccionar según separación, rango dinámico y amplitud.</a:t>
            </a:r>
          </a:p>
        </p:txBody>
      </p:sp>
      <p:sp>
        <p:nvSpPr>
          <p:cNvPr id="4" name="main-ideas">
            <a:extLst>
              <a:ext uri="{FF2B5EF4-FFF2-40B4-BE49-F238E27FC236}">
                <a16:creationId xmlns:a16="http://schemas.microsoft.com/office/drawing/2014/main" id="{49EEB18A-E2E1-41DB-8C97-8E3D6FB6DB47}"/>
              </a:ext>
            </a:extLst>
          </p:cNvPr>
          <p:cNvSpPr>
            <a:spLocks noGrp="1"/>
          </p:cNvSpPr>
          <p:nvPr/>
        </p:nvSpPr>
        <p:spPr>
          <a:xfrm>
            <a:off x="666750" y="1476375"/>
            <a:ext cx="6762750" cy="3857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76200" rIns="76200" bIns="76200">
            <a:noAutofit/>
          </a:bodyPr>
          <a:lstStyle/>
          <a:p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Rectangular y Hann: comparar lóbulo principal, laterales y corrección de amplitud.</a:t>
            </a:r>
          </a:p>
          <a:p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Tercera ventana solo con fuente documentada.</a:t>
            </a:r>
          </a:p>
        </p:txBody>
      </p:sp>
      <p:sp>
        <p:nvSpPr>
          <p:cNvPr id="5" name="side-panel-box">
            <a:extLst>
              <a:ext uri="{FF2B5EF4-FFF2-40B4-BE49-F238E27FC236}">
                <a16:creationId xmlns:a16="http://schemas.microsoft.com/office/drawing/2014/main" id="{E4843A18-7E80-4444-ACA3-0FD96AE05342}"/>
              </a:ext>
            </a:extLst>
          </p:cNvPr>
          <p:cNvSpPr>
            <a:spLocks noGrp="1"/>
          </p:cNvSpPr>
          <p:nvPr/>
        </p:nvSpPr>
        <p:spPr>
          <a:xfrm>
            <a:off x="7953375" y="1571625"/>
            <a:ext cx="3476625" cy="3381375"/>
          </a:xfrm>
          <a:prstGeom prst="roundRect">
            <a:avLst>
              <a:gd name="adj" fmla="val 3944"/>
            </a:avLst>
          </a:prstGeom>
          <a:solidFill>
            <a:srgbClr val="DDEFF5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6" name="side-panel-title">
            <a:extLst>
              <a:ext uri="{FF2B5EF4-FFF2-40B4-BE49-F238E27FC236}">
                <a16:creationId xmlns:a16="http://schemas.microsoft.com/office/drawing/2014/main" id="{CB4005F9-9608-4C07-9851-E047DFE07374}"/>
              </a:ext>
            </a:extLst>
          </p:cNvPr>
          <p:cNvSpPr>
            <a:spLocks noGrp="1"/>
          </p:cNvSpPr>
          <p:nvPr/>
        </p:nvSpPr>
        <p:spPr>
          <a:xfrm>
            <a:off x="8124825" y="1704975"/>
            <a:ext cx="31337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Definición</a:t>
            </a:r>
          </a:p>
        </p:txBody>
      </p:sp>
      <p:sp>
        <p:nvSpPr>
          <p:cNvPr id="7" name="side-panel-body">
            <a:extLst>
              <a:ext uri="{FF2B5EF4-FFF2-40B4-BE49-F238E27FC236}">
                <a16:creationId xmlns:a16="http://schemas.microsoft.com/office/drawing/2014/main" id="{B4704156-2319-4BF2-AA29-818EE4505DBF}"/>
              </a:ext>
            </a:extLst>
          </p:cNvPr>
          <p:cNvSpPr>
            <a:spLocks noGrp="1"/>
          </p:cNvSpPr>
          <p:nvPr/>
        </p:nvSpPr>
        <p:spPr>
          <a:xfrm>
            <a:off x="8124825" y="2085975"/>
            <a:ext cx="3133725" cy="2733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Normalización común necesaria para comparar respuestas.</a:t>
            </a:r>
          </a:p>
        </p:txBody>
      </p:sp>
      <p:sp>
        <p:nvSpPr>
          <p:cNvPr id="8" name="example-line">
            <a:extLst>
              <a:ext uri="{FF2B5EF4-FFF2-40B4-BE49-F238E27FC236}">
                <a16:creationId xmlns:a16="http://schemas.microsoft.com/office/drawing/2014/main" id="{6069E731-F34E-4CDD-937F-26CC2463A7FD}"/>
              </a:ext>
            </a:extLst>
          </p:cNvPr>
          <p:cNvSpPr>
            <a:spLocks noGrp="1"/>
          </p:cNvSpPr>
          <p:nvPr/>
        </p:nvSpPr>
        <p:spPr>
          <a:xfrm>
            <a:off x="8096250" y="5095875"/>
            <a:ext cx="3143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Ejemplo: recurso cuantitativo pendiente CH-009.</a:t>
            </a:r>
          </a:p>
        </p:txBody>
      </p:sp>
      <p:sp>
        <p:nvSpPr>
          <p:cNvPr id="9" name="caption">
            <a:extLst>
              <a:ext uri="{FF2B5EF4-FFF2-40B4-BE49-F238E27FC236}">
                <a16:creationId xmlns:a16="http://schemas.microsoft.com/office/drawing/2014/main" id="{177E0C7E-CBC0-4AAF-8A87-49EA330265A7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876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No existe una ventana universalmente superior.</a:t>
            </a:r>
          </a:p>
        </p:txBody>
      </p:sp>
      <p:sp>
        <p:nvSpPr>
          <p:cNvPr id="10" name="credit">
            <a:extLst>
              <a:ext uri="{FF2B5EF4-FFF2-40B4-BE49-F238E27FC236}">
                <a16:creationId xmlns:a16="http://schemas.microsoft.com/office/drawing/2014/main" id="{6DEFE028-98B1-404D-BCE7-DB62C82CE70B}"/>
              </a:ext>
            </a:extLst>
          </p:cNvPr>
          <p:cNvSpPr>
            <a:spLocks noGrp="1"/>
          </p:cNvSpPr>
          <p:nvPr/>
        </p:nvSpPr>
        <p:spPr>
          <a:xfrm>
            <a:off x="9382125" y="60769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5.4.5; fuente SciPy pendiente.</a:t>
            </a:r>
          </a:p>
        </p:txBody>
      </p:sp>
      <p:sp>
        <p:nvSpPr>
          <p:cNvPr id="12" name="slide-alt-summary" descr="Tabla cualitativa compara ventanas rectangular y Hann en tres criterios.">
            <a:extLst>
              <a:ext uri="{FF2B5EF4-FFF2-40B4-BE49-F238E27FC236}">
                <a16:creationId xmlns:a16="http://schemas.microsoft.com/office/drawing/2014/main" id="{693B7A9B-322B-01FF-5006-B96CC84CF65F}"/>
              </a:ext>
            </a:extLst>
          </p:cNvPr>
          <p:cNvSpPr/>
          <p:nvPr/>
        </p:nvSpPr>
        <p:spPr>
          <a:xfrm>
            <a:off x="12700" y="12700"/>
            <a:ext cx="12700" cy="12700"/>
          </a:xfrm>
          <a:prstGeom prst="rect">
            <a:avLst/>
          </a:prstGeom>
          <a:noFill/>
          <a:ln w="19050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yebrow">
            <a:extLst>
              <a:ext uri="{FF2B5EF4-FFF2-40B4-BE49-F238E27FC236}">
                <a16:creationId xmlns:a16="http://schemas.microsoft.com/office/drawing/2014/main" id="{66E6BDC0-2814-43DD-BEE7-0E369A81EB8A}"/>
              </a:ext>
            </a:extLst>
          </p:cNvPr>
          <p:cNvSpPr>
            <a:spLocks noGrp="1"/>
          </p:cNvSpPr>
          <p:nvPr/>
        </p:nvSpPr>
        <p:spPr>
          <a:xfrm>
            <a:off x="514350" y="2095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139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EC38715B-FB6F-423A-9CB5-7358463585A2}"/>
              </a:ext>
            </a:extLst>
          </p:cNvPr>
          <p:cNvSpPr>
            <a:spLocks noGrp="1"/>
          </p:cNvSpPr>
          <p:nvPr/>
        </p:nvSpPr>
        <p:spPr>
          <a:xfrm>
            <a:off x="495300" y="428625"/>
            <a:ext cx="11191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Sumar bins compatibles dentro de una banda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52B434EF-D611-479F-80D8-4C2E38D029FC}"/>
              </a:ext>
            </a:extLst>
          </p:cNvPr>
          <p:cNvSpPr>
            <a:spLocks noGrp="1"/>
          </p:cNvSpPr>
          <p:nvPr/>
        </p:nvSpPr>
        <p:spPr>
          <a:xfrm>
            <a:off x="523875" y="971550"/>
            <a:ext cx="11001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Dos contribuciones de 50 dB no producen 100 dB.</a:t>
            </a:r>
          </a:p>
        </p:txBody>
      </p:sp>
      <p:sp>
        <p:nvSpPr>
          <p:cNvPr id="4" name="equation-box">
            <a:extLst>
              <a:ext uri="{FF2B5EF4-FFF2-40B4-BE49-F238E27FC236}">
                <a16:creationId xmlns:a16="http://schemas.microsoft.com/office/drawing/2014/main" id="{F22EE4C9-CAE9-449A-8B93-5D6CE8CE1D9B}"/>
              </a:ext>
            </a:extLst>
          </p:cNvPr>
          <p:cNvSpPr>
            <a:spLocks noGrp="1"/>
          </p:cNvSpPr>
          <p:nvPr/>
        </p:nvSpPr>
        <p:spPr>
          <a:xfrm>
            <a:off x="1143000" y="1619250"/>
            <a:ext cx="9906000" cy="1047750"/>
          </a:xfrm>
          <a:prstGeom prst="roundRect">
            <a:avLst>
              <a:gd name="adj" fmla="val 12727"/>
            </a:avLst>
          </a:prstGeom>
          <a:solidFill>
            <a:srgbClr val="EFECF7"/>
          </a:solidFill>
          <a:ln w="19050">
            <a:solidFill>
              <a:srgbClr val="65539A"/>
            </a:solidFill>
            <a:prstDash val="solid"/>
          </a:ln>
        </p:spPr>
      </p:sp>
      <p:sp>
        <p:nvSpPr>
          <p:cNvPr id="5" name="equation">
            <a:extLst>
              <a:ext uri="{FF2B5EF4-FFF2-40B4-BE49-F238E27FC236}">
                <a16:creationId xmlns:a16="http://schemas.microsoft.com/office/drawing/2014/main" id="{0CF85346-BB07-4171-BD3C-65EEA102CEAF}"/>
              </a:ext>
            </a:extLst>
          </p:cNvPr>
          <p:cNvSpPr>
            <a:spLocks noGrp="1"/>
          </p:cNvSpPr>
          <p:nvPr/>
        </p:nvSpPr>
        <p:spPr>
          <a:xfrm>
            <a:off x="1371600" y="1771650"/>
            <a:ext cx="94488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2000"/>
              </a:lnSpc>
              <a:buNone/>
              <a:defRPr sz="3000" b="1" i="0">
                <a:solidFill>
                  <a:srgbClr val="172333"/>
                </a:solidFill>
                <a:latin typeface="Cambria Math"/>
                <a:ea typeface="Cambria Math"/>
                <a:cs typeface="Cambria Math"/>
              </a:defRPr>
            </a:pPr>
            <a:r>
              <a:rPr sz="3000" b="1" i="0">
                <a:solidFill>
                  <a:srgbClr val="172333"/>
                </a:solidFill>
                <a:latin typeface="Cambria Math"/>
                <a:ea typeface="Cambria Math"/>
                <a:cs typeface="Cambria Math"/>
              </a:rPr>
              <a:t>L_B=10log10(10^{50/10}+10^{50/10}).</a:t>
            </a:r>
          </a:p>
        </p:txBody>
      </p:sp>
      <p:sp>
        <p:nvSpPr>
          <p:cNvPr id="6" name="equation-meaning-box">
            <a:extLst>
              <a:ext uri="{FF2B5EF4-FFF2-40B4-BE49-F238E27FC236}">
                <a16:creationId xmlns:a16="http://schemas.microsoft.com/office/drawing/2014/main" id="{674CCFBF-4617-4D97-AF59-EE7D32AE6196}"/>
              </a:ext>
            </a:extLst>
          </p:cNvPr>
          <p:cNvSpPr>
            <a:spLocks noGrp="1"/>
          </p:cNvSpPr>
          <p:nvPr/>
        </p:nvSpPr>
        <p:spPr>
          <a:xfrm>
            <a:off x="857250" y="3000375"/>
            <a:ext cx="4953000" cy="2381250"/>
          </a:xfrm>
          <a:prstGeom prst="roundRect">
            <a:avLst>
              <a:gd name="adj" fmla="val 5600"/>
            </a:avLst>
          </a:prstGeom>
          <a:solidFill>
            <a:srgbClr val="DDEFF5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7" name="equation-meaning-title">
            <a:extLst>
              <a:ext uri="{FF2B5EF4-FFF2-40B4-BE49-F238E27FC236}">
                <a16:creationId xmlns:a16="http://schemas.microsoft.com/office/drawing/2014/main" id="{47E2C846-F3CE-452E-AC52-1A30C0CCBC65}"/>
              </a:ext>
            </a:extLst>
          </p:cNvPr>
          <p:cNvSpPr>
            <a:spLocks noGrp="1"/>
          </p:cNvSpPr>
          <p:nvPr/>
        </p:nvSpPr>
        <p:spPr>
          <a:xfrm>
            <a:off x="1028700" y="3133725"/>
            <a:ext cx="4610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Qué significa</a:t>
            </a:r>
          </a:p>
        </p:txBody>
      </p:sp>
      <p:sp>
        <p:nvSpPr>
          <p:cNvPr id="8" name="equation-meaning-body">
            <a:extLst>
              <a:ext uri="{FF2B5EF4-FFF2-40B4-BE49-F238E27FC236}">
                <a16:creationId xmlns:a16="http://schemas.microsoft.com/office/drawing/2014/main" id="{F35FDC0B-B37F-4494-9522-2630D063B4C3}"/>
              </a:ext>
            </a:extLst>
          </p:cNvPr>
          <p:cNvSpPr>
            <a:spLocks noGrp="1"/>
          </p:cNvSpPr>
          <p:nvPr/>
        </p:nvSpPr>
        <p:spPr>
          <a:xfrm>
            <a:off x="1028700" y="3514725"/>
            <a:ext cx="4610100" cy="1733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referencia común y contribuciones compatibles.</a:t>
            </a:r>
          </a:p>
        </p:txBody>
      </p:sp>
      <p:sp>
        <p:nvSpPr>
          <p:cNvPr id="9" name="equation-use-box">
            <a:extLst>
              <a:ext uri="{FF2B5EF4-FFF2-40B4-BE49-F238E27FC236}">
                <a16:creationId xmlns:a16="http://schemas.microsoft.com/office/drawing/2014/main" id="{B4E1F4D5-1EFF-4568-8DA6-3269D14BA58D}"/>
              </a:ext>
            </a:extLst>
          </p:cNvPr>
          <p:cNvSpPr>
            <a:spLocks noGrp="1"/>
          </p:cNvSpPr>
          <p:nvPr/>
        </p:nvSpPr>
        <p:spPr>
          <a:xfrm>
            <a:off x="6381750" y="3000375"/>
            <a:ext cx="4953000" cy="2381250"/>
          </a:xfrm>
          <a:prstGeom prst="roundRect">
            <a:avLst>
              <a:gd name="adj" fmla="val 5600"/>
            </a:avLst>
          </a:prstGeom>
          <a:solidFill>
            <a:srgbClr val="E3F2ED"/>
          </a:solidFill>
          <a:ln w="19050">
            <a:solidFill>
              <a:srgbClr val="2D7867"/>
            </a:solidFill>
            <a:prstDash val="solid"/>
          </a:ln>
        </p:spPr>
      </p:sp>
      <p:sp>
        <p:nvSpPr>
          <p:cNvPr id="10" name="equation-use-title">
            <a:extLst>
              <a:ext uri="{FF2B5EF4-FFF2-40B4-BE49-F238E27FC236}">
                <a16:creationId xmlns:a16="http://schemas.microsoft.com/office/drawing/2014/main" id="{78F8F7D4-027C-4484-AA2F-F96B2D5D769E}"/>
              </a:ext>
            </a:extLst>
          </p:cNvPr>
          <p:cNvSpPr>
            <a:spLocks noGrp="1"/>
          </p:cNvSpPr>
          <p:nvPr/>
        </p:nvSpPr>
        <p:spPr>
          <a:xfrm>
            <a:off x="6553200" y="3133725"/>
            <a:ext cx="4610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Cómo se usa</a:t>
            </a:r>
          </a:p>
        </p:txBody>
      </p:sp>
      <p:sp>
        <p:nvSpPr>
          <p:cNvPr id="11" name="equation-use-body">
            <a:extLst>
              <a:ext uri="{FF2B5EF4-FFF2-40B4-BE49-F238E27FC236}">
                <a16:creationId xmlns:a16="http://schemas.microsoft.com/office/drawing/2014/main" id="{391740A5-5F42-40DC-AF41-A15D721FA1EB}"/>
              </a:ext>
            </a:extLst>
          </p:cNvPr>
          <p:cNvSpPr>
            <a:spLocks noGrp="1"/>
          </p:cNvSpPr>
          <p:nvPr/>
        </p:nvSpPr>
        <p:spPr>
          <a:xfrm>
            <a:off x="6553200" y="3514725"/>
            <a:ext cx="4610100" cy="1733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resultado 53,01 dB.</a:t>
            </a:r>
          </a:p>
        </p:txBody>
      </p:sp>
      <p:sp>
        <p:nvSpPr>
          <p:cNvPr id="12" name="caption">
            <a:extLst>
              <a:ext uri="{FF2B5EF4-FFF2-40B4-BE49-F238E27FC236}">
                <a16:creationId xmlns:a16="http://schemas.microsoft.com/office/drawing/2014/main" id="{28E7D8AC-A413-40C5-8262-D637108154FF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876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La suma se realiza antes del logaritmo.</a:t>
            </a:r>
          </a:p>
        </p:txBody>
      </p:sp>
      <p:sp>
        <p:nvSpPr>
          <p:cNvPr id="13" name="credit">
            <a:extLst>
              <a:ext uri="{FF2B5EF4-FFF2-40B4-BE49-F238E27FC236}">
                <a16:creationId xmlns:a16="http://schemas.microsoft.com/office/drawing/2014/main" id="{337692CC-BF66-47C7-9F02-19C23EB44EF8}"/>
              </a:ext>
            </a:extLst>
          </p:cNvPr>
          <p:cNvSpPr>
            <a:spLocks noGrp="1"/>
          </p:cNvSpPr>
          <p:nvPr/>
        </p:nvSpPr>
        <p:spPr>
          <a:xfrm>
            <a:off x="9382125" y="60769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ejercicio A3.</a:t>
            </a:r>
          </a:p>
        </p:txBody>
      </p:sp>
      <p:sp>
        <p:nvSpPr>
          <p:cNvPr id="15" name="slide-alt-summary" descr="Dos niveles de 50 dB convergen en una suma energética de 53,01 dB.">
            <a:extLst>
              <a:ext uri="{FF2B5EF4-FFF2-40B4-BE49-F238E27FC236}">
                <a16:creationId xmlns:a16="http://schemas.microsoft.com/office/drawing/2014/main" id="{87112F76-81FC-F073-B9C2-B51642C7F729}"/>
              </a:ext>
            </a:extLst>
          </p:cNvPr>
          <p:cNvSpPr/>
          <p:nvPr/>
        </p:nvSpPr>
        <p:spPr>
          <a:xfrm>
            <a:off x="12700" y="12700"/>
            <a:ext cx="12700" cy="12700"/>
          </a:xfrm>
          <a:prstGeom prst="rect">
            <a:avLst/>
          </a:prstGeom>
          <a:noFill/>
          <a:ln w="19050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yebrow">
            <a:extLst>
              <a:ext uri="{FF2B5EF4-FFF2-40B4-BE49-F238E27FC236}">
                <a16:creationId xmlns:a16="http://schemas.microsoft.com/office/drawing/2014/main" id="{8C07BE3E-B56C-4B49-A1D4-3C84B67C330F}"/>
              </a:ext>
            </a:extLst>
          </p:cNvPr>
          <p:cNvSpPr>
            <a:spLocks noGrp="1"/>
          </p:cNvSpPr>
          <p:nvPr/>
        </p:nvSpPr>
        <p:spPr>
          <a:xfrm>
            <a:off x="514350" y="2095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140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9084DE8F-E800-442F-9E53-8F696DC5A50A}"/>
              </a:ext>
            </a:extLst>
          </p:cNvPr>
          <p:cNvSpPr>
            <a:spLocks noGrp="1"/>
          </p:cNvSpPr>
          <p:nvPr/>
        </p:nvSpPr>
        <p:spPr>
          <a:xfrm>
            <a:off x="495300" y="428625"/>
            <a:ext cx="11191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Ganancia y fase de un dispositivo con retardo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EE82EECA-8227-4629-975B-0B61DC3E7792}"/>
              </a:ext>
            </a:extLst>
          </p:cNvPr>
          <p:cNvSpPr>
            <a:spLocks noGrp="1"/>
          </p:cNvSpPr>
          <p:nvPr/>
        </p:nvSpPr>
        <p:spPr>
          <a:xfrm>
            <a:off x="523875" y="971550"/>
            <a:ext cx="11001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Magnitud y fase describen aspectos diferentes.</a:t>
            </a:r>
          </a:p>
        </p:txBody>
      </p:sp>
      <p:sp>
        <p:nvSpPr>
          <p:cNvPr id="4" name="equation-box">
            <a:extLst>
              <a:ext uri="{FF2B5EF4-FFF2-40B4-BE49-F238E27FC236}">
                <a16:creationId xmlns:a16="http://schemas.microsoft.com/office/drawing/2014/main" id="{FF9E03ED-75E8-4934-A847-C309ED9EECCC}"/>
              </a:ext>
            </a:extLst>
          </p:cNvPr>
          <p:cNvSpPr>
            <a:spLocks noGrp="1"/>
          </p:cNvSpPr>
          <p:nvPr/>
        </p:nvSpPr>
        <p:spPr>
          <a:xfrm>
            <a:off x="1143000" y="1619250"/>
            <a:ext cx="9906000" cy="1047750"/>
          </a:xfrm>
          <a:prstGeom prst="roundRect">
            <a:avLst>
              <a:gd name="adj" fmla="val 12727"/>
            </a:avLst>
          </a:prstGeom>
          <a:solidFill>
            <a:srgbClr val="EFECF7"/>
          </a:solidFill>
          <a:ln w="19050">
            <a:solidFill>
              <a:srgbClr val="65539A"/>
            </a:solidFill>
            <a:prstDash val="solid"/>
          </a:ln>
        </p:spPr>
      </p:sp>
      <p:sp>
        <p:nvSpPr>
          <p:cNvPr id="5" name="equation">
            <a:extLst>
              <a:ext uri="{FF2B5EF4-FFF2-40B4-BE49-F238E27FC236}">
                <a16:creationId xmlns:a16="http://schemas.microsoft.com/office/drawing/2014/main" id="{6117B97C-E6C9-4D16-AB26-E62D122E62F2}"/>
              </a:ext>
            </a:extLst>
          </p:cNvPr>
          <p:cNvSpPr>
            <a:spLocks noGrp="1"/>
          </p:cNvSpPr>
          <p:nvPr/>
        </p:nvSpPr>
        <p:spPr>
          <a:xfrm>
            <a:off x="1371600" y="1771650"/>
            <a:ext cx="94488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2000"/>
              </a:lnSpc>
              <a:buNone/>
              <a:defRPr sz="3000" b="1" i="0">
                <a:solidFill>
                  <a:srgbClr val="172333"/>
                </a:solidFill>
                <a:latin typeface="Cambria Math"/>
                <a:ea typeface="Cambria Math"/>
                <a:cs typeface="Cambria Math"/>
              </a:defRPr>
            </a:pPr>
            <a:r>
              <a:rPr sz="3000" b="1" i="0">
                <a:solidFill>
                  <a:srgbClr val="172333"/>
                </a:solidFill>
                <a:latin typeface="Cambria Math"/>
                <a:ea typeface="Cambria Math"/>
                <a:cs typeface="Cambria Math"/>
              </a:rPr>
              <a:t>G=20log10|H|; φ_H=−2πfτ.</a:t>
            </a:r>
          </a:p>
        </p:txBody>
      </p:sp>
      <p:sp>
        <p:nvSpPr>
          <p:cNvPr id="6" name="equation-meaning-box">
            <a:extLst>
              <a:ext uri="{FF2B5EF4-FFF2-40B4-BE49-F238E27FC236}">
                <a16:creationId xmlns:a16="http://schemas.microsoft.com/office/drawing/2014/main" id="{08E2D340-F4F1-4D00-8E0C-271BD10FA3EA}"/>
              </a:ext>
            </a:extLst>
          </p:cNvPr>
          <p:cNvSpPr>
            <a:spLocks noGrp="1"/>
          </p:cNvSpPr>
          <p:nvPr/>
        </p:nvSpPr>
        <p:spPr>
          <a:xfrm>
            <a:off x="857250" y="3000375"/>
            <a:ext cx="4953000" cy="2381250"/>
          </a:xfrm>
          <a:prstGeom prst="roundRect">
            <a:avLst>
              <a:gd name="adj" fmla="val 5600"/>
            </a:avLst>
          </a:prstGeom>
          <a:solidFill>
            <a:srgbClr val="DDEFF5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7" name="equation-meaning-title">
            <a:extLst>
              <a:ext uri="{FF2B5EF4-FFF2-40B4-BE49-F238E27FC236}">
                <a16:creationId xmlns:a16="http://schemas.microsoft.com/office/drawing/2014/main" id="{0D41DF61-2465-48B0-B25A-CFCE01E276A8}"/>
              </a:ext>
            </a:extLst>
          </p:cNvPr>
          <p:cNvSpPr>
            <a:spLocks noGrp="1"/>
          </p:cNvSpPr>
          <p:nvPr/>
        </p:nvSpPr>
        <p:spPr>
          <a:xfrm>
            <a:off x="1028700" y="3133725"/>
            <a:ext cx="4610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Qué significa</a:t>
            </a:r>
          </a:p>
        </p:txBody>
      </p:sp>
      <p:sp>
        <p:nvSpPr>
          <p:cNvPr id="8" name="equation-meaning-body">
            <a:extLst>
              <a:ext uri="{FF2B5EF4-FFF2-40B4-BE49-F238E27FC236}">
                <a16:creationId xmlns:a16="http://schemas.microsoft.com/office/drawing/2014/main" id="{4AECBD33-8F69-4885-9856-8962232C895E}"/>
              </a:ext>
            </a:extLst>
          </p:cNvPr>
          <p:cNvSpPr>
            <a:spLocks noGrp="1"/>
          </p:cNvSpPr>
          <p:nvPr/>
        </p:nvSpPr>
        <p:spPr>
          <a:xfrm>
            <a:off x="1028700" y="3514725"/>
            <a:ext cx="4610100" cy="1733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ganancia en dB; fase en grados o radianes, convención declarada.</a:t>
            </a:r>
          </a:p>
        </p:txBody>
      </p:sp>
      <p:sp>
        <p:nvSpPr>
          <p:cNvPr id="9" name="equation-use-box">
            <a:extLst>
              <a:ext uri="{FF2B5EF4-FFF2-40B4-BE49-F238E27FC236}">
                <a16:creationId xmlns:a16="http://schemas.microsoft.com/office/drawing/2014/main" id="{D0EAC725-06D5-453B-930A-EEC4BB421C36}"/>
              </a:ext>
            </a:extLst>
          </p:cNvPr>
          <p:cNvSpPr>
            <a:spLocks noGrp="1"/>
          </p:cNvSpPr>
          <p:nvPr/>
        </p:nvSpPr>
        <p:spPr>
          <a:xfrm>
            <a:off x="6381750" y="3000375"/>
            <a:ext cx="4953000" cy="2381250"/>
          </a:xfrm>
          <a:prstGeom prst="roundRect">
            <a:avLst>
              <a:gd name="adj" fmla="val 5600"/>
            </a:avLst>
          </a:prstGeom>
          <a:solidFill>
            <a:srgbClr val="E3F2ED"/>
          </a:solidFill>
          <a:ln w="19050">
            <a:solidFill>
              <a:srgbClr val="2D7867"/>
            </a:solidFill>
            <a:prstDash val="solid"/>
          </a:ln>
        </p:spPr>
      </p:sp>
      <p:sp>
        <p:nvSpPr>
          <p:cNvPr id="10" name="equation-use-title">
            <a:extLst>
              <a:ext uri="{FF2B5EF4-FFF2-40B4-BE49-F238E27FC236}">
                <a16:creationId xmlns:a16="http://schemas.microsoft.com/office/drawing/2014/main" id="{9DE341F4-C915-4253-871F-ACD9ECA16040}"/>
              </a:ext>
            </a:extLst>
          </p:cNvPr>
          <p:cNvSpPr>
            <a:spLocks noGrp="1"/>
          </p:cNvSpPr>
          <p:nvPr/>
        </p:nvSpPr>
        <p:spPr>
          <a:xfrm>
            <a:off x="6553200" y="3133725"/>
            <a:ext cx="4610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Cómo se usa</a:t>
            </a:r>
          </a:p>
        </p:txBody>
      </p:sp>
      <p:sp>
        <p:nvSpPr>
          <p:cNvPr id="11" name="equation-use-body">
            <a:extLst>
              <a:ext uri="{FF2B5EF4-FFF2-40B4-BE49-F238E27FC236}">
                <a16:creationId xmlns:a16="http://schemas.microsoft.com/office/drawing/2014/main" id="{920641CA-DF30-48DA-9EBC-9B7EE088ABD9}"/>
              </a:ext>
            </a:extLst>
          </p:cNvPr>
          <p:cNvSpPr>
            <a:spLocks noGrp="1"/>
          </p:cNvSpPr>
          <p:nvPr/>
        </p:nvSpPr>
        <p:spPr>
          <a:xfrm>
            <a:off x="6553200" y="3514725"/>
            <a:ext cx="4610100" cy="1733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ejercicio A5.</a:t>
            </a:r>
          </a:p>
        </p:txBody>
      </p:sp>
      <p:sp>
        <p:nvSpPr>
          <p:cNvPr id="12" name="caption">
            <a:extLst>
              <a:ext uri="{FF2B5EF4-FFF2-40B4-BE49-F238E27FC236}">
                <a16:creationId xmlns:a16="http://schemas.microsoft.com/office/drawing/2014/main" id="{C51795E1-4F5B-4EF7-B6F9-D5EFB10309D9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876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Igual ganancia no implica igual fase.</a:t>
            </a:r>
          </a:p>
        </p:txBody>
      </p:sp>
      <p:sp>
        <p:nvSpPr>
          <p:cNvPr id="13" name="credit">
            <a:extLst>
              <a:ext uri="{FF2B5EF4-FFF2-40B4-BE49-F238E27FC236}">
                <a16:creationId xmlns:a16="http://schemas.microsoft.com/office/drawing/2014/main" id="{536B1AAD-29D9-4A37-8B4E-CBA10DA55B68}"/>
              </a:ext>
            </a:extLst>
          </p:cNvPr>
          <p:cNvSpPr>
            <a:spLocks noGrp="1"/>
          </p:cNvSpPr>
          <p:nvPr/>
        </p:nvSpPr>
        <p:spPr>
          <a:xfrm>
            <a:off x="9382125" y="60769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ejercicio A5.</a:t>
            </a:r>
          </a:p>
        </p:txBody>
      </p:sp>
      <p:sp>
        <p:nvSpPr>
          <p:cNvPr id="15" name="slide-alt-summary" descr="Cálculos de ganancia y fase se vinculan con dos señales desplazadas.">
            <a:extLst>
              <a:ext uri="{FF2B5EF4-FFF2-40B4-BE49-F238E27FC236}">
                <a16:creationId xmlns:a16="http://schemas.microsoft.com/office/drawing/2014/main" id="{A14AE609-3A92-0743-7068-7FAE2F2FC019}"/>
              </a:ext>
            </a:extLst>
          </p:cNvPr>
          <p:cNvSpPr/>
          <p:nvPr/>
        </p:nvSpPr>
        <p:spPr>
          <a:xfrm>
            <a:off x="12700" y="12700"/>
            <a:ext cx="12700" cy="12700"/>
          </a:xfrm>
          <a:prstGeom prst="rect">
            <a:avLst/>
          </a:prstGeom>
          <a:noFill/>
          <a:ln w="19050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eyebrow">
            <a:extLst>
              <a:ext uri="{FF2B5EF4-FFF2-40B4-BE49-F238E27FC236}">
                <a16:creationId xmlns:a16="http://schemas.microsoft.com/office/drawing/2014/main" id="{5B6F9E54-537E-4EFE-AEE5-5234599E2F44}"/>
              </a:ext>
            </a:extLst>
          </p:cNvPr>
          <p:cNvSpPr>
            <a:spLocks noGrp="1"/>
          </p:cNvSpPr>
          <p:nvPr/>
        </p:nvSpPr>
        <p:spPr>
          <a:xfrm>
            <a:off x="514350" y="2095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141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23F08D5D-E1F5-4298-818E-908A215FFAD0}"/>
              </a:ext>
            </a:extLst>
          </p:cNvPr>
          <p:cNvSpPr>
            <a:spLocks noGrp="1"/>
          </p:cNvSpPr>
          <p:nvPr/>
        </p:nvSpPr>
        <p:spPr>
          <a:xfrm>
            <a:off x="495300" y="428625"/>
            <a:ext cx="11191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Modelo fuente–filtro de voz: alcance y límites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63E1F9B0-C52C-43F6-BB61-B05542968D88}"/>
              </a:ext>
            </a:extLst>
          </p:cNvPr>
          <p:cNvSpPr>
            <a:spLocks noGrp="1"/>
          </p:cNvSpPr>
          <p:nvPr/>
        </p:nvSpPr>
        <p:spPr>
          <a:xfrm>
            <a:off x="523875" y="971550"/>
            <a:ext cx="11001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La envolvente depende también de radiación, sensor y método.</a:t>
            </a:r>
          </a:p>
        </p:txBody>
      </p:sp>
      <p:sp>
        <p:nvSpPr>
          <p:cNvPr id="4" name="U05-DG-007-fundamental">
            <a:extLst>
              <a:ext uri="{FF2B5EF4-FFF2-40B4-BE49-F238E27FC236}">
                <a16:creationId xmlns:a16="http://schemas.microsoft.com/office/drawing/2014/main" id="{33EF3EDD-9FF8-4856-82FF-77806BD8E0B3}"/>
              </a:ext>
            </a:extLst>
          </p:cNvPr>
          <p:cNvSpPr>
            <a:spLocks noGrp="1"/>
          </p:cNvSpPr>
          <p:nvPr/>
        </p:nvSpPr>
        <p:spPr>
          <a:xfrm>
            <a:off x="762000" y="1381125"/>
            <a:ext cx="2381250" cy="1095375"/>
          </a:xfrm>
          <a:prstGeom prst="roundRect">
            <a:avLst>
              <a:gd name="adj" fmla="val 12174"/>
            </a:avLst>
          </a:prstGeom>
          <a:solidFill>
            <a:srgbClr val="EFF8FA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5" name="U05-DG-007-fundamental-title">
            <a:extLst>
              <a:ext uri="{FF2B5EF4-FFF2-40B4-BE49-F238E27FC236}">
                <a16:creationId xmlns:a16="http://schemas.microsoft.com/office/drawing/2014/main" id="{3EF95BD6-B1CC-4D3F-8A21-1367FCAE73AE}"/>
              </a:ext>
            </a:extLst>
          </p:cNvPr>
          <p:cNvSpPr>
            <a:spLocks noGrp="1"/>
          </p:cNvSpPr>
          <p:nvPr/>
        </p:nvSpPr>
        <p:spPr>
          <a:xfrm>
            <a:off x="933450" y="1504950"/>
            <a:ext cx="2038350" cy="3286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Fundamental</a:t>
            </a:r>
          </a:p>
        </p:txBody>
      </p:sp>
      <p:sp>
        <p:nvSpPr>
          <p:cNvPr id="6" name="U05-DG-007-fundamental-body">
            <a:extLst>
              <a:ext uri="{FF2B5EF4-FFF2-40B4-BE49-F238E27FC236}">
                <a16:creationId xmlns:a16="http://schemas.microsoft.com/office/drawing/2014/main" id="{67A4E107-51E8-4B06-870E-AB637EB719BB}"/>
              </a:ext>
            </a:extLst>
          </p:cNvPr>
          <p:cNvSpPr>
            <a:spLocks noGrp="1"/>
          </p:cNvSpPr>
          <p:nvPr/>
        </p:nvSpPr>
        <p:spPr>
          <a:xfrm>
            <a:off x="933450" y="1833563"/>
            <a:ext cx="2038350" cy="5191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f₀ = 1/T₀</a:t>
            </a:r>
          </a:p>
        </p:txBody>
      </p:sp>
      <p:sp>
        <p:nvSpPr>
          <p:cNvPr id="7" name="U05-DG-007-harmonic">
            <a:extLst>
              <a:ext uri="{FF2B5EF4-FFF2-40B4-BE49-F238E27FC236}">
                <a16:creationId xmlns:a16="http://schemas.microsoft.com/office/drawing/2014/main" id="{3F0600E8-5034-4C45-80D2-A74C8A61876D}"/>
              </a:ext>
            </a:extLst>
          </p:cNvPr>
          <p:cNvSpPr>
            <a:spLocks noGrp="1"/>
          </p:cNvSpPr>
          <p:nvPr/>
        </p:nvSpPr>
        <p:spPr>
          <a:xfrm>
            <a:off x="3476625" y="1381125"/>
            <a:ext cx="2381250" cy="1095375"/>
          </a:xfrm>
          <a:prstGeom prst="roundRect">
            <a:avLst>
              <a:gd name="adj" fmla="val 12174"/>
            </a:avLst>
          </a:prstGeom>
          <a:solidFill>
            <a:srgbClr val="DDEFF5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8" name="U05-DG-007-harmonic-title">
            <a:extLst>
              <a:ext uri="{FF2B5EF4-FFF2-40B4-BE49-F238E27FC236}">
                <a16:creationId xmlns:a16="http://schemas.microsoft.com/office/drawing/2014/main" id="{34425BEA-0B0A-4434-88D3-8053C3E1148C}"/>
              </a:ext>
            </a:extLst>
          </p:cNvPr>
          <p:cNvSpPr>
            <a:spLocks noGrp="1"/>
          </p:cNvSpPr>
          <p:nvPr/>
        </p:nvSpPr>
        <p:spPr>
          <a:xfrm>
            <a:off x="3648075" y="1504950"/>
            <a:ext cx="2038350" cy="3286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Armónico</a:t>
            </a:r>
          </a:p>
        </p:txBody>
      </p:sp>
      <p:sp>
        <p:nvSpPr>
          <p:cNvPr id="9" name="U05-DG-007-harmonic-body">
            <a:extLst>
              <a:ext uri="{FF2B5EF4-FFF2-40B4-BE49-F238E27FC236}">
                <a16:creationId xmlns:a16="http://schemas.microsoft.com/office/drawing/2014/main" id="{1233E2D8-1332-4385-955C-D66F14704306}"/>
              </a:ext>
            </a:extLst>
          </p:cNvPr>
          <p:cNvSpPr>
            <a:spLocks noGrp="1"/>
          </p:cNvSpPr>
          <p:nvPr/>
        </p:nvSpPr>
        <p:spPr>
          <a:xfrm>
            <a:off x="3648075" y="1833563"/>
            <a:ext cx="2038350" cy="5191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fₙ = n f₀</a:t>
            </a:r>
          </a:p>
        </p:txBody>
      </p:sp>
      <p:sp>
        <p:nvSpPr>
          <p:cNvPr id="10" name="U05-DG-007-partial">
            <a:extLst>
              <a:ext uri="{FF2B5EF4-FFF2-40B4-BE49-F238E27FC236}">
                <a16:creationId xmlns:a16="http://schemas.microsoft.com/office/drawing/2014/main" id="{C76AFE2A-ECDF-4B11-A54B-8AAF6C929700}"/>
              </a:ext>
            </a:extLst>
          </p:cNvPr>
          <p:cNvSpPr>
            <a:spLocks noGrp="1"/>
          </p:cNvSpPr>
          <p:nvPr/>
        </p:nvSpPr>
        <p:spPr>
          <a:xfrm>
            <a:off x="6191250" y="1381125"/>
            <a:ext cx="2381250" cy="1095375"/>
          </a:xfrm>
          <a:prstGeom prst="roundRect">
            <a:avLst>
              <a:gd name="adj" fmla="val 12174"/>
            </a:avLst>
          </a:prstGeom>
          <a:solidFill>
            <a:srgbClr val="F3F6F8"/>
          </a:solidFill>
          <a:ln w="19050">
            <a:solidFill>
              <a:srgbClr val="8291A3"/>
            </a:solidFill>
            <a:prstDash val="solid"/>
          </a:ln>
        </p:spPr>
      </p:sp>
      <p:sp>
        <p:nvSpPr>
          <p:cNvPr id="11" name="U05-DG-007-partial-title">
            <a:extLst>
              <a:ext uri="{FF2B5EF4-FFF2-40B4-BE49-F238E27FC236}">
                <a16:creationId xmlns:a16="http://schemas.microsoft.com/office/drawing/2014/main" id="{D8997341-3C11-487D-BACD-CE7BF0FD09DD}"/>
              </a:ext>
            </a:extLst>
          </p:cNvPr>
          <p:cNvSpPr>
            <a:spLocks noGrp="1"/>
          </p:cNvSpPr>
          <p:nvPr/>
        </p:nvSpPr>
        <p:spPr>
          <a:xfrm>
            <a:off x="6362700" y="1504950"/>
            <a:ext cx="2038350" cy="3286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Parcial</a:t>
            </a:r>
          </a:p>
        </p:txBody>
      </p:sp>
      <p:sp>
        <p:nvSpPr>
          <p:cNvPr id="12" name="U05-DG-007-partial-body">
            <a:extLst>
              <a:ext uri="{FF2B5EF4-FFF2-40B4-BE49-F238E27FC236}">
                <a16:creationId xmlns:a16="http://schemas.microsoft.com/office/drawing/2014/main" id="{BA825586-EE35-4E0F-AB86-7D1530A7A22C}"/>
              </a:ext>
            </a:extLst>
          </p:cNvPr>
          <p:cNvSpPr>
            <a:spLocks noGrp="1"/>
          </p:cNvSpPr>
          <p:nvPr/>
        </p:nvSpPr>
        <p:spPr>
          <a:xfrm>
            <a:off x="6362700" y="1833563"/>
            <a:ext cx="2038350" cy="5191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armónico o no</a:t>
            </a:r>
          </a:p>
        </p:txBody>
      </p:sp>
      <p:sp>
        <p:nvSpPr>
          <p:cNvPr id="13" name="U05-DG-007-overtone">
            <a:extLst>
              <a:ext uri="{FF2B5EF4-FFF2-40B4-BE49-F238E27FC236}">
                <a16:creationId xmlns:a16="http://schemas.microsoft.com/office/drawing/2014/main" id="{EECE35CE-F901-430C-B827-AD55A1DE9CA8}"/>
              </a:ext>
            </a:extLst>
          </p:cNvPr>
          <p:cNvSpPr>
            <a:spLocks noGrp="1"/>
          </p:cNvSpPr>
          <p:nvPr/>
        </p:nvSpPr>
        <p:spPr>
          <a:xfrm>
            <a:off x="8905875" y="1381125"/>
            <a:ext cx="2381250" cy="1095375"/>
          </a:xfrm>
          <a:prstGeom prst="roundRect">
            <a:avLst>
              <a:gd name="adj" fmla="val 12174"/>
            </a:avLst>
          </a:prstGeom>
          <a:solidFill>
            <a:srgbClr val="E3F2ED"/>
          </a:solidFill>
          <a:ln w="19050">
            <a:solidFill>
              <a:srgbClr val="2D7867"/>
            </a:solidFill>
            <a:prstDash val="solid"/>
          </a:ln>
        </p:spPr>
      </p:sp>
      <p:sp>
        <p:nvSpPr>
          <p:cNvPr id="14" name="U05-DG-007-overtone-title">
            <a:extLst>
              <a:ext uri="{FF2B5EF4-FFF2-40B4-BE49-F238E27FC236}">
                <a16:creationId xmlns:a16="http://schemas.microsoft.com/office/drawing/2014/main" id="{A87E7A17-AD5E-4CD4-8D1C-76B584FA9547}"/>
              </a:ext>
            </a:extLst>
          </p:cNvPr>
          <p:cNvSpPr>
            <a:spLocks noGrp="1"/>
          </p:cNvSpPr>
          <p:nvPr/>
        </p:nvSpPr>
        <p:spPr>
          <a:xfrm>
            <a:off x="9077325" y="1504950"/>
            <a:ext cx="2038350" cy="3286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Sobretono</a:t>
            </a:r>
          </a:p>
        </p:txBody>
      </p:sp>
      <p:sp>
        <p:nvSpPr>
          <p:cNvPr id="15" name="U05-DG-007-overtone-body">
            <a:extLst>
              <a:ext uri="{FF2B5EF4-FFF2-40B4-BE49-F238E27FC236}">
                <a16:creationId xmlns:a16="http://schemas.microsoft.com/office/drawing/2014/main" id="{995941D6-64F1-4CAF-AAB8-A584C890CB7F}"/>
              </a:ext>
            </a:extLst>
          </p:cNvPr>
          <p:cNvSpPr>
            <a:spLocks noGrp="1"/>
          </p:cNvSpPr>
          <p:nvPr/>
        </p:nvSpPr>
        <p:spPr>
          <a:xfrm>
            <a:off x="9077325" y="1833563"/>
            <a:ext cx="2038350" cy="5191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parcial sobre f₀</a:t>
            </a:r>
          </a:p>
        </p:txBody>
      </p:sp>
      <p:sp>
        <p:nvSpPr>
          <p:cNvPr id="16" name="U05-DG-007-voice_source">
            <a:extLst>
              <a:ext uri="{FF2B5EF4-FFF2-40B4-BE49-F238E27FC236}">
                <a16:creationId xmlns:a16="http://schemas.microsoft.com/office/drawing/2014/main" id="{595B2100-0D53-415F-923D-29D86DA38A73}"/>
              </a:ext>
            </a:extLst>
          </p:cNvPr>
          <p:cNvSpPr>
            <a:spLocks noGrp="1"/>
          </p:cNvSpPr>
          <p:nvPr/>
        </p:nvSpPr>
        <p:spPr>
          <a:xfrm>
            <a:off x="1666875" y="4000500"/>
            <a:ext cx="2381250" cy="1143000"/>
          </a:xfrm>
          <a:prstGeom prst="roundRect">
            <a:avLst>
              <a:gd name="adj" fmla="val 11667"/>
            </a:avLst>
          </a:prstGeom>
          <a:solidFill>
            <a:srgbClr val="EFF8FA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17" name="U05-DG-007-voice_source-title">
            <a:extLst>
              <a:ext uri="{FF2B5EF4-FFF2-40B4-BE49-F238E27FC236}">
                <a16:creationId xmlns:a16="http://schemas.microsoft.com/office/drawing/2014/main" id="{9670303E-341D-467C-9317-7E6944619088}"/>
              </a:ext>
            </a:extLst>
          </p:cNvPr>
          <p:cNvSpPr>
            <a:spLocks noGrp="1"/>
          </p:cNvSpPr>
          <p:nvPr/>
        </p:nvSpPr>
        <p:spPr>
          <a:xfrm>
            <a:off x="1838325" y="4124325"/>
            <a:ext cx="2038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Fuente</a:t>
            </a:r>
          </a:p>
        </p:txBody>
      </p:sp>
      <p:sp>
        <p:nvSpPr>
          <p:cNvPr id="18" name="U05-DG-007-voice_source-body">
            <a:extLst>
              <a:ext uri="{FF2B5EF4-FFF2-40B4-BE49-F238E27FC236}">
                <a16:creationId xmlns:a16="http://schemas.microsoft.com/office/drawing/2014/main" id="{698D91CC-743B-489E-9C8C-35F31474A6AE}"/>
              </a:ext>
            </a:extLst>
          </p:cNvPr>
          <p:cNvSpPr>
            <a:spLocks noGrp="1"/>
          </p:cNvSpPr>
          <p:nvPr/>
        </p:nvSpPr>
        <p:spPr>
          <a:xfrm>
            <a:off x="1838325" y="4467225"/>
            <a:ext cx="20383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armónicos</a:t>
            </a:r>
          </a:p>
        </p:txBody>
      </p:sp>
      <p:sp>
        <p:nvSpPr>
          <p:cNvPr id="19" name="U05-DG-007-vocal_filter">
            <a:extLst>
              <a:ext uri="{FF2B5EF4-FFF2-40B4-BE49-F238E27FC236}">
                <a16:creationId xmlns:a16="http://schemas.microsoft.com/office/drawing/2014/main" id="{7674E0DD-061B-4937-987E-CF9B9D9EAD35}"/>
              </a:ext>
            </a:extLst>
          </p:cNvPr>
          <p:cNvSpPr>
            <a:spLocks noGrp="1"/>
          </p:cNvSpPr>
          <p:nvPr/>
        </p:nvSpPr>
        <p:spPr>
          <a:xfrm>
            <a:off x="4905375" y="4000500"/>
            <a:ext cx="2381250" cy="1143000"/>
          </a:xfrm>
          <a:prstGeom prst="roundRect">
            <a:avLst>
              <a:gd name="adj" fmla="val 11667"/>
            </a:avLst>
          </a:prstGeom>
          <a:solidFill>
            <a:srgbClr val="DDEFF5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20" name="U05-DG-007-vocal_filter-title">
            <a:extLst>
              <a:ext uri="{FF2B5EF4-FFF2-40B4-BE49-F238E27FC236}">
                <a16:creationId xmlns:a16="http://schemas.microsoft.com/office/drawing/2014/main" id="{1F8527A4-2CB7-4174-B44F-FA8AB0DF5A25}"/>
              </a:ext>
            </a:extLst>
          </p:cNvPr>
          <p:cNvSpPr>
            <a:spLocks noGrp="1"/>
          </p:cNvSpPr>
          <p:nvPr/>
        </p:nvSpPr>
        <p:spPr>
          <a:xfrm>
            <a:off x="5076825" y="4124325"/>
            <a:ext cx="2038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Tracto vocal</a:t>
            </a:r>
          </a:p>
        </p:txBody>
      </p:sp>
      <p:sp>
        <p:nvSpPr>
          <p:cNvPr id="21" name="U05-DG-007-vocal_filter-body">
            <a:extLst>
              <a:ext uri="{FF2B5EF4-FFF2-40B4-BE49-F238E27FC236}">
                <a16:creationId xmlns:a16="http://schemas.microsoft.com/office/drawing/2014/main" id="{3536D64D-56E6-44CA-994E-D4C9D80A0658}"/>
              </a:ext>
            </a:extLst>
          </p:cNvPr>
          <p:cNvSpPr>
            <a:spLocks noGrp="1"/>
          </p:cNvSpPr>
          <p:nvPr/>
        </p:nvSpPr>
        <p:spPr>
          <a:xfrm>
            <a:off x="5076825" y="4467225"/>
            <a:ext cx="20383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formantes</a:t>
            </a:r>
          </a:p>
        </p:txBody>
      </p:sp>
      <p:sp>
        <p:nvSpPr>
          <p:cNvPr id="22" name="U05-DG-007-voice_output">
            <a:extLst>
              <a:ext uri="{FF2B5EF4-FFF2-40B4-BE49-F238E27FC236}">
                <a16:creationId xmlns:a16="http://schemas.microsoft.com/office/drawing/2014/main" id="{F0C6AE47-5A3F-49A7-86B3-10C86728BC24}"/>
              </a:ext>
            </a:extLst>
          </p:cNvPr>
          <p:cNvSpPr>
            <a:spLocks noGrp="1"/>
          </p:cNvSpPr>
          <p:nvPr/>
        </p:nvSpPr>
        <p:spPr>
          <a:xfrm>
            <a:off x="8143875" y="4000500"/>
            <a:ext cx="2381250" cy="1143000"/>
          </a:xfrm>
          <a:prstGeom prst="roundRect">
            <a:avLst>
              <a:gd name="adj" fmla="val 11667"/>
            </a:avLst>
          </a:prstGeom>
          <a:solidFill>
            <a:srgbClr val="E3F2ED"/>
          </a:solidFill>
          <a:ln w="19050">
            <a:solidFill>
              <a:srgbClr val="2D7867"/>
            </a:solidFill>
            <a:prstDash val="solid"/>
          </a:ln>
        </p:spPr>
      </p:sp>
      <p:sp>
        <p:nvSpPr>
          <p:cNvPr id="23" name="U05-DG-007-voice_output-title">
            <a:extLst>
              <a:ext uri="{FF2B5EF4-FFF2-40B4-BE49-F238E27FC236}">
                <a16:creationId xmlns:a16="http://schemas.microsoft.com/office/drawing/2014/main" id="{CED0C2A4-12B7-4180-ACF7-596A162ED5C0}"/>
              </a:ext>
            </a:extLst>
          </p:cNvPr>
          <p:cNvSpPr>
            <a:spLocks noGrp="1"/>
          </p:cNvSpPr>
          <p:nvPr/>
        </p:nvSpPr>
        <p:spPr>
          <a:xfrm>
            <a:off x="8315325" y="4124325"/>
            <a:ext cx="2038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Salida</a:t>
            </a:r>
          </a:p>
        </p:txBody>
      </p:sp>
      <p:sp>
        <p:nvSpPr>
          <p:cNvPr id="24" name="U05-DG-007-voice_output-body">
            <a:extLst>
              <a:ext uri="{FF2B5EF4-FFF2-40B4-BE49-F238E27FC236}">
                <a16:creationId xmlns:a16="http://schemas.microsoft.com/office/drawing/2014/main" id="{2A569AC8-ACA9-4151-BCE3-02E871392389}"/>
              </a:ext>
            </a:extLst>
          </p:cNvPr>
          <p:cNvSpPr>
            <a:spLocks noGrp="1"/>
          </p:cNvSpPr>
          <p:nvPr/>
        </p:nvSpPr>
        <p:spPr>
          <a:xfrm>
            <a:off x="8315325" y="4467225"/>
            <a:ext cx="20383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señal filtrada</a:t>
            </a:r>
          </a:p>
        </p:txBody>
      </p:sp>
      <p:cxnSp>
        <p:nvCxnSpPr>
          <p:cNvPr id="57" name="U05-DG-007-tax_1"/>
          <p:cNvCxnSpPr>
            <a:stCxn id="4" idx="3"/>
            <a:endCxn id="7" idx="1"/>
          </p:cNvCxnSpPr>
          <p:nvPr/>
        </p:nvCxnSpPr>
        <p:spPr>
          <a:xfrm>
            <a:off x="3143250" y="1928813"/>
            <a:ext cx="333375" cy="0"/>
          </a:xfrm>
          <a:prstGeom prst="straightConnector1">
            <a:avLst/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cxnSp>
        <p:nvCxnSpPr>
          <p:cNvPr id="58" name="U05-DG-007-tax_2"/>
          <p:cNvCxnSpPr>
            <a:stCxn id="7" idx="3"/>
            <a:endCxn id="10" idx="1"/>
          </p:cNvCxnSpPr>
          <p:nvPr/>
        </p:nvCxnSpPr>
        <p:spPr>
          <a:xfrm>
            <a:off x="5857875" y="1928813"/>
            <a:ext cx="333375" cy="0"/>
          </a:xfrm>
          <a:prstGeom prst="straightConnector1">
            <a:avLst/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cxnSp>
        <p:nvCxnSpPr>
          <p:cNvPr id="59" name="U05-DG-007-tax_3"/>
          <p:cNvCxnSpPr>
            <a:stCxn id="10" idx="3"/>
            <a:endCxn id="13" idx="1"/>
          </p:cNvCxnSpPr>
          <p:nvPr/>
        </p:nvCxnSpPr>
        <p:spPr>
          <a:xfrm>
            <a:off x="8572500" y="1928813"/>
            <a:ext cx="333375" cy="0"/>
          </a:xfrm>
          <a:prstGeom prst="straightConnector1">
            <a:avLst/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cxnSp>
        <p:nvCxnSpPr>
          <p:cNvPr id="60" name="U05-DG-007-voice_1"/>
          <p:cNvCxnSpPr>
            <a:stCxn id="16" idx="3"/>
            <a:endCxn id="19" idx="1"/>
          </p:cNvCxnSpPr>
          <p:nvPr/>
        </p:nvCxnSpPr>
        <p:spPr>
          <a:xfrm>
            <a:off x="4048125" y="4572000"/>
            <a:ext cx="857250" cy="0"/>
          </a:xfrm>
          <a:prstGeom prst="straightConnector1">
            <a:avLst/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cxnSp>
        <p:nvCxnSpPr>
          <p:cNvPr id="61" name="U05-DG-007-voice_2"/>
          <p:cNvCxnSpPr>
            <a:stCxn id="19" idx="3"/>
            <a:endCxn id="22" idx="1"/>
          </p:cNvCxnSpPr>
          <p:nvPr/>
        </p:nvCxnSpPr>
        <p:spPr>
          <a:xfrm>
            <a:off x="7286625" y="4572000"/>
            <a:ext cx="857250" cy="0"/>
          </a:xfrm>
          <a:prstGeom prst="straightConnector1">
            <a:avLst/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sp>
        <p:nvSpPr>
          <p:cNvPr id="30" name="diagram-scale-note">
            <a:extLst>
              <a:ext uri="{FF2B5EF4-FFF2-40B4-BE49-F238E27FC236}">
                <a16:creationId xmlns:a16="http://schemas.microsoft.com/office/drawing/2014/main" id="{5D329295-5E06-4CB5-BF1B-13120BB78CFB}"/>
              </a:ext>
            </a:extLst>
          </p:cNvPr>
          <p:cNvSpPr>
            <a:spLocks noGrp="1"/>
          </p:cNvSpPr>
          <p:nvPr/>
        </p:nvSpPr>
        <p:spPr>
          <a:xfrm>
            <a:off x="552450" y="5829300"/>
            <a:ext cx="3905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05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Esquema conceptual · no está a escala</a:t>
            </a:r>
          </a:p>
        </p:txBody>
      </p:sp>
      <p:sp>
        <p:nvSpPr>
          <p:cNvPr id="31" name="caption">
            <a:extLst>
              <a:ext uri="{FF2B5EF4-FFF2-40B4-BE49-F238E27FC236}">
                <a16:creationId xmlns:a16="http://schemas.microsoft.com/office/drawing/2014/main" id="{2AD77245-8C55-4844-9582-43787688A5BF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876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Respaldo para profundizar formantes sin introducir jitter o shimmer.</a:t>
            </a:r>
          </a:p>
        </p:txBody>
      </p:sp>
      <p:sp>
        <p:nvSpPr>
          <p:cNvPr id="32" name="credit">
            <a:extLst>
              <a:ext uri="{FF2B5EF4-FFF2-40B4-BE49-F238E27FC236}">
                <a16:creationId xmlns:a16="http://schemas.microsoft.com/office/drawing/2014/main" id="{C78969F3-0296-48F1-B63D-5C35FBD9FA86}"/>
              </a:ext>
            </a:extLst>
          </p:cNvPr>
          <p:cNvSpPr>
            <a:spLocks noGrp="1"/>
          </p:cNvSpPr>
          <p:nvPr/>
        </p:nvSpPr>
        <p:spPr>
          <a:xfrm>
            <a:off x="9382125" y="60769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5.5 y 5.12; Brockmann2011.</a:t>
            </a:r>
          </a:p>
        </p:txBody>
      </p:sp>
      <p:sp>
        <p:nvSpPr>
          <p:cNvPr id="25" name="slide-alt-summary" descr="Seis etapas muestran desde fuente vocal hasta método de análisis.">
            <a:extLst>
              <a:ext uri="{FF2B5EF4-FFF2-40B4-BE49-F238E27FC236}">
                <a16:creationId xmlns:a16="http://schemas.microsoft.com/office/drawing/2014/main" id="{C4B3F059-C99A-490B-E23B-AC552F87C490}"/>
              </a:ext>
            </a:extLst>
          </p:cNvPr>
          <p:cNvSpPr/>
          <p:nvPr/>
        </p:nvSpPr>
        <p:spPr>
          <a:xfrm>
            <a:off x="12700" y="12700"/>
            <a:ext cx="12700" cy="12700"/>
          </a:xfrm>
          <a:prstGeom prst="rect">
            <a:avLst/>
          </a:prstGeom>
          <a:noFill/>
          <a:ln w="19050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yebrow">
            <a:extLst>
              <a:ext uri="{FF2B5EF4-FFF2-40B4-BE49-F238E27FC236}">
                <a16:creationId xmlns:a16="http://schemas.microsoft.com/office/drawing/2014/main" id="{EEDF90CD-DD9A-406D-A290-26278F0731D8}"/>
              </a:ext>
            </a:extLst>
          </p:cNvPr>
          <p:cNvSpPr>
            <a:spLocks noGrp="1"/>
          </p:cNvSpPr>
          <p:nvPr/>
        </p:nvSpPr>
        <p:spPr>
          <a:xfrm>
            <a:off x="514350" y="2095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142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48076069-65A1-4068-8208-BB24036C35C6}"/>
              </a:ext>
            </a:extLst>
          </p:cNvPr>
          <p:cNvSpPr>
            <a:spLocks noGrp="1"/>
          </p:cNvSpPr>
          <p:nvPr/>
        </p:nvSpPr>
        <p:spPr>
          <a:xfrm>
            <a:off x="495300" y="428625"/>
            <a:ext cx="11191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Rangos dinámicos: qué debe declarar una fuente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1443F6A7-6081-425C-8B61-949A9F1A53AD}"/>
              </a:ext>
            </a:extLst>
          </p:cNvPr>
          <p:cNvSpPr>
            <a:spLocks noGrp="1"/>
          </p:cNvSpPr>
          <p:nvPr/>
        </p:nvSpPr>
        <p:spPr>
          <a:xfrm>
            <a:off x="523875" y="971550"/>
            <a:ext cx="11001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Contrato de trazabilidad antes de incorporar cifras.</a:t>
            </a:r>
          </a:p>
        </p:txBody>
      </p:sp>
      <p:sp>
        <p:nvSpPr>
          <p:cNvPr id="4" name="equation-box">
            <a:extLst>
              <a:ext uri="{FF2B5EF4-FFF2-40B4-BE49-F238E27FC236}">
                <a16:creationId xmlns:a16="http://schemas.microsoft.com/office/drawing/2014/main" id="{9FEDA222-00AC-4EA4-A498-BCF7CF56E6AE}"/>
              </a:ext>
            </a:extLst>
          </p:cNvPr>
          <p:cNvSpPr>
            <a:spLocks noGrp="1"/>
          </p:cNvSpPr>
          <p:nvPr/>
        </p:nvSpPr>
        <p:spPr>
          <a:xfrm>
            <a:off x="1143000" y="1619250"/>
            <a:ext cx="9906000" cy="1047750"/>
          </a:xfrm>
          <a:prstGeom prst="roundRect">
            <a:avLst>
              <a:gd name="adj" fmla="val 12727"/>
            </a:avLst>
          </a:prstGeom>
          <a:solidFill>
            <a:srgbClr val="EFECF7"/>
          </a:solidFill>
          <a:ln w="19050">
            <a:solidFill>
              <a:srgbClr val="65539A"/>
            </a:solidFill>
            <a:prstDash val="solid"/>
          </a:ln>
        </p:spPr>
      </p:sp>
      <p:sp>
        <p:nvSpPr>
          <p:cNvPr id="5" name="equation">
            <a:extLst>
              <a:ext uri="{FF2B5EF4-FFF2-40B4-BE49-F238E27FC236}">
                <a16:creationId xmlns:a16="http://schemas.microsoft.com/office/drawing/2014/main" id="{E790CBD4-BABF-41EE-9F77-405F0372B79E}"/>
              </a:ext>
            </a:extLst>
          </p:cNvPr>
          <p:cNvSpPr>
            <a:spLocks noGrp="1"/>
          </p:cNvSpPr>
          <p:nvPr/>
        </p:nvSpPr>
        <p:spPr>
          <a:xfrm>
            <a:off x="1371600" y="1771650"/>
            <a:ext cx="94488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2000"/>
              </a:lnSpc>
              <a:buNone/>
              <a:defRPr sz="3000" b="1" i="0">
                <a:solidFill>
                  <a:srgbClr val="172333"/>
                </a:solidFill>
                <a:latin typeface="Cambria Math"/>
                <a:ea typeface="Cambria Math"/>
                <a:cs typeface="Cambria Math"/>
              </a:defRPr>
            </a:pPr>
            <a:r>
              <a:rPr sz="3000" b="1" i="0">
                <a:solidFill>
                  <a:srgbClr val="172333"/>
                </a:solidFill>
                <a:latin typeface="Cambria Math"/>
                <a:ea typeface="Cambria Math"/>
                <a:cs typeface="Cambria Math"/>
              </a:rPr>
              <a:t>R_D=L_sup−L_inf.</a:t>
            </a:r>
          </a:p>
        </p:txBody>
      </p:sp>
      <p:sp>
        <p:nvSpPr>
          <p:cNvPr id="6" name="equation-meaning-box">
            <a:extLst>
              <a:ext uri="{FF2B5EF4-FFF2-40B4-BE49-F238E27FC236}">
                <a16:creationId xmlns:a16="http://schemas.microsoft.com/office/drawing/2014/main" id="{C5986777-836B-46BA-8CA9-7621DA14E6A8}"/>
              </a:ext>
            </a:extLst>
          </p:cNvPr>
          <p:cNvSpPr>
            <a:spLocks noGrp="1"/>
          </p:cNvSpPr>
          <p:nvPr/>
        </p:nvSpPr>
        <p:spPr>
          <a:xfrm>
            <a:off x="857250" y="3000375"/>
            <a:ext cx="4953000" cy="2381250"/>
          </a:xfrm>
          <a:prstGeom prst="roundRect">
            <a:avLst>
              <a:gd name="adj" fmla="val 5600"/>
            </a:avLst>
          </a:prstGeom>
          <a:solidFill>
            <a:srgbClr val="DDEFF5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7" name="equation-meaning-title">
            <a:extLst>
              <a:ext uri="{FF2B5EF4-FFF2-40B4-BE49-F238E27FC236}">
                <a16:creationId xmlns:a16="http://schemas.microsoft.com/office/drawing/2014/main" id="{A122199F-3196-4D11-8A02-F32CD04361C3}"/>
              </a:ext>
            </a:extLst>
          </p:cNvPr>
          <p:cNvSpPr>
            <a:spLocks noGrp="1"/>
          </p:cNvSpPr>
          <p:nvPr/>
        </p:nvSpPr>
        <p:spPr>
          <a:xfrm>
            <a:off x="1028700" y="3133725"/>
            <a:ext cx="4610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Qué significa</a:t>
            </a:r>
          </a:p>
        </p:txBody>
      </p:sp>
      <p:sp>
        <p:nvSpPr>
          <p:cNvPr id="8" name="equation-meaning-body">
            <a:extLst>
              <a:ext uri="{FF2B5EF4-FFF2-40B4-BE49-F238E27FC236}">
                <a16:creationId xmlns:a16="http://schemas.microsoft.com/office/drawing/2014/main" id="{97CAADC6-95F8-418D-875A-9235AE71EE6D}"/>
              </a:ext>
            </a:extLst>
          </p:cNvPr>
          <p:cNvSpPr>
            <a:spLocks noGrp="1"/>
          </p:cNvSpPr>
          <p:nvPr/>
        </p:nvSpPr>
        <p:spPr>
          <a:xfrm>
            <a:off x="1028700" y="3514725"/>
            <a:ext cx="4610100" cy="1733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plantilla sin valores.</a:t>
            </a:r>
          </a:p>
        </p:txBody>
      </p:sp>
      <p:sp>
        <p:nvSpPr>
          <p:cNvPr id="9" name="equation-use-box">
            <a:extLst>
              <a:ext uri="{FF2B5EF4-FFF2-40B4-BE49-F238E27FC236}">
                <a16:creationId xmlns:a16="http://schemas.microsoft.com/office/drawing/2014/main" id="{84AE58F2-7169-442C-BA6D-30748A41FC67}"/>
              </a:ext>
            </a:extLst>
          </p:cNvPr>
          <p:cNvSpPr>
            <a:spLocks noGrp="1"/>
          </p:cNvSpPr>
          <p:nvPr/>
        </p:nvSpPr>
        <p:spPr>
          <a:xfrm>
            <a:off x="6381750" y="3000375"/>
            <a:ext cx="4953000" cy="2381250"/>
          </a:xfrm>
          <a:prstGeom prst="roundRect">
            <a:avLst>
              <a:gd name="adj" fmla="val 5600"/>
            </a:avLst>
          </a:prstGeom>
          <a:solidFill>
            <a:srgbClr val="E3F2ED"/>
          </a:solidFill>
          <a:ln w="19050">
            <a:solidFill>
              <a:srgbClr val="2D7867"/>
            </a:solidFill>
            <a:prstDash val="solid"/>
          </a:ln>
        </p:spPr>
      </p:sp>
      <p:sp>
        <p:nvSpPr>
          <p:cNvPr id="10" name="equation-use-title">
            <a:extLst>
              <a:ext uri="{FF2B5EF4-FFF2-40B4-BE49-F238E27FC236}">
                <a16:creationId xmlns:a16="http://schemas.microsoft.com/office/drawing/2014/main" id="{91F3AD45-BA4F-464B-AEB5-E5D181FF574E}"/>
              </a:ext>
            </a:extLst>
          </p:cNvPr>
          <p:cNvSpPr>
            <a:spLocks noGrp="1"/>
          </p:cNvSpPr>
          <p:nvPr/>
        </p:nvSpPr>
        <p:spPr>
          <a:xfrm>
            <a:off x="6553200" y="3133725"/>
            <a:ext cx="4610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Cómo se usa</a:t>
            </a:r>
          </a:p>
        </p:txBody>
      </p:sp>
      <p:sp>
        <p:nvSpPr>
          <p:cNvPr id="11" name="equation-use-body">
            <a:extLst>
              <a:ext uri="{FF2B5EF4-FFF2-40B4-BE49-F238E27FC236}">
                <a16:creationId xmlns:a16="http://schemas.microsoft.com/office/drawing/2014/main" id="{26275E5B-D471-4701-8419-663698639882}"/>
              </a:ext>
            </a:extLst>
          </p:cNvPr>
          <p:cNvSpPr>
            <a:spLocks noGrp="1"/>
          </p:cNvSpPr>
          <p:nvPr/>
        </p:nvSpPr>
        <p:spPr>
          <a:xfrm>
            <a:off x="6553200" y="3514725"/>
            <a:ext cx="4610100" cy="1733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tarea distancia y orientación ponderación descriptor incertidumbre o dispersión. Aplicar a voz, instrumentos y audición.</a:t>
            </a:r>
          </a:p>
        </p:txBody>
      </p:sp>
      <p:sp>
        <p:nvSpPr>
          <p:cNvPr id="12" name="caption">
            <a:extLst>
              <a:ext uri="{FF2B5EF4-FFF2-40B4-BE49-F238E27FC236}">
                <a16:creationId xmlns:a16="http://schemas.microsoft.com/office/drawing/2014/main" id="{D60D7DF4-B472-4067-B573-312A972FCB80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876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No se aprueba ninguna cifra aislada.</a:t>
            </a:r>
          </a:p>
        </p:txBody>
      </p:sp>
      <p:sp>
        <p:nvSpPr>
          <p:cNvPr id="13" name="credit">
            <a:extLst>
              <a:ext uri="{FF2B5EF4-FFF2-40B4-BE49-F238E27FC236}">
                <a16:creationId xmlns:a16="http://schemas.microsoft.com/office/drawing/2014/main" id="{5AF1B5C9-3883-4A56-A601-60E0178F2B67}"/>
              </a:ext>
            </a:extLst>
          </p:cNvPr>
          <p:cNvSpPr>
            <a:spLocks noGrp="1"/>
          </p:cNvSpPr>
          <p:nvPr/>
        </p:nvSpPr>
        <p:spPr>
          <a:xfrm>
            <a:off x="9382125" y="60769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PO; TEX 5.7.2; OD-U05-06/07.</a:t>
            </a:r>
          </a:p>
        </p:txBody>
      </p:sp>
      <p:sp>
        <p:nvSpPr>
          <p:cNvPr id="15" name="slide-alt-summary" descr="Plantilla de seis campos para evaluar una cifra de rango dinámico.">
            <a:extLst>
              <a:ext uri="{FF2B5EF4-FFF2-40B4-BE49-F238E27FC236}">
                <a16:creationId xmlns:a16="http://schemas.microsoft.com/office/drawing/2014/main" id="{A3F92843-AE64-0304-04D5-AAF01B67E719}"/>
              </a:ext>
            </a:extLst>
          </p:cNvPr>
          <p:cNvSpPr/>
          <p:nvPr/>
        </p:nvSpPr>
        <p:spPr>
          <a:xfrm>
            <a:off x="12700" y="12700"/>
            <a:ext cx="12700" cy="12700"/>
          </a:xfrm>
          <a:prstGeom prst="rect">
            <a:avLst/>
          </a:prstGeom>
          <a:noFill/>
          <a:ln w="19050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yebrow">
            <a:extLst>
              <a:ext uri="{FF2B5EF4-FFF2-40B4-BE49-F238E27FC236}">
                <a16:creationId xmlns:a16="http://schemas.microsoft.com/office/drawing/2014/main" id="{D6667482-26CF-493F-993C-AA566C36C584}"/>
              </a:ext>
            </a:extLst>
          </p:cNvPr>
          <p:cNvSpPr>
            <a:spLocks noGrp="1"/>
          </p:cNvSpPr>
          <p:nvPr/>
        </p:nvSpPr>
        <p:spPr>
          <a:xfrm>
            <a:off x="514350" y="2095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143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CFDEE719-59E5-478A-895E-3F8D29CDEB6B}"/>
              </a:ext>
            </a:extLst>
          </p:cNvPr>
          <p:cNvSpPr>
            <a:spLocks noGrp="1"/>
          </p:cNvSpPr>
          <p:nvPr/>
        </p:nvSpPr>
        <p:spPr>
          <a:xfrm>
            <a:off x="495300" y="428625"/>
            <a:ext cx="11191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Frecuencias centrales nominales requieren norma y edición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16717D32-FF08-4C71-8968-CBBF62980BB7}"/>
              </a:ext>
            </a:extLst>
          </p:cNvPr>
          <p:cNvSpPr>
            <a:spLocks noGrp="1"/>
          </p:cNvSpPr>
          <p:nvPr/>
        </p:nvSpPr>
        <p:spPr>
          <a:xfrm>
            <a:off x="523875" y="971550"/>
            <a:ext cx="11001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Cálculo exacto y serie nominal no son sinónimos.</a:t>
            </a:r>
          </a:p>
        </p:txBody>
      </p:sp>
      <p:sp>
        <p:nvSpPr>
          <p:cNvPr id="4" name="equation-box">
            <a:extLst>
              <a:ext uri="{FF2B5EF4-FFF2-40B4-BE49-F238E27FC236}">
                <a16:creationId xmlns:a16="http://schemas.microsoft.com/office/drawing/2014/main" id="{BFFB9956-7C44-4A66-A2F4-1675AF50E088}"/>
              </a:ext>
            </a:extLst>
          </p:cNvPr>
          <p:cNvSpPr>
            <a:spLocks noGrp="1"/>
          </p:cNvSpPr>
          <p:nvPr/>
        </p:nvSpPr>
        <p:spPr>
          <a:xfrm>
            <a:off x="1143000" y="1619250"/>
            <a:ext cx="9906000" cy="1047750"/>
          </a:xfrm>
          <a:prstGeom prst="roundRect">
            <a:avLst>
              <a:gd name="adj" fmla="val 12727"/>
            </a:avLst>
          </a:prstGeom>
          <a:solidFill>
            <a:srgbClr val="EFECF7"/>
          </a:solidFill>
          <a:ln w="19050">
            <a:solidFill>
              <a:srgbClr val="65539A"/>
            </a:solidFill>
            <a:prstDash val="solid"/>
          </a:ln>
        </p:spPr>
      </p:sp>
      <p:sp>
        <p:nvSpPr>
          <p:cNvPr id="5" name="equation">
            <a:extLst>
              <a:ext uri="{FF2B5EF4-FFF2-40B4-BE49-F238E27FC236}">
                <a16:creationId xmlns:a16="http://schemas.microsoft.com/office/drawing/2014/main" id="{56C8C898-953B-42FE-9903-195CF72C5937}"/>
              </a:ext>
            </a:extLst>
          </p:cNvPr>
          <p:cNvSpPr>
            <a:spLocks noGrp="1"/>
          </p:cNvSpPr>
          <p:nvPr/>
        </p:nvSpPr>
        <p:spPr>
          <a:xfrm>
            <a:off x="1371600" y="1771650"/>
            <a:ext cx="94488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2000"/>
              </a:lnSpc>
              <a:buNone/>
              <a:defRPr sz="3000" b="1" i="0">
                <a:solidFill>
                  <a:srgbClr val="172333"/>
                </a:solidFill>
                <a:latin typeface="Cambria Math"/>
                <a:ea typeface="Cambria Math"/>
                <a:cs typeface="Cambria Math"/>
              </a:defRPr>
            </a:pPr>
            <a:r>
              <a:rPr sz="3000" b="1" i="0">
                <a:solidFill>
                  <a:srgbClr val="172333"/>
                </a:solidFill>
                <a:latin typeface="Cambria Math"/>
                <a:ea typeface="Cambria Math"/>
                <a:cs typeface="Cambria Math"/>
              </a:rPr>
              <a:t>f_c=√(f_Lf_H).</a:t>
            </a:r>
          </a:p>
        </p:txBody>
      </p:sp>
      <p:sp>
        <p:nvSpPr>
          <p:cNvPr id="6" name="equation-meaning-box">
            <a:extLst>
              <a:ext uri="{FF2B5EF4-FFF2-40B4-BE49-F238E27FC236}">
                <a16:creationId xmlns:a16="http://schemas.microsoft.com/office/drawing/2014/main" id="{42375183-20A2-4A5F-B22E-02D42730C99E}"/>
              </a:ext>
            </a:extLst>
          </p:cNvPr>
          <p:cNvSpPr>
            <a:spLocks noGrp="1"/>
          </p:cNvSpPr>
          <p:nvPr/>
        </p:nvSpPr>
        <p:spPr>
          <a:xfrm>
            <a:off x="857250" y="3000375"/>
            <a:ext cx="4953000" cy="2381250"/>
          </a:xfrm>
          <a:prstGeom prst="roundRect">
            <a:avLst>
              <a:gd name="adj" fmla="val 5600"/>
            </a:avLst>
          </a:prstGeom>
          <a:solidFill>
            <a:srgbClr val="DDEFF5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7" name="equation-meaning-title">
            <a:extLst>
              <a:ext uri="{FF2B5EF4-FFF2-40B4-BE49-F238E27FC236}">
                <a16:creationId xmlns:a16="http://schemas.microsoft.com/office/drawing/2014/main" id="{271F9F7B-71C5-4889-B5C7-AFD5BC931F58}"/>
              </a:ext>
            </a:extLst>
          </p:cNvPr>
          <p:cNvSpPr>
            <a:spLocks noGrp="1"/>
          </p:cNvSpPr>
          <p:nvPr/>
        </p:nvSpPr>
        <p:spPr>
          <a:xfrm>
            <a:off x="1028700" y="3133725"/>
            <a:ext cx="4610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Qué significa</a:t>
            </a:r>
          </a:p>
        </p:txBody>
      </p:sp>
      <p:sp>
        <p:nvSpPr>
          <p:cNvPr id="8" name="equation-meaning-body">
            <a:extLst>
              <a:ext uri="{FF2B5EF4-FFF2-40B4-BE49-F238E27FC236}">
                <a16:creationId xmlns:a16="http://schemas.microsoft.com/office/drawing/2014/main" id="{4AB35FC9-9492-41AF-9F59-B5CABB65A03F}"/>
              </a:ext>
            </a:extLst>
          </p:cNvPr>
          <p:cNvSpPr>
            <a:spLocks noGrp="1"/>
          </p:cNvSpPr>
          <p:nvPr/>
        </p:nvSpPr>
        <p:spPr>
          <a:xfrm>
            <a:off x="1028700" y="3514725"/>
            <a:ext cx="4610100" cy="1733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Serie nominal: conjunto de valores redondeados definido por una norma y edición.</a:t>
            </a:r>
          </a:p>
        </p:txBody>
      </p:sp>
      <p:sp>
        <p:nvSpPr>
          <p:cNvPr id="9" name="equation-use-box">
            <a:extLst>
              <a:ext uri="{FF2B5EF4-FFF2-40B4-BE49-F238E27FC236}">
                <a16:creationId xmlns:a16="http://schemas.microsoft.com/office/drawing/2014/main" id="{235AC9A9-BEB2-4084-9835-E7CC2B9D4E2D}"/>
              </a:ext>
            </a:extLst>
          </p:cNvPr>
          <p:cNvSpPr>
            <a:spLocks noGrp="1"/>
          </p:cNvSpPr>
          <p:nvPr/>
        </p:nvSpPr>
        <p:spPr>
          <a:xfrm>
            <a:off x="6381750" y="3000375"/>
            <a:ext cx="4953000" cy="2381250"/>
          </a:xfrm>
          <a:prstGeom prst="roundRect">
            <a:avLst>
              <a:gd name="adj" fmla="val 5600"/>
            </a:avLst>
          </a:prstGeom>
          <a:solidFill>
            <a:srgbClr val="E3F2ED"/>
          </a:solidFill>
          <a:ln w="19050">
            <a:solidFill>
              <a:srgbClr val="2D7867"/>
            </a:solidFill>
            <a:prstDash val="solid"/>
          </a:ln>
        </p:spPr>
      </p:sp>
      <p:sp>
        <p:nvSpPr>
          <p:cNvPr id="10" name="equation-use-title">
            <a:extLst>
              <a:ext uri="{FF2B5EF4-FFF2-40B4-BE49-F238E27FC236}">
                <a16:creationId xmlns:a16="http://schemas.microsoft.com/office/drawing/2014/main" id="{72A5E847-8F44-4ECD-8119-39799BB72121}"/>
              </a:ext>
            </a:extLst>
          </p:cNvPr>
          <p:cNvSpPr>
            <a:spLocks noGrp="1"/>
          </p:cNvSpPr>
          <p:nvPr/>
        </p:nvSpPr>
        <p:spPr>
          <a:xfrm>
            <a:off x="6553200" y="3133725"/>
            <a:ext cx="4610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Cómo se usa</a:t>
            </a:r>
          </a:p>
        </p:txBody>
      </p:sp>
      <p:sp>
        <p:nvSpPr>
          <p:cNvPr id="11" name="equation-use-body">
            <a:extLst>
              <a:ext uri="{FF2B5EF4-FFF2-40B4-BE49-F238E27FC236}">
                <a16:creationId xmlns:a16="http://schemas.microsoft.com/office/drawing/2014/main" id="{54D459FE-45EF-4B94-B578-14DA955B30ED}"/>
              </a:ext>
            </a:extLst>
          </p:cNvPr>
          <p:cNvSpPr>
            <a:spLocks noGrp="1"/>
          </p:cNvSpPr>
          <p:nvPr/>
        </p:nvSpPr>
        <p:spPr>
          <a:xfrm>
            <a:off x="6553200" y="3514725"/>
            <a:ext cx="4610100" cy="1733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máximo ocho filas solo después de verificar IEC 61260-1.</a:t>
            </a:r>
          </a:p>
        </p:txBody>
      </p:sp>
      <p:sp>
        <p:nvSpPr>
          <p:cNvPr id="12" name="caption">
            <a:extLst>
              <a:ext uri="{FF2B5EF4-FFF2-40B4-BE49-F238E27FC236}">
                <a16:creationId xmlns:a16="http://schemas.microsoft.com/office/drawing/2014/main" id="{E365A57F-C936-4241-998D-DACA7326CDEF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876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Tabla numérica pendiente de verificación normativa.</a:t>
            </a:r>
          </a:p>
        </p:txBody>
      </p:sp>
      <p:sp>
        <p:nvSpPr>
          <p:cNvPr id="13" name="credit">
            <a:extLst>
              <a:ext uri="{FF2B5EF4-FFF2-40B4-BE49-F238E27FC236}">
                <a16:creationId xmlns:a16="http://schemas.microsoft.com/office/drawing/2014/main" id="{4BEE45E1-E116-44FD-B76F-597544FBD459}"/>
              </a:ext>
            </a:extLst>
          </p:cNvPr>
          <p:cNvSpPr>
            <a:spLocks noGrp="1"/>
          </p:cNvSpPr>
          <p:nvPr/>
        </p:nvSpPr>
        <p:spPr>
          <a:xfrm>
            <a:off x="9382125" y="60769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5.8; IEC 61260-1 pendiente.</a:t>
            </a:r>
          </a:p>
        </p:txBody>
      </p:sp>
      <p:sp>
        <p:nvSpPr>
          <p:cNvPr id="15" name="slide-alt-summary" descr="Comparación conceptual entre centro exacto calculado y centro nominal tabulado.">
            <a:extLst>
              <a:ext uri="{FF2B5EF4-FFF2-40B4-BE49-F238E27FC236}">
                <a16:creationId xmlns:a16="http://schemas.microsoft.com/office/drawing/2014/main" id="{92B518CE-0964-65C3-3173-2F0D03DFF644}"/>
              </a:ext>
            </a:extLst>
          </p:cNvPr>
          <p:cNvSpPr/>
          <p:nvPr/>
        </p:nvSpPr>
        <p:spPr>
          <a:xfrm>
            <a:off x="12700" y="12700"/>
            <a:ext cx="12700" cy="12700"/>
          </a:xfrm>
          <a:prstGeom prst="rect">
            <a:avLst/>
          </a:prstGeom>
          <a:noFill/>
          <a:ln w="19050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yebrow">
            <a:extLst>
              <a:ext uri="{FF2B5EF4-FFF2-40B4-BE49-F238E27FC236}">
                <a16:creationId xmlns:a16="http://schemas.microsoft.com/office/drawing/2014/main" id="{DCAE9C85-F1BE-4F62-8596-763B3F0076FC}"/>
              </a:ext>
            </a:extLst>
          </p:cNvPr>
          <p:cNvSpPr>
            <a:spLocks noGrp="1"/>
          </p:cNvSpPr>
          <p:nvPr/>
        </p:nvSpPr>
        <p:spPr>
          <a:xfrm>
            <a:off x="514350" y="2095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144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B634AA30-A882-4E95-8EBE-920F1F7AB053}"/>
              </a:ext>
            </a:extLst>
          </p:cNvPr>
          <p:cNvSpPr>
            <a:spLocks noGrp="1"/>
          </p:cNvSpPr>
          <p:nvPr/>
        </p:nvSpPr>
        <p:spPr>
          <a:xfrm>
            <a:off x="495300" y="428625"/>
            <a:ext cx="11191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Orden y pendiente de filtro cambian la transición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30AC2D69-143A-48E9-9A1E-0B8CE632715C}"/>
              </a:ext>
            </a:extLst>
          </p:cNvPr>
          <p:cNvSpPr>
            <a:spLocks noGrp="1"/>
          </p:cNvSpPr>
          <p:nvPr/>
        </p:nvSpPr>
        <p:spPr>
          <a:xfrm>
            <a:off x="523875" y="971550"/>
            <a:ext cx="11001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Dos filtros del mismo tipo pueden responder diferente.</a:t>
            </a:r>
          </a:p>
        </p:txBody>
      </p:sp>
      <p:pic>
        <p:nvPicPr>
          <p:cNvPr id="13" name="Gráfico 1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457200" y="1381125"/>
            <a:ext cx="7524750" cy="4429125"/>
          </a:xfrm>
          <a:prstGeom prst="rect">
            <a:avLst/>
          </a:prstGeom>
        </p:spPr>
      </p:pic>
      <p:sp>
        <p:nvSpPr>
          <p:cNvPr id="5" name="chart-reading-box">
            <a:extLst>
              <a:ext uri="{FF2B5EF4-FFF2-40B4-BE49-F238E27FC236}">
                <a16:creationId xmlns:a16="http://schemas.microsoft.com/office/drawing/2014/main" id="{C7615951-FE62-4ED1-B837-2F51CCFD69CB}"/>
              </a:ext>
            </a:extLst>
          </p:cNvPr>
          <p:cNvSpPr>
            <a:spLocks noGrp="1"/>
          </p:cNvSpPr>
          <p:nvPr/>
        </p:nvSpPr>
        <p:spPr>
          <a:xfrm>
            <a:off x="8239125" y="1476375"/>
            <a:ext cx="3190875" cy="3857625"/>
          </a:xfrm>
          <a:prstGeom prst="roundRect">
            <a:avLst>
              <a:gd name="adj" fmla="val 4179"/>
            </a:avLst>
          </a:prstGeom>
          <a:solidFill>
            <a:srgbClr val="DDEFF5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6" name="chart-reading-title">
            <a:extLst>
              <a:ext uri="{FF2B5EF4-FFF2-40B4-BE49-F238E27FC236}">
                <a16:creationId xmlns:a16="http://schemas.microsoft.com/office/drawing/2014/main" id="{74EC3080-A8BC-45B0-A1D9-50D9DF44BEA9}"/>
              </a:ext>
            </a:extLst>
          </p:cNvPr>
          <p:cNvSpPr>
            <a:spLocks noGrp="1"/>
          </p:cNvSpPr>
          <p:nvPr/>
        </p:nvSpPr>
        <p:spPr>
          <a:xfrm>
            <a:off x="8410575" y="1609725"/>
            <a:ext cx="28479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Qué leer</a:t>
            </a:r>
          </a:p>
        </p:txBody>
      </p:sp>
      <p:sp>
        <p:nvSpPr>
          <p:cNvPr id="7" name="chart-reading-body">
            <a:extLst>
              <a:ext uri="{FF2B5EF4-FFF2-40B4-BE49-F238E27FC236}">
                <a16:creationId xmlns:a16="http://schemas.microsoft.com/office/drawing/2014/main" id="{F538B4D0-A96F-4795-8181-1D815F865687}"/>
              </a:ext>
            </a:extLst>
          </p:cNvPr>
          <p:cNvSpPr>
            <a:spLocks noGrp="1"/>
          </p:cNvSpPr>
          <p:nvPr/>
        </p:nvSpPr>
        <p:spPr>
          <a:xfrm>
            <a:off x="8410575" y="1990725"/>
            <a:ext cx="2847975" cy="3209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00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Mismo corte conceptual distinto orden. Mayor orden: transición más abrupta en este modelo. Tipo no determina por sí solo fase ni rechazo.</a:t>
            </a:r>
          </a:p>
        </p:txBody>
      </p:sp>
      <p:sp>
        <p:nvSpPr>
          <p:cNvPr id="8" name="caption">
            <a:extLst>
              <a:ext uri="{FF2B5EF4-FFF2-40B4-BE49-F238E27FC236}">
                <a16:creationId xmlns:a16="http://schemas.microsoft.com/office/drawing/2014/main" id="{15D443B0-4EDA-4D5B-A069-8586B35DED55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876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Comparación teórica con escala común.</a:t>
            </a:r>
          </a:p>
        </p:txBody>
      </p:sp>
      <p:sp>
        <p:nvSpPr>
          <p:cNvPr id="9" name="credit">
            <a:extLst>
              <a:ext uri="{FF2B5EF4-FFF2-40B4-BE49-F238E27FC236}">
                <a16:creationId xmlns:a16="http://schemas.microsoft.com/office/drawing/2014/main" id="{C0019A8E-3A70-4885-92C1-FD707376278B}"/>
              </a:ext>
            </a:extLst>
          </p:cNvPr>
          <p:cNvSpPr>
            <a:spLocks noGrp="1"/>
          </p:cNvSpPr>
          <p:nvPr/>
        </p:nvSpPr>
        <p:spPr>
          <a:xfrm>
            <a:off x="9382125" y="60769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fig. 5.7; script U5; EP.</a:t>
            </a:r>
          </a:p>
        </p:txBody>
      </p:sp>
      <p:sp>
        <p:nvSpPr>
          <p:cNvPr id="4" name="slide-alt-summary" descr="Dos curvas Butterworth de distinto orden comparten corte y muestran transiciones diferentes.">
            <a:extLst>
              <a:ext uri="{FF2B5EF4-FFF2-40B4-BE49-F238E27FC236}">
                <a16:creationId xmlns:a16="http://schemas.microsoft.com/office/drawing/2014/main" id="{6CB179BA-4A1F-B79B-6B90-AC001EE7412F}"/>
              </a:ext>
            </a:extLst>
          </p:cNvPr>
          <p:cNvSpPr/>
          <p:nvPr/>
        </p:nvSpPr>
        <p:spPr>
          <a:xfrm>
            <a:off x="12700" y="12700"/>
            <a:ext cx="12700" cy="12700"/>
          </a:xfrm>
          <a:prstGeom prst="rect">
            <a:avLst/>
          </a:prstGeom>
          <a:noFill/>
          <a:ln w="19050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yebrow">
            <a:extLst>
              <a:ext uri="{FF2B5EF4-FFF2-40B4-BE49-F238E27FC236}">
                <a16:creationId xmlns:a16="http://schemas.microsoft.com/office/drawing/2014/main" id="{7D823F4C-5F5E-42DF-85F3-E926BF49F55F}"/>
              </a:ext>
            </a:extLst>
          </p:cNvPr>
          <p:cNvSpPr>
            <a:spLocks noGrp="1"/>
          </p:cNvSpPr>
          <p:nvPr/>
        </p:nvSpPr>
        <p:spPr>
          <a:xfrm>
            <a:off x="514350" y="2095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145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B220FBEC-92EE-4058-8651-4F9620B368D7}"/>
              </a:ext>
            </a:extLst>
          </p:cNvPr>
          <p:cNvSpPr>
            <a:spLocks noGrp="1"/>
          </p:cNvSpPr>
          <p:nvPr/>
        </p:nvSpPr>
        <p:spPr>
          <a:xfrm>
            <a:off x="495300" y="428625"/>
            <a:ext cx="11191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Expresiones nominales de A, C y Z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17B9957D-8680-49AC-AD87-76418F15FEF6}"/>
              </a:ext>
            </a:extLst>
          </p:cNvPr>
          <p:cNvSpPr>
            <a:spLocks noGrp="1"/>
          </p:cNvSpPr>
          <p:nvPr/>
        </p:nvSpPr>
        <p:spPr>
          <a:xfrm>
            <a:off x="523875" y="971550"/>
            <a:ext cx="11001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Respaldo bloqueado hasta verificar IEC 61672-1.</a:t>
            </a:r>
          </a:p>
        </p:txBody>
      </p:sp>
      <p:sp>
        <p:nvSpPr>
          <p:cNvPr id="4" name="equation-box">
            <a:extLst>
              <a:ext uri="{FF2B5EF4-FFF2-40B4-BE49-F238E27FC236}">
                <a16:creationId xmlns:a16="http://schemas.microsoft.com/office/drawing/2014/main" id="{D4E59331-38A7-43E6-A6D7-2E996C21425D}"/>
              </a:ext>
            </a:extLst>
          </p:cNvPr>
          <p:cNvSpPr>
            <a:spLocks noGrp="1"/>
          </p:cNvSpPr>
          <p:nvPr/>
        </p:nvSpPr>
        <p:spPr>
          <a:xfrm>
            <a:off x="1143000" y="1619250"/>
            <a:ext cx="9906000" cy="1047750"/>
          </a:xfrm>
          <a:prstGeom prst="roundRect">
            <a:avLst>
              <a:gd name="adj" fmla="val 12727"/>
            </a:avLst>
          </a:prstGeom>
          <a:solidFill>
            <a:srgbClr val="EFECF7"/>
          </a:solidFill>
          <a:ln w="19050">
            <a:solidFill>
              <a:srgbClr val="65539A"/>
            </a:solidFill>
            <a:prstDash val="solid"/>
          </a:ln>
        </p:spPr>
      </p:sp>
      <p:sp>
        <p:nvSpPr>
          <p:cNvPr id="5" name="equation">
            <a:extLst>
              <a:ext uri="{FF2B5EF4-FFF2-40B4-BE49-F238E27FC236}">
                <a16:creationId xmlns:a16="http://schemas.microsoft.com/office/drawing/2014/main" id="{86E2C1B8-CBA2-4A6D-A761-5687673B79FE}"/>
              </a:ext>
            </a:extLst>
          </p:cNvPr>
          <p:cNvSpPr>
            <a:spLocks noGrp="1"/>
          </p:cNvSpPr>
          <p:nvPr/>
        </p:nvSpPr>
        <p:spPr>
          <a:xfrm>
            <a:off x="1371600" y="1771650"/>
            <a:ext cx="94488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2000"/>
              </a:lnSpc>
              <a:buNone/>
              <a:defRPr sz="3000" b="1" i="0">
                <a:solidFill>
                  <a:srgbClr val="172333"/>
                </a:solidFill>
                <a:latin typeface="Cambria Math"/>
                <a:ea typeface="Cambria Math"/>
                <a:cs typeface="Cambria Math"/>
              </a:defRPr>
            </a:pPr>
            <a:r>
              <a:rPr sz="3000" b="1" i="0">
                <a:solidFill>
                  <a:srgbClr val="172333"/>
                </a:solidFill>
                <a:latin typeface="Cambria Math"/>
                <a:ea typeface="Cambria Math"/>
                <a:cs typeface="Cambria Math"/>
              </a:rPr>
              <a:t>pendientes; no insertar fórmulas provisionales.</a:t>
            </a:r>
          </a:p>
        </p:txBody>
      </p:sp>
      <p:sp>
        <p:nvSpPr>
          <p:cNvPr id="6" name="equation-meaning-box">
            <a:extLst>
              <a:ext uri="{FF2B5EF4-FFF2-40B4-BE49-F238E27FC236}">
                <a16:creationId xmlns:a16="http://schemas.microsoft.com/office/drawing/2014/main" id="{A0554801-AF01-42B0-AB91-45022D5D8ACD}"/>
              </a:ext>
            </a:extLst>
          </p:cNvPr>
          <p:cNvSpPr>
            <a:spLocks noGrp="1"/>
          </p:cNvSpPr>
          <p:nvPr/>
        </p:nvSpPr>
        <p:spPr>
          <a:xfrm>
            <a:off x="857250" y="3000375"/>
            <a:ext cx="4953000" cy="2381250"/>
          </a:xfrm>
          <a:prstGeom prst="roundRect">
            <a:avLst>
              <a:gd name="adj" fmla="val 5600"/>
            </a:avLst>
          </a:prstGeom>
          <a:solidFill>
            <a:srgbClr val="DDEFF5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7" name="equation-meaning-title">
            <a:extLst>
              <a:ext uri="{FF2B5EF4-FFF2-40B4-BE49-F238E27FC236}">
                <a16:creationId xmlns:a16="http://schemas.microsoft.com/office/drawing/2014/main" id="{5C8DA7B9-E326-4649-A5A4-7599FE8F1835}"/>
              </a:ext>
            </a:extLst>
          </p:cNvPr>
          <p:cNvSpPr>
            <a:spLocks noGrp="1"/>
          </p:cNvSpPr>
          <p:nvPr/>
        </p:nvSpPr>
        <p:spPr>
          <a:xfrm>
            <a:off x="1028700" y="3133725"/>
            <a:ext cx="4610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Qué significa</a:t>
            </a:r>
          </a:p>
        </p:txBody>
      </p:sp>
      <p:sp>
        <p:nvSpPr>
          <p:cNvPr id="8" name="equation-meaning-body">
            <a:extLst>
              <a:ext uri="{FF2B5EF4-FFF2-40B4-BE49-F238E27FC236}">
                <a16:creationId xmlns:a16="http://schemas.microsoft.com/office/drawing/2014/main" id="{390B6C9E-1297-4D81-B0E4-2C5432C32652}"/>
              </a:ext>
            </a:extLst>
          </p:cNvPr>
          <p:cNvSpPr>
            <a:spLocks noGrp="1"/>
          </p:cNvSpPr>
          <p:nvPr/>
        </p:nvSpPr>
        <p:spPr>
          <a:xfrm>
            <a:off x="1028700" y="3514725"/>
            <a:ext cx="4610100" cy="1733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Incluir solo después de confirmar expresiones, constantes, normalización y frecuencias de control. Diferenciar respuesta nominal de tolerancias.</a:t>
            </a:r>
          </a:p>
        </p:txBody>
      </p:sp>
      <p:sp>
        <p:nvSpPr>
          <p:cNvPr id="9" name="equation-use-box">
            <a:extLst>
              <a:ext uri="{FF2B5EF4-FFF2-40B4-BE49-F238E27FC236}">
                <a16:creationId xmlns:a16="http://schemas.microsoft.com/office/drawing/2014/main" id="{0E07B6C3-0839-46E8-8EED-A93C2367F57C}"/>
              </a:ext>
            </a:extLst>
          </p:cNvPr>
          <p:cNvSpPr>
            <a:spLocks noGrp="1"/>
          </p:cNvSpPr>
          <p:nvPr/>
        </p:nvSpPr>
        <p:spPr>
          <a:xfrm>
            <a:off x="6381750" y="3000375"/>
            <a:ext cx="4953000" cy="2381250"/>
          </a:xfrm>
          <a:prstGeom prst="roundRect">
            <a:avLst>
              <a:gd name="adj" fmla="val 5600"/>
            </a:avLst>
          </a:prstGeom>
          <a:solidFill>
            <a:srgbClr val="E3F2ED"/>
          </a:solidFill>
          <a:ln w="19050">
            <a:solidFill>
              <a:srgbClr val="2D7867"/>
            </a:solidFill>
            <a:prstDash val="solid"/>
          </a:ln>
        </p:spPr>
      </p:sp>
      <p:sp>
        <p:nvSpPr>
          <p:cNvPr id="10" name="equation-use-title">
            <a:extLst>
              <a:ext uri="{FF2B5EF4-FFF2-40B4-BE49-F238E27FC236}">
                <a16:creationId xmlns:a16="http://schemas.microsoft.com/office/drawing/2014/main" id="{BF4450E3-F264-4952-A4ED-2D3A6B1A555F}"/>
              </a:ext>
            </a:extLst>
          </p:cNvPr>
          <p:cNvSpPr>
            <a:spLocks noGrp="1"/>
          </p:cNvSpPr>
          <p:nvPr/>
        </p:nvSpPr>
        <p:spPr>
          <a:xfrm>
            <a:off x="6553200" y="3133725"/>
            <a:ext cx="4610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Cómo se usa</a:t>
            </a:r>
          </a:p>
        </p:txBody>
      </p:sp>
      <p:sp>
        <p:nvSpPr>
          <p:cNvPr id="11" name="equation-use-body">
            <a:extLst>
              <a:ext uri="{FF2B5EF4-FFF2-40B4-BE49-F238E27FC236}">
                <a16:creationId xmlns:a16="http://schemas.microsoft.com/office/drawing/2014/main" id="{4E28FE70-B5DE-4242-9982-55ED211F3477}"/>
              </a:ext>
            </a:extLst>
          </p:cNvPr>
          <p:cNvSpPr>
            <a:spLocks noGrp="1"/>
          </p:cNvSpPr>
          <p:nvPr/>
        </p:nvSpPr>
        <p:spPr>
          <a:xfrm>
            <a:off x="6553200" y="3514725"/>
            <a:ext cx="4610100" cy="1733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Diferenciar respuesta nominal de tolerancias.</a:t>
            </a:r>
          </a:p>
        </p:txBody>
      </p:sp>
      <p:sp>
        <p:nvSpPr>
          <p:cNvPr id="12" name="caption">
            <a:extLst>
              <a:ext uri="{FF2B5EF4-FFF2-40B4-BE49-F238E27FC236}">
                <a16:creationId xmlns:a16="http://schemas.microsoft.com/office/drawing/2014/main" id="{719CC043-8985-413C-A683-0EFB61BA5D08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876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No aprobado para producción en v01.</a:t>
            </a:r>
          </a:p>
        </p:txBody>
      </p:sp>
      <p:sp>
        <p:nvSpPr>
          <p:cNvPr id="13" name="credit">
            <a:extLst>
              <a:ext uri="{FF2B5EF4-FFF2-40B4-BE49-F238E27FC236}">
                <a16:creationId xmlns:a16="http://schemas.microsoft.com/office/drawing/2014/main" id="{5DD66366-C8AE-49E8-A1C1-45F7883EEE07}"/>
              </a:ext>
            </a:extLst>
          </p:cNvPr>
          <p:cNvSpPr>
            <a:spLocks noGrp="1"/>
          </p:cNvSpPr>
          <p:nvPr/>
        </p:nvSpPr>
        <p:spPr>
          <a:xfrm>
            <a:off x="9382125" y="60769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IEC 61672-1 pendiente; OD-U05-12/21.</a:t>
            </a:r>
          </a:p>
        </p:txBody>
      </p:sp>
      <p:sp>
        <p:nvSpPr>
          <p:cNvPr id="15" name="slide-alt-summary" descr="Marcador de contenido normativo pendiente de verificación autorizada.">
            <a:extLst>
              <a:ext uri="{FF2B5EF4-FFF2-40B4-BE49-F238E27FC236}">
                <a16:creationId xmlns:a16="http://schemas.microsoft.com/office/drawing/2014/main" id="{9607DA23-E159-3722-BE20-7CE660FCCC9E}"/>
              </a:ext>
            </a:extLst>
          </p:cNvPr>
          <p:cNvSpPr/>
          <p:nvPr/>
        </p:nvSpPr>
        <p:spPr>
          <a:xfrm>
            <a:off x="12700" y="12700"/>
            <a:ext cx="12700" cy="12700"/>
          </a:xfrm>
          <a:prstGeom prst="rect">
            <a:avLst/>
          </a:prstGeom>
          <a:noFill/>
          <a:ln w="19050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yebrow">
            <a:extLst>
              <a:ext uri="{FF2B5EF4-FFF2-40B4-BE49-F238E27FC236}">
                <a16:creationId xmlns:a16="http://schemas.microsoft.com/office/drawing/2014/main" id="{9C2C5BF8-F1C1-4B85-B4B2-B6B51103352B}"/>
              </a:ext>
            </a:extLst>
          </p:cNvPr>
          <p:cNvSpPr>
            <a:spLocks noGrp="1"/>
          </p:cNvSpPr>
          <p:nvPr/>
        </p:nvSpPr>
        <p:spPr>
          <a:xfrm>
            <a:off x="514350" y="2095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146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0722F2AA-6D66-483D-B062-1E75C3490950}"/>
              </a:ext>
            </a:extLst>
          </p:cNvPr>
          <p:cNvSpPr>
            <a:spLocks noGrp="1"/>
          </p:cNvSpPr>
          <p:nvPr/>
        </p:nvSpPr>
        <p:spPr>
          <a:xfrm>
            <a:off x="495300" y="428625"/>
            <a:ext cx="11191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Definición integral de L_Xeq,T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20A00BE8-1505-493B-A25B-97C22C97007D}"/>
              </a:ext>
            </a:extLst>
          </p:cNvPr>
          <p:cNvSpPr>
            <a:spLocks noGrp="1"/>
          </p:cNvSpPr>
          <p:nvPr/>
        </p:nvSpPr>
        <p:spPr>
          <a:xfrm>
            <a:off x="523875" y="971550"/>
            <a:ext cx="11001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Formalización del promedio cuadrático durante un intervalo.</a:t>
            </a:r>
          </a:p>
        </p:txBody>
      </p:sp>
      <p:sp>
        <p:nvSpPr>
          <p:cNvPr id="4" name="equation-box">
            <a:extLst>
              <a:ext uri="{FF2B5EF4-FFF2-40B4-BE49-F238E27FC236}">
                <a16:creationId xmlns:a16="http://schemas.microsoft.com/office/drawing/2014/main" id="{3913E028-BB5F-417B-AF99-034FF2930FEF}"/>
              </a:ext>
            </a:extLst>
          </p:cNvPr>
          <p:cNvSpPr>
            <a:spLocks noGrp="1"/>
          </p:cNvSpPr>
          <p:nvPr/>
        </p:nvSpPr>
        <p:spPr>
          <a:xfrm>
            <a:off x="1143000" y="1619250"/>
            <a:ext cx="9906000" cy="1047750"/>
          </a:xfrm>
          <a:prstGeom prst="roundRect">
            <a:avLst>
              <a:gd name="adj" fmla="val 12727"/>
            </a:avLst>
          </a:prstGeom>
          <a:solidFill>
            <a:srgbClr val="EFECF7"/>
          </a:solidFill>
          <a:ln w="19050">
            <a:solidFill>
              <a:srgbClr val="65539A"/>
            </a:solidFill>
            <a:prstDash val="solid"/>
          </a:ln>
        </p:spPr>
      </p:sp>
      <p:sp>
        <p:nvSpPr>
          <p:cNvPr id="5" name="equation">
            <a:extLst>
              <a:ext uri="{FF2B5EF4-FFF2-40B4-BE49-F238E27FC236}">
                <a16:creationId xmlns:a16="http://schemas.microsoft.com/office/drawing/2014/main" id="{31BFE561-5B28-49C2-9008-26B575B2DA6B}"/>
              </a:ext>
            </a:extLst>
          </p:cNvPr>
          <p:cNvSpPr>
            <a:spLocks noGrp="1"/>
          </p:cNvSpPr>
          <p:nvPr/>
        </p:nvSpPr>
        <p:spPr>
          <a:xfrm>
            <a:off x="1371600" y="1771650"/>
            <a:ext cx="94488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2000"/>
              </a:lnSpc>
              <a:buNone/>
              <a:defRPr sz="3000" b="1" i="0">
                <a:solidFill>
                  <a:srgbClr val="172333"/>
                </a:solidFill>
                <a:latin typeface="Cambria Math"/>
                <a:ea typeface="Cambria Math"/>
                <a:cs typeface="Cambria Math"/>
              </a:defRPr>
            </a:pPr>
            <a:r>
              <a:rPr sz="3000" b="1" i="0">
                <a:solidFill>
                  <a:srgbClr val="172333"/>
                </a:solidFill>
                <a:latin typeface="Cambria Math"/>
                <a:ea typeface="Cambria Math"/>
                <a:cs typeface="Cambria Math"/>
              </a:rPr>
              <a:t>L_Xeq,T=10log10[(1/T)∫_{t_1}^{t_2}p_X²(t)/p_ref² dt].</a:t>
            </a:r>
          </a:p>
        </p:txBody>
      </p:sp>
      <p:sp>
        <p:nvSpPr>
          <p:cNvPr id="6" name="equation-meaning-box">
            <a:extLst>
              <a:ext uri="{FF2B5EF4-FFF2-40B4-BE49-F238E27FC236}">
                <a16:creationId xmlns:a16="http://schemas.microsoft.com/office/drawing/2014/main" id="{1C0E1839-2535-4013-AE47-CD39975D13E2}"/>
              </a:ext>
            </a:extLst>
          </p:cNvPr>
          <p:cNvSpPr>
            <a:spLocks noGrp="1"/>
          </p:cNvSpPr>
          <p:nvPr/>
        </p:nvSpPr>
        <p:spPr>
          <a:xfrm>
            <a:off x="857250" y="3000375"/>
            <a:ext cx="4953000" cy="2381250"/>
          </a:xfrm>
          <a:prstGeom prst="roundRect">
            <a:avLst>
              <a:gd name="adj" fmla="val 5600"/>
            </a:avLst>
          </a:prstGeom>
          <a:solidFill>
            <a:srgbClr val="DDEFF5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7" name="equation-meaning-title">
            <a:extLst>
              <a:ext uri="{FF2B5EF4-FFF2-40B4-BE49-F238E27FC236}">
                <a16:creationId xmlns:a16="http://schemas.microsoft.com/office/drawing/2014/main" id="{72C9C36F-7555-4437-95D2-DB3A16B15029}"/>
              </a:ext>
            </a:extLst>
          </p:cNvPr>
          <p:cNvSpPr>
            <a:spLocks noGrp="1"/>
          </p:cNvSpPr>
          <p:nvPr/>
        </p:nvSpPr>
        <p:spPr>
          <a:xfrm>
            <a:off x="1028700" y="3133725"/>
            <a:ext cx="4610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Qué significa</a:t>
            </a:r>
          </a:p>
        </p:txBody>
      </p:sp>
      <p:sp>
        <p:nvSpPr>
          <p:cNvPr id="8" name="equation-meaning-body">
            <a:extLst>
              <a:ext uri="{FF2B5EF4-FFF2-40B4-BE49-F238E27FC236}">
                <a16:creationId xmlns:a16="http://schemas.microsoft.com/office/drawing/2014/main" id="{A8DE3E61-E0F9-43E9-89C8-80C3F80DC8BB}"/>
              </a:ext>
            </a:extLst>
          </p:cNvPr>
          <p:cNvSpPr>
            <a:spLocks noGrp="1"/>
          </p:cNvSpPr>
          <p:nvPr/>
        </p:nvSpPr>
        <p:spPr>
          <a:xfrm>
            <a:off x="1028700" y="3514725"/>
            <a:ext cx="4610100" cy="1733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T=t_2−t_1; p_X en Pa; p_ref=20 µPa en aire; resultado en dB.</a:t>
            </a:r>
          </a:p>
        </p:txBody>
      </p:sp>
      <p:sp>
        <p:nvSpPr>
          <p:cNvPr id="9" name="equation-use-box">
            <a:extLst>
              <a:ext uri="{FF2B5EF4-FFF2-40B4-BE49-F238E27FC236}">
                <a16:creationId xmlns:a16="http://schemas.microsoft.com/office/drawing/2014/main" id="{7FEF45BF-0439-4A94-92B5-4D713F91E2B3}"/>
              </a:ext>
            </a:extLst>
          </p:cNvPr>
          <p:cNvSpPr>
            <a:spLocks noGrp="1"/>
          </p:cNvSpPr>
          <p:nvPr/>
        </p:nvSpPr>
        <p:spPr>
          <a:xfrm>
            <a:off x="6381750" y="3000375"/>
            <a:ext cx="4953000" cy="2381250"/>
          </a:xfrm>
          <a:prstGeom prst="roundRect">
            <a:avLst>
              <a:gd name="adj" fmla="val 5600"/>
            </a:avLst>
          </a:prstGeom>
          <a:solidFill>
            <a:srgbClr val="E3F2ED"/>
          </a:solidFill>
          <a:ln w="19050">
            <a:solidFill>
              <a:srgbClr val="2D7867"/>
            </a:solidFill>
            <a:prstDash val="solid"/>
          </a:ln>
        </p:spPr>
      </p:sp>
      <p:sp>
        <p:nvSpPr>
          <p:cNvPr id="10" name="equation-use-title">
            <a:extLst>
              <a:ext uri="{FF2B5EF4-FFF2-40B4-BE49-F238E27FC236}">
                <a16:creationId xmlns:a16="http://schemas.microsoft.com/office/drawing/2014/main" id="{A6F2EFE9-0F10-4BCF-BA4E-766247F79353}"/>
              </a:ext>
            </a:extLst>
          </p:cNvPr>
          <p:cNvSpPr>
            <a:spLocks noGrp="1"/>
          </p:cNvSpPr>
          <p:nvPr/>
        </p:nvSpPr>
        <p:spPr>
          <a:xfrm>
            <a:off x="6553200" y="3133725"/>
            <a:ext cx="4610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Cómo se usa</a:t>
            </a:r>
          </a:p>
        </p:txBody>
      </p:sp>
      <p:sp>
        <p:nvSpPr>
          <p:cNvPr id="11" name="equation-use-body">
            <a:extLst>
              <a:ext uri="{FF2B5EF4-FFF2-40B4-BE49-F238E27FC236}">
                <a16:creationId xmlns:a16="http://schemas.microsoft.com/office/drawing/2014/main" id="{E62D38A1-CF97-41A7-B214-A8D91E01D9EA}"/>
              </a:ext>
            </a:extLst>
          </p:cNvPr>
          <p:cNvSpPr>
            <a:spLocks noGrp="1"/>
          </p:cNvSpPr>
          <p:nvPr/>
        </p:nvSpPr>
        <p:spPr>
          <a:xfrm>
            <a:off x="6553200" y="3514725"/>
            <a:ext cx="4610100" cy="1733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vínculo con U05-121.</a:t>
            </a:r>
          </a:p>
        </p:txBody>
      </p:sp>
      <p:sp>
        <p:nvSpPr>
          <p:cNvPr id="12" name="caption">
            <a:extLst>
              <a:ext uri="{FF2B5EF4-FFF2-40B4-BE49-F238E27FC236}">
                <a16:creationId xmlns:a16="http://schemas.microsoft.com/office/drawing/2014/main" id="{F96B7599-D921-4E16-9BDC-D9BEAC6E4085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876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La integral expresa la misma idea física que el promedio discreto.</a:t>
            </a:r>
          </a:p>
        </p:txBody>
      </p:sp>
      <p:sp>
        <p:nvSpPr>
          <p:cNvPr id="13" name="credit">
            <a:extLst>
              <a:ext uri="{FF2B5EF4-FFF2-40B4-BE49-F238E27FC236}">
                <a16:creationId xmlns:a16="http://schemas.microsoft.com/office/drawing/2014/main" id="{0578A739-05F1-4335-A43C-D934AFAEF4D4}"/>
              </a:ext>
            </a:extLst>
          </p:cNvPr>
          <p:cNvSpPr>
            <a:spLocks noGrp="1"/>
          </p:cNvSpPr>
          <p:nvPr/>
        </p:nvSpPr>
        <p:spPr>
          <a:xfrm>
            <a:off x="9382125" y="60769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5.11.1, ec. 5.21; NOT.</a:t>
            </a:r>
          </a:p>
        </p:txBody>
      </p:sp>
      <p:sp>
        <p:nvSpPr>
          <p:cNvPr id="15" name="slide-alt-summary" descr="Ecuación integral con callouts para intervalo, presión ponderada y referencia.">
            <a:extLst>
              <a:ext uri="{FF2B5EF4-FFF2-40B4-BE49-F238E27FC236}">
                <a16:creationId xmlns:a16="http://schemas.microsoft.com/office/drawing/2014/main" id="{7FB4F5E7-EF51-930A-BCF3-5364CE23B804}"/>
              </a:ext>
            </a:extLst>
          </p:cNvPr>
          <p:cNvSpPr/>
          <p:nvPr/>
        </p:nvSpPr>
        <p:spPr>
          <a:xfrm>
            <a:off x="12700" y="12700"/>
            <a:ext cx="12700" cy="12700"/>
          </a:xfrm>
          <a:prstGeom prst="rect">
            <a:avLst/>
          </a:prstGeom>
          <a:noFill/>
          <a:ln w="19050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yebrow">
            <a:extLst>
              <a:ext uri="{FF2B5EF4-FFF2-40B4-BE49-F238E27FC236}">
                <a16:creationId xmlns:a16="http://schemas.microsoft.com/office/drawing/2014/main" id="{66DF7F67-739A-45AC-BBC1-C0EB64676084}"/>
              </a:ext>
            </a:extLst>
          </p:cNvPr>
          <p:cNvSpPr>
            <a:spLocks noGrp="1"/>
          </p:cNvSpPr>
          <p:nvPr/>
        </p:nvSpPr>
        <p:spPr>
          <a:xfrm>
            <a:off x="514350" y="2095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147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56474458-4291-43E9-A536-BF7C8A7C36FE}"/>
              </a:ext>
            </a:extLst>
          </p:cNvPr>
          <p:cNvSpPr>
            <a:spLocks noGrp="1"/>
          </p:cNvSpPr>
          <p:nvPr/>
        </p:nvSpPr>
        <p:spPr>
          <a:xfrm>
            <a:off x="495300" y="428625"/>
            <a:ext cx="11191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Fast, Slow, máximo y pico: referencias de diseño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C907FE3C-5544-452F-9AE8-3D8C7B7F9854}"/>
              </a:ext>
            </a:extLst>
          </p:cNvPr>
          <p:cNvSpPr>
            <a:spLocks noGrp="1"/>
          </p:cNvSpPr>
          <p:nvPr/>
        </p:nvSpPr>
        <p:spPr>
          <a:xfrm>
            <a:off x="523875" y="971550"/>
            <a:ext cx="11001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Constantes orientativas no demuestran conformidad.</a:t>
            </a:r>
          </a:p>
        </p:txBody>
      </p:sp>
      <p:sp>
        <p:nvSpPr>
          <p:cNvPr id="4" name="main-ideas">
            <a:extLst>
              <a:ext uri="{FF2B5EF4-FFF2-40B4-BE49-F238E27FC236}">
                <a16:creationId xmlns:a16="http://schemas.microsoft.com/office/drawing/2014/main" id="{5147502C-4957-4401-A595-A2CAA9711254}"/>
              </a:ext>
            </a:extLst>
          </p:cNvPr>
          <p:cNvSpPr>
            <a:spLocks noGrp="1"/>
          </p:cNvSpPr>
          <p:nvPr/>
        </p:nvSpPr>
        <p:spPr>
          <a:xfrm>
            <a:off x="666750" y="1476375"/>
            <a:ext cx="6762750" cy="3857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76200" rIns="76200" bIns="76200">
            <a:noAutofit/>
          </a:bodyPr>
          <a:lstStyle/>
          <a:p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Fast: 0,125 s.</a:t>
            </a:r>
          </a:p>
          <a:p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Slow: 1 s.</a:t>
            </a:r>
          </a:p>
          <a:p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L_XYmax: máximo con respuesta temporal Y.</a:t>
            </a:r>
          </a:p>
          <a:p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Pico: detector diferente.</a:t>
            </a:r>
          </a:p>
          <a:p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Edición normativa obligatoria.</a:t>
            </a:r>
          </a:p>
        </p:txBody>
      </p:sp>
      <p:sp>
        <p:nvSpPr>
          <p:cNvPr id="5" name="side-panel-box">
            <a:extLst>
              <a:ext uri="{FF2B5EF4-FFF2-40B4-BE49-F238E27FC236}">
                <a16:creationId xmlns:a16="http://schemas.microsoft.com/office/drawing/2014/main" id="{4661B7DB-BAB4-4FB5-9C7F-6EE7CE5FA971}"/>
              </a:ext>
            </a:extLst>
          </p:cNvPr>
          <p:cNvSpPr>
            <a:spLocks noGrp="1"/>
          </p:cNvSpPr>
          <p:nvPr/>
        </p:nvSpPr>
        <p:spPr>
          <a:xfrm>
            <a:off x="7953375" y="1571625"/>
            <a:ext cx="3476625" cy="3381375"/>
          </a:xfrm>
          <a:prstGeom prst="roundRect">
            <a:avLst>
              <a:gd name="adj" fmla="val 3944"/>
            </a:avLst>
          </a:prstGeom>
          <a:solidFill>
            <a:srgbClr val="DDEFF5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6" name="side-panel-title">
            <a:extLst>
              <a:ext uri="{FF2B5EF4-FFF2-40B4-BE49-F238E27FC236}">
                <a16:creationId xmlns:a16="http://schemas.microsoft.com/office/drawing/2014/main" id="{E5E34B64-762C-4529-837E-31539863AF45}"/>
              </a:ext>
            </a:extLst>
          </p:cNvPr>
          <p:cNvSpPr>
            <a:spLocks noGrp="1"/>
          </p:cNvSpPr>
          <p:nvPr/>
        </p:nvSpPr>
        <p:spPr>
          <a:xfrm>
            <a:off x="8124825" y="1704975"/>
            <a:ext cx="31337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Definición</a:t>
            </a:r>
          </a:p>
        </p:txBody>
      </p:sp>
      <p:sp>
        <p:nvSpPr>
          <p:cNvPr id="7" name="side-panel-body">
            <a:extLst>
              <a:ext uri="{FF2B5EF4-FFF2-40B4-BE49-F238E27FC236}">
                <a16:creationId xmlns:a16="http://schemas.microsoft.com/office/drawing/2014/main" id="{037F3231-5CCF-47B0-9A12-14B0AAB3DA72}"/>
              </a:ext>
            </a:extLst>
          </p:cNvPr>
          <p:cNvSpPr>
            <a:spLocks noGrp="1"/>
          </p:cNvSpPr>
          <p:nvPr/>
        </p:nvSpPr>
        <p:spPr>
          <a:xfrm>
            <a:off x="8124825" y="2085975"/>
            <a:ext cx="3133725" cy="2733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F y S son respuestas temporales normalizadas.</a:t>
            </a:r>
          </a:p>
        </p:txBody>
      </p:sp>
      <p:sp>
        <p:nvSpPr>
          <p:cNvPr id="8" name="example-line">
            <a:extLst>
              <a:ext uri="{FF2B5EF4-FFF2-40B4-BE49-F238E27FC236}">
                <a16:creationId xmlns:a16="http://schemas.microsoft.com/office/drawing/2014/main" id="{01435F40-2199-46F5-8E20-09148E79BBFB}"/>
              </a:ext>
            </a:extLst>
          </p:cNvPr>
          <p:cNvSpPr>
            <a:spLocks noGrp="1"/>
          </p:cNvSpPr>
          <p:nvPr/>
        </p:nvSpPr>
        <p:spPr>
          <a:xfrm>
            <a:off x="8096250" y="5095875"/>
            <a:ext cx="3143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Ejemplo: interpretar L_AFmax y L_Cpeak como descriptores distintos.</a:t>
            </a:r>
          </a:p>
        </p:txBody>
      </p:sp>
      <p:sp>
        <p:nvSpPr>
          <p:cNvPr id="9" name="caption">
            <a:extLst>
              <a:ext uri="{FF2B5EF4-FFF2-40B4-BE49-F238E27FC236}">
                <a16:creationId xmlns:a16="http://schemas.microsoft.com/office/drawing/2014/main" id="{982D0EF5-0474-4715-8C0E-A570DF28764E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876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Detalle técnico de respaldo; no es protocolo de ensayo.</a:t>
            </a:r>
          </a:p>
        </p:txBody>
      </p:sp>
      <p:sp>
        <p:nvSpPr>
          <p:cNvPr id="10" name="credit">
            <a:extLst>
              <a:ext uri="{FF2B5EF4-FFF2-40B4-BE49-F238E27FC236}">
                <a16:creationId xmlns:a16="http://schemas.microsoft.com/office/drawing/2014/main" id="{97A84165-BCF2-4269-AF8A-ED788F517A13}"/>
              </a:ext>
            </a:extLst>
          </p:cNvPr>
          <p:cNvSpPr>
            <a:spLocks noGrp="1"/>
          </p:cNvSpPr>
          <p:nvPr/>
        </p:nvSpPr>
        <p:spPr>
          <a:xfrm>
            <a:off x="9382125" y="60769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5.11.2; IEC 61672-1/2.</a:t>
            </a:r>
          </a:p>
        </p:txBody>
      </p:sp>
      <p:sp>
        <p:nvSpPr>
          <p:cNvPr id="12" name="slide-alt-summary" descr="Tabla compara Fast, Slow, máximo y pico por función y notación.">
            <a:extLst>
              <a:ext uri="{FF2B5EF4-FFF2-40B4-BE49-F238E27FC236}">
                <a16:creationId xmlns:a16="http://schemas.microsoft.com/office/drawing/2014/main" id="{4979DF6C-0DC4-6AE6-8CEB-5B99C4D10BEF}"/>
              </a:ext>
            </a:extLst>
          </p:cNvPr>
          <p:cNvSpPr/>
          <p:nvPr/>
        </p:nvSpPr>
        <p:spPr>
          <a:xfrm>
            <a:off x="12700" y="12700"/>
            <a:ext cx="12700" cy="12700"/>
          </a:xfrm>
          <a:prstGeom prst="rect">
            <a:avLst/>
          </a:prstGeom>
          <a:noFill/>
          <a:ln w="19050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yebrow">
            <a:extLst>
              <a:ext uri="{FF2B5EF4-FFF2-40B4-BE49-F238E27FC236}">
                <a16:creationId xmlns:a16="http://schemas.microsoft.com/office/drawing/2014/main" id="{DE6F9144-D2AB-4714-B95B-24E08309E2AA}"/>
              </a:ext>
            </a:extLst>
          </p:cNvPr>
          <p:cNvSpPr>
            <a:spLocks noGrp="1"/>
          </p:cNvSpPr>
          <p:nvPr/>
        </p:nvSpPr>
        <p:spPr>
          <a:xfrm>
            <a:off x="514350" y="2095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148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C01ACA61-22EE-4E47-A01B-DE78DFE1D25E}"/>
              </a:ext>
            </a:extLst>
          </p:cNvPr>
          <p:cNvSpPr>
            <a:spLocks noGrp="1"/>
          </p:cNvSpPr>
          <p:nvPr/>
        </p:nvSpPr>
        <p:spPr>
          <a:xfrm>
            <a:off x="495300" y="428625"/>
            <a:ext cx="11191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Evaluación de modelo, ensayo periódico y comprobación de campo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9E466492-95E0-4EBE-BF66-C4643F56F4A4}"/>
              </a:ext>
            </a:extLst>
          </p:cNvPr>
          <p:cNvSpPr>
            <a:spLocks noGrp="1"/>
          </p:cNvSpPr>
          <p:nvPr/>
        </p:nvSpPr>
        <p:spPr>
          <a:xfrm>
            <a:off x="523875" y="971550"/>
            <a:ext cx="11001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Tres procedimientos, tres alcances documentales.</a:t>
            </a:r>
          </a:p>
        </p:txBody>
      </p:sp>
      <p:sp>
        <p:nvSpPr>
          <p:cNvPr id="4" name="main-ideas">
            <a:extLst>
              <a:ext uri="{FF2B5EF4-FFF2-40B4-BE49-F238E27FC236}">
                <a16:creationId xmlns:a16="http://schemas.microsoft.com/office/drawing/2014/main" id="{654A7F5F-22C1-4381-A1B1-2A0ED0BF7750}"/>
              </a:ext>
            </a:extLst>
          </p:cNvPr>
          <p:cNvSpPr>
            <a:spLocks noGrp="1"/>
          </p:cNvSpPr>
          <p:nvPr/>
        </p:nvSpPr>
        <p:spPr>
          <a:xfrm>
            <a:off x="666750" y="1476375"/>
            <a:ext cx="6762750" cy="3857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76200" rIns="76200" bIns="76200">
            <a:noAutofit/>
          </a:bodyPr>
          <a:lstStyle/>
          <a:p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Evaluación de modelo: diseño.</a:t>
            </a:r>
          </a:p>
          <a:p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Ensayo periódico: desempeño del instrumento.</a:t>
            </a:r>
          </a:p>
          <a:p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Comprobación de campo: condición antes/después del uso.</a:t>
            </a:r>
          </a:p>
          <a:p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No llamarlos a todos “calibración”.</a:t>
            </a:r>
          </a:p>
        </p:txBody>
      </p:sp>
      <p:sp>
        <p:nvSpPr>
          <p:cNvPr id="5" name="side-panel-box">
            <a:extLst>
              <a:ext uri="{FF2B5EF4-FFF2-40B4-BE49-F238E27FC236}">
                <a16:creationId xmlns:a16="http://schemas.microsoft.com/office/drawing/2014/main" id="{CBDAB811-0AE9-456F-B647-B09357911D27}"/>
              </a:ext>
            </a:extLst>
          </p:cNvPr>
          <p:cNvSpPr>
            <a:spLocks noGrp="1"/>
          </p:cNvSpPr>
          <p:nvPr/>
        </p:nvSpPr>
        <p:spPr>
          <a:xfrm>
            <a:off x="7953375" y="1571625"/>
            <a:ext cx="3476625" cy="3381375"/>
          </a:xfrm>
          <a:prstGeom prst="roundRect">
            <a:avLst>
              <a:gd name="adj" fmla="val 3944"/>
            </a:avLst>
          </a:prstGeom>
          <a:solidFill>
            <a:srgbClr val="DDEFF5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6" name="side-panel-title">
            <a:extLst>
              <a:ext uri="{FF2B5EF4-FFF2-40B4-BE49-F238E27FC236}">
                <a16:creationId xmlns:a16="http://schemas.microsoft.com/office/drawing/2014/main" id="{542C65D8-B7F7-4A18-BF54-683D1E02CB31}"/>
              </a:ext>
            </a:extLst>
          </p:cNvPr>
          <p:cNvSpPr>
            <a:spLocks noGrp="1"/>
          </p:cNvSpPr>
          <p:nvPr/>
        </p:nvSpPr>
        <p:spPr>
          <a:xfrm>
            <a:off x="8124825" y="1704975"/>
            <a:ext cx="31337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Definición</a:t>
            </a:r>
          </a:p>
        </p:txBody>
      </p:sp>
      <p:sp>
        <p:nvSpPr>
          <p:cNvPr id="7" name="side-panel-body">
            <a:extLst>
              <a:ext uri="{FF2B5EF4-FFF2-40B4-BE49-F238E27FC236}">
                <a16:creationId xmlns:a16="http://schemas.microsoft.com/office/drawing/2014/main" id="{03DFB299-EE28-4AB8-9C2F-0DA7C35E0515}"/>
              </a:ext>
            </a:extLst>
          </p:cNvPr>
          <p:cNvSpPr>
            <a:spLocks noGrp="1"/>
          </p:cNvSpPr>
          <p:nvPr/>
        </p:nvSpPr>
        <p:spPr>
          <a:xfrm>
            <a:off x="8124825" y="2085975"/>
            <a:ext cx="3133725" cy="2733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propósito, actor, momento y evidencia.</a:t>
            </a:r>
          </a:p>
        </p:txBody>
      </p:sp>
      <p:sp>
        <p:nvSpPr>
          <p:cNvPr id="8" name="example-line">
            <a:extLst>
              <a:ext uri="{FF2B5EF4-FFF2-40B4-BE49-F238E27FC236}">
                <a16:creationId xmlns:a16="http://schemas.microsoft.com/office/drawing/2014/main" id="{BB5353BE-8DA9-40D7-A461-4FDE9F0C00F2}"/>
              </a:ext>
            </a:extLst>
          </p:cNvPr>
          <p:cNvSpPr>
            <a:spLocks noGrp="1"/>
          </p:cNvSpPr>
          <p:nvPr/>
        </p:nvSpPr>
        <p:spPr>
          <a:xfrm>
            <a:off x="8096250" y="5095875"/>
            <a:ext cx="3143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Ejemplo: comparación conceptual, no protocolo operativo.</a:t>
            </a:r>
          </a:p>
        </p:txBody>
      </p:sp>
      <p:sp>
        <p:nvSpPr>
          <p:cNvPr id="9" name="caption">
            <a:extLst>
              <a:ext uri="{FF2B5EF4-FFF2-40B4-BE49-F238E27FC236}">
                <a16:creationId xmlns:a16="http://schemas.microsoft.com/office/drawing/2014/main" id="{F59EA764-BB9A-4F0E-8CE9-843DC4ECB86A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876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El nombre del procedimiento delimita qué puede concluirse.</a:t>
            </a:r>
          </a:p>
        </p:txBody>
      </p:sp>
      <p:sp>
        <p:nvSpPr>
          <p:cNvPr id="10" name="credit">
            <a:extLst>
              <a:ext uri="{FF2B5EF4-FFF2-40B4-BE49-F238E27FC236}">
                <a16:creationId xmlns:a16="http://schemas.microsoft.com/office/drawing/2014/main" id="{A7EEAD1D-93DC-4A53-924D-7EA9D82B765B}"/>
              </a:ext>
            </a:extLst>
          </p:cNvPr>
          <p:cNvSpPr>
            <a:spLocks noGrp="1"/>
          </p:cNvSpPr>
          <p:nvPr/>
        </p:nvSpPr>
        <p:spPr>
          <a:xfrm>
            <a:off x="9382125" y="60769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5.11.3; IEC 61672-2/3.</a:t>
            </a:r>
          </a:p>
        </p:txBody>
      </p:sp>
      <p:sp>
        <p:nvSpPr>
          <p:cNvPr id="12" name="slide-alt-summary" descr="Tres columnas comparan evaluación de modelo, ensayo periódico y comprobación de campo.">
            <a:extLst>
              <a:ext uri="{FF2B5EF4-FFF2-40B4-BE49-F238E27FC236}">
                <a16:creationId xmlns:a16="http://schemas.microsoft.com/office/drawing/2014/main" id="{0DFC53DC-A2E5-37F0-6B35-A5DF20886212}"/>
              </a:ext>
            </a:extLst>
          </p:cNvPr>
          <p:cNvSpPr/>
          <p:nvPr/>
        </p:nvSpPr>
        <p:spPr>
          <a:xfrm>
            <a:off x="12700" y="12700"/>
            <a:ext cx="12700" cy="12700"/>
          </a:xfrm>
          <a:prstGeom prst="rect">
            <a:avLst/>
          </a:prstGeom>
          <a:noFill/>
          <a:ln w="19050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yebrow">
            <a:extLst>
              <a:ext uri="{FF2B5EF4-FFF2-40B4-BE49-F238E27FC236}">
                <a16:creationId xmlns:a16="http://schemas.microsoft.com/office/drawing/2014/main" id="{A0D390F3-6875-45E9-8BA5-B22F93FD173E}"/>
              </a:ext>
            </a:extLst>
          </p:cNvPr>
          <p:cNvSpPr>
            <a:spLocks noGrp="1"/>
          </p:cNvSpPr>
          <p:nvPr/>
        </p:nvSpPr>
        <p:spPr>
          <a:xfrm>
            <a:off x="514350" y="2095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149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18E0B099-9F08-4A8A-A32B-61DB0133E9E6}"/>
              </a:ext>
            </a:extLst>
          </p:cNvPr>
          <p:cNvSpPr>
            <a:spLocks noGrp="1"/>
          </p:cNvSpPr>
          <p:nvPr/>
        </p:nvSpPr>
        <p:spPr>
          <a:xfrm>
            <a:off x="495300" y="428625"/>
            <a:ext cx="11191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Solución completa del caso integrador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4113F93B-5383-478F-812A-636F11B7FA67}"/>
              </a:ext>
            </a:extLst>
          </p:cNvPr>
          <p:cNvSpPr>
            <a:spLocks noGrp="1"/>
          </p:cNvSpPr>
          <p:nvPr/>
        </p:nvSpPr>
        <p:spPr>
          <a:xfrm>
            <a:off x="523875" y="971550"/>
            <a:ext cx="11001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Cada cálculo se asigna primero a señal o sistema.</a:t>
            </a:r>
          </a:p>
        </p:txBody>
      </p:sp>
      <p:sp>
        <p:nvSpPr>
          <p:cNvPr id="4" name="U05-DG-015-solution_classify">
            <a:extLst>
              <a:ext uri="{FF2B5EF4-FFF2-40B4-BE49-F238E27FC236}">
                <a16:creationId xmlns:a16="http://schemas.microsoft.com/office/drawing/2014/main" id="{4E952B89-12D1-4C57-ABAC-5D6CC79D0715}"/>
              </a:ext>
            </a:extLst>
          </p:cNvPr>
          <p:cNvSpPr>
            <a:spLocks noGrp="1"/>
          </p:cNvSpPr>
          <p:nvPr/>
        </p:nvSpPr>
        <p:spPr>
          <a:xfrm>
            <a:off x="714375" y="2238375"/>
            <a:ext cx="2524125" cy="1571625"/>
          </a:xfrm>
          <a:prstGeom prst="roundRect">
            <a:avLst>
              <a:gd name="adj" fmla="val 8485"/>
            </a:avLst>
          </a:prstGeom>
          <a:solidFill>
            <a:srgbClr val="EFF8FA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5" name="U05-DG-015-solution_classify-title">
            <a:extLst>
              <a:ext uri="{FF2B5EF4-FFF2-40B4-BE49-F238E27FC236}">
                <a16:creationId xmlns:a16="http://schemas.microsoft.com/office/drawing/2014/main" id="{0C184D9E-953D-411C-B23A-FB9240B04CE2}"/>
              </a:ext>
            </a:extLst>
          </p:cNvPr>
          <p:cNvSpPr>
            <a:spLocks noGrp="1"/>
          </p:cNvSpPr>
          <p:nvPr/>
        </p:nvSpPr>
        <p:spPr>
          <a:xfrm>
            <a:off x="885825" y="2362200"/>
            <a:ext cx="218122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1 · Objeto</a:t>
            </a:r>
          </a:p>
        </p:txBody>
      </p:sp>
      <p:sp>
        <p:nvSpPr>
          <p:cNvPr id="6" name="U05-DG-015-solution_classify-body">
            <a:extLst>
              <a:ext uri="{FF2B5EF4-FFF2-40B4-BE49-F238E27FC236}">
                <a16:creationId xmlns:a16="http://schemas.microsoft.com/office/drawing/2014/main" id="{1803038F-CAC5-401D-BBD9-0CC02D6AC4D1}"/>
              </a:ext>
            </a:extLst>
          </p:cNvPr>
          <p:cNvSpPr>
            <a:spLocks noGrp="1"/>
          </p:cNvSpPr>
          <p:nvPr/>
        </p:nvSpPr>
        <p:spPr>
          <a:xfrm>
            <a:off x="885825" y="2790825"/>
            <a:ext cx="2181225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señal · sistema medición</a:t>
            </a:r>
          </a:p>
        </p:txBody>
      </p:sp>
      <p:sp>
        <p:nvSpPr>
          <p:cNvPr id="7" name="U05-DG-015-solution_compute">
            <a:extLst>
              <a:ext uri="{FF2B5EF4-FFF2-40B4-BE49-F238E27FC236}">
                <a16:creationId xmlns:a16="http://schemas.microsoft.com/office/drawing/2014/main" id="{270460D5-35EC-4C51-891B-D2485746B5D9}"/>
              </a:ext>
            </a:extLst>
          </p:cNvPr>
          <p:cNvSpPr>
            <a:spLocks noGrp="1"/>
          </p:cNvSpPr>
          <p:nvPr/>
        </p:nvSpPr>
        <p:spPr>
          <a:xfrm>
            <a:off x="3429000" y="2238375"/>
            <a:ext cx="2524125" cy="1571625"/>
          </a:xfrm>
          <a:prstGeom prst="roundRect">
            <a:avLst>
              <a:gd name="adj" fmla="val 8485"/>
            </a:avLst>
          </a:prstGeom>
          <a:solidFill>
            <a:srgbClr val="DDEFF5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8" name="U05-DG-015-solution_compute-title">
            <a:extLst>
              <a:ext uri="{FF2B5EF4-FFF2-40B4-BE49-F238E27FC236}">
                <a16:creationId xmlns:a16="http://schemas.microsoft.com/office/drawing/2014/main" id="{230ED972-961E-4437-92D1-E3351875C715}"/>
              </a:ext>
            </a:extLst>
          </p:cNvPr>
          <p:cNvSpPr>
            <a:spLocks noGrp="1"/>
          </p:cNvSpPr>
          <p:nvPr/>
        </p:nvSpPr>
        <p:spPr>
          <a:xfrm>
            <a:off x="3600450" y="2362200"/>
            <a:ext cx="218122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2 · Cálculo</a:t>
            </a:r>
          </a:p>
        </p:txBody>
      </p:sp>
      <p:sp>
        <p:nvSpPr>
          <p:cNvPr id="9" name="U05-DG-015-solution_compute-body">
            <a:extLst>
              <a:ext uri="{FF2B5EF4-FFF2-40B4-BE49-F238E27FC236}">
                <a16:creationId xmlns:a16="http://schemas.microsoft.com/office/drawing/2014/main" id="{9ADCF483-5EC2-4F95-87D4-7FF0F6265668}"/>
              </a:ext>
            </a:extLst>
          </p:cNvPr>
          <p:cNvSpPr>
            <a:spLocks noGrp="1"/>
          </p:cNvSpPr>
          <p:nvPr/>
        </p:nvSpPr>
        <p:spPr>
          <a:xfrm>
            <a:off x="3600450" y="2790825"/>
            <a:ext cx="2181225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T_obs · Δf · H · G</a:t>
            </a:r>
          </a:p>
        </p:txBody>
      </p:sp>
      <p:sp>
        <p:nvSpPr>
          <p:cNvPr id="10" name="U05-DG-015-solution_interpret">
            <a:extLst>
              <a:ext uri="{FF2B5EF4-FFF2-40B4-BE49-F238E27FC236}">
                <a16:creationId xmlns:a16="http://schemas.microsoft.com/office/drawing/2014/main" id="{209DF687-56D9-4C2F-A52B-F0362991ADF3}"/>
              </a:ext>
            </a:extLst>
          </p:cNvPr>
          <p:cNvSpPr>
            <a:spLocks noGrp="1"/>
          </p:cNvSpPr>
          <p:nvPr/>
        </p:nvSpPr>
        <p:spPr>
          <a:xfrm>
            <a:off x="6143625" y="2238375"/>
            <a:ext cx="2524125" cy="1571625"/>
          </a:xfrm>
          <a:prstGeom prst="roundRect">
            <a:avLst>
              <a:gd name="adj" fmla="val 8485"/>
            </a:avLst>
          </a:prstGeom>
          <a:solidFill>
            <a:srgbClr val="F3F6F8"/>
          </a:solidFill>
          <a:ln w="19050">
            <a:solidFill>
              <a:srgbClr val="8291A3"/>
            </a:solidFill>
            <a:prstDash val="solid"/>
          </a:ln>
        </p:spPr>
      </p:sp>
      <p:sp>
        <p:nvSpPr>
          <p:cNvPr id="11" name="U05-DG-015-solution_interpret-title">
            <a:extLst>
              <a:ext uri="{FF2B5EF4-FFF2-40B4-BE49-F238E27FC236}">
                <a16:creationId xmlns:a16="http://schemas.microsoft.com/office/drawing/2014/main" id="{48C895E1-E1DD-45CB-8ED7-2E742334F3FD}"/>
              </a:ext>
            </a:extLst>
          </p:cNvPr>
          <p:cNvSpPr>
            <a:spLocks noGrp="1"/>
          </p:cNvSpPr>
          <p:nvPr/>
        </p:nvSpPr>
        <p:spPr>
          <a:xfrm>
            <a:off x="6315075" y="2362200"/>
            <a:ext cx="218122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3 · Lectura</a:t>
            </a:r>
          </a:p>
        </p:txBody>
      </p:sp>
      <p:sp>
        <p:nvSpPr>
          <p:cNvPr id="12" name="U05-DG-015-solution_interpret-body">
            <a:extLst>
              <a:ext uri="{FF2B5EF4-FFF2-40B4-BE49-F238E27FC236}">
                <a16:creationId xmlns:a16="http://schemas.microsoft.com/office/drawing/2014/main" id="{6550787A-03CA-4F09-BD5A-7584D1214286}"/>
              </a:ext>
            </a:extLst>
          </p:cNvPr>
          <p:cNvSpPr>
            <a:spLocks noGrp="1"/>
          </p:cNvSpPr>
          <p:nvPr/>
        </p:nvSpPr>
        <p:spPr>
          <a:xfrm>
            <a:off x="6315075" y="2790825"/>
            <a:ext cx="2181225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armónicos envolvente</a:t>
            </a:r>
          </a:p>
        </p:txBody>
      </p:sp>
      <p:sp>
        <p:nvSpPr>
          <p:cNvPr id="13" name="U05-DG-015-solution_conditions">
            <a:extLst>
              <a:ext uri="{FF2B5EF4-FFF2-40B4-BE49-F238E27FC236}">
                <a16:creationId xmlns:a16="http://schemas.microsoft.com/office/drawing/2014/main" id="{55D01A4D-B6AF-4544-9705-2C7C86BAD570}"/>
              </a:ext>
            </a:extLst>
          </p:cNvPr>
          <p:cNvSpPr>
            <a:spLocks noGrp="1"/>
          </p:cNvSpPr>
          <p:nvPr/>
        </p:nvSpPr>
        <p:spPr>
          <a:xfrm>
            <a:off x="8858250" y="2238375"/>
            <a:ext cx="2524125" cy="1571625"/>
          </a:xfrm>
          <a:prstGeom prst="roundRect">
            <a:avLst>
              <a:gd name="adj" fmla="val 8485"/>
            </a:avLst>
          </a:prstGeom>
          <a:solidFill>
            <a:srgbClr val="E3F2ED"/>
          </a:solidFill>
          <a:ln w="19050">
            <a:solidFill>
              <a:srgbClr val="2D7867"/>
            </a:solidFill>
            <a:prstDash val="solid"/>
          </a:ln>
        </p:spPr>
      </p:sp>
      <p:sp>
        <p:nvSpPr>
          <p:cNvPr id="14" name="U05-DG-015-solution_conditions-title">
            <a:extLst>
              <a:ext uri="{FF2B5EF4-FFF2-40B4-BE49-F238E27FC236}">
                <a16:creationId xmlns:a16="http://schemas.microsoft.com/office/drawing/2014/main" id="{C9040672-168E-4221-A6DB-63262C4124A3}"/>
              </a:ext>
            </a:extLst>
          </p:cNvPr>
          <p:cNvSpPr>
            <a:spLocks noGrp="1"/>
          </p:cNvSpPr>
          <p:nvPr/>
        </p:nvSpPr>
        <p:spPr>
          <a:xfrm>
            <a:off x="9029700" y="2362200"/>
            <a:ext cx="218122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2400" b="1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4 · Declarar</a:t>
            </a:r>
          </a:p>
        </p:txBody>
      </p:sp>
      <p:sp>
        <p:nvSpPr>
          <p:cNvPr id="15" name="U05-DG-015-solution_conditions-body">
            <a:extLst>
              <a:ext uri="{FF2B5EF4-FFF2-40B4-BE49-F238E27FC236}">
                <a16:creationId xmlns:a16="http://schemas.microsoft.com/office/drawing/2014/main" id="{897FEE49-1273-4692-AA0C-ED8F76D00733}"/>
              </a:ext>
            </a:extLst>
          </p:cNvPr>
          <p:cNvSpPr>
            <a:spLocks noGrp="1"/>
          </p:cNvSpPr>
          <p:nvPr/>
        </p:nvSpPr>
        <p:spPr>
          <a:xfrm>
            <a:off x="9029700" y="2790825"/>
            <a:ext cx="2181225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2000"/>
              </a:lnSpc>
              <a:buNone/>
              <a:def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método unidad · límite</a:t>
            </a:r>
          </a:p>
        </p:txBody>
      </p:sp>
      <p:cxnSp>
        <p:nvCxnSpPr>
          <p:cNvPr id="37" name="U05-DG-015-solution_1"/>
          <p:cNvCxnSpPr>
            <a:stCxn id="4" idx="3"/>
            <a:endCxn id="7" idx="1"/>
          </p:cNvCxnSpPr>
          <p:nvPr/>
        </p:nvCxnSpPr>
        <p:spPr>
          <a:xfrm>
            <a:off x="3238500" y="3024188"/>
            <a:ext cx="190500" cy="0"/>
          </a:xfrm>
          <a:prstGeom prst="straightConnector1">
            <a:avLst/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cxnSp>
        <p:nvCxnSpPr>
          <p:cNvPr id="38" name="U05-DG-015-solution_2"/>
          <p:cNvCxnSpPr>
            <a:stCxn id="7" idx="3"/>
            <a:endCxn id="10" idx="1"/>
          </p:cNvCxnSpPr>
          <p:nvPr/>
        </p:nvCxnSpPr>
        <p:spPr>
          <a:xfrm>
            <a:off x="5953125" y="3024188"/>
            <a:ext cx="190500" cy="0"/>
          </a:xfrm>
          <a:prstGeom prst="straightConnector1">
            <a:avLst/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cxnSp>
        <p:nvCxnSpPr>
          <p:cNvPr id="39" name="U05-DG-015-solution_3"/>
          <p:cNvCxnSpPr>
            <a:stCxn id="10" idx="3"/>
            <a:endCxn id="13" idx="1"/>
          </p:cNvCxnSpPr>
          <p:nvPr/>
        </p:nvCxnSpPr>
        <p:spPr>
          <a:xfrm>
            <a:off x="8667750" y="3024188"/>
            <a:ext cx="190500" cy="0"/>
          </a:xfrm>
          <a:prstGeom prst="straightConnector1">
            <a:avLst/>
          </a:prstGeom>
          <a:ln w="23813">
            <a:solidFill>
              <a:srgbClr val="2474A6"/>
            </a:solidFill>
            <a:prstDash val="solid"/>
            <a:headEnd type="arrow" w="med" len="med"/>
          </a:ln>
        </p:spPr>
      </p:cxnSp>
      <p:sp>
        <p:nvSpPr>
          <p:cNvPr id="19" name="diagram-scale-note">
            <a:extLst>
              <a:ext uri="{FF2B5EF4-FFF2-40B4-BE49-F238E27FC236}">
                <a16:creationId xmlns:a16="http://schemas.microsoft.com/office/drawing/2014/main" id="{1C8B344B-DABE-4BA4-BFF1-498BC6706A3D}"/>
              </a:ext>
            </a:extLst>
          </p:cNvPr>
          <p:cNvSpPr>
            <a:spLocks noGrp="1"/>
          </p:cNvSpPr>
          <p:nvPr/>
        </p:nvSpPr>
        <p:spPr>
          <a:xfrm>
            <a:off x="552450" y="5829300"/>
            <a:ext cx="3905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05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05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Esquema conceptual · no está a escala</a:t>
            </a:r>
          </a:p>
        </p:txBody>
      </p:sp>
      <p:sp>
        <p:nvSpPr>
          <p:cNvPr id="20" name="caption">
            <a:extLst>
              <a:ext uri="{FF2B5EF4-FFF2-40B4-BE49-F238E27FC236}">
                <a16:creationId xmlns:a16="http://schemas.microsoft.com/office/drawing/2014/main" id="{CA87C1D8-9417-4F6F-A185-2CE521A6C6A3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876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Respaldo para devolución trazable.</a:t>
            </a:r>
          </a:p>
        </p:txBody>
      </p:sp>
      <p:sp>
        <p:nvSpPr>
          <p:cNvPr id="21" name="credit">
            <a:extLst>
              <a:ext uri="{FF2B5EF4-FFF2-40B4-BE49-F238E27FC236}">
                <a16:creationId xmlns:a16="http://schemas.microsoft.com/office/drawing/2014/main" id="{F400AA51-37CE-47EB-A94B-565B122028DD}"/>
              </a:ext>
            </a:extLst>
          </p:cNvPr>
          <p:cNvSpPr>
            <a:spLocks noGrp="1"/>
          </p:cNvSpPr>
          <p:nvPr/>
        </p:nvSpPr>
        <p:spPr>
          <a:xfrm>
            <a:off x="9382125" y="60769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solución I1.</a:t>
            </a:r>
          </a:p>
        </p:txBody>
      </p:sp>
      <p:sp>
        <p:nvSpPr>
          <p:cNvPr id="16" name="slide-alt-summary" descr="Solución en dos zonas distingue cálculos de señal y sistema y termina en condiciones.">
            <a:extLst>
              <a:ext uri="{FF2B5EF4-FFF2-40B4-BE49-F238E27FC236}">
                <a16:creationId xmlns:a16="http://schemas.microsoft.com/office/drawing/2014/main" id="{46425ADA-3B48-0290-467D-4E66A662101A}"/>
              </a:ext>
            </a:extLst>
          </p:cNvPr>
          <p:cNvSpPr/>
          <p:nvPr/>
        </p:nvSpPr>
        <p:spPr>
          <a:xfrm>
            <a:off x="12700" y="12700"/>
            <a:ext cx="12700" cy="12700"/>
          </a:xfrm>
          <a:prstGeom prst="rect">
            <a:avLst/>
          </a:prstGeom>
          <a:noFill/>
          <a:ln w="19050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yebrow">
            <a:extLst>
              <a:ext uri="{FF2B5EF4-FFF2-40B4-BE49-F238E27FC236}">
                <a16:creationId xmlns:a16="http://schemas.microsoft.com/office/drawing/2014/main" id="{B483DBDE-F3B3-4CE6-BB63-F3B8A7C788C2}"/>
              </a:ext>
            </a:extLst>
          </p:cNvPr>
          <p:cNvSpPr>
            <a:spLocks noGrp="1"/>
          </p:cNvSpPr>
          <p:nvPr/>
        </p:nvSpPr>
        <p:spPr>
          <a:xfrm>
            <a:off x="514350" y="2095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UNIDAD 5 · 150</a:t>
            </a:r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7F33C7DD-8469-4F54-8A16-E088DE127390}"/>
              </a:ext>
            </a:extLst>
          </p:cNvPr>
          <p:cNvSpPr>
            <a:spLocks noGrp="1"/>
          </p:cNvSpPr>
          <p:nvPr/>
        </p:nvSpPr>
        <p:spPr>
          <a:xfrm>
            <a:off x="495300" y="428625"/>
            <a:ext cx="11191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defRPr>
            </a:pPr>
            <a:r>
              <a:rPr sz="3300" b="1" i="0">
                <a:solidFill>
                  <a:srgbClr val="172333"/>
                </a:solidFill>
                <a:latin typeface="Calibri Light"/>
                <a:ea typeface="Calibri Light"/>
                <a:cs typeface="Calibri Light"/>
              </a:rPr>
              <a:t>Glosario de señales, espectro y medición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24BA6CD0-D788-4F63-AA0E-6270E459941A}"/>
              </a:ext>
            </a:extLst>
          </p:cNvPr>
          <p:cNvSpPr>
            <a:spLocks noGrp="1"/>
          </p:cNvSpPr>
          <p:nvPr/>
        </p:nvSpPr>
        <p:spPr>
          <a:xfrm>
            <a:off x="523875" y="971550"/>
            <a:ext cx="11001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Consulta alfabética; no usar como cierre proyectado.</a:t>
            </a:r>
          </a:p>
        </p:txBody>
      </p:sp>
      <p:sp>
        <p:nvSpPr>
          <p:cNvPr id="4" name="main-ideas">
            <a:extLst>
              <a:ext uri="{FF2B5EF4-FFF2-40B4-BE49-F238E27FC236}">
                <a16:creationId xmlns:a16="http://schemas.microsoft.com/office/drawing/2014/main" id="{CECC64AE-2615-44F4-96DC-5BB3D82D0A7C}"/>
              </a:ext>
            </a:extLst>
          </p:cNvPr>
          <p:cNvSpPr>
            <a:spLocks noGrp="1"/>
          </p:cNvSpPr>
          <p:nvPr/>
        </p:nvSpPr>
        <p:spPr>
          <a:xfrm>
            <a:off x="666750" y="1476375"/>
            <a:ext cx="6762750" cy="3857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76200" rIns="76200" bIns="76200">
            <a:noAutofit/>
          </a:bodyPr>
          <a:lstStyle/>
          <a:p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Armónico</a:t>
            </a:r>
          </a:p>
          <a:p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banda</a:t>
            </a:r>
          </a:p>
          <a:p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bin</a:t>
            </a:r>
          </a:p>
          <a:p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DFT</a:t>
            </a:r>
          </a:p>
          <a:p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espectro</a:t>
            </a:r>
          </a:p>
          <a:p>
            <a:pPr marL="26" indent="-14">
              <a:lnSpc>
                <a:spcPct val="104000"/>
              </a:lnSpc>
              <a:spcAft>
                <a:spcPts val="10"/>
              </a:spcAft>
              <a:buNone/>
              <a:defRPr sz="210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FFT filtro formante frecuencia fundamental nivel equivalente parcial ponderación respuesta en frecuencia sobretono sonómetro transformada ventana.</a:t>
            </a:r>
          </a:p>
        </p:txBody>
      </p:sp>
      <p:sp>
        <p:nvSpPr>
          <p:cNvPr id="5" name="side-panel-box">
            <a:extLst>
              <a:ext uri="{FF2B5EF4-FFF2-40B4-BE49-F238E27FC236}">
                <a16:creationId xmlns:a16="http://schemas.microsoft.com/office/drawing/2014/main" id="{A683ADC9-A228-4F51-96FD-C4DC2CD36723}"/>
              </a:ext>
            </a:extLst>
          </p:cNvPr>
          <p:cNvSpPr>
            <a:spLocks noGrp="1"/>
          </p:cNvSpPr>
          <p:nvPr/>
        </p:nvSpPr>
        <p:spPr>
          <a:xfrm>
            <a:off x="7953375" y="1571625"/>
            <a:ext cx="3476625" cy="3381375"/>
          </a:xfrm>
          <a:prstGeom prst="roundRect">
            <a:avLst>
              <a:gd name="adj" fmla="val 3944"/>
            </a:avLst>
          </a:prstGeom>
          <a:solidFill>
            <a:srgbClr val="DDEFF5"/>
          </a:solidFill>
          <a:ln w="19050">
            <a:solidFill>
              <a:srgbClr val="2474A6"/>
            </a:solidFill>
            <a:prstDash val="solid"/>
          </a:ln>
        </p:spPr>
      </p:sp>
      <p:sp>
        <p:nvSpPr>
          <p:cNvPr id="6" name="side-panel-title">
            <a:extLst>
              <a:ext uri="{FF2B5EF4-FFF2-40B4-BE49-F238E27FC236}">
                <a16:creationId xmlns:a16="http://schemas.microsoft.com/office/drawing/2014/main" id="{F386F93F-7ED8-4DE3-8946-CE23DFBAA34D}"/>
              </a:ext>
            </a:extLst>
          </p:cNvPr>
          <p:cNvSpPr>
            <a:spLocks noGrp="1"/>
          </p:cNvSpPr>
          <p:nvPr/>
        </p:nvSpPr>
        <p:spPr>
          <a:xfrm>
            <a:off x="8124825" y="1704975"/>
            <a:ext cx="31337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2474A6"/>
                </a:solidFill>
                <a:latin typeface="Calibri"/>
                <a:ea typeface="Calibri"/>
                <a:cs typeface="Calibri"/>
              </a:rPr>
              <a:t>Definición</a:t>
            </a:r>
          </a:p>
        </p:txBody>
      </p:sp>
      <p:sp>
        <p:nvSpPr>
          <p:cNvPr id="7" name="side-panel-body">
            <a:extLst>
              <a:ext uri="{FF2B5EF4-FFF2-40B4-BE49-F238E27FC236}">
                <a16:creationId xmlns:a16="http://schemas.microsoft.com/office/drawing/2014/main" id="{EA871DFF-4CB7-4D38-9AE9-A3B22711194C}"/>
              </a:ext>
            </a:extLst>
          </p:cNvPr>
          <p:cNvSpPr>
            <a:spLocks noGrp="1"/>
          </p:cNvSpPr>
          <p:nvPr/>
        </p:nvSpPr>
        <p:spPr>
          <a:xfrm>
            <a:off x="8124825" y="2085975"/>
            <a:ext cx="3133725" cy="2733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  <a:buNone/>
              <a:def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172333"/>
                </a:solidFill>
                <a:latin typeface="Calibri"/>
                <a:ea typeface="Calibri"/>
                <a:cs typeface="Calibri"/>
              </a:rPr>
              <a:t>remitir a style/glossary.md; máximo dos líneas por término.</a:t>
            </a:r>
          </a:p>
        </p:txBody>
      </p:sp>
      <p:sp>
        <p:nvSpPr>
          <p:cNvPr id="8" name="example-line">
            <a:extLst>
              <a:ext uri="{FF2B5EF4-FFF2-40B4-BE49-F238E27FC236}">
                <a16:creationId xmlns:a16="http://schemas.microsoft.com/office/drawing/2014/main" id="{90E56DF8-81BE-4D15-AEE5-971B18ECAA37}"/>
              </a:ext>
            </a:extLst>
          </p:cNvPr>
          <p:cNvSpPr>
            <a:spLocks noGrp="1"/>
          </p:cNvSpPr>
          <p:nvPr/>
        </p:nvSpPr>
        <p:spPr>
          <a:xfrm>
            <a:off x="8096250" y="5095875"/>
            <a:ext cx="3143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57150" tIns="38100" rIns="57150" bIns="38100" anchor="t">
            <a:noAutofit/>
          </a:bodyPr>
          <a:lstStyle/>
          <a:p>
            <a:pPr algn="l">
              <a:lnSpc>
                <a:spcPct val="102000"/>
              </a:lnSpc>
              <a:buNone/>
              <a:defRPr sz="1725" b="0" i="0">
                <a:solidFill>
                  <a:srgbClr val="2D7867"/>
                </a:solidFill>
                <a:latin typeface="Calibri"/>
                <a:ea typeface="Calibri"/>
                <a:cs typeface="Calibri"/>
              </a:defRPr>
            </a:pPr>
            <a:r>
              <a:rPr sz="1725" b="0" i="0">
                <a:solidFill>
                  <a:srgbClr val="2D7867"/>
                </a:solidFill>
                <a:latin typeface="Calibri"/>
                <a:ea typeface="Calibri"/>
                <a:cs typeface="Calibri"/>
              </a:rPr>
              <a:t>Ejemplo: referencias de retorno a las slides principales.</a:t>
            </a:r>
          </a:p>
        </p:txBody>
      </p:sp>
      <p:sp>
        <p:nvSpPr>
          <p:cNvPr id="9" name="caption">
            <a:extLst>
              <a:ext uri="{FF2B5EF4-FFF2-40B4-BE49-F238E27FC236}">
                <a16:creationId xmlns:a16="http://schemas.microsoft.com/office/drawing/2014/main" id="{83180C9F-70B8-490D-90D0-FCDF7AA1A544}"/>
              </a:ext>
            </a:extLst>
          </p:cNvPr>
          <p:cNvSpPr>
            <a:spLocks noGrp="1"/>
          </p:cNvSpPr>
          <p:nvPr/>
        </p:nvSpPr>
        <p:spPr>
          <a:xfrm>
            <a:off x="552450" y="6076950"/>
            <a:ext cx="876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l">
              <a:lnSpc>
                <a:spcPct val="102000"/>
              </a:lnSpc>
              <a:buNone/>
              <a:def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536276"/>
                </a:solidFill>
                <a:latin typeface="Calibri"/>
                <a:ea typeface="Calibri"/>
                <a:cs typeface="Calibri"/>
              </a:rPr>
              <a:t>La precisión terminológica sostiene la interpretación.</a:t>
            </a:r>
          </a:p>
        </p:txBody>
      </p:sp>
      <p:sp>
        <p:nvSpPr>
          <p:cNvPr id="10" name="credit">
            <a:extLst>
              <a:ext uri="{FF2B5EF4-FFF2-40B4-BE49-F238E27FC236}">
                <a16:creationId xmlns:a16="http://schemas.microsoft.com/office/drawing/2014/main" id="{62CA3B49-D71A-4378-8D08-722A30E3BB1A}"/>
              </a:ext>
            </a:extLst>
          </p:cNvPr>
          <p:cNvSpPr>
            <a:spLocks noGrp="1"/>
          </p:cNvSpPr>
          <p:nvPr/>
        </p:nvSpPr>
        <p:spPr>
          <a:xfrm>
            <a:off x="9382125" y="60769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t">
            <a:noAutofit/>
          </a:bodyPr>
          <a:lstStyle/>
          <a:p>
            <a:pPr algn="r">
              <a:lnSpc>
                <a:spcPct val="102000"/>
              </a:lnSpc>
              <a:buNone/>
              <a:def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defRPr>
            </a:pPr>
            <a:r>
              <a:rPr sz="975" b="0" i="0">
                <a:solidFill>
                  <a:srgbClr val="718093"/>
                </a:solidFill>
                <a:latin typeface="Calibri"/>
                <a:ea typeface="Calibri"/>
                <a:cs typeface="Calibri"/>
              </a:rPr>
              <a:t>Fuente: TEX 5.17; GLO.</a:t>
            </a:r>
          </a:p>
        </p:txBody>
      </p:sp>
      <p:sp>
        <p:nvSpPr>
          <p:cNvPr id="12" name="slide-alt-summary" descr="Glosario alfabético de diecisiete términos con referencias a slides de la unidad.">
            <a:extLst>
              <a:ext uri="{FF2B5EF4-FFF2-40B4-BE49-F238E27FC236}">
                <a16:creationId xmlns:a16="http://schemas.microsoft.com/office/drawing/2014/main" id="{BDCE0D78-AEE7-379A-EEF6-F2362219B1FC}"/>
              </a:ext>
            </a:extLst>
          </p:cNvPr>
          <p:cNvSpPr/>
          <p:nvPr/>
        </p:nvSpPr>
        <p:spPr>
          <a:xfrm>
            <a:off x="12700" y="12700"/>
            <a:ext cx="12700" cy="12700"/>
          </a:xfrm>
          <a:prstGeom prst="rect">
            <a:avLst/>
          </a:prstGeom>
          <a:noFill/>
          <a:ln w="19050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3021856"/>
      </p:ext>
    </p:extLst>
  </p:cSld>
  <p:clrMapOvr>
    <a:masterClrMapping/>
  </p:clrMapOvr>
</p:sld>
</file>

<file path=ppt/theme/theme1.xml><?xml version="1.0" encoding="utf-8"?>
<a:theme xmlns:a="http://schemas.openxmlformats.org/drawingml/2006/main" name="FA_MASTER_CLARO">
  <a:themeElements>
    <a:clrScheme name="Física Acústica UCASAL">
      <a:dk1>
        <a:srgbClr val="000000"/>
      </a:dk1>
      <a:lt1>
        <a:srgbClr val="FFFFFF"/>
      </a:lt1>
      <a:dk2>
        <a:srgbClr val="3D3D3D"/>
      </a:dk2>
      <a:lt2>
        <a:srgbClr val="F7F6F2"/>
      </a:lt2>
      <a:accent1>
        <a:srgbClr val="4D1434"/>
      </a:accent1>
      <a:accent2>
        <a:srgbClr val="903163"/>
      </a:accent2>
      <a:accent3>
        <a:srgbClr val="2F7E83"/>
      </a:accent3>
      <a:accent4>
        <a:srgbClr val="9F541A"/>
      </a:accent4>
      <a:accent5>
        <a:srgbClr val="023E7C"/>
      </a:accent5>
      <a:accent6>
        <a:srgbClr val="969FA7"/>
      </a:accent6>
      <a:hlink>
        <a:srgbClr val="023E7C"/>
      </a:hlink>
      <a:folHlink>
        <a:srgbClr val="903163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Física Acústica UCAS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FA_MASTER_BORDO">
  <a:themeElements>
    <a:clrScheme name="Office">
      <a:dk1>
        <a:srgbClr val="000000"/>
      </a:dk1>
      <a:lt1>
        <a:srgbClr val="FFFFFF"/>
      </a:lt1>
      <a:dk2>
        <a:srgbClr val="3D3D3D"/>
      </a:dk2>
      <a:lt2>
        <a:srgbClr val="F7F6F2"/>
      </a:lt2>
      <a:accent1>
        <a:srgbClr val="4D1434"/>
      </a:accent1>
      <a:accent2>
        <a:srgbClr val="903163"/>
      </a:accent2>
      <a:accent3>
        <a:srgbClr val="2F7E83"/>
      </a:accent3>
      <a:accent4>
        <a:srgbClr val="9F541A"/>
      </a:accent4>
      <a:accent5>
        <a:srgbClr val="023E7C"/>
      </a:accent5>
      <a:accent6>
        <a:srgbClr val="969FA7"/>
      </a:accent6>
      <a:hlink>
        <a:srgbClr val="023E7C"/>
      </a:hlink>
      <a:folHlink>
        <a:srgbClr val="903163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FA_MASTER_CLARO">
  <a:themeElements>
    <a:clrScheme name="Física Acústica UCASAL">
      <a:dk1>
        <a:srgbClr val="000000"/>
      </a:dk1>
      <a:lt1>
        <a:srgbClr val="FFFFFF"/>
      </a:lt1>
      <a:dk2>
        <a:srgbClr val="3D3D3D"/>
      </a:dk2>
      <a:lt2>
        <a:srgbClr val="F7F6F2"/>
      </a:lt2>
      <a:accent1>
        <a:srgbClr val="4D1434"/>
      </a:accent1>
      <a:accent2>
        <a:srgbClr val="903163"/>
      </a:accent2>
      <a:accent3>
        <a:srgbClr val="2F7E83"/>
      </a:accent3>
      <a:accent4>
        <a:srgbClr val="9F541A"/>
      </a:accent4>
      <a:accent5>
        <a:srgbClr val="023E7C"/>
      </a:accent5>
      <a:accent6>
        <a:srgbClr val="969FA7"/>
      </a:accent6>
      <a:hlink>
        <a:srgbClr val="023E7C"/>
      </a:hlink>
      <a:folHlink>
        <a:srgbClr val="903163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Física Acústica UCAS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19480</Words>
  <Application>Microsoft Office PowerPoint</Application>
  <DocSecurity>0</DocSecurity>
  <PresentationFormat>Panorámica</PresentationFormat>
  <Paragraphs>2496</Paragraphs>
  <Slides>150</Slides>
  <Notes>150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150</vt:i4>
      </vt:variant>
    </vt:vector>
  </HeadingPairs>
  <TitlesOfParts>
    <vt:vector size="157" baseType="lpstr">
      <vt:lpstr>Aptos</vt:lpstr>
      <vt:lpstr>Arial</vt:lpstr>
      <vt:lpstr>Calibri</vt:lpstr>
      <vt:lpstr>Calibri Light</vt:lpstr>
      <vt:lpstr>Cambria Math</vt:lpstr>
      <vt:lpstr>FA_MASTER_CLARO</vt:lpstr>
      <vt:lpstr>FA_MASTER_BORDO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Maximiliano Ortiz</cp:lastModifiedBy>
  <cp:revision>1</cp:revision>
  <dcterms:created xsi:type="dcterms:W3CDTF">2026-08-03T17:37:39Z</dcterms:created>
  <dcterms:modified xsi:type="dcterms:W3CDTF">2026-08-03T17:45:43Z</dcterms:modified>
</cp:coreProperties>
</file>