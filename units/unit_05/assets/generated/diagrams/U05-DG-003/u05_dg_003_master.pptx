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9472ff4e4b4078" /><Relationship Type="http://schemas.openxmlformats.org/officeDocument/2006/relationships/extended-properties" Target="/docProps/app.xml" Id="R12819328205a42f2" /><Relationship Type="http://schemas.openxmlformats.org/officeDocument/2006/relationships/officeDocument" Target="/ppt/presentation.xml" Id="R3cc6e82b39e44e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0ec4a1de9d471a"/>
  </p:sldMasterIdLst>
  <p:notesMasterIdLst>
    <p:notesMasterId xmlns:r="http://schemas.openxmlformats.org/officeDocument/2006/relationships" r:id="Rb1c87aeb04d14b03"/>
  </p:notesMasterIdLst>
  <p:sldIdLst>
    <p:sldId xmlns:r="http://schemas.openxmlformats.org/officeDocument/2006/relationships" id="256" r:id="R39f5445902fa4c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cc1d85b1e44106" /><Relationship Type="http://schemas.openxmlformats.org/officeDocument/2006/relationships/slideMaster" Target="/ppt/slideMasters/slideMaster1.xml" Id="R0f0ec4a1de9d471a" /><Relationship Type="http://schemas.openxmlformats.org/officeDocument/2006/relationships/notesMaster" Target="/ppt/notesMasters/notesMaster1.xml" Id="Rb1c87aeb04d14b03" /><Relationship Type="http://schemas.openxmlformats.org/officeDocument/2006/relationships/presProps" Target="/ppt/presProps.xml" Id="Rd7704db05eae453d" /><Relationship Type="http://schemas.openxmlformats.org/officeDocument/2006/relationships/tableStyles" Target="/ppt/tableStyles.xml" Id="Rfed4134ff93a445d" /><Relationship Type="http://schemas.openxmlformats.org/officeDocument/2006/relationships/slide" Target="/ppt/slides/slide1.xml" Id="R39f5445902fa4c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e16e0725b448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37b5259ac040c9" /><Relationship Type="http://schemas.openxmlformats.org/officeDocument/2006/relationships/notesMaster" Target="/ppt/notesMasters/notesMaster1.xml" Id="R637e022fba3f47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bd0995d47b41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4d263a175b4dd1" /><Relationship Type="http://schemas.openxmlformats.org/officeDocument/2006/relationships/slideLayout" Target="/ppt/slideLayouts/slideLayout1.xml" Id="R6664773a977640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64773a977640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9b4a3b57b2430b" /><Relationship Type="http://schemas.openxmlformats.org/officeDocument/2006/relationships/notesSlide" Target="/ppt/notesSlides/notesSlide1.xml" Id="R37f12c31c97644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5905AF2E-50F2-47CE-A877-C7E3360B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40DC6F20-E012-4100-9A3F-8DEC7C53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1A2ABB93-CECB-447B-8447-E32E5BE0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55A4DCED-3F77-4EA7-BBD9-A2C8E901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Magnitud y fase describen partes distintas de X(f)</a:t>
            </a:r>
          </a:p>
        </p:txBody>
      </p:sp>
      <p:sp>
        <p:nvSpPr>
          <p:cNvPr id="5" name="eq_x_box">
            <a:extLst xmlns:a="http://schemas.openxmlformats.org/drawingml/2006/main">
              <a:ext uri="{FF2B5EF4-FFF2-40B4-BE49-F238E27FC236}">
                <a16:creationId xmlns:a16="http://schemas.microsoft.com/office/drawing/2014/main" id="{64FA9D56-AEAF-4574-961C-BCE2A77F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67000"/>
            <a:ext cx="15716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eq_equal_box">
            <a:extLst xmlns:a="http://schemas.openxmlformats.org/drawingml/2006/main">
              <a:ext uri="{FF2B5EF4-FFF2-40B4-BE49-F238E27FC236}">
                <a16:creationId xmlns:a16="http://schemas.microsoft.com/office/drawing/2014/main" id="{A354E10D-2510-42BB-A5FF-6299BAF1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67000"/>
            <a:ext cx="571500" cy="1000125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eq_mag_box">
            <a:extLst xmlns:a="http://schemas.openxmlformats.org/drawingml/2006/main">
              <a:ext uri="{FF2B5EF4-FFF2-40B4-BE49-F238E27FC236}">
                <a16:creationId xmlns:a16="http://schemas.microsoft.com/office/drawing/2014/main" id="{F9043C7D-634F-4C86-AB77-7491FD05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667000"/>
            <a:ext cx="2000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eq_phase_box">
            <a:extLst xmlns:a="http://schemas.openxmlformats.org/drawingml/2006/main">
              <a:ext uri="{FF2B5EF4-FFF2-40B4-BE49-F238E27FC236}">
                <a16:creationId xmlns:a16="http://schemas.microsoft.com/office/drawing/2014/main" id="{BE180777-9DB9-4642-9058-F5FFA5BD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67000"/>
            <a:ext cx="23336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9" name="callout_quantity_box">
            <a:extLst xmlns:a="http://schemas.openxmlformats.org/drawingml/2006/main">
              <a:ext uri="{FF2B5EF4-FFF2-40B4-BE49-F238E27FC236}">
                <a16:creationId xmlns:a16="http://schemas.microsoft.com/office/drawing/2014/main" id="{6CFB152A-E167-4589-8674-D711BE04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85875"/>
            <a:ext cx="23336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10" name="callout_magnitude_box">
            <a:extLst xmlns:a="http://schemas.openxmlformats.org/drawingml/2006/main">
              <a:ext uri="{FF2B5EF4-FFF2-40B4-BE49-F238E27FC236}">
                <a16:creationId xmlns:a16="http://schemas.microsoft.com/office/drawing/2014/main" id="{85C92410-8224-4D88-A971-93FCED8E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33875"/>
            <a:ext cx="2476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1" name="callout_phase_box">
            <a:extLst xmlns:a="http://schemas.openxmlformats.org/drawingml/2006/main">
              <a:ext uri="{FF2B5EF4-FFF2-40B4-BE49-F238E27FC236}">
                <a16:creationId xmlns:a16="http://schemas.microsoft.com/office/drawing/2014/main" id="{9F4B53A3-668B-434E-822C-5FF94D0E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33875"/>
            <a:ext cx="2381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2" name="callout_frequency_box">
            <a:extLst xmlns:a="http://schemas.openxmlformats.org/drawingml/2006/main">
              <a:ext uri="{FF2B5EF4-FFF2-40B4-BE49-F238E27FC236}">
                <a16:creationId xmlns:a16="http://schemas.microsoft.com/office/drawing/2014/main" id="{1BA6F1BC-512F-481B-B19E-E73CBC1A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285875"/>
            <a:ext cx="1905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cxnSp>
        <p:nvCxnSpPr>
          <p:cNvPr id="42" name="lead_quantity"/>
          <p:cNvCxnSpPr>
            <a:stCxn xmlns:a="http://schemas.openxmlformats.org/drawingml/2006/main" id="9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H="1">
            <a:off x="2152650" y="1785938"/>
            <a:ext cx="1266825" cy="1381125"/>
          </a:xfrm>
          <a:prstGeom xmlns:a="http://schemas.openxmlformats.org/drawingml/2006/main" prst="bentConnector4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lead_magnitude"/>
          <p:cNvCxnSpPr>
            <a:stCxn xmlns:a="http://schemas.openxmlformats.org/drawingml/2006/main" id="10" idx="0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5143500" y="3667125"/>
            <a:ext cx="666750" cy="666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4" name="lead_phase"/>
          <p:cNvCxnSpPr>
            <a:stCxn xmlns:a="http://schemas.openxmlformats.org/drawingml/2006/main" id="11" idx="0"/>
            <a:endCxn xmlns:a="http://schemas.openxmlformats.org/drawingml/2006/main" id="8" idx="2"/>
          </p:cNvCxnSpPr>
          <p:nvPr/>
        </p:nvCxnSpPr>
        <p:spPr>
          <a:xfrm xmlns:a="http://schemas.openxmlformats.org/drawingml/2006/main" flipH="1" flipV="1">
            <a:off x="8262938" y="3667125"/>
            <a:ext cx="166688" cy="666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5" name="lead_frequency"/>
          <p:cNvCxnSpPr>
            <a:stCxn xmlns:a="http://schemas.openxmlformats.org/drawingml/2006/main" id="12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9429750" y="1785938"/>
            <a:ext cx="142875" cy="1381125"/>
          </a:xfrm>
          <a:prstGeom xmlns:a="http://schemas.openxmlformats.org/drawingml/2006/main" prst="bentConnector4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7" name="eq_x_title">
            <a:extLst xmlns:a="http://schemas.openxmlformats.org/drawingml/2006/main">
              <a:ext uri="{FF2B5EF4-FFF2-40B4-BE49-F238E27FC236}">
                <a16:creationId xmlns:a16="http://schemas.microsoft.com/office/drawing/2014/main" id="{A0740E32-0C19-4FC1-ABDB-E7F6500A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95600"/>
            <a:ext cx="1190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4D1434"/>
                </a:solidFill>
              </a:defRPr>
            </a:pPr>
            <a:r>
              <a:rPr sz="3300" b="1">
                <a:solidFill>
                  <a:srgbClr val="4D1434"/>
                </a:solidFill>
              </a:rPr>
              <a:t>X(f)</a:t>
            </a:r>
          </a:p>
        </p:txBody>
      </p:sp>
      <p:sp>
        <p:nvSpPr>
          <p:cNvPr id="18" name="eq_equal_title">
            <a:extLst xmlns:a="http://schemas.openxmlformats.org/drawingml/2006/main">
              <a:ext uri="{FF2B5EF4-FFF2-40B4-BE49-F238E27FC236}">
                <a16:creationId xmlns:a16="http://schemas.microsoft.com/office/drawing/2014/main" id="{BD9C05E7-4B9C-4E21-AF96-0598C4ED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95600"/>
            <a:ext cx="190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4D1434"/>
                </a:solidFill>
              </a:defRPr>
            </a:pPr>
            <a:r>
              <a:rPr sz="3300" b="1">
                <a:solidFill>
                  <a:srgbClr val="4D1434"/>
                </a:solidFill>
              </a:rPr>
              <a:t>=</a:t>
            </a:r>
          </a:p>
        </p:txBody>
      </p:sp>
      <p:sp>
        <p:nvSpPr>
          <p:cNvPr id="19" name="eq_mag_title">
            <a:extLst xmlns:a="http://schemas.openxmlformats.org/drawingml/2006/main">
              <a:ext uri="{FF2B5EF4-FFF2-40B4-BE49-F238E27FC236}">
                <a16:creationId xmlns:a16="http://schemas.microsoft.com/office/drawing/2014/main" id="{F3D6BDD6-9C8B-4B3A-BD55-6E052B60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895600"/>
            <a:ext cx="1619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4D1434"/>
                </a:solidFill>
              </a:defRPr>
            </a:pPr>
            <a:r>
              <a:rPr sz="3300" b="1">
                <a:solidFill>
                  <a:srgbClr val="4D1434"/>
                </a:solidFill>
              </a:rPr>
              <a:t>|X(f)|</a:t>
            </a:r>
          </a:p>
        </p:txBody>
      </p:sp>
      <p:sp>
        <p:nvSpPr>
          <p:cNvPr id="20" name="eq_phase_title">
            <a:extLst xmlns:a="http://schemas.openxmlformats.org/drawingml/2006/main">
              <a:ext uri="{FF2B5EF4-FFF2-40B4-BE49-F238E27FC236}">
                <a16:creationId xmlns:a16="http://schemas.microsoft.com/office/drawing/2014/main" id="{BFB2F1F5-7EB6-47C3-A137-E414014D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895600"/>
            <a:ext cx="1952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4D1434"/>
                </a:solidFill>
              </a:defRPr>
            </a:pPr>
            <a:r>
              <a:rPr sz="3300" b="1">
                <a:solidFill>
                  <a:srgbClr val="4D1434"/>
                </a:solidFill>
              </a:rPr>
              <a:t>eʲφˣ⁽ᶠ⁾</a:t>
            </a:r>
          </a:p>
        </p:txBody>
      </p:sp>
      <p:sp>
        <p:nvSpPr>
          <p:cNvPr id="21" name="callout_quantity_title">
            <a:extLst xmlns:a="http://schemas.openxmlformats.org/drawingml/2006/main">
              <a:ext uri="{FF2B5EF4-FFF2-40B4-BE49-F238E27FC236}">
                <a16:creationId xmlns:a16="http://schemas.microsoft.com/office/drawing/2014/main" id="{51E72AB5-60B3-4661-A76D-B0240496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5732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Transformada</a:t>
            </a:r>
          </a:p>
        </p:txBody>
      </p:sp>
      <p:sp>
        <p:nvSpPr>
          <p:cNvPr id="22" name="callout_quantity_body">
            <a:extLst xmlns:a="http://schemas.openxmlformats.org/drawingml/2006/main">
              <a:ext uri="{FF2B5EF4-FFF2-40B4-BE49-F238E27FC236}">
                <a16:creationId xmlns:a16="http://schemas.microsoft.com/office/drawing/2014/main" id="{DECC3804-46C7-47E9-89C5-71CAD24C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7642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unidad U·s</a:t>
            </a:r>
          </a:p>
        </p:txBody>
      </p:sp>
      <p:sp>
        <p:nvSpPr>
          <p:cNvPr id="23" name="callout_magnitude_title">
            <a:extLst xmlns:a="http://schemas.openxmlformats.org/drawingml/2006/main">
              <a:ext uri="{FF2B5EF4-FFF2-40B4-BE49-F238E27FC236}">
                <a16:creationId xmlns:a16="http://schemas.microsoft.com/office/drawing/2014/main" id="{84D2D183-9268-4DC3-BF18-338C7ED7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053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Magnitud</a:t>
            </a:r>
          </a:p>
        </p:txBody>
      </p:sp>
      <p:sp>
        <p:nvSpPr>
          <p:cNvPr id="24" name="callout_magnitude_body">
            <a:extLst xmlns:a="http://schemas.openxmlformats.org/drawingml/2006/main">
              <a:ext uri="{FF2B5EF4-FFF2-40B4-BE49-F238E27FC236}">
                <a16:creationId xmlns:a16="http://schemas.microsoft.com/office/drawing/2014/main" id="{A4173E6D-343D-4845-9817-927281C4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2442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escala declarada</a:t>
            </a:r>
          </a:p>
        </p:txBody>
      </p:sp>
      <p:sp>
        <p:nvSpPr>
          <p:cNvPr id="25" name="callout_phase_title">
            <a:extLst xmlns:a="http://schemas.openxmlformats.org/drawingml/2006/main">
              <a:ext uri="{FF2B5EF4-FFF2-40B4-BE49-F238E27FC236}">
                <a16:creationId xmlns:a16="http://schemas.microsoft.com/office/drawing/2014/main" id="{036549C7-AD4F-4849-A77E-1B1BFDD8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0532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Fase relativa</a:t>
            </a:r>
          </a:p>
        </p:txBody>
      </p:sp>
      <p:sp>
        <p:nvSpPr>
          <p:cNvPr id="26" name="callout_phase_body">
            <a:extLst xmlns:a="http://schemas.openxmlformats.org/drawingml/2006/main">
              <a:ext uri="{FF2B5EF4-FFF2-40B4-BE49-F238E27FC236}">
                <a16:creationId xmlns:a16="http://schemas.microsoft.com/office/drawing/2014/main" id="{189D8C81-6670-473D-8137-33BF501F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2442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φₓ(f) en rad</a:t>
            </a:r>
          </a:p>
        </p:txBody>
      </p:sp>
      <p:sp>
        <p:nvSpPr>
          <p:cNvPr id="27" name="callout_frequency_title">
            <a:extLst xmlns:a="http://schemas.openxmlformats.org/drawingml/2006/main">
              <a:ext uri="{FF2B5EF4-FFF2-40B4-BE49-F238E27FC236}">
                <a16:creationId xmlns:a16="http://schemas.microsoft.com/office/drawing/2014/main" id="{DA7F85F1-574D-4CA4-9919-E39B1725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45732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Variable</a:t>
            </a:r>
          </a:p>
        </p:txBody>
      </p:sp>
      <p:sp>
        <p:nvSpPr>
          <p:cNvPr id="28" name="callout_frequency_body">
            <a:extLst xmlns:a="http://schemas.openxmlformats.org/drawingml/2006/main">
              <a:ext uri="{FF2B5EF4-FFF2-40B4-BE49-F238E27FC236}">
                <a16:creationId xmlns:a16="http://schemas.microsoft.com/office/drawing/2014/main" id="{08DA2202-3277-4693-9CD8-544714B1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87642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f en Hz</a:t>
            </a:r>
          </a:p>
        </p:txBody>
      </p:sp>
      <p:sp>
        <p:nvSpPr>
          <p:cNvPr id="29" name="source_note">
            <a:extLst xmlns:a="http://schemas.openxmlformats.org/drawingml/2006/main">
              <a:ext uri="{FF2B5EF4-FFF2-40B4-BE49-F238E27FC236}">
                <a16:creationId xmlns:a16="http://schemas.microsoft.com/office/drawing/2014/main" id="{2790AF89-920E-49CB-8F4F-D0AEDE9E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curso, ecuaciones 5.5 y 5.6; convención de transformada declarada.</a:t>
            </a:r>
          </a:p>
        </p:txBody>
      </p:sp>
    </p:spTree>
    <p:extLst>
      <p:ext uri="{BB962C8B-B14F-4D97-AF65-F5344CB8AC3E}">
        <p14:creationId xmlns:p14="http://schemas.microsoft.com/office/powerpoint/2010/main" val="3915694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2026-07-31T20:40:21.1500000Z</dcterms:created>
  <dcterms:modified xsi:type="dcterms:W3CDTF">2026-07-31T20:40:21.1500000Z</dcterms:modified>
</coreProperties>
</file>