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f252c343954ad8" /><Relationship Type="http://schemas.openxmlformats.org/officeDocument/2006/relationships/extended-properties" Target="/docProps/app.xml" Id="Rcd79f296a6134560" /><Relationship Type="http://schemas.openxmlformats.org/officeDocument/2006/relationships/officeDocument" Target="/ppt/presentation.xml" Id="R3c7c93d2fb9b4374" /></Relationships>
</file>

<file path=ppt/presentation.xml><?xml version="1.0" encoding="utf-8"?>
<p:presentation xmlns:p="http://schemas.openxmlformats.org/presentationml/2006/main">
  <p:sldMasterIdLst>
    <p:sldMasterId xmlns:r="http://schemas.openxmlformats.org/officeDocument/2006/relationships" id="2147483648" r:id="Re5fb6a6963f943cf"/>
    <p:sldMasterId xmlns:r="http://schemas.openxmlformats.org/officeDocument/2006/relationships" id="2147483673" r:id="Rc6dbd407e806467b"/>
  </p:sldMasterIdLst>
  <p:notesMasterIdLst>
    <p:notesMasterId xmlns:r="http://schemas.openxmlformats.org/officeDocument/2006/relationships" r:id="Rcb0529d725094405"/>
  </p:notesMasterIdLst>
  <p:sldIdLst>
    <p:sldId xmlns:r="http://schemas.openxmlformats.org/officeDocument/2006/relationships" id="256" r:id="Ra8bd0ad989274e23"/>
    <p:sldId xmlns:r="http://schemas.openxmlformats.org/officeDocument/2006/relationships" id="257" r:id="Rcf7a9f7dec3940f2"/>
    <p:sldId xmlns:r="http://schemas.openxmlformats.org/officeDocument/2006/relationships" id="258" r:id="Rb92071eb58944be8"/>
    <p:sldId xmlns:r="http://schemas.openxmlformats.org/officeDocument/2006/relationships" id="259" r:id="R2286b67e630b4f9d"/>
    <p:sldId xmlns:r="http://schemas.openxmlformats.org/officeDocument/2006/relationships" id="260" r:id="R6700f16d0429453f"/>
    <p:sldId xmlns:r="http://schemas.openxmlformats.org/officeDocument/2006/relationships" id="261" r:id="Re580d41703b4470e"/>
    <p:sldId xmlns:r="http://schemas.openxmlformats.org/officeDocument/2006/relationships" id="262" r:id="Rc8893b27dc6b4439"/>
    <p:sldId xmlns:r="http://schemas.openxmlformats.org/officeDocument/2006/relationships" id="263" r:id="Rf91bce9b2d5849f1"/>
    <p:sldId xmlns:r="http://schemas.openxmlformats.org/officeDocument/2006/relationships" id="264" r:id="R7ab6880f9d8046f8"/>
    <p:sldId xmlns:r="http://schemas.openxmlformats.org/officeDocument/2006/relationships" id="265" r:id="R79c91d6ec2414bcc"/>
    <p:sldId xmlns:r="http://schemas.openxmlformats.org/officeDocument/2006/relationships" id="266" r:id="R2a1de6ccd9af4e74"/>
    <p:sldId xmlns:r="http://schemas.openxmlformats.org/officeDocument/2006/relationships" id="267" r:id="R95e8fe5992cb4219"/>
    <p:sldId xmlns:r="http://schemas.openxmlformats.org/officeDocument/2006/relationships" id="268" r:id="R534ec45152c1421d"/>
    <p:sldId xmlns:r="http://schemas.openxmlformats.org/officeDocument/2006/relationships" id="269" r:id="R80951e2b3d454fde"/>
    <p:sldId xmlns:r="http://schemas.openxmlformats.org/officeDocument/2006/relationships" id="270" r:id="R0b7fbf7318964bcf"/>
    <p:sldId xmlns:r="http://schemas.openxmlformats.org/officeDocument/2006/relationships" id="271" r:id="Rf671248186c54646"/>
    <p:sldId xmlns:r="http://schemas.openxmlformats.org/officeDocument/2006/relationships" id="272" r:id="R7a9fa22124ec492f"/>
    <p:sldId xmlns:r="http://schemas.openxmlformats.org/officeDocument/2006/relationships" id="273" r:id="R5a3499ddd8dd4ed0"/>
    <p:sldId xmlns:r="http://schemas.openxmlformats.org/officeDocument/2006/relationships" id="274" r:id="R420b7875ab29455d"/>
    <p:sldId xmlns:r="http://schemas.openxmlformats.org/officeDocument/2006/relationships" id="275" r:id="R7faa3d8a3b0f4a34"/>
    <p:sldId xmlns:r="http://schemas.openxmlformats.org/officeDocument/2006/relationships" id="276" r:id="Rfa1c5ce71cf54ec7"/>
    <p:sldId xmlns:r="http://schemas.openxmlformats.org/officeDocument/2006/relationships" id="277" r:id="R5376bdcbcfa646a2"/>
    <p:sldId xmlns:r="http://schemas.openxmlformats.org/officeDocument/2006/relationships" id="278" r:id="R3dfc133d0e1348b9"/>
    <p:sldId xmlns:r="http://schemas.openxmlformats.org/officeDocument/2006/relationships" id="279" r:id="R472203c2d13e42c4"/>
    <p:sldId xmlns:r="http://schemas.openxmlformats.org/officeDocument/2006/relationships" id="280" r:id="R017e731ae9654422"/>
    <p:sldId xmlns:r="http://schemas.openxmlformats.org/officeDocument/2006/relationships" id="281" r:id="Rab1d9d443f274196"/>
    <p:sldId xmlns:r="http://schemas.openxmlformats.org/officeDocument/2006/relationships" id="282" r:id="Rd49295e7dcf9407f"/>
    <p:sldId xmlns:r="http://schemas.openxmlformats.org/officeDocument/2006/relationships" id="283" r:id="Re3bf42b440294f7e"/>
    <p:sldId xmlns:r="http://schemas.openxmlformats.org/officeDocument/2006/relationships" id="284" r:id="R387b6ea395c84eb5"/>
    <p:sldId xmlns:r="http://schemas.openxmlformats.org/officeDocument/2006/relationships" id="285" r:id="R6792b475d58c44bf"/>
    <p:sldId xmlns:r="http://schemas.openxmlformats.org/officeDocument/2006/relationships" id="286" r:id="Reedd4a7e153c4f6f"/>
    <p:sldId xmlns:r="http://schemas.openxmlformats.org/officeDocument/2006/relationships" id="287" r:id="R6208dabf287c405f"/>
    <p:sldId xmlns:r="http://schemas.openxmlformats.org/officeDocument/2006/relationships" id="288" r:id="Rac3c01a5ddd9497b"/>
    <p:sldId xmlns:r="http://schemas.openxmlformats.org/officeDocument/2006/relationships" id="289" r:id="R582a6ab095f4484e"/>
    <p:sldId xmlns:r="http://schemas.openxmlformats.org/officeDocument/2006/relationships" id="290" r:id="Rd6e0ed4e5cd44051"/>
    <p:sldId xmlns:r="http://schemas.openxmlformats.org/officeDocument/2006/relationships" id="291" r:id="Rf8810b6a6f5f4cc1"/>
    <p:sldId xmlns:r="http://schemas.openxmlformats.org/officeDocument/2006/relationships" id="292" r:id="Rbd89db10cdc34030"/>
    <p:sldId xmlns:r="http://schemas.openxmlformats.org/officeDocument/2006/relationships" id="293" r:id="R482803ae742541d7"/>
    <p:sldId xmlns:r="http://schemas.openxmlformats.org/officeDocument/2006/relationships" id="294" r:id="Rd6e79daad6474feb"/>
    <p:sldId xmlns:r="http://schemas.openxmlformats.org/officeDocument/2006/relationships" id="295" r:id="Rcf85a80be9dd4afb"/>
    <p:sldId xmlns:r="http://schemas.openxmlformats.org/officeDocument/2006/relationships" id="296" r:id="Rc69b76e867174715"/>
    <p:sldId xmlns:r="http://schemas.openxmlformats.org/officeDocument/2006/relationships" id="297" r:id="R58feed656d054794"/>
    <p:sldId xmlns:r="http://schemas.openxmlformats.org/officeDocument/2006/relationships" id="298" r:id="R1130179f68744073"/>
    <p:sldId xmlns:r="http://schemas.openxmlformats.org/officeDocument/2006/relationships" id="299" r:id="Rf7f3f88f095146e5"/>
    <p:sldId xmlns:r="http://schemas.openxmlformats.org/officeDocument/2006/relationships" id="300" r:id="Rd2746484fa654061"/>
    <p:sldId xmlns:r="http://schemas.openxmlformats.org/officeDocument/2006/relationships" id="301" r:id="Re2007da6d6a74d8d"/>
    <p:sldId xmlns:r="http://schemas.openxmlformats.org/officeDocument/2006/relationships" id="302" r:id="Rcf103a90bf4f4905"/>
    <p:sldId xmlns:r="http://schemas.openxmlformats.org/officeDocument/2006/relationships" id="303" r:id="R0f110737e8a0481a"/>
    <p:sldId xmlns:r="http://schemas.openxmlformats.org/officeDocument/2006/relationships" id="304" r:id="R4954c73c7e574d70"/>
    <p:sldId xmlns:r="http://schemas.openxmlformats.org/officeDocument/2006/relationships" id="305" r:id="Rafc231b4f97d4cb5"/>
    <p:sldId xmlns:r="http://schemas.openxmlformats.org/officeDocument/2006/relationships" id="306" r:id="Rd48cb0c472d14532"/>
    <p:sldId xmlns:r="http://schemas.openxmlformats.org/officeDocument/2006/relationships" id="307" r:id="R794c842d23564091"/>
    <p:sldId xmlns:r="http://schemas.openxmlformats.org/officeDocument/2006/relationships" id="308" r:id="Rbd0ba3b32f6c4dba"/>
    <p:sldId xmlns:r="http://schemas.openxmlformats.org/officeDocument/2006/relationships" id="309" r:id="R826cf23082974243"/>
    <p:sldId xmlns:r="http://schemas.openxmlformats.org/officeDocument/2006/relationships" id="310" r:id="R5ec83dc648e84569"/>
    <p:sldId xmlns:r="http://schemas.openxmlformats.org/officeDocument/2006/relationships" id="311" r:id="R1f222075ee414e59"/>
    <p:sldId xmlns:r="http://schemas.openxmlformats.org/officeDocument/2006/relationships" id="312" r:id="Rd3e7188650eb4bcb"/>
    <p:sldId xmlns:r="http://schemas.openxmlformats.org/officeDocument/2006/relationships" id="313" r:id="R1a8afac6e0914d3a"/>
    <p:sldId xmlns:r="http://schemas.openxmlformats.org/officeDocument/2006/relationships" id="314" r:id="R94cf16e005af4f65"/>
    <p:sldId xmlns:r="http://schemas.openxmlformats.org/officeDocument/2006/relationships" id="315" r:id="R933f084539de4d10"/>
    <p:sldId xmlns:r="http://schemas.openxmlformats.org/officeDocument/2006/relationships" id="316" r:id="Rd9bb6168f5a0484b"/>
    <p:sldId xmlns:r="http://schemas.openxmlformats.org/officeDocument/2006/relationships" id="317" r:id="R14af6b110ae94c1d"/>
    <p:sldId xmlns:r="http://schemas.openxmlformats.org/officeDocument/2006/relationships" id="318" r:id="R008604a8eb8e49f2"/>
    <p:sldId xmlns:r="http://schemas.openxmlformats.org/officeDocument/2006/relationships" id="319" r:id="Ra9158590385b4fff"/>
    <p:sldId xmlns:r="http://schemas.openxmlformats.org/officeDocument/2006/relationships" id="320" r:id="R10a8e694c21647e4"/>
    <p:sldId xmlns:r="http://schemas.openxmlformats.org/officeDocument/2006/relationships" id="321" r:id="R79df9e654cd54d7d"/>
    <p:sldId xmlns:r="http://schemas.openxmlformats.org/officeDocument/2006/relationships" id="322" r:id="R29fb3c2631a243c5"/>
    <p:sldId xmlns:r="http://schemas.openxmlformats.org/officeDocument/2006/relationships" id="323" r:id="R20cd3ac43e37433a"/>
    <p:sldId xmlns:r="http://schemas.openxmlformats.org/officeDocument/2006/relationships" id="324" r:id="R171e2fe7a607420e"/>
    <p:sldId xmlns:r="http://schemas.openxmlformats.org/officeDocument/2006/relationships" id="325" r:id="Re545432d76bf4bef"/>
    <p:sldId xmlns:r="http://schemas.openxmlformats.org/officeDocument/2006/relationships" id="326" r:id="Reb16f906b8af4d59"/>
    <p:sldId xmlns:r="http://schemas.openxmlformats.org/officeDocument/2006/relationships" id="327" r:id="Rc34065274f424a65"/>
    <p:sldId xmlns:r="http://schemas.openxmlformats.org/officeDocument/2006/relationships" id="328" r:id="Reca92e12b6814a1f"/>
    <p:sldId xmlns:r="http://schemas.openxmlformats.org/officeDocument/2006/relationships" id="329" r:id="Re510ee92f544440a"/>
    <p:sldId xmlns:r="http://schemas.openxmlformats.org/officeDocument/2006/relationships" id="330" r:id="Rb37503394c0f4777"/>
    <p:sldId xmlns:r="http://schemas.openxmlformats.org/officeDocument/2006/relationships" id="331" r:id="R17f348c4d36c47c7"/>
    <p:sldId xmlns:r="http://schemas.openxmlformats.org/officeDocument/2006/relationships" id="332" r:id="R8ce97a6986de4a71"/>
    <p:sldId xmlns:r="http://schemas.openxmlformats.org/officeDocument/2006/relationships" id="333" r:id="R71d3f78f095940b1"/>
    <p:sldId xmlns:r="http://schemas.openxmlformats.org/officeDocument/2006/relationships" id="334" r:id="Rb843fa7100ef4fb3"/>
    <p:sldId xmlns:r="http://schemas.openxmlformats.org/officeDocument/2006/relationships" id="335" r:id="Rd4c218b514bb4124"/>
    <p:sldId xmlns:r="http://schemas.openxmlformats.org/officeDocument/2006/relationships" id="336" r:id="R395365f93ffc448f"/>
    <p:sldId xmlns:r="http://schemas.openxmlformats.org/officeDocument/2006/relationships" id="337" r:id="R7ba5027bcb5d45d0"/>
    <p:sldId xmlns:r="http://schemas.openxmlformats.org/officeDocument/2006/relationships" id="338" r:id="R49b616944137478f"/>
    <p:sldId xmlns:r="http://schemas.openxmlformats.org/officeDocument/2006/relationships" id="339" r:id="Re7e9482a011046f8"/>
    <p:sldId xmlns:r="http://schemas.openxmlformats.org/officeDocument/2006/relationships" id="340" r:id="R8ab87ef99ba348dd"/>
    <p:sldId xmlns:r="http://schemas.openxmlformats.org/officeDocument/2006/relationships" id="341" r:id="R0ac802b9eed248da"/>
    <p:sldId xmlns:r="http://schemas.openxmlformats.org/officeDocument/2006/relationships" id="342" r:id="Rc2c2c600fa134d37"/>
    <p:sldId xmlns:r="http://schemas.openxmlformats.org/officeDocument/2006/relationships" id="343" r:id="R1da203a378f34e76"/>
    <p:sldId xmlns:r="http://schemas.openxmlformats.org/officeDocument/2006/relationships" id="344" r:id="R523a935022854bd2"/>
    <p:sldId xmlns:r="http://schemas.openxmlformats.org/officeDocument/2006/relationships" id="345" r:id="R0faa713a16f64e82"/>
    <p:sldId xmlns:r="http://schemas.openxmlformats.org/officeDocument/2006/relationships" id="346" r:id="R0ec856908fde411a"/>
    <p:sldId xmlns:r="http://schemas.openxmlformats.org/officeDocument/2006/relationships" id="347" r:id="R59e8ed19082346fb"/>
    <p:sldId xmlns:r="http://schemas.openxmlformats.org/officeDocument/2006/relationships" id="348" r:id="R330bd80d31c247f4"/>
    <p:sldId xmlns:r="http://schemas.openxmlformats.org/officeDocument/2006/relationships" id="349" r:id="R3ca87efddd8742f7"/>
    <p:sldId xmlns:r="http://schemas.openxmlformats.org/officeDocument/2006/relationships" id="350" r:id="R01d06c3d674e44e3"/>
    <p:sldId xmlns:r="http://schemas.openxmlformats.org/officeDocument/2006/relationships" id="351" r:id="R4d190c3a635d42eb"/>
    <p:sldId xmlns:r="http://schemas.openxmlformats.org/officeDocument/2006/relationships" id="352" r:id="R0b0d161853644888"/>
    <p:sldId xmlns:r="http://schemas.openxmlformats.org/officeDocument/2006/relationships" id="353" r:id="R9946d70846fd4079"/>
    <p:sldId xmlns:r="http://schemas.openxmlformats.org/officeDocument/2006/relationships" id="354" r:id="Rfdd3ed85c3b940c2"/>
    <p:sldId xmlns:r="http://schemas.openxmlformats.org/officeDocument/2006/relationships" id="355" r:id="Raf0a9bd441a74f55"/>
    <p:sldId xmlns:r="http://schemas.openxmlformats.org/officeDocument/2006/relationships" id="356" r:id="Rd58550d5c72e4714"/>
    <p:sldId xmlns:r="http://schemas.openxmlformats.org/officeDocument/2006/relationships" id="357" r:id="Rc715907da719432c"/>
    <p:sldId xmlns:r="http://schemas.openxmlformats.org/officeDocument/2006/relationships" id="358" r:id="Rc2c5914703a144a5"/>
    <p:sldId xmlns:r="http://schemas.openxmlformats.org/officeDocument/2006/relationships" id="359" r:id="R84d435ba44284cff"/>
    <p:sldId xmlns:r="http://schemas.openxmlformats.org/officeDocument/2006/relationships" id="360" r:id="R8a1bbad4944444cc"/>
    <p:sldId xmlns:r="http://schemas.openxmlformats.org/officeDocument/2006/relationships" id="361" r:id="Rf8e2ff3c69354198"/>
    <p:sldId xmlns:r="http://schemas.openxmlformats.org/officeDocument/2006/relationships" id="362" r:id="Re7cad05c75294673"/>
    <p:sldId xmlns:r="http://schemas.openxmlformats.org/officeDocument/2006/relationships" id="363" r:id="R06cbe9d40cb846a1"/>
    <p:sldId xmlns:r="http://schemas.openxmlformats.org/officeDocument/2006/relationships" id="364" r:id="R58c847345a5e4ce1"/>
    <p:sldId xmlns:r="http://schemas.openxmlformats.org/officeDocument/2006/relationships" id="365" r:id="Rd055764f16e344db"/>
    <p:sldId xmlns:r="http://schemas.openxmlformats.org/officeDocument/2006/relationships" id="366" r:id="R5a6f5abd135a4f22"/>
    <p:sldId xmlns:r="http://schemas.openxmlformats.org/officeDocument/2006/relationships" id="367" r:id="Reccef5c9df7f4fd8"/>
    <p:sldId xmlns:r="http://schemas.openxmlformats.org/officeDocument/2006/relationships" id="368" r:id="Ra1fdec145b174d5c"/>
    <p:sldId xmlns:r="http://schemas.openxmlformats.org/officeDocument/2006/relationships" id="369" r:id="Rd645782bc524488f"/>
    <p:sldId xmlns:r="http://schemas.openxmlformats.org/officeDocument/2006/relationships" id="370" r:id="R3c9be055925945f3"/>
    <p:sldId xmlns:r="http://schemas.openxmlformats.org/officeDocument/2006/relationships" id="371" r:id="Rcbcf53ac23a94221"/>
    <p:sldId xmlns:r="http://schemas.openxmlformats.org/officeDocument/2006/relationships" id="372" r:id="R326779172b7c4e82"/>
    <p:sldId xmlns:r="http://schemas.openxmlformats.org/officeDocument/2006/relationships" id="373" r:id="R08e9e4716a4b4028"/>
    <p:sldId xmlns:r="http://schemas.openxmlformats.org/officeDocument/2006/relationships" id="374" r:id="R2c8130b70758446b"/>
    <p:sldId xmlns:r="http://schemas.openxmlformats.org/officeDocument/2006/relationships" id="375" r:id="Rcdf1d735e0c24173"/>
    <p:sldId xmlns:r="http://schemas.openxmlformats.org/officeDocument/2006/relationships" id="376" r:id="Rdb90c2bf15374916"/>
    <p:sldId xmlns:r="http://schemas.openxmlformats.org/officeDocument/2006/relationships" id="377" r:id="R91b4f8479a60472b"/>
    <p:sldId xmlns:r="http://schemas.openxmlformats.org/officeDocument/2006/relationships" id="378" r:id="R18679f56f4f84a47"/>
    <p:sldId xmlns:r="http://schemas.openxmlformats.org/officeDocument/2006/relationships" id="379" r:id="Rc7a4ef2dc5634803"/>
    <p:sldId xmlns:r="http://schemas.openxmlformats.org/officeDocument/2006/relationships" id="380" r:id="R2645769fd2a44305"/>
    <p:sldId xmlns:r="http://schemas.openxmlformats.org/officeDocument/2006/relationships" id="381" r:id="Rbce43bb6ec3e42d2"/>
    <p:sldId xmlns:r="http://schemas.openxmlformats.org/officeDocument/2006/relationships" id="382" r:id="Rfb6e0ca923264ab0"/>
    <p:sldId xmlns:r="http://schemas.openxmlformats.org/officeDocument/2006/relationships" id="383" r:id="R7b0cf555a2474c7d"/>
    <p:sldId xmlns:r="http://schemas.openxmlformats.org/officeDocument/2006/relationships" id="384" r:id="R5e72aa97c7bb40ea"/>
    <p:sldId xmlns:r="http://schemas.openxmlformats.org/officeDocument/2006/relationships" id="385" r:id="R9509dcf85fa84062"/>
    <p:sldId xmlns:r="http://schemas.openxmlformats.org/officeDocument/2006/relationships" id="386" r:id="Rb4cb7919345c4634"/>
    <p:sldId xmlns:r="http://schemas.openxmlformats.org/officeDocument/2006/relationships" id="387" r:id="R8ad7f9a291834b27"/>
    <p:sldId xmlns:r="http://schemas.openxmlformats.org/officeDocument/2006/relationships" id="388" r:id="Rc3ad6122bd364e5d"/>
    <p:sldId xmlns:r="http://schemas.openxmlformats.org/officeDocument/2006/relationships" id="389" r:id="R6980b50d89744d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4c8930a1b8a49ac" /><Relationship Type="http://schemas.openxmlformats.org/officeDocument/2006/relationships/slideMaster" Target="/ppt/slideMasters/slideMaster1.xml" Id="Re5fb6a6963f943cf" /><Relationship Type="http://schemas.openxmlformats.org/officeDocument/2006/relationships/slideMaster" Target="/ppt/slideMasters/slideMaster2.xml" Id="Rc6dbd407e806467b" /><Relationship Type="http://schemas.openxmlformats.org/officeDocument/2006/relationships/notesMaster" Target="/ppt/notesMasters/notesMaster1.xml" Id="Rcb0529d725094405" /><Relationship Type="http://schemas.openxmlformats.org/officeDocument/2006/relationships/presProps" Target="/ppt/presProps.xml" Id="R76e4a550dd7b4458" /><Relationship Type="http://schemas.openxmlformats.org/officeDocument/2006/relationships/viewProps" Target="/ppt/viewProps.xml" Id="R6b4e762b74404871" /><Relationship Type="http://schemas.openxmlformats.org/officeDocument/2006/relationships/tableStyles" Target="/ppt/tableStyles.xml" Id="R1c2b7111651b4033" /><Relationship Type="http://schemas.openxmlformats.org/officeDocument/2006/relationships/slide" Target="/ppt/slides/slide1.xml" Id="Ra8bd0ad989274e23" /><Relationship Type="http://schemas.openxmlformats.org/officeDocument/2006/relationships/slide" Target="/ppt/slides/slide2.xml" Id="Rcf7a9f7dec3940f2" /><Relationship Type="http://schemas.openxmlformats.org/officeDocument/2006/relationships/slide" Target="/ppt/slides/slide3.xml" Id="Rb92071eb58944be8" /><Relationship Type="http://schemas.openxmlformats.org/officeDocument/2006/relationships/slide" Target="/ppt/slides/slide4.xml" Id="R2286b67e630b4f9d" /><Relationship Type="http://schemas.openxmlformats.org/officeDocument/2006/relationships/slide" Target="/ppt/slides/slide5.xml" Id="R6700f16d0429453f" /><Relationship Type="http://schemas.openxmlformats.org/officeDocument/2006/relationships/slide" Target="/ppt/slides/slide6.xml" Id="Re580d41703b4470e" /><Relationship Type="http://schemas.openxmlformats.org/officeDocument/2006/relationships/slide" Target="/ppt/slides/slide7.xml" Id="Rc8893b27dc6b4439" /><Relationship Type="http://schemas.openxmlformats.org/officeDocument/2006/relationships/slide" Target="/ppt/slides/slide8.xml" Id="Rf91bce9b2d5849f1" /><Relationship Type="http://schemas.openxmlformats.org/officeDocument/2006/relationships/slide" Target="/ppt/slides/slide9.xml" Id="R7ab6880f9d8046f8" /><Relationship Type="http://schemas.openxmlformats.org/officeDocument/2006/relationships/slide" Target="/ppt/slides/slide10.xml" Id="R79c91d6ec2414bcc" /><Relationship Type="http://schemas.openxmlformats.org/officeDocument/2006/relationships/slide" Target="/ppt/slides/slide11.xml" Id="R2a1de6ccd9af4e74" /><Relationship Type="http://schemas.openxmlformats.org/officeDocument/2006/relationships/slide" Target="/ppt/slides/slide12.xml" Id="R95e8fe5992cb4219" /><Relationship Type="http://schemas.openxmlformats.org/officeDocument/2006/relationships/slide" Target="/ppt/slides/slide13.xml" Id="R534ec45152c1421d" /><Relationship Type="http://schemas.openxmlformats.org/officeDocument/2006/relationships/slide" Target="/ppt/slides/slide14.xml" Id="R80951e2b3d454fde" /><Relationship Type="http://schemas.openxmlformats.org/officeDocument/2006/relationships/slide" Target="/ppt/slides/slide15.xml" Id="R0b7fbf7318964bcf" /><Relationship Type="http://schemas.openxmlformats.org/officeDocument/2006/relationships/slide" Target="/ppt/slides/slide16.xml" Id="Rf671248186c54646" /><Relationship Type="http://schemas.openxmlformats.org/officeDocument/2006/relationships/slide" Target="/ppt/slides/slide17.xml" Id="R7a9fa22124ec492f" /><Relationship Type="http://schemas.openxmlformats.org/officeDocument/2006/relationships/slide" Target="/ppt/slides/slide18.xml" Id="R5a3499ddd8dd4ed0" /><Relationship Type="http://schemas.openxmlformats.org/officeDocument/2006/relationships/slide" Target="/ppt/slides/slide19.xml" Id="R420b7875ab29455d" /><Relationship Type="http://schemas.openxmlformats.org/officeDocument/2006/relationships/slide" Target="/ppt/slides/slide20.xml" Id="R7faa3d8a3b0f4a34" /><Relationship Type="http://schemas.openxmlformats.org/officeDocument/2006/relationships/slide" Target="/ppt/slides/slide21.xml" Id="Rfa1c5ce71cf54ec7" /><Relationship Type="http://schemas.openxmlformats.org/officeDocument/2006/relationships/slide" Target="/ppt/slides/slide22.xml" Id="R5376bdcbcfa646a2" /><Relationship Type="http://schemas.openxmlformats.org/officeDocument/2006/relationships/slide" Target="/ppt/slides/slide23.xml" Id="R3dfc133d0e1348b9" /><Relationship Type="http://schemas.openxmlformats.org/officeDocument/2006/relationships/slide" Target="/ppt/slides/slide24.xml" Id="R472203c2d13e42c4" /><Relationship Type="http://schemas.openxmlformats.org/officeDocument/2006/relationships/slide" Target="/ppt/slides/slide25.xml" Id="R017e731ae9654422" /><Relationship Type="http://schemas.openxmlformats.org/officeDocument/2006/relationships/slide" Target="/ppt/slides/slide26.xml" Id="Rab1d9d443f274196" /><Relationship Type="http://schemas.openxmlformats.org/officeDocument/2006/relationships/slide" Target="/ppt/slides/slide27.xml" Id="Rd49295e7dcf9407f" /><Relationship Type="http://schemas.openxmlformats.org/officeDocument/2006/relationships/slide" Target="/ppt/slides/slide28.xml" Id="Re3bf42b440294f7e" /><Relationship Type="http://schemas.openxmlformats.org/officeDocument/2006/relationships/slide" Target="/ppt/slides/slide29.xml" Id="R387b6ea395c84eb5" /><Relationship Type="http://schemas.openxmlformats.org/officeDocument/2006/relationships/slide" Target="/ppt/slides/slide30.xml" Id="R6792b475d58c44bf" /><Relationship Type="http://schemas.openxmlformats.org/officeDocument/2006/relationships/slide" Target="/ppt/slides/slide31.xml" Id="Reedd4a7e153c4f6f" /><Relationship Type="http://schemas.openxmlformats.org/officeDocument/2006/relationships/slide" Target="/ppt/slides/slide32.xml" Id="R6208dabf287c405f" /><Relationship Type="http://schemas.openxmlformats.org/officeDocument/2006/relationships/slide" Target="/ppt/slides/slide33.xml" Id="Rac3c01a5ddd9497b" /><Relationship Type="http://schemas.openxmlformats.org/officeDocument/2006/relationships/slide" Target="/ppt/slides/slide34.xml" Id="R582a6ab095f4484e" /><Relationship Type="http://schemas.openxmlformats.org/officeDocument/2006/relationships/slide" Target="/ppt/slides/slide35.xml" Id="Rd6e0ed4e5cd44051" /><Relationship Type="http://schemas.openxmlformats.org/officeDocument/2006/relationships/slide" Target="/ppt/slides/slide36.xml" Id="Rf8810b6a6f5f4cc1" /><Relationship Type="http://schemas.openxmlformats.org/officeDocument/2006/relationships/slide" Target="/ppt/slides/slide37.xml" Id="Rbd89db10cdc34030" /><Relationship Type="http://schemas.openxmlformats.org/officeDocument/2006/relationships/slide" Target="/ppt/slides/slide38.xml" Id="R482803ae742541d7" /><Relationship Type="http://schemas.openxmlformats.org/officeDocument/2006/relationships/slide" Target="/ppt/slides/slide39.xml" Id="Rd6e79daad6474feb" /><Relationship Type="http://schemas.openxmlformats.org/officeDocument/2006/relationships/slide" Target="/ppt/slides/slide40.xml" Id="Rcf85a80be9dd4afb" /><Relationship Type="http://schemas.openxmlformats.org/officeDocument/2006/relationships/slide" Target="/ppt/slides/slide41.xml" Id="Rc69b76e867174715" /><Relationship Type="http://schemas.openxmlformats.org/officeDocument/2006/relationships/slide" Target="/ppt/slides/slide42.xml" Id="R58feed656d054794" /><Relationship Type="http://schemas.openxmlformats.org/officeDocument/2006/relationships/slide" Target="/ppt/slides/slide43.xml" Id="R1130179f68744073" /><Relationship Type="http://schemas.openxmlformats.org/officeDocument/2006/relationships/slide" Target="/ppt/slides/slide44.xml" Id="Rf7f3f88f095146e5" /><Relationship Type="http://schemas.openxmlformats.org/officeDocument/2006/relationships/slide" Target="/ppt/slides/slide45.xml" Id="Rd2746484fa654061" /><Relationship Type="http://schemas.openxmlformats.org/officeDocument/2006/relationships/slide" Target="/ppt/slides/slide46.xml" Id="Re2007da6d6a74d8d" /><Relationship Type="http://schemas.openxmlformats.org/officeDocument/2006/relationships/slide" Target="/ppt/slides/slide47.xml" Id="Rcf103a90bf4f4905" /><Relationship Type="http://schemas.openxmlformats.org/officeDocument/2006/relationships/slide" Target="/ppt/slides/slide48.xml" Id="R0f110737e8a0481a" /><Relationship Type="http://schemas.openxmlformats.org/officeDocument/2006/relationships/slide" Target="/ppt/slides/slide49.xml" Id="R4954c73c7e574d70" /><Relationship Type="http://schemas.openxmlformats.org/officeDocument/2006/relationships/slide" Target="/ppt/slides/slide50.xml" Id="Rafc231b4f97d4cb5" /><Relationship Type="http://schemas.openxmlformats.org/officeDocument/2006/relationships/slide" Target="/ppt/slides/slide51.xml" Id="Rd48cb0c472d14532" /><Relationship Type="http://schemas.openxmlformats.org/officeDocument/2006/relationships/slide" Target="/ppt/slides/slide52.xml" Id="R794c842d23564091" /><Relationship Type="http://schemas.openxmlformats.org/officeDocument/2006/relationships/slide" Target="/ppt/slides/slide53.xml" Id="Rbd0ba3b32f6c4dba" /><Relationship Type="http://schemas.openxmlformats.org/officeDocument/2006/relationships/slide" Target="/ppt/slides/slide54.xml" Id="R826cf23082974243" /><Relationship Type="http://schemas.openxmlformats.org/officeDocument/2006/relationships/slide" Target="/ppt/slides/slide55.xml" Id="R5ec83dc648e84569" /><Relationship Type="http://schemas.openxmlformats.org/officeDocument/2006/relationships/slide" Target="/ppt/slides/slide56.xml" Id="R1f222075ee414e59" /><Relationship Type="http://schemas.openxmlformats.org/officeDocument/2006/relationships/slide" Target="/ppt/slides/slide57.xml" Id="Rd3e7188650eb4bcb" /><Relationship Type="http://schemas.openxmlformats.org/officeDocument/2006/relationships/slide" Target="/ppt/slides/slide58.xml" Id="R1a8afac6e0914d3a" /><Relationship Type="http://schemas.openxmlformats.org/officeDocument/2006/relationships/slide" Target="/ppt/slides/slide59.xml" Id="R94cf16e005af4f65" /><Relationship Type="http://schemas.openxmlformats.org/officeDocument/2006/relationships/slide" Target="/ppt/slides/slide60.xml" Id="R933f084539de4d10" /><Relationship Type="http://schemas.openxmlformats.org/officeDocument/2006/relationships/slide" Target="/ppt/slides/slide61.xml" Id="Rd9bb6168f5a0484b" /><Relationship Type="http://schemas.openxmlformats.org/officeDocument/2006/relationships/slide" Target="/ppt/slides/slide62.xml" Id="R14af6b110ae94c1d" /><Relationship Type="http://schemas.openxmlformats.org/officeDocument/2006/relationships/slide" Target="/ppt/slides/slide63.xml" Id="R008604a8eb8e49f2" /><Relationship Type="http://schemas.openxmlformats.org/officeDocument/2006/relationships/slide" Target="/ppt/slides/slide64.xml" Id="Ra9158590385b4fff" /><Relationship Type="http://schemas.openxmlformats.org/officeDocument/2006/relationships/slide" Target="/ppt/slides/slide65.xml" Id="R10a8e694c21647e4" /><Relationship Type="http://schemas.openxmlformats.org/officeDocument/2006/relationships/slide" Target="/ppt/slides/slide66.xml" Id="R79df9e654cd54d7d" /><Relationship Type="http://schemas.openxmlformats.org/officeDocument/2006/relationships/slide" Target="/ppt/slides/slide67.xml" Id="R29fb3c2631a243c5" /><Relationship Type="http://schemas.openxmlformats.org/officeDocument/2006/relationships/slide" Target="/ppt/slides/slide68.xml" Id="R20cd3ac43e37433a" /><Relationship Type="http://schemas.openxmlformats.org/officeDocument/2006/relationships/slide" Target="/ppt/slides/slide69.xml" Id="R171e2fe7a607420e" /><Relationship Type="http://schemas.openxmlformats.org/officeDocument/2006/relationships/slide" Target="/ppt/slides/slide70.xml" Id="Re545432d76bf4bef" /><Relationship Type="http://schemas.openxmlformats.org/officeDocument/2006/relationships/slide" Target="/ppt/slides/slide71.xml" Id="Reb16f906b8af4d59" /><Relationship Type="http://schemas.openxmlformats.org/officeDocument/2006/relationships/slide" Target="/ppt/slides/slide72.xml" Id="Rc34065274f424a65" /><Relationship Type="http://schemas.openxmlformats.org/officeDocument/2006/relationships/slide" Target="/ppt/slides/slide73.xml" Id="Reca92e12b6814a1f" /><Relationship Type="http://schemas.openxmlformats.org/officeDocument/2006/relationships/slide" Target="/ppt/slides/slide74.xml" Id="Re510ee92f544440a" /><Relationship Type="http://schemas.openxmlformats.org/officeDocument/2006/relationships/slide" Target="/ppt/slides/slide75.xml" Id="Rb37503394c0f4777" /><Relationship Type="http://schemas.openxmlformats.org/officeDocument/2006/relationships/slide" Target="/ppt/slides/slide76.xml" Id="R17f348c4d36c47c7" /><Relationship Type="http://schemas.openxmlformats.org/officeDocument/2006/relationships/slide" Target="/ppt/slides/slide77.xml" Id="R8ce97a6986de4a71" /><Relationship Type="http://schemas.openxmlformats.org/officeDocument/2006/relationships/slide" Target="/ppt/slides/slide78.xml" Id="R71d3f78f095940b1" /><Relationship Type="http://schemas.openxmlformats.org/officeDocument/2006/relationships/slide" Target="/ppt/slides/slide79.xml" Id="Rb843fa7100ef4fb3" /><Relationship Type="http://schemas.openxmlformats.org/officeDocument/2006/relationships/slide" Target="/ppt/slides/slide80.xml" Id="Rd4c218b514bb4124" /><Relationship Type="http://schemas.openxmlformats.org/officeDocument/2006/relationships/slide" Target="/ppt/slides/slide81.xml" Id="R395365f93ffc448f" /><Relationship Type="http://schemas.openxmlformats.org/officeDocument/2006/relationships/slide" Target="/ppt/slides/slide82.xml" Id="R7ba5027bcb5d45d0" /><Relationship Type="http://schemas.openxmlformats.org/officeDocument/2006/relationships/slide" Target="/ppt/slides/slide83.xml" Id="R49b616944137478f" /><Relationship Type="http://schemas.openxmlformats.org/officeDocument/2006/relationships/slide" Target="/ppt/slides/slide84.xml" Id="Re7e9482a011046f8" /><Relationship Type="http://schemas.openxmlformats.org/officeDocument/2006/relationships/slide" Target="/ppt/slides/slide85.xml" Id="R8ab87ef99ba348dd" /><Relationship Type="http://schemas.openxmlformats.org/officeDocument/2006/relationships/slide" Target="/ppt/slides/slide86.xml" Id="R0ac802b9eed248da" /><Relationship Type="http://schemas.openxmlformats.org/officeDocument/2006/relationships/slide" Target="/ppt/slides/slide87.xml" Id="Rc2c2c600fa134d37" /><Relationship Type="http://schemas.openxmlformats.org/officeDocument/2006/relationships/slide" Target="/ppt/slides/slide88.xml" Id="R1da203a378f34e76" /><Relationship Type="http://schemas.openxmlformats.org/officeDocument/2006/relationships/slide" Target="/ppt/slides/slide89.xml" Id="R523a935022854bd2" /><Relationship Type="http://schemas.openxmlformats.org/officeDocument/2006/relationships/slide" Target="/ppt/slides/slide90.xml" Id="R0faa713a16f64e82" /><Relationship Type="http://schemas.openxmlformats.org/officeDocument/2006/relationships/slide" Target="/ppt/slides/slide91.xml" Id="R0ec856908fde411a" /><Relationship Type="http://schemas.openxmlformats.org/officeDocument/2006/relationships/slide" Target="/ppt/slides/slide92.xml" Id="R59e8ed19082346fb" /><Relationship Type="http://schemas.openxmlformats.org/officeDocument/2006/relationships/slide" Target="/ppt/slides/slide93.xml" Id="R330bd80d31c247f4" /><Relationship Type="http://schemas.openxmlformats.org/officeDocument/2006/relationships/slide" Target="/ppt/slides/slide94.xml" Id="R3ca87efddd8742f7" /><Relationship Type="http://schemas.openxmlformats.org/officeDocument/2006/relationships/slide" Target="/ppt/slides/slide95.xml" Id="R01d06c3d674e44e3" /><Relationship Type="http://schemas.openxmlformats.org/officeDocument/2006/relationships/slide" Target="/ppt/slides/slide96.xml" Id="R4d190c3a635d42eb" /><Relationship Type="http://schemas.openxmlformats.org/officeDocument/2006/relationships/slide" Target="/ppt/slides/slide97.xml" Id="R0b0d161853644888" /><Relationship Type="http://schemas.openxmlformats.org/officeDocument/2006/relationships/slide" Target="/ppt/slides/slide98.xml" Id="R9946d70846fd4079" /><Relationship Type="http://schemas.openxmlformats.org/officeDocument/2006/relationships/slide" Target="/ppt/slides/slide99.xml" Id="Rfdd3ed85c3b940c2" /><Relationship Type="http://schemas.openxmlformats.org/officeDocument/2006/relationships/slide" Target="/ppt/slides/slide100.xml" Id="Raf0a9bd441a74f55" /><Relationship Type="http://schemas.openxmlformats.org/officeDocument/2006/relationships/slide" Target="/ppt/slides/slide101.xml" Id="Rd58550d5c72e4714" /><Relationship Type="http://schemas.openxmlformats.org/officeDocument/2006/relationships/slide" Target="/ppt/slides/slide102.xml" Id="Rc715907da719432c" /><Relationship Type="http://schemas.openxmlformats.org/officeDocument/2006/relationships/slide" Target="/ppt/slides/slide103.xml" Id="Rc2c5914703a144a5" /><Relationship Type="http://schemas.openxmlformats.org/officeDocument/2006/relationships/slide" Target="/ppt/slides/slide104.xml" Id="R84d435ba44284cff" /><Relationship Type="http://schemas.openxmlformats.org/officeDocument/2006/relationships/slide" Target="/ppt/slides/slide105.xml" Id="R8a1bbad4944444cc" /><Relationship Type="http://schemas.openxmlformats.org/officeDocument/2006/relationships/slide" Target="/ppt/slides/slide106.xml" Id="Rf8e2ff3c69354198" /><Relationship Type="http://schemas.openxmlformats.org/officeDocument/2006/relationships/slide" Target="/ppt/slides/slide107.xml" Id="Re7cad05c75294673" /><Relationship Type="http://schemas.openxmlformats.org/officeDocument/2006/relationships/slide" Target="/ppt/slides/slide108.xml" Id="R06cbe9d40cb846a1" /><Relationship Type="http://schemas.openxmlformats.org/officeDocument/2006/relationships/slide" Target="/ppt/slides/slide109.xml" Id="R58c847345a5e4ce1" /><Relationship Type="http://schemas.openxmlformats.org/officeDocument/2006/relationships/slide" Target="/ppt/slides/slide110.xml" Id="Rd055764f16e344db" /><Relationship Type="http://schemas.openxmlformats.org/officeDocument/2006/relationships/slide" Target="/ppt/slides/slide111.xml" Id="R5a6f5abd135a4f22" /><Relationship Type="http://schemas.openxmlformats.org/officeDocument/2006/relationships/slide" Target="/ppt/slides/slide112.xml" Id="Reccef5c9df7f4fd8" /><Relationship Type="http://schemas.openxmlformats.org/officeDocument/2006/relationships/slide" Target="/ppt/slides/slide113.xml" Id="Ra1fdec145b174d5c" /><Relationship Type="http://schemas.openxmlformats.org/officeDocument/2006/relationships/slide" Target="/ppt/slides/slide114.xml" Id="Rd645782bc524488f" /><Relationship Type="http://schemas.openxmlformats.org/officeDocument/2006/relationships/slide" Target="/ppt/slides/slide115.xml" Id="R3c9be055925945f3" /><Relationship Type="http://schemas.openxmlformats.org/officeDocument/2006/relationships/slide" Target="/ppt/slides/slide116.xml" Id="Rcbcf53ac23a94221" /><Relationship Type="http://schemas.openxmlformats.org/officeDocument/2006/relationships/slide" Target="/ppt/slides/slide117.xml" Id="R326779172b7c4e82" /><Relationship Type="http://schemas.openxmlformats.org/officeDocument/2006/relationships/slide" Target="/ppt/slides/slide118.xml" Id="R08e9e4716a4b4028" /><Relationship Type="http://schemas.openxmlformats.org/officeDocument/2006/relationships/slide" Target="/ppt/slides/slide119.xml" Id="R2c8130b70758446b" /><Relationship Type="http://schemas.openxmlformats.org/officeDocument/2006/relationships/slide" Target="/ppt/slides/slide120.xml" Id="Rcdf1d735e0c24173" /><Relationship Type="http://schemas.openxmlformats.org/officeDocument/2006/relationships/slide" Target="/ppt/slides/slide121.xml" Id="Rdb90c2bf15374916" /><Relationship Type="http://schemas.openxmlformats.org/officeDocument/2006/relationships/slide" Target="/ppt/slides/slide122.xml" Id="R91b4f8479a60472b" /><Relationship Type="http://schemas.openxmlformats.org/officeDocument/2006/relationships/slide" Target="/ppt/slides/slide123.xml" Id="R18679f56f4f84a47" /><Relationship Type="http://schemas.openxmlformats.org/officeDocument/2006/relationships/slide" Target="/ppt/slides/slide124.xml" Id="Rc7a4ef2dc5634803" /><Relationship Type="http://schemas.openxmlformats.org/officeDocument/2006/relationships/slide" Target="/ppt/slides/slide125.xml" Id="R2645769fd2a44305" /><Relationship Type="http://schemas.openxmlformats.org/officeDocument/2006/relationships/slide" Target="/ppt/slides/slide126.xml" Id="Rbce43bb6ec3e42d2" /><Relationship Type="http://schemas.openxmlformats.org/officeDocument/2006/relationships/slide" Target="/ppt/slides/slide127.xml" Id="Rfb6e0ca923264ab0" /><Relationship Type="http://schemas.openxmlformats.org/officeDocument/2006/relationships/slide" Target="/ppt/slides/slide128.xml" Id="R7b0cf555a2474c7d" /><Relationship Type="http://schemas.openxmlformats.org/officeDocument/2006/relationships/slide" Target="/ppt/slides/slide129.xml" Id="R5e72aa97c7bb40ea" /><Relationship Type="http://schemas.openxmlformats.org/officeDocument/2006/relationships/slide" Target="/ppt/slides/slide130.xml" Id="R9509dcf85fa84062" /><Relationship Type="http://schemas.openxmlformats.org/officeDocument/2006/relationships/slide" Target="/ppt/slides/slide131.xml" Id="Rb4cb7919345c4634" /><Relationship Type="http://schemas.openxmlformats.org/officeDocument/2006/relationships/slide" Target="/ppt/slides/slide132.xml" Id="R8ad7f9a291834b27" /><Relationship Type="http://schemas.openxmlformats.org/officeDocument/2006/relationships/slide" Target="/ppt/slides/slide133.xml" Id="Rc3ad6122bd364e5d" /><Relationship Type="http://schemas.openxmlformats.org/officeDocument/2006/relationships/slide" Target="/ppt/slides/slide134.xml" Id="R6980b50d89744d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a4b790f5aa3f48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FA_MASTER_CLARO">
  <a:themeElements>
    <a:clrScheme name="Física Acústica UCASAL">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Calibri Light"/>
        <a:ea typeface="Calibri Light"/>
        <a:cs typeface="Calibri Light"/>
      </a:majorFont>
      <a:minorFont>
        <a:latin typeface="Calibri"/>
        <a:ea typeface="Calibri"/>
        <a:cs typeface="Calibri"/>
      </a:minorFont>
    </a:fontScheme>
    <a:fmtScheme name="Física Acústica UCA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8621e06e5b4ded" /><Relationship Type="http://schemas.openxmlformats.org/officeDocument/2006/relationships/notesMaster" Target="/ppt/notesMasters/notesMaster1.xml" Id="Rffb2f0991f8a49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bb9e0d8f774bd1" /><Relationship Type="http://schemas.openxmlformats.org/officeDocument/2006/relationships/notesMaster" Target="/ppt/notesMasters/notesMaster1.xml" Id="Rd42cf0edc5f443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4ac64139c64fd3" /><Relationship Type="http://schemas.openxmlformats.org/officeDocument/2006/relationships/notesMaster" Target="/ppt/notesMasters/notesMaster1.xml" Id="R2e35e8aaeac747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2a828aeb604bb3" /><Relationship Type="http://schemas.openxmlformats.org/officeDocument/2006/relationships/notesMaster" Target="/ppt/notesMasters/notesMaster1.xml" Id="Rb1a0a4b81e0842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49a6e78ca84ee9" /><Relationship Type="http://schemas.openxmlformats.org/officeDocument/2006/relationships/notesMaster" Target="/ppt/notesMasters/notesMaster1.xml" Id="Rcce5663b58cd4f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88baebde0b4629" /><Relationship Type="http://schemas.openxmlformats.org/officeDocument/2006/relationships/notesMaster" Target="/ppt/notesMasters/notesMaster1.xml" Id="Ra57c104da46a49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3a9f9df6914536" /><Relationship Type="http://schemas.openxmlformats.org/officeDocument/2006/relationships/notesMaster" Target="/ppt/notesMasters/notesMaster1.xml" Id="R8214bbdde1dc47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fc574c3a464361" /><Relationship Type="http://schemas.openxmlformats.org/officeDocument/2006/relationships/notesMaster" Target="/ppt/notesMasters/notesMaster1.xml" Id="R07b3db43008c49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b92cdc461d4cd9" /><Relationship Type="http://schemas.openxmlformats.org/officeDocument/2006/relationships/notesMaster" Target="/ppt/notesMasters/notesMaster1.xml" Id="Rdde9593e1f3c4b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a5f3bdb15042b1" /><Relationship Type="http://schemas.openxmlformats.org/officeDocument/2006/relationships/notesMaster" Target="/ppt/notesMasters/notesMaster1.xml" Id="Rdf5ce7c0b96f45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c2119158994c3f" /><Relationship Type="http://schemas.openxmlformats.org/officeDocument/2006/relationships/notesMaster" Target="/ppt/notesMasters/notesMaster1.xml" Id="R929a9f82a0f148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85ababb5ef47a8" /><Relationship Type="http://schemas.openxmlformats.org/officeDocument/2006/relationships/notesMaster" Target="/ppt/notesMasters/notesMaster1.xml" Id="R47f0371912204b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7a9e94dfd64adb" /><Relationship Type="http://schemas.openxmlformats.org/officeDocument/2006/relationships/notesMaster" Target="/ppt/notesMasters/notesMaster1.xml" Id="R3b8b83b4829a49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7871aafbce24909" /><Relationship Type="http://schemas.openxmlformats.org/officeDocument/2006/relationships/notesMaster" Target="/ppt/notesMasters/notesMaster1.xml" Id="R28621feb461d48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e36178216346bc" /><Relationship Type="http://schemas.openxmlformats.org/officeDocument/2006/relationships/notesMaster" Target="/ppt/notesMasters/notesMaster1.xml" Id="R37a1aab8bbd84bb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e75120aee67453f" /><Relationship Type="http://schemas.openxmlformats.org/officeDocument/2006/relationships/notesMaster" Target="/ppt/notesMasters/notesMaster1.xml" Id="R79d6ccde101d4e0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3ba41d65dc34c23" /><Relationship Type="http://schemas.openxmlformats.org/officeDocument/2006/relationships/notesMaster" Target="/ppt/notesMasters/notesMaster1.xml" Id="Rde65eede7f08445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c24e50480d94298" /><Relationship Type="http://schemas.openxmlformats.org/officeDocument/2006/relationships/notesMaster" Target="/ppt/notesMasters/notesMaster1.xml" Id="R9629ee91c4aa4e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cb16a0a6ba34a61" /><Relationship Type="http://schemas.openxmlformats.org/officeDocument/2006/relationships/notesMaster" Target="/ppt/notesMasters/notesMaster1.xml" Id="R85ef72fef03e439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6a110a32af7461f" /><Relationship Type="http://schemas.openxmlformats.org/officeDocument/2006/relationships/notesMaster" Target="/ppt/notesMasters/notesMaster1.xml" Id="Rbf74d8edffbd4b3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5ff9fb98e3443a5" /><Relationship Type="http://schemas.openxmlformats.org/officeDocument/2006/relationships/notesMaster" Target="/ppt/notesMasters/notesMaster1.xml" Id="R098be00a75b345e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718ab85f9bd4599" /><Relationship Type="http://schemas.openxmlformats.org/officeDocument/2006/relationships/notesMaster" Target="/ppt/notesMasters/notesMaster1.xml" Id="R65ebc6771b65413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f6800c6bc9444bd" /><Relationship Type="http://schemas.openxmlformats.org/officeDocument/2006/relationships/notesMaster" Target="/ppt/notesMasters/notesMaster1.xml" Id="Rab66fa11895e4b0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3abf217aa3448c5" /><Relationship Type="http://schemas.openxmlformats.org/officeDocument/2006/relationships/notesMaster" Target="/ppt/notesMasters/notesMaster1.xml" Id="R13e61ba7bd5f4a2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dbd62a04a4d4062" /><Relationship Type="http://schemas.openxmlformats.org/officeDocument/2006/relationships/notesMaster" Target="/ppt/notesMasters/notesMaster1.xml" Id="Rc20ccc2d3c7a485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a660fd9a6114fd1" /><Relationship Type="http://schemas.openxmlformats.org/officeDocument/2006/relationships/notesMaster" Target="/ppt/notesMasters/notesMaster1.xml" Id="R13666293c2004a8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5d15075b6544eca" /><Relationship Type="http://schemas.openxmlformats.org/officeDocument/2006/relationships/notesMaster" Target="/ppt/notesMasters/notesMaster1.xml" Id="R7265c0b5881346b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d07f1b938ae4071" /><Relationship Type="http://schemas.openxmlformats.org/officeDocument/2006/relationships/notesMaster" Target="/ppt/notesMasters/notesMaster1.xml" Id="Rc4f8851451e849c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6bfd52b691c4b63" /><Relationship Type="http://schemas.openxmlformats.org/officeDocument/2006/relationships/notesMaster" Target="/ppt/notesMasters/notesMaster1.xml" Id="Rf7143716052c439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ddbe614e260437b" /><Relationship Type="http://schemas.openxmlformats.org/officeDocument/2006/relationships/notesMaster" Target="/ppt/notesMasters/notesMaster1.xml" Id="Rbdc3c70185054eb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b6d7aafd0e34ba9" /><Relationship Type="http://schemas.openxmlformats.org/officeDocument/2006/relationships/notesMaster" Target="/ppt/notesMasters/notesMaster1.xml" Id="Rda23b9c6b999418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be169b81e0a4168" /><Relationship Type="http://schemas.openxmlformats.org/officeDocument/2006/relationships/notesMaster" Target="/ppt/notesMasters/notesMaster1.xml" Id="R387272b87fc941f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2c14db309f0447e" /><Relationship Type="http://schemas.openxmlformats.org/officeDocument/2006/relationships/notesMaster" Target="/ppt/notesMasters/notesMaster1.xml" Id="R9c96cc63f9cb43a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cff2c35b7c94e3c" /><Relationship Type="http://schemas.openxmlformats.org/officeDocument/2006/relationships/notesMaster" Target="/ppt/notesMasters/notesMaster1.xml" Id="R6a79c3ec424b46f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dd71b3354f84bb4" /><Relationship Type="http://schemas.openxmlformats.org/officeDocument/2006/relationships/notesMaster" Target="/ppt/notesMasters/notesMaster1.xml" Id="R11e55523159b4d7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b93ba603b184849" /><Relationship Type="http://schemas.openxmlformats.org/officeDocument/2006/relationships/notesMaster" Target="/ppt/notesMasters/notesMaster1.xml" Id="R82f18673bb3f4ad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f60b60dd58f490b" /><Relationship Type="http://schemas.openxmlformats.org/officeDocument/2006/relationships/notesMaster" Target="/ppt/notesMasters/notesMaster1.xml" Id="R44b1cc82c1e3476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0413e48f9bf412a" /><Relationship Type="http://schemas.openxmlformats.org/officeDocument/2006/relationships/notesMaster" Target="/ppt/notesMasters/notesMaster1.xml" Id="R2aeee6fc004542c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f87b9995e1f4caa" /><Relationship Type="http://schemas.openxmlformats.org/officeDocument/2006/relationships/notesMaster" Target="/ppt/notesMasters/notesMaster1.xml" Id="Rc417cacc6f564c7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fe76ddc3aeb4c5a" /><Relationship Type="http://schemas.openxmlformats.org/officeDocument/2006/relationships/notesMaster" Target="/ppt/notesMasters/notesMaster1.xml" Id="R271cbbc3695c4d8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dad5023929440ef" /><Relationship Type="http://schemas.openxmlformats.org/officeDocument/2006/relationships/notesMaster" Target="/ppt/notesMasters/notesMaster1.xml" Id="R0ebb4ac123904d2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6c8ef6398ba4c61" /><Relationship Type="http://schemas.openxmlformats.org/officeDocument/2006/relationships/notesMaster" Target="/ppt/notesMasters/notesMaster1.xml" Id="Ra4817d3b57444ad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2ffebd67e4246ef" /><Relationship Type="http://schemas.openxmlformats.org/officeDocument/2006/relationships/notesMaster" Target="/ppt/notesMasters/notesMaster1.xml" Id="R31c241a1430b4c7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2bb465c8f7040cb" /><Relationship Type="http://schemas.openxmlformats.org/officeDocument/2006/relationships/notesMaster" Target="/ppt/notesMasters/notesMaster1.xml" Id="Rc62d3c0f86a448d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6151c3d8cc343da" /><Relationship Type="http://schemas.openxmlformats.org/officeDocument/2006/relationships/notesMaster" Target="/ppt/notesMasters/notesMaster1.xml" Id="R02b2e3b9d93f411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ee2b694d84041eb" /><Relationship Type="http://schemas.openxmlformats.org/officeDocument/2006/relationships/notesMaster" Target="/ppt/notesMasters/notesMaster1.xml" Id="Rb2e4819c4afb48a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209e5eb936b4652" /><Relationship Type="http://schemas.openxmlformats.org/officeDocument/2006/relationships/notesMaster" Target="/ppt/notesMasters/notesMaster1.xml" Id="R9090d6e4ad60459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81707f55ce74932" /><Relationship Type="http://schemas.openxmlformats.org/officeDocument/2006/relationships/notesMaster" Target="/ppt/notesMasters/notesMaster1.xml" Id="R4aa83c492ad9412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bdb4e59953d4f67" /><Relationship Type="http://schemas.openxmlformats.org/officeDocument/2006/relationships/notesMaster" Target="/ppt/notesMasters/notesMaster1.xml" Id="R654ea7dcbdb34e8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8d65e064ce34b79" /><Relationship Type="http://schemas.openxmlformats.org/officeDocument/2006/relationships/notesMaster" Target="/ppt/notesMasters/notesMaster1.xml" Id="Re3dd0382180a4fb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bebfbaa011f4e7b" /><Relationship Type="http://schemas.openxmlformats.org/officeDocument/2006/relationships/notesMaster" Target="/ppt/notesMasters/notesMaster1.xml" Id="R1bb39e5acabb49b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1eff46cc2aa46b4" /><Relationship Type="http://schemas.openxmlformats.org/officeDocument/2006/relationships/notesMaster" Target="/ppt/notesMasters/notesMaster1.xml" Id="Rf715a1fe2ad0477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b0248ab8c1140dd" /><Relationship Type="http://schemas.openxmlformats.org/officeDocument/2006/relationships/notesMaster" Target="/ppt/notesMasters/notesMaster1.xml" Id="Rba4f49339809449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be49ef964df44fb" /><Relationship Type="http://schemas.openxmlformats.org/officeDocument/2006/relationships/notesMaster" Target="/ppt/notesMasters/notesMaster1.xml" Id="R7bac811c14f542c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8a7c56c880a4409" /><Relationship Type="http://schemas.openxmlformats.org/officeDocument/2006/relationships/notesMaster" Target="/ppt/notesMasters/notesMaster1.xml" Id="R9b656cbf5a9a466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0aa6862a78a4d2a" /><Relationship Type="http://schemas.openxmlformats.org/officeDocument/2006/relationships/notesMaster" Target="/ppt/notesMasters/notesMaster1.xml" Id="Ra56a88c051064c2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27df5feab364235" /><Relationship Type="http://schemas.openxmlformats.org/officeDocument/2006/relationships/notesMaster" Target="/ppt/notesMasters/notesMaster1.xml" Id="R811676077b97403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e063edb69174888" /><Relationship Type="http://schemas.openxmlformats.org/officeDocument/2006/relationships/notesMaster" Target="/ppt/notesMasters/notesMaster1.xml" Id="Rbbb5ffaf65a5422e"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308133e6a4f46cb" /><Relationship Type="http://schemas.openxmlformats.org/officeDocument/2006/relationships/notesMaster" Target="/ppt/notesMasters/notesMaster1.xml" Id="Rdd34b1883b354834"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27dcacdf9bc4967" /><Relationship Type="http://schemas.openxmlformats.org/officeDocument/2006/relationships/notesMaster" Target="/ppt/notesMasters/notesMaster1.xml" Id="R8eb0c803309d49d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f5e01cbc48f4cc6" /><Relationship Type="http://schemas.openxmlformats.org/officeDocument/2006/relationships/notesMaster" Target="/ppt/notesMasters/notesMaster1.xml" Id="R142d43c58fa749e3"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fe5cb8549394edb" /><Relationship Type="http://schemas.openxmlformats.org/officeDocument/2006/relationships/notesMaster" Target="/ppt/notesMasters/notesMaster1.xml" Id="R086b71b4d08742d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4b7a9e8faf564613" /><Relationship Type="http://schemas.openxmlformats.org/officeDocument/2006/relationships/notesMaster" Target="/ppt/notesMasters/notesMaster1.xml" Id="Rfa8bb2fbc32f4d2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774c997b8d08438d" /><Relationship Type="http://schemas.openxmlformats.org/officeDocument/2006/relationships/notesMaster" Target="/ppt/notesMasters/notesMaster1.xml" Id="R192371f1093b494e"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9afccdf143974064" /><Relationship Type="http://schemas.openxmlformats.org/officeDocument/2006/relationships/notesMaster" Target="/ppt/notesMasters/notesMaster1.xml" Id="Rad4ab5f10220438b"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cd7368b7b8af40fb" /><Relationship Type="http://schemas.openxmlformats.org/officeDocument/2006/relationships/notesMaster" Target="/ppt/notesMasters/notesMaster1.xml" Id="R1a9d4c2800354adb"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52a2ec4323364f63" /><Relationship Type="http://schemas.openxmlformats.org/officeDocument/2006/relationships/notesMaster" Target="/ppt/notesMasters/notesMaster1.xml" Id="R69d7d305b9114b0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49b2818caaa34f6f" /><Relationship Type="http://schemas.openxmlformats.org/officeDocument/2006/relationships/notesMaster" Target="/ppt/notesMasters/notesMaster1.xml" Id="Re145c4c7a9f44818"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3926baa8ad5e46fe" /><Relationship Type="http://schemas.openxmlformats.org/officeDocument/2006/relationships/notesMaster" Target="/ppt/notesMasters/notesMaster1.xml" Id="R8150318845f940aa"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cd74422193764a36" /><Relationship Type="http://schemas.openxmlformats.org/officeDocument/2006/relationships/notesMaster" Target="/ppt/notesMasters/notesMaster1.xml" Id="R1376e23f6aaa473c"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4db92dbf79184d1c" /><Relationship Type="http://schemas.openxmlformats.org/officeDocument/2006/relationships/notesMaster" Target="/ppt/notesMasters/notesMaster1.xml" Id="R38d0faa67baf4d5f"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b95b8795400749e4" /><Relationship Type="http://schemas.openxmlformats.org/officeDocument/2006/relationships/notesMaster" Target="/ppt/notesMasters/notesMaster1.xml" Id="R3f424dd615fc4406"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8eb8240431f64c93" /><Relationship Type="http://schemas.openxmlformats.org/officeDocument/2006/relationships/notesMaster" Target="/ppt/notesMasters/notesMaster1.xml" Id="Rb9383fd95f7d47c6"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45ecfcfa95e44396" /><Relationship Type="http://schemas.openxmlformats.org/officeDocument/2006/relationships/notesMaster" Target="/ppt/notesMasters/notesMaster1.xml" Id="Rd021c0f8371a4d00"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7a60c04bc03a4358" /><Relationship Type="http://schemas.openxmlformats.org/officeDocument/2006/relationships/notesMaster" Target="/ppt/notesMasters/notesMaster1.xml" Id="Rb874851444fa4c1f"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9284d614bae0438a" /><Relationship Type="http://schemas.openxmlformats.org/officeDocument/2006/relationships/notesMaster" Target="/ppt/notesMasters/notesMaster1.xml" Id="Red9a0fdb291c450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774d5ad1c06f4c1c" /><Relationship Type="http://schemas.openxmlformats.org/officeDocument/2006/relationships/notesMaster" Target="/ppt/notesMasters/notesMaster1.xml" Id="R19d73a35a93c45a0"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9fbdb8bd819b4036" /><Relationship Type="http://schemas.openxmlformats.org/officeDocument/2006/relationships/notesMaster" Target="/ppt/notesMasters/notesMaster1.xml" Id="Rfa1ec594edf94d55"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08729d9299b54beb" /><Relationship Type="http://schemas.openxmlformats.org/officeDocument/2006/relationships/notesMaster" Target="/ppt/notesMasters/notesMaster1.xml" Id="R92a27ecf0d434af6"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2bcf832e31df4117" /><Relationship Type="http://schemas.openxmlformats.org/officeDocument/2006/relationships/notesMaster" Target="/ppt/notesMasters/notesMaster1.xml" Id="R554c8a6a80464656"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82c91006f0f24e33" /><Relationship Type="http://schemas.openxmlformats.org/officeDocument/2006/relationships/notesMaster" Target="/ppt/notesMasters/notesMaster1.xml" Id="R87d2043afe80441f"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8ad0c6eb3f79416d" /><Relationship Type="http://schemas.openxmlformats.org/officeDocument/2006/relationships/notesMaster" Target="/ppt/notesMasters/notesMaster1.xml" Id="R8002cd2cc8b24172"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cb13d92542bc4ba7" /><Relationship Type="http://schemas.openxmlformats.org/officeDocument/2006/relationships/notesMaster" Target="/ppt/notesMasters/notesMaster1.xml" Id="Re554f8be2c904e15"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55995a4b58f2456d" /><Relationship Type="http://schemas.openxmlformats.org/officeDocument/2006/relationships/notesMaster" Target="/ppt/notesMasters/notesMaster1.xml" Id="R758339e136bb449b"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ecc86c967f9a440e" /><Relationship Type="http://schemas.openxmlformats.org/officeDocument/2006/relationships/notesMaster" Target="/ppt/notesMasters/notesMaster1.xml" Id="Rf2fe039bfd3042ac"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2d536ff32fa9417f" /><Relationship Type="http://schemas.openxmlformats.org/officeDocument/2006/relationships/notesMaster" Target="/ppt/notesMasters/notesMaster1.xml" Id="Rbc26ba21795844c1"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017c7bf5cd0c4941" /><Relationship Type="http://schemas.openxmlformats.org/officeDocument/2006/relationships/notesMaster" Target="/ppt/notesMasters/notesMaster1.xml" Id="Re7eb550c42974dba"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0102ae21f58448d1" /><Relationship Type="http://schemas.openxmlformats.org/officeDocument/2006/relationships/notesMaster" Target="/ppt/notesMasters/notesMaster1.xml" Id="R09e54e89467247af"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5e3c701f0f0f4d91" /><Relationship Type="http://schemas.openxmlformats.org/officeDocument/2006/relationships/notesMaster" Target="/ppt/notesMasters/notesMaster1.xml" Id="R972f5d039cf546c1"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a9f7c34af7c94732" /><Relationship Type="http://schemas.openxmlformats.org/officeDocument/2006/relationships/notesMaster" Target="/ppt/notesMasters/notesMaster1.xml" Id="R5499d46f796b4c5d"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b22d027a3d89498b" /><Relationship Type="http://schemas.openxmlformats.org/officeDocument/2006/relationships/notesMaster" Target="/ppt/notesMasters/notesMaster1.xml" Id="R6d1a428ed66c4af3"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ea3e91e3982b4cd6" /><Relationship Type="http://schemas.openxmlformats.org/officeDocument/2006/relationships/notesMaster" Target="/ppt/notesMasters/notesMaster1.xml" Id="R9ace29f717c249c0"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47229ce4b4854e7b" /><Relationship Type="http://schemas.openxmlformats.org/officeDocument/2006/relationships/notesMaster" Target="/ppt/notesMasters/notesMaster1.xml" Id="R7e3bf3b8b55a40a2"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d84b624a888441a2" /><Relationship Type="http://schemas.openxmlformats.org/officeDocument/2006/relationships/notesMaster" Target="/ppt/notesMasters/notesMaster1.xml" Id="Re3b9435fb9884946"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df694188dcbf4a1d" /><Relationship Type="http://schemas.openxmlformats.org/officeDocument/2006/relationships/notesMaster" Target="/ppt/notesMasters/notesMaster1.xml" Id="Rcee982a575ac44bc"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bb2ce52c15174831" /><Relationship Type="http://schemas.openxmlformats.org/officeDocument/2006/relationships/notesMaster" Target="/ppt/notesMasters/notesMaster1.xml" Id="R951380cfddcb412f"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226d6ba85dd34913" /><Relationship Type="http://schemas.openxmlformats.org/officeDocument/2006/relationships/notesMaster" Target="/ppt/notesMasters/notesMaster1.xml" Id="R5332cdbe1c6e4857"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92c0b87077ba449c" /><Relationship Type="http://schemas.openxmlformats.org/officeDocument/2006/relationships/notesMaster" Target="/ppt/notesMasters/notesMaster1.xml" Id="R9433c2b712d94b4f"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c89d872d782544b7" /><Relationship Type="http://schemas.openxmlformats.org/officeDocument/2006/relationships/notesMaster" Target="/ppt/notesMasters/notesMaster1.xml" Id="Rd2b767b337e54b4f"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bf6b5cfdd8bd46ee" /><Relationship Type="http://schemas.openxmlformats.org/officeDocument/2006/relationships/notesMaster" Target="/ppt/notesMasters/notesMaster1.xml" Id="Rab314d78597a4599"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06e2163a477d4eb1" /><Relationship Type="http://schemas.openxmlformats.org/officeDocument/2006/relationships/notesMaster" Target="/ppt/notesMasters/notesMaster1.xml" Id="R924f6d6a98c04c53"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74a704b55c4c404a" /><Relationship Type="http://schemas.openxmlformats.org/officeDocument/2006/relationships/notesMaster" Target="/ppt/notesMasters/notesMaster1.xml" Id="Re3e825aa31c649d1"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eefc7216c87a4b49" /><Relationship Type="http://schemas.openxmlformats.org/officeDocument/2006/relationships/notesMaster" Target="/ppt/notesMasters/notesMaster1.xml" Id="Rfc3b12ec816c449f"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d9121cd72d6842b7" /><Relationship Type="http://schemas.openxmlformats.org/officeDocument/2006/relationships/notesMaster" Target="/ppt/notesMasters/notesMaster1.xml" Id="Ra4ad1fd518034307"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edf41ec183e548c2" /><Relationship Type="http://schemas.openxmlformats.org/officeDocument/2006/relationships/notesMaster" Target="/ppt/notesMasters/notesMaster1.xml" Id="Rfb3436fadf65488e"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6c94a4d4b92e4543" /><Relationship Type="http://schemas.openxmlformats.org/officeDocument/2006/relationships/notesMaster" Target="/ppt/notesMasters/notesMaster1.xml" Id="Rc9b6d631bb0c4616"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6a55f4d4edab40b4" /><Relationship Type="http://schemas.openxmlformats.org/officeDocument/2006/relationships/notesMaster" Target="/ppt/notesMasters/notesMaster1.xml" Id="R1a4a5809101f4b30"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16aba4a5a10f447e" /><Relationship Type="http://schemas.openxmlformats.org/officeDocument/2006/relationships/notesMaster" Target="/ppt/notesMasters/notesMaster1.xml" Id="R88099de520c64d97"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de38dc3dc44e4afe" /><Relationship Type="http://schemas.openxmlformats.org/officeDocument/2006/relationships/notesMaster" Target="/ppt/notesMasters/notesMaster1.xml" Id="R674f1081dfbc49a5"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b6ebbccea0c54558" /><Relationship Type="http://schemas.openxmlformats.org/officeDocument/2006/relationships/notesMaster" Target="/ppt/notesMasters/notesMaster1.xml" Id="R4c5e6b7aaf9644a2"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ed28c86f440847b7" /><Relationship Type="http://schemas.openxmlformats.org/officeDocument/2006/relationships/notesMaster" Target="/ppt/notesMasters/notesMaster1.xml" Id="R187797bcd8e446bb"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77ec8949ef6c42bc" /><Relationship Type="http://schemas.openxmlformats.org/officeDocument/2006/relationships/notesMaster" Target="/ppt/notesMasters/notesMaster1.xml" Id="R5611fec7ce0b4bd7"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c27db338578d4ab9" /><Relationship Type="http://schemas.openxmlformats.org/officeDocument/2006/relationships/notesMaster" Target="/ppt/notesMasters/notesMaster1.xml" Id="R6fd5264c66824f8f"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251e1ff44d11452a" /><Relationship Type="http://schemas.openxmlformats.org/officeDocument/2006/relationships/notesMaster" Target="/ppt/notesMasters/notesMaster1.xml" Id="Rfd576b53de874af7"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297e5565aaa94c8b" /><Relationship Type="http://schemas.openxmlformats.org/officeDocument/2006/relationships/notesMaster" Target="/ppt/notesMasters/notesMaster1.xml" Id="R58d20f8897df4807"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37388c397af647be" /><Relationship Type="http://schemas.openxmlformats.org/officeDocument/2006/relationships/notesMaster" Target="/ppt/notesMasters/notesMaster1.xml" Id="R44de1def4d3c4a1c"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a5808fbbbb984021" /><Relationship Type="http://schemas.openxmlformats.org/officeDocument/2006/relationships/notesMaster" Target="/ppt/notesMasters/notesMaster1.xml" Id="R96d8bd571d7a431d"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a53acac39b5941d1" /><Relationship Type="http://schemas.openxmlformats.org/officeDocument/2006/relationships/notesMaster" Target="/ppt/notesMasters/notesMaster1.xml" Id="Rcc4200390af2425e"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9e1de4eb7ca5437e" /><Relationship Type="http://schemas.openxmlformats.org/officeDocument/2006/relationships/notesMaster" Target="/ppt/notesMasters/notesMaster1.xml" Id="R84eef9cb1ac647f4"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b14c3962f4cd4f6b" /><Relationship Type="http://schemas.openxmlformats.org/officeDocument/2006/relationships/notesMaster" Target="/ppt/notesMasters/notesMaster1.xml" Id="Ra0de89403a4d4b8b"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06a9041014bf428b" /><Relationship Type="http://schemas.openxmlformats.org/officeDocument/2006/relationships/notesMaster" Target="/ppt/notesMasters/notesMaster1.xml" Id="R504d7cdf316e497e"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f243dc2cc6594bc5" /><Relationship Type="http://schemas.openxmlformats.org/officeDocument/2006/relationships/notesMaster" Target="/ppt/notesMasters/notesMaster1.xml" Id="R2362060f0f354a6d"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6902cece16bf4759" /><Relationship Type="http://schemas.openxmlformats.org/officeDocument/2006/relationships/notesMaster" Target="/ppt/notesMasters/notesMaster1.xml" Id="R0253731a558b40a6"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068a6d3ad2f34c2f" /><Relationship Type="http://schemas.openxmlformats.org/officeDocument/2006/relationships/notesMaster" Target="/ppt/notesMasters/notesMaster1.xml" Id="R4d02cdcc553844c1"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ca1cf84c281548b3" /><Relationship Type="http://schemas.openxmlformats.org/officeDocument/2006/relationships/notesMaster" Target="/ppt/notesMasters/notesMaster1.xml" Id="Rc8cee544dc3a4a19"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bbc7271badd44e2c" /><Relationship Type="http://schemas.openxmlformats.org/officeDocument/2006/relationships/notesMaster" Target="/ppt/notesMasters/notesMaster1.xml" Id="Rd15f555b079846a2"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2c2e1b856bd24b62" /><Relationship Type="http://schemas.openxmlformats.org/officeDocument/2006/relationships/notesMaster" Target="/ppt/notesMasters/notesMaster1.xml" Id="R7a40e5be961f42cd"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314221e640f0480e" /><Relationship Type="http://schemas.openxmlformats.org/officeDocument/2006/relationships/notesMaster" Target="/ppt/notesMasters/notesMaster1.xml" Id="Rb12f281bd9e14ecb"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775ea0aa75e648d4" /><Relationship Type="http://schemas.openxmlformats.org/officeDocument/2006/relationships/notesMaster" Target="/ppt/notesMasters/notesMaster1.xml" Id="R1000d81063be4cb9"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c26ffa7677964b21" /><Relationship Type="http://schemas.openxmlformats.org/officeDocument/2006/relationships/notesMaster" Target="/ppt/notesMasters/notesMaster1.xml" Id="R4ea5e0c5c55c4db0"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f6450c16c81848b5" /><Relationship Type="http://schemas.openxmlformats.org/officeDocument/2006/relationships/notesMaster" Target="/ppt/notesMasters/notesMaster1.xml" Id="R17cbca4636634473"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ab9bbf4652a04c39" /><Relationship Type="http://schemas.openxmlformats.org/officeDocument/2006/relationships/notesMaster" Target="/ppt/notesMasters/notesMaster1.xml" Id="R908a341088194a15"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5727e14845ae4b76" /><Relationship Type="http://schemas.openxmlformats.org/officeDocument/2006/relationships/notesMaster" Target="/ppt/notesMasters/notesMaster1.xml" Id="Rb43dcbc4c7fe439e"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c54bb9470008463d" /><Relationship Type="http://schemas.openxmlformats.org/officeDocument/2006/relationships/notesMaster" Target="/ppt/notesMasters/notesMaster1.xml" Id="Rfbcdcfe98c3a45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 min.</a:t>
            </a:r>
          </a:p>
          <a:p xmlns:a="http://schemas.openxmlformats.org/drawingml/2006/main">
            <a:r>
              <a:t>- **Explicación extendida:** Presentar el pasaje desde U6 y la frontera con U8. Este inicio instala la diferencia entre descripción física y respuesta perceptual, recuperando U4–U6 sin volver a desarrollarlas. Idea que debe quedar al cerrar: La psicoacústica estudia relaciones entre estímulos y respuestas, no sensaciones aisladas.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pares físico–perceptuales esperan distinguir en esta unidad?</a:t>
            </a:r>
          </a:p>
          <a:p xmlns:a="http://schemas.openxmlformats.org/drawingml/2006/main">
            <a:r>
              <a:t>- **Respuesta esperada:** Frecuencia–pitch, nivel–sonoridad, espectro–timbre y duración física–percibida son ejemplos iniciales.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Abrir con dos señales físicamente comparables que se oyen distinto.</a:t>
            </a:r>
          </a:p>
          <a:p xmlns:a="http://schemas.openxmlformats.org/drawingml/2006/main">
            <a:r>
              <a:t>- **[Sources]:** PO; TEX 7.1; PDF p. 177; BR.</a:t>
            </a:r>
          </a:p>
          <a:p xmlns:a="http://schemas.openxmlformats.org/drawingml/2006/main">
            <a:r>
              <a:t/>
            </a:r>
          </a:p>
          <a:p xmlns:a="http://schemas.openxmlformats.org/drawingml/2006/main">
            <a:r>
              <a:t>[Alt text]</a:t>
            </a:r>
          </a:p>
          <a:p xmlns:a="http://schemas.openxmlformats.org/drawingml/2006/main">
            <a:r>
              <a:t>Motivo técnico señal–oyente de bajo contraste; sin stock. La idea central es: La psicoacústica estudia relaciones entre estímulos y respuestas, no sensaciones aisladas.</a:t>
            </a:r>
          </a:p>
          <a:p xmlns:a="http://schemas.openxmlformats.org/drawingml/2006/main">
            <a:r>
              <a:t/>
            </a:r>
          </a:p>
          <a:p xmlns:a="http://schemas.openxmlformats.org/drawingml/2006/main">
            <a:r>
              <a:t>[Sources]</a:t>
            </a:r>
          </a:p>
          <a:p xmlns:a="http://schemas.openxmlformats.org/drawingml/2006/main">
            <a:r>
              <a:t>- Fuentes de contenido: PO; TEX 7.1; PDF p. 177; BR.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Recoger predicciones sin convertir la demo en medición. Este inicio instala la diferencia entre descripción física y respuesta perceptual, recuperando U4–U6 sin volver a desarrollarlas. Idea que debe quedar al cerrar: Igual `L_p` no garantiza igual experiencia. Ejemplo para desarrollar oralmente: Comparar tonos de 250 Hz y 1 kHz con igual RMS digital nominal. La reproducción no equivale a igual `L_p` en el oído.</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Dos tonos tienen igual RMS digital nominal y distinta frecuencia. Prediga: ¿resultarán igualmente sonoros? Justifique sin convertir la reproducción en una medición.</a:t>
            </a:r>
          </a:p>
          <a:p xmlns:a="http://schemas.openxmlformats.org/drawingml/2006/main">
            <a:r>
              <a:t>- **Respuesta esperada:** Igual `L_p` no garantiza igual experiencia.</a:t>
            </a:r>
          </a:p>
          <a:p xmlns:a="http://schemas.openxmlformats.org/drawingml/2006/main">
            <a:r>
              <a:t>- **Demostración o multimedia:** Reproducir U07-MEDIA-001 solo después de la predicción. Dos tonos de 1 s, igual RMS digital nominal, volumen confortable. Alternativa: barras RMS y ondas estáticas.</a:t>
            </a:r>
          </a:p>
          <a:p xmlns:a="http://schemas.openxmlformats.org/drawingml/2006/main">
            <a:r>
              <a:t>- **Error frecuente a vigilar:** Confundir una magnitud física con su correlato perceptual.</a:t>
            </a:r>
          </a:p>
          <a:p xmlns:a="http://schemas.openxmlformats.org/drawingml/2006/main">
            <a:r>
              <a:t>- **Transición oral:** La diferencia obliga a separar señal y respuesta.</a:t>
            </a:r>
          </a:p>
          <a:p xmlns:a="http://schemas.openxmlformats.org/drawingml/2006/main">
            <a:r>
              <a:t>- **[Sources]:** TEX 7.1; PDF p. 177; BR; EP.</a:t>
            </a:r>
          </a:p>
          <a:p xmlns:a="http://schemas.openxmlformats.org/drawingml/2006/main">
            <a:r>
              <a:t/>
            </a:r>
          </a:p>
          <a:p xmlns:a="http://schemas.openxmlformats.org/drawingml/2006/main">
            <a:r>
              <a:t>[Alt text]</a:t>
            </a:r>
          </a:p>
          <a:p xmlns:a="http://schemas.openxmlformats.org/drawingml/2006/main">
            <a:r>
              <a:t>Tonos sintéticos 250 Hz y 1 kHz.</a:t>
            </a:r>
          </a:p>
          <a:p xmlns:a="http://schemas.openxmlformats.org/drawingml/2006/main">
            <a:r>
              <a:t/>
            </a:r>
          </a:p>
          <a:p xmlns:a="http://schemas.openxmlformats.org/drawingml/2006/main">
            <a:r>
              <a:t>[Sources]</a:t>
            </a:r>
          </a:p>
          <a:p xmlns:a="http://schemas.openxmlformats.org/drawingml/2006/main">
            <a:r>
              <a:t>- Fuentes de contenido: TEX 7.1; PDF p. 177; BR;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Recuperar U6 sin reenseñar anatomía. Este inicio instala la diferencia entre descripción física y respuesta perceptual, recuperando U4–U6 sin volver a desarrollarlas. Idea que debe quedar al cerrar: Codificación periférica condiciona la percepción, pero no la determina por sí sola.</a:t>
            </a:r>
          </a:p>
          <a:p xmlns:a="http://schemas.openxmlformats.org/drawingml/2006/main">
            <a:r>
              <a:t>- **Guía para el visual/diagrama:** Recorrido sugerido: Campo acústico → Oído periférico → Tarea → Respuesta.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Codificación periférica condiciona la percepción, pero no la determina por sí sola.</a:t>
            </a:r>
          </a:p>
          <a:p xmlns:a="http://schemas.openxmlformats.org/drawingml/2006/main">
            <a:r>
              <a:t>- **Demostración o multimedia:** —</a:t>
            </a:r>
          </a:p>
          <a:p xmlns:a="http://schemas.openxmlformats.org/drawingml/2006/main">
            <a:r>
              <a:t>- **Error frecuente a vigilar:** Confundir una magnitud física con su correlato perceptual.</a:t>
            </a:r>
          </a:p>
          <a:p xmlns:a="http://schemas.openxmlformats.org/drawingml/2006/main">
            <a:r>
              <a:t>- **Transición oral:** Preguntar qué datos necesita una observación perceptual.</a:t>
            </a:r>
          </a:p>
          <a:p xmlns:a="http://schemas.openxmlformats.org/drawingml/2006/main">
            <a:r>
              <a:t>- **[Sources]:** PREV U06-103–105; TEX 7.1–7.2; CM.</a:t>
            </a:r>
          </a:p>
          <a:p xmlns:a="http://schemas.openxmlformats.org/drawingml/2006/main">
            <a:r>
              <a:t/>
            </a:r>
          </a:p>
          <a:p xmlns:a="http://schemas.openxmlformats.org/drawingml/2006/main">
            <a:r>
              <a:t>[Alt text]</a:t>
            </a:r>
          </a:p>
          <a:p xmlns:a="http://schemas.openxmlformats.org/drawingml/2006/main">
            <a:r>
              <a:t>Cuatro etapas conectadas de izquierda a derecha: campo acústico, oído periférico, tarea y respuesta registrada.</a:t>
            </a:r>
          </a:p>
          <a:p xmlns:a="http://schemas.openxmlformats.org/drawingml/2006/main">
            <a:r>
              <a:t/>
            </a:r>
          </a:p>
          <a:p xmlns:a="http://schemas.openxmlformats.org/drawingml/2006/main">
            <a:r>
              <a:t>[Sources]</a:t>
            </a:r>
          </a:p>
          <a:p xmlns:a="http://schemas.openxmlformats.org/drawingml/2006/main">
            <a:r>
              <a:t>- Fuentes de contenido: PREV U06-103–105; TEX 7.1–7.2; CM.</a:t>
            </a:r>
          </a:p>
          <a:p xmlns:a="http://schemas.openxmlformats.org/drawingml/2006/main">
            <a:r>
              <a:t>- Asset propio aprobado: U07-DG-001.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Señalar que se recuperará cada idea al usarla. Este inicio instala la diferencia entre descripción física y respuesta perceptual, recuperando U4–U6 sin volver a desarrollarlas. Idea que debe quedar al cerrar: Nivel, espectro, campo y transferencia reaparecen con una tarea nueva.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Nivel, espectro, campo y transferencia reaparecen con una tarea nueva.</a:t>
            </a:r>
          </a:p>
          <a:p xmlns:a="http://schemas.openxmlformats.org/drawingml/2006/main">
            <a:r>
              <a:t>- **Demostración o multimedia:** —</a:t>
            </a:r>
          </a:p>
          <a:p xmlns:a="http://schemas.openxmlformats.org/drawingml/2006/main">
            <a:r>
              <a:t>- **Error frecuente a vigilar:** Confundir una magnitud física con su correlato perceptual.</a:t>
            </a:r>
          </a:p>
          <a:p xmlns:a="http://schemas.openxmlformats.org/drawingml/2006/main">
            <a:r>
              <a:t>- **Transición oral:** Comprobar pares físico–perceptuales.</a:t>
            </a:r>
          </a:p>
          <a:p xmlns:a="http://schemas.openxmlformats.org/drawingml/2006/main">
            <a:r>
              <a:t>- **[Sources]:** TEX 7.2; PDF p. 178; CM; CDM; BR.</a:t>
            </a:r>
          </a:p>
          <a:p xmlns:a="http://schemas.openxmlformats.org/drawingml/2006/main">
            <a:r>
              <a:t/>
            </a:r>
          </a:p>
          <a:p xmlns:a="http://schemas.openxmlformats.org/drawingml/2006/main">
            <a:r>
              <a:t>[Alt text]</a:t>
            </a:r>
          </a:p>
          <a:p xmlns:a="http://schemas.openxmlformats.org/drawingml/2006/main">
            <a:r>
              <a:t>Tres columnas tipográficas del template; sin nuevo diagrama. La idea central es: Nivel, espectro, campo y transferencia reaparecen con una tarea nueva.</a:t>
            </a:r>
          </a:p>
          <a:p xmlns:a="http://schemas.openxmlformats.org/drawingml/2006/main">
            <a:r>
              <a:t/>
            </a:r>
          </a:p>
          <a:p xmlns:a="http://schemas.openxmlformats.org/drawingml/2006/main">
            <a:r>
              <a:t>[Sources]</a:t>
            </a:r>
          </a:p>
          <a:p xmlns:a="http://schemas.openxmlformats.org/drawingml/2006/main">
            <a:r>
              <a:t>- Fuentes de contenido: TEX 7.2; PDF p. 178; CM; CDM; BR.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Pedir unidades como evidencia de clasificación. Este inicio instala la diferencia entre descripción física y respuesta perceptual, recuperando U4–U6 sin volver a desarrollarlas. Idea que debe quedar al cerrar: Frecuencia, `L_p`, espectro y `Δt` no son pitch, sonoridad, timbre y duración percibida.</a:t>
            </a:r>
          </a:p>
          <a:p xmlns:a="http://schemas.openxmlformats.org/drawingml/2006/main">
            <a:r>
              <a:t>- **Guía para el visual/diagrama:** Recorrido sugerido: Frecuencia, f → Altura tonal → Nivel, L_p → Sonoridad → Espectro → …. Nombrar primero los elementos, explicar luego las relaciones y cerrar con el límite indicado en el caption. No leer las cajas como un párrafo.</a:t>
            </a:r>
          </a:p>
          <a:p xmlns:a="http://schemas.openxmlformats.org/drawingml/2006/main">
            <a:r>
              <a:t>- **Pregunta al curso:** Clasifique cada elemento como magnitud física o atributo perceptual. Use Hz, dB SPL y s como evidencia; explique por qué las flechas expresan relación y no igualdad.</a:t>
            </a:r>
          </a:p>
          <a:p xmlns:a="http://schemas.openxmlformats.org/drawingml/2006/main">
            <a:r>
              <a:t>- **Respuesta esperada:** Frecuencia, `L_p`, espectro y `Δt` no son pitch, sonoridad, timbre y duración percibida.</a:t>
            </a:r>
          </a:p>
          <a:p xmlns:a="http://schemas.openxmlformats.org/drawingml/2006/main">
            <a:r>
              <a:t>- **Demostración o multimedia:** —</a:t>
            </a:r>
          </a:p>
          <a:p xmlns:a="http://schemas.openxmlformats.org/drawingml/2006/main">
            <a:r>
              <a:t>- **Error frecuente a vigilar:** Confundir una magnitud física con su correlato perceptual.</a:t>
            </a:r>
          </a:p>
          <a:p xmlns:a="http://schemas.openxmlformats.org/drawingml/2006/main">
            <a:r>
              <a:t>- **Transición oral:** Las dificultades observadas orientan los objetivos.</a:t>
            </a:r>
          </a:p>
          <a:p xmlns:a="http://schemas.openxmlformats.org/drawingml/2006/main">
            <a:r>
              <a:t>- **[Sources]:** TEX 7.2; BR diagnóstico; NOT; GLO.</a:t>
            </a:r>
          </a:p>
          <a:p xmlns:a="http://schemas.openxmlformats.org/drawingml/2006/main">
            <a:r>
              <a:t/>
            </a:r>
          </a:p>
          <a:p xmlns:a="http://schemas.openxmlformats.org/drawingml/2006/main">
            <a:r>
              <a:t>[Alt text]</a:t>
            </a:r>
          </a:p>
          <a:p xmlns:a="http://schemas.openxmlformats.org/drawingml/2006/main">
            <a:r>
              <a:t>Cuatro pares relacionan frecuencia y altura tonal, nivel y sonoridad, espectro y timbre, tiempo y duración percibida.</a:t>
            </a:r>
          </a:p>
          <a:p xmlns:a="http://schemas.openxmlformats.org/drawingml/2006/main">
            <a:r>
              <a:t/>
            </a:r>
          </a:p>
          <a:p xmlns:a="http://schemas.openxmlformats.org/drawingml/2006/main">
            <a:r>
              <a:t>[Sources]</a:t>
            </a:r>
          </a:p>
          <a:p xmlns:a="http://schemas.openxmlformats.org/drawingml/2006/main">
            <a:r>
              <a:t>- Fuentes de contenido: TEX 7.2; BR diagnóstico; NOT; GLO.</a:t>
            </a:r>
          </a:p>
          <a:p xmlns:a="http://schemas.openxmlformats.org/drawingml/2006/main">
            <a:r>
              <a:t>- Asset propio aprobado: U07-DG-002.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Vincular cada macroobjetivo con sus evidencias y explicitar la correspondencia con BR 1–8. Este inicio instala la diferencia entre descripción física y respuesta perceptual, recuperando U4–U6 sin volver a desarrollarlas. Idea que debe quedar al cerrar: La unidad exige distinguir magnitudes/perceptos, interpretar evidencia, usar modelos con límites e integrar escenas complejas.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evidencia observable mostraría que esta meta se alcanzó?</a:t>
            </a:r>
          </a:p>
          <a:p xmlns:a="http://schemas.openxmlformats.org/drawingml/2006/main">
            <a:r>
              <a:t>- **Respuesta esperada:** La unidad exige distinguir magnitudes/perceptos, interpretar evidencia, usar modelos con límites e integrar escenas complejas.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Anticipar el recorrido que permite alcanzarlos.</a:t>
            </a:r>
          </a:p>
          <a:p xmlns:a="http://schemas.openxmlformats.org/drawingml/2006/main">
            <a:r>
              <a:t>- **[Sources]:** BR objetivos 1–8; CM.</a:t>
            </a:r>
          </a:p>
          <a:p xmlns:a="http://schemas.openxmlformats.org/drawingml/2006/main">
            <a:r>
              <a:t/>
            </a:r>
          </a:p>
          <a:p xmlns:a="http://schemas.openxmlformats.org/drawingml/2006/main">
            <a:r>
              <a:t>[Alt text]</a:t>
            </a:r>
          </a:p>
          <a:p xmlns:a="http://schemas.openxmlformats.org/drawingml/2006/main">
            <a:r>
              <a:t>Composición tipográfica con mini eje físico–perceptual. La idea central es: La unidad exige distinguir magnitudes/perceptos, interpretar evidencia, usar modelos con límites e integrar escenas complejas.</a:t>
            </a:r>
          </a:p>
          <a:p xmlns:a="http://schemas.openxmlformats.org/drawingml/2006/main">
            <a:r>
              <a:t/>
            </a:r>
          </a:p>
          <a:p xmlns:a="http://schemas.openxmlformats.org/drawingml/2006/main">
            <a:r>
              <a:t>[Sources]</a:t>
            </a:r>
          </a:p>
          <a:p xmlns:a="http://schemas.openxmlformats.org/drawingml/2006/main">
            <a:r>
              <a:t>- Fuentes de contenido: BR objetivos 1–8; CM.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Explicar que el mapa reaparecerá con nueva evidencia. Este inicio instala la diferencia entre descripción física y respuesta perceptual, recuperando U4–U6 sin volver a desarrollarlas. Idea que debe quedar al cerrar: Cuatro encuentros responden una misma pregunta psicofísica.</a:t>
            </a:r>
          </a:p>
          <a:p xmlns:a="http://schemas.openxmlformats.org/drawingml/2006/main">
            <a:r>
              <a:t>- **Guía para el visual/diagrama:** Recorrido sugerido: Umbral y campo → Atributos → Dificultad → Espacio y escena.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Cuatro encuentros responden una misma pregunta psicofísica.</a:t>
            </a:r>
          </a:p>
          <a:p xmlns:a="http://schemas.openxmlformats.org/drawingml/2006/main">
            <a:r>
              <a:t>- **Demostración o multimedia:** —</a:t>
            </a:r>
          </a:p>
          <a:p xmlns:a="http://schemas.openxmlformats.org/drawingml/2006/main">
            <a:r>
              <a:t>- **Error frecuente a vigilar:** Confundir una magnitud física con su correlato perceptual.</a:t>
            </a:r>
          </a:p>
          <a:p xmlns:a="http://schemas.openxmlformats.org/drawingml/2006/main">
            <a:r>
              <a:t>- **Transición oral:** Resaltar “detectar” y abrir B01.</a:t>
            </a:r>
          </a:p>
          <a:p xmlns:a="http://schemas.openxmlformats.org/drawingml/2006/main">
            <a:r>
              <a:t>- **[Sources]:** BR bloques; TPL; EP.</a:t>
            </a:r>
          </a:p>
          <a:p xmlns:a="http://schemas.openxmlformats.org/drawingml/2006/main">
            <a:r>
              <a:t/>
            </a:r>
          </a:p>
          <a:p xmlns:a="http://schemas.openxmlformats.org/drawingml/2006/main">
            <a:r>
              <a:t>[Alt text]</a:t>
            </a:r>
          </a:p>
          <a:p xmlns:a="http://schemas.openxmlformats.org/drawingml/2006/main">
            <a:r>
              <a:t>Cuatro macroetapas conectadas: umbral, atributos, dificultad perceptual y escena espacial.</a:t>
            </a:r>
          </a:p>
          <a:p xmlns:a="http://schemas.openxmlformats.org/drawingml/2006/main">
            <a:r>
              <a:t/>
            </a:r>
          </a:p>
          <a:p xmlns:a="http://schemas.openxmlformats.org/drawingml/2006/main">
            <a:r>
              <a:t>[Sources]</a:t>
            </a:r>
          </a:p>
          <a:p xmlns:a="http://schemas.openxmlformats.org/drawingml/2006/main">
            <a:r>
              <a:t>- Fuentes de contenido: BR bloques; TPL; EP.</a:t>
            </a:r>
          </a:p>
          <a:p xmlns:a="http://schemas.openxmlformats.org/drawingml/2006/main">
            <a:r>
              <a:t>- Asset propio aprobado: U07-DG-003.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Desactivar la idea de “se oye/no se oye” instantánea. El bloque construye el umbral como resultado de una tarea de detección y no como una frontera fija del oído. Idea que debe quedar al cerrar: Un umbral depende de criterio, procedimiento y condiciones.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problema abre la afirmación «Detectar no es cruzar una frontera rígida»?</a:t>
            </a:r>
          </a:p>
          <a:p xmlns:a="http://schemas.openxmlformats.org/drawingml/2006/main">
            <a:r>
              <a:t>- **Respuesta esperada:** Un umbral depende de criterio, procedimiento y condiciones.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primero qué estudia una observación psicofísica.</a:t>
            </a:r>
          </a:p>
          <a:p xmlns:a="http://schemas.openxmlformats.org/drawingml/2006/main">
            <a:r>
              <a:t>- **[Sources]:** PO; TEX 7.3–7.4; PDF pp. 178–179.</a:t>
            </a:r>
          </a:p>
          <a:p xmlns:a="http://schemas.openxmlformats.org/drawingml/2006/main">
            <a:r>
              <a:t/>
            </a:r>
          </a:p>
          <a:p xmlns:a="http://schemas.openxmlformats.org/drawingml/2006/main">
            <a:r>
              <a:t>[Alt text]</a:t>
            </a:r>
          </a:p>
          <a:p xmlns:a="http://schemas.openxmlformats.org/drawingml/2006/main">
            <a:r>
              <a:t>Silueta de curva psicométrica, sin números. La idea central es: Un umbral depende de criterio, procedimiento y condiciones.</a:t>
            </a:r>
          </a:p>
          <a:p xmlns:a="http://schemas.openxmlformats.org/drawingml/2006/main">
            <a:r>
              <a:t/>
            </a:r>
          </a:p>
          <a:p xmlns:a="http://schemas.openxmlformats.org/drawingml/2006/main">
            <a:r>
              <a:t>[Sources]</a:t>
            </a:r>
          </a:p>
          <a:p xmlns:a="http://schemas.openxmlformats.org/drawingml/2006/main">
            <a:r>
              <a:t>- Fuentes de contenido: PO; TEX 7.3–7.4; PDF pp. 178–179.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Distinguir respuesta de experiencia privada y de diagnóstico. El bloque construye el umbral como resultado de una tarea de detección y no como una frontera fija del oído. Idea que debe quedar al cerrar: Un dato perceptual solo tiene sentido dentro de un procedimiento. Definición de trabajo: Psicoacústica: estudio de las relaciones entre propiedades físicas del estímulo, tarea de escucha y respuesta perceptual. Ejemplo para desarrollar oralmente: Estímulo: tono de 1 kHz. Tarea: detectar. Respuesta: detectado en 5 de 10 presentaciones, bajo el criterio indicado.</a:t>
            </a:r>
          </a:p>
          <a:p xmlns:a="http://schemas.openxmlformats.org/drawingml/2006/main">
            <a:r>
              <a:t>- **Guía para el visual/diagrama:** Recorrido sugerido: Estímulo → Tarea → Respuesta → Contexto.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Un dato perceptual solo tiene sentido dentro de un procedimiento.</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Aplicar el marco a un mismo estímulo.</a:t>
            </a:r>
          </a:p>
          <a:p xmlns:a="http://schemas.openxmlformats.org/drawingml/2006/main">
            <a:r>
              <a:t>- **[Sources]:** TEX 7.1, 7.3; PDF pp. 177–179; GLO.</a:t>
            </a:r>
          </a:p>
          <a:p xmlns:a="http://schemas.openxmlformats.org/drawingml/2006/main">
            <a:r>
              <a:t/>
            </a:r>
          </a:p>
          <a:p xmlns:a="http://schemas.openxmlformats.org/drawingml/2006/main">
            <a:r>
              <a:t>[Alt text]</a:t>
            </a:r>
          </a:p>
          <a:p xmlns:a="http://schemas.openxmlformats.org/drawingml/2006/main">
            <a:r>
              <a:t>Cadena de estímulo, tarea y respuesta con una cuarta caja que recuerda el contexto del procedimiento.</a:t>
            </a:r>
          </a:p>
          <a:p xmlns:a="http://schemas.openxmlformats.org/drawingml/2006/main">
            <a:r>
              <a:t/>
            </a:r>
          </a:p>
          <a:p xmlns:a="http://schemas.openxmlformats.org/drawingml/2006/main">
            <a:r>
              <a:t>[Sources]</a:t>
            </a:r>
          </a:p>
          <a:p xmlns:a="http://schemas.openxmlformats.org/drawingml/2006/main">
            <a:r>
              <a:t>- Fuentes de contenido: TEX 7.1, 7.3; PDF pp. 177–179; GLO.</a:t>
            </a:r>
          </a:p>
          <a:p xmlns:a="http://schemas.openxmlformats.org/drawingml/2006/main">
            <a:r>
              <a:t>- Asset propio aprobado: U07-DG-004.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Dar ejemplos cotidianos sin describir métodos avanzados. El bloque construye el umbral como resultado de una tarea de detección y no como una frontera fija del oído. Idea que debe quedar al cerrar: Cambiar la tarea puede cambiar la respuesta aunque el estímulo sea igual.</a:t>
            </a:r>
          </a:p>
          <a:p xmlns:a="http://schemas.openxmlformats.org/drawingml/2006/main">
            <a:r>
              <a:t>- **Guía para el visual/diagrama:** Recorrido sugerido: Estímulo controlado → Detectar → Igualar → Estimar.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Cambiar la tarea puede cambiar la respuesta aunque el estímulo sea igual.</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Comparar dos tareas con el mismo tono.</a:t>
            </a:r>
          </a:p>
          <a:p xmlns:a="http://schemas.openxmlformats.org/drawingml/2006/main">
            <a:r>
              <a:t>- **[Sources]:** TEX 7.3; PDF p. 178; EP.</a:t>
            </a:r>
          </a:p>
          <a:p xmlns:a="http://schemas.openxmlformats.org/drawingml/2006/main">
            <a:r>
              <a:t/>
            </a:r>
          </a:p>
          <a:p xmlns:a="http://schemas.openxmlformats.org/drawingml/2006/main">
            <a:r>
              <a:t>[Alt text]</a:t>
            </a:r>
          </a:p>
          <a:p xmlns:a="http://schemas.openxmlformats.org/drawingml/2006/main">
            <a:r>
              <a:t>Una caja de estímulo se bifurca sin cruces hacia tareas de detección, igualación y estimación.</a:t>
            </a:r>
          </a:p>
          <a:p xmlns:a="http://schemas.openxmlformats.org/drawingml/2006/main">
            <a:r>
              <a:t/>
            </a:r>
          </a:p>
          <a:p xmlns:a="http://schemas.openxmlformats.org/drawingml/2006/main">
            <a:r>
              <a:t>[Sources]</a:t>
            </a:r>
          </a:p>
          <a:p xmlns:a="http://schemas.openxmlformats.org/drawingml/2006/main">
            <a:r>
              <a:t>- Fuentes de contenido: TEX 7.3; PDF p. 178; EP.</a:t>
            </a:r>
          </a:p>
          <a:p xmlns:a="http://schemas.openxmlformats.org/drawingml/2006/main">
            <a:r>
              <a:t>- Asset propio aprobado: U07-DG-005.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asumir que “oír” es una respuesta única. El bloque construye el umbral como resultado de una tarea de detección y no como una frontera fija del oído. Idea que debe quedar al cerrar: Una respuesta no existe fuera de la consigna. Ejemplo para desarrollar oralmente: El mismo tono puede usarse para preguntar si está presente, cuál es más sonoro o de dónde proviene; cada consigna produce otra respuesta.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Una respuesta no existe fuera de la consigna.</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Preguntar qué se cuenta como respuesta.</a:t>
            </a:r>
          </a:p>
          <a:p xmlns:a="http://schemas.openxmlformats.org/drawingml/2006/main">
            <a:r>
              <a:t>- **[Sources]:** TEX 7.3; BR; EP.</a:t>
            </a:r>
          </a:p>
          <a:p xmlns:a="http://schemas.openxmlformats.org/drawingml/2006/main">
            <a:r>
              <a:t/>
            </a:r>
          </a:p>
          <a:p xmlns:a="http://schemas.openxmlformats.org/drawingml/2006/main">
            <a:r>
              <a:t>[Alt text]</a:t>
            </a:r>
          </a:p>
          <a:p xmlns:a="http://schemas.openxmlformats.org/drawingml/2006/main">
            <a:r>
              <a:t>Tres columnas simples; sin conectores. La idea central es: Una respuesta no existe fuera de la consigna.</a:t>
            </a:r>
          </a:p>
          <a:p xmlns:a="http://schemas.openxmlformats.org/drawingml/2006/main">
            <a:r>
              <a:t/>
            </a:r>
          </a:p>
          <a:p xmlns:a="http://schemas.openxmlformats.org/drawingml/2006/main">
            <a:r>
              <a:t>[Sources]</a:t>
            </a:r>
          </a:p>
          <a:p xmlns:a="http://schemas.openxmlformats.org/drawingml/2006/main">
            <a:r>
              <a:t>- Fuentes de contenido: TEX 7.3; BR;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Aclarar que 50 % es un ejemplo de criterio, no norma universal. El bloque construye el umbral como resultado de una tarea de detección y no como una frontera fija del oído. Idea que debe quedar al cerrar: Cerca del umbral, la proporción de respuestas cambia gradualmente. Ejemplo para desarrollar oralmente: En diez ensayos, seis respuestas afirmativas no describen una frontera física: describen una proporción para ese criterio.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Cerca del umbral, la proporción de respuestas cambia gradualmente.</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Representar la gradualidad en un gráfico.</a:t>
            </a:r>
          </a:p>
          <a:p xmlns:a="http://schemas.openxmlformats.org/drawingml/2006/main">
            <a:r>
              <a:t>- **[Sources]:** TEX 7.3–7.4.1; REF `oxenham2018`; EP.</a:t>
            </a:r>
          </a:p>
          <a:p xmlns:a="http://schemas.openxmlformats.org/drawingml/2006/main">
            <a:r>
              <a:t/>
            </a:r>
          </a:p>
          <a:p xmlns:a="http://schemas.openxmlformats.org/drawingml/2006/main">
            <a:r>
              <a:t>[Alt text]</a:t>
            </a:r>
          </a:p>
          <a:p xmlns:a="http://schemas.openxmlformats.org/drawingml/2006/main">
            <a:r>
              <a:t>Matriz de 10 ensayos con respuestas; elaboración propia. La idea central es: Cerca del umbral, la proporción de respuestas cambia gradualmente.</a:t>
            </a:r>
          </a:p>
          <a:p xmlns:a="http://schemas.openxmlformats.org/drawingml/2006/main">
            <a:r>
              <a:t/>
            </a:r>
          </a:p>
          <a:p xmlns:a="http://schemas.openxmlformats.org/drawingml/2006/main">
            <a:r>
              <a:t>[Sources]</a:t>
            </a:r>
          </a:p>
          <a:p xmlns:a="http://schemas.openxmlformats.org/drawingml/2006/main">
            <a:r>
              <a:t>- Fuentes de contenido: TEX 7.3–7.4.1; REF oxenham2018;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Diferenciar umbral individual, referencia y tendencia poblacional. El bloque construye el umbral como resultado de una tarea de detección y no como una frontera fija del oído. Idea que debe quedar al cerrar: No es una propiedad fija ni una frontera instantánea. Definición de trabajo: Umbral auditivo: nivel mínimo detectable bajo un procedimiento y un criterio especificados, sin enmascarador deliberado en el caso absoluto.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No es una propiedad fija ni una frontera instantánea.</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Pasar de definición a probabilidad.</a:t>
            </a:r>
          </a:p>
          <a:p xmlns:a="http://schemas.openxmlformats.org/drawingml/2006/main">
            <a:r>
              <a:t>- **[Sources]:** PO; TEX 7.4.1; PDF p. 179; GLO.</a:t>
            </a:r>
          </a:p>
          <a:p xmlns:a="http://schemas.openxmlformats.org/drawingml/2006/main">
            <a:r>
              <a:t/>
            </a:r>
          </a:p>
          <a:p xmlns:a="http://schemas.openxmlformats.org/drawingml/2006/main">
            <a:r>
              <a:t>[Alt text]</a:t>
            </a:r>
          </a:p>
          <a:p xmlns:a="http://schemas.openxmlformats.org/drawingml/2006/main">
            <a:r>
              <a:t>Componente definición + mini escala de nivel. La idea central es: No es una propiedad fija ni una frontera instantánea.</a:t>
            </a:r>
          </a:p>
          <a:p xmlns:a="http://schemas.openxmlformats.org/drawingml/2006/main">
            <a:r>
              <a:t/>
            </a:r>
          </a:p>
          <a:p xmlns:a="http://schemas.openxmlformats.org/drawingml/2006/main">
            <a:r>
              <a:t>[Sources]</a:t>
            </a:r>
          </a:p>
          <a:p xmlns:a="http://schemas.openxmlformats.org/drawingml/2006/main">
            <a:r>
              <a:t>- Fuentes de contenido: PO; TEX 7.4.1; PDF p. 179;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Explicar ejes y por qué la curva es didáctica. El bloque construye el umbral como resultado de una tarea de detección y no como una frontera fija del oído. Idea que debe quedar al cerrar: El criterio selecciona un punto de una transición, no descubre un salto físico.</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El criterio selecciona un punto de una transición, no descubre un salto físico.</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Extender el umbral a distintas frecuencias.</a:t>
            </a:r>
          </a:p>
          <a:p xmlns:a="http://schemas.openxmlformats.org/drawingml/2006/main">
            <a:r>
              <a:t>- **[Sources]:** TEX 7.3–7.4.1; REF `oxenham2018`; EP.</a:t>
            </a:r>
          </a:p>
          <a:p xmlns:a="http://schemas.openxmlformats.org/drawingml/2006/main">
            <a:r>
              <a:t/>
            </a:r>
          </a:p>
          <a:p xmlns:a="http://schemas.openxmlformats.org/drawingml/2006/main">
            <a:r>
              <a:t>[Alt text]</a:t>
            </a:r>
          </a:p>
          <a:p xmlns:a="http://schemas.openxmlformats.org/drawingml/2006/main">
            <a:r>
              <a:t>Curva logística de detección desde casi cero hasta casi cien por ciento. Una línea horizontal en cincuenta por ciento corta la curva en L cincuenta.</a:t>
            </a:r>
          </a:p>
          <a:p xmlns:a="http://schemas.openxmlformats.org/drawingml/2006/main">
            <a:r>
              <a:t/>
            </a:r>
          </a:p>
          <a:p xmlns:a="http://schemas.openxmlformats.org/drawingml/2006/main">
            <a:r>
              <a:t>[Sources]</a:t>
            </a:r>
          </a:p>
          <a:p xmlns:a="http://schemas.openxmlformats.org/drawingml/2006/main">
            <a:r>
              <a:t>- Fuentes de contenido: TEX 7.3–7.4.1; REF oxenham2018; EP.</a:t>
            </a:r>
          </a:p>
          <a:p xmlns:a="http://schemas.openxmlformats.org/drawingml/2006/main">
            <a:r>
              <a:t>- Asset propio aprobado: U07-CH-001.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Distinguir eje logarítmico de frecuencia y escala de nivel. El bloque construye el umbral como resultado de una tarea de detección y no como una frontera fija del oído. Idea que debe quedar al cerrar: Cada punto pertenece a una frecuencia y a condiciones definidas.</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Cada punto pertenece a una frecuencia y a condiciones definidas.</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Identificar la región de menor umbral.</a:t>
            </a:r>
          </a:p>
          <a:p xmlns:a="http://schemas.openxmlformats.org/drawingml/2006/main">
            <a:r>
              <a:t>- **[Sources]:** TEX 7.4.1; PDF p. 179; NOT.</a:t>
            </a:r>
          </a:p>
          <a:p xmlns:a="http://schemas.openxmlformats.org/drawingml/2006/main">
            <a:r>
              <a:t/>
            </a:r>
          </a:p>
          <a:p xmlns:a="http://schemas.openxmlformats.org/drawingml/2006/main">
            <a:r>
              <a:t>[Alt text]</a:t>
            </a:r>
          </a:p>
          <a:p xmlns:a="http://schemas.openxmlformats.org/drawingml/2006/main">
            <a:r>
              <a:t>Curva conceptual en forma de valle sobre un eje logarítmico de frecuencia sin valores numéricos de nivel. La zona media aparece como la de mayor sensibilidad.</a:t>
            </a:r>
          </a:p>
          <a:p xmlns:a="http://schemas.openxmlformats.org/drawingml/2006/main">
            <a:r>
              <a:t/>
            </a:r>
          </a:p>
          <a:p xmlns:a="http://schemas.openxmlformats.org/drawingml/2006/main">
            <a:r>
              <a:t>[Sources]</a:t>
            </a:r>
          </a:p>
          <a:p xmlns:a="http://schemas.openxmlformats.org/drawingml/2006/main">
            <a:r>
              <a:t>- Fuentes de contenido: TEX 7.4.1; PDF p. 179; NOT.</a:t>
            </a:r>
          </a:p>
          <a:p xmlns:a="http://schemas.openxmlformats.org/drawingml/2006/main">
            <a:r>
              <a:t>- Asset propio aprobado: U07-CH-002A.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Declarar población/campo y seguridad. El bloque construye el umbral como resultado de una tarea de detección y no como una frontera fija del oído. Idea que debe quedar al cerrar: Menor umbral no implica mayor sonoridad para cualquier señal.</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Menor umbral no implica mayor sonoridad para cualquier señal.</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Corregir la confusión con 0 dB SPL.</a:t>
            </a:r>
          </a:p>
          <a:p xmlns:a="http://schemas.openxmlformats.org/drawingml/2006/main">
            <a:r>
              <a:t>- **[Sources]:** PO; TEX 7.4.1; PDF pp. 179–180; REF `iso226_2023`.</a:t>
            </a:r>
          </a:p>
          <a:p xmlns:a="http://schemas.openxmlformats.org/drawingml/2006/main">
            <a:r>
              <a:t/>
            </a:r>
          </a:p>
          <a:p xmlns:a="http://schemas.openxmlformats.org/drawingml/2006/main">
            <a:r>
              <a:t>[Alt text]</a:t>
            </a:r>
          </a:p>
          <a:p xmlns:a="http://schemas.openxmlformats.org/drawingml/2006/main">
            <a:r>
              <a:t>Una curva conceptual de umbral delimita una región clara etiquetada como audibilidad condicionada; se advierte que los niveles elevados no se exploran didácticamente.</a:t>
            </a:r>
          </a:p>
          <a:p xmlns:a="http://schemas.openxmlformats.org/drawingml/2006/main">
            <a:r>
              <a:t/>
            </a:r>
          </a:p>
          <a:p xmlns:a="http://schemas.openxmlformats.org/drawingml/2006/main">
            <a:r>
              <a:t>[Sources]</a:t>
            </a:r>
          </a:p>
          <a:p xmlns:a="http://schemas.openxmlformats.org/drawingml/2006/main">
            <a:r>
              <a:t>- Fuentes de contenido: PO; TEX 7.4.1; PDF pp. 179–180; REF iso226(2023).</a:t>
            </a:r>
          </a:p>
          <a:p xmlns:a="http://schemas.openxmlformats.org/drawingml/2006/main">
            <a:r>
              <a:t>- Asset propio aprobado: U07-CH-002B.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Recuperar la referencia de U4 y distinguir escalas. El bloque construye el umbral como resultado de una tarea de detección y no como una frontera fija del oído. Idea que debe quedar al cerrar: Cero dB SPL indica igualdad con la presión de referencia, no detección garantizada.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Cero dB SPL indica igualdad con la presión de referencia, no detección garantizada.</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Comprobar la interpretación completa.</a:t>
            </a:r>
          </a:p>
          <a:p xmlns:a="http://schemas.openxmlformats.org/drawingml/2006/main">
            <a:r>
              <a:t>- **[Sources]:** TEX ejercicios C2/D; PDF pp. 197, 200; NOT; GLO.</a:t>
            </a:r>
          </a:p>
          <a:p xmlns:a="http://schemas.openxmlformats.org/drawingml/2006/main">
            <a:r>
              <a:t/>
            </a:r>
          </a:p>
          <a:p xmlns:a="http://schemas.openxmlformats.org/drawingml/2006/main">
            <a:r>
              <a:t>[Alt text]</a:t>
            </a:r>
          </a:p>
          <a:p xmlns:a="http://schemas.openxmlformats.org/drawingml/2006/main">
            <a:r>
              <a:t>Escala Lₚ + curva de umbral superpuesta; sin nuevos datos. La idea central es: Cero dB SPL indica igualdad con la presión de referencia, no detección garantizada.</a:t>
            </a:r>
          </a:p>
          <a:p xmlns:a="http://schemas.openxmlformats.org/drawingml/2006/main">
            <a:r>
              <a:t/>
            </a:r>
          </a:p>
          <a:p xmlns:a="http://schemas.openxmlformats.org/drawingml/2006/main">
            <a:r>
              <a:t>[Sources]</a:t>
            </a:r>
          </a:p>
          <a:p xmlns:a="http://schemas.openxmlformats.org/drawingml/2006/main">
            <a:r>
              <a:t>- Fuentes de contenido: TEX ejercicios C2/D; PDF pp. 197, 200; NOT; GLO.</a:t>
            </a:r>
          </a:p>
          <a:p xmlns:a="http://schemas.openxmlformats.org/drawingml/2006/main">
            <a:r>
              <a:t>- Asset propio aprobado: U07-CH-002B.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Exigir justificación de cada condición. El bloque construye el umbral como resultado de una tarea de detección y no como una frontera fija del oído. Idea que debe quedar al cerrar: Frecuencia, escala, campo, criterio, población y procedimiento cambian la lectura.</a:t>
            </a:r>
          </a:p>
          <a:p xmlns:a="http://schemas.openxmlformats.org/drawingml/2006/main">
            <a:r>
              <a:t>- **Guía para el visual/diagrama:** Recorrido sugerido: Resultado observado → Señal → Nivel → Tarea → Ambiente → …. Nombrar primero los elementos, explicar luego las relaciones y cerrar con el límite indicado en el caption. No leer las cajas como un párrafo.</a:t>
            </a:r>
          </a:p>
          <a:p xmlns:a="http://schemas.openxmlformats.org/drawingml/2006/main">
            <a:r>
              <a:t>- **Pregunta al curso:** Se informa un «umbral» sin describir la medición. Complete: frecuencia, escala, campo, criterio, población y procedimiento.</a:t>
            </a:r>
          </a:p>
          <a:p xmlns:a="http://schemas.openxmlformats.org/drawingml/2006/main">
            <a:r>
              <a:t>- **Respuesta esperada:** Frecuencia, escala, campo, criterio, población y procedimiento cambian la lectura.</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Resolver y sintetizar.</a:t>
            </a:r>
          </a:p>
          <a:p xmlns:a="http://schemas.openxmlformats.org/drawingml/2006/main">
            <a:r>
              <a:t>- **[Sources]:** TEX C1–C2; INV actividades; EP.</a:t>
            </a:r>
          </a:p>
          <a:p xmlns:a="http://schemas.openxmlformats.org/drawingml/2006/main">
            <a:r>
              <a:t/>
            </a:r>
          </a:p>
          <a:p xmlns:a="http://schemas.openxmlformats.org/drawingml/2006/main">
            <a:r>
              <a:t>[Alt text]</a:t>
            </a:r>
          </a:p>
          <a:p xmlns:a="http://schemas.openxmlformats.org/drawingml/2006/main">
            <a:r>
              <a:t>Un resultado central se relaciona con señal, nivel, tarea, ambiente, oyente y procedimiento.</a:t>
            </a:r>
          </a:p>
          <a:p xmlns:a="http://schemas.openxmlformats.org/drawingml/2006/main">
            <a:r>
              <a:t/>
            </a:r>
          </a:p>
          <a:p xmlns:a="http://schemas.openxmlformats.org/drawingml/2006/main">
            <a:r>
              <a:t>[Sources]</a:t>
            </a:r>
          </a:p>
          <a:p xmlns:a="http://schemas.openxmlformats.org/drawingml/2006/main">
            <a:r>
              <a:t>- Fuentes de contenido: TEX C1–C2; INV actividades; EP.</a:t>
            </a:r>
          </a:p>
          <a:p xmlns:a="http://schemas.openxmlformats.org/drawingml/2006/main">
            <a:r>
              <a:t>- Asset propio aprobado: U07-DG-006.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marco con la nueva tarea de detección; no repetir definiciones. El bloque construye el umbral como resultado de una tarea de detección y no como una frontera fija del oído. Idea que debe quedar al cerrar: Umbral, sensibilidad y probabilidad no son propiedades universales.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Explique la idea central con un ejemplo distinto de los mostrados.</a:t>
            </a:r>
          </a:p>
          <a:p xmlns:a="http://schemas.openxmlformats.org/drawingml/2006/main">
            <a:r>
              <a:t>- **Respuesta esperada:** Umbral, sensibilidad y probabilidad no son propiedades universales.</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La posición de medición abre B02.</a:t>
            </a:r>
          </a:p>
          <a:p xmlns:a="http://schemas.openxmlformats.org/drawingml/2006/main">
            <a:r>
              <a:t>- **[Sources]:** TEX 7.3–7.4.1; BR; EP.</a:t>
            </a:r>
          </a:p>
          <a:p xmlns:a="http://schemas.openxmlformats.org/drawingml/2006/main">
            <a:r>
              <a:t/>
            </a:r>
          </a:p>
          <a:p xmlns:a="http://schemas.openxmlformats.org/drawingml/2006/main">
            <a:r>
              <a:t>[Alt text]</a:t>
            </a:r>
          </a:p>
          <a:p xmlns:a="http://schemas.openxmlformats.org/drawingml/2006/main">
            <a:r>
              <a:t>Mini recap con marco estímulo–tarea–respuesta actualizado. La idea central es: Umbral, sensibilidad y probabilidad no son propiedades universales.</a:t>
            </a:r>
          </a:p>
          <a:p xmlns:a="http://schemas.openxmlformats.org/drawingml/2006/main">
            <a:r>
              <a:t/>
            </a:r>
          </a:p>
          <a:p xmlns:a="http://schemas.openxmlformats.org/drawingml/2006/main">
            <a:r>
              <a:t>[Sources]</a:t>
            </a:r>
          </a:p>
          <a:p xmlns:a="http://schemas.openxmlformats.org/drawingml/2006/main">
            <a:r>
              <a:t>- Fuentes de contenido: TEX 7.3–7.4.1; BR; EP.</a:t>
            </a:r>
          </a:p>
          <a:p xmlns:a="http://schemas.openxmlformats.org/drawingml/2006/main">
            <a:r>
              <a:t>- Asset propio aprobado: U07-DG-004.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Recuperar CAE de U6 sin reabrir anatomía completa. El bloque separa posiciones de medición y luego muestra que igualar sonoridad exige una comparación psicofísica. Idea que debe quedar al cerrar: Campo libre y tímpano son posiciones físicas diferentes.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problema abre la afirmación «El nivel depende de dónde se mide»?</a:t>
            </a:r>
          </a:p>
          <a:p xmlns:a="http://schemas.openxmlformats.org/drawingml/2006/main">
            <a:r>
              <a:t>- **Respuesta esperada:** Campo libre y tímpano son posiciones físicas diferentes.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campo libre como referencia.</a:t>
            </a:r>
          </a:p>
          <a:p xmlns:a="http://schemas.openxmlformats.org/drawingml/2006/main">
            <a:r>
              <a:t>- **[Sources]:** PO; TEX 7.4.2–7.5; PDF pp. 180–182.</a:t>
            </a:r>
          </a:p>
          <a:p xmlns:a="http://schemas.openxmlformats.org/drawingml/2006/main">
            <a:r>
              <a:t/>
            </a:r>
          </a:p>
          <a:p xmlns:a="http://schemas.openxmlformats.org/drawingml/2006/main">
            <a:r>
              <a:t>[Alt text]</a:t>
            </a:r>
          </a:p>
          <a:p xmlns:a="http://schemas.openxmlformats.org/drawingml/2006/main">
            <a:r>
              <a:t>Dos puntos de medición conectados por transferencia. La idea central es: Campo libre y tímpano son posiciones físicas diferentes.</a:t>
            </a:r>
          </a:p>
          <a:p xmlns:a="http://schemas.openxmlformats.org/drawingml/2006/main">
            <a:r>
              <a:t/>
            </a:r>
          </a:p>
          <a:p xmlns:a="http://schemas.openxmlformats.org/drawingml/2006/main">
            <a:r>
              <a:t>[Sources]</a:t>
            </a:r>
          </a:p>
          <a:p xmlns:a="http://schemas.openxmlformats.org/drawingml/2006/main">
            <a:r>
              <a:t>- Fuentes de contenido: PO; TEX 7.4.2–7.5; PDF pp. 180–182.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reenseñar ley de distancia; preparar presencia del oyente. El bloque separa posiciones de medición y luego muestra que igualar sonoridad exige una comparación psicofísica. Idea que debe quedar al cerrar: El valor de referencia debe asociarse con posición, orientación y ausencia del oyente. Definición de trabajo: Campo libre: idealización en la que no hay reflexiones significativas en el punto de observación.</a:t>
            </a:r>
          </a:p>
          <a:p xmlns:a="http://schemas.openxmlformats.org/drawingml/2006/main">
            <a:r>
              <a:t>- **Guía para el visual/diagrama:** Recorrido sugerido: Fuente → Propagación → Punto de campo.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valor de referencia debe asociarse con posición, orientación y ausencia del oyente.</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Incorporar cabeza, pabellón y CAE.</a:t>
            </a:r>
          </a:p>
          <a:p xmlns:a="http://schemas.openxmlformats.org/drawingml/2006/main">
            <a:r>
              <a:t>- **[Sources]:** TEX 7.4.2; PDF p. 180; GLO; U4.</a:t>
            </a:r>
          </a:p>
          <a:p xmlns:a="http://schemas.openxmlformats.org/drawingml/2006/main">
            <a:r>
              <a:t/>
            </a:r>
          </a:p>
          <a:p xmlns:a="http://schemas.openxmlformats.org/drawingml/2006/main">
            <a:r>
              <a:t>[Alt text]</a:t>
            </a:r>
          </a:p>
          <a:p xmlns:a="http://schemas.openxmlformats.org/drawingml/2006/main">
            <a:r>
              <a:t>Fuente, dirección de propagación y punto de campo conectados horizontalmente; el esquema declara que no está a escala.</a:t>
            </a:r>
          </a:p>
          <a:p xmlns:a="http://schemas.openxmlformats.org/drawingml/2006/main">
            <a:r>
              <a:t/>
            </a:r>
          </a:p>
          <a:p xmlns:a="http://schemas.openxmlformats.org/drawingml/2006/main">
            <a:r>
              <a:t>[Sources]</a:t>
            </a:r>
          </a:p>
          <a:p xmlns:a="http://schemas.openxmlformats.org/drawingml/2006/main">
            <a:r>
              <a:t>- Fuentes de contenido: TEX 7.4.2; PDF p. 180; GLO; U4.</a:t>
            </a:r>
          </a:p>
          <a:p xmlns:a="http://schemas.openxmlformats.org/drawingml/2006/main">
            <a:r>
              <a:t>- Asset propio aprobado: U07-DG-007.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Diferenciar transferencia física de sonoridad. El bloque separa posiciones de medición y luego muestra que igualar sonoridad exige una comparación psicofísica. Idea que debe quedar al cerrar: Cabeza, torso, pabellón y CAE modifican la señal según frecuencia y dirección.</a:t>
            </a:r>
          </a:p>
          <a:p xmlns:a="http://schemas.openxmlformats.org/drawingml/2006/main">
            <a:r>
              <a:t>- **Guía para el visual/diagrama:** Recorrido sugerido: Campo de referencia → Cabeza y pabellón → CAE → Tímpano.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Cabeza, torso, pabellón y CAE modifican la señal según frecuencia y dirección.</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Nombrar la diferencia entre posiciones.</a:t>
            </a:r>
          </a:p>
          <a:p xmlns:a="http://schemas.openxmlformats.org/drawingml/2006/main">
            <a:r>
              <a:t>- **[Sources]:** PO; TEX 7.4.2; PDF pp. 180–181; REF `carlini2024`; PREV U06-009–017.</a:t>
            </a:r>
          </a:p>
          <a:p xmlns:a="http://schemas.openxmlformats.org/drawingml/2006/main">
            <a:r>
              <a:t/>
            </a:r>
          </a:p>
          <a:p xmlns:a="http://schemas.openxmlformats.org/drawingml/2006/main">
            <a:r>
              <a:t>[Alt text]</a:t>
            </a:r>
          </a:p>
          <a:p xmlns:a="http://schemas.openxmlformats.org/drawingml/2006/main">
            <a:r>
              <a:t>Cuatro etapas conectadas: campo, cabeza y pabellón, conducto auditivo externo y tímpano.</a:t>
            </a:r>
          </a:p>
          <a:p xmlns:a="http://schemas.openxmlformats.org/drawingml/2006/main">
            <a:r>
              <a:t/>
            </a:r>
          </a:p>
          <a:p xmlns:a="http://schemas.openxmlformats.org/drawingml/2006/main">
            <a:r>
              <a:t>[Sources]</a:t>
            </a:r>
          </a:p>
          <a:p xmlns:a="http://schemas.openxmlformats.org/drawingml/2006/main">
            <a:r>
              <a:t>- Fuentes de contenido: PO; TEX 7.4.2; PDF pp. 180–181; REF carlini2024; PREV U06-009–017.</a:t>
            </a:r>
          </a:p>
          <a:p xmlns:a="http://schemas.openxmlformats.org/drawingml/2006/main">
            <a:r>
              <a:t>- Asset propio aprobado: U07-DG-008.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Definir el orden de la resta y el significado de dB. El bloque separa posiciones de medición y luego muestra que igualar sonoridad exige una comparación psicofísica. Idea que debe quedar al cerrar: Una diferencia de nivel no es un nivel absoluto ni una ganancia fija de sonoridad. Escribir y leer la relación por términos: `G_CT(f) = L_p,T(f) − L_p,campo(f)`; `G_CT` es una diferencia en dB entre dos posiciones para la misma frecuencia. Comprobar unidades antes de interpretar.</a:t>
            </a:r>
          </a:p>
          <a:p xmlns:a="http://schemas.openxmlformats.org/drawingml/2006/main">
            <a:r>
              <a:t>- **Guía para el visual/diagrama:** Recorrido sugerido: G_CT(f) = L_p,T(f) − L_p,campo(f) → L_p,T → L_p,campo → Condición común.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Una diferencia de nivel no es un nivel absoluto ni una ganancia fija de sonoridad.</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Aplicar con datos.</a:t>
            </a:r>
          </a:p>
          <a:p xmlns:a="http://schemas.openxmlformats.org/drawingml/2006/main">
            <a:r>
              <a:t>- **[Sources]:** TEX ec. 7.1; PDF p. 180; NOT.</a:t>
            </a:r>
          </a:p>
          <a:p xmlns:a="http://schemas.openxmlformats.org/drawingml/2006/main">
            <a:r>
              <a:t/>
            </a:r>
          </a:p>
          <a:p xmlns:a="http://schemas.openxmlformats.org/drawingml/2006/main">
            <a:r>
              <a:t>[Alt text]</a:t>
            </a:r>
          </a:p>
          <a:p xmlns:a="http://schemas.openxmlformats.org/drawingml/2006/main">
            <a:r>
              <a:t>Ecuación central G sub CT igual nivel en tímpano menos nivel de campo, con tres llamadas externas.</a:t>
            </a:r>
          </a:p>
          <a:p xmlns:a="http://schemas.openxmlformats.org/drawingml/2006/main">
            <a:r>
              <a:t/>
            </a:r>
          </a:p>
          <a:p xmlns:a="http://schemas.openxmlformats.org/drawingml/2006/main">
            <a:r>
              <a:t>[Sources]</a:t>
            </a:r>
          </a:p>
          <a:p xmlns:a="http://schemas.openxmlformats.org/drawingml/2006/main">
            <a:r>
              <a:t>- Fuentes de contenido: TEX ec. 7.1; PDF p. 180;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la unidad correcta y dos límites. El bloque separa posiciones de medición y luego muestra que igualar sonoridad exige una comparación psicofísica. Idea que debe quedar al cerrar: `G_CT=8 dB` describe esa frecuencia y esas posiciones. Escribir y leer la relación por términos: `G_CT = 58 dB SPL − 50 dB SPL = 8 dB`. Comprobar unidades antes de interpretar. Ejemplo para desarrollar oralmente: Campo: 50 dB SPL; próximo al tímpano: 58 dB SPL; diferencia: 8 dB para esa frecuencia y posición.</a:t>
            </a:r>
          </a:p>
          <a:p xmlns:a="http://schemas.openxmlformats.org/drawingml/2006/main">
            <a:r>
              <a:t>- **Guía para el visual/diagrama:** Recorrido sugerido: Datos → Resta → Resultado → Límite.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`G_CT=8 dB` describe esa frecuencia y esas posiciones.</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Llevar el resultado a una situación profesional.</a:t>
            </a:r>
          </a:p>
          <a:p xmlns:a="http://schemas.openxmlformats.org/drawingml/2006/main">
            <a:r>
              <a:t>- **[Sources]:** TEX 7.4.3; PDF p. 181.</a:t>
            </a:r>
          </a:p>
          <a:p xmlns:a="http://schemas.openxmlformats.org/drawingml/2006/main">
            <a:r>
              <a:t/>
            </a:r>
          </a:p>
          <a:p xmlns:a="http://schemas.openxmlformats.org/drawingml/2006/main">
            <a:r>
              <a:t>[Alt text]</a:t>
            </a:r>
          </a:p>
          <a:p xmlns:a="http://schemas.openxmlformats.org/drawingml/2006/main">
            <a:r>
              <a:t>Cuatro pasos: datos de cincuenta y cincuenta y ocho decibeles SPL, resta, resultado de ocho decibeles y límite interpretativo.</a:t>
            </a:r>
          </a:p>
          <a:p xmlns:a="http://schemas.openxmlformats.org/drawingml/2006/main">
            <a:r>
              <a:t/>
            </a:r>
          </a:p>
          <a:p xmlns:a="http://schemas.openxmlformats.org/drawingml/2006/main">
            <a:r>
              <a:t>[Sources]</a:t>
            </a:r>
          </a:p>
          <a:p xmlns:a="http://schemas.openxmlformats.org/drawingml/2006/main">
            <a:r>
              <a:t>- Fuentes de contenido: TEX 7.4.3; PDF p. 181.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No convertir la situación en protocolo clínico. El bloque separa posiciones de medición y luego muestra que igualar sonoridad exige una comparación psicofísica. Idea que debe quedar al cerrar: Mover la sonda o cambiar dirección puede cambiar el estímulo medido.</a:t>
            </a:r>
          </a:p>
          <a:p xmlns:a="http://schemas.openxmlformats.org/drawingml/2006/main">
            <a:r>
              <a:t>- **Guía para el visual/diagrama:** Recorrer las entidades en el orden visual. Nombrar primero los elementos, explicar luego las relaciones y cerrar con el límite indicado en el caption. No leer las cajas como un párrafo.</a:t>
            </a:r>
          </a:p>
          <a:p xmlns:a="http://schemas.openxmlformats.org/drawingml/2006/main">
            <a:r>
              <a:t>- **Pregunta al curso:** ¿Qué mediría primero y qué conclusión clínica todavía no estaría justificada?</a:t>
            </a:r>
          </a:p>
          <a:p xmlns:a="http://schemas.openxmlformats.org/drawingml/2006/main">
            <a:r>
              <a:t>- **Respuesta esperada:** Mover la sonda o cambiar dirección puede cambiar el estímulo medido.</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Recuperar resonancia como una causa, no la única.</a:t>
            </a:r>
          </a:p>
          <a:p xmlns:a="http://schemas.openxmlformats.org/drawingml/2006/main">
            <a:r>
              <a:t>- **[Sources]:** TEX 7.4.2 y A1; PDF pp. 180–181, 199/203; REF `carlini2024`.</a:t>
            </a:r>
          </a:p>
          <a:p xmlns:a="http://schemas.openxmlformats.org/drawingml/2006/main">
            <a:r>
              <a:t/>
            </a:r>
          </a:p>
          <a:p xmlns:a="http://schemas.openxmlformats.org/drawingml/2006/main">
            <a:r>
              <a:t>[Alt text]</a:t>
            </a:r>
          </a:p>
          <a:p xmlns:a="http://schemas.openxmlformats.org/drawingml/2006/main">
            <a:r>
              <a:t>Fotografía de medición con tubo sonda insertado en el CAE.</a:t>
            </a:r>
          </a:p>
          <a:p xmlns:a="http://schemas.openxmlformats.org/drawingml/2006/main">
            <a:r>
              <a:t/>
            </a:r>
          </a:p>
          <a:p xmlns:a="http://schemas.openxmlformats.org/drawingml/2006/main">
            <a:r>
              <a:t>[Sources]</a:t>
            </a:r>
          </a:p>
          <a:p xmlns:a="http://schemas.openxmlformats.org/drawingml/2006/main">
            <a:r>
              <a:t>- Fuentes de contenido: TEX 7.4.2 y A1; PDF pp. 180–181, 199/203; REF carlini2024.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Señalar repetición pedagógica: misma física, nueva consecuencia perceptual. El bloque separa posiciones de medición y luego muestra que igualar sonoridad exige una comparación psicofísica. Idea que debe quedar al cerrar: La transferencia depende de frecuencia, dirección, geometría y punto.</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Si cambiara una condición del estímulo o de la tarea, ¿qué parte de la conclusión debería revisarse?</a:t>
            </a:r>
          </a:p>
          <a:p xmlns:a="http://schemas.openxmlformats.org/drawingml/2006/main">
            <a:r>
              <a:t>- **Respuesta esperada:** La transferencia depende de frecuencia, dirección, geometría y punto.</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Preguntar por igual sonoridad entre frecuencias.</a:t>
            </a:r>
          </a:p>
          <a:p xmlns:a="http://schemas.openxmlformats.org/drawingml/2006/main">
            <a:r>
              <a:t>- **[Sources]:** PO; TEX 7.4.2; PDF p. 181; PREV U06-014–017.</a:t>
            </a:r>
          </a:p>
          <a:p xmlns:a="http://schemas.openxmlformats.org/drawingml/2006/main">
            <a:r>
              <a:t/>
            </a:r>
          </a:p>
          <a:p xmlns:a="http://schemas.openxmlformats.org/drawingml/2006/main">
            <a:r>
              <a:t>[Alt text]</a:t>
            </a:r>
          </a:p>
          <a:p xmlns:a="http://schemas.openxmlformats.org/drawingml/2006/main">
            <a:r>
              <a:t>Curva conceptual ondulada sobre frecuencia logarítmica. No hay valores verticales; tres anotaciones recuerdan dirección, geometría y punto de medición.</a:t>
            </a:r>
          </a:p>
          <a:p xmlns:a="http://schemas.openxmlformats.org/drawingml/2006/main">
            <a:r>
              <a:t/>
            </a:r>
          </a:p>
          <a:p xmlns:a="http://schemas.openxmlformats.org/drawingml/2006/main">
            <a:r>
              <a:t>[Sources]</a:t>
            </a:r>
          </a:p>
          <a:p xmlns:a="http://schemas.openxmlformats.org/drawingml/2006/main">
            <a:r>
              <a:t>- Fuentes de contenido: PO; TEX 7.4.2; PDF p. 181; PREV U06-014–017.</a:t>
            </a:r>
          </a:p>
          <a:p xmlns:a="http://schemas.openxmlformats.org/drawingml/2006/main">
            <a:r>
              <a:t>- Asset propio aprobado: U07-CH-003.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No ejecutar una medición normativa en aula. El bloque separa posiciones de medición y luego muestra que igualar sonoridad exige una comparación psicofísica. Idea que debe quedar al cerrar: Igualar una experiencia requiere ajustar el estímulo.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Compare un tono de referencia de 1 kHz con un tono de prueba. ¿Qué variable debe ajustarse para juzgarlos igualmente sonoros?</a:t>
            </a:r>
          </a:p>
          <a:p xmlns:a="http://schemas.openxmlformats.org/drawingml/2006/main">
            <a:r>
              <a:t>- **Respuesta esperada:** Igualar una experiencia requiere ajustar el estímulo.</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Formalizar el procedimiento de una isofónica.</a:t>
            </a:r>
          </a:p>
          <a:p xmlns:a="http://schemas.openxmlformats.org/drawingml/2006/main">
            <a:r>
              <a:t>- **[Sources]:** TEX 7.5; PDF p. 182; EP.</a:t>
            </a:r>
          </a:p>
          <a:p xmlns:a="http://schemas.openxmlformats.org/drawingml/2006/main">
            <a:r>
              <a:t/>
            </a:r>
          </a:p>
          <a:p xmlns:a="http://schemas.openxmlformats.org/drawingml/2006/main">
            <a:r>
              <a:t>[Alt text]</a:t>
            </a:r>
          </a:p>
          <a:p xmlns:a="http://schemas.openxmlformats.org/drawingml/2006/main">
            <a:r>
              <a:t>Dos controles de frecuencia/nivel; elaboración propia. La idea central es: Igualar una experiencia requiere ajustar el estímulo.</a:t>
            </a:r>
          </a:p>
          <a:p xmlns:a="http://schemas.openxmlformats.org/drawingml/2006/main">
            <a:r>
              <a:t/>
            </a:r>
          </a:p>
          <a:p xmlns:a="http://schemas.openxmlformats.org/drawingml/2006/main">
            <a:r>
              <a:t>[Sources]</a:t>
            </a:r>
          </a:p>
          <a:p xmlns:a="http://schemas.openxmlformats.org/drawingml/2006/main">
            <a:r>
              <a:t>- Fuentes de contenido: TEX 7.5; PDF p. 182;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Distinguir estímulo, tarea y respuesta dentro del procedimiento. El bloque separa posiciones de medición y luego muestra que igualar sonoridad exige una comparación psicofísica. Idea que debe quedar al cerrar: Cada punto registra el nivel ajustado para igualar una referencia. Definición de trabajo: Curva isofónica: combinaciones de frecuencia y nivel juzgadas con igual sonoridad bajo condiciones definidas.</a:t>
            </a:r>
          </a:p>
          <a:p xmlns:a="http://schemas.openxmlformats.org/drawingml/2006/main">
            <a:r>
              <a:t>- **Guía para el visual/diagrama:** Recorrido sugerido: Referencia → Tono de prueba → Ajuste → Juicio → Punto.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Cada punto registra el nivel ajustado para igualar una referencia.</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Mostrar luego la forma de una familia de curvas.</a:t>
            </a:r>
          </a:p>
          <a:p xmlns:a="http://schemas.openxmlformats.org/drawingml/2006/main">
            <a:r>
              <a:t>- **[Sources]:** TEX 7.5; PDF p. 182, fig. 7.3.</a:t>
            </a:r>
          </a:p>
          <a:p xmlns:a="http://schemas.openxmlformats.org/drawingml/2006/main">
            <a:r>
              <a:t/>
            </a:r>
          </a:p>
          <a:p xmlns:a="http://schemas.openxmlformats.org/drawingml/2006/main">
            <a:r>
              <a:t>[Alt text]</a:t>
            </a:r>
          </a:p>
          <a:p xmlns:a="http://schemas.openxmlformats.org/drawingml/2006/main">
            <a:r>
              <a:t>Cinco etapas conectadas: referencia de un kilohertz, tono de prueba, ajuste de nivel, juicio de igual sonoridad y registro del punto.</a:t>
            </a:r>
          </a:p>
          <a:p xmlns:a="http://schemas.openxmlformats.org/drawingml/2006/main">
            <a:r>
              <a:t/>
            </a:r>
          </a:p>
          <a:p xmlns:a="http://schemas.openxmlformats.org/drawingml/2006/main">
            <a:r>
              <a:t>[Sources]</a:t>
            </a:r>
          </a:p>
          <a:p xmlns:a="http://schemas.openxmlformats.org/drawingml/2006/main">
            <a:r>
              <a:t>- Fuentes de contenido: TEX 7.5; PDF p. 182, fig. 7.3.</a:t>
            </a:r>
          </a:p>
          <a:p xmlns:a="http://schemas.openxmlformats.org/drawingml/2006/main">
            <a:r>
              <a:t>- Asset propio aprobado: U07-DG-011.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Si no hay datos autorizados, usar esquema claramente no normativo. El bloque separa posiciones de medición y luego muestra que igualar sonoridad exige una comparación psicofísica. Idea que debe quedar al cerrar: La separación entre curvas cambia con frecuencia y nivel.</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La separación entre curvas cambia con frecuencia y nivel.</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Comprobar lectura sin convertir curvas.</a:t>
            </a:r>
          </a:p>
          <a:p xmlns:a="http://schemas.openxmlformats.org/drawingml/2006/main">
            <a:r>
              <a:t>- **[Sources]:** PO; TEX 7.5; PDF p. 182; REF `iso226_2023`; OD-U07-02/03.</a:t>
            </a:r>
          </a:p>
          <a:p xmlns:a="http://schemas.openxmlformats.org/drawingml/2006/main">
            <a:r>
              <a:t/>
            </a:r>
          </a:p>
          <a:p xmlns:a="http://schemas.openxmlformats.org/drawingml/2006/main">
            <a:r>
              <a:t>[Alt text]</a:t>
            </a:r>
          </a:p>
          <a:p xmlns:a="http://schemas.openxmlformats.org/drawingml/2006/main">
            <a:r>
              <a:t>Esquema no normativo del procedimiento de comparación isofónica, con tono de referencia y tonos de prueba a diferentes frecuencias.</a:t>
            </a:r>
          </a:p>
          <a:p xmlns:a="http://schemas.openxmlformats.org/drawingml/2006/main">
            <a:r>
              <a:t/>
            </a:r>
          </a:p>
          <a:p xmlns:a="http://schemas.openxmlformats.org/drawingml/2006/main">
            <a:r>
              <a:t>[Sources]</a:t>
            </a:r>
          </a:p>
          <a:p xmlns:a="http://schemas.openxmlformats.org/drawingml/2006/main">
            <a:r>
              <a:t>- Fuentes de contenido: PO; TEX 7.5; PDF p. 182; REF iso226(2023); OD-U07-02/03.</a:t>
            </a:r>
          </a:p>
          <a:p xmlns:a="http://schemas.openxmlformats.org/drawingml/2006/main">
            <a:r>
              <a:t>- Asset propio aprobado: U07-DG-011.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Pedir qué información falta para otro oyente o señal compleja. El bloque separa posiciones de medición y luego muestra que igualar sonoridad exige una comparación psicofísica. Idea que debe quedar al cerrar: Dos puntos iguales en sonoridad pueden tener distinto `L_p`.</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Identifique frecuencia, nivel, curva de igual sonoridad y tono de referencia. ¿Qué condiciones faltan para aplicar la lectura a otro oyente o a una señal compleja?</a:t>
            </a:r>
          </a:p>
          <a:p xmlns:a="http://schemas.openxmlformats.org/drawingml/2006/main">
            <a:r>
              <a:t>- **Respuesta esperada:** Dos puntos iguales en sonoridad pueden tener distinto `L_p`.</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Resolver y cerrar el bloque.</a:t>
            </a:r>
          </a:p>
          <a:p xmlns:a="http://schemas.openxmlformats.org/drawingml/2006/main">
            <a:r>
              <a:t>- **[Sources]:** TEX I2; PDF pp. 197, 201; SA.</a:t>
            </a:r>
          </a:p>
          <a:p xmlns:a="http://schemas.openxmlformats.org/drawingml/2006/main">
            <a:r>
              <a:t/>
            </a:r>
          </a:p>
          <a:p xmlns:a="http://schemas.openxmlformats.org/drawingml/2006/main">
            <a:r>
              <a:t>[Alt text]</a:t>
            </a:r>
          </a:p>
          <a:p xmlns:a="http://schemas.openxmlformats.org/drawingml/2006/main">
            <a:r>
              <a:t>Dos puntos de una misma curva conceptual tienen distinta frecuencia y nivel, pero igual sonoridad bajo la tarea indicada.</a:t>
            </a:r>
          </a:p>
          <a:p xmlns:a="http://schemas.openxmlformats.org/drawingml/2006/main">
            <a:r>
              <a:t/>
            </a:r>
          </a:p>
          <a:p xmlns:a="http://schemas.openxmlformats.org/drawingml/2006/main">
            <a:r>
              <a:t>[Sources]</a:t>
            </a:r>
          </a:p>
          <a:p xmlns:a="http://schemas.openxmlformats.org/drawingml/2006/main">
            <a:r>
              <a:t>- Fuentes de contenido: TEX I2; PDF pp. 197, 201; SA.</a:t>
            </a:r>
          </a:p>
          <a:p xmlns:a="http://schemas.openxmlformats.org/drawingml/2006/main">
            <a:r>
              <a:t>- Asset propio aprobado: U07-DG-011.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marco con dos fuentes de variación; no repetir la ecuación. El bloque separa posiciones de medición y luego muestra que igualar sonoridad exige una comparación psicofísica. Idea que debe quedar al cerrar: El mismo número en dB SPL no describe el mismo estímulo timpánico ni la misma sonoridad.</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Explique la idea central con un ejemplo distinto de los mostrados.</a:t>
            </a:r>
          </a:p>
          <a:p xmlns:a="http://schemas.openxmlformats.org/drawingml/2006/main">
            <a:r>
              <a:t>- **Respuesta esperada:** El mismo número en dB SPL no describe el mismo estímulo timpánico ni la misma sonoridad.</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Abrir los cuatro atributos perceptuales.</a:t>
            </a:r>
          </a:p>
          <a:p xmlns:a="http://schemas.openxmlformats.org/drawingml/2006/main">
            <a:r>
              <a:t>- **[Sources]:** TEX 7.4–7.5; BR; EP.</a:t>
            </a:r>
          </a:p>
          <a:p xmlns:a="http://schemas.openxmlformats.org/drawingml/2006/main">
            <a:r>
              <a:t/>
            </a:r>
          </a:p>
          <a:p xmlns:a="http://schemas.openxmlformats.org/drawingml/2006/main">
            <a:r>
              <a:t>[Alt text]</a:t>
            </a:r>
          </a:p>
          <a:p xmlns:a="http://schemas.openxmlformats.org/drawingml/2006/main">
            <a:r>
              <a:t>Mini mapa campo → tímpano → tarea → sonoridad. La idea central es: El mismo número en dB SPL no describe el mismo estímulo timpánico ni la misma sonoridad.</a:t>
            </a:r>
          </a:p>
          <a:p xmlns:a="http://schemas.openxmlformats.org/drawingml/2006/main">
            <a:r>
              <a:t/>
            </a:r>
          </a:p>
          <a:p xmlns:a="http://schemas.openxmlformats.org/drawingml/2006/main">
            <a:r>
              <a:t>[Sources]</a:t>
            </a:r>
          </a:p>
          <a:p xmlns:a="http://schemas.openxmlformats.org/drawingml/2006/main">
            <a:r>
              <a:t>- Fuentes de contenido: TEX 7.4–7.5; BR; EP.</a:t>
            </a:r>
          </a:p>
          <a:p xmlns:a="http://schemas.openxmlformats.org/drawingml/2006/main">
            <a:r>
              <a:t>- Asset propio aprobado: U07-DG-008.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Anunciar un atributo por vez. El bloque presenta un atributo por vez y conserva la distinción entre magnitud, representación y percepto. Idea que debe quedar al cerrar: Pitch, sonoridad, timbre y duración responden a rasgos diferentes.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problema abre la afirmación «Un sonido puede describirse con varios atributos perceptuales»?</a:t>
            </a:r>
          </a:p>
          <a:p xmlns:a="http://schemas.openxmlformats.org/drawingml/2006/main">
            <a:r>
              <a:t>- **Respuesta esperada:** Pitch, sonoridad, timbre y duración responden a rasgos diferentes.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Construir el mapa físico–perceptual.</a:t>
            </a:r>
          </a:p>
          <a:p xmlns:a="http://schemas.openxmlformats.org/drawingml/2006/main">
            <a:r>
              <a:t>- **[Sources]:** PO; TEX 7.6; PDF pp. 183–184.</a:t>
            </a:r>
          </a:p>
          <a:p xmlns:a="http://schemas.openxmlformats.org/drawingml/2006/main">
            <a:r>
              <a:t/>
            </a:r>
          </a:p>
          <a:p xmlns:a="http://schemas.openxmlformats.org/drawingml/2006/main">
            <a:r>
              <a:t>[Alt text]</a:t>
            </a:r>
          </a:p>
          <a:p xmlns:a="http://schemas.openxmlformats.org/drawingml/2006/main">
            <a:r>
              <a:t>Cuatro palabras alrededor de una señal, sin tarjetas. La idea central es: Pitch, sonoridad, timbre y duración responden a rasgos diferentes.</a:t>
            </a:r>
          </a:p>
          <a:p xmlns:a="http://schemas.openxmlformats.org/drawingml/2006/main">
            <a:r>
              <a:t/>
            </a:r>
          </a:p>
          <a:p xmlns:a="http://schemas.openxmlformats.org/drawingml/2006/main">
            <a:r>
              <a:t>[Sources]</a:t>
            </a:r>
          </a:p>
          <a:p xmlns:a="http://schemas.openxmlformats.org/drawingml/2006/main">
            <a:r>
              <a:t>- Fuentes de contenido: PO; TEX 7.6; PDF pp. 183–184.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Explicar que las flechas significan relación, no igualdad. El bloque presenta un atributo por vez y conserva la distinción entre magnitud, representación y percepto. Idea que debe quedar al cerrar: Cada atributo se vincula con varias propiedades físicas.</a:t>
            </a:r>
          </a:p>
          <a:p xmlns:a="http://schemas.openxmlformats.org/drawingml/2006/main">
            <a:r>
              <a:t>- **Guía para el visual/diagrama:** Recorrido sugerido: Frecuencia → Altura tonal → Nivel → Sonoridad → Espectro → ….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Cada atributo se vincula con varias propiedades físicas.</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Empezar por pitch.</a:t>
            </a:r>
          </a:p>
          <a:p xmlns:a="http://schemas.openxmlformats.org/drawingml/2006/main">
            <a:r>
              <a:t>- **[Sources]:** TEX 7.2, 7.6; PDF pp. 178, 183–184; BR.</a:t>
            </a:r>
          </a:p>
          <a:p xmlns:a="http://schemas.openxmlformats.org/drawingml/2006/main">
            <a:r>
              <a:t/>
            </a:r>
          </a:p>
          <a:p xmlns:a="http://schemas.openxmlformats.org/drawingml/2006/main">
            <a:r>
              <a:t>[Alt text]</a:t>
            </a:r>
          </a:p>
          <a:p xmlns:a="http://schemas.openxmlformats.org/drawingml/2006/main">
            <a:r>
              <a:t>Ocho celdas organizadas en cuatro pares de magnitud física y atributo perceptual.</a:t>
            </a:r>
          </a:p>
          <a:p xmlns:a="http://schemas.openxmlformats.org/drawingml/2006/main">
            <a:r>
              <a:t/>
            </a:r>
          </a:p>
          <a:p xmlns:a="http://schemas.openxmlformats.org/drawingml/2006/main">
            <a:r>
              <a:t>[Sources]</a:t>
            </a:r>
          </a:p>
          <a:p xmlns:a="http://schemas.openxmlformats.org/drawingml/2006/main">
            <a:r>
              <a:t>- Fuentes de contenido: TEX 7.2, 7.6; PDF pp. 178, 183–184; BR.</a:t>
            </a:r>
          </a:p>
          <a:p xmlns:a="http://schemas.openxmlformats.org/drawingml/2006/main">
            <a:r>
              <a:t>- Asset propio aprobado: U07-DG-012.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traducir pitch como una frecuencia medida. El bloque presenta un atributo por vez y conserva la distinción entre magnitud, representación y percepto. Idea que debe quedar al cerrar: La frecuencia influye, pero no agota el pitch. Definición de trabajo: Altura tonal o pitch: atributo que permite ordenar sensaciones de graves a agudas.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La frecuencia influye, pero no agota el pitch.</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Comparar ambos conceptos con criterios comunes.</a:t>
            </a:r>
          </a:p>
          <a:p xmlns:a="http://schemas.openxmlformats.org/drawingml/2006/main">
            <a:r>
              <a:t>- **[Sources]:** PO; TEX 7.6.1; PDF p. 183; GLO.</a:t>
            </a:r>
          </a:p>
          <a:p xmlns:a="http://schemas.openxmlformats.org/drawingml/2006/main">
            <a:r>
              <a:t/>
            </a:r>
          </a:p>
          <a:p xmlns:a="http://schemas.openxmlformats.org/drawingml/2006/main">
            <a:r>
              <a:t>[Alt text]</a:t>
            </a:r>
          </a:p>
          <a:p xmlns:a="http://schemas.openxmlformats.org/drawingml/2006/main">
            <a:r>
              <a:t>Onda + eje de frecuencia sin escala perceptual. La idea central es: La frecuencia influye, pero no agota el pitch.</a:t>
            </a:r>
          </a:p>
          <a:p xmlns:a="http://schemas.openxmlformats.org/drawingml/2006/main">
            <a:r>
              <a:t/>
            </a:r>
          </a:p>
          <a:p xmlns:a="http://schemas.openxmlformats.org/drawingml/2006/main">
            <a:r>
              <a:t>[Sources]</a:t>
            </a:r>
          </a:p>
          <a:p xmlns:a="http://schemas.openxmlformats.org/drawingml/2006/main">
            <a:r>
              <a:t>- Fuentes de contenido: PO; TEX 7.6.1; PDF p. 183;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Recuperar el error final de U6 en un nivel más profundo. El bloque presenta un atributo por vez y conserva la distinción entre magnitud, representación y percepto. Idea que debe quedar al cerrar: Una es física en Hz; el otro depende de periodicidad, espectro, nivel y contexto.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Una es física en Hz; el otro depende de periodicidad, espectro, nivel y contexto.</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Mostrar un contraejemplo auditivo.</a:t>
            </a:r>
          </a:p>
          <a:p xmlns:a="http://schemas.openxmlformats.org/drawingml/2006/main">
            <a:r>
              <a:t>- **[Sources]:** TEX 7.6.1; PDF p. 183; PREV U06-097; GLO.</a:t>
            </a:r>
          </a:p>
          <a:p xmlns:a="http://schemas.openxmlformats.org/drawingml/2006/main">
            <a:r>
              <a:t/>
            </a:r>
          </a:p>
          <a:p xmlns:a="http://schemas.openxmlformats.org/drawingml/2006/main">
            <a:r>
              <a:t>[Alt text]</a:t>
            </a:r>
          </a:p>
          <a:p xmlns:a="http://schemas.openxmlformats.org/drawingml/2006/main">
            <a:r>
              <a:t>Comparación tipográfica con mini espectro. La idea central es: Una es física en Hz; el otro depende de periodicidad, espectro, nivel y contexto.</a:t>
            </a:r>
          </a:p>
          <a:p xmlns:a="http://schemas.openxmlformats.org/drawingml/2006/main">
            <a:r>
              <a:t/>
            </a:r>
          </a:p>
          <a:p xmlns:a="http://schemas.openxmlformats.org/drawingml/2006/main">
            <a:r>
              <a:t>[Sources]</a:t>
            </a:r>
          </a:p>
          <a:p xmlns:a="http://schemas.openxmlformats.org/drawingml/2006/main">
            <a:r>
              <a:t>- Fuentes de contenido: TEX 7.6.1; PDF p. 183; PREV U06-097;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4–5 min.</a:t>
            </a:r>
          </a:p>
          <a:p xmlns:a="http://schemas.openxmlformats.org/drawingml/2006/main">
            <a:r>
              <a:t>- **Explicación extendida:** Rechazar “el oído agrega una línea” y vincular con U5. El bloque presenta un atributo por vez y conserva la distinción entre magnitud, representación y percepto. Idea que debe quedar al cerrar: El percepto puede relacionarse con periodicidad aunque no exista una línea en `f_0`. Ejemplo para desarrollar oralmente: Complejo armónico con `f₀ = 200 Hz`: al retirar la componente de 200 Hz, el espaciamiento entre armónicos sigue siendo 200 Hz.</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Antes de observar o escuchar: ¿qué espera que cambie y qué debería permanecer controlado?</a:t>
            </a:r>
          </a:p>
          <a:p xmlns:a="http://schemas.openxmlformats.org/drawingml/2006/main">
            <a:r>
              <a:t>- **Respuesta esperada:** El percepto puede relacionarse con periodicidad aunque no exista una línea en `f_0`.</a:t>
            </a:r>
          </a:p>
          <a:p xmlns:a="http://schemas.openxmlformats.org/drawingml/2006/main">
            <a:r>
              <a:t>- **Demostración o multimedia:** Reproducir U07-MEDIA-002 después de leer ambos espectros. Complejo completo y sin fundamental; alternativa: espaciamiento armónico señalado en el gráfico.</a:t>
            </a:r>
          </a:p>
          <a:p xmlns:a="http://schemas.openxmlformats.org/drawingml/2006/main">
            <a:r>
              <a:t>- **Error frecuente a vigilar:** Usar frecuencia, nivel, espectro o duración como sinónimos de sus atributos perceptuales.</a:t>
            </a:r>
          </a:p>
          <a:p xmlns:a="http://schemas.openxmlformats.org/drawingml/2006/main">
            <a:r>
              <a:t>- **Transición oral:** Pasar de altura a cantidad percibida.</a:t>
            </a:r>
          </a:p>
          <a:p xmlns:a="http://schemas.openxmlformats.org/drawingml/2006/main">
            <a:r>
              <a:t>- **[Sources]:** TEX 7.6.1; PDF p. 183; REF `oxenham2018`; U5.</a:t>
            </a:r>
          </a:p>
          <a:p xmlns:a="http://schemas.openxmlformats.org/drawingml/2006/main">
            <a:r>
              <a:t/>
            </a:r>
          </a:p>
          <a:p xmlns:a="http://schemas.openxmlformats.org/drawingml/2006/main">
            <a:r>
              <a:t>[Alt text]</a:t>
            </a:r>
          </a:p>
          <a:p xmlns:a="http://schemas.openxmlformats.org/drawingml/2006/main">
            <a:r>
              <a:t>Complejos armónicos con y sin f0.</a:t>
            </a:r>
          </a:p>
          <a:p xmlns:a="http://schemas.openxmlformats.org/drawingml/2006/main">
            <a:r>
              <a:t/>
            </a:r>
          </a:p>
          <a:p xmlns:a="http://schemas.openxmlformats.org/drawingml/2006/main">
            <a:r>
              <a:t>[Sources]</a:t>
            </a:r>
          </a:p>
          <a:p xmlns:a="http://schemas.openxmlformats.org/drawingml/2006/main">
            <a:r>
              <a:t>- Fuentes de contenido: TEX 7.6.1; PDF p. 183; REF oxenham2018; U5.</a:t>
            </a:r>
          </a:p>
          <a:p xmlns:a="http://schemas.openxmlformats.org/drawingml/2006/main">
            <a:r>
              <a:t>- Asset propio aprobado: U07-CH-005.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usar “volumen” como término técnico. El bloque presenta un atributo por vez y conserva la distinción entre magnitud, representación y percepto. Idea que debe quedar al cerrar: Suele aumentar con `L_p`, pero también depende de frecuencia, duración, banda y contexto. Definición de trabajo: Sonoridad: atributo perceptual que permite ordenar sonidos de menos a más sonoros.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Suele aumentar con `L_p`, pero también depende de frecuencia, duración, banda y contexto.</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Contrastar dos señales de igual nivel.</a:t>
            </a:r>
          </a:p>
          <a:p xmlns:a="http://schemas.openxmlformats.org/drawingml/2006/main">
            <a:r>
              <a:t>- **[Sources]:** PO; TEX 7.6.2; PDF p. 183; GLO.</a:t>
            </a:r>
          </a:p>
          <a:p xmlns:a="http://schemas.openxmlformats.org/drawingml/2006/main">
            <a:r>
              <a:t/>
            </a:r>
          </a:p>
          <a:p xmlns:a="http://schemas.openxmlformats.org/drawingml/2006/main">
            <a:r>
              <a:t>[Alt text]</a:t>
            </a:r>
          </a:p>
          <a:p xmlns:a="http://schemas.openxmlformats.org/drawingml/2006/main">
            <a:r>
              <a:t>Mapa radial simple sin conectores cruzados. La idea central es: Suele aumentar con Lₚ, pero también depende de frecuencia, duración, banda y contexto.</a:t>
            </a:r>
          </a:p>
          <a:p xmlns:a="http://schemas.openxmlformats.org/drawingml/2006/main">
            <a:r>
              <a:t/>
            </a:r>
          </a:p>
          <a:p xmlns:a="http://schemas.openxmlformats.org/drawingml/2006/main">
            <a:r>
              <a:t>[Sources]</a:t>
            </a:r>
          </a:p>
          <a:p xmlns:a="http://schemas.openxmlformats.org/drawingml/2006/main">
            <a:r>
              <a:t>- Fuentes de contenido: PO; TEX 7.6.2; PDF p. 183;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Explicar por qué la respuesta depende de la tarea. El bloque presenta un atributo por vez y conserva la distinción entre magnitud, representación y percepto. Idea que debe quedar al cerrar: El nivel es una medida; la sonoridad es una respuesta.</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criterio permite separar las dos columnas sin tratarlas como sinónimos?</a:t>
            </a:r>
          </a:p>
          <a:p xmlns:a="http://schemas.openxmlformats.org/drawingml/2006/main">
            <a:r>
              <a:t>- **Respuesta esperada:** El nivel es una medida; la sonoridad es una respuesta.</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Presentar timbre como atributo multidimensional.</a:t>
            </a:r>
          </a:p>
          <a:p xmlns:a="http://schemas.openxmlformats.org/drawingml/2006/main">
            <a:r>
              <a:t>- **[Sources]:** TEX 7.5–7.6.2; PDF pp. 182–183.</a:t>
            </a:r>
          </a:p>
          <a:p xmlns:a="http://schemas.openxmlformats.org/drawingml/2006/main">
            <a:r>
              <a:t/>
            </a:r>
          </a:p>
          <a:p xmlns:a="http://schemas.openxmlformats.org/drawingml/2006/main">
            <a:r>
              <a:t>[Alt text]</a:t>
            </a:r>
          </a:p>
          <a:p xmlns:a="http://schemas.openxmlformats.org/drawingml/2006/main">
            <a:r>
              <a:t>Familia normativa solo con datos autorizados; alternativa esquemática.</a:t>
            </a:r>
          </a:p>
          <a:p xmlns:a="http://schemas.openxmlformats.org/drawingml/2006/main">
            <a:r>
              <a:t/>
            </a:r>
          </a:p>
          <a:p xmlns:a="http://schemas.openxmlformats.org/drawingml/2006/main">
            <a:r>
              <a:t>[Sources]</a:t>
            </a:r>
          </a:p>
          <a:p xmlns:a="http://schemas.openxmlformats.org/drawingml/2006/main">
            <a:r>
              <a:t>- Fuentes de contenido: TEX 7.5–7.6.2; PDF pp. 182–183.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Usar voz como ejemplo sin diagnosticar. El bloque presenta un atributo por vez y conserva la distinción entre magnitud, representación y percepto. Idea que debe quedar al cerrar: Envolvente espectral, ataque, decaimiento, ruido y cambios temporales contribuyen. Definición de trabajo: Timbre: atributo multidimensional que permite diferenciar señales aun con pitch, sonoridad y duración global semejantes.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Envolvente espectral, ataque, decaimiento, ruido y cambios temporales contribuyen.</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Mostrar que una FFT de magnitud no basta.</a:t>
            </a:r>
          </a:p>
          <a:p xmlns:a="http://schemas.openxmlformats.org/drawingml/2006/main">
            <a:r>
              <a:t>- **[Sources]:** PO; TEX 7.6.3; PDF p. 183; REF `oxenham2018`; GLO.</a:t>
            </a:r>
          </a:p>
          <a:p xmlns:a="http://schemas.openxmlformats.org/drawingml/2006/main">
            <a:r>
              <a:t/>
            </a:r>
          </a:p>
          <a:p xmlns:a="http://schemas.openxmlformats.org/drawingml/2006/main">
            <a:r>
              <a:t>[Alt text]</a:t>
            </a:r>
          </a:p>
          <a:p xmlns:a="http://schemas.openxmlformats.org/drawingml/2006/main">
            <a:r>
              <a:t>Espectro + envolvente temporal coordinados. La idea central es: Envolvente espectral, ataque, decaimiento, ruido y cambios temporales contribuyen.</a:t>
            </a:r>
          </a:p>
          <a:p xmlns:a="http://schemas.openxmlformats.org/drawingml/2006/main">
            <a:r>
              <a:t/>
            </a:r>
          </a:p>
          <a:p xmlns:a="http://schemas.openxmlformats.org/drawingml/2006/main">
            <a:r>
              <a:t>[Sources]</a:t>
            </a:r>
          </a:p>
          <a:p xmlns:a="http://schemas.openxmlformats.org/drawingml/2006/main">
            <a:r>
              <a:t>- Fuentes de contenido: PO; TEX 7.6.3; PDF p. 183; REF oxenham2018;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4–5 min.</a:t>
            </a:r>
          </a:p>
          <a:p xmlns:a="http://schemas.openxmlformats.org/drawingml/2006/main">
            <a:r>
              <a:t>- **Explicación extendida:** Declarar límites de la comparación y del sistema de reproducción. El bloque presenta un atributo por vez y conserva la distinción entre magnitud, representación y percepto. Idea que debe quedar al cerrar: Ataque y orden temporal cambian la experiencia aunque la magnitud espectral sea semejante. Ejemplo para desarrollar oralmente: Dos señales con magnitud espectral semejante pueden diferir en ataque, fase y envolvente temporal.</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Antes de observar o escuchar: ¿qué espera que cambie y qué debería permanecer controlado?</a:t>
            </a:r>
          </a:p>
          <a:p xmlns:a="http://schemas.openxmlformats.org/drawingml/2006/main">
            <a:r>
              <a:t>- **Respuesta esperada:** Ataque y orden temporal cambian la experiencia aunque la magnitud espectral sea semejante.</a:t>
            </a:r>
          </a:p>
          <a:p xmlns:a="http://schemas.openxmlformats.org/drawingml/2006/main">
            <a:r>
              <a:t>- **Demostración o multimedia:** Reproducir U07-MEDIA-003 después de comparar espectros. Señalar ataque y envolvente; alternativa: dos formas de onda estáticas.</a:t>
            </a:r>
          </a:p>
          <a:p xmlns:a="http://schemas.openxmlformats.org/drawingml/2006/main">
            <a:r>
              <a:t>- **Error frecuente a vigilar:** Usar frecuencia, nivel, espectro o duración como sinónimos de sus atributos perceptuales.</a:t>
            </a:r>
          </a:p>
          <a:p xmlns:a="http://schemas.openxmlformats.org/drawingml/2006/main">
            <a:r>
              <a:t>- **Transición oral:** Entrar a duración percibida.</a:t>
            </a:r>
          </a:p>
          <a:p xmlns:a="http://schemas.openxmlformats.org/drawingml/2006/main">
            <a:r>
              <a:t>- **[Sources]:** TEX 7.6.3; ejercicio C5; PDF pp. 183, 197/200; EP.</a:t>
            </a:r>
          </a:p>
          <a:p xmlns:a="http://schemas.openxmlformats.org/drawingml/2006/main">
            <a:r>
              <a:t/>
            </a:r>
          </a:p>
          <a:p xmlns:a="http://schemas.openxmlformats.org/drawingml/2006/main">
            <a:r>
              <a:t>[Alt text]</a:t>
            </a:r>
          </a:p>
          <a:p xmlns:a="http://schemas.openxmlformats.org/drawingml/2006/main">
            <a:r>
              <a:t>Señales sintéticas con fase/estructura temporal distintas.</a:t>
            </a:r>
          </a:p>
          <a:p xmlns:a="http://schemas.openxmlformats.org/drawingml/2006/main">
            <a:r>
              <a:t/>
            </a:r>
          </a:p>
          <a:p xmlns:a="http://schemas.openxmlformats.org/drawingml/2006/main">
            <a:r>
              <a:t>[Sources]</a:t>
            </a:r>
          </a:p>
          <a:p xmlns:a="http://schemas.openxmlformats.org/drawingml/2006/main">
            <a:r>
              <a:t>- Fuentes de contenido: TEX 7.6.3; ejercicio C5; PDF pp. 183, 197/200;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Diferenciar límites de señal de la estimación del oyente. El bloque presenta un atributo por vez y conserva la distinción entre magnitud, representación y percepto. Idea que debe quedar al cerrar: `Δt` se mide en segundos; la duración percibida es una respuesta. Definición de trabajo: Duración física: intervalo medible entre dos instantes. Duración percibida: estimación temporal realizada por el oyente.</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`Δt` se mide en segundos; la duración percibida es una respuesta.</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Añadir resolución e integración como conceptos vecinos.</a:t>
            </a:r>
          </a:p>
          <a:p xmlns:a="http://schemas.openxmlformats.org/drawingml/2006/main">
            <a:r>
              <a:t>- **[Sources]:** PO; TEX 7.6.4; PDF pp. 183–184; GLO.</a:t>
            </a:r>
          </a:p>
          <a:p xmlns:a="http://schemas.openxmlformats.org/drawingml/2006/main">
            <a:r>
              <a:t/>
            </a:r>
          </a:p>
          <a:p xmlns:a="http://schemas.openxmlformats.org/drawingml/2006/main">
            <a:r>
              <a:t>[Alt text]</a:t>
            </a:r>
          </a:p>
          <a:p xmlns:a="http://schemas.openxmlformats.org/drawingml/2006/main">
            <a:r>
              <a:t>Dos líneas temporales con rótulos; sin números universales. La idea central es: Δt se mide en segundos; la duración percibida es una respuesta.</a:t>
            </a:r>
          </a:p>
          <a:p xmlns:a="http://schemas.openxmlformats.org/drawingml/2006/main">
            <a:r>
              <a:t/>
            </a:r>
          </a:p>
          <a:p xmlns:a="http://schemas.openxmlformats.org/drawingml/2006/main">
            <a:r>
              <a:t>[Sources]</a:t>
            </a:r>
          </a:p>
          <a:p xmlns:a="http://schemas.openxmlformats.org/drawingml/2006/main">
            <a:r>
              <a:t>- Fuentes de contenido: PO; TEX 7.6.4; PDF pp. 183–184;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fijar una “ventana temporal” universal. El bloque presenta un atributo por vez y conserva la distinción entre magnitud, representación y percepto. Idea que debe quedar al cerrar: Juzgar cuánto duró, separar eventos y acumular información son tareas diferentes. Definición de trabajo: Resolución temporal: capacidad para distinguir cambios o separaciones. Integración temporal: efecto de acumular información durante un intervalo.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Juzgar cuánto duró, separar eventos y acumular información son tareas diferentes.</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Cerrar con cuatro preguntas de control.</a:t>
            </a:r>
          </a:p>
          <a:p xmlns:a="http://schemas.openxmlformats.org/drawingml/2006/main">
            <a:r>
              <a:t>- **[Sources]:** TEX 7.6.4; PDF p. 184; REF `oxenham2018`.</a:t>
            </a:r>
          </a:p>
          <a:p xmlns:a="http://schemas.openxmlformats.org/drawingml/2006/main">
            <a:r>
              <a:t/>
            </a:r>
          </a:p>
          <a:p xmlns:a="http://schemas.openxmlformats.org/drawingml/2006/main">
            <a:r>
              <a:t>[Alt text]</a:t>
            </a:r>
          </a:p>
          <a:p xmlns:a="http://schemas.openxmlformats.org/drawingml/2006/main">
            <a:r>
              <a:t>Tabla nativa con mini líneas temporales. La idea central es: Juzgar cuánto duró, separar eventos y acumular información son tareas diferentes.</a:t>
            </a:r>
          </a:p>
          <a:p xmlns:a="http://schemas.openxmlformats.org/drawingml/2006/main">
            <a:r>
              <a:t/>
            </a:r>
          </a:p>
          <a:p xmlns:a="http://schemas.openxmlformats.org/drawingml/2006/main">
            <a:r>
              <a:t>[Sources]</a:t>
            </a:r>
          </a:p>
          <a:p xmlns:a="http://schemas.openxmlformats.org/drawingml/2006/main">
            <a:r>
              <a:t>- Fuentes de contenido: TEX 7.6.4; PDF p. 184; REF oxenham2018.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mapa con ejemplos, no definiciones literales. El bloque presenta un atributo por vez y conserva la distinción entre magnitud, representación y percepto. Idea que debe quedar al cerrar: Cada atributo necesita su tarea y no posee una equivalencia física única.</a:t>
            </a:r>
          </a:p>
          <a:p xmlns:a="http://schemas.openxmlformats.org/drawingml/2006/main">
            <a:r>
              <a:t>- **Guía para el visual/diagrama:** Recorrido sugerido: Señal acústica → Altura tonal → Sonoridad → Timbre → Duración.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Cada atributo necesita su tarea y no posee una equivalencia física única.</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La sonoridad requiere ahora dos escalas.</a:t>
            </a:r>
          </a:p>
          <a:p xmlns:a="http://schemas.openxmlformats.org/drawingml/2006/main">
            <a:r>
              <a:t>- **[Sources]:** TEX 7.6; BR; EP.</a:t>
            </a:r>
          </a:p>
          <a:p xmlns:a="http://schemas.openxmlformats.org/drawingml/2006/main">
            <a:r>
              <a:t/>
            </a:r>
          </a:p>
          <a:p xmlns:a="http://schemas.openxmlformats.org/drawingml/2006/main">
            <a:r>
              <a:t>[Alt text]</a:t>
            </a:r>
          </a:p>
          <a:p xmlns:a="http://schemas.openxmlformats.org/drawingml/2006/main">
            <a:r>
              <a:t>Una señal acústica central se relaciona con altura tonal, sonoridad, timbre y duración.</a:t>
            </a:r>
          </a:p>
          <a:p xmlns:a="http://schemas.openxmlformats.org/drawingml/2006/main">
            <a:r>
              <a:t/>
            </a:r>
          </a:p>
          <a:p xmlns:a="http://schemas.openxmlformats.org/drawingml/2006/main">
            <a:r>
              <a:t>[Sources]</a:t>
            </a:r>
          </a:p>
          <a:p xmlns:a="http://schemas.openxmlformats.org/drawingml/2006/main">
            <a:r>
              <a:t>- Fuentes de contenido: TEX 7.6; BR; EP.</a:t>
            </a:r>
          </a:p>
          <a:p xmlns:a="http://schemas.openxmlformats.org/drawingml/2006/main">
            <a:r>
              <a:t>- Asset propio aprobado: U07-DG-012B.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Anticipar que no son unidades de presión ni conversiones automáticas de dB SPL. El bloque distingue medir presión, igualar sonoridad y estimar una razón perceptual. Idea que debe quedar al cerrar: Fones y sones responden a tareas psicofísicas diferentes.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¿Cómo expresamos igualdad y proporción de sonoridad?</a:t>
            </a:r>
          </a:p>
          <a:p xmlns:a="http://schemas.openxmlformats.org/drawingml/2006/main">
            <a:r>
              <a:t>- **Respuesta esperada:** Fones y sones responden a tareas psicofísicas diferentes.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Separar las tres cantidades involucradas.</a:t>
            </a:r>
          </a:p>
          <a:p xmlns:a="http://schemas.openxmlformats.org/drawingml/2006/main">
            <a:r>
              <a:t>- **[Sources]:** PO; TEX 7.7–7.8; PDF pp. 184–186.</a:t>
            </a:r>
          </a:p>
          <a:p xmlns:a="http://schemas.openxmlformats.org/drawingml/2006/main">
            <a:r>
              <a:t/>
            </a:r>
          </a:p>
          <a:p xmlns:a="http://schemas.openxmlformats.org/drawingml/2006/main">
            <a:r>
              <a:t>[Alt text]</a:t>
            </a:r>
          </a:p>
          <a:p xmlns:a="http://schemas.openxmlformats.org/drawingml/2006/main">
            <a:r>
              <a:t>Dos escalas que parten de una referencia común. La idea central es: Fones y sones responden a tareas psicofísicas diferentes.</a:t>
            </a:r>
          </a:p>
          <a:p xmlns:a="http://schemas.openxmlformats.org/drawingml/2006/main">
            <a:r>
              <a:t/>
            </a:r>
          </a:p>
          <a:p xmlns:a="http://schemas.openxmlformats.org/drawingml/2006/main">
            <a:r>
              <a:t>[Sources]</a:t>
            </a:r>
          </a:p>
          <a:p xmlns:a="http://schemas.openxmlformats.org/drawingml/2006/main">
            <a:r>
              <a:t>- Fuentes de contenido: PO; TEX 7.7–7.8; PDF pp. 184–186.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Reservar `N` para muestras y usar `N_son` para sonoridad. El bloque distingue medir presión, igualar sonoridad y estimar una razón perceptual. Idea que debe quedar al cerrar: `L_p`, `L_N` y `N_son` describen medida física, equivalencia y proporción perceptual.</a:t>
            </a:r>
          </a:p>
          <a:p xmlns:a="http://schemas.openxmlformats.org/drawingml/2006/main">
            <a:r>
              <a:t>- **Guía para el visual/diagrama:** Recorrido sugerido: L_p → L_N → N_son → Medir → Igualar → …. Nombrar primero los elementos, explicar luego las relaciones y cerrar con el límite indicado en el caption. No leer las cajas como un párrafo.</a:t>
            </a:r>
          </a:p>
          <a:p xmlns:a="http://schemas.openxmlformats.org/drawingml/2006/main">
            <a:r>
              <a:t>- **Pregunta al curso:** ¿Qué criterio permite separar las dos columnas sin tratarlas como sinónimos?</a:t>
            </a:r>
          </a:p>
          <a:p xmlns:a="http://schemas.openxmlformats.org/drawingml/2006/main">
            <a:r>
              <a:t>- **Respuesta esperada:** `L_p`, `L_N` y `N_son` describen medida física, equivalencia y proporción perceptual.</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Definir primero el fon.</a:t>
            </a:r>
          </a:p>
          <a:p xmlns:a="http://schemas.openxmlformats.org/drawingml/2006/main">
            <a:r>
              <a:t>- **[Sources]:** TEX 7.7–7.8; PDF pp. 184–186; NOT; GLO; OD-U07-01.</a:t>
            </a:r>
          </a:p>
          <a:p xmlns:a="http://schemas.openxmlformats.org/drawingml/2006/main">
            <a:r>
              <a:t/>
            </a:r>
          </a:p>
          <a:p xmlns:a="http://schemas.openxmlformats.org/drawingml/2006/main">
            <a:r>
              <a:t>[Alt text]</a:t>
            </a:r>
          </a:p>
          <a:p xmlns:a="http://schemas.openxmlformats.org/drawingml/2006/main">
            <a:r>
              <a:t>Tres columnas conceptuales distinguen símbolos, unidades y operaciones: medir, igualar y estimar razón.</a:t>
            </a:r>
          </a:p>
          <a:p xmlns:a="http://schemas.openxmlformats.org/drawingml/2006/main">
            <a:r>
              <a:t/>
            </a:r>
          </a:p>
          <a:p xmlns:a="http://schemas.openxmlformats.org/drawingml/2006/main">
            <a:r>
              <a:t>[Sources]</a:t>
            </a:r>
          </a:p>
          <a:p xmlns:a="http://schemas.openxmlformats.org/drawingml/2006/main">
            <a:r>
              <a:t>- Fuentes de contenido: TEX 7.7–7.8; PDF pp. 184–186; NOT; GLO; OD-U07-01.</a:t>
            </a:r>
          </a:p>
          <a:p xmlns:a="http://schemas.openxmlformats.org/drawingml/2006/main">
            <a:r>
              <a:t>- Asset propio aprobado: U07-DG-013.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Insistir en que fon no mide presión y depende del procedimiento. El bloque distingue medir presión, igualar sonoridad y estimar una razón perceptual. Idea que debe quedar al cerrar: Un sonido tiene tantos fones como dB SPL necesita el tono de 1 kHz que se juzga igualmente sonoro. Definición de trabajo: Nivel de sonoridad `L_N`: valor en fones definido por comparación con un tono de referencia de 1 kHz igualmente sonoro.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Un sonido tiene tantos fones como dB SPL necesita el tono de 1 kHz que se juzga igualmente sonoro.</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Definir luego una escala de razón.</a:t>
            </a:r>
          </a:p>
          <a:p xmlns:a="http://schemas.openxmlformats.org/drawingml/2006/main">
            <a:r>
              <a:t>- **[Sources]:** PO; TEX 7.7; PDF pp. 184–185; GLO.</a:t>
            </a:r>
          </a:p>
          <a:p xmlns:a="http://schemas.openxmlformats.org/drawingml/2006/main">
            <a:r>
              <a:t/>
            </a:r>
          </a:p>
          <a:p xmlns:a="http://schemas.openxmlformats.org/drawingml/2006/main">
            <a:r>
              <a:t>[Alt text]</a:t>
            </a:r>
          </a:p>
          <a:p xmlns:a="http://schemas.openxmlformats.org/drawingml/2006/main">
            <a:r>
              <a:t>Referencia y prueba conectadas por “igual sonoridad”. La idea central es: Un sonido tiene tantos fones como dB SPL necesita el tono de 1 kHz que se juzga igualmente sonoro.</a:t>
            </a:r>
          </a:p>
          <a:p xmlns:a="http://schemas.openxmlformats.org/drawingml/2006/main">
            <a:r>
              <a:t/>
            </a:r>
          </a:p>
          <a:p xmlns:a="http://schemas.openxmlformats.org/drawingml/2006/main">
            <a:r>
              <a:t>[Sources]</a:t>
            </a:r>
          </a:p>
          <a:p xmlns:a="http://schemas.openxmlformats.org/drawingml/2006/main">
            <a:r>
              <a:t>- Fuentes de contenido: PO; TEX 7.7; PDF pp. 184–185;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Diferenciar igualdad de sonoridad de estimación de magnitud. El bloque distingue medir presión, igualar sonoridad y estimar una razón perceptual. Idea que debe quedar al cerrar: La escala son permite afirmar “el doble de sonoro” bajo condiciones controladas. Definición de trabajo: Son: unidad de una escala de razón de sonoridad; 1 son corresponde a 40 fon en la referencia adoptada.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La escala son permite afirmar “el doble de sonoro” bajo condiciones controladas.</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Construir ambas escalas desde 1 kHz.</a:t>
            </a:r>
          </a:p>
          <a:p xmlns:a="http://schemas.openxmlformats.org/drawingml/2006/main">
            <a:r>
              <a:t>- **[Sources]:** PO; TEX 7.8; PDF pp. 185–186; GLO.</a:t>
            </a:r>
          </a:p>
          <a:p xmlns:a="http://schemas.openxmlformats.org/drawingml/2006/main">
            <a:r>
              <a:t/>
            </a:r>
          </a:p>
          <a:p xmlns:a="http://schemas.openxmlformats.org/drawingml/2006/main">
            <a:r>
              <a:t>[Alt text]</a:t>
            </a:r>
          </a:p>
          <a:p xmlns:a="http://schemas.openxmlformats.org/drawingml/2006/main">
            <a:r>
              <a:t>Escala proporcional con 1, 2, 4 y 8 sones. La idea central es: La escala son permite afirmar “el doble de sonoro” bajo condiciones controladas.</a:t>
            </a:r>
          </a:p>
          <a:p xmlns:a="http://schemas.openxmlformats.org/drawingml/2006/main">
            <a:r>
              <a:t/>
            </a:r>
          </a:p>
          <a:p xmlns:a="http://schemas.openxmlformats.org/drawingml/2006/main">
            <a:r>
              <a:t>[Sources]</a:t>
            </a:r>
          </a:p>
          <a:p xmlns:a="http://schemas.openxmlformats.org/drawingml/2006/main">
            <a:r>
              <a:t>- Fuentes de contenido: PO; TEX 7.8; PDF pp. 185–186;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Marcar que la igualdad numérica a 1 kHz no generaliza a otras frecuencias. El bloque distingue medir presión, igualar sonoridad y estimar una razón perceptual. Idea que debe quedar al cerrar: A 1 kHz, el nivel de sonoridad toma el valor numérico del nivel SPL; 40 fon se adopta como 1 son.</a:t>
            </a:r>
          </a:p>
          <a:p xmlns:a="http://schemas.openxmlformats.org/drawingml/2006/main">
            <a:r>
              <a:t>- **Guía para el visual/diagrama:** Recorrido sugerido: Tono de 1 kHz → Igualar sonoridad → Asignar L_N → Referencia de razón.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A 1 kHz, el nivel de sonoridad toma el valor numérico del nivel SPL; 40 fon se adopta como 1 son.</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Introducir la relación aproximada.</a:t>
            </a:r>
          </a:p>
          <a:p xmlns:a="http://schemas.openxmlformats.org/drawingml/2006/main">
            <a:r>
              <a:t>- **[Sources]:** TEX 7.7–7.8; PDF pp. 184–186.</a:t>
            </a:r>
          </a:p>
          <a:p xmlns:a="http://schemas.openxmlformats.org/drawingml/2006/main">
            <a:r>
              <a:t/>
            </a:r>
          </a:p>
          <a:p xmlns:a="http://schemas.openxmlformats.org/drawingml/2006/main">
            <a:r>
              <a:t>[Alt text]</a:t>
            </a:r>
          </a:p>
          <a:p xmlns:a="http://schemas.openxmlformats.org/drawingml/2006/main">
            <a:r>
              <a:t>Cuatro etapas conectan tono de un kilohertz, igualdad de sonoridad, nivel en fones y referencia cuarenta fon equivalente a un son.</a:t>
            </a:r>
          </a:p>
          <a:p xmlns:a="http://schemas.openxmlformats.org/drawingml/2006/main">
            <a:r>
              <a:t/>
            </a:r>
          </a:p>
          <a:p xmlns:a="http://schemas.openxmlformats.org/drawingml/2006/main">
            <a:r>
              <a:t>[Sources]</a:t>
            </a:r>
          </a:p>
          <a:p xmlns:a="http://schemas.openxmlformats.org/drawingml/2006/main">
            <a:r>
              <a:t>- Fuentes de contenido: TEX 7.7–7.8; PDF pp. 184–186.</a:t>
            </a:r>
          </a:p>
          <a:p xmlns:a="http://schemas.openxmlformats.org/drawingml/2006/main">
            <a:r>
              <a:t>- Asset propio aprobado: U07-DG-014.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Explicar base 2, referencia 40 fon y exponente adimensional. El bloque distingue medir presión, igualar sonoridad y estimar una razón perceptual. Idea que debe quedar al cerrar: `N_son = 2^((L_N-40)/10)` es una relación psicofísica aproximada, no una ley de presión. Escribir y leer la relación por términos: `N_son = 2^[(L_N − 40 fon)/(10 fon)] son`, para `L_N ≥ 40 fon` dentro del modelo introductorio. Comprobar unidades antes de interpretar.</a:t>
            </a:r>
          </a:p>
          <a:p xmlns:a="http://schemas.openxmlformats.org/drawingml/2006/main">
            <a:r>
              <a:t>- **Guía para el visual/diagrama:** Recorrido sugerido: N_son = 2^[(L_N − 40 fon)/(10 fon)] son → base 2 → L_N − 40 fon → 10 fon → son.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`N_son = 2^((L_N-40)/10)` es una relación psicofísica aproximada, no una ley de presión.</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Visualizar la relación.</a:t>
            </a:r>
          </a:p>
          <a:p xmlns:a="http://schemas.openxmlformats.org/drawingml/2006/main">
            <a:r>
              <a:t>- **[Sources]:** TEX ec. 7.2; PDF p. 186; NOT.</a:t>
            </a:r>
          </a:p>
          <a:p xmlns:a="http://schemas.openxmlformats.org/drawingml/2006/main">
            <a:r>
              <a:t/>
            </a:r>
          </a:p>
          <a:p xmlns:a="http://schemas.openxmlformats.org/drawingml/2006/main">
            <a:r>
              <a:t>[Alt text]</a:t>
            </a:r>
          </a:p>
          <a:p xmlns:a="http://schemas.openxmlformats.org/drawingml/2006/main">
            <a:r>
              <a:t>Ecuación central de sonoridad en sones con cuatro llamadas a base dos, referencia de cuarenta fon, denominador de diez fon y unidad son.</a:t>
            </a:r>
          </a:p>
          <a:p xmlns:a="http://schemas.openxmlformats.org/drawingml/2006/main">
            <a:r>
              <a:t/>
            </a:r>
          </a:p>
          <a:p xmlns:a="http://schemas.openxmlformats.org/drawingml/2006/main">
            <a:r>
              <a:t>[Sources]</a:t>
            </a:r>
          </a:p>
          <a:p xmlns:a="http://schemas.openxmlformats.org/drawingml/2006/main">
            <a:r>
              <a:t>- Fuentes de contenido: TEX ec. 7.2; PDF p. 186;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No extrapolar fuera del rango mostrado ni confundir ejes. El bloque distingue medir presión, igualar sonoridad y estimar una razón perceptual. Idea que debe quedar al cerrar: 40, 50, 60 y 70 fon corresponden aproximadamente a 1, 2, 4 y 8 sones.</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40, 50, 60 y 70 fon corresponden aproximadamente a 1, 2, 4 y 8 sones.</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Resolver un caso.</a:t>
            </a:r>
          </a:p>
          <a:p xmlns:a="http://schemas.openxmlformats.org/drawingml/2006/main">
            <a:r>
              <a:t>- **[Sources]:** TEX 7.8; PDF p. 186; NOT.</a:t>
            </a:r>
          </a:p>
          <a:p xmlns:a="http://schemas.openxmlformats.org/drawingml/2006/main">
            <a:r>
              <a:t/>
            </a:r>
          </a:p>
          <a:p xmlns:a="http://schemas.openxmlformats.org/drawingml/2006/main">
            <a:r>
              <a:t>[Alt text]</a:t>
            </a:r>
          </a:p>
          <a:p xmlns:a="http://schemas.openxmlformats.org/drawingml/2006/main">
            <a:r>
              <a:t>Curva creciente que pasa por cuarenta fon y un son, cincuenta y dos, sesenta y cuatro, setenta y ocho, ochenta y dieciséis.</a:t>
            </a:r>
          </a:p>
          <a:p xmlns:a="http://schemas.openxmlformats.org/drawingml/2006/main">
            <a:r>
              <a:t/>
            </a:r>
          </a:p>
          <a:p xmlns:a="http://schemas.openxmlformats.org/drawingml/2006/main">
            <a:r>
              <a:t>[Sources]</a:t>
            </a:r>
          </a:p>
          <a:p xmlns:a="http://schemas.openxmlformats.org/drawingml/2006/main">
            <a:r>
              <a:t>- Fuentes de contenido: TEX 7.8; PDF p. 186; NOT.</a:t>
            </a:r>
          </a:p>
          <a:p xmlns:a="http://schemas.openxmlformats.org/drawingml/2006/main">
            <a:r>
              <a:t>- Asset propio aprobado: U07-CH-006.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significado de 8 sones y no solo el número. El bloque distingue medir presión, igualar sonoridad y estimar una razón perceptual. Idea que debe quedar al cerrar: El resultado expresa una razón respecto de 1 son, no un nivel acústico. Escribir y leer la relación por términos: `N_son = 2^[(70 fon − 40 fon)/(10 fon)] son = 2³ son = 8 son`. Comprobar unidades antes de interpretar. Ejemplo para desarrollar oralmente: 70 fon → exponente 3 → 8 son. Interpretación: ocho veces la referencia de 1 son dentro de la escala.</a:t>
            </a:r>
          </a:p>
          <a:p xmlns:a="http://schemas.openxmlformats.org/drawingml/2006/main">
            <a:r>
              <a:t>- **Guía para el visual/diagrama:** Recorrido sugerido: Dato → Exponente → Potencia → Resultado.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resultado expresa una razón respecto de 1 son, no un nivel acústico.</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Contrastar con el error más probable.</a:t>
            </a:r>
          </a:p>
          <a:p xmlns:a="http://schemas.openxmlformats.org/drawingml/2006/main">
            <a:r>
              <a:t>- **[Sources]:** TEX 7.8; PDF p. 186.</a:t>
            </a:r>
          </a:p>
          <a:p xmlns:a="http://schemas.openxmlformats.org/drawingml/2006/main">
            <a:r>
              <a:t/>
            </a:r>
          </a:p>
          <a:p xmlns:a="http://schemas.openxmlformats.org/drawingml/2006/main">
            <a:r>
              <a:t>[Alt text]</a:t>
            </a:r>
          </a:p>
          <a:p xmlns:a="http://schemas.openxmlformats.org/drawingml/2006/main">
            <a:r>
              <a:t>Cuatro pasos convierten setenta fon en exponente tres, potencia dos al cubo y resultado ocho sones.</a:t>
            </a:r>
          </a:p>
          <a:p xmlns:a="http://schemas.openxmlformats.org/drawingml/2006/main">
            <a:r>
              <a:t/>
            </a:r>
          </a:p>
          <a:p xmlns:a="http://schemas.openxmlformats.org/drawingml/2006/main">
            <a:r>
              <a:t>[Sources]</a:t>
            </a:r>
          </a:p>
          <a:p xmlns:a="http://schemas.openxmlformats.org/drawingml/2006/main">
            <a:r>
              <a:t>- Fuentes de contenido: TEX 7.8; PDF p. 186.</a:t>
            </a:r>
          </a:p>
          <a:p xmlns:a="http://schemas.openxmlformats.org/drawingml/2006/main">
            <a:r>
              <a:t>- Asset propio aprobado: U07-CH-006.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Obtener una reformulación correcta en voz del estudiantado. El bloque distingue medir presión, igualar sonoridad y estimar una razón perceptual. Idea que debe quedar al cerrar: Falta frecuencia, señal, condiciones y nivel de sonoridad; `L_p` no se convierte directamente en sones.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Evalúe: «70 dB SPL equivalen a 8 sones». Reformule la afirmación usando `L_N`, frecuencia, señal y condiciones.</a:t>
            </a:r>
          </a:p>
          <a:p xmlns:a="http://schemas.openxmlformats.org/drawingml/2006/main">
            <a:r>
              <a:t>- **Respuesta esperada:** Falta frecuencia, señal, condiciones y nivel de sonoridad; `L_p` no se convierte directamente en sones.</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Cerrar con una regla de decisión.</a:t>
            </a:r>
          </a:p>
          <a:p xmlns:a="http://schemas.openxmlformats.org/drawingml/2006/main">
            <a:r>
              <a:t>- **[Sources]:** TEX 7.5–7.8; EP; SA.</a:t>
            </a:r>
          </a:p>
          <a:p xmlns:a="http://schemas.openxmlformats.org/drawingml/2006/main">
            <a:r>
              <a:t/>
            </a:r>
          </a:p>
          <a:p xmlns:a="http://schemas.openxmlformats.org/drawingml/2006/main">
            <a:r>
              <a:t>[Alt text]</a:t>
            </a:r>
          </a:p>
          <a:p xmlns:a="http://schemas.openxmlformats.org/drawingml/2006/main">
            <a:r>
              <a:t>Mini ejercicio con semáforo conceptual. La idea central es: Falta frecuencia, señal, condiciones y nivel de sonoridad; Lₚ no se convierte directamente en sones.</a:t>
            </a:r>
          </a:p>
          <a:p xmlns:a="http://schemas.openxmlformats.org/drawingml/2006/main">
            <a:r>
              <a:t/>
            </a:r>
          </a:p>
          <a:p xmlns:a="http://schemas.openxmlformats.org/drawingml/2006/main">
            <a:r>
              <a:t>[Sources]</a:t>
            </a:r>
          </a:p>
          <a:p xmlns:a="http://schemas.openxmlformats.org/drawingml/2006/main">
            <a:r>
              <a:t>- Fuentes de contenido: TEX 7.5–7.8; EP;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Repetición pedagógica: mismo esquema, ahora con un ejemplo; evitar repetir definiciones. El bloque distingue medir presión, igualar sonoridad y estimar una razón perceptual. Idea que debe quedar al cerrar: `L_p`, fon y son corresponden a procedimientos distintos y complementarios.</a:t>
            </a:r>
          </a:p>
          <a:p xmlns:a="http://schemas.openxmlformats.org/drawingml/2006/main">
            <a:r>
              <a:t>- **Guía para el visual/diagrama:** Recorrido sugerido: L_p → L_N → N_son → Medir → Igualar → ….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`L_p`, fon y son corresponden a procedimientos distintos y complementarios.</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Preguntar qué ocurre cuando otro sonido dificulta la tarea.</a:t>
            </a:r>
          </a:p>
          <a:p xmlns:a="http://schemas.openxmlformats.org/drawingml/2006/main">
            <a:r>
              <a:t>- **[Sources]:** TEX 7.7–7.8; BR; EP.</a:t>
            </a:r>
          </a:p>
          <a:p xmlns:a="http://schemas.openxmlformats.org/drawingml/2006/main">
            <a:r>
              <a:t/>
            </a:r>
          </a:p>
          <a:p xmlns:a="http://schemas.openxmlformats.org/drawingml/2006/main">
            <a:r>
              <a:t>[Alt text]</a:t>
            </a:r>
          </a:p>
          <a:p xmlns:a="http://schemas.openxmlformats.org/drawingml/2006/main">
            <a:r>
              <a:t>Tres columnas conceptuales distinguen símbolos, unidades y operaciones: medir, igualar y estimar razón.</a:t>
            </a:r>
          </a:p>
          <a:p xmlns:a="http://schemas.openxmlformats.org/drawingml/2006/main">
            <a:r>
              <a:t/>
            </a:r>
          </a:p>
          <a:p xmlns:a="http://schemas.openxmlformats.org/drawingml/2006/main">
            <a:r>
              <a:t>[Sources]</a:t>
            </a:r>
          </a:p>
          <a:p xmlns:a="http://schemas.openxmlformats.org/drawingml/2006/main">
            <a:r>
              <a:t>- Fuentes de contenido: TEX 7.7–7.8; BR; EP.</a:t>
            </a:r>
          </a:p>
          <a:p xmlns:a="http://schemas.openxmlformats.org/drawingml/2006/main">
            <a:r>
              <a:t>- Asset propio aprobado: U07-DG-013.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Evitar presentar “tapar” como explicación causal suficiente. El bloque avanza desde el cambio de umbral observado hacia un modelo de selectividad frecuencial. Idea que debe quedar al cerrar: El enmascaramiento se define por una tarea y un cambio de umbral.</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¿Cómo cambia un umbral cuando aparece otro sonido?</a:t>
            </a:r>
          </a:p>
          <a:p xmlns:a="http://schemas.openxmlformats.org/drawingml/2006/main">
            <a:r>
              <a:t>- **Respuesta esperada:** El enmascaramiento se define por una tarea y un cambio de umbral.</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operativamente el fenómeno.</a:t>
            </a:r>
          </a:p>
          <a:p xmlns:a="http://schemas.openxmlformats.org/drawingml/2006/main">
            <a:r>
              <a:t>- **[Sources]:** PO; TEX 7.9; PDF pp. 186–189.</a:t>
            </a:r>
          </a:p>
          <a:p xmlns:a="http://schemas.openxmlformats.org/drawingml/2006/main">
            <a:r>
              <a:t/>
            </a:r>
          </a:p>
          <a:p xmlns:a="http://schemas.openxmlformats.org/drawingml/2006/main">
            <a:r>
              <a:t>[Alt text]</a:t>
            </a:r>
          </a:p>
          <a:p xmlns:a="http://schemas.openxmlformats.org/drawingml/2006/main">
            <a:r>
              <a:t>Señal objetivo parcialmente cubierta por un enmascarador. La idea central es: El enmascaramiento se define por una tarea y un cambio de umbral.</a:t>
            </a:r>
          </a:p>
          <a:p xmlns:a="http://schemas.openxmlformats.org/drawingml/2006/main">
            <a:r>
              <a:t/>
            </a:r>
          </a:p>
          <a:p xmlns:a="http://schemas.openxmlformats.org/drawingml/2006/main">
            <a:r>
              <a:t>[Sources]</a:t>
            </a:r>
          </a:p>
          <a:p xmlns:a="http://schemas.openxmlformats.org/drawingml/2006/main">
            <a:r>
              <a:t>- Fuentes de contenido: PO; TEX 7.9; PDF pp. 186–189.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Separar señal objetivo de enmascarador; ambos son señales físicas. El bloque avanza desde el cambio de umbral observado hacia un modelo de selectividad frecuencial. Idea que debe quedar al cerrar: El efecto se cuantifica comparando el umbral con y sin enmascarador. Definición de trabajo: Enmascaramiento: elevación del umbral o reducción de detectabilidad de una señal por la presencia de otra.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El efecto se cuantifica comparando el umbral con y sin enmascarador.</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Nombrar las tres cantidades de nivel.</a:t>
            </a:r>
          </a:p>
          <a:p xmlns:a="http://schemas.openxmlformats.org/drawingml/2006/main">
            <a:r>
              <a:t>- **[Sources]:** PO; TEX 7.9; PDF pp. 186–187; GLO.</a:t>
            </a:r>
          </a:p>
          <a:p xmlns:a="http://schemas.openxmlformats.org/drawingml/2006/main">
            <a:r>
              <a:t/>
            </a:r>
          </a:p>
          <a:p xmlns:a="http://schemas.openxmlformats.org/drawingml/2006/main">
            <a:r>
              <a:t>[Alt text]</a:t>
            </a:r>
          </a:p>
          <a:p xmlns:a="http://schemas.openxmlformats.org/drawingml/2006/main">
            <a:r>
              <a:t>Antes/después con respuesta psicométrica simplificada. La idea central es: El efecto se cuantifica comparando el umbral con y sin enmascarador.</a:t>
            </a:r>
          </a:p>
          <a:p xmlns:a="http://schemas.openxmlformats.org/drawingml/2006/main">
            <a:r>
              <a:t/>
            </a:r>
          </a:p>
          <a:p xmlns:a="http://schemas.openxmlformats.org/drawingml/2006/main">
            <a:r>
              <a:t>[Sources]</a:t>
            </a:r>
          </a:p>
          <a:p xmlns:a="http://schemas.openxmlformats.org/drawingml/2006/main">
            <a:r>
              <a:t>- Fuentes de contenido: PO; TEX 7.9; PDF pp. 186–187;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Confirmar que el nivel del enmascarador no es un umbral. El bloque avanza desde el cambio de umbral observado hacia un modelo de selectividad frecuencial. Idea que debe quedar al cerrar: `L_umbral,q`, `L_enmascarador` y `L_umbral,e` representan umbral en quietud, nivel del enmascarador y umbral enmascarado.</a:t>
            </a:r>
          </a:p>
          <a:p xmlns:a="http://schemas.openxmlformats.org/drawingml/2006/main">
            <a:r>
              <a:t>- **Guía para el visual/diagrama:** Recorrido sugerido: Condición de medición → L_umbral,q → L_enmascarador → L_umbral,e.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`L_umbral,q`, `L_enmascarador` y `L_umbral,e` representan umbral en quietud, nivel del enmascarador y umbral enmascarado.</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Definir la magnitud de enmascaramiento.</a:t>
            </a:r>
          </a:p>
          <a:p xmlns:a="http://schemas.openxmlformats.org/drawingml/2006/main">
            <a:r>
              <a:t>- **[Sources]:** TEX 7.9; PDF p. 187; NOT; GLO.</a:t>
            </a:r>
          </a:p>
          <a:p xmlns:a="http://schemas.openxmlformats.org/drawingml/2006/main">
            <a:r>
              <a:t/>
            </a:r>
          </a:p>
          <a:p xmlns:a="http://schemas.openxmlformats.org/drawingml/2006/main">
            <a:r>
              <a:t>[Alt text]</a:t>
            </a:r>
          </a:p>
          <a:p xmlns:a="http://schemas.openxmlformats.org/drawingml/2006/main">
            <a:r>
              <a:t>Una condición común se bifurca hacia umbral en quietud, nivel del enmascarador y umbral enmascarado.</a:t>
            </a:r>
          </a:p>
          <a:p xmlns:a="http://schemas.openxmlformats.org/drawingml/2006/main">
            <a:r>
              <a:t/>
            </a:r>
          </a:p>
          <a:p xmlns:a="http://schemas.openxmlformats.org/drawingml/2006/main">
            <a:r>
              <a:t>[Sources]</a:t>
            </a:r>
          </a:p>
          <a:p xmlns:a="http://schemas.openxmlformats.org/drawingml/2006/main">
            <a:r>
              <a:t>- Fuentes de contenido: TEX 7.9; PDF p. 187; NOT; GLO.</a:t>
            </a:r>
          </a:p>
          <a:p xmlns:a="http://schemas.openxmlformats.org/drawingml/2006/main">
            <a:r>
              <a:t>- Asset propio aprobado: U07-DG-016.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Aclarar que es diferencia de niveles, no suma de presiones. El bloque avanza desde el cambio de umbral observado hacia un modelo de selectividad frecuencial. Idea que debe quedar al cerrar: `M(f_obj)=L_umbral,e(f_obj)-L_umbral,q(f_obj)` en dB cuantifica el desplazamiento del umbral. Escribir y leer la relación por términos: `M(f_obj) = L_umbral,e(f_obj) − L_umbral,q(f_obj)`; los dos niveles deben compartir referencia y procedimiento. Comprobar unidades antes de interpretar.</a:t>
            </a:r>
          </a:p>
          <a:p xmlns:a="http://schemas.openxmlformats.org/drawingml/2006/main">
            <a:r>
              <a:t>- **Guía para el visual/diagrama:** Recorrido sugerido: M(f_obj) = L_umbral,e(f_obj) − L_umbral,q(f_obj) → L_umbral,e → L_umbral,q → f_obj.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`M(f_obj)=L_umbral,e(f_obj)-L_umbral,q(f_obj)` en dB cuantifica el desplazamiento del umbral.</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Aplicar con números.</a:t>
            </a:r>
          </a:p>
          <a:p xmlns:a="http://schemas.openxmlformats.org/drawingml/2006/main">
            <a:r>
              <a:t>- **[Sources]:** TEX ec. 7.3; PDF p. 187; NOT; OD-U07-01.</a:t>
            </a:r>
          </a:p>
          <a:p xmlns:a="http://schemas.openxmlformats.org/drawingml/2006/main">
            <a:r>
              <a:t/>
            </a:r>
          </a:p>
          <a:p xmlns:a="http://schemas.openxmlformats.org/drawingml/2006/main">
            <a:r>
              <a:t>[Alt text]</a:t>
            </a:r>
          </a:p>
          <a:p xmlns:a="http://schemas.openxmlformats.org/drawingml/2006/main">
            <a:r>
              <a:t>Ecuación central M de la frecuencia objetivo igual umbral enmascarado menos umbral en quietud, con tres llamadas externas.</a:t>
            </a:r>
          </a:p>
          <a:p xmlns:a="http://schemas.openxmlformats.org/drawingml/2006/main">
            <a:r>
              <a:t/>
            </a:r>
          </a:p>
          <a:p xmlns:a="http://schemas.openxmlformats.org/drawingml/2006/main">
            <a:r>
              <a:t>[Sources]</a:t>
            </a:r>
          </a:p>
          <a:p xmlns:a="http://schemas.openxmlformats.org/drawingml/2006/main">
            <a:r>
              <a:t>- Fuentes de contenido: TEX ec. 7.3; PDF p. 187; NOT; OD-U07-01.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qué dato no representa el resultado. El bloque avanza desde el cambio de umbral observado hacia un modelo de selectividad frecuencial. Idea que debe quedar al cerrar: El resultado dice cuánto se desplazó el umbral bajo esas condiciones. Escribir y leer la relación por términos: `M = 35 dB SPL − 10 dB SPL = 25 dB`. Comprobar unidades antes de interpretar. Ejemplo para desarrollar oralmente: Umbral en quietud: 10 dB SPL. Umbral con máscara: 35 dB SPL. Elevación: 25 dB.</a:t>
            </a:r>
          </a:p>
          <a:p xmlns:a="http://schemas.openxmlformats.org/drawingml/2006/main">
            <a:r>
              <a:t>- **Guía para el visual/diagrama:** Recorrido sugerido: Quietud → Con máscara → Resta → Resultado.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resultado dice cuánto se desplazó el umbral bajo esas condiciones.</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Distinguir simultaneidad de otras relaciones temporales.</a:t>
            </a:r>
          </a:p>
          <a:p xmlns:a="http://schemas.openxmlformats.org/drawingml/2006/main">
            <a:r>
              <a:t>- **[Sources]:** TEX 7.9; PDF p. 187.</a:t>
            </a:r>
          </a:p>
          <a:p xmlns:a="http://schemas.openxmlformats.org/drawingml/2006/main">
            <a:r>
              <a:t/>
            </a:r>
          </a:p>
          <a:p xmlns:a="http://schemas.openxmlformats.org/drawingml/2006/main">
            <a:r>
              <a:t>[Alt text]</a:t>
            </a:r>
          </a:p>
          <a:p xmlns:a="http://schemas.openxmlformats.org/drawingml/2006/main">
            <a:r>
              <a:t>Cuatro pasos muestran umbral en quietud, umbral con máscara, resta y resultado de veinticinco decibeles.</a:t>
            </a:r>
          </a:p>
          <a:p xmlns:a="http://schemas.openxmlformats.org/drawingml/2006/main">
            <a:r>
              <a:t/>
            </a:r>
          </a:p>
          <a:p xmlns:a="http://schemas.openxmlformats.org/drawingml/2006/main">
            <a:r>
              <a:t>[Sources]</a:t>
            </a:r>
          </a:p>
          <a:p xmlns:a="http://schemas.openxmlformats.org/drawingml/2006/main">
            <a:r>
              <a:t>- Fuentes de contenido: TEX 7.9; PDF p. 187.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Preparar la dimensión frecuencial sin mezclar aún filtros. El bloque avanza desde el cambio de umbral observado hacia un modelo de selectividad frecuencial. Idea que debe quedar al cerrar: La superposición temporal no implica igual efecto para todas las frecuencias.</a:t>
            </a:r>
          </a:p>
          <a:p xmlns:a="http://schemas.openxmlformats.org/drawingml/2006/main">
            <a:r>
              <a:t>- **Guía para el visual/diagrama:** Recorrido sugerido: Objetivo → Máscara → Solapamiento.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La superposición temporal no implica igual efecto para todas las frecuencias.</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Mostrar un patrón espectral.</a:t>
            </a:r>
          </a:p>
          <a:p xmlns:a="http://schemas.openxmlformats.org/drawingml/2006/main">
            <a:r>
              <a:t>- **[Sources]:** TEX 7.9.1; PDF pp. 187–188.</a:t>
            </a:r>
          </a:p>
          <a:p xmlns:a="http://schemas.openxmlformats.org/drawingml/2006/main">
            <a:r>
              <a:t/>
            </a:r>
          </a:p>
          <a:p xmlns:a="http://schemas.openxmlformats.org/drawingml/2006/main">
            <a:r>
              <a:t>[Alt text]</a:t>
            </a:r>
          </a:p>
          <a:p xmlns:a="http://schemas.openxmlformats.org/drawingml/2006/main">
            <a:r>
              <a:t>Tres cuadros temporales muestran objetivo, máscara y su intervalo de solapamiento; las duraciones son esquemáticas.</a:t>
            </a:r>
          </a:p>
          <a:p xmlns:a="http://schemas.openxmlformats.org/drawingml/2006/main">
            <a:r>
              <a:t/>
            </a:r>
          </a:p>
          <a:p xmlns:a="http://schemas.openxmlformats.org/drawingml/2006/main">
            <a:r>
              <a:t>[Sources]</a:t>
            </a:r>
          </a:p>
          <a:p xmlns:a="http://schemas.openxmlformats.org/drawingml/2006/main">
            <a:r>
              <a:t>- Fuentes de contenido: TEX 7.9.1; PDF pp. 187–188.</a:t>
            </a:r>
          </a:p>
          <a:p xmlns:a="http://schemas.openxmlformats.org/drawingml/2006/main">
            <a:r>
              <a:t>- Asset propio aprobado: U07-DG-018.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Evitar formular una pendiente universal sin datos y condiciones. El bloque avanza desde el cambio de umbral observado hacia un modelo de selectividad frecuencial. Idea que debe quedar al cerrar: La elevación del umbral depende de la separación entre objetivo y enmascarador y puede ser asimétrica.</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La elevación del umbral depende de la separación entre objetivo y enmascarador y puede ser asimétrica.</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Pedir lectura de dos puntos.</a:t>
            </a:r>
          </a:p>
          <a:p xmlns:a="http://schemas.openxmlformats.org/drawingml/2006/main">
            <a:r>
              <a:t>- **[Sources]:** TEX 7.9.1; PDF pp. 187–188, fig. 7.5.</a:t>
            </a:r>
          </a:p>
          <a:p xmlns:a="http://schemas.openxmlformats.org/drawingml/2006/main">
            <a:r>
              <a:t/>
            </a:r>
          </a:p>
          <a:p xmlns:a="http://schemas.openxmlformats.org/drawingml/2006/main">
            <a:r>
              <a:t>[Alt text]</a:t>
            </a:r>
          </a:p>
          <a:p xmlns:a="http://schemas.openxmlformats.org/drawingml/2006/main">
            <a:r>
              <a:t>Curva de elevación del umbral con máximo en cero octavas relativas y colas diferentes hacia frecuencias menores y mayores.</a:t>
            </a:r>
          </a:p>
          <a:p xmlns:a="http://schemas.openxmlformats.org/drawingml/2006/main">
            <a:r>
              <a:t/>
            </a:r>
          </a:p>
          <a:p xmlns:a="http://schemas.openxmlformats.org/drawingml/2006/main">
            <a:r>
              <a:t>[Sources]</a:t>
            </a:r>
          </a:p>
          <a:p xmlns:a="http://schemas.openxmlformats.org/drawingml/2006/main">
            <a:r>
              <a:t>- Fuentes de contenido: TEX 7.9.1; PDF pp. 187–188, fig. 7.5.</a:t>
            </a:r>
          </a:p>
          <a:p xmlns:a="http://schemas.openxmlformats.org/drawingml/2006/main">
            <a:r>
              <a:t>- Asset propio aprobado: U07-CH-007.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Solicitar evidencia gráfica y una limitación. El bloque avanza desde el cambio de umbral observado hacia un modelo de selectividad frecuencial. Idea que debe quedar al cerrar: La respuesta debe justificarse por frecuencia relativa y condiciones, no por cercanía visual solamente.</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Compare los puntos A y B del mismo patrón de enmascaramiento. ¿Dónde espera mayor elevación del umbral? Cite evidencia gráfica y una limitación.</a:t>
            </a:r>
          </a:p>
          <a:p xmlns:a="http://schemas.openxmlformats.org/drawingml/2006/main">
            <a:r>
              <a:t>- **Respuesta esperada:** La respuesta debe justificarse por frecuencia relativa y condiciones, no por cercanía visual solamente.</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Introducir selectividad frecuencial como modelo explicativo.</a:t>
            </a:r>
          </a:p>
          <a:p xmlns:a="http://schemas.openxmlformats.org/drawingml/2006/main">
            <a:r>
              <a:t>- **[Sources]:** TEX 7.9.1; ejercicio; EP.</a:t>
            </a:r>
          </a:p>
          <a:p xmlns:a="http://schemas.openxmlformats.org/drawingml/2006/main">
            <a:r>
              <a:t/>
            </a:r>
          </a:p>
          <a:p xmlns:a="http://schemas.openxmlformats.org/drawingml/2006/main">
            <a:r>
              <a:t>[Alt text]</a:t>
            </a:r>
          </a:p>
          <a:p xmlns:a="http://schemas.openxmlformats.org/drawingml/2006/main">
            <a:r>
              <a:t>Curva de elevación del umbral con máximo en cero octavas relativas y colas diferentes hacia frecuencias menores y mayores.</a:t>
            </a:r>
          </a:p>
          <a:p xmlns:a="http://schemas.openxmlformats.org/drawingml/2006/main">
            <a:r>
              <a:t/>
            </a:r>
          </a:p>
          <a:p xmlns:a="http://schemas.openxmlformats.org/drawingml/2006/main">
            <a:r>
              <a:t>[Sources]</a:t>
            </a:r>
          </a:p>
          <a:p xmlns:a="http://schemas.openxmlformats.org/drawingml/2006/main">
            <a:r>
              <a:t>- Fuentes de contenido: TEX 7.9.1; ejercicio; EP.</a:t>
            </a:r>
          </a:p>
          <a:p xmlns:a="http://schemas.openxmlformats.org/drawingml/2006/main">
            <a:r>
              <a:t>- Asset propio aprobado: U07-CH-007.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Presentar “filtro” como modelo funcional, no como pieza anatómica literal. El bloque avanza desde el cambio de umbral observado hacia un modelo de selectividad frecuencial. Idea que debe quedar al cerrar: El sistema auditivo puede modelarse como canales solapados con ancho limitado. Definición de trabajo: Filtro auditivo: modelo funcional de un canal que pondera con mayor fuerza una región de frecuencias alrededor de su frecuencia central.</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sistema auditivo puede modelarse como canales solapados con ancho limitado.</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Extender a un banco de canales.</a:t>
            </a:r>
          </a:p>
          <a:p xmlns:a="http://schemas.openxmlformats.org/drawingml/2006/main">
            <a:r>
              <a:t>- **[Sources]:** PO; TEX 7.9.1; PDF p. 188; REF `oxenham2018`.</a:t>
            </a:r>
          </a:p>
          <a:p xmlns:a="http://schemas.openxmlformats.org/drawingml/2006/main">
            <a:r>
              <a:t/>
            </a:r>
          </a:p>
          <a:p xmlns:a="http://schemas.openxmlformats.org/drawingml/2006/main">
            <a:r>
              <a:t>[Alt text]</a:t>
            </a:r>
          </a:p>
          <a:p xmlns:a="http://schemas.openxmlformats.org/drawingml/2006/main">
            <a:r>
              <a:t>Diagrama conceptual de un canal; sin anatomizarlo. La idea central es: El sistema auditivo puede modelarse como canales solapados con ancho limitado.</a:t>
            </a:r>
          </a:p>
          <a:p xmlns:a="http://schemas.openxmlformats.org/drawingml/2006/main">
            <a:r>
              <a:t/>
            </a:r>
          </a:p>
          <a:p xmlns:a="http://schemas.openxmlformats.org/drawingml/2006/main">
            <a:r>
              <a:t>[Sources]</a:t>
            </a:r>
          </a:p>
          <a:p xmlns:a="http://schemas.openxmlformats.org/drawingml/2006/main">
            <a:r>
              <a:t>- Fuentes de contenido: PO; TEX 7.9.1; PDF p. 188; REF oxenham2018.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cajas pequeñas; si no entra, dividir entrada y salidas. El bloque avanza desde el cambio de umbral observado hacia un modelo de selectividad frecuencial. Idea que debe quedar al cerrar: Una misma componente puede contribuir a varios canales, pero domina cerca de ciertas frecuencias centrales.</a:t>
            </a:r>
          </a:p>
          <a:p xmlns:a="http://schemas.openxmlformats.org/drawingml/2006/main">
            <a:r>
              <a:t>- **Guía para el visual/diagrama:** Recorrido sugerido: Espectro de entrada → Canal bajo → Canal medio → Canal alto.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Una misma componente puede contribuir a varios canales, pero domina cerca de ciertas frecuencias centrales.</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Medir el ancho con ERB.</a:t>
            </a:r>
          </a:p>
          <a:p xmlns:a="http://schemas.openxmlformats.org/drawingml/2006/main">
            <a:r>
              <a:t>- **[Sources]:** TEX 7.9.1; PDF p. 188; REF `oxenham2018`; U5.</a:t>
            </a:r>
          </a:p>
          <a:p xmlns:a="http://schemas.openxmlformats.org/drawingml/2006/main">
            <a:r>
              <a:t/>
            </a:r>
          </a:p>
          <a:p xmlns:a="http://schemas.openxmlformats.org/drawingml/2006/main">
            <a:r>
              <a:t>[Alt text]</a:t>
            </a:r>
          </a:p>
          <a:p xmlns:a="http://schemas.openxmlformats.org/drawingml/2006/main">
            <a:r>
              <a:t>Una entrada espectral se bifurca hacia canales auditivos bajo, medio y alto; tres canales representan un banco mayor.</a:t>
            </a:r>
          </a:p>
          <a:p xmlns:a="http://schemas.openxmlformats.org/drawingml/2006/main">
            <a:r>
              <a:t/>
            </a:r>
          </a:p>
          <a:p xmlns:a="http://schemas.openxmlformats.org/drawingml/2006/main">
            <a:r>
              <a:t>[Sources]</a:t>
            </a:r>
          </a:p>
          <a:p xmlns:a="http://schemas.openxmlformats.org/drawingml/2006/main">
            <a:r>
              <a:t>- Fuentes de contenido: TEX 7.9.1; PDF p. 188; REF oxenham2018; U5.</a:t>
            </a:r>
          </a:p>
          <a:p xmlns:a="http://schemas.openxmlformats.org/drawingml/2006/main">
            <a:r>
              <a:t>- Asset propio aprobado: U07-DG-019.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Dejar la fórmula empírica y variantes para respaldo. El bloque avanza desde el cambio de umbral observado hacia un modelo de selectividad frecuencial. Idea que debe quedar al cerrar: La ERB iguala el área de una respuesta real con un rectángulo de igual altura. Definición de trabajo: ERB: ancho de un rectángulo ideal con igual altura máxima e igual área que la respuesta del filtro considerado.</a:t>
            </a:r>
          </a:p>
          <a:p xmlns:a="http://schemas.openxmlformats.org/drawingml/2006/main">
            <a:r>
              <a:t>- **Guía para el visual/diagrama:** Recorrido sugerido: Curva del filtro → Misma altura → Misma área → Ancho.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La ERB iguala el área de una respuesta real con un rectángulo de igual altura.</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Volver al fenómeno observado.</a:t>
            </a:r>
          </a:p>
          <a:p xmlns:a="http://schemas.openxmlformats.org/drawingml/2006/main">
            <a:r>
              <a:t>- **[Sources]:** TEX 7.9.1; PDF p. 188; REF `oxenham2018`; OD-U07-04.</a:t>
            </a:r>
          </a:p>
          <a:p xmlns:a="http://schemas.openxmlformats.org/drawingml/2006/main">
            <a:r>
              <a:t/>
            </a:r>
          </a:p>
          <a:p xmlns:a="http://schemas.openxmlformats.org/drawingml/2006/main">
            <a:r>
              <a:t>[Alt text]</a:t>
            </a:r>
          </a:p>
          <a:p xmlns:a="http://schemas.openxmlformats.org/drawingml/2006/main">
            <a:r>
              <a:t>Curva gaussiana normalizada y un rectángulo de altura uno. Ambas áreas sombreadas son iguales y el ancho del rectángulo se rotula ERB.</a:t>
            </a:r>
          </a:p>
          <a:p xmlns:a="http://schemas.openxmlformats.org/drawingml/2006/main">
            <a:r>
              <a:t/>
            </a:r>
          </a:p>
          <a:p xmlns:a="http://schemas.openxmlformats.org/drawingml/2006/main">
            <a:r>
              <a:t>[Sources]</a:t>
            </a:r>
          </a:p>
          <a:p xmlns:a="http://schemas.openxmlformats.org/drawingml/2006/main">
            <a:r>
              <a:t>- Fuentes de contenido: TEX 7.9.1; PDF p. 188; REF oxenham2018; OD-U07-04.</a:t>
            </a:r>
          </a:p>
          <a:p xmlns:a="http://schemas.openxmlformats.org/drawingml/2006/main">
            <a:r>
              <a:t>- Asset propio aprobado: U07-CH-008.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marco estímulo–tarea–respuesta añadiendo selectividad, no repetir cálculos. El bloque avanza desde el cambio de umbral observado hacia un modelo de selectividad frecuencial. Idea que debe quedar al cerrar: El patrón observado depende de tarea, niveles, espectros y filtros auditivos.</a:t>
            </a:r>
          </a:p>
          <a:p xmlns:a="http://schemas.openxmlformats.org/drawingml/2006/main">
            <a:r>
              <a:t>- **Guía para el visual/diagrama:** Recorrido sugerido: Estímulo → Canal auditivo → Salida interna → Tarea.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El patrón observado depende de tarea, niveles, espectros y filtros auditivos.</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Quitar la superposición temporal.</a:t>
            </a:r>
          </a:p>
          <a:p xmlns:a="http://schemas.openxmlformats.org/drawingml/2006/main">
            <a:r>
              <a:t>- **[Sources]:** TEX 7.9.1; BR; EP.</a:t>
            </a:r>
          </a:p>
          <a:p xmlns:a="http://schemas.openxmlformats.org/drawingml/2006/main">
            <a:r>
              <a:t/>
            </a:r>
          </a:p>
          <a:p xmlns:a="http://schemas.openxmlformats.org/drawingml/2006/main">
            <a:r>
              <a:t>[Alt text]</a:t>
            </a:r>
          </a:p>
          <a:p xmlns:a="http://schemas.openxmlformats.org/drawingml/2006/main">
            <a:r>
              <a:t>Cuatro etapas conectan estímulo, canal auditivo, salida interna y tarea perceptual.</a:t>
            </a:r>
          </a:p>
          <a:p xmlns:a="http://schemas.openxmlformats.org/drawingml/2006/main">
            <a:r>
              <a:t/>
            </a:r>
          </a:p>
          <a:p xmlns:a="http://schemas.openxmlformats.org/drawingml/2006/main">
            <a:r>
              <a:t>[Sources]</a:t>
            </a:r>
          </a:p>
          <a:p xmlns:a="http://schemas.openxmlformats.org/drawingml/2006/main">
            <a:r>
              <a:t>- Fuentes de contenido: TEX 7.9.1; BR; EP.</a:t>
            </a:r>
          </a:p>
          <a:p xmlns:a="http://schemas.openxmlformats.org/drawingml/2006/main">
            <a:r>
              <a:t>- Asset propio aprobado: U07-DG-020B.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Anunciar que se separarán clasificación temporal y mecanismo funcional. El bloque usa dos ejes independientes: orden temporal y tipo funcional de interferencia. Idea que debe quedar al cerrar: El orden temporal y el tipo de competencia modifican el fenómeno.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¿Puede una señal enmascarar sin coincidir en el tiempo?</a:t>
            </a:r>
          </a:p>
          <a:p xmlns:a="http://schemas.openxmlformats.org/drawingml/2006/main">
            <a:r>
              <a:t>- **Respuesta esperada:** El orden temporal y el tipo de competencia modifican el fenómeno.</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Comparar relaciones temporales.</a:t>
            </a:r>
          </a:p>
          <a:p xmlns:a="http://schemas.openxmlformats.org/drawingml/2006/main">
            <a:r>
              <a:t>- **[Sources]:** PO; TEX 7.9.2–7.9.3; PDF pp. 189–190.</a:t>
            </a:r>
          </a:p>
          <a:p xmlns:a="http://schemas.openxmlformats.org/drawingml/2006/main">
            <a:r>
              <a:t/>
            </a:r>
          </a:p>
          <a:p xmlns:a="http://schemas.openxmlformats.org/drawingml/2006/main">
            <a:r>
              <a:t>[Alt text]</a:t>
            </a:r>
          </a:p>
          <a:p xmlns:a="http://schemas.openxmlformats.org/drawingml/2006/main">
            <a:r>
              <a:t>Tres líneas temporales y dos fuentes de interferencia. La idea central es: El orden temporal y el tipo de competencia modifican el fenómeno.</a:t>
            </a:r>
          </a:p>
          <a:p xmlns:a="http://schemas.openxmlformats.org/drawingml/2006/main">
            <a:r>
              <a:t/>
            </a:r>
          </a:p>
          <a:p xmlns:a="http://schemas.openxmlformats.org/drawingml/2006/main">
            <a:r>
              <a:t>[Sources]</a:t>
            </a:r>
          </a:p>
          <a:p xmlns:a="http://schemas.openxmlformats.org/drawingml/2006/main">
            <a:r>
              <a:t>- Fuentes de contenido: PO; TEX 7.9.2–7.9.3; PDF pp. 189–190.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Usar “enmascaramiento hacia adelante/atrás” junto con “posterior/anterior” para desambiguar. El bloque usa dos ejes independientes: orden temporal y tipo funcional de interferencia. Idea que debe quedar al cerrar: La clasificación se hace respecto de la posición temporal del enmascarador y la señal objetivo.</a:t>
            </a:r>
          </a:p>
          <a:p xmlns:a="http://schemas.openxmlformats.org/drawingml/2006/main">
            <a:r>
              <a:t>- **Guía para el visual/diagrama:** Recorrido sugerido: Hacia atrás → Simultáneo → Hacia adelante. Nombrar primero los elementos, explicar luego las relaciones y cerrar con el límite indicado en el caption. No leer las cajas como un párrafo.</a:t>
            </a:r>
          </a:p>
          <a:p xmlns:a="http://schemas.openxmlformats.org/drawingml/2006/main">
            <a:r>
              <a:t>- **Pregunta al curso:** ¿Qué criterio permite separar las dos columnas sin tratarlas como sinónimos?</a:t>
            </a:r>
          </a:p>
          <a:p xmlns:a="http://schemas.openxmlformats.org/drawingml/2006/main">
            <a:r>
              <a:t>- **Respuesta esperada:** La clasificación se hace respecto de la posición temporal del enmascarador y la señal objetivo.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Profundizar el caso posterior.</a:t>
            </a:r>
          </a:p>
          <a:p xmlns:a="http://schemas.openxmlformats.org/drawingml/2006/main">
            <a:r>
              <a:t>- **[Sources]:** TEX 7.9.1–7.9.2; PDF pp. 187–189; GLO.</a:t>
            </a:r>
          </a:p>
          <a:p xmlns:a="http://schemas.openxmlformats.org/drawingml/2006/main">
            <a:r>
              <a:t/>
            </a:r>
          </a:p>
          <a:p xmlns:a="http://schemas.openxmlformats.org/drawingml/2006/main">
            <a:r>
              <a:t>[Alt text]</a:t>
            </a:r>
          </a:p>
          <a:p xmlns:a="http://schemas.openxmlformats.org/drawingml/2006/main">
            <a:r>
              <a:t>Tres cuadros alineados muestran enmascaramiento hacia atrás, simultáneo y hacia adelante con la misma escala visual.</a:t>
            </a:r>
          </a:p>
          <a:p xmlns:a="http://schemas.openxmlformats.org/drawingml/2006/main">
            <a:r>
              <a:t/>
            </a:r>
          </a:p>
          <a:p xmlns:a="http://schemas.openxmlformats.org/drawingml/2006/main">
            <a:r>
              <a:t>[Sources]</a:t>
            </a:r>
          </a:p>
          <a:p xmlns:a="http://schemas.openxmlformats.org/drawingml/2006/main">
            <a:r>
              <a:t>- Fuentes de contenido: TEX 7.9.1–7.9.2; PDF pp. 187–189; GLO.</a:t>
            </a:r>
          </a:p>
          <a:p xmlns:a="http://schemas.openxmlformats.org/drawingml/2006/main">
            <a:r>
              <a:t>- Asset propio aprobado: U07-DG-021.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dar una constante temporal universal. El bloque usa dos ejes independientes: orden temporal y tipo funcional de interferencia. Idea que debe quedar al cerrar: El efecto decae con la separación temporal y depende de niveles, frecuencias y duraciones. Definición de trabajo: Enmascaramiento hacia adelante: la máscara precede al objetivo y eleva transitoriamente su umbral.</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efecto decae con la separación temporal y depende de niveles, frecuencias y duraciones.</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Invertir el orden.</a:t>
            </a:r>
          </a:p>
          <a:p xmlns:a="http://schemas.openxmlformats.org/drawingml/2006/main">
            <a:r>
              <a:t>- **[Sources]:** PO; TEX 7.9.2; PDF p. 189.</a:t>
            </a:r>
          </a:p>
          <a:p xmlns:a="http://schemas.openxmlformats.org/drawingml/2006/main">
            <a:r>
              <a:t/>
            </a:r>
          </a:p>
          <a:p xmlns:a="http://schemas.openxmlformats.org/drawingml/2006/main">
            <a:r>
              <a:t>[Alt text]</a:t>
            </a:r>
          </a:p>
          <a:p xmlns:a="http://schemas.openxmlformats.org/drawingml/2006/main">
            <a:r>
              <a:t>Línea temporal con intervalo variable; diagrama conceptual. La idea central es: El efecto decae con la separación temporal y depende de niveles, frecuencias y duraciones.</a:t>
            </a:r>
          </a:p>
          <a:p xmlns:a="http://schemas.openxmlformats.org/drawingml/2006/main">
            <a:r>
              <a:t/>
            </a:r>
          </a:p>
          <a:p xmlns:a="http://schemas.openxmlformats.org/drawingml/2006/main">
            <a:r>
              <a:t>[Sources]</a:t>
            </a:r>
          </a:p>
          <a:p xmlns:a="http://schemas.openxmlformats.org/drawingml/2006/main">
            <a:r>
              <a:t>- Fuentes de contenido: PO; TEX 7.9.2; PDF p. 189.</a:t>
            </a:r>
          </a:p>
          <a:p xmlns:a="http://schemas.openxmlformats.org/drawingml/2006/main">
            <a:r>
              <a:t>- Asset propio aprobado: U07-DG-021.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Prevenir la interpretación causal retrospectiva. El bloque usa dos ejes independientes: orden temporal y tipo funcional de interferencia. Idea que debe quedar al cerrar: El fenómeno existe en condiciones limitadas y no implica causalidad física hacia el pasado. Definición de trabajo: Enmascaramiento hacia atrás: la máscara aparece después del objetivo y modifica su detectabilidad.</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fenómeno existe en condiciones limitadas y no implica causalidad física hacia el pasado.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Reunir los tres casos.</a:t>
            </a:r>
          </a:p>
          <a:p xmlns:a="http://schemas.openxmlformats.org/drawingml/2006/main">
            <a:r>
              <a:t>- **[Sources]:** PO; TEX 7.9.2; PDF p. 189; SA.</a:t>
            </a:r>
          </a:p>
          <a:p xmlns:a="http://schemas.openxmlformats.org/drawingml/2006/main">
            <a:r>
              <a:t/>
            </a:r>
          </a:p>
          <a:p xmlns:a="http://schemas.openxmlformats.org/drawingml/2006/main">
            <a:r>
              <a:t>[Alt text]</a:t>
            </a:r>
          </a:p>
          <a:p xmlns:a="http://schemas.openxmlformats.org/drawingml/2006/main">
            <a:r>
              <a:t>Línea temporal espejada y callout “respuesta perceptual”. La idea central es: El fenómeno existe en condiciones limitadas y no implica causalidad física hacia el pasado.</a:t>
            </a:r>
          </a:p>
          <a:p xmlns:a="http://schemas.openxmlformats.org/drawingml/2006/main">
            <a:r>
              <a:t/>
            </a:r>
          </a:p>
          <a:p xmlns:a="http://schemas.openxmlformats.org/drawingml/2006/main">
            <a:r>
              <a:t>[Sources]</a:t>
            </a:r>
          </a:p>
          <a:p xmlns:a="http://schemas.openxmlformats.org/drawingml/2006/main">
            <a:r>
              <a:t>- Fuentes de contenido: PO; TEX 7.9.2; PDF p. 189; SA.</a:t>
            </a:r>
          </a:p>
          <a:p xmlns:a="http://schemas.openxmlformats.org/drawingml/2006/main">
            <a:r>
              <a:t>- Asset propio aprobado: U07-DG-021.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geometría temporal con nuevas columnas, no las definiciones. El bloque usa dos ejes independientes: orden temporal y tipo funcional de interferencia. Idea que debe quedar al cerrar: Superposición y orden son descriptores; la magnitud requiere condiciones experimentales.</a:t>
            </a:r>
          </a:p>
          <a:p xmlns:a="http://schemas.openxmlformats.org/drawingml/2006/main">
            <a:r>
              <a:t>- **Guía para el visual/diagrama:** Recorrido sugerido: Hacia atrás → Simultáneo → Hacia adelante.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Superposición y orden son descriptores; la magnitud requiere condiciones experimentales.</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Proponer una clasificación rápida.</a:t>
            </a:r>
          </a:p>
          <a:p xmlns:a="http://schemas.openxmlformats.org/drawingml/2006/main">
            <a:r>
              <a:t>- **[Sources]:** TEX 7.9.1–7.9.2; EP.</a:t>
            </a:r>
          </a:p>
          <a:p xmlns:a="http://schemas.openxmlformats.org/drawingml/2006/main">
            <a:r>
              <a:t/>
            </a:r>
          </a:p>
          <a:p xmlns:a="http://schemas.openxmlformats.org/drawingml/2006/main">
            <a:r>
              <a:t>[Alt text]</a:t>
            </a:r>
          </a:p>
          <a:p xmlns:a="http://schemas.openxmlformats.org/drawingml/2006/main">
            <a:r>
              <a:t>Tres cuadros alineados muestran enmascaramiento hacia atrás, simultáneo y hacia adelante con la misma escala visual.</a:t>
            </a:r>
          </a:p>
          <a:p xmlns:a="http://schemas.openxmlformats.org/drawingml/2006/main">
            <a:r>
              <a:t/>
            </a:r>
          </a:p>
          <a:p xmlns:a="http://schemas.openxmlformats.org/drawingml/2006/main">
            <a:r>
              <a:t>[Sources]</a:t>
            </a:r>
          </a:p>
          <a:p xmlns:a="http://schemas.openxmlformats.org/drawingml/2006/main">
            <a:r>
              <a:t>- Fuentes de contenido: TEX 7.9.1–7.9.2; EP.</a:t>
            </a:r>
          </a:p>
          <a:p xmlns:a="http://schemas.openxmlformats.org/drawingml/2006/main">
            <a:r>
              <a:t>- Asset propio aprobado: U07-DG-021.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Detectar inversiones entre “máscara posterior” y “enmascaramiento hacia adelante”. El bloque usa dos ejes independientes: orden temporal y tipo funcional de interferencia. Idea que debe quedar al cerrar: La etiqueta se decide respecto de la señal objetivo.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Clasifique los tres cronogramas respecto de la señal objetivo. Indique si existe solapamiento y justifique cada nombre temporal.</a:t>
            </a:r>
          </a:p>
          <a:p xmlns:a="http://schemas.openxmlformats.org/drawingml/2006/main">
            <a:r>
              <a:t>- **Respuesta esperada:** La etiqueta se decide respecto de la señal objetivo.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Cambiar de tiempo a tipo de competencia.</a:t>
            </a:r>
          </a:p>
          <a:p xmlns:a="http://schemas.openxmlformats.org/drawingml/2006/main">
            <a:r>
              <a:t>- **[Sources]:** TEX 7.9.2; EP.</a:t>
            </a:r>
          </a:p>
          <a:p xmlns:a="http://schemas.openxmlformats.org/drawingml/2006/main">
            <a:r>
              <a:t/>
            </a:r>
          </a:p>
          <a:p xmlns:a="http://schemas.openxmlformats.org/drawingml/2006/main">
            <a:r>
              <a:t>[Alt text]</a:t>
            </a:r>
          </a:p>
          <a:p xmlns:a="http://schemas.openxmlformats.org/drawingml/2006/main">
            <a:r>
              <a:t>Cronogramas editables, sin audio obligatorio. La idea central es: La etiqueta se decide respecto de la señal objetivo.</a:t>
            </a:r>
          </a:p>
          <a:p xmlns:a="http://schemas.openxmlformats.org/drawingml/2006/main">
            <a:r>
              <a:t/>
            </a:r>
          </a:p>
          <a:p xmlns:a="http://schemas.openxmlformats.org/drawingml/2006/main">
            <a:r>
              <a:t>[Sources]</a:t>
            </a:r>
          </a:p>
          <a:p xmlns:a="http://schemas.openxmlformats.org/drawingml/2006/main">
            <a:r>
              <a:t>- Fuentes de contenido: TEX 7.9.2; EP.</a:t>
            </a:r>
          </a:p>
          <a:p xmlns:a="http://schemas.openxmlformats.org/drawingml/2006/main">
            <a:r>
              <a:t>- Asset propio aprobado: U07-DG-021.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equiparar “energético” con sonido físicamente más intenso en todo caso. El bloque usa dos ejes independientes: orden temporal y tipo funcional de interferencia. Idea que debe quedar al cerrar: La energía del enmascarador reduce la detectabilidad de la señal en canales relevantes. Definición de trabajo: Enmascaramiento energético: competencia asociada con superposición de energía dentro de canales auditivos relevantes.</a:t>
            </a:r>
          </a:p>
          <a:p xmlns:a="http://schemas.openxmlformats.org/drawingml/2006/main">
            <a:r>
              <a:t>- **Guía para el visual/diagrama:** Recorrido sugerido: Objetivo + máscara → Canales solapados → Menor contraste → Respuesta.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La energía del enmascarador reduce la detectabilidad de la señal en canales relevantes.</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Contrastar con interferencia informacional.</a:t>
            </a:r>
          </a:p>
          <a:p xmlns:a="http://schemas.openxmlformats.org/drawingml/2006/main">
            <a:r>
              <a:t>- **[Sources]:** PO; TEX 7.9.3; PDF pp. 189–190; REF `oxenham2018`.</a:t>
            </a:r>
          </a:p>
          <a:p xmlns:a="http://schemas.openxmlformats.org/drawingml/2006/main">
            <a:r>
              <a:t/>
            </a:r>
          </a:p>
          <a:p xmlns:a="http://schemas.openxmlformats.org/drawingml/2006/main">
            <a:r>
              <a:t>[Alt text]</a:t>
            </a:r>
          </a:p>
          <a:p xmlns:a="http://schemas.openxmlformats.org/drawingml/2006/main">
            <a:r>
              <a:t>Cuatro etapas conectan señales físicas, canales solapados, señal interna con menor contraste y respuesta.</a:t>
            </a:r>
          </a:p>
          <a:p xmlns:a="http://schemas.openxmlformats.org/drawingml/2006/main">
            <a:r>
              <a:t/>
            </a:r>
          </a:p>
          <a:p xmlns:a="http://schemas.openxmlformats.org/drawingml/2006/main">
            <a:r>
              <a:t>[Sources]</a:t>
            </a:r>
          </a:p>
          <a:p xmlns:a="http://schemas.openxmlformats.org/drawingml/2006/main">
            <a:r>
              <a:t>- Fuentes de contenido: PO; TEX 7.9.3; PDF pp. 189–190; REF oxenham2018.</a:t>
            </a:r>
          </a:p>
          <a:p xmlns:a="http://schemas.openxmlformats.org/drawingml/2006/main">
            <a:r>
              <a:t>- Asset propio aprobado: U07-DG-022A.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convertirlo en una categoría psicológica vaga; mantener tarea y evidencia. El bloque usa dos ejes independientes: orden temporal y tipo funcional de interferencia. Idea que debe quedar al cerrar: Semejanza, incertidumbre, atención y agrupamiento pueden dificultar seleccionar la señal objetivo. Definición de trabajo: Enmascaramiento informacional: dificultad adicional para seleccionar u organizar la fuente objetivo, más allá de la superposición energética.</a:t>
            </a:r>
          </a:p>
          <a:p xmlns:a="http://schemas.openxmlformats.org/drawingml/2006/main">
            <a:r>
              <a:t>- **Guía para el visual/diagrama:** Recorrido sugerido: Fuentes similares → Señales audibles → Selección atencional → Respuesta.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Semejanza, incertidumbre, atención y agrupamiento pueden dificultar seleccionar la señal objetivo.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Aplicar a dos voces.</a:t>
            </a:r>
          </a:p>
          <a:p xmlns:a="http://schemas.openxmlformats.org/drawingml/2006/main">
            <a:r>
              <a:t>- **[Sources]:** PO; TEX 7.9.3; PDF p. 190; REF `oxenham2018`.</a:t>
            </a:r>
          </a:p>
          <a:p xmlns:a="http://schemas.openxmlformats.org/drawingml/2006/main">
            <a:r>
              <a:t/>
            </a:r>
          </a:p>
          <a:p xmlns:a="http://schemas.openxmlformats.org/drawingml/2006/main">
            <a:r>
              <a:t>[Alt text]</a:t>
            </a:r>
          </a:p>
          <a:p xmlns:a="http://schemas.openxmlformats.org/drawingml/2006/main">
            <a:r>
              <a:t>Cuatro etapas conectan fuentes similares, representaciones disponibles, selección atencional y respuesta.</a:t>
            </a:r>
          </a:p>
          <a:p xmlns:a="http://schemas.openxmlformats.org/drawingml/2006/main">
            <a:r>
              <a:t/>
            </a:r>
          </a:p>
          <a:p xmlns:a="http://schemas.openxmlformats.org/drawingml/2006/main">
            <a:r>
              <a:t>[Sources]</a:t>
            </a:r>
          </a:p>
          <a:p xmlns:a="http://schemas.openxmlformats.org/drawingml/2006/main">
            <a:r>
              <a:t>- Fuentes de contenido: PO; TEX 7.9.3; PDF p. 190; REF oxenham2018.</a:t>
            </a:r>
          </a:p>
          <a:p xmlns:a="http://schemas.openxmlformats.org/drawingml/2006/main">
            <a:r>
              <a:t>- Asset propio aprobado: U07-DG-022B.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Permitir respuesta visual si no se usa audio y no interpretar desempeño como diagnóstico. El bloque usa dos ejes independientes: orden temporal y tipo funcional de interferencia. Idea que debe quedar al cerrar: Una misma escena puede combinar solapamiento espectrotemporal y confusión entre fuentes. Ejemplo para desarrollar oralmente: Dos voces semejantes pueden solaparse en frecuencia y, además, competir por la atención del oyente.</a:t>
            </a:r>
          </a:p>
          <a:p xmlns:a="http://schemas.openxmlformats.org/drawingml/2006/main">
            <a:r>
              <a:t>- **Guía para el visual/diagrama:** Recorrido sugerido: Respuesta del oyente → Voz objetivo → Voz competidora → Atención. Nombrar primero los elementos, explicar luego las relaciones y cerrar con el límite indicado en el caption. No leer las cajas como un párrafo.</a:t>
            </a:r>
          </a:p>
          <a:p xmlns:a="http://schemas.openxmlformats.org/drawingml/2006/main">
            <a:r>
              <a:t>- **Pregunta al curso:** ¿Qué mediría primero y qué conclusión clínica todavía no estaría justificada?</a:t>
            </a:r>
          </a:p>
          <a:p xmlns:a="http://schemas.openxmlformats.org/drawingml/2006/main">
            <a:r>
              <a:t>- **Respuesta esperada:** Una misma escena puede combinar solapamiento espectrotemporal y confusión entre fuentes.</a:t>
            </a:r>
          </a:p>
          <a:p xmlns:a="http://schemas.openxmlformats.org/drawingml/2006/main">
            <a:r>
              <a:t>- **Demostración o multimedia:** U07-MEDIA-004 es opcional y requiere voces autorizadas. Si no está disponible, resolver con espectrogramas y diagrama; no evaluar al grupo.</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Formular una regla integradora.</a:t>
            </a:r>
          </a:p>
          <a:p xmlns:a="http://schemas.openxmlformats.org/drawingml/2006/main">
            <a:r>
              <a:t>- **[Sources]:** TEX 7.9.3, 7.12; PDF pp. 190, 192–193.</a:t>
            </a:r>
          </a:p>
          <a:p xmlns:a="http://schemas.openxmlformats.org/drawingml/2006/main">
            <a:r>
              <a:t/>
            </a:r>
          </a:p>
          <a:p xmlns:a="http://schemas.openxmlformats.org/drawingml/2006/main">
            <a:r>
              <a:t>[Alt text]</a:t>
            </a:r>
          </a:p>
          <a:p xmlns:a="http://schemas.openxmlformats.org/drawingml/2006/main">
            <a:r>
              <a:t>Una respuesta central se relaciona con voz objetivo, voz competidora y atención; las rutas no dependen solo del color.</a:t>
            </a:r>
          </a:p>
          <a:p xmlns:a="http://schemas.openxmlformats.org/drawingml/2006/main">
            <a:r>
              <a:t/>
            </a:r>
          </a:p>
          <a:p xmlns:a="http://schemas.openxmlformats.org/drawingml/2006/main">
            <a:r>
              <a:t>[Sources]</a:t>
            </a:r>
          </a:p>
          <a:p xmlns:a="http://schemas.openxmlformats.org/drawingml/2006/main">
            <a:r>
              <a:t>- Fuentes de contenido: TEX 7.9.3, 7.12; PDF pp. 190, 192–193.</a:t>
            </a:r>
          </a:p>
          <a:p xmlns:a="http://schemas.openxmlformats.org/drawingml/2006/main">
            <a:r>
              <a:t>- Asset propio aprobado: U07-DG-023.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Repetición pedagógica por reorganización; no volver a explicar cada término. El bloque usa dos ejes independientes: orden temporal y tipo funcional de interferencia. Idea que debe quedar al cerrar: Una escena se describe por relación temporal y por tipo de interferencia, sin asumir correspondencia uno a uno.</a:t>
            </a:r>
          </a:p>
          <a:p xmlns:a="http://schemas.openxmlformats.org/drawingml/2006/main">
            <a:r>
              <a:t>- **Guía para el visual/diagrama:** Recorrido sugerido: Competencia energética → Competencia informacional → Pista espectral → Pista espacial → Tarea → ….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Una escena se describe por relación temporal y por tipo de interferencia, sin asumir correspondencia uno a uno.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Llevar la interferencia a comprensión del habla.</a:t>
            </a:r>
          </a:p>
          <a:p xmlns:a="http://schemas.openxmlformats.org/drawingml/2006/main">
            <a:r>
              <a:t>- **[Sources]:** TEX 7.9; BR; EP.</a:t>
            </a:r>
          </a:p>
          <a:p xmlns:a="http://schemas.openxmlformats.org/drawingml/2006/main">
            <a:r>
              <a:t/>
            </a:r>
          </a:p>
          <a:p xmlns:a="http://schemas.openxmlformats.org/drawingml/2006/main">
            <a:r>
              <a:t>[Alt text]</a:t>
            </a:r>
          </a:p>
          <a:p xmlns:a="http://schemas.openxmlformats.org/drawingml/2006/main">
            <a:r>
              <a:t>Seis celdas organizan competencia energética, informacional y cuatro moduladores.</a:t>
            </a:r>
          </a:p>
          <a:p xmlns:a="http://schemas.openxmlformats.org/drawingml/2006/main">
            <a:r>
              <a:t/>
            </a:r>
          </a:p>
          <a:p xmlns:a="http://schemas.openxmlformats.org/drawingml/2006/main">
            <a:r>
              <a:t>[Sources]</a:t>
            </a:r>
          </a:p>
          <a:p xmlns:a="http://schemas.openxmlformats.org/drawingml/2006/main">
            <a:r>
              <a:t>- Fuentes de contenido: TEX 7.9; BR; EP.</a:t>
            </a:r>
          </a:p>
          <a:p xmlns:a="http://schemas.openxmlformats.org/drawingml/2006/main">
            <a:r>
              <a:t>- Asset propio aprobado: U07-DG-022C.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Evitar que “inteligibilidad” se reduzca a volumen. El bloque trata la inteligibilidad como desempeño en una prueba y no como propiedad directa de una SNR o de un recinto. Idea que debe quedar al cerrar: Detectabilidad e inteligibilidad son resultados diferentes.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¿Por qué oír una voz no garantiza comprenderla?</a:t>
            </a:r>
          </a:p>
          <a:p xmlns:a="http://schemas.openxmlformats.org/drawingml/2006/main">
            <a:r>
              <a:t>- **Respuesta esperada:** Detectabilidad e inteligibilidad son resultados diferentes.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la variable dependiente.</a:t>
            </a:r>
          </a:p>
          <a:p xmlns:a="http://schemas.openxmlformats.org/drawingml/2006/main">
            <a:r>
              <a:t>- **[Sources]:** PO; TEX 7.10–7.10.1; PDF pp. 190–191.</a:t>
            </a:r>
          </a:p>
          <a:p xmlns:a="http://schemas.openxmlformats.org/drawingml/2006/main">
            <a:r>
              <a:t/>
            </a:r>
          </a:p>
          <a:p xmlns:a="http://schemas.openxmlformats.org/drawingml/2006/main">
            <a:r>
              <a:t>[Alt text]</a:t>
            </a:r>
          </a:p>
          <a:p xmlns:a="http://schemas.openxmlformats.org/drawingml/2006/main">
            <a:r>
              <a:t>Oído detecta señal; oyente debe reconocer mensaje. La idea central es: Detectabilidad e inteligibilidad son resultados diferentes.</a:t>
            </a:r>
          </a:p>
          <a:p xmlns:a="http://schemas.openxmlformats.org/drawingml/2006/main">
            <a:r>
              <a:t/>
            </a:r>
          </a:p>
          <a:p xmlns:a="http://schemas.openxmlformats.org/drawingml/2006/main">
            <a:r>
              <a:t>[Sources]</a:t>
            </a:r>
          </a:p>
          <a:p xmlns:a="http://schemas.openxmlformats.org/drawingml/2006/main">
            <a:r>
              <a:t>- Fuentes de contenido: PO; TEX 7.10–7.10.1; PDF pp. 190–191.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Distinguir reconocimiento de detección y de calidad subjetiva. El bloque trata la inteligibilidad como desempeño en una prueba y no como propiedad directa de una SNR o de un recinto. Idea que debe quedar al cerrar: Debe especificarse qué unidad se presenta y cómo se puntúa. Definición de trabajo: Inteligibilidad: proporción o porcentaje de unidades lingüísticas correctamente reconocidas en una tarea definida.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Debe especificarse qué unidad se presenta y cómo se puntúa.</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Mostrar dependencias de la tarea.</a:t>
            </a:r>
          </a:p>
          <a:p xmlns:a="http://schemas.openxmlformats.org/drawingml/2006/main">
            <a:r>
              <a:t>- **[Sources]:** PO; TEX 7.10; PDF p. 190; GLO.</a:t>
            </a:r>
          </a:p>
          <a:p xmlns:a="http://schemas.openxmlformats.org/drawingml/2006/main">
            <a:r>
              <a:t/>
            </a:r>
          </a:p>
          <a:p xmlns:a="http://schemas.openxmlformats.org/drawingml/2006/main">
            <a:r>
              <a:t>[Alt text]</a:t>
            </a:r>
          </a:p>
          <a:p xmlns:a="http://schemas.openxmlformats.org/drawingml/2006/main">
            <a:r>
              <a:t>Diagrama respuesta correcta/total; no requiere ecuación central. La idea central es: Debe especificarse qué unidad se presenta y cómo se puntúa.</a:t>
            </a:r>
          </a:p>
          <a:p xmlns:a="http://schemas.openxmlformats.org/drawingml/2006/main">
            <a:r>
              <a:t/>
            </a:r>
          </a:p>
          <a:p xmlns:a="http://schemas.openxmlformats.org/drawingml/2006/main">
            <a:r>
              <a:t>[Sources]</a:t>
            </a:r>
          </a:p>
          <a:p xmlns:a="http://schemas.openxmlformats.org/drawingml/2006/main">
            <a:r>
              <a:t>- Fuentes de contenido: PO; TEX 7.10; PDF p. 190;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presentar un porcentaje aislado como propiedad del recinto o dispositivo. El bloque trata la inteligibilidad como desempeño en una prueba y no como propiedad directa de una SNR o de un recinto. Idea que debe quedar al cerrar: Lista, contexto lingüístico, respuesta, entrenamiento y audición condicionan el porcentaje.</a:t>
            </a:r>
          </a:p>
          <a:p xmlns:a="http://schemas.openxmlformats.org/drawingml/2006/main">
            <a:r>
              <a:t>- **Guía para el visual/diagrama:** Recorrido sugerido: Estímulo → Procedimiento → Oyente → Resultado.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Lista, contexto lingüístico, respuesta, entrenamiento y audición condicionan el porcentaje.</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Añadir el ambiente acústico.</a:t>
            </a:r>
          </a:p>
          <a:p xmlns:a="http://schemas.openxmlformats.org/drawingml/2006/main">
            <a:r>
              <a:t>- **[Sources]:** TEX 7.10; PDF pp. 190–191; SA.</a:t>
            </a:r>
          </a:p>
          <a:p xmlns:a="http://schemas.openxmlformats.org/drawingml/2006/main">
            <a:r>
              <a:t/>
            </a:r>
          </a:p>
          <a:p xmlns:a="http://schemas.openxmlformats.org/drawingml/2006/main">
            <a:r>
              <a:t>[Alt text]</a:t>
            </a:r>
          </a:p>
          <a:p xmlns:a="http://schemas.openxmlformats.org/drawingml/2006/main">
            <a:r>
              <a:t>Cuatro grupos organizan estímulo, procedimiento, oyente y resultado porcentual.</a:t>
            </a:r>
          </a:p>
          <a:p xmlns:a="http://schemas.openxmlformats.org/drawingml/2006/main">
            <a:r>
              <a:t/>
            </a:r>
          </a:p>
          <a:p xmlns:a="http://schemas.openxmlformats.org/drawingml/2006/main">
            <a:r>
              <a:t>[Sources]</a:t>
            </a:r>
          </a:p>
          <a:p xmlns:a="http://schemas.openxmlformats.org/drawingml/2006/main">
            <a:r>
              <a:t>- Fuentes de contenido: TEX 7.10; PDF pp. 190–191; SA.</a:t>
            </a:r>
          </a:p>
          <a:p xmlns:a="http://schemas.openxmlformats.org/drawingml/2006/main">
            <a:r>
              <a:t>- Asset propio aprobado: U07-DG-024.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Recordar que ruido se usa funcionalmente aquí; su clasificación queda para U10. El bloque trata la inteligibilidad como desempeño en una prueba y no como propiedad directa de una SNR o de un recinto. Idea que debe quedar al cerrar: Los niveles de señal `L_p,s` y ruido `L_p,n` deben medirse en el mismo punto, ponderación, banda e intervalo.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Los niveles de señal `L_p,s` y ruido `L_p,n` deben medirse en el mismo punto, ponderación, banda e intervalo.</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Escribir la ecuación.</a:t>
            </a:r>
          </a:p>
          <a:p xmlns:a="http://schemas.openxmlformats.org/drawingml/2006/main">
            <a:r>
              <a:t>- **[Sources]:** TEX 7.10.1; PDF p. 191; NOT; MAP; DM.</a:t>
            </a:r>
          </a:p>
          <a:p xmlns:a="http://schemas.openxmlformats.org/drawingml/2006/main">
            <a:r>
              <a:t/>
            </a:r>
          </a:p>
          <a:p xmlns:a="http://schemas.openxmlformats.org/drawingml/2006/main">
            <a:r>
              <a:t>[Alt text]</a:t>
            </a:r>
          </a:p>
          <a:p xmlns:a="http://schemas.openxmlformats.org/drawingml/2006/main">
            <a:r>
              <a:t>Dos medidores con punto común y etiquetas de banda/tiempo. La idea central es: Los niveles de señal Lₚ,s y ruido Lₚ,n deben medirse en el mismo punto, ponderación, banda e intervalo.</a:t>
            </a:r>
          </a:p>
          <a:p xmlns:a="http://schemas.openxmlformats.org/drawingml/2006/main">
            <a:r>
              <a:t/>
            </a:r>
          </a:p>
          <a:p xmlns:a="http://schemas.openxmlformats.org/drawingml/2006/main">
            <a:r>
              <a:t>[Sources]</a:t>
            </a:r>
          </a:p>
          <a:p xmlns:a="http://schemas.openxmlformats.org/drawingml/2006/main">
            <a:r>
              <a:t>- Fuentes de contenido: TEX 7.10.1; PDF p. 191; NOT; MAP; DM.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Evitar sumar o restar amplitudes lineales como si fueran niveles. El bloque trata la inteligibilidad como desempeño en una prueba y no como propiedad directa de una SNR o de un recinto. Idea que debe quedar al cerrar: `SNR = L_p,s - L_p,n` en dB; signo positivo significa mayor nivel de señal que de ruido. Escribir y leer la relación por términos: `SNR = L_p,habla − L_p,ruido`; el resultado se expresa en dB si los niveles son comparables. Comprobar unidades antes de interpretar.</a:t>
            </a:r>
          </a:p>
          <a:p xmlns:a="http://schemas.openxmlformats.org/drawingml/2006/main">
            <a:r>
              <a:t>- **Guía para el visual/diagrama:** Recorrido sugerido: SNR = L_p,habla − L_p,ruido → L_p,habla → L_p,ruido → signo → Comparabilidad.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`SNR = L_p,s - L_p,n` en dB; signo positivo significa mayor nivel de señal que de ruido.</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Resolver un caso.</a:t>
            </a:r>
          </a:p>
          <a:p xmlns:a="http://schemas.openxmlformats.org/drawingml/2006/main">
            <a:r>
              <a:t>- **[Sources]:** TEX ec. 7.5; PDF p. 191; NOT; GLO.</a:t>
            </a:r>
          </a:p>
          <a:p xmlns:a="http://schemas.openxmlformats.org/drawingml/2006/main">
            <a:r>
              <a:t/>
            </a:r>
          </a:p>
          <a:p xmlns:a="http://schemas.openxmlformats.org/drawingml/2006/main">
            <a:r>
              <a:t>[Alt text]</a:t>
            </a:r>
          </a:p>
          <a:p xmlns:a="http://schemas.openxmlformats.org/drawingml/2006/main">
            <a:r>
              <a:t>Ecuación central SNR igual nivel de habla menos nivel de ruido, con cuatro llamadas externas.</a:t>
            </a:r>
          </a:p>
          <a:p xmlns:a="http://schemas.openxmlformats.org/drawingml/2006/main">
            <a:r>
              <a:t/>
            </a:r>
          </a:p>
          <a:p xmlns:a="http://schemas.openxmlformats.org/drawingml/2006/main">
            <a:r>
              <a:t>[Sources]</a:t>
            </a:r>
          </a:p>
          <a:p xmlns:a="http://schemas.openxmlformats.org/drawingml/2006/main">
            <a:r>
              <a:t>- Fuentes de contenido: TEX ec. 7.5; PDF p. 191; NOT;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Preguntar si +8 dB basta sin conocer material y reverberación. El bloque trata la inteligibilidad como desempeño en una prueba y no como propiedad directa de una SNR o de un recinto. Idea que debe quedar al cerrar: El signo describe relación de niveles, no garantiza un porcentaje de inteligibilidad. Escribir y leer la relación por términos: `SNR = 68 dB SPL − 60 dB SPL = +8 dB`. Comprobar unidades antes de interpretar. Ejemplo para desarrollar oralmente: Voz: 68 dB SPL; ruido: 60 dB SPL; SNR: +8 dB. Falta conocer material, tarea, oyente y reverberación.</a:t>
            </a:r>
          </a:p>
          <a:p xmlns:a="http://schemas.openxmlformats.org/drawingml/2006/main">
            <a:r>
              <a:t>- **Guía para el visual/diagrama:** Recorrido sugerido: Habla → Ruido → Resta → Resultado.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signo describe relación de niveles, no garantiza un porcentaje de inteligibilidad.</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Comparar escenas con igual SNR.</a:t>
            </a:r>
          </a:p>
          <a:p xmlns:a="http://schemas.openxmlformats.org/drawingml/2006/main">
            <a:r>
              <a:t>- **[Sources]:** TEX 7.10.1; PDF p. 191.</a:t>
            </a:r>
          </a:p>
          <a:p xmlns:a="http://schemas.openxmlformats.org/drawingml/2006/main">
            <a:r>
              <a:t/>
            </a:r>
          </a:p>
          <a:p xmlns:a="http://schemas.openxmlformats.org/drawingml/2006/main">
            <a:r>
              <a:t>[Alt text]</a:t>
            </a:r>
          </a:p>
          <a:p xmlns:a="http://schemas.openxmlformats.org/drawingml/2006/main">
            <a:r>
              <a:t>Cuatro pasos muestran nivel de habla, nivel de ruido, resta y resultado positivo con advertencia.</a:t>
            </a:r>
          </a:p>
          <a:p xmlns:a="http://schemas.openxmlformats.org/drawingml/2006/main">
            <a:r>
              <a:t/>
            </a:r>
          </a:p>
          <a:p xmlns:a="http://schemas.openxmlformats.org/drawingml/2006/main">
            <a:r>
              <a:t>[Sources]</a:t>
            </a:r>
          </a:p>
          <a:p xmlns:a="http://schemas.openxmlformats.org/drawingml/2006/main">
            <a:r>
              <a:t>- Fuentes de contenido: TEX 7.10.1; PDF p. 191.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prometer una curva universal SNR–inteligibilidad. El bloque trata la inteligibilidad como desempeño en una prueba y no como propiedad directa de una SNR o de un recinto. Idea que debe quedar al cerrar: Espectro del ruido, fluctuaciones, reverberación, voz y tarea cambian el desempeño.</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¿Qué criterio permite separar las dos columnas sin tratarlas como sinónimos?</a:t>
            </a:r>
          </a:p>
          <a:p xmlns:a="http://schemas.openxmlformats.org/drawingml/2006/main">
            <a:r>
              <a:t>- **Respuesta esperada:** Espectro del ruido, fluctuaciones, reverberación, voz y tarea cambian el desempeño.</a:t>
            </a:r>
          </a:p>
          <a:p xmlns:a="http://schemas.openxmlformats.org/drawingml/2006/main">
            <a:r>
              <a:t>- **Demostración o multimedia:** U07-MEDIA-005 continúa condicionado a voz autorizada. La slide debe funcionar con dos representaciones estáticas de igual SNR.</a:t>
            </a:r>
          </a:p>
          <a:p xmlns:a="http://schemas.openxmlformats.org/drawingml/2006/main">
            <a:r>
              <a:t>- **Error frecuente a vigilar:** Suponer que SNR, `T_60` o ALCons determinan por sí solos la inteligibilidad.</a:t>
            </a:r>
          </a:p>
          <a:p xmlns:a="http://schemas.openxmlformats.org/drawingml/2006/main">
            <a:r>
              <a:t>- **Transición oral:** Añadir persistencia temporal del recinto.</a:t>
            </a:r>
          </a:p>
          <a:p xmlns:a="http://schemas.openxmlformats.org/drawingml/2006/main">
            <a:r>
              <a:t>- **[Sources]:** TEX 7.10–7.10.1; PDF pp. 190–191; SA; EP.</a:t>
            </a:r>
          </a:p>
          <a:p xmlns:a="http://schemas.openxmlformats.org/drawingml/2006/main">
            <a:r>
              <a:t/>
            </a:r>
          </a:p>
          <a:p xmlns:a="http://schemas.openxmlformats.org/drawingml/2006/main">
            <a:r>
              <a:t>[Alt text]</a:t>
            </a:r>
          </a:p>
          <a:p xmlns:a="http://schemas.openxmlformats.org/drawingml/2006/main">
            <a:r>
              <a:t>Habla propia con ruido/reverberación controlados.</a:t>
            </a:r>
          </a:p>
          <a:p xmlns:a="http://schemas.openxmlformats.org/drawingml/2006/main">
            <a:r>
              <a:t/>
            </a:r>
          </a:p>
          <a:p xmlns:a="http://schemas.openxmlformats.org/drawingml/2006/main">
            <a:r>
              <a:t>[Sources]</a:t>
            </a:r>
          </a:p>
          <a:p xmlns:a="http://schemas.openxmlformats.org/drawingml/2006/main">
            <a:r>
              <a:t>- Fuentes de contenido: TEX 7.10–7.10.1; PDF pp. 190–191; SA;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Distinguir reflexión individual de campo reverberante. El bloque trata la inteligibilidad como desempeño en una prueba y no como propiedad directa de una SNR o de un recinto. Idea que debe quedar al cerrar: Energía tardía puede cubrir transiciones y reducir contraste temporal.</a:t>
            </a:r>
          </a:p>
          <a:p xmlns:a="http://schemas.openxmlformats.org/drawingml/2006/main">
            <a:r>
              <a:t>- **Guía para el visual/diagrama:** Recorrido sugerido: Sílaba 1 → Sílaba 2 → Sílaba 3.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Energía tardía puede cubrir transiciones y reducir contraste temporal.</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Definir el descriptor T60.</a:t>
            </a:r>
          </a:p>
          <a:p xmlns:a="http://schemas.openxmlformats.org/drawingml/2006/main">
            <a:r>
              <a:t>- **[Sources]:** TEX 7.10.2; PDF pp. 191–192; U9 bridge.</a:t>
            </a:r>
          </a:p>
          <a:p xmlns:a="http://schemas.openxmlformats.org/drawingml/2006/main">
            <a:r>
              <a:t/>
            </a:r>
          </a:p>
          <a:p xmlns:a="http://schemas.openxmlformats.org/drawingml/2006/main">
            <a:r>
              <a:t>[Alt text]</a:t>
            </a:r>
          </a:p>
          <a:p xmlns:a="http://schemas.openxmlformats.org/drawingml/2006/main">
            <a:r>
              <a:t>Tres cuadros temporales muestran sílabas sucesivas y colas crecientes; el esquema no codifica tiempos reales.</a:t>
            </a:r>
          </a:p>
          <a:p xmlns:a="http://schemas.openxmlformats.org/drawingml/2006/main">
            <a:r>
              <a:t/>
            </a:r>
          </a:p>
          <a:p xmlns:a="http://schemas.openxmlformats.org/drawingml/2006/main">
            <a:r>
              <a:t>[Sources]</a:t>
            </a:r>
          </a:p>
          <a:p xmlns:a="http://schemas.openxmlformats.org/drawingml/2006/main">
            <a:r>
              <a:t>- Fuentes de contenido: TEX 7.10.2; PDF pp. 191–192; U9 bridge.</a:t>
            </a:r>
          </a:p>
          <a:p xmlns:a="http://schemas.openxmlformats.org/drawingml/2006/main">
            <a:r>
              <a:t>- Asset propio aprobado: U07-DG-026.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introducir Sabine; derivación y diseño pertenecen a U9. El bloque trata la inteligibilidad como desempeño en una prueba y no como propiedad directa de una SNR o de un recinto. Idea que debe quedar al cerrar: Es una medida del decaimiento energético bajo un procedimiento, no “el tiempo hasta silencio”. Definición de trabajo: Tiempo de reverberación `T_60`: tiempo requerido para que un decaimiento sonoro recorra 60 dB bajo un método definido.</a:t>
            </a:r>
          </a:p>
          <a:p xmlns:a="http://schemas.openxmlformats.org/drawingml/2006/main">
            <a:r>
              <a:t>- **Guía para el visual/diagrama:** Recorrido sugerido: Decaimiento → Inicio → −60 dB → T₆₀.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Es una medida del decaimiento energético bajo un procedimiento, no “el tiempo hasta silencio”.</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Combinar ruido y reverberación.</a:t>
            </a:r>
          </a:p>
          <a:p xmlns:a="http://schemas.openxmlformats.org/drawingml/2006/main">
            <a:r>
              <a:t>- **[Sources]:** PO; TEX 7.10.2; PDF pp. 191–192; MAP; DM; NOT.</a:t>
            </a:r>
          </a:p>
          <a:p xmlns:a="http://schemas.openxmlformats.org/drawingml/2006/main">
            <a:r>
              <a:t/>
            </a:r>
          </a:p>
          <a:p xmlns:a="http://schemas.openxmlformats.org/drawingml/2006/main">
            <a:r>
              <a:t>[Alt text]</a:t>
            </a:r>
          </a:p>
          <a:p xmlns:a="http://schemas.openxmlformats.org/drawingml/2006/main">
            <a:r>
              <a:t>Recta descendente desde cero decibeles relativos en cero segundos hasta menos sesenta decibeles en uno coma dos segundos, con piso de ruido conceptual.</a:t>
            </a:r>
          </a:p>
          <a:p xmlns:a="http://schemas.openxmlformats.org/drawingml/2006/main">
            <a:r>
              <a:t/>
            </a:r>
          </a:p>
          <a:p xmlns:a="http://schemas.openxmlformats.org/drawingml/2006/main">
            <a:r>
              <a:t>[Sources]</a:t>
            </a:r>
          </a:p>
          <a:p xmlns:a="http://schemas.openxmlformats.org/drawingml/2006/main">
            <a:r>
              <a:t>- Fuentes de contenido: PO; TEX 7.10.2; PDF pp. 191–192; MAP; DM; NOT.</a:t>
            </a:r>
          </a:p>
          <a:p xmlns:a="http://schemas.openxmlformats.org/drawingml/2006/main">
            <a:r>
              <a:t>- Asset propio aprobado: U07-CH-009.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sumar sus efectos como una aritmética universal. El bloque trata la inteligibilidad como desempeño en una prueba y no como propiedad directa de una SNR o de un recinto. Idea que debe quedar al cerrar: El ruido compite con la señal; la reverberación redistribuye energía en el tiempo y puede agravar esa competencia.</a:t>
            </a:r>
          </a:p>
          <a:p xmlns:a="http://schemas.openxmlformats.org/drawingml/2006/main">
            <a:r>
              <a:t>- **Guía para el visual/diagrama:** Recorrido sugerido: Reconocimiento de habla → Ruido → Reverberación → Interacción.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ruido compite con la señal; la reverberación redistribuye energía en el tiempo y puede agravar esa competencia.</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Presentar un índice simplificado del capítulo.</a:t>
            </a:r>
          </a:p>
          <a:p xmlns:a="http://schemas.openxmlformats.org/drawingml/2006/main">
            <a:r>
              <a:t>- **[Sources]:** TEX 7.10.1–7.10.2; PDF pp. 191–192.</a:t>
            </a:r>
          </a:p>
          <a:p xmlns:a="http://schemas.openxmlformats.org/drawingml/2006/main">
            <a:r>
              <a:t/>
            </a:r>
          </a:p>
          <a:p xmlns:a="http://schemas.openxmlformats.org/drawingml/2006/main">
            <a:r>
              <a:t>[Alt text]</a:t>
            </a:r>
          </a:p>
          <a:p xmlns:a="http://schemas.openxmlformats.org/drawingml/2006/main">
            <a:r>
              <a:t>Ruido, reverberación e interacción convergen en un resultado de reconocimiento de habla.</a:t>
            </a:r>
          </a:p>
          <a:p xmlns:a="http://schemas.openxmlformats.org/drawingml/2006/main">
            <a:r>
              <a:t/>
            </a:r>
          </a:p>
          <a:p xmlns:a="http://schemas.openxmlformats.org/drawingml/2006/main">
            <a:r>
              <a:t>[Sources]</a:t>
            </a:r>
          </a:p>
          <a:p xmlns:a="http://schemas.openxmlformats.org/drawingml/2006/main">
            <a:r>
              <a:t>- Fuentes de contenido: TEX 7.10.1–7.10.2; PDF pp. 191–192.</a:t>
            </a:r>
          </a:p>
          <a:p xmlns:a="http://schemas.openxmlformats.org/drawingml/2006/main">
            <a:r>
              <a:t>- Asset propio aprobado: U07-DG-026B.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Diferenciar porcentaje observado de modelos acústicos predictivos no desarrollados aquí. El bloque trata la inteligibilidad como desempeño en una prueba y no como propiedad directa de una SNR o de un recinto. Idea que debe quedar al cerrar: `ALCons=100(1-n_c/n_p)%` usa conteos de consonantes presentadas y correctas; no predice por sí solo otra sala o población. Escribir y leer la relación por términos: `ALCons = 100 · (1 − n_c/n_p) %`; ejemplo: `100 · (1 − 68/80) % = 15 %`. Comprobar unidades antes de interpretar. Ejemplo para desarrollar oralmente: 80 consonantes presentadas, 68 correctas: 12 errores sobre 80, equivalentes a 15 %.</a:t>
            </a:r>
          </a:p>
          <a:p xmlns:a="http://schemas.openxmlformats.org/drawingml/2006/main">
            <a:r>
              <a:t>- **Guía para el visual/diagrama:** Recorrido sugerido: ALCons = 100 · (1 − n_c / n_p) % → n_p → n_c → 100 × → Límite.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`ALCons=100(1-n_c/n_p)%` usa conteos de consonantes presentadas y correctas; no predice por sí solo otra sala o población.</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Interpretar antes de cerrar.</a:t>
            </a:r>
          </a:p>
          <a:p xmlns:a="http://schemas.openxmlformats.org/drawingml/2006/main">
            <a:r>
              <a:t>- **[Sources]:** TEX ec. 7.6 y ejemplo 7.1; PDF pp. 191–192; NOT; SA.</a:t>
            </a:r>
          </a:p>
          <a:p xmlns:a="http://schemas.openxmlformats.org/drawingml/2006/main">
            <a:r>
              <a:t/>
            </a:r>
          </a:p>
          <a:p xmlns:a="http://schemas.openxmlformats.org/drawingml/2006/main">
            <a:r>
              <a:t>[Alt text]</a:t>
            </a:r>
          </a:p>
          <a:p xmlns:a="http://schemas.openxmlformats.org/drawingml/2006/main">
            <a:r>
              <a:t>Ecuación central ALCons igual cien por uno menos correctas sobre presentadas, con cuatro llamadas externas.</a:t>
            </a:r>
          </a:p>
          <a:p xmlns:a="http://schemas.openxmlformats.org/drawingml/2006/main">
            <a:r>
              <a:t/>
            </a:r>
          </a:p>
          <a:p xmlns:a="http://schemas.openxmlformats.org/drawingml/2006/main">
            <a:r>
              <a:t>[Sources]</a:t>
            </a:r>
          </a:p>
          <a:p xmlns:a="http://schemas.openxmlformats.org/drawingml/2006/main">
            <a:r>
              <a:t>- Fuentes de contenido: TEX ec. 7.6 y ejemplo 7.1; PDF pp. 191–192; NOT;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marco con una respuesta supraliminal; no repetir fórmulas. El bloque trata la inteligibilidad como desempeño en una prueba y no como propiedad directa de una SNR o de un recinto. Idea que debe quedar al cerrar: SNR y `T_60` aportan información, pero no sustituyen la medición de inteligibilidad.</a:t>
            </a:r>
          </a:p>
          <a:p xmlns:a="http://schemas.openxmlformats.org/drawingml/2006/main">
            <a:r>
              <a:t>- **Guía para el visual/diagrama:** Recorrido sugerido: Señal → Ambiente → Tarea y oyente → Resultado.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SNR y `T_60` aportan información, pero no sustituyen la medición de inteligibilidad.</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Aislar ahora una reflexión temprana.</a:t>
            </a:r>
          </a:p>
          <a:p xmlns:a="http://schemas.openxmlformats.org/drawingml/2006/main">
            <a:r>
              <a:t>- **[Sources]:** TEX 7.10; BR; EP.</a:t>
            </a:r>
          </a:p>
          <a:p xmlns:a="http://schemas.openxmlformats.org/drawingml/2006/main">
            <a:r>
              <a:t/>
            </a:r>
          </a:p>
          <a:p xmlns:a="http://schemas.openxmlformats.org/drawingml/2006/main">
            <a:r>
              <a:t>[Alt text]</a:t>
            </a:r>
          </a:p>
          <a:p xmlns:a="http://schemas.openxmlformats.org/drawingml/2006/main">
            <a:r>
              <a:t>Cuatro etapas conectan señal, ambiente, tarea y oyente, y resultado observado.</a:t>
            </a:r>
          </a:p>
          <a:p xmlns:a="http://schemas.openxmlformats.org/drawingml/2006/main">
            <a:r>
              <a:t/>
            </a:r>
          </a:p>
          <a:p xmlns:a="http://schemas.openxmlformats.org/drawingml/2006/main">
            <a:r>
              <a:t>[Sources]</a:t>
            </a:r>
          </a:p>
          <a:p xmlns:a="http://schemas.openxmlformats.org/drawingml/2006/main">
            <a:r>
              <a:t>- Fuentes de contenido: TEX 7.10; BR; EP.</a:t>
            </a:r>
          </a:p>
          <a:p xmlns:a="http://schemas.openxmlformats.org/drawingml/2006/main">
            <a:r>
              <a:t>- Asset propio aprobado: U07-DG-028B.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Diferenciar eco, reverberación y fusión perceptual. El bloque separa geometría, retardo calculable y respuesta perceptual ante dos llegadas. Idea que debe quedar al cerrar: El sistema puede fusionar llegadas y priorizar información temprana.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¿Cuándo dos llegadas se oyen como una sola fuente?</a:t>
            </a:r>
          </a:p>
          <a:p xmlns:a="http://schemas.openxmlformats.org/drawingml/2006/main">
            <a:r>
              <a:t>- **Respuesta esperada:** El sistema puede fusionar llegadas y priorizar información temprana.</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Dibujar los recorridos.</a:t>
            </a:r>
          </a:p>
          <a:p xmlns:a="http://schemas.openxmlformats.org/drawingml/2006/main">
            <a:r>
              <a:t>- **[Sources]:** PO; TEX 7.11; PDF p. 192.</a:t>
            </a:r>
          </a:p>
          <a:p xmlns:a="http://schemas.openxmlformats.org/drawingml/2006/main">
            <a:r>
              <a:t/>
            </a:r>
          </a:p>
          <a:p xmlns:a="http://schemas.openxmlformats.org/drawingml/2006/main">
            <a:r>
              <a:t>[Alt text]</a:t>
            </a:r>
          </a:p>
          <a:p xmlns:a="http://schemas.openxmlformats.org/drawingml/2006/main">
            <a:r>
              <a:t>Fuente, camino directo y reflexión. La idea central es: El sistema puede fusionar llegadas y priorizar información temprana.</a:t>
            </a:r>
          </a:p>
          <a:p xmlns:a="http://schemas.openxmlformats.org/drawingml/2006/main">
            <a:r>
              <a:t/>
            </a:r>
          </a:p>
          <a:p xmlns:a="http://schemas.openxmlformats.org/drawingml/2006/main">
            <a:r>
              <a:t>[Sources]</a:t>
            </a:r>
          </a:p>
          <a:p xmlns:a="http://schemas.openxmlformats.org/drawingml/2006/main">
            <a:r>
              <a:t>- Fuentes de contenido: PO; TEX 7.11; PDF p. 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Reservar corredores para flechas y no mezclar aún percepción. El bloque separa geometría, retardo calculable y respuesta perceptual ante dos llegadas. Idea que debe quedar al cerrar: La diferencia de caminos produce un retardo de llegada.</a:t>
            </a:r>
          </a:p>
          <a:p xmlns:a="http://schemas.openxmlformats.org/drawingml/2006/main">
            <a:r>
              <a:t>- **Guía para el visual/diagrama:** Recorrido sugerido: Fuente → Superficie → Oyente → Camino directo → Camino reflejado.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La diferencia de caminos produce un retardo de llegada.</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Pasar de geometría a tiempo.</a:t>
            </a:r>
          </a:p>
          <a:p xmlns:a="http://schemas.openxmlformats.org/drawingml/2006/main">
            <a:r>
              <a:t>- **[Sources]:** TEX 7.11; PDF p. 192; U3/U4.</a:t>
            </a:r>
          </a:p>
          <a:p xmlns:a="http://schemas.openxmlformats.org/drawingml/2006/main">
            <a:r>
              <a:t/>
            </a:r>
          </a:p>
          <a:p xmlns:a="http://schemas.openxmlformats.org/drawingml/2006/main">
            <a:r>
              <a:t>[Alt text]</a:t>
            </a:r>
          </a:p>
          <a:p xmlns:a="http://schemas.openxmlformats.org/drawingml/2006/main">
            <a:r>
              <a:t>Fuente, superficie y oyente con dos recorridos visualmente distintos y rótulos r sub d y r sub r.</a:t>
            </a:r>
          </a:p>
          <a:p xmlns:a="http://schemas.openxmlformats.org/drawingml/2006/main">
            <a:r>
              <a:t/>
            </a:r>
          </a:p>
          <a:p xmlns:a="http://schemas.openxmlformats.org/drawingml/2006/main">
            <a:r>
              <a:t>[Sources]</a:t>
            </a:r>
          </a:p>
          <a:p xmlns:a="http://schemas.openxmlformats.org/drawingml/2006/main">
            <a:r>
              <a:t>- Fuentes de contenido: TEX 7.11; PDF p. 192; U3/U4.</a:t>
            </a:r>
          </a:p>
          <a:p xmlns:a="http://schemas.openxmlformats.org/drawingml/2006/main">
            <a:r>
              <a:t>- Asset propio aprobado: U07-DG-029.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Control dimensional segundos = metros/(metros/segundo). El bloque separa geometría, retardo calculable y respuesta perceptual ante dos llegadas. Idea que debe quedar al cerrar: El retardo depende de la diferencia de caminos, no de la distancia reflejada aislada. Escribir y leer la relación por términos: `Δt = (r_r − r_d)/c = Δr/c`; `Δr` en m, `c` en m·s⁻¹ y `Δt` en s. Comprobar unidades antes de interpretar.</a:t>
            </a:r>
          </a:p>
          <a:p xmlns:a="http://schemas.openxmlformats.org/drawingml/2006/main">
            <a:r>
              <a:t>- **Guía para el visual/diagrama:** Recorrido sugerido: Δt = (r_r − r_d) / c → r_r − r_d → c → Δt.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retardo depende de la diferencia de caminos, no de la distancia reflejada aislada.</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Calcular un caso.</a:t>
            </a:r>
          </a:p>
          <a:p xmlns:a="http://schemas.openxmlformats.org/drawingml/2006/main">
            <a:r>
              <a:t>- **[Sources]:** TEX 7.11; PDF p. 192; NOT.</a:t>
            </a:r>
          </a:p>
          <a:p xmlns:a="http://schemas.openxmlformats.org/drawingml/2006/main">
            <a:r>
              <a:t/>
            </a:r>
          </a:p>
          <a:p xmlns:a="http://schemas.openxmlformats.org/drawingml/2006/main">
            <a:r>
              <a:t>[Alt text]</a:t>
            </a:r>
          </a:p>
          <a:p xmlns:a="http://schemas.openxmlformats.org/drawingml/2006/main">
            <a:r>
              <a:t>Ecuación central delta t igual diferencia de recorridos dividida por rapidez, con tres llamadas externas.</a:t>
            </a:r>
          </a:p>
          <a:p xmlns:a="http://schemas.openxmlformats.org/drawingml/2006/main">
            <a:r>
              <a:t/>
            </a:r>
          </a:p>
          <a:p xmlns:a="http://schemas.openxmlformats.org/drawingml/2006/main">
            <a:r>
              <a:t>[Sources]</a:t>
            </a:r>
          </a:p>
          <a:p xmlns:a="http://schemas.openxmlformats.org/drawingml/2006/main">
            <a:r>
              <a:t>- Fuentes de contenido: TEX 7.11; PDF p. 192;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No convertir 20 ms en frontera universal. El bloque separa geometría, retardo calculable y respuesta perceptual ante dos llegadas. Idea que debe quedar al cerrar: Un retardo calculado describe llegadas físicas; el percepto requiere además nivel y señal. Escribir y leer la relación por términos: `Δt = 6,8 m / 343 m·s⁻¹ = 0,0198 s ≈ 19,8 ms`. Comprobar unidades antes de interpretar. Ejemplo para desarrollar oralmente: Una diferencia de 6,8 m produce aproximadamente 19,8 ms; ese número no decide por sí solo si habrá eco.</a:t>
            </a:r>
          </a:p>
          <a:p xmlns:a="http://schemas.openxmlformats.org/drawingml/2006/main">
            <a:r>
              <a:t>- **Guía para el visual/diagrama:** Recorrido sugerido: Diferencia → Dividir → Convertir → Interpretar.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Un retardo calculado describe llegadas físicas; el percepto requiere además nivel y señal.</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Permitir una demostración segura.</a:t>
            </a:r>
          </a:p>
          <a:p xmlns:a="http://schemas.openxmlformats.org/drawingml/2006/main">
            <a:r>
              <a:t>- **[Sources]:** TEX 7.11; PDF p. 192; EP.</a:t>
            </a:r>
          </a:p>
          <a:p xmlns:a="http://schemas.openxmlformats.org/drawingml/2006/main">
            <a:r>
              <a:t/>
            </a:r>
          </a:p>
          <a:p xmlns:a="http://schemas.openxmlformats.org/drawingml/2006/main">
            <a:r>
              <a:t>[Alt text]</a:t>
            </a:r>
          </a:p>
          <a:p xmlns:a="http://schemas.openxmlformats.org/drawingml/2006/main">
            <a:r>
              <a:t>Cuatro pasos convierten seis coma ocho metros en diecinueve coma ocho milisegundos y advierten que no es un límite universal.</a:t>
            </a:r>
          </a:p>
          <a:p xmlns:a="http://schemas.openxmlformats.org/drawingml/2006/main">
            <a:r>
              <a:t/>
            </a:r>
          </a:p>
          <a:p xmlns:a="http://schemas.openxmlformats.org/drawingml/2006/main">
            <a:r>
              <a:t>[Sources]</a:t>
            </a:r>
          </a:p>
          <a:p xmlns:a="http://schemas.openxmlformats.org/drawingml/2006/main">
            <a:r>
              <a:t>- Fuentes de contenido: TEX 7.11; PDF p. 192;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4–5 min.</a:t>
            </a:r>
          </a:p>
          <a:p xmlns:a="http://schemas.openxmlformats.org/drawingml/2006/main">
            <a:r>
              <a:t>- **Explicación extendida:** Mantener nivel confortable, sin umbrales; ofrecer alternativa sin auriculares. El bloque separa geometría, retardo calculable y respuesta perceptual ante dos llegadas. Idea que debe quedar al cerrar: El resultado cambia con retardo, nivel relativo, contenido y oyente.</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Antes de observar o escuchar: ¿qué espera que cambie y qué debería permanecer controlado?</a:t>
            </a:r>
          </a:p>
          <a:p xmlns:a="http://schemas.openxmlformats.org/drawingml/2006/main">
            <a:r>
              <a:t>- **Respuesta esperada:** El resultado cambia con retardo, nivel relativo, contenido y oyente.</a:t>
            </a:r>
          </a:p>
          <a:p xmlns:a="http://schemas.openxmlformats.org/drawingml/2006/main">
            <a:r>
              <a:t>- **Demostración o multimedia:** Reproducir U07-MEDIA-006 a nivel confortable: directo más copia a −6 dB con retardos visibles. No pedir umbrales; ofrecer alternativa temporal estática.</a:t>
            </a:r>
          </a:p>
          <a:p xmlns:a="http://schemas.openxmlformats.org/drawingml/2006/main">
            <a:r>
              <a:t>- **Error frecuente a vigilar:** Usar 20 ms como frontera universal entre fusión y eco o como definición completa de Haas.</a:t>
            </a:r>
          </a:p>
          <a:p xmlns:a="http://schemas.openxmlformats.org/drawingml/2006/main">
            <a:r>
              <a:t>- **Transición oral:** Sistematizar los factores.</a:t>
            </a:r>
          </a:p>
          <a:p xmlns:a="http://schemas.openxmlformats.org/drawingml/2006/main">
            <a:r>
              <a:t>- **[Sources]:** TEX 7.11; PDF p. 192; EP; OD-U07-06.</a:t>
            </a:r>
          </a:p>
          <a:p xmlns:a="http://schemas.openxmlformats.org/drawingml/2006/main">
            <a:r>
              <a:t/>
            </a:r>
          </a:p>
          <a:p xmlns:a="http://schemas.openxmlformats.org/drawingml/2006/main">
            <a:r>
              <a:t>[Alt text]</a:t>
            </a:r>
          </a:p>
          <a:p xmlns:a="http://schemas.openxmlformats.org/drawingml/2006/main">
            <a:r>
              <a:t>Ráfaga o sílaba con retardos y nivel relativo controlados.</a:t>
            </a:r>
          </a:p>
          <a:p xmlns:a="http://schemas.openxmlformats.org/drawingml/2006/main">
            <a:r>
              <a:t/>
            </a:r>
          </a:p>
          <a:p xmlns:a="http://schemas.openxmlformats.org/drawingml/2006/main">
            <a:r>
              <a:t>[Sources]</a:t>
            </a:r>
          </a:p>
          <a:p xmlns:a="http://schemas.openxmlformats.org/drawingml/2006/main">
            <a:r>
              <a:t>- Fuentes de contenido: TEX 7.11; PDF p. 192; EP; OD-U07-06.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ofrecer números universales sin protocolo. El bloque separa geometría, retardo calculable y respuesta perceptual ante dos llegadas. Idea que debe quedar al cerrar: Retardo, relación de niveles, semejanza espectral y contexto modifican la respuesta.</a:t>
            </a:r>
          </a:p>
          <a:p xmlns:a="http://schemas.openxmlformats.org/drawingml/2006/main">
            <a:r>
              <a:t>- **Guía para el visual/diagrama:** Recorrido sugerido: Respuesta perceptual → Retardo → Nivel relativo → Semejanza → Contexto y tarea.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Retardo, relación de niveles, semejanza espectral y contexto modifican la respuesta.</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Definir efecto de precedencia.</a:t>
            </a:r>
          </a:p>
          <a:p xmlns:a="http://schemas.openxmlformats.org/drawingml/2006/main">
            <a:r>
              <a:t>- **[Sources]:** TEX 7.11; PDF p. 192; REF `litovsky1999`; SA.</a:t>
            </a:r>
          </a:p>
          <a:p xmlns:a="http://schemas.openxmlformats.org/drawingml/2006/main">
            <a:r>
              <a:t/>
            </a:r>
          </a:p>
          <a:p xmlns:a="http://schemas.openxmlformats.org/drawingml/2006/main">
            <a:r>
              <a:t>[Alt text]</a:t>
            </a:r>
          </a:p>
          <a:p xmlns:a="http://schemas.openxmlformats.org/drawingml/2006/main">
            <a:r>
              <a:t>Retardo, nivel relativo, semejanza y contexto convergen en una respuesta perceptual.</a:t>
            </a:r>
          </a:p>
          <a:p xmlns:a="http://schemas.openxmlformats.org/drawingml/2006/main">
            <a:r>
              <a:t/>
            </a:r>
          </a:p>
          <a:p xmlns:a="http://schemas.openxmlformats.org/drawingml/2006/main">
            <a:r>
              <a:t>[Sources]</a:t>
            </a:r>
          </a:p>
          <a:p xmlns:a="http://schemas.openxmlformats.org/drawingml/2006/main">
            <a:r>
              <a:t>- Fuentes de contenido: TEX 7.11; PDF p. 192; REF litovsky1999; SA.</a:t>
            </a:r>
          </a:p>
          <a:p xmlns:a="http://schemas.openxmlformats.org/drawingml/2006/main">
            <a:r>
              <a:t>- Asset propio aprobado: U07-DG-031.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Separar fusión, dominancia de localización y discriminación de retardo. El bloque separa geometría, retardo calculable y respuesta perceptual ante dos llegadas. Idea que debe quedar al cerrar: Dos llegadas pueden fusionarse mientras la primera domina la localización. Definición de trabajo: Efecto de precedencia: familia de fenómenos de fusión y localización ante llegadas próximas, con predominio de información temprana.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Dos llegadas pueden fusionarse mientras la primera domina la localización.</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Mostrar la familia de observaciones.</a:t>
            </a:r>
          </a:p>
          <a:p xmlns:a="http://schemas.openxmlformats.org/drawingml/2006/main">
            <a:r>
              <a:t>- **[Sources]:** PO; TEX 7.11; PDF p. 192; REF `litovsky1999`; GLO.</a:t>
            </a:r>
          </a:p>
          <a:p xmlns:a="http://schemas.openxmlformats.org/drawingml/2006/main">
            <a:r>
              <a:t/>
            </a:r>
          </a:p>
          <a:p xmlns:a="http://schemas.openxmlformats.org/drawingml/2006/main">
            <a:r>
              <a:t>[Alt text]</a:t>
            </a:r>
          </a:p>
          <a:p xmlns:a="http://schemas.openxmlformats.org/drawingml/2006/main">
            <a:r>
              <a:t>Dos altavoces y percepto único desplazado hacia el líder. La idea central es: Dos llegadas pueden fusionarse mientras la primera domina la localización.</a:t>
            </a:r>
          </a:p>
          <a:p xmlns:a="http://schemas.openxmlformats.org/drawingml/2006/main">
            <a:r>
              <a:t/>
            </a:r>
          </a:p>
          <a:p xmlns:a="http://schemas.openxmlformats.org/drawingml/2006/main">
            <a:r>
              <a:t>[Sources]</a:t>
            </a:r>
          </a:p>
          <a:p xmlns:a="http://schemas.openxmlformats.org/drawingml/2006/main">
            <a:r>
              <a:t>- Fuentes de contenido: PO; TEX 7.11; PDF p. 192; REF litovsky1999;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Si las etiquetas no caben a 22 pt, dividir en dos slides en producción. El bloque separa geometría, retardo calculable y respuesta perceptual ante dos llegadas. Idea que debe quedar al cerrar: Fusión, dominancia y supresión de la información tardía se miden con tareas distintas.</a:t>
            </a:r>
          </a:p>
          <a:p xmlns:a="http://schemas.openxmlformats.org/drawingml/2006/main">
            <a:r>
              <a:t>- **Guía para el visual/diagrama:** Recorrido sugerido: Dos llegadas físicas → Fusión → Localización → Discriminación.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Fusión, dominancia y supresión de la información tardía se miden con tareas distintas.</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Desactivar la simplificación “Haas=20 ms”.</a:t>
            </a:r>
          </a:p>
          <a:p xmlns:a="http://schemas.openxmlformats.org/drawingml/2006/main">
            <a:r>
              <a:t>- **[Sources]:** REF `litovsky1999`; TEX 7.11; SA.</a:t>
            </a:r>
          </a:p>
          <a:p xmlns:a="http://schemas.openxmlformats.org/drawingml/2006/main">
            <a:r>
              <a:t/>
            </a:r>
          </a:p>
          <a:p xmlns:a="http://schemas.openxmlformats.org/drawingml/2006/main">
            <a:r>
              <a:t>[Alt text]</a:t>
            </a:r>
          </a:p>
          <a:p xmlns:a="http://schemas.openxmlformats.org/drawingml/2006/main">
            <a:r>
              <a:t>Dos llegadas físicas se bifurcan hacia tareas de fusión, localización y discriminación.</a:t>
            </a:r>
          </a:p>
          <a:p xmlns:a="http://schemas.openxmlformats.org/drawingml/2006/main">
            <a:r>
              <a:t/>
            </a:r>
          </a:p>
          <a:p xmlns:a="http://schemas.openxmlformats.org/drawingml/2006/main">
            <a:r>
              <a:t>[Sources]</a:t>
            </a:r>
          </a:p>
          <a:p xmlns:a="http://schemas.openxmlformats.org/drawingml/2006/main">
            <a:r>
              <a:t>- Fuentes de contenido: REF litovsky1999; TEX 7.11; SA.</a:t>
            </a:r>
          </a:p>
          <a:p xmlns:a="http://schemas.openxmlformats.org/drawingml/2006/main">
            <a:r>
              <a:t>- Asset propio aprobado: U07-DG-032.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Mantener el ejemplo del libro como escala, no como ley general. El bloque separa geometría, retardo calculable y respuesta perceptual ante dos llegadas. Idea que debe quedar al cerrar: El valor depende del estímulo, niveles y criterio; “Haas” es un caso histórico dentro del marco de precedencia.</a:t>
            </a:r>
          </a:p>
          <a:p xmlns:a="http://schemas.openxmlformats.org/drawingml/2006/main">
            <a:r>
              <a:t>- **Guía para el visual/diagrama:** Recorrido sugerido: Simplificación incorrecta → Formulación condicionada. Nombrar primero los elementos, explicar luego las relaciones y cerrar con el límite indicado en el caption. No leer las cajas como un párrafo.</a:t>
            </a:r>
          </a:p>
          <a:p xmlns:a="http://schemas.openxmlformats.org/drawingml/2006/main">
            <a:r>
              <a:t>- **Pregunta al curso:** ¿Qué criterio permite separar las dos columnas sin tratarlas como sinónimos?</a:t>
            </a:r>
          </a:p>
          <a:p xmlns:a="http://schemas.openxmlformats.org/drawingml/2006/main">
            <a:r>
              <a:t>- **Respuesta esperada:** El valor depende del estímulo, niveles y criterio; “Haas” es un caso histórico dentro del marco de precedencia.</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Cerrar con una decisión aplicada.</a:t>
            </a:r>
          </a:p>
          <a:p xmlns:a="http://schemas.openxmlformats.org/drawingml/2006/main">
            <a:r>
              <a:t>- **[Sources]:** TEX 7.11; PDF p. 192; REF `litovsky1999`; SA.</a:t>
            </a:r>
          </a:p>
          <a:p xmlns:a="http://schemas.openxmlformats.org/drawingml/2006/main">
            <a:r>
              <a:t/>
            </a:r>
          </a:p>
          <a:p xmlns:a="http://schemas.openxmlformats.org/drawingml/2006/main">
            <a:r>
              <a:t>[Alt text]</a:t>
            </a:r>
          </a:p>
          <a:p xmlns:a="http://schemas.openxmlformats.org/drawingml/2006/main">
            <a:r>
              <a:t>Dos paneles contrastan una igualdad universal incorrecta con un caso histórico condicionado.</a:t>
            </a:r>
          </a:p>
          <a:p xmlns:a="http://schemas.openxmlformats.org/drawingml/2006/main">
            <a:r>
              <a:t/>
            </a:r>
          </a:p>
          <a:p xmlns:a="http://schemas.openxmlformats.org/drawingml/2006/main">
            <a:r>
              <a:t>[Sources]</a:t>
            </a:r>
          </a:p>
          <a:p xmlns:a="http://schemas.openxmlformats.org/drawingml/2006/main">
            <a:r>
              <a:t>- Fuentes de contenido: TEX 7.11; PDF p. 192; REF litovsky1999; SA.</a:t>
            </a:r>
          </a:p>
          <a:p xmlns:a="http://schemas.openxmlformats.org/drawingml/2006/main">
            <a:r>
              <a:t>- Asset propio aprobado: U07-DG-033.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la cadena causal con una decisión, no las definiciones. El bloque separa geometría, retardo calculable y respuesta perceptual ante dos llegadas. Idea que debe quedar al cerrar: La ecuación calcula `Δt`; la tarea decide si se observa fusión, localización o eco.</a:t>
            </a:r>
          </a:p>
          <a:p xmlns:a="http://schemas.openxmlformats.org/drawingml/2006/main">
            <a:r>
              <a:t>- **Guía para el visual/diagrama:** Recorrido sugerido: Geometría → Retardo → Caso → Respuesta.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La ecuación calcula `Δt`; la tarea decide si se observa fusión, localización o eco.</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Pasar de una reflexión a localización espacial.</a:t>
            </a:r>
          </a:p>
          <a:p xmlns:a="http://schemas.openxmlformats.org/drawingml/2006/main">
            <a:r>
              <a:t>- **[Sources]:** TEX 7.11; BR; EP.</a:t>
            </a:r>
          </a:p>
          <a:p xmlns:a="http://schemas.openxmlformats.org/drawingml/2006/main">
            <a:r>
              <a:t/>
            </a:r>
          </a:p>
          <a:p xmlns:a="http://schemas.openxmlformats.org/drawingml/2006/main">
            <a:r>
              <a:t>[Alt text]</a:t>
            </a:r>
          </a:p>
          <a:p xmlns:a="http://schemas.openxmlformats.org/drawingml/2006/main">
            <a:r>
              <a:t>Cuatro etapas conectan geometría, retardo, condiciones del caso y respuesta perceptual.</a:t>
            </a:r>
          </a:p>
          <a:p xmlns:a="http://schemas.openxmlformats.org/drawingml/2006/main">
            <a:r>
              <a:t/>
            </a:r>
          </a:p>
          <a:p xmlns:a="http://schemas.openxmlformats.org/drawingml/2006/main">
            <a:r>
              <a:t>[Sources]</a:t>
            </a:r>
          </a:p>
          <a:p xmlns:a="http://schemas.openxmlformats.org/drawingml/2006/main">
            <a:r>
              <a:t>- Fuentes de contenido: TEX 7.11; BR; EP.</a:t>
            </a:r>
          </a:p>
          <a:p xmlns:a="http://schemas.openxmlformats.org/drawingml/2006/main">
            <a:r>
              <a:t>- Asset propio aprobado: U07-DG-033B.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Anunciar que ninguna pista funciona sola en todas las direcciones. El bloque integra pistas binaurales, espectrales y dinámicas sin asignar a una sola pista toda la localización. Idea que debe quedar al cerrar: La localización combina pistas binaurales, espectrales y dinámicas.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información permite ubicar una fuente?</a:t>
            </a:r>
          </a:p>
          <a:p xmlns:a="http://schemas.openxmlformats.org/drawingml/2006/main">
            <a:r>
              <a:t>- **Respuesta esperada:** La localización combina pistas binaurales, espectrales y dinámicas.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pistas binaurales.</a:t>
            </a:r>
          </a:p>
          <a:p xmlns:a="http://schemas.openxmlformats.org/drawingml/2006/main">
            <a:r>
              <a:t>- **[Sources]:** PO; TEX 7.12; PDF pp. 192–193.</a:t>
            </a:r>
          </a:p>
          <a:p xmlns:a="http://schemas.openxmlformats.org/drawingml/2006/main">
            <a:r>
              <a:t/>
            </a:r>
          </a:p>
          <a:p xmlns:a="http://schemas.openxmlformats.org/drawingml/2006/main">
            <a:r>
              <a:t>[Alt text]</a:t>
            </a:r>
          </a:p>
          <a:p xmlns:a="http://schemas.openxmlformats.org/drawingml/2006/main">
            <a:r>
              <a:t>Cabeza, dos oídos y fuente fuera del eje medio. La idea central es: La localización combina pistas binaurales, espectrales y dinámicas.</a:t>
            </a:r>
          </a:p>
          <a:p xmlns:a="http://schemas.openxmlformats.org/drawingml/2006/main">
            <a:r>
              <a:t/>
            </a:r>
          </a:p>
          <a:p xmlns:a="http://schemas.openxmlformats.org/drawingml/2006/main">
            <a:r>
              <a:t>[Sources]</a:t>
            </a:r>
          </a:p>
          <a:p xmlns:a="http://schemas.openxmlformats.org/drawingml/2006/main">
            <a:r>
              <a:t>- Fuentes de contenido: PO; TEX 7.12; PDF pp. 192–193.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presentar un oído como “apagado” por sombra acústica. El bloque integra pistas binaurales, espectrales y dinámicas sin asignar a una sola pista toda la localización. Idea que debe quedar al cerrar: Diferencias interaurales emergen por geometría y difracción de cabeza y torso. Definición de trabajo: Audición binaural: uso de la información obtenida al comparar las señales disponibles en ambos oídos.</a:t>
            </a:r>
          </a:p>
          <a:p xmlns:a="http://schemas.openxmlformats.org/drawingml/2006/main">
            <a:r>
              <a:t>- **Guía para el visual/diagrama:** Recorrido sugerido: Fuente lateral → Oído L → Oído R → ITD → ILD.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Diferencias interaurales emergen por geometría y difracción de cabeza y torso.</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Separar tiempo y nivel.</a:t>
            </a:r>
          </a:p>
          <a:p xmlns:a="http://schemas.openxmlformats.org/drawingml/2006/main">
            <a:r>
              <a:t>- **[Sources]:** PO; TEX 7.12; PDF pp. 192–193; PREV U06.</a:t>
            </a:r>
          </a:p>
          <a:p xmlns:a="http://schemas.openxmlformats.org/drawingml/2006/main">
            <a:r>
              <a:t/>
            </a:r>
          </a:p>
          <a:p xmlns:a="http://schemas.openxmlformats.org/drawingml/2006/main">
            <a:r>
              <a:t>[Alt text]</a:t>
            </a:r>
          </a:p>
          <a:p xmlns:a="http://schemas.openxmlformats.org/drawingml/2006/main">
            <a:r>
              <a:t>Fuente lateral y dos oídos unidos por recorridos distintos, con rótulos externos ITD e ILD.</a:t>
            </a:r>
          </a:p>
          <a:p xmlns:a="http://schemas.openxmlformats.org/drawingml/2006/main">
            <a:r>
              <a:t/>
            </a:r>
          </a:p>
          <a:p xmlns:a="http://schemas.openxmlformats.org/drawingml/2006/main">
            <a:r>
              <a:t>[Sources]</a:t>
            </a:r>
          </a:p>
          <a:p xmlns:a="http://schemas.openxmlformats.org/drawingml/2006/main">
            <a:r>
              <a:t>- Fuentes de contenido: PO; TEX 7.12; PDF pp. 192–193; PREV U06.</a:t>
            </a:r>
          </a:p>
          <a:p xmlns:a="http://schemas.openxmlformats.org/drawingml/2006/main">
            <a:r>
              <a:t>- Asset propio aprobado: U07-DG-034.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confundir ITD con retardo de una reflexión. El bloque integra pistas binaurales, espectrales y dinámicas sin asignar a una sola pista toda la localización. Idea que debe quedar al cerrar: La geometría produce un pequeño desfase temporal cuya interpretación depende de frecuencia y señal. Definición de trabajo: ITD: diferencia interaural de tiempo entre estructuras correspondientes de las señales de ambos oídos.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La geometría produce un pequeño desfase temporal cuya interpretación depende de frecuencia y señal.</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Definir diferencia de nivel.</a:t>
            </a:r>
          </a:p>
          <a:p xmlns:a="http://schemas.openxmlformats.org/drawingml/2006/main">
            <a:r>
              <a:t>- **[Sources]:** PO; TEX 7.12; PDF p. 193; GLO.</a:t>
            </a:r>
          </a:p>
          <a:p xmlns:a="http://schemas.openxmlformats.org/drawingml/2006/main">
            <a:r>
              <a:t/>
            </a:r>
          </a:p>
          <a:p xmlns:a="http://schemas.openxmlformats.org/drawingml/2006/main">
            <a:r>
              <a:t>[Alt text]</a:t>
            </a:r>
          </a:p>
          <a:p xmlns:a="http://schemas.openxmlformats.org/drawingml/2006/main">
            <a:r>
              <a:t>Diagrama temporal editable con callouts. La idea central es: La geometría produce un pequeño desfase temporal cuya interpretación depende de frecuencia y señal.</a:t>
            </a:r>
          </a:p>
          <a:p xmlns:a="http://schemas.openxmlformats.org/drawingml/2006/main">
            <a:r>
              <a:t/>
            </a:r>
          </a:p>
          <a:p xmlns:a="http://schemas.openxmlformats.org/drawingml/2006/main">
            <a:r>
              <a:t>[Sources]</a:t>
            </a:r>
          </a:p>
          <a:p xmlns:a="http://schemas.openxmlformats.org/drawingml/2006/main">
            <a:r>
              <a:t>- Fuentes de contenido: PO; TEX 7.12; PDF p. 193; GLO.</a:t>
            </a:r>
          </a:p>
          <a:p xmlns:a="http://schemas.openxmlformats.org/drawingml/2006/main">
            <a:r>
              <a:t>- Asset propio aprobado: U07-DG-034.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“el oído cercano siempre recibe más” como regla absoluta. El bloque integra pistas binaurales, espectrales y dinámicas sin asignar a una sola pista toda la localización. Idea que debe quedar al cerrar: La sombra de la cabeza puede producir diferencias de nivel dependientes de frecuencia y dirección. Escribir y leer la relación por términos: `ILD = L_p,L − L_p,R`; el orden izquierda menos derecha debe mantenerse y el resultado se expresa en dB. Comprobar unidades antes de interpretar. Definición de trabajo: ILD: diferencia interaural de nivel entre mediciones comparables en ambos oídos.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La sombra de la cabeza puede producir diferencias de nivel dependientes de frecuencia y dirección.</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Comparar dominios de utilidad.</a:t>
            </a:r>
          </a:p>
          <a:p xmlns:a="http://schemas.openxmlformats.org/drawingml/2006/main">
            <a:r>
              <a:t>- **[Sources]:** PO; TEX 7.12; PDF p. 193; GLO.</a:t>
            </a:r>
          </a:p>
          <a:p xmlns:a="http://schemas.openxmlformats.org/drawingml/2006/main">
            <a:r>
              <a:t/>
            </a:r>
          </a:p>
          <a:p xmlns:a="http://schemas.openxmlformats.org/drawingml/2006/main">
            <a:r>
              <a:t>[Alt text]</a:t>
            </a:r>
          </a:p>
          <a:p xmlns:a="http://schemas.openxmlformats.org/drawingml/2006/main">
            <a:r>
              <a:t>Diagrama de cabeza + barras de nivel. La idea central es: La sombra de la cabeza puede producir diferencias de nivel dependientes de frecuencia y dirección.</a:t>
            </a:r>
          </a:p>
          <a:p xmlns:a="http://schemas.openxmlformats.org/drawingml/2006/main">
            <a:r>
              <a:t/>
            </a:r>
          </a:p>
          <a:p xmlns:a="http://schemas.openxmlformats.org/drawingml/2006/main">
            <a:r>
              <a:t>[Sources]</a:t>
            </a:r>
          </a:p>
          <a:p xmlns:a="http://schemas.openxmlformats.org/drawingml/2006/main">
            <a:r>
              <a:t>- Fuentes de contenido: PO; TEX 7.12; PDF p. 193; GLO.</a:t>
            </a:r>
          </a:p>
          <a:p xmlns:a="http://schemas.openxmlformats.org/drawingml/2006/main">
            <a:r>
              <a:t>- Asset propio aprobado: U07-DG-034.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fijar un corte único ni olvidar envolvente temporal. El bloque integra pistas binaurales, espectrales y dinámicas sin asignar a una sola pista toda la localización. Idea que debe quedar al cerrar: ITD suele ser más informativa a bajas frecuencias e ILD a frecuencias altas, con solapamientos y límites.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ITD suele ser más informativa a bajas frecuencias e ILD a frecuencias altas, con solapamientos y límites.</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Derivar un modelo geométrico simple de ITD.</a:t>
            </a:r>
          </a:p>
          <a:p xmlns:a="http://schemas.openxmlformats.org/drawingml/2006/main">
            <a:r>
              <a:t>- **[Sources]:** TEX 7.12; PDF p. 193; REF `oxenham2018`.</a:t>
            </a:r>
          </a:p>
          <a:p xmlns:a="http://schemas.openxmlformats.org/drawingml/2006/main">
            <a:r>
              <a:t/>
            </a:r>
          </a:p>
          <a:p xmlns:a="http://schemas.openxmlformats.org/drawingml/2006/main">
            <a:r>
              <a:t>[Alt text]</a:t>
            </a:r>
          </a:p>
          <a:p xmlns:a="http://schemas.openxmlformats.org/drawingml/2006/main">
            <a:r>
              <a:t>Comparación con bandas cualitativas, sin fronteras rígidas. La idea central es: ITD suele ser más informativa a bajas frecuencias e ILD a frecuencias altas, con solapamientos y límites.</a:t>
            </a:r>
          </a:p>
          <a:p xmlns:a="http://schemas.openxmlformats.org/drawingml/2006/main">
            <a:r>
              <a:t/>
            </a:r>
          </a:p>
          <a:p xmlns:a="http://schemas.openxmlformats.org/drawingml/2006/main">
            <a:r>
              <a:t>[Sources]</a:t>
            </a:r>
          </a:p>
          <a:p xmlns:a="http://schemas.openxmlformats.org/drawingml/2006/main">
            <a:r>
              <a:t>- Fuentes de contenido: TEX 7.12; PDF p. 193; REF oxenham2018.</a:t>
            </a:r>
          </a:p>
          <a:p xmlns:a="http://schemas.openxmlformats.org/drawingml/2006/main">
            <a:r>
              <a:t>- Asset propio aprobado: U07-DG-034.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Declarar que es una cota didáctica, no una anatomía exacta ni un modelo angular completo. El bloque integra pistas binaurales, espectrales y dinámicas sin asignar a una sola pista toda la localización. Idea que debe quedar al cerrar: El modelo del capítulo ignora difracción y representa la separación interaural mediante una distancia efectiva `d`.</a:t>
            </a:r>
          </a:p>
          <a:p xmlns:a="http://schemas.openxmlformats.org/drawingml/2006/main">
            <a:r>
              <a:t>- **Guía para el visual/diagrama:** Recorrido sugerido: Llegada extrema → Oído L → Oído R → Distancia efectiva d.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El modelo del capítulo ignora difracción y representa la separación interaural mediante una distancia efectiva `d`.</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Escribir la aproximación máxima.</a:t>
            </a:r>
          </a:p>
          <a:p xmlns:a="http://schemas.openxmlformats.org/drawingml/2006/main">
            <a:r>
              <a:t>- **[Sources]:** TEX 7.12; PDF p. 193; NOT.</a:t>
            </a:r>
          </a:p>
          <a:p xmlns:a="http://schemas.openxmlformats.org/drawingml/2006/main">
            <a:r>
              <a:t/>
            </a:r>
          </a:p>
          <a:p xmlns:a="http://schemas.openxmlformats.org/drawingml/2006/main">
            <a:r>
              <a:t>[Alt text]</a:t>
            </a:r>
          </a:p>
          <a:p xmlns:a="http://schemas.openxmlformats.org/drawingml/2006/main">
            <a:r>
              <a:t>Frente de onda y dos oídos con una cota d; se declara que el modelo omite difracción y no representa anatomía exacta.</a:t>
            </a:r>
          </a:p>
          <a:p xmlns:a="http://schemas.openxmlformats.org/drawingml/2006/main">
            <a:r>
              <a:t/>
            </a:r>
          </a:p>
          <a:p xmlns:a="http://schemas.openxmlformats.org/drawingml/2006/main">
            <a:r>
              <a:t>[Sources]</a:t>
            </a:r>
          </a:p>
          <a:p xmlns:a="http://schemas.openxmlformats.org/drawingml/2006/main">
            <a:r>
              <a:t>- Fuentes de contenido: TEX 7.12; PDF p. 193; NOT.</a:t>
            </a:r>
          </a:p>
          <a:p xmlns:a="http://schemas.openxmlformats.org/drawingml/2006/main">
            <a:r>
              <a:t>- Asset propio aprobado: U07-DG-035.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En producción, representar el valor absoluto con barras matemáticas; no introducir un término angular no presente en el capítulo. El bloque integra pistas binaurales, espectrales y dinámicas sin asignar a una sola pista toda la localización. Idea que debe quedar al cerrar: La razón entre distancia interaural efectiva y velocidad fija un orden de magnitud, no la ITD para cualquier dirección. Escribir y leer la relación por términos: `|Δt_LR| ≈ d/c`; es una cota del modelo rectilíneo, no la ITD de cualquier dirección. Comprobar unidades antes de interpretar.</a:t>
            </a:r>
          </a:p>
          <a:p xmlns:a="http://schemas.openxmlformats.org/drawingml/2006/main">
            <a:r>
              <a:t>- **Guía para el visual/diagrama:** Recorrido sugerido: |Δt_LR| ≈ d / c → |Δt_LR| → d → c → ≈.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La razón entre distancia interaural efectiva y velocidad fija un orden de magnitud, no la ITD para cualquier dirección.</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Resolver el ejemplo del capítulo.</a:t>
            </a:r>
          </a:p>
          <a:p xmlns:a="http://schemas.openxmlformats.org/drawingml/2006/main">
            <a:r>
              <a:t>- **[Sources]:** TEX ec. 7.8; PDF p. 193; NOT; SA.</a:t>
            </a:r>
          </a:p>
          <a:p xmlns:a="http://schemas.openxmlformats.org/drawingml/2006/main">
            <a:r>
              <a:t/>
            </a:r>
          </a:p>
          <a:p xmlns:a="http://schemas.openxmlformats.org/drawingml/2006/main">
            <a:r>
              <a:t>[Alt text]</a:t>
            </a:r>
          </a:p>
          <a:p xmlns:a="http://schemas.openxmlformats.org/drawingml/2006/main">
            <a:r>
              <a:t>Ecuación central valor absoluto de delta t izquierda derecha aproximadamente d sobre c, con cuatro llamadas externas.</a:t>
            </a:r>
          </a:p>
          <a:p xmlns:a="http://schemas.openxmlformats.org/drawingml/2006/main">
            <a:r>
              <a:t/>
            </a:r>
          </a:p>
          <a:p xmlns:a="http://schemas.openxmlformats.org/drawingml/2006/main">
            <a:r>
              <a:t>[Sources]</a:t>
            </a:r>
          </a:p>
          <a:p xmlns:a="http://schemas.openxmlformats.org/drawingml/2006/main">
            <a:r>
              <a:t>- Fuentes de contenido: TEX ec. 7.8; PDF p. 193; NOT;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Evitar presentar el valor como máximo anatómico universal. El bloque integra pistas binaurales, espectrales y dinámicas sin asignar a una sola pista toda la localización. Idea que debe quedar al cerrar: El cálculo aproxima una diferencia muy pequeña que el sistema puede aprovechar bajo ciertas condiciones. Escribir y leer la relación por términos: `|Δt_LR| ≈ 0,180 m / 343 m·s⁻¹ = 5,25 × 10⁻⁴ s ≈ 525 µs`. Comprobar unidades antes de interpretar. Ejemplo para desarrollar oralmente: Con `d = 0,180 m` y `c = 343 m·s⁻¹`, el modelo entrega aproximadamente 525 µs.</a:t>
            </a:r>
          </a:p>
          <a:p xmlns:a="http://schemas.openxmlformats.org/drawingml/2006/main">
            <a:r>
              <a:t>- **Guía para el visual/diagrama:** Recorrido sugerido: Datos → Dividir → Convertir → Resultado.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cálculo aproxima una diferencia muy pequeña que el sistema puede aprovechar bajo ciertas condiciones.</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Mostrar por qué frente y detrás pueden ser ambiguos.</a:t>
            </a:r>
          </a:p>
          <a:p xmlns:a="http://schemas.openxmlformats.org/drawingml/2006/main">
            <a:r>
              <a:t>- **[Sources]:** TEX 7.12, ejemplo tras ec. 7.8; PDF p. 193.</a:t>
            </a:r>
          </a:p>
          <a:p xmlns:a="http://schemas.openxmlformats.org/drawingml/2006/main">
            <a:r>
              <a:t/>
            </a:r>
          </a:p>
          <a:p xmlns:a="http://schemas.openxmlformats.org/drawingml/2006/main">
            <a:r>
              <a:t>[Alt text]</a:t>
            </a:r>
          </a:p>
          <a:p xmlns:a="http://schemas.openxmlformats.org/drawingml/2006/main">
            <a:r>
              <a:t>Cuatro pasos dividen cero coma ciento ochenta metros por trescientos cuarenta y tres metros por segundo y obtienen quinientos veinticinco microsegundos.</a:t>
            </a:r>
          </a:p>
          <a:p xmlns:a="http://schemas.openxmlformats.org/drawingml/2006/main">
            <a:r>
              <a:t/>
            </a:r>
          </a:p>
          <a:p xmlns:a="http://schemas.openxmlformats.org/drawingml/2006/main">
            <a:r>
              <a:t>[Sources]</a:t>
            </a:r>
          </a:p>
          <a:p xmlns:a="http://schemas.openxmlformats.org/drawingml/2006/main">
            <a:r>
              <a:t>- Fuentes de contenido: TEX 7.12, ejemplo tras ec. 7.8; PDF p. 193.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convertir la HRTF en una firma idéntica para todas las personas. El bloque integra pistas binaurales, espectrales y dinámicas sin asignar a una sola pista toda la localización. Idea que debe quedar al cerrar: Filtrados direccionales ayudan especialmente en elevación y frente–detrás.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Filtrados direccionales ayudan especialmente en elevación y frente–detrás.</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Visualizar una ambigüedad geométrica.</a:t>
            </a:r>
          </a:p>
          <a:p xmlns:a="http://schemas.openxmlformats.org/drawingml/2006/main">
            <a:r>
              <a:t>- **[Sources]:** TEX 7.12; PDF p. 193; REF `oxenham2018`; PREV U06.</a:t>
            </a:r>
          </a:p>
          <a:p xmlns:a="http://schemas.openxmlformats.org/drawingml/2006/main">
            <a:r>
              <a:t/>
            </a:r>
          </a:p>
          <a:p xmlns:a="http://schemas.openxmlformats.org/drawingml/2006/main">
            <a:r>
              <a:t>[Alt text]</a:t>
            </a:r>
          </a:p>
          <a:p xmlns:a="http://schemas.openxmlformats.org/drawingml/2006/main">
            <a:r>
              <a:t>Fotografía de cabeza artificial para captura binaural.</a:t>
            </a:r>
          </a:p>
          <a:p xmlns:a="http://schemas.openxmlformats.org/drawingml/2006/main">
            <a:r>
              <a:t/>
            </a:r>
          </a:p>
          <a:p xmlns:a="http://schemas.openxmlformats.org/drawingml/2006/main">
            <a:r>
              <a:t>[Sources]</a:t>
            </a:r>
          </a:p>
          <a:p xmlns:a="http://schemas.openxmlformats.org/drawingml/2006/main">
            <a:r>
              <a:t>- Fuentes de contenido: TEX 7.12; PDF p. 193; REF oxenham2018; PREV U06.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Diseñar a tamaño final; evitar perspectiva decorativa que oculte la relación. El bloque integra pistas binaurales, espectrales y dinámicas sin asignar a una sola pista toda la localización. Idea que debe quedar al cerrar: ITD e ILD semejantes pueden corresponder a varias posiciones; las pistas espectrales ayudan a resolverlas.</a:t>
            </a:r>
          </a:p>
          <a:p xmlns:a="http://schemas.openxmlformats.org/drawingml/2006/main">
            <a:r>
              <a:t>- **Guía para el visual/diagrama:** Recorrido sugerido: Cabeza → Posición A → Posición B → Superficie de ambigüedad.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ITD e ILD semejantes pueden corresponder a varias posiciones; las pistas espectrales ayudan a resolverlas.</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Incorporar movimiento.</a:t>
            </a:r>
          </a:p>
          <a:p xmlns:a="http://schemas.openxmlformats.org/drawingml/2006/main">
            <a:r>
              <a:t>- **[Sources]:** TEX 7.12; PDF p. 193; REF `oxenham2018`.</a:t>
            </a:r>
          </a:p>
          <a:p xmlns:a="http://schemas.openxmlformats.org/drawingml/2006/main">
            <a:r>
              <a:t/>
            </a:r>
          </a:p>
          <a:p xmlns:a="http://schemas.openxmlformats.org/drawingml/2006/main">
            <a:r>
              <a:t>[Alt text]</a:t>
            </a:r>
          </a:p>
          <a:p xmlns:a="http://schemas.openxmlformats.org/drawingml/2006/main">
            <a:r>
              <a:t>Cabeza conceptual con dos posiciones sobre una misma superficie de ambigüedad; no es un render anatómico tridimensional.</a:t>
            </a:r>
          </a:p>
          <a:p xmlns:a="http://schemas.openxmlformats.org/drawingml/2006/main">
            <a:r>
              <a:t/>
            </a:r>
          </a:p>
          <a:p xmlns:a="http://schemas.openxmlformats.org/drawingml/2006/main">
            <a:r>
              <a:t>[Sources]</a:t>
            </a:r>
          </a:p>
          <a:p xmlns:a="http://schemas.openxmlformats.org/drawingml/2006/main">
            <a:r>
              <a:t>- Fuentes de contenido: TEX 7.12; PDF p. 193; REF oxenham2018.</a:t>
            </a:r>
          </a:p>
          <a:p xmlns:a="http://schemas.openxmlformats.org/drawingml/2006/main">
            <a:r>
              <a:t>- Asset propio aprobado: U07-DG-037.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4–5 min.</a:t>
            </a:r>
          </a:p>
          <a:p xmlns:a="http://schemas.openxmlformats.org/drawingml/2006/main">
            <a:r>
              <a:t>- **Explicación extendida:** Evitar exigir movimiento a estudiantes; la alternativa visual debe resolver la idea. El bloque integra pistas binaurales, espectrales y dinámicas sin asignar a una sola pista toda la localización. Idea que debe quedar al cerrar: Los cambios coordinados de ITD, ILD y espectro ayudan a distinguir posiciones.</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Antes de observar o escuchar: ¿qué espera que cambie y qué debería permanecer controlado?</a:t>
            </a:r>
          </a:p>
          <a:p xmlns:a="http://schemas.openxmlformats.org/drawingml/2006/main">
            <a:r>
              <a:t>- **Respuesta esperada:** Los cambios coordinados de ITD, ILD y espectro ayudan a distinguir posiciones.</a:t>
            </a:r>
          </a:p>
          <a:p xmlns:a="http://schemas.openxmlformats.org/drawingml/2006/main">
            <a:r>
              <a:t>- **Demostración o multimedia:** Reproducir la animación silenciosa U07-MEDIA-007 una vez. La alternativa obligatoria son dos cuadros antes/después del giro.</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Aplicar a una escena cotidiana.</a:t>
            </a:r>
          </a:p>
          <a:p xmlns:a="http://schemas.openxmlformats.org/drawingml/2006/main">
            <a:r>
              <a:t>- **[Sources]:** TEX 7.12; PDF p. 193; REF `oxenham2018`; EP.</a:t>
            </a:r>
          </a:p>
          <a:p xmlns:a="http://schemas.openxmlformats.org/drawingml/2006/main">
            <a:r>
              <a:t/>
            </a:r>
          </a:p>
          <a:p xmlns:a="http://schemas.openxmlformats.org/drawingml/2006/main">
            <a:r>
              <a:t>[Alt text]</a:t>
            </a:r>
          </a:p>
          <a:p xmlns:a="http://schemas.openxmlformats.org/drawingml/2006/main">
            <a:r>
              <a:t>Animación sin audio de pistas dinámicas.</a:t>
            </a:r>
          </a:p>
          <a:p xmlns:a="http://schemas.openxmlformats.org/drawingml/2006/main">
            <a:r>
              <a:t/>
            </a:r>
          </a:p>
          <a:p xmlns:a="http://schemas.openxmlformats.org/drawingml/2006/main">
            <a:r>
              <a:t>[Sources]</a:t>
            </a:r>
          </a:p>
          <a:p xmlns:a="http://schemas.openxmlformats.org/drawingml/2006/main">
            <a:r>
              <a:t>- Fuentes de contenido: TEX 7.12; PDF p. 193; REF oxenham2018; EP.</a:t>
            </a:r>
          </a:p>
          <a:p xmlns:a="http://schemas.openxmlformats.org/drawingml/2006/main">
            <a:r>
              <a:t>- Asset propio aprobado: U07-DG-038.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pistas con sus límites, no definiciones literales. El bloque integra pistas binaurales, espectrales y dinámicas sin asignar a una sola pista toda la localización. Idea que debe quedar al cerrar: ITD, ILD, espectro y movimiento reducen ambigüedades de manera complementaria.</a:t>
            </a:r>
          </a:p>
          <a:p xmlns:a="http://schemas.openxmlformats.org/drawingml/2006/main">
            <a:r>
              <a:t>- **Guía para el visual/diagrama:** Recorrido sugerido: Antes del giro → Después del giro.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ITD, ILD, espectro y movimiento reducen ambigüedades de manera complementaria.</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Llevar las pistas a una mezcla de fuentes.</a:t>
            </a:r>
          </a:p>
          <a:p xmlns:a="http://schemas.openxmlformats.org/drawingml/2006/main">
            <a:r>
              <a:t>- **[Sources]:** TEX 7.12; BR; EP.</a:t>
            </a:r>
          </a:p>
          <a:p xmlns:a="http://schemas.openxmlformats.org/drawingml/2006/main">
            <a:r>
              <a:t/>
            </a:r>
          </a:p>
          <a:p xmlns:a="http://schemas.openxmlformats.org/drawingml/2006/main">
            <a:r>
              <a:t>[Alt text]</a:t>
            </a:r>
          </a:p>
          <a:p xmlns:a="http://schemas.openxmlformats.org/drawingml/2006/main">
            <a:r>
              <a:t>Dos paneles comparan la configuración de pistas antes y después de un pequeño giro de cabeza.</a:t>
            </a:r>
          </a:p>
          <a:p xmlns:a="http://schemas.openxmlformats.org/drawingml/2006/main">
            <a:r>
              <a:t/>
            </a:r>
          </a:p>
          <a:p xmlns:a="http://schemas.openxmlformats.org/drawingml/2006/main">
            <a:r>
              <a:t>[Sources]</a:t>
            </a:r>
          </a:p>
          <a:p xmlns:a="http://schemas.openxmlformats.org/drawingml/2006/main">
            <a:r>
              <a:t>- Fuentes de contenido: TEX 7.12; BR; EP.</a:t>
            </a:r>
          </a:p>
          <a:p xmlns:a="http://schemas.openxmlformats.org/drawingml/2006/main">
            <a:r>
              <a:t>- Asset propio aprobado: U07-DG-038.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Recuperar enmascaramiento y localización sin reexplicarlos. El cierre aplica los conceptos a escenas con fuentes concurrentes y delimita la inferencia clínica. Idea que debe quedar al cerrar: La escena física llega mezclada, pero puede organizarse en objetos perceptuales.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¿Cómo seguimos una voz entre varias fuentes?</a:t>
            </a:r>
          </a:p>
          <a:p xmlns:a="http://schemas.openxmlformats.org/drawingml/2006/main">
            <a:r>
              <a:t>- **Respuesta esperada:** La escena física llega mezclada, pero puede organizarse en objetos perceptuales.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Representar la mezcla.</a:t>
            </a:r>
          </a:p>
          <a:p xmlns:a="http://schemas.openxmlformats.org/drawingml/2006/main">
            <a:r>
              <a:t>- **[Sources]:** PO; TEX 7.12; PDF pp. 192–193.</a:t>
            </a:r>
          </a:p>
          <a:p xmlns:a="http://schemas.openxmlformats.org/drawingml/2006/main">
            <a:r>
              <a:t/>
            </a:r>
          </a:p>
          <a:p xmlns:a="http://schemas.openxmlformats.org/drawingml/2006/main">
            <a:r>
              <a:t>[Alt text]</a:t>
            </a:r>
          </a:p>
          <a:p xmlns:a="http://schemas.openxmlformats.org/drawingml/2006/main">
            <a:r>
              <a:t>Varias fuentes → dos oídos → una tarea. La idea central es: La escena física llega mezclada, pero puede organizarse en objetos perceptuales.</a:t>
            </a:r>
          </a:p>
          <a:p xmlns:a="http://schemas.openxmlformats.org/drawingml/2006/main">
            <a:r>
              <a:t/>
            </a:r>
          </a:p>
          <a:p xmlns:a="http://schemas.openxmlformats.org/drawingml/2006/main">
            <a:r>
              <a:t>[Sources]</a:t>
            </a:r>
          </a:p>
          <a:p xmlns:a="http://schemas.openxmlformats.org/drawingml/2006/main">
            <a:r>
              <a:t>- Fuentes de contenido: PO; TEX 7.12; PDF pp. 192–193.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dibujar rutas como canales independientes hasta el cerebro. El cierre aplica los conceptos a escenas con fuentes concurrentes y delimita la inferencia clínica. Idea que debe quedar al cerrar: Una señal en cada oído puede contener contribuciones de muchas fuentes.</a:t>
            </a:r>
          </a:p>
          <a:p xmlns:a="http://schemas.openxmlformats.org/drawingml/2006/main">
            <a:r>
              <a:t>- **Guía para el visual/diagrama:** Recorrido sugerido: Objetos perceptuales → Fuente 1 → Fuente 2 → Fuente 3 → Mezcla binaural.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Una señal en cada oído puede contener contribuciones de muchas fuentes.</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Nombrar el problema cotidiano.</a:t>
            </a:r>
          </a:p>
          <a:p xmlns:a="http://schemas.openxmlformats.org/drawingml/2006/main">
            <a:r>
              <a:t>- **[Sources]:** TEX 7.12; PDF pp. 192–193; U3 superposición; U6.</a:t>
            </a:r>
          </a:p>
          <a:p xmlns:a="http://schemas.openxmlformats.org/drawingml/2006/main">
            <a:r>
              <a:t/>
            </a:r>
          </a:p>
          <a:p xmlns:a="http://schemas.openxmlformats.org/drawingml/2006/main">
            <a:r>
              <a:t>[Alt text]</a:t>
            </a:r>
          </a:p>
          <a:p xmlns:a="http://schemas.openxmlformats.org/drawingml/2006/main">
            <a:r>
              <a:t>Voz objetivo, competidora y ambiente convergen en una mezcla de ambos oídos y se relacionan con objetos perceptuales.</a:t>
            </a:r>
          </a:p>
          <a:p xmlns:a="http://schemas.openxmlformats.org/drawingml/2006/main">
            <a:r>
              <a:t/>
            </a:r>
          </a:p>
          <a:p xmlns:a="http://schemas.openxmlformats.org/drawingml/2006/main">
            <a:r>
              <a:t>[Sources]</a:t>
            </a:r>
          </a:p>
          <a:p xmlns:a="http://schemas.openxmlformats.org/drawingml/2006/main">
            <a:r>
              <a:t>- Fuentes de contenido: TEX 7.12; PDF pp. 192–193; U3 superposición; U6.</a:t>
            </a:r>
          </a:p>
          <a:p xmlns:a="http://schemas.openxmlformats.org/drawingml/2006/main">
            <a:r>
              <a:t>- Asset propio aprobado: U07-DG-039.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sugerir que la separación es perfecta ni uniforme entre oyentes. El cierre aplica los conceptos a escenas con fuentes concurrentes y delimita la inferencia clínica. Idea que debe quedar al cerrar: Separar una voz usa diferencias espaciales, espectrales, temporales y de identidad. Definición de trabajo: Efecto cocktail party: situación en la que se selecciona una fuente objetivo dentro de una escena con fuentes concurrentes.</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¿Qué dato o procedimiento habría que agregar para aplicar esta definición a un caso real?</a:t>
            </a:r>
          </a:p>
          <a:p xmlns:a="http://schemas.openxmlformats.org/drawingml/2006/main">
            <a:r>
              <a:t>- **Respuesta esperada:** Separar una voz usa diferencias espaciales, espectrales, temporales y de identidad.</a:t>
            </a:r>
          </a:p>
          <a:p xmlns:a="http://schemas.openxmlformats.org/drawingml/2006/main">
            <a:r>
              <a:t>- **Demostración o multimedia:** U07-MEDIA-008 es opcional y condicionado a voces autorizadas. No calificar desempeño; la escena gráfica debe ser autosuficiente.</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Integrar dos tipos de enmascaramiento.</a:t>
            </a:r>
          </a:p>
          <a:p xmlns:a="http://schemas.openxmlformats.org/drawingml/2006/main">
            <a:r>
              <a:t>- **[Sources]:** PO; TEX 7.12; PDF pp. 192–193; REF `oxenham2018`; GLO.</a:t>
            </a:r>
          </a:p>
          <a:p xmlns:a="http://schemas.openxmlformats.org/drawingml/2006/main">
            <a:r>
              <a:t/>
            </a:r>
          </a:p>
          <a:p xmlns:a="http://schemas.openxmlformats.org/drawingml/2006/main">
            <a:r>
              <a:t>[Alt text]</a:t>
            </a:r>
          </a:p>
          <a:p xmlns:a="http://schemas.openxmlformats.org/drawingml/2006/main">
            <a:r>
              <a:t>Mezcla propia de tres voces.</a:t>
            </a:r>
          </a:p>
          <a:p xmlns:a="http://schemas.openxmlformats.org/drawingml/2006/main">
            <a:r>
              <a:t/>
            </a:r>
          </a:p>
          <a:p xmlns:a="http://schemas.openxmlformats.org/drawingml/2006/main">
            <a:r>
              <a:t>[Sources]</a:t>
            </a:r>
          </a:p>
          <a:p xmlns:a="http://schemas.openxmlformats.org/drawingml/2006/main">
            <a:r>
              <a:t>- Fuentes de contenido: PO; TEX 7.12; PDF pp. 192–193; REF oxenham2018;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Repetición pedagógica por transferencia a una escena nueva, no redundancia. El cierre aplica los conceptos a escenas con fuentes concurrentes y delimita la inferencia clínica. Idea que debe quedar al cerrar: Solapamiento en canales y dificultad para seleccionar una fuente pueden ocurrir simultáneamente.</a:t>
            </a:r>
          </a:p>
          <a:p xmlns:a="http://schemas.openxmlformats.org/drawingml/2006/main">
            <a:r>
              <a:t>- **Guía para el visual/diagrama:** Recorrido sugerido: Agrupamiento perceptual → Frecuencia/timbre → Tiempo → Espacio → Atención → ….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Solapamiento en canales y dificultad para seleccionar una fuente pueden ocurrir simultáneamente.</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Enumerar pistas de segregación.</a:t>
            </a:r>
          </a:p>
          <a:p xmlns:a="http://schemas.openxmlformats.org/drawingml/2006/main">
            <a:r>
              <a:t>- **[Sources]:** TEX 7.9.3, 7.12; PDF pp. 189–193.</a:t>
            </a:r>
          </a:p>
          <a:p xmlns:a="http://schemas.openxmlformats.org/drawingml/2006/main">
            <a:r>
              <a:t/>
            </a:r>
          </a:p>
          <a:p xmlns:a="http://schemas.openxmlformats.org/drawingml/2006/main">
            <a:r>
              <a:t>[Alt text]</a:t>
            </a:r>
          </a:p>
          <a:p xmlns:a="http://schemas.openxmlformats.org/drawingml/2006/main">
            <a:r>
              <a:t>Alias de familia para reutilizar las variantes U07-DG-022A–C.</a:t>
            </a:r>
          </a:p>
          <a:p xmlns:a="http://schemas.openxmlformats.org/drawingml/2006/main">
            <a:r>
              <a:t/>
            </a:r>
          </a:p>
          <a:p xmlns:a="http://schemas.openxmlformats.org/drawingml/2006/main">
            <a:r>
              <a:t>[Sources]</a:t>
            </a:r>
          </a:p>
          <a:p xmlns:a="http://schemas.openxmlformats.org/drawingml/2006/main">
            <a:r>
              <a:t>- Fuentes de contenido: TEX 7.9.3, 7.12; PDF pp. 189–193.</a:t>
            </a:r>
          </a:p>
          <a:p xmlns:a="http://schemas.openxmlformats.org/drawingml/2006/main">
            <a:r>
              <a:t>- Asset propio aprobado: U07-DG-040.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Presentar pistas como evidencia combinable, no reglas infalibles. El cierre aplica los conceptos a escenas con fuentes concurrentes y delimita la inferencia clínica. Idea que debe quedar al cerrar: Inicio común, periodicidad, trayectoria espacial, espectro y continuidad favorecen agrupamiento.</a:t>
            </a:r>
          </a:p>
          <a:p xmlns:a="http://schemas.openxmlformats.org/drawingml/2006/main">
            <a:r>
              <a:t>- **Guía para el visual/diagrama:** Recorrido sugerido: Agrupamiento perceptual → Frecuencia/timbre → Tiempo → Espacio → Atención → ….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Inicio común, periodicidad, trayectoria espacial, espectro y continuidad favorecen agrupamiento.</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Conectar separación espacial con desempeño.</a:t>
            </a:r>
          </a:p>
          <a:p xmlns:a="http://schemas.openxmlformats.org/drawingml/2006/main">
            <a:r>
              <a:t>- **[Sources]:** TEX 7.12; PDF pp. 192–193; REF `oxenham2018`; U5.</a:t>
            </a:r>
          </a:p>
          <a:p xmlns:a="http://schemas.openxmlformats.org/drawingml/2006/main">
            <a:r>
              <a:t/>
            </a:r>
          </a:p>
          <a:p xmlns:a="http://schemas.openxmlformats.org/drawingml/2006/main">
            <a:r>
              <a:t>[Alt text]</a:t>
            </a:r>
          </a:p>
          <a:p xmlns:a="http://schemas.openxmlformats.org/drawingml/2006/main">
            <a:r>
              <a:t>Frecuencia y timbre, tiempo, espacio, atención y conocimiento convergen en agrupamiento perceptual.</a:t>
            </a:r>
          </a:p>
          <a:p xmlns:a="http://schemas.openxmlformats.org/drawingml/2006/main">
            <a:r>
              <a:t/>
            </a:r>
          </a:p>
          <a:p xmlns:a="http://schemas.openxmlformats.org/drawingml/2006/main">
            <a:r>
              <a:t>[Sources]</a:t>
            </a:r>
          </a:p>
          <a:p xmlns:a="http://schemas.openxmlformats.org/drawingml/2006/main">
            <a:r>
              <a:t>- Fuentes de contenido: TEX 7.12; PDF pp. 192–193; REF oxenham2018; U5.</a:t>
            </a:r>
          </a:p>
          <a:p xmlns:a="http://schemas.openxmlformats.org/drawingml/2006/main">
            <a:r>
              <a:t>- Asset propio aprobado: U07-DG-040.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atribuir todo el beneficio a SNR física ni fijar dB universales. El cierre aplica los conceptos a escenas con fuentes concurrentes y delimita la inferencia clínica. Idea que debe quedar al cerrar: Cambiar posiciones puede aportar diferencias binaurales y reducir competencia efectiva. Definición de trabajo: Liberación espacial del enmascaramiento: mejora de una tarea cuando la separación espacial aporta pistas útiles para distinguir objetivo y competidores.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Cambiar posiciones puede aportar diferencias binaurales y reducir competencia efectiva.</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Mostrar una aplicación técnica.</a:t>
            </a:r>
          </a:p>
          <a:p xmlns:a="http://schemas.openxmlformats.org/drawingml/2006/main">
            <a:r>
              <a:t>- **[Sources]:** TEX 7.12; REF `oxenham2018`; EP.</a:t>
            </a:r>
          </a:p>
          <a:p xmlns:a="http://schemas.openxmlformats.org/drawingml/2006/main">
            <a:r>
              <a:t/>
            </a:r>
          </a:p>
          <a:p xmlns:a="http://schemas.openxmlformats.org/drawingml/2006/main">
            <a:r>
              <a:t>[Alt text]</a:t>
            </a:r>
          </a:p>
          <a:p xmlns:a="http://schemas.openxmlformats.org/drawingml/2006/main">
            <a:r>
              <a:t>Comparación conceptual, sin curva universal. La idea central es: Cambiar posiciones puede aportar diferencias binaurales y reducir competencia efectiva.</a:t>
            </a:r>
          </a:p>
          <a:p xmlns:a="http://schemas.openxmlformats.org/drawingml/2006/main">
            <a:r>
              <a:t/>
            </a:r>
          </a:p>
          <a:p xmlns:a="http://schemas.openxmlformats.org/drawingml/2006/main">
            <a:r>
              <a:t>[Sources]</a:t>
            </a:r>
          </a:p>
          <a:p xmlns:a="http://schemas.openxmlformats.org/drawingml/2006/main">
            <a:r>
              <a:t>- Fuentes de contenido: TEX 7.12; REF oxenham2018;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No convertirlo en recomendación clínica individual ni garantizar beneficio. El cierre aplica los conceptos a escenas con fuentes concurrentes y delimita la inferencia clínica. Idea que debe quedar al cerrar: La orientación puede mejorar la relación objetivo–competidores, pero depende de escena, ajuste y usuario.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mediría primero y qué conclusión clínica todavía no estaría justificada?</a:t>
            </a:r>
          </a:p>
          <a:p xmlns:a="http://schemas.openxmlformats.org/drawingml/2006/main">
            <a:r>
              <a:t>- **Respuesta esperada:** La orientación puede mejorar la relación objetivo–competidores, pero depende de escena, ajuste y usuario.</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Integrar en un caso de aula.</a:t>
            </a:r>
          </a:p>
          <a:p xmlns:a="http://schemas.openxmlformats.org/drawingml/2006/main">
            <a:r>
              <a:t>- **[Sources]:** TEX A2; PDF pp. 199, 203; REF técnica a seleccionar; DM.</a:t>
            </a:r>
          </a:p>
          <a:p xmlns:a="http://schemas.openxmlformats.org/drawingml/2006/main">
            <a:r>
              <a:t/>
            </a:r>
          </a:p>
          <a:p xmlns:a="http://schemas.openxmlformats.org/drawingml/2006/main">
            <a:r>
              <a:t>[Alt text]</a:t>
            </a:r>
          </a:p>
          <a:p xmlns:a="http://schemas.openxmlformats.org/drawingml/2006/main">
            <a:r>
              <a:t>Fotografía de audífono retroauricular.</a:t>
            </a:r>
          </a:p>
          <a:p xmlns:a="http://schemas.openxmlformats.org/drawingml/2006/main">
            <a:r>
              <a:t/>
            </a:r>
          </a:p>
          <a:p xmlns:a="http://schemas.openxmlformats.org/drawingml/2006/main">
            <a:r>
              <a:t>[Sources]</a:t>
            </a:r>
          </a:p>
          <a:p xmlns:a="http://schemas.openxmlformats.org/drawingml/2006/main">
            <a:r>
              <a:t>- Fuentes de contenido: TEX A2; PDF pp. 199, 203; REF técnica a seleccionar; DM.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5 min.</a:t>
            </a:r>
          </a:p>
          <a:p xmlns:a="http://schemas.openxmlformats.org/drawingml/2006/main">
            <a:r>
              <a:t>- **Explicación extendida:** Evitar diagnosticar; pedir hipótesis y mediciones necesarias. El cierre aplica los conceptos a escenas con fuentes concurrentes y delimita la inferencia clínica. Idea que debe quedar al cerrar: La dificultad resulta de una cadena de estímulo, ambiente, sistema auditivo, tarea y contexto. Ejemplo para desarrollar oralmente: Docente como voz objetivo, ventilación y otras voces como competidores, más reflexiones del aula y una tarea de comprensión.</a:t>
            </a:r>
          </a:p>
          <a:p xmlns:a="http://schemas.openxmlformats.org/drawingml/2006/main">
            <a:r>
              <a:t>- **Guía para el visual/diagrama:** Recorrido sugerido: Docente → Ventilación → Voces → Recinto → Oyente → …. Nombrar primero los elementos, explicar luego las relaciones y cerrar con el límite indicado en el caption. No leer las cajas como un párrafo.</a:t>
            </a:r>
          </a:p>
          <a:p xmlns:a="http://schemas.openxmlformats.org/drawingml/2006/main">
            <a:r>
              <a:t>- **Pregunta al curso:** ¿Qué mediría primero y qué conclusión clínica todavía no estaría justificada?</a:t>
            </a:r>
          </a:p>
          <a:p xmlns:a="http://schemas.openxmlformats.org/drawingml/2006/main">
            <a:r>
              <a:t>- **Respuesta esperada:** La dificultad resulta de una cadena de estímulo, ambiente, sistema auditivo, tarea y contexto.</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Distribuir variables entre unidades.</a:t>
            </a:r>
          </a:p>
          <a:p xmlns:a="http://schemas.openxmlformats.org/drawingml/2006/main">
            <a:r>
              <a:t>- **[Sources]:** PO; TEX 7.9–7.12; PDF pp. 186–193; MAP; DM.</a:t>
            </a:r>
          </a:p>
          <a:p xmlns:a="http://schemas.openxmlformats.org/drawingml/2006/main">
            <a:r>
              <a:t/>
            </a:r>
          </a:p>
          <a:p xmlns:a="http://schemas.openxmlformats.org/drawingml/2006/main">
            <a:r>
              <a:t>[Alt text]</a:t>
            </a:r>
          </a:p>
          <a:p xmlns:a="http://schemas.openxmlformats.org/drawingml/2006/main">
            <a:r>
              <a:t>Docente, ventilación, voces, recinto, oyente y tarea forman una escena de aula sin convertirla en una red completa.</a:t>
            </a:r>
          </a:p>
          <a:p xmlns:a="http://schemas.openxmlformats.org/drawingml/2006/main">
            <a:r>
              <a:t/>
            </a:r>
          </a:p>
          <a:p xmlns:a="http://schemas.openxmlformats.org/drawingml/2006/main">
            <a:r>
              <a:t>[Sources]</a:t>
            </a:r>
          </a:p>
          <a:p xmlns:a="http://schemas.openxmlformats.org/drawingml/2006/main">
            <a:r>
              <a:t>- Fuentes de contenido: PO; TEX 7.9–7.12; PDF pp. 186–193; MAP; DM.</a:t>
            </a:r>
          </a:p>
          <a:p xmlns:a="http://schemas.openxmlformats.org/drawingml/2006/main">
            <a:r>
              <a:t>- Asset propio aprobado: U07-DG-041.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Pedir justificación; usar dudas para preparar U8–U10. El cierre aplica los conceptos a escenas con fuentes concurrentes y delimita la inferencia clínica. Idea que debe quedar al cerrar: Percepción y desempeño son U7; propagación/recinto y caracterización de ruido se profundizan después.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Clasifique cada tarjeta: U7 percepción; U8 evaluación; U9 propagación/recinto; U10 ruido. Justifique un caso dudoso antes de mover la tarjeta.</a:t>
            </a:r>
          </a:p>
          <a:p xmlns:a="http://schemas.openxmlformats.org/drawingml/2006/main">
            <a:r>
              <a:t>- **Respuesta esperada:** Percepción y desempeño son U7; propagación/recinto y caracterización de ruido se profundizan después.</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Construir síntesis final.</a:t>
            </a:r>
          </a:p>
          <a:p xmlns:a="http://schemas.openxmlformats.org/drawingml/2006/main">
            <a:r>
              <a:t>- **[Sources]:** MAP; DM; COV; PO.</a:t>
            </a:r>
          </a:p>
          <a:p xmlns:a="http://schemas.openxmlformats.org/drawingml/2006/main">
            <a:r>
              <a:t/>
            </a:r>
          </a:p>
          <a:p xmlns:a="http://schemas.openxmlformats.org/drawingml/2006/main">
            <a:r>
              <a:t>[Alt text]</a:t>
            </a:r>
          </a:p>
          <a:p xmlns:a="http://schemas.openxmlformats.org/drawingml/2006/main">
            <a:r>
              <a:t>Matriz nativa de cuatro destinos; sin asset externo. La idea central es: Percepción y desempeño son U7; propagación/recinto y caracterización de ruido se profundizan después.</a:t>
            </a:r>
          </a:p>
          <a:p xmlns:a="http://schemas.openxmlformats.org/drawingml/2006/main">
            <a:r>
              <a:t/>
            </a:r>
          </a:p>
          <a:p xmlns:a="http://schemas.openxmlformats.org/drawingml/2006/main">
            <a:r>
              <a:t>[Sources]</a:t>
            </a:r>
          </a:p>
          <a:p xmlns:a="http://schemas.openxmlformats.org/drawingml/2006/main">
            <a:r>
              <a:t>- Fuentes de contenido: MAP; DM; COV; 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Repetición pedagógica final: reunir relaciones, no volver a definir términos. El cierre aplica los conceptos a escenas con fuentes concurrentes y delimita la inferencia clínica. Idea que debe quedar al cerrar: La respuesta depende de señal, ambiente, transferencia, procesamiento, tarea y oyente.</a:t>
            </a:r>
          </a:p>
          <a:p xmlns:a="http://schemas.openxmlformats.org/drawingml/2006/main">
            <a:r>
              <a:t>- **Guía para el visual/diagrama:** Recorrido sugerido: Señal → Ambiente → Transferencia → Procesamiento → Tarea → ….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La respuesta depende de señal, ambiente, transferencia, procesamiento, tarea y oyente.</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Convertir el mapa en preguntas de repaso.</a:t>
            </a:r>
          </a:p>
          <a:p xmlns:a="http://schemas.openxmlformats.org/drawingml/2006/main">
            <a:r>
              <a:t>- **[Sources]:** PO; TEX cap. 7; BR; SA; EP.</a:t>
            </a:r>
          </a:p>
          <a:p xmlns:a="http://schemas.openxmlformats.org/drawingml/2006/main">
            <a:r>
              <a:t/>
            </a:r>
          </a:p>
          <a:p xmlns:a="http://schemas.openxmlformats.org/drawingml/2006/main">
            <a:r>
              <a:t>[Alt text]</a:t>
            </a:r>
          </a:p>
          <a:p xmlns:a="http://schemas.openxmlformats.org/drawingml/2006/main">
            <a:r>
              <a:t>Seis nodos conectados en dos filas: señal, ambiente, transferencia, procesamiento, tarea y respuesta.</a:t>
            </a:r>
          </a:p>
          <a:p xmlns:a="http://schemas.openxmlformats.org/drawingml/2006/main">
            <a:r>
              <a:t/>
            </a:r>
          </a:p>
          <a:p xmlns:a="http://schemas.openxmlformats.org/drawingml/2006/main">
            <a:r>
              <a:t>[Sources]</a:t>
            </a:r>
          </a:p>
          <a:p xmlns:a="http://schemas.openxmlformats.org/drawingml/2006/main">
            <a:r>
              <a:t>- Fuentes de contenido: PO; TEX cap. 7; BR; SA; EP.</a:t>
            </a:r>
          </a:p>
          <a:p xmlns:a="http://schemas.openxmlformats.org/drawingml/2006/main">
            <a:r>
              <a:t>- Asset propio aprobado: U07-DG-042.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Invitar a usarlo en ejercicios y no memorizar equivalencias. El cierre aplica los conceptos a escenas con fuentes concurrentes y delimita la inferencia clínica. Idea que debe quedar al cerrar: ¿Qué señal?, ¿dónde?, ¿qué nivel/espectro/tiempo?, ¿qué tarea?, ¿qué respuesta?, ¿qué condiciones?</a:t>
            </a:r>
          </a:p>
          <a:p xmlns:a="http://schemas.openxmlformats.org/drawingml/2006/main">
            <a:r>
              <a:t>- **Guía para el visual/diagrama:** Recorrido sugerido: Señal → Ambiente → Transferencia → Procesamiento → Tarea → ….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¿Qué señal?, ¿dónde?, ¿qué nivel/espectro/tiempo?, ¿qué tarea?, ¿qué respuesta?, ¿qué condiciones?</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Cerrar con conexiones futuras.</a:t>
            </a:r>
          </a:p>
          <a:p xmlns:a="http://schemas.openxmlformats.org/drawingml/2006/main">
            <a:r>
              <a:t>- **[Sources]:** BR; EP; TEX cap. 7.</a:t>
            </a:r>
          </a:p>
          <a:p xmlns:a="http://schemas.openxmlformats.org/drawingml/2006/main">
            <a:r>
              <a:t/>
            </a:r>
          </a:p>
          <a:p xmlns:a="http://schemas.openxmlformats.org/drawingml/2006/main">
            <a:r>
              <a:t>[Alt text]</a:t>
            </a:r>
          </a:p>
          <a:p xmlns:a="http://schemas.openxmlformats.org/drawingml/2006/main">
            <a:r>
              <a:t>Seis nodos conectados en dos filas: señal, ambiente, transferencia, procesamiento, tarea y respuesta.</a:t>
            </a:r>
          </a:p>
          <a:p xmlns:a="http://schemas.openxmlformats.org/drawingml/2006/main">
            <a:r>
              <a:t/>
            </a:r>
          </a:p>
          <a:p xmlns:a="http://schemas.openxmlformats.org/drawingml/2006/main">
            <a:r>
              <a:t>[Sources]</a:t>
            </a:r>
          </a:p>
          <a:p xmlns:a="http://schemas.openxmlformats.org/drawingml/2006/main">
            <a:r>
              <a:t>- Fuentes de contenido: BR; EP; TEX cap. 7.</a:t>
            </a:r>
          </a:p>
          <a:p xmlns:a="http://schemas.openxmlformats.org/drawingml/2006/main">
            <a:r>
              <a:t>- Asset propio aprobado: U07-DG-042.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No adelantar protocolos, Sabine ni taxonomías de ruido. El cierre aplica los conceptos a escenas con fuentes concurrentes y delimita la inferencia clínica. Idea que debe quedar al cerrar: U8 evaluará audición; U9 explicará propagación/recintos; U10 caracterizará ruido y efectos.</a:t>
            </a:r>
          </a:p>
          <a:p xmlns:a="http://schemas.openxmlformats.org/drawingml/2006/main">
            <a:r>
              <a:t>- **Guía para el visual/diagrama:** Recorrido sugerido: Unidad 7 → Unidad 8 → Unidad 9 → Unidad 10. Nombrar primero los elementos, explicar luego las relaciones y cerrar con el límite indicado en el caption. No leer las cajas como un párrafo.</a:t>
            </a:r>
          </a:p>
          <a:p xmlns:a="http://schemas.openxmlformats.org/drawingml/2006/main">
            <a:r>
              <a:t>- **Pregunta al curso:** ¿Qué evidencia observable mostraría que esta meta se alcanzó?</a:t>
            </a:r>
          </a:p>
          <a:p xmlns:a="http://schemas.openxmlformats.org/drawingml/2006/main">
            <a:r>
              <a:t>- **Respuesta esperada:** U8 evaluará audición; U9 explicará propagación/recintos; U10 caracterizará ruido y efectos.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Fin de secuencia central; abrir respaldo solo si hace falta.</a:t>
            </a:r>
          </a:p>
          <a:p xmlns:a="http://schemas.openxmlformats.org/drawingml/2006/main">
            <a:r>
              <a:t>- **[Sources]:** MAP; DM; COV; PO.</a:t>
            </a:r>
          </a:p>
          <a:p xmlns:a="http://schemas.openxmlformats.org/drawingml/2006/main">
            <a:r>
              <a:t/>
            </a:r>
          </a:p>
          <a:p xmlns:a="http://schemas.openxmlformats.org/drawingml/2006/main">
            <a:r>
              <a:t>[Alt text]</a:t>
            </a:r>
          </a:p>
          <a:p xmlns:a="http://schemas.openxmlformats.org/drawingml/2006/main">
            <a:r>
              <a:t>Una caja de Unidad 7 se bifurca hacia tres destinos con preguntas sobre enfermedad, propagación y ruido.</a:t>
            </a:r>
          </a:p>
          <a:p xmlns:a="http://schemas.openxmlformats.org/drawingml/2006/main">
            <a:r>
              <a:t/>
            </a:r>
          </a:p>
          <a:p xmlns:a="http://schemas.openxmlformats.org/drawingml/2006/main">
            <a:r>
              <a:t>[Sources]</a:t>
            </a:r>
          </a:p>
          <a:p xmlns:a="http://schemas.openxmlformats.org/drawingml/2006/main">
            <a:r>
              <a:t>- Fuentes de contenido: MAP; DM; COV; 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Aclarar que no constituyen un bloque expositivo obligatorio. El respaldo amplía o ejercita contenidos sin modificar la ruta central ni convertir modelos en reglas universales. Idea que debe quedar al cerrar: Estas slides responden dudas sin interrumpir la secuencia central.</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Estas slides responden dudas sin interrumpir la secuencia central.</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Navegar según necesidad.</a:t>
            </a:r>
          </a:p>
          <a:p xmlns:a="http://schemas.openxmlformats.org/drawingml/2006/main">
            <a:r>
              <a:t>- **[Sources]:** BR; CI; OD.</a:t>
            </a:r>
          </a:p>
          <a:p xmlns:a="http://schemas.openxmlformats.org/drawingml/2006/main">
            <a:r>
              <a:t/>
            </a:r>
          </a:p>
          <a:p xmlns:a="http://schemas.openxmlformats.org/drawingml/2006/main">
            <a:r>
              <a:t>[Alt text]</a:t>
            </a:r>
          </a:p>
          <a:p xmlns:a="http://schemas.openxmlformats.org/drawingml/2006/main">
            <a:r>
              <a:t>Tabla de navegación interna. La idea central es: Estas slides responden dudas sin interrumpir la secuencia central.</a:t>
            </a:r>
          </a:p>
          <a:p xmlns:a="http://schemas.openxmlformats.org/drawingml/2006/main">
            <a:r>
              <a:t/>
            </a:r>
          </a:p>
          <a:p xmlns:a="http://schemas.openxmlformats.org/drawingml/2006/main">
            <a:r>
              <a:t>[Sources]</a:t>
            </a:r>
          </a:p>
          <a:p xmlns:a="http://schemas.openxmlformats.org/drawingml/2006/main">
            <a:r>
              <a:t>- Fuentes de contenido: BR; CI; 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Usar solo datos autorizados y citar edición exacta. El respaldo amplía o ejercita contenidos sin modificar la ruta central ni convertir modelos en reglas universales. Idea que debe quedar al cerrar: La edición, campo, señal, población y método deben acompañar cualquier dato cuantitativo.</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Si cambiara una condición del estímulo o de la tarea, ¿qué parte de la conclusión debería revisarse?</a:t>
            </a:r>
          </a:p>
          <a:p xmlns:a="http://schemas.openxmlformats.org/drawingml/2006/main">
            <a:r>
              <a:t>- **Respuesta esperada:** La edición, campo, señal, población y método deben acompañar cualquier dato cuantitativo.</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Volver o ampliar vocabulario.</a:t>
            </a:r>
          </a:p>
          <a:p xmlns:a="http://schemas.openxmlformats.org/drawingml/2006/main">
            <a:r>
              <a:t>- **[Sources]:** REF `iso226_2023`; TEX 7.5; OD-U07-02/03.</a:t>
            </a:r>
          </a:p>
          <a:p xmlns:a="http://schemas.openxmlformats.org/drawingml/2006/main">
            <a:r>
              <a:t/>
            </a:r>
          </a:p>
          <a:p xmlns:a="http://schemas.openxmlformats.org/drawingml/2006/main">
            <a:r>
              <a:t>[Alt text]</a:t>
            </a:r>
          </a:p>
          <a:p xmlns:a="http://schemas.openxmlformats.org/drawingml/2006/main">
            <a:r>
              <a:t>Checklist de edición normativa, señal, campo, dirección, población, método y fuente de datos.</a:t>
            </a:r>
          </a:p>
          <a:p xmlns:a="http://schemas.openxmlformats.org/drawingml/2006/main">
            <a:r>
              <a:t/>
            </a:r>
          </a:p>
          <a:p xmlns:a="http://schemas.openxmlformats.org/drawingml/2006/main">
            <a:r>
              <a:t>[Sources]</a:t>
            </a:r>
          </a:p>
          <a:p xmlns:a="http://schemas.openxmlformats.org/drawingml/2006/main">
            <a:r>
              <a:t>- Fuentes de contenido: REF iso226(2023); TEX 7.5; OD-U07-02/03.</a:t>
            </a:r>
          </a:p>
          <a:p xmlns:a="http://schemas.openxmlformats.org/drawingml/2006/main">
            <a:r>
              <a:t>- Asset propio aprobado: U07-DG-011.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Señalar cantidades adimensionales y diferencias expresadas en dB. El respaldo amplía o ejercita contenidos sin modificar la ruta central ni convertir modelos en reglas universales. Idea que debe quedar al cerrar: Cada magnitud conserva símbolo, unidad y condición de medición.</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Cada magnitud conserva símbolo, unidad y condición de medición.</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Volver a la duda específica.</a:t>
            </a:r>
          </a:p>
          <a:p xmlns:a="http://schemas.openxmlformats.org/drawingml/2006/main">
            <a:r>
              <a:t>- **[Sources]:** NOT; GLO; TEX cap. 7.</a:t>
            </a:r>
          </a:p>
          <a:p xmlns:a="http://schemas.openxmlformats.org/drawingml/2006/main">
            <a:r>
              <a:t/>
            </a:r>
          </a:p>
          <a:p xmlns:a="http://schemas.openxmlformats.org/drawingml/2006/main">
            <a:r>
              <a:t>[Alt text]</a:t>
            </a:r>
          </a:p>
          <a:p xmlns:a="http://schemas.openxmlformats.org/drawingml/2006/main">
            <a:r>
              <a:t>Tabla nativa; sin visual externo. La idea central es: Cada magnitud conserva símbolo, unidad y condición de medición.</a:t>
            </a:r>
          </a:p>
          <a:p xmlns:a="http://schemas.openxmlformats.org/drawingml/2006/main">
            <a:r>
              <a:t/>
            </a:r>
          </a:p>
          <a:p xmlns:a="http://schemas.openxmlformats.org/drawingml/2006/main">
            <a:r>
              <a:t>[Sources]</a:t>
            </a:r>
          </a:p>
          <a:p xmlns:a="http://schemas.openxmlformats.org/drawingml/2006/main">
            <a:r>
              <a:t>- Fuentes de contenido: NOT; GLO; TEX cap.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No mezclar variantes ni usar sin citar versión. El respaldo amplía o ejercita contenidos sin modificar la ruta central ni convertir modelos en reglas universales. Idea que debe quedar al cerrar: Una expresión empírica aproxima ERB en función de frecuencia central bajo una convención específica. Escribir y leer la relación por términos: `ERB_N(f_c) = 24,7 Hz · [4,37 · f_c/(1000 Hz) + 1]`; modelo de Glasberg–Moore bajo condiciones definidas. Comprobar unidades antes de interpretar.</a:t>
            </a:r>
          </a:p>
          <a:p xmlns:a="http://schemas.openxmlformats.org/drawingml/2006/main">
            <a:r>
              <a:t>- **Guía para el visual/diagrama:** Recorrer las entidades en el orden visual.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Una expresión empírica aproxima ERB en función de frecuencia central bajo una convención específica.</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Aplicar a 1 kHz.</a:t>
            </a:r>
          </a:p>
          <a:p xmlns:a="http://schemas.openxmlformats.org/drawingml/2006/main">
            <a:r>
              <a:t>- **[Sources]:** TEX 7.9.1; PDF p. 188; REF `oxenham2018`; OD-U07-04.</a:t>
            </a:r>
          </a:p>
          <a:p xmlns:a="http://schemas.openxmlformats.org/drawingml/2006/main">
            <a:r>
              <a:t/>
            </a:r>
          </a:p>
          <a:p xmlns:a="http://schemas.openxmlformats.org/drawingml/2006/main">
            <a:r>
              <a:t>[Alt text]</a:t>
            </a:r>
          </a:p>
          <a:p xmlns:a="http://schemas.openxmlformats.org/drawingml/2006/main">
            <a:r>
              <a:t>Ecuación de ERB de Glasberg–Moore con llamadas a frecuencia central, cociente adimensional, factor en hertz y resultado en hertz.</a:t>
            </a:r>
          </a:p>
          <a:p xmlns:a="http://schemas.openxmlformats.org/drawingml/2006/main">
            <a:r>
              <a:t/>
            </a:r>
          </a:p>
          <a:p xmlns:a="http://schemas.openxmlformats.org/drawingml/2006/main">
            <a:r>
              <a:t>[Sources]</a:t>
            </a:r>
          </a:p>
          <a:p xmlns:a="http://schemas.openxmlformats.org/drawingml/2006/main">
            <a:r>
              <a:t>- Fuentes de contenido: TEX 7.9.1; PDF p. 188; REF oxenham2018; OD-U07-04.</a:t>
            </a:r>
          </a:p>
          <a:p xmlns:a="http://schemas.openxmlformats.org/drawingml/2006/main">
            <a:r>
              <a:t>- Asset propio aprobado: U07-CH-008.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Comparar el resultado con la figura de áreas, no memorizarlo aislado. El respaldo amplía o ejercita contenidos sin modificar la ruta central ni convertir modelos en reglas universales. Idea que debe quedar al cerrar: El resultado es un ancho equivalente del modelo, no una banda anatómica rígida. Escribir y leer la relación por términos: `ERB_N(1000 Hz) = 24,7 Hz · (4,37 + 1) = 132,639 Hz ≈ 133 Hz`. Comprobar unidades antes de interpretar. Ejemplo para desarrollar oralmente: Para `f_c = 1000 Hz`, el ancho equivalente estimado es aproximadamente 133 Hz; no es una banda anatómica rígida.</a:t>
            </a:r>
          </a:p>
          <a:p xmlns:a="http://schemas.openxmlformats.org/drawingml/2006/main">
            <a:r>
              <a:t>- **Guía para el visual/diagrama:** Recorrer las entidades en el orden visual.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resultado es un ancho equivalente del modelo, no una banda anatómica rígida.</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Discutir por qué existen variantes.</a:t>
            </a:r>
          </a:p>
          <a:p xmlns:a="http://schemas.openxmlformats.org/drawingml/2006/main">
            <a:r>
              <a:t>- **[Sources]:** Fuente definida en U07-125.</a:t>
            </a:r>
          </a:p>
          <a:p xmlns:a="http://schemas.openxmlformats.org/drawingml/2006/main">
            <a:r>
              <a:t/>
            </a:r>
          </a:p>
          <a:p xmlns:a="http://schemas.openxmlformats.org/drawingml/2006/main">
            <a:r>
              <a:t>[Alt text]</a:t>
            </a:r>
          </a:p>
          <a:p xmlns:a="http://schemas.openxmlformats.org/drawingml/2006/main">
            <a:r>
              <a:t>Cálculo en cuatro pasos para frecuencia central de mil hertz y resultado aproximado de ciento treinta y tres hertz.</a:t>
            </a:r>
          </a:p>
          <a:p xmlns:a="http://schemas.openxmlformats.org/drawingml/2006/main">
            <a:r>
              <a:t/>
            </a:r>
          </a:p>
          <a:p xmlns:a="http://schemas.openxmlformats.org/drawingml/2006/main">
            <a:r>
              <a:t>[Sources]</a:t>
            </a:r>
          </a:p>
          <a:p xmlns:a="http://schemas.openxmlformats.org/drawingml/2006/main">
            <a:r>
              <a:t>- Fuentes de contenido: Fuente definida en U07-125.</a:t>
            </a:r>
          </a:p>
          <a:p xmlns:a="http://schemas.openxmlformats.org/drawingml/2006/main">
            <a:r>
              <a:t>- Asset propio aprobado: U07-CH-008.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No seleccionar una variante por conveniencia numérica. El respaldo amplía o ejercita contenidos sin modificar la ruta central ni convertir modelos en reglas universales. Idea que debe quedar al cerrar: Dos expresiones parecidas pueden usar unidades o ajustes distintos.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Dos expresiones parecidas pueden usar unidades o ajustes distintos.</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Volver a inteligibilidad.</a:t>
            </a:r>
          </a:p>
          <a:p xmlns:a="http://schemas.openxmlformats.org/drawingml/2006/main">
            <a:r>
              <a:t>- **[Sources]:** REF académicas a verificar; OD-U07-04; SA.</a:t>
            </a:r>
          </a:p>
          <a:p xmlns:a="http://schemas.openxmlformats.org/drawingml/2006/main">
            <a:r>
              <a:t/>
            </a:r>
          </a:p>
          <a:p xmlns:a="http://schemas.openxmlformats.org/drawingml/2006/main">
            <a:r>
              <a:t>[Alt text]</a:t>
            </a:r>
          </a:p>
          <a:p xmlns:a="http://schemas.openxmlformats.org/drawingml/2006/main">
            <a:r>
              <a:t>Tabla nativa + mini curvas solo si se documentan.</a:t>
            </a:r>
          </a:p>
          <a:p xmlns:a="http://schemas.openxmlformats.org/drawingml/2006/main">
            <a:r>
              <a:t/>
            </a:r>
          </a:p>
          <a:p xmlns:a="http://schemas.openxmlformats.org/drawingml/2006/main">
            <a:r>
              <a:t>[Sources]</a:t>
            </a:r>
          </a:p>
          <a:p xmlns:a="http://schemas.openxmlformats.org/drawingml/2006/main">
            <a:r>
              <a:t>- Fuentes de contenido: REF académicas a verificar; OD-U07-04; SA.</a:t>
            </a:r>
          </a:p>
          <a:p xmlns:a="http://schemas.openxmlformats.org/drawingml/2006/main">
            <a:r>
              <a:t>- Asset propio aprobado: U07-CH-008.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No calcular ni presentar valores sin normas y datos. El respaldo amplía o ejercita contenidos sin modificar la ruta central ni convertir modelos en reglas universales. Idea que debe quedar al cerrar: STI aborda transmisión del habla y SII audibilidad ponderada; ambos requieren procedimientos propios.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STI aborda transmisión del habla y SII audibilidad ponderada; ambos requieren procedimientos propios.</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Volver a reverberación.</a:t>
            </a:r>
          </a:p>
          <a:p xmlns:a="http://schemas.openxmlformats.org/drawingml/2006/main">
            <a:r>
              <a:t>- **[Sources]:** TEX A3; PDF p. 199; REF `iec60268_16_2020`; norma SII pendiente de incorporar; OD-U07-05.</a:t>
            </a:r>
          </a:p>
          <a:p xmlns:a="http://schemas.openxmlformats.org/drawingml/2006/main">
            <a:r>
              <a:t/>
            </a:r>
          </a:p>
          <a:p xmlns:a="http://schemas.openxmlformats.org/drawingml/2006/main">
            <a:r>
              <a:t>[Alt text]</a:t>
            </a:r>
          </a:p>
          <a:p xmlns:a="http://schemas.openxmlformats.org/drawingml/2006/main">
            <a:r>
              <a:t>Comparación tipográfica, sin ecuaciones. La idea central es: STI aborda transmisión del habla y SII audibilidad ponderada; ambos requieren procedimientos propios.</a:t>
            </a:r>
          </a:p>
          <a:p xmlns:a="http://schemas.openxmlformats.org/drawingml/2006/main">
            <a:r>
              <a:t/>
            </a:r>
          </a:p>
          <a:p xmlns:a="http://schemas.openxmlformats.org/drawingml/2006/main">
            <a:r>
              <a:t>[Sources]</a:t>
            </a:r>
          </a:p>
          <a:p xmlns:a="http://schemas.openxmlformats.org/drawingml/2006/main">
            <a:r>
              <a:t>- Fuentes de contenido: TEX A3; PDF p. 199; REF iec60268(16)(2020); norma SII pendiente de incorporar; OD-U07-05.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No introducir diseño de salas ni fórmula de Sabine. El respaldo amplía o ejercita contenidos sin modificar la ruta central ni convertir modelos en reglas universales. Idea que debe quedar al cerrar: En práctica pueden estimarse tramos menores y extrapolarse; el resultado depende de banda y método.</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En práctica pueden estimarse tramos menores y extrapolarse; el resultado depende de banda y método.</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Ofrecer cálculo alternativo de SNR.</a:t>
            </a:r>
          </a:p>
          <a:p xmlns:a="http://schemas.openxmlformats.org/drawingml/2006/main">
            <a:r>
              <a:t>- **[Sources]:** TEX 7.10.2; PDF pp. 191–192; MAP; DM.</a:t>
            </a:r>
          </a:p>
          <a:p xmlns:a="http://schemas.openxmlformats.org/drawingml/2006/main">
            <a:r>
              <a:t/>
            </a:r>
          </a:p>
          <a:p xmlns:a="http://schemas.openxmlformats.org/drawingml/2006/main">
            <a:r>
              <a:t>[Alt text]</a:t>
            </a:r>
          </a:p>
          <a:p xmlns:a="http://schemas.openxmlformats.org/drawingml/2006/main">
            <a:r>
              <a:t>Recta descendente desde cero decibeles relativos en cero segundos hasta menos sesenta decibeles en uno coma dos segundos, con piso de ruido conceptual.</a:t>
            </a:r>
          </a:p>
          <a:p xmlns:a="http://schemas.openxmlformats.org/drawingml/2006/main">
            <a:r>
              <a:t/>
            </a:r>
          </a:p>
          <a:p xmlns:a="http://schemas.openxmlformats.org/drawingml/2006/main">
            <a:r>
              <a:t>[Sources]</a:t>
            </a:r>
          </a:p>
          <a:p xmlns:a="http://schemas.openxmlformats.org/drawingml/2006/main">
            <a:r>
              <a:t>- Fuentes de contenido: TEX 7.10.2; PDF pp. 191–192; MAP; DM.</a:t>
            </a:r>
          </a:p>
          <a:p xmlns:a="http://schemas.openxmlformats.org/drawingml/2006/main">
            <a:r>
              <a:t>- Asset propio aprobado: U07-CH-009.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signo, significado y dato faltante. El respaldo amplía o ejercita contenidos sin modificar la ruta central ni convertir modelos en reglas universales. Idea que debe quedar al cerrar: Una SNR negativa no significa ausencia de voz ni inteligibilidad nula automática. Escribir y leer la relación por términos: `SNR = L_p,habla − L_p,ruido`; use los datos suministrados y conserve el signo. Comprobar unidades antes de interpretar. Ejemplo para desarrollar oralmente: Habla a 64 dB SPL y ruido a 58 dB SPL, medidos con la misma banda, ponderación, posición e intervalo. Solución esperada: `SNR = 64 dB SPL − 58 dB SPL = +6 dB`. La voz posee mayor nivel en la medición, pero no se deduce un porcentaje de inteligibilidad.</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Datos comparables: voz `64 dB SPL`; ruido `58 dB SPL`. Calcule la SNR, interprete el signo y nombre un dato faltante.</a:t>
            </a:r>
          </a:p>
          <a:p xmlns:a="http://schemas.openxmlformats.org/drawingml/2006/main">
            <a:r>
              <a:t>- **Respuesta esperada:** `SNR = 64 dB SPL − 58 dB SPL = +6 dB`. La voz posee mayor nivel en la medición, pero no se deduce un porcentaje de inteligibilidad.</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Ofrecer variante de ALCons.</a:t>
            </a:r>
          </a:p>
          <a:p xmlns:a="http://schemas.openxmlformats.org/drawingml/2006/main">
            <a:r>
              <a:t>- **[Sources]:** TEX 7.10.1; PDF p. 191; EP.</a:t>
            </a:r>
          </a:p>
          <a:p xmlns:a="http://schemas.openxmlformats.org/drawingml/2006/main">
            <a:r>
              <a:t/>
            </a:r>
          </a:p>
          <a:p xmlns:a="http://schemas.openxmlformats.org/drawingml/2006/main">
            <a:r>
              <a:t>[Alt text]</a:t>
            </a:r>
          </a:p>
          <a:p xmlns:a="http://schemas.openxmlformats.org/drawingml/2006/main">
            <a:r>
              <a:t>Cálculo editable; respuesta oculta en notas del orador. La idea central es: Una SNR negativa no significa ausencia de voz ni inteligibilidad nula automática.</a:t>
            </a:r>
          </a:p>
          <a:p xmlns:a="http://schemas.openxmlformats.org/drawingml/2006/main">
            <a:r>
              <a:t/>
            </a:r>
          </a:p>
          <a:p xmlns:a="http://schemas.openxmlformats.org/drawingml/2006/main">
            <a:r>
              <a:t>[Sources]</a:t>
            </a:r>
          </a:p>
          <a:p xmlns:a="http://schemas.openxmlformats.org/drawingml/2006/main">
            <a:r>
              <a:t>- Fuentes de contenido: TEX 7.10.1; PDF p. 191;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Confirmar que los conteos son adimensionales y que el resultado pertenece a la prueba. El respaldo amplía o ejercita contenidos sin modificar la ruta central ni convertir modelos en reglas universales. Idea que debe quedar al cerrar: Dos pruebas con el mismo porcentaje pueden diferir en cantidad de ítems, material y población. Escribir y leer la relación por términos: `ALCons = 100 · (1 − n_c/n_p) %`; aplique la misma relación a ambos pares de conteos. Comprobar unidades antes de interpretar. Ejemplo para desarrollar oralmente: Resolver cada cociente por separado y comparar luego el porcentaje, el número de ítems y las condiciones de prueba. Solución esperada: `68/80` y `102/120` producen `ALCons = 15 %`. El mismo porcentaje no vuelve equivalentes las pruebas.</a:t>
            </a:r>
          </a:p>
          <a:p xmlns:a="http://schemas.openxmlformats.org/drawingml/2006/main">
            <a:r>
              <a:t>- **Guía para el visual/diagrama:** Recorrido sugerido: ALCons = 100 · (1 − n_c / n_p) % → n_p → n_c → 100 × → Límite. Nombrar primero los elementos, explicar luego las relaciones y cerrar con el límite indicado en el caption. No leer las cajas como un párrafo.</a:t>
            </a:r>
          </a:p>
          <a:p xmlns:a="http://schemas.openxmlformats.org/drawingml/2006/main">
            <a:r>
              <a:t>- **Pregunta al curso:** Prueba A: `n_p=80`, `n_c=68`. Prueba B: `n_p=120`, `n_c=102`. Calcule ALCons y explique qué no vuelve equivalentes a las dos pruebas.</a:t>
            </a:r>
          </a:p>
          <a:p xmlns:a="http://schemas.openxmlformats.org/drawingml/2006/main">
            <a:r>
              <a:t>- **Respuesta esperada:** `68/80` y `102/120` producen `ALCons = 15 %`. El mismo porcentaje no vuelve equivalentes las pruebas.</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Ofrecer retardo alternativo.</a:t>
            </a:r>
          </a:p>
          <a:p xmlns:a="http://schemas.openxmlformats.org/drawingml/2006/main">
            <a:r>
              <a:t>- **[Sources]:** TEX ec. 7.6; PDF pp. 191–192.</a:t>
            </a:r>
          </a:p>
          <a:p xmlns:a="http://schemas.openxmlformats.org/drawingml/2006/main">
            <a:r>
              <a:t/>
            </a:r>
          </a:p>
          <a:p xmlns:a="http://schemas.openxmlformats.org/drawingml/2006/main">
            <a:r>
              <a:t>[Alt text]</a:t>
            </a:r>
          </a:p>
          <a:p xmlns:a="http://schemas.openxmlformats.org/drawingml/2006/main">
            <a:r>
              <a:t>Ecuación central ALCons igual cien por uno menos correctas sobre presentadas, con cuatro llamadas externas.</a:t>
            </a:r>
          </a:p>
          <a:p xmlns:a="http://schemas.openxmlformats.org/drawingml/2006/main">
            <a:r>
              <a:t/>
            </a:r>
          </a:p>
          <a:p xmlns:a="http://schemas.openxmlformats.org/drawingml/2006/main">
            <a:r>
              <a:t>[Sources]</a:t>
            </a:r>
          </a:p>
          <a:p xmlns:a="http://schemas.openxmlformats.org/drawingml/2006/main">
            <a:r>
              <a:t>- Fuentes de contenido: TEX ec. 7.6; PDF pp. 191–192.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Separar respuesta física calculable de respuesta perceptual no determinada. El respaldo amplía o ejercita contenidos sin modificar la ruta central ni convertir modelos en reglas universales. Idea que debe quedar al cerrar: Solo la diferencia `r_r-r_d` entra en el cálculo. Escribir y leer la relación por términos: `Δt = (r_r − r_d)/c = Δr/c`; use la diferencia de caminos, no el recorrido reflejado aislado. Comprobar unidades antes de interpretar. Ejemplo para desarrollar oralmente: Usar solo la diferencia de recorridos y convertir el resultado de segundos a milisegundos al final. Solución esperada: `Δt = 5,15 m / 343 m·s⁻¹ = 0,0150 s = 15,0 ms`. Faltan nivel, espectro, dirección y tarea para anticipar eco.</a:t>
            </a:r>
          </a:p>
          <a:p xmlns:a="http://schemas.openxmlformats.org/drawingml/2006/main">
            <a:r>
              <a:t>- **Guía para el visual/diagrama:** Recorrido sugerido: Fuente → Superficie → Oyente → Camino directo → Camino reflejado. Nombrar primero los elementos, explicar luego las relaciones y cerrar con el límite indicado en el caption. No leer las cajas como un párrafo.</a:t>
            </a:r>
          </a:p>
          <a:p xmlns:a="http://schemas.openxmlformats.org/drawingml/2006/main">
            <a:r>
              <a:t>- **Pregunta al curso:** Una reflexión recorre `5,15 m` adicionales; adopte `c=343 m·s⁻¹`. Calcule el retardo y explique por qué no decide si habrá eco.</a:t>
            </a:r>
          </a:p>
          <a:p xmlns:a="http://schemas.openxmlformats.org/drawingml/2006/main">
            <a:r>
              <a:t>- **Respuesta esperada:** `Δt = 5,15 m / 343 m·s⁻¹ = 0,0150 s = 15,0 ms`. Faltan nivel, espectro, dirección y tarea para anticipar eco.</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Ofrecer ITD alternativo.</a:t>
            </a:r>
          </a:p>
          <a:p xmlns:a="http://schemas.openxmlformats.org/drawingml/2006/main">
            <a:r>
              <a:t>- **[Sources]:** TEX 7.11; PDF p. 192; EP.</a:t>
            </a:r>
          </a:p>
          <a:p xmlns:a="http://schemas.openxmlformats.org/drawingml/2006/main">
            <a:r>
              <a:t/>
            </a:r>
          </a:p>
          <a:p xmlns:a="http://schemas.openxmlformats.org/drawingml/2006/main">
            <a:r>
              <a:t>[Alt text]</a:t>
            </a:r>
          </a:p>
          <a:p xmlns:a="http://schemas.openxmlformats.org/drawingml/2006/main">
            <a:r>
              <a:t>Fuente, superficie y oyente con dos recorridos visualmente distintos y rótulos r sub d y r sub r.</a:t>
            </a:r>
          </a:p>
          <a:p xmlns:a="http://schemas.openxmlformats.org/drawingml/2006/main">
            <a:r>
              <a:t/>
            </a:r>
          </a:p>
          <a:p xmlns:a="http://schemas.openxmlformats.org/drawingml/2006/main">
            <a:r>
              <a:t>[Sources]</a:t>
            </a:r>
          </a:p>
          <a:p xmlns:a="http://schemas.openxmlformats.org/drawingml/2006/main">
            <a:r>
              <a:t>- Fuentes de contenido: TEX 7.11; PDF p. 192; EP.</a:t>
            </a:r>
          </a:p>
          <a:p xmlns:a="http://schemas.openxmlformats.org/drawingml/2006/main">
            <a:r>
              <a:t>- Asset propio aprobado: U07-DG-029.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qué puede y qué no puede responder `abs(Δt_LR)≈d/c`. El respaldo amplía o ejercita contenidos sin modificar la ruta central ni convertir modelos en reglas universales. Idea que debe quedar al cerrar: Duplicar `d` duplicaría la cota del modelo; cambiar la dirección exige información que esta ecuación no contiene. Escribir y leer la relación por términos: `|Δt_LR| ≈ d/c`; compare las cotas obtenidas y explicite qué variable direccional falta. Comprobar unidades antes de interpretar. Ejemplo para desarrollar oralmente: Estimar primero el orden de magnitud en segundos y convertir después a milisegundos o microsegundos. Solución esperada: `|Δt_LR| ≈ 0,170 m / 340 m·s⁻¹ = 0,000500 s = 0,500 ms`. Es una cota del modelo rectilíneo.</a:t>
            </a:r>
          </a:p>
          <a:p xmlns:a="http://schemas.openxmlformats.org/drawingml/2006/main">
            <a:r>
              <a:t>- **Guía para el visual/diagrama:** Recorrido sugerido: Llegada extrema → Oído L → Oído R → Distancia efectiva d. Nombrar primero los elementos, explicar luego las relaciones y cerrar con el límite indicado en el caption. No leer las cajas como un párrafo.</a:t>
            </a:r>
          </a:p>
          <a:p xmlns:a="http://schemas.openxmlformats.org/drawingml/2006/main">
            <a:r>
              <a:t>- **Pregunta al curso:** Modelo rectilíneo: `d=0,170 m`, `c=340 m·s⁻¹`. Calcule la cota de ITD y señale qué no informa sobre la dirección.</a:t>
            </a:r>
          </a:p>
          <a:p xmlns:a="http://schemas.openxmlformats.org/drawingml/2006/main">
            <a:r>
              <a:t>- **Respuesta esperada:** `|Δt_LR| ≈ 0,170 m / 340 m·s⁻¹ = 0,000500 s = 0,500 ms`. Es una cota del modelo rectilíneo.</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Cerrar respaldo con trazabilidad.</a:t>
            </a:r>
          </a:p>
          <a:p xmlns:a="http://schemas.openxmlformats.org/drawingml/2006/main">
            <a:r>
              <a:t>- **[Sources]:** TEX 7.12; PDF p. 193; EP.</a:t>
            </a:r>
          </a:p>
          <a:p xmlns:a="http://schemas.openxmlformats.org/drawingml/2006/main">
            <a:r>
              <a:t/>
            </a:r>
          </a:p>
          <a:p xmlns:a="http://schemas.openxmlformats.org/drawingml/2006/main">
            <a:r>
              <a:t>[Alt text]</a:t>
            </a:r>
          </a:p>
          <a:p xmlns:a="http://schemas.openxmlformats.org/drawingml/2006/main">
            <a:r>
              <a:t>Frente de onda y dos oídos con una cota d; se declara que el modelo omite difracción y no representa anatomía exacta.</a:t>
            </a:r>
          </a:p>
          <a:p xmlns:a="http://schemas.openxmlformats.org/drawingml/2006/main">
            <a:r>
              <a:t/>
            </a:r>
          </a:p>
          <a:p xmlns:a="http://schemas.openxmlformats.org/drawingml/2006/main">
            <a:r>
              <a:t>[Sources]</a:t>
            </a:r>
          </a:p>
          <a:p xmlns:a="http://schemas.openxmlformats.org/drawingml/2006/main">
            <a:r>
              <a:t>- Fuentes de contenido: TEX 7.12; PDF p. 193; EP.</a:t>
            </a:r>
          </a:p>
          <a:p xmlns:a="http://schemas.openxmlformats.org/drawingml/2006/main">
            <a:r>
              <a:t>- Asset propio aprobado: U07-DG-035.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Distinguir fuente primaria de ampliación didáctica. El respaldo amplía o ejercita contenidos sin modificar la ruta central ni convertir modelos en reglas universales. Idea que debe quedar al cerrar: Programa y libro fijan alcance; normas y referencias externas solo amplían o verifican.</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Programa y libro fijan alcance; normas y referencias externas solo amplían o verifican.</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Fin.</a:t>
            </a:r>
          </a:p>
          <a:p xmlns:a="http://schemas.openxmlformats.org/drawingml/2006/main">
            <a:r>
              <a:t>- **[Sources]:** PO; TEX; PDF; SA; REF; OD.</a:t>
            </a:r>
          </a:p>
          <a:p xmlns:a="http://schemas.openxmlformats.org/drawingml/2006/main">
            <a:r>
              <a:t/>
            </a:r>
          </a:p>
          <a:p xmlns:a="http://schemas.openxmlformats.org/drawingml/2006/main">
            <a:r>
              <a:t>[Alt text]</a:t>
            </a:r>
          </a:p>
          <a:p xmlns:a="http://schemas.openxmlformats.org/drawingml/2006/main">
            <a:r>
              <a:t>Texto jerarquizado; sin asset. La idea central es: Programa y libro fijan alcance; normas y referencias externas solo amplían o verifican.</a:t>
            </a:r>
          </a:p>
          <a:p xmlns:a="http://schemas.openxmlformats.org/drawingml/2006/main">
            <a:r>
              <a:t/>
            </a:r>
          </a:p>
          <a:p xmlns:a="http://schemas.openxmlformats.org/drawingml/2006/main">
            <a:r>
              <a:t>[Sources]</a:t>
            </a:r>
          </a:p>
          <a:p xmlns:a="http://schemas.openxmlformats.org/drawingml/2006/main">
            <a:r>
              <a:t>- Fuentes de contenido: PO; TEX; PDF; SA; REF; 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1eb3e8d0464a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0823ab82e1d4a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4d5a7fc42f48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ae8e601ba134f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fa41c9e1ee4a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771d48a3d64b1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546a3ea038e47e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6bcf135cc4e4b2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863ddb6691c464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9d10963644b4bf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b73b12de0f54c3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54df8787bccd495b"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92338f83569344d3"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c17833b5bd8f4367"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35f55d2e89694870"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c9bcaf86a18c4648"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8fa867485541486d"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a86714c1772d4b0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fc2de8d66b2f4e85"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495d7a2deda944ab"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20b79aab339a4ce7"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c79abb8fadd44810"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874070c060d4482d"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12e79bc1889946f6"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xml" Id="Re7b5fe1258914d23"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05e744604d8440b3"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2.xml" Id="R26baf730c2584932" /></Relationships>
</file>

<file path=ppt/slideLayouts/slideLayout1.xml><?xml version="1.0" encoding="utf-8"?>
<p:sldLayout xmlns:p="http://schemas.openxmlformats.org/presentationml/2006/main" type="title">
  <p:cSld name="FA_02_OBJETIVOS">
    <p:spTree>
      <p:nvGrpSpPr>
        <p:cNvPr id="1" name=""/>
        <p:cNvGrpSpPr/>
        <p:nvPr/>
      </p:nvGrpSpPr>
      <p:grpSpPr>
        <a:xfrm xmlns:a="http://schemas.openxmlformats.org/drawingml/2006/main"/>
      </p:grpSpPr>
      <p:sp>
        <p:nvSpPr>
          <p:cNvPr id="2" name="ph_title_0">
            <a:extLst xmlns:a="http://schemas.openxmlformats.org/drawingml/2006/main">
              <a:ext uri="{FF2B5EF4-FFF2-40B4-BE49-F238E27FC236}">
                <a16:creationId xmlns:a16="http://schemas.microsoft.com/office/drawing/2014/main" id="{4E7B686E-D1DB-4795-5290-247ED77443BC}"/>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Objetivos de aprendizaje</a:t>
            </a:r>
          </a:p>
        </p:txBody>
      </p:sp>
      <p:sp>
        <p:nvSpPr>
          <p:cNvPr id="3" name="ph_body_0">
            <a:extLst xmlns:a="http://schemas.openxmlformats.org/drawingml/2006/main">
              <a:ext uri="{FF2B5EF4-FFF2-40B4-BE49-F238E27FC236}">
                <a16:creationId xmlns:a16="http://schemas.microsoft.com/office/drawing/2014/main" id="{F07F7DEC-A90F-3966-89A5-75E897AE30F9}"/>
              </a:ext>
            </a:extLst>
          </p:cNvPr>
          <p:cNvSpPr>
            <a:spLocks xmlns:a="http://schemas.openxmlformats.org/drawingml/2006/main" noGrp="1"/>
          </p:cNvSpPr>
          <p:nvPr>
            <p:ph type="body" idx="11" hasCustomPrompt="1"/>
          </p:nvPr>
        </p:nvSpPr>
        <p:spPr>
          <a:xfrm xmlns:a="http://schemas.openxmlformats.org/drawingml/2006/main">
            <a:off x="800100" y="1733550"/>
            <a:ext cx="8001000" cy="400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Objetivos observables</a:t>
            </a:r>
          </a:p>
        </p:txBody>
      </p:sp>
      <p:sp>
        <p:nvSpPr>
          <p:cNvPr id="4" name="ph_content_0">
            <a:extLst xmlns:a="http://schemas.openxmlformats.org/drawingml/2006/main">
              <a:ext uri="{FF2B5EF4-FFF2-40B4-BE49-F238E27FC236}">
                <a16:creationId xmlns:a16="http://schemas.microsoft.com/office/drawing/2014/main" id="{D4921F09-2F28-54BE-F644-07838B22BCE2}"/>
              </a:ext>
            </a:extLst>
          </p:cNvPr>
          <p:cNvSpPr>
            <a:spLocks xmlns:a="http://schemas.openxmlformats.org/drawingml/2006/main" noGrp="1"/>
          </p:cNvSpPr>
          <p:nvPr>
            <p:ph idx="12" hasCustomPrompt="1"/>
          </p:nvPr>
        </p:nvSpPr>
        <p:spPr>
          <a:xfrm xmlns:a="http://schemas.openxmlformats.org/drawingml/2006/main">
            <a:off x="9144000" y="1752600"/>
            <a:ext cx="2286000" cy="34290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Síntesis visual</a:t>
            </a:r>
          </a:p>
        </p:txBody>
      </p:sp>
      <p:sp>
        <p:nvSpPr>
          <p:cNvPr id="5" name="fa_slide_number">
            <a:extLst xmlns:a="http://schemas.openxmlformats.org/drawingml/2006/main">
              <a:ext uri="{FF2B5EF4-FFF2-40B4-BE49-F238E27FC236}">
                <a16:creationId xmlns:a16="http://schemas.microsoft.com/office/drawing/2014/main" id="{1912B5C8-473B-C77D-A05F-B105E16C686E}"/>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493598C6-FC0D-4EB0-AFF4-EF34A4827315}" type="slidenum">
              <a:t>‹Nº›</a:t>
            </a:fld>
            <a:endParaRPr/>
          </a:p>
        </p:txBody>
      </p:sp>
    </p:spTree>
  </p:cSld>
  <p:hf hdr="0" ftr="0" dt="0"/>
</p:sldLayout>
</file>

<file path=ppt/slideLayouts/slideLayout2.xml><?xml version="1.0" encoding="utf-8"?>
<p:sldLayout xmlns:p="http://schemas.openxmlformats.org/presentationml/2006/main" userDrawn="1">
  <p:cSld name="FA_23_APENDICE">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4F817AC1-63E9-74A3-6EEF-E53D71A0508E}"/>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Apéndice</a:t>
            </a:r>
          </a:p>
        </p:txBody>
      </p:sp>
      <p:sp>
        <p:nvSpPr>
          <p:cNvPr id="7" name="ph_body_0">
            <a:extLst xmlns:a="http://schemas.openxmlformats.org/drawingml/2006/main">
              <a:ext uri="{FF2B5EF4-FFF2-40B4-BE49-F238E27FC236}">
                <a16:creationId xmlns:a16="http://schemas.microsoft.com/office/drawing/2014/main" id="{3A72ED7B-043F-EB18-1C28-92B596F251B2}"/>
              </a:ext>
            </a:extLst>
          </p:cNvPr>
          <p:cNvSpPr>
            <a:spLocks xmlns:a="http://schemas.openxmlformats.org/drawingml/2006/main" noGrp="1"/>
          </p:cNvSpPr>
          <p:nvPr>
            <p:ph type="body" idx="11" hasCustomPrompt="1"/>
          </p:nvPr>
        </p:nvSpPr>
        <p:spPr>
          <a:xfrm xmlns:a="http://schemas.openxmlformats.org/drawingml/2006/main">
            <a:off x="762000" y="1676400"/>
            <a:ext cx="10668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Material de consulta</a:t>
            </a:r>
          </a:p>
        </p:txBody>
      </p:sp>
      <p:sp>
        <p:nvSpPr>
          <p:cNvPr id="8" name="fa_slide_number">
            <a:extLst xmlns:a="http://schemas.openxmlformats.org/drawingml/2006/main">
              <a:ext uri="{FF2B5EF4-FFF2-40B4-BE49-F238E27FC236}">
                <a16:creationId xmlns:a16="http://schemas.microsoft.com/office/drawing/2014/main" id="{54E6216A-7B06-7D20-00D4-14737599E1E4}"/>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89BA0A7D-AABB-4192-B838-2BA5BB3178BC}" type="slidenum">
              <a:t>‹Nº›</a:t>
            </a:fld>
            <a:endParaRPr/>
          </a:p>
        </p:txBody>
      </p:sp>
    </p:spTree>
  </p:cSld>
  <p:hf hdr="0" ftr="0" dt="0"/>
</p:sldLayout>
</file>

<file path=ppt/slideLayouts/slideLayout3.xml><?xml version="1.0" encoding="utf-8"?>
<p:sldLayout xmlns:p="http://schemas.openxmlformats.org/presentationml/2006/main" userDrawn="1">
  <p:cSld name="FA_22_VISUAL_COMPLET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B0072429-6B7A-69F4-3F2D-C2B17968DFE0}"/>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picture_0">
            <a:extLst xmlns:a="http://schemas.openxmlformats.org/drawingml/2006/main">
              <a:ext uri="{FF2B5EF4-FFF2-40B4-BE49-F238E27FC236}">
                <a16:creationId xmlns:a16="http://schemas.microsoft.com/office/drawing/2014/main" id="{F9D8C064-C5F2-F9D4-1C9F-C48CF1E689A0}"/>
              </a:ext>
            </a:extLst>
          </p:cNvPr>
          <p:cNvSpPr>
            <a:spLocks xmlns:a="http://schemas.openxmlformats.org/drawingml/2006/main" noGrp="1"/>
          </p:cNvSpPr>
          <p:nvPr>
            <p:ph type="pic" idx="11" hasCustomPrompt="1"/>
          </p:nvPr>
        </p:nvSpPr>
        <p:spPr>
          <a:xfrm xmlns:a="http://schemas.openxmlformats.org/drawingml/2006/main">
            <a:off x="762000" y="1562100"/>
            <a:ext cx="10668000" cy="42100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Visual principal</a:t>
            </a:r>
          </a:p>
        </p:txBody>
      </p:sp>
      <p:sp>
        <p:nvSpPr>
          <p:cNvPr id="8" name="fa_slide_number">
            <a:extLst xmlns:a="http://schemas.openxmlformats.org/drawingml/2006/main">
              <a:ext uri="{FF2B5EF4-FFF2-40B4-BE49-F238E27FC236}">
                <a16:creationId xmlns:a16="http://schemas.microsoft.com/office/drawing/2014/main" id="{BEAB57CB-6BFE-7577-9B58-D0EA985A281A}"/>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DBBF5632-20E4-4D54-B3A4-92C990DA26EE}" type="slidenum">
              <a:t>‹Nº›</a:t>
            </a:fld>
            <a:endParaRPr/>
          </a:p>
        </p:txBody>
      </p:sp>
    </p:spTree>
  </p:cSld>
  <p:hf hdr="0" ftr="0" dt="0"/>
</p:sldLayout>
</file>

<file path=ppt/slideLayouts/slideLayout4.xml><?xml version="1.0" encoding="utf-8"?>
<p:sldLayout xmlns:p="http://schemas.openxmlformats.org/presentationml/2006/main" userDrawn="1">
  <p:cSld name="FA_20_BIBLIO_RECURSOS">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9FB78823-06A2-4172-6192-1B829F9AB87F}"/>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Bibliografía y recursos</a:t>
            </a:r>
          </a:p>
        </p:txBody>
      </p:sp>
      <p:sp>
        <p:nvSpPr>
          <p:cNvPr id="7" name="ph_body_0">
            <a:extLst xmlns:a="http://schemas.openxmlformats.org/drawingml/2006/main">
              <a:ext uri="{FF2B5EF4-FFF2-40B4-BE49-F238E27FC236}">
                <a16:creationId xmlns:a16="http://schemas.microsoft.com/office/drawing/2014/main" id="{009E4BB4-6F84-BBB7-BD01-0716EEE41AB5}"/>
              </a:ext>
            </a:extLst>
          </p:cNvPr>
          <p:cNvSpPr>
            <a:spLocks xmlns:a="http://schemas.openxmlformats.org/drawingml/2006/main" noGrp="1"/>
          </p:cNvSpPr>
          <p:nvPr>
            <p:ph type="body" idx="11" hasCustomPrompt="1"/>
          </p:nvPr>
        </p:nvSpPr>
        <p:spPr>
          <a:xfrm xmlns:a="http://schemas.openxmlformats.org/drawingml/2006/main">
            <a:off x="762000" y="1676400"/>
            <a:ext cx="10668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Referencias y enlaces</a:t>
            </a:r>
          </a:p>
        </p:txBody>
      </p:sp>
      <p:sp>
        <p:nvSpPr>
          <p:cNvPr id="8" name="fa_slide_number">
            <a:extLst xmlns:a="http://schemas.openxmlformats.org/drawingml/2006/main">
              <a:ext uri="{FF2B5EF4-FFF2-40B4-BE49-F238E27FC236}">
                <a16:creationId xmlns:a16="http://schemas.microsoft.com/office/drawing/2014/main" id="{FCDD5430-4EE5-8B4D-B583-289E6408232B}"/>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E8732B64-9C97-4971-8B5F-42781D287601}" type="slidenum">
              <a:t>‹Nº›</a:t>
            </a:fld>
            <a:endParaRPr/>
          </a:p>
        </p:txBody>
      </p:sp>
    </p:spTree>
  </p:cSld>
  <p:hf hdr="0" ftr="0" dt="0"/>
</p:sldLayout>
</file>

<file path=ppt/slideLayouts/slideLayout5.xml><?xml version="1.0" encoding="utf-8"?>
<p:sldLayout xmlns:p="http://schemas.openxmlformats.org/presentationml/2006/main" userDrawn="1">
  <p:cSld name="FA_19_MEDIA_AUDIO_VIDE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B0CDC979-FF33-3EDD-88CD-DF60D4B1D61C}"/>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Video, GIF o audio</a:t>
            </a:r>
          </a:p>
        </p:txBody>
      </p:sp>
      <p:sp>
        <p:nvSpPr>
          <p:cNvPr id="7" name="ph_media_0">
            <a:extLst xmlns:a="http://schemas.openxmlformats.org/drawingml/2006/main">
              <a:ext uri="{FF2B5EF4-FFF2-40B4-BE49-F238E27FC236}">
                <a16:creationId xmlns:a16="http://schemas.microsoft.com/office/drawing/2014/main" id="{079FCF96-20BE-7B92-B825-972A93B10A07}"/>
              </a:ext>
            </a:extLst>
          </p:cNvPr>
          <p:cNvSpPr>
            <a:spLocks xmlns:a="http://schemas.openxmlformats.org/drawingml/2006/main" noGrp="1"/>
          </p:cNvSpPr>
          <p:nvPr>
            <p:ph type="media" idx="11" hasCustomPrompt="1"/>
          </p:nvPr>
        </p:nvSpPr>
        <p:spPr>
          <a:xfrm xmlns:a="http://schemas.openxmlformats.org/drawingml/2006/main">
            <a:off x="762000" y="1657350"/>
            <a:ext cx="7239000" cy="3714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Video, GIF o audio</a:t>
            </a:r>
          </a:p>
        </p:txBody>
      </p:sp>
      <p:sp>
        <p:nvSpPr>
          <p:cNvPr id="8" name="ph_body_0">
            <a:extLst xmlns:a="http://schemas.openxmlformats.org/drawingml/2006/main">
              <a:ext uri="{FF2B5EF4-FFF2-40B4-BE49-F238E27FC236}">
                <a16:creationId xmlns:a16="http://schemas.microsoft.com/office/drawing/2014/main" id="{F555F5DB-607B-02A3-9FCF-CDD66D2EF793}"/>
              </a:ext>
            </a:extLst>
          </p:cNvPr>
          <p:cNvSpPr>
            <a:spLocks xmlns:a="http://schemas.openxmlformats.org/drawingml/2006/main" noGrp="1"/>
          </p:cNvSpPr>
          <p:nvPr>
            <p:ph type="body" idx="12" hasCustomPrompt="1"/>
          </p:nvPr>
        </p:nvSpPr>
        <p:spPr>
          <a:xfrm xmlns:a="http://schemas.openxmlformats.org/drawingml/2006/main">
            <a:off x="8382000" y="1657350"/>
            <a:ext cx="3048000" cy="3714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Consigna de observación</a:t>
            </a:r>
          </a:p>
        </p:txBody>
      </p:sp>
      <p:sp>
        <p:nvSpPr>
          <p:cNvPr id="9" name="fa_slide_number">
            <a:extLst xmlns:a="http://schemas.openxmlformats.org/drawingml/2006/main">
              <a:ext uri="{FF2B5EF4-FFF2-40B4-BE49-F238E27FC236}">
                <a16:creationId xmlns:a16="http://schemas.microsoft.com/office/drawing/2014/main" id="{FB834D89-9F78-BAC7-245C-165FD788A321}"/>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076EB7A8-105E-44D9-AF9B-E4B002172AD7}" type="slidenum">
              <a:t>‹Nº›</a:t>
            </a:fld>
            <a:endParaRPr/>
          </a:p>
        </p:txBody>
      </p:sp>
    </p:spTree>
  </p:cSld>
  <p:hf hdr="0" ftr="0" dt="0"/>
</p:sldLayout>
</file>

<file path=ppt/slideLayouts/slideLayout6.xml><?xml version="1.0" encoding="utf-8"?>
<p:sldLayout xmlns:p="http://schemas.openxmlformats.org/presentationml/2006/main" userDrawn="1">
  <p:cSld name="FA_18_TABLA_DATOS">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409A66DE-F76D-5BAF-6FEA-DF1908C43A15}"/>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Tabla o datos</a:t>
            </a:r>
          </a:p>
        </p:txBody>
      </p:sp>
      <p:sp>
        <p:nvSpPr>
          <p:cNvPr id="7" name="ph_table_0">
            <a:extLst xmlns:a="http://schemas.openxmlformats.org/drawingml/2006/main">
              <a:ext uri="{FF2B5EF4-FFF2-40B4-BE49-F238E27FC236}">
                <a16:creationId xmlns:a16="http://schemas.microsoft.com/office/drawing/2014/main" id="{4C0D0D26-F100-8659-00EA-2409004E2AEE}"/>
              </a:ext>
            </a:extLst>
          </p:cNvPr>
          <p:cNvSpPr>
            <a:spLocks xmlns:a="http://schemas.openxmlformats.org/drawingml/2006/main" noGrp="1"/>
          </p:cNvSpPr>
          <p:nvPr>
            <p:ph type="tbl" idx="11" hasCustomPrompt="1"/>
          </p:nvPr>
        </p:nvSpPr>
        <p:spPr>
          <a:xfrm xmlns:a="http://schemas.openxmlformats.org/drawingml/2006/main">
            <a:off x="762000" y="1676400"/>
            <a:ext cx="10668000" cy="3714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Tabla editable</a:t>
            </a:r>
          </a:p>
        </p:txBody>
      </p:sp>
      <p:sp>
        <p:nvSpPr>
          <p:cNvPr id="8" name="ph_body_0">
            <a:extLst xmlns:a="http://schemas.openxmlformats.org/drawingml/2006/main">
              <a:ext uri="{FF2B5EF4-FFF2-40B4-BE49-F238E27FC236}">
                <a16:creationId xmlns:a16="http://schemas.microsoft.com/office/drawing/2014/main" id="{B5DAB8AD-C9A2-9783-CB90-DB0CFE8EF09E}"/>
              </a:ext>
            </a:extLst>
          </p:cNvPr>
          <p:cNvSpPr>
            <a:spLocks xmlns:a="http://schemas.openxmlformats.org/drawingml/2006/main" noGrp="1"/>
          </p:cNvSpPr>
          <p:nvPr>
            <p:ph type="body" idx="12" hasCustomPrompt="1"/>
          </p:nvPr>
        </p:nvSpPr>
        <p:spPr>
          <a:xfrm xmlns:a="http://schemas.openxmlformats.org/drawingml/2006/main">
            <a:off x="762000" y="5581650"/>
            <a:ext cx="10668000" cy="419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Lectura principal</a:t>
            </a:r>
          </a:p>
        </p:txBody>
      </p:sp>
      <p:sp>
        <p:nvSpPr>
          <p:cNvPr id="9" name="fa_slide_number">
            <a:extLst xmlns:a="http://schemas.openxmlformats.org/drawingml/2006/main">
              <a:ext uri="{FF2B5EF4-FFF2-40B4-BE49-F238E27FC236}">
                <a16:creationId xmlns:a16="http://schemas.microsoft.com/office/drawing/2014/main" id="{7408CF10-5CC7-0648-9A06-15F7433C7031}"/>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4FEE56A1-BB6C-438D-8886-FF44760C7C6B}" type="slidenum">
              <a:t>‹Nº›</a:t>
            </a:fld>
            <a:endParaRPr/>
          </a:p>
        </p:txBody>
      </p:sp>
    </p:spTree>
  </p:cSld>
  <p:hf hdr="0" ftr="0" dt="0"/>
</p:sldLayout>
</file>

<file path=ppt/slideLayouts/slideLayout7.xml><?xml version="1.0" encoding="utf-8"?>
<p:sldLayout xmlns:p="http://schemas.openxmlformats.org/presentationml/2006/main" userDrawn="1">
  <p:cSld name="FA_17_RECAP_FINAL">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58A1AFD7-74FA-41E6-94B3-B5C8DDCED2B7}"/>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Recapitulación final</a:t>
            </a:r>
          </a:p>
        </p:txBody>
      </p:sp>
      <p:sp>
        <p:nvSpPr>
          <p:cNvPr id="7" name="ph_content_0">
            <a:extLst xmlns:a="http://schemas.openxmlformats.org/drawingml/2006/main">
              <a:ext uri="{FF2B5EF4-FFF2-40B4-BE49-F238E27FC236}">
                <a16:creationId xmlns:a16="http://schemas.microsoft.com/office/drawing/2014/main" id="{DE1EB0DD-8791-1A8B-9D62-CD8B1EF3E7B3}"/>
              </a:ext>
            </a:extLst>
          </p:cNvPr>
          <p:cNvSpPr>
            <a:spLocks xmlns:a="http://schemas.openxmlformats.org/drawingml/2006/main" noGrp="1"/>
          </p:cNvSpPr>
          <p:nvPr>
            <p:ph idx="11" hasCustomPrompt="1"/>
          </p:nvPr>
        </p:nvSpPr>
        <p:spPr>
          <a:xfrm xmlns:a="http://schemas.openxmlformats.org/drawingml/2006/main">
            <a:off x="762000" y="1695450"/>
            <a:ext cx="10668000" cy="3714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Mapa de conceptos</a:t>
            </a:r>
          </a:p>
        </p:txBody>
      </p:sp>
      <p:sp>
        <p:nvSpPr>
          <p:cNvPr id="8" name="fa_slide_number">
            <a:extLst xmlns:a="http://schemas.openxmlformats.org/drawingml/2006/main">
              <a:ext uri="{FF2B5EF4-FFF2-40B4-BE49-F238E27FC236}">
                <a16:creationId xmlns:a16="http://schemas.microsoft.com/office/drawing/2014/main" id="{85F550E7-9C54-188B-FFC4-467A63CBBB37}"/>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456A0307-F779-4344-B886-D9280EB668B3}" type="slidenum">
              <a:t>‹Nº›</a:t>
            </a:fld>
            <a:endParaRPr/>
          </a:p>
        </p:txBody>
      </p:sp>
    </p:spTree>
  </p:cSld>
  <p:hf hdr="0" ftr="0" dt="0"/>
</p:sldLayout>
</file>

<file path=ppt/slideLayouts/slideLayout8.xml><?xml version="1.0" encoding="utf-8"?>
<p:sldLayout xmlns:p="http://schemas.openxmlformats.org/presentationml/2006/main" userDrawn="1">
  <p:cSld name="FA_16_RECAP_PARCIAL">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39229E1F-564D-1252-8752-640CDDC94936}"/>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Resumen parcial</a:t>
            </a:r>
          </a:p>
        </p:txBody>
      </p:sp>
      <p:sp>
        <p:nvSpPr>
          <p:cNvPr id="7" name="ph_body_0">
            <a:extLst xmlns:a="http://schemas.openxmlformats.org/drawingml/2006/main">
              <a:ext uri="{FF2B5EF4-FFF2-40B4-BE49-F238E27FC236}">
                <a16:creationId xmlns:a16="http://schemas.microsoft.com/office/drawing/2014/main" id="{26942BEC-4BB7-68A8-5D3D-0F2E7C8C878D}"/>
              </a:ext>
            </a:extLst>
          </p:cNvPr>
          <p:cNvSpPr>
            <a:spLocks xmlns:a="http://schemas.openxmlformats.org/drawingml/2006/main" noGrp="1"/>
          </p:cNvSpPr>
          <p:nvPr>
            <p:ph type="body" idx="11" hasCustomPrompt="1"/>
          </p:nvPr>
        </p:nvSpPr>
        <p:spPr>
          <a:xfrm xmlns:a="http://schemas.openxmlformats.org/drawingml/2006/main">
            <a:off x="762000" y="1676400"/>
            <a:ext cx="6858000" cy="400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Ideas consolidadas</a:t>
            </a:r>
          </a:p>
        </p:txBody>
      </p:sp>
      <p:sp>
        <p:nvSpPr>
          <p:cNvPr id="8" name="ph_content_0">
            <a:extLst xmlns:a="http://schemas.openxmlformats.org/drawingml/2006/main">
              <a:ext uri="{FF2B5EF4-FFF2-40B4-BE49-F238E27FC236}">
                <a16:creationId xmlns:a16="http://schemas.microsoft.com/office/drawing/2014/main" id="{58A41835-9B86-B2F7-FDEB-E572198A44F3}"/>
              </a:ext>
            </a:extLst>
          </p:cNvPr>
          <p:cNvSpPr>
            <a:spLocks xmlns:a="http://schemas.openxmlformats.org/drawingml/2006/main" noGrp="1"/>
          </p:cNvSpPr>
          <p:nvPr>
            <p:ph idx="12" hasCustomPrompt="1"/>
          </p:nvPr>
        </p:nvSpPr>
        <p:spPr>
          <a:xfrm xmlns:a="http://schemas.openxmlformats.org/drawingml/2006/main">
            <a:off x="8001000" y="1676400"/>
            <a:ext cx="3429000" cy="31432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Llamada de recapitulación</a:t>
            </a:r>
          </a:p>
        </p:txBody>
      </p:sp>
      <p:sp>
        <p:nvSpPr>
          <p:cNvPr id="9" name="fa_slide_number">
            <a:extLst xmlns:a="http://schemas.openxmlformats.org/drawingml/2006/main">
              <a:ext uri="{FF2B5EF4-FFF2-40B4-BE49-F238E27FC236}">
                <a16:creationId xmlns:a16="http://schemas.microsoft.com/office/drawing/2014/main" id="{9448B502-DD56-36BC-C80F-26C3FDF379C3}"/>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A33687D1-4041-4057-AFDA-E8313599D529}" type="slidenum">
              <a:t>‹Nº›</a:t>
            </a:fld>
            <a:endParaRPr/>
          </a:p>
        </p:txBody>
      </p:sp>
    </p:spTree>
  </p:cSld>
  <p:hf hdr="0" ftr="0" dt="0"/>
</p:sldLayout>
</file>

<file path=ppt/slideLayouts/slideLayout9.xml><?xml version="1.0" encoding="utf-8"?>
<p:sldLayout xmlns:p="http://schemas.openxmlformats.org/presentationml/2006/main" userDrawn="1">
  <p:cSld name="FA_15_ERROR_FRECUENTE">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DF6D93D-81D3-09A3-9451-58354AAA940D}"/>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Error frecuente</a:t>
            </a:r>
          </a:p>
        </p:txBody>
      </p:sp>
      <p:sp>
        <p:nvSpPr>
          <p:cNvPr id="7" name="ph_content_0">
            <a:extLst xmlns:a="http://schemas.openxmlformats.org/drawingml/2006/main">
              <a:ext uri="{FF2B5EF4-FFF2-40B4-BE49-F238E27FC236}">
                <a16:creationId xmlns:a16="http://schemas.microsoft.com/office/drawing/2014/main" id="{BEE8D141-1A7B-E1E2-4278-DACF5AEFFBB9}"/>
              </a:ext>
            </a:extLst>
          </p:cNvPr>
          <p:cNvSpPr>
            <a:spLocks xmlns:a="http://schemas.openxmlformats.org/drawingml/2006/main" noGrp="1"/>
          </p:cNvSpPr>
          <p:nvPr>
            <p:ph idx="11" hasCustomPrompt="1"/>
          </p:nvPr>
        </p:nvSpPr>
        <p:spPr>
          <a:xfrm xmlns:a="http://schemas.openxmlformats.org/drawingml/2006/main">
            <a:off x="952500" y="1809750"/>
            <a:ext cx="10287000" cy="17145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Idea incorrecta</a:t>
            </a:r>
          </a:p>
        </p:txBody>
      </p:sp>
      <p:sp>
        <p:nvSpPr>
          <p:cNvPr id="8" name="ph_body_0">
            <a:extLst xmlns:a="http://schemas.openxmlformats.org/drawingml/2006/main">
              <a:ext uri="{FF2B5EF4-FFF2-40B4-BE49-F238E27FC236}">
                <a16:creationId xmlns:a16="http://schemas.microsoft.com/office/drawing/2014/main" id="{51AAF03A-25D3-5D01-FCF9-2955539C92E3}"/>
              </a:ext>
            </a:extLst>
          </p:cNvPr>
          <p:cNvSpPr>
            <a:spLocks xmlns:a="http://schemas.openxmlformats.org/drawingml/2006/main" noGrp="1"/>
          </p:cNvSpPr>
          <p:nvPr>
            <p:ph type="body" idx="12" hasCustomPrompt="1"/>
          </p:nvPr>
        </p:nvSpPr>
        <p:spPr>
          <a:xfrm xmlns:a="http://schemas.openxmlformats.org/drawingml/2006/main">
            <a:off x="1143000" y="3905250"/>
            <a:ext cx="9906000" cy="1714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Corrección razonada</a:t>
            </a:r>
          </a:p>
        </p:txBody>
      </p:sp>
      <p:sp>
        <p:nvSpPr>
          <p:cNvPr id="9" name="fa_slide_number">
            <a:extLst xmlns:a="http://schemas.openxmlformats.org/drawingml/2006/main">
              <a:ext uri="{FF2B5EF4-FFF2-40B4-BE49-F238E27FC236}">
                <a16:creationId xmlns:a16="http://schemas.microsoft.com/office/drawing/2014/main" id="{2EC62D10-711F-D9B1-7D3A-18749CF1A784}"/>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BDAFD395-8463-4588-B260-79B86AAD3E51}" type="slidenum">
              <a:t>‹Nº›</a:t>
            </a:fld>
            <a:endParaRPr/>
          </a:p>
        </p:txBody>
      </p:sp>
    </p:spTree>
  </p:cSld>
  <p:hf hdr="0" ftr="0" dt="0"/>
</p:sldLayout>
</file>

<file path=ppt/slideLayouts/slideLayout10.xml><?xml version="1.0" encoding="utf-8"?>
<p:sldLayout xmlns:p="http://schemas.openxmlformats.org/presentationml/2006/main" userDrawn="1">
  <p:cSld name="FA_14B_MINI_EJERCICI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C11DF7D-DCF3-07BF-2350-3CEDB78BCA73}"/>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Mini ejercicio</a:t>
            </a:r>
          </a:p>
        </p:txBody>
      </p:sp>
      <p:sp>
        <p:nvSpPr>
          <p:cNvPr id="7" name="ph_body_0">
            <a:extLst xmlns:a="http://schemas.openxmlformats.org/drawingml/2006/main">
              <a:ext uri="{FF2B5EF4-FFF2-40B4-BE49-F238E27FC236}">
                <a16:creationId xmlns:a16="http://schemas.microsoft.com/office/drawing/2014/main" id="{BFFBA6A1-CB2F-C08F-96BB-D862AE72699F}"/>
              </a:ext>
            </a:extLst>
          </p:cNvPr>
          <p:cNvSpPr>
            <a:spLocks xmlns:a="http://schemas.openxmlformats.org/drawingml/2006/main" noGrp="1"/>
          </p:cNvSpPr>
          <p:nvPr>
            <p:ph type="body" idx="11" hasCustomPrompt="1"/>
          </p:nvPr>
        </p:nvSpPr>
        <p:spPr>
          <a:xfrm xmlns:a="http://schemas.openxmlformats.org/drawingml/2006/main">
            <a:off x="762000" y="1695450"/>
            <a:ext cx="6477000" cy="3429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Consigna y datos</a:t>
            </a:r>
          </a:p>
        </p:txBody>
      </p:sp>
      <p:sp>
        <p:nvSpPr>
          <p:cNvPr id="8" name="ph_content_0">
            <a:extLst xmlns:a="http://schemas.openxmlformats.org/drawingml/2006/main">
              <a:ext uri="{FF2B5EF4-FFF2-40B4-BE49-F238E27FC236}">
                <a16:creationId xmlns:a16="http://schemas.microsoft.com/office/drawing/2014/main" id="{91DCAFC2-EA6E-2D23-3B41-A0752099656D}"/>
              </a:ext>
            </a:extLst>
          </p:cNvPr>
          <p:cNvSpPr>
            <a:spLocks xmlns:a="http://schemas.openxmlformats.org/drawingml/2006/main" noGrp="1"/>
          </p:cNvSpPr>
          <p:nvPr>
            <p:ph idx="12" hasCustomPrompt="1"/>
          </p:nvPr>
        </p:nvSpPr>
        <p:spPr>
          <a:xfrm xmlns:a="http://schemas.openxmlformats.org/drawingml/2006/main">
            <a:off x="7620000" y="1695450"/>
            <a:ext cx="3810000" cy="34290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Espacio de resolución</a:t>
            </a:r>
          </a:p>
        </p:txBody>
      </p:sp>
      <p:sp>
        <p:nvSpPr>
          <p:cNvPr id="9" name="fa_slide_number">
            <a:extLst xmlns:a="http://schemas.openxmlformats.org/drawingml/2006/main">
              <a:ext uri="{FF2B5EF4-FFF2-40B4-BE49-F238E27FC236}">
                <a16:creationId xmlns:a16="http://schemas.microsoft.com/office/drawing/2014/main" id="{A0621BFB-671E-D2BB-46AB-1C4FC0833871}"/>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81336448-9F7A-438A-9B1D-8F6491D87475}" type="slidenum">
              <a:t>‹Nº›</a:t>
            </a:fld>
            <a:endParaRPr/>
          </a:p>
        </p:txBody>
      </p:sp>
    </p:spTree>
  </p:cSld>
  <p:hf hdr="0" ftr="0" dt="0"/>
</p:sldLayout>
</file>

<file path=ppt/slideLayouts/slideLayout11.xml><?xml version="1.0" encoding="utf-8"?>
<p:sldLayout xmlns:p="http://schemas.openxmlformats.org/presentationml/2006/main" userDrawn="1">
  <p:cSld name="FA_14_PREGUNTA_EJERCICI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622FF81E-C3C8-AD07-DE0B-DA2CA2611D15}"/>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Pregunta al curso</a:t>
            </a:r>
          </a:p>
        </p:txBody>
      </p:sp>
      <p:sp>
        <p:nvSpPr>
          <p:cNvPr id="7" name="ph_content_0">
            <a:extLst xmlns:a="http://schemas.openxmlformats.org/drawingml/2006/main">
              <a:ext uri="{FF2B5EF4-FFF2-40B4-BE49-F238E27FC236}">
                <a16:creationId xmlns:a16="http://schemas.microsoft.com/office/drawing/2014/main" id="{FB5F4DDD-6CFB-7D47-14E7-EA043E89CA23}"/>
              </a:ext>
            </a:extLst>
          </p:cNvPr>
          <p:cNvSpPr>
            <a:spLocks xmlns:a="http://schemas.openxmlformats.org/drawingml/2006/main" noGrp="1"/>
          </p:cNvSpPr>
          <p:nvPr>
            <p:ph idx="11" hasCustomPrompt="1"/>
          </p:nvPr>
        </p:nvSpPr>
        <p:spPr>
          <a:xfrm xmlns:a="http://schemas.openxmlformats.org/drawingml/2006/main">
            <a:off x="1333500" y="2000250"/>
            <a:ext cx="9525000" cy="20955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Pregunta</a:t>
            </a:r>
          </a:p>
        </p:txBody>
      </p:sp>
      <p:sp>
        <p:nvSpPr>
          <p:cNvPr id="8" name="ph_body_0">
            <a:extLst xmlns:a="http://schemas.openxmlformats.org/drawingml/2006/main">
              <a:ext uri="{FF2B5EF4-FFF2-40B4-BE49-F238E27FC236}">
                <a16:creationId xmlns:a16="http://schemas.microsoft.com/office/drawing/2014/main" id="{543AE4C9-62D3-B123-DF7D-6CA4CFF8C65B}"/>
              </a:ext>
            </a:extLst>
          </p:cNvPr>
          <p:cNvSpPr>
            <a:spLocks xmlns:a="http://schemas.openxmlformats.org/drawingml/2006/main" noGrp="1"/>
          </p:cNvSpPr>
          <p:nvPr>
            <p:ph type="body" idx="12" hasCustomPrompt="1"/>
          </p:nvPr>
        </p:nvSpPr>
        <p:spPr>
          <a:xfrm xmlns:a="http://schemas.openxmlformats.org/drawingml/2006/main">
            <a:off x="1524000" y="4457700"/>
            <a:ext cx="9144000" cy="1047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Pistas para discutir</a:t>
            </a:r>
          </a:p>
        </p:txBody>
      </p:sp>
      <p:sp>
        <p:nvSpPr>
          <p:cNvPr id="9" name="fa_slide_number">
            <a:extLst xmlns:a="http://schemas.openxmlformats.org/drawingml/2006/main">
              <a:ext uri="{FF2B5EF4-FFF2-40B4-BE49-F238E27FC236}">
                <a16:creationId xmlns:a16="http://schemas.microsoft.com/office/drawing/2014/main" id="{81D1303B-53FE-8249-310B-E605F0EE1564}"/>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1CFE78DF-3976-48C8-961D-AA1C8CA99F09}" type="slidenum">
              <a:t>‹Nº›</a:t>
            </a:fld>
            <a:endParaRPr/>
          </a:p>
        </p:txBody>
      </p:sp>
    </p:spTree>
  </p:cSld>
  <p:hf hdr="0" ftr="0" dt="0"/>
</p:sldLayout>
</file>

<file path=ppt/slideLayouts/slideLayout12.xml><?xml version="1.0" encoding="utf-8"?>
<p:sldLayout xmlns:p="http://schemas.openxmlformats.org/presentationml/2006/main" userDrawn="1">
  <p:cSld name="FA_13_APLICACION_CLINICA">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DDD03774-96DE-DA2F-A511-71B36099D23A}"/>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Aplicación a Fonoaudiología</a:t>
            </a:r>
          </a:p>
        </p:txBody>
      </p:sp>
      <p:sp>
        <p:nvSpPr>
          <p:cNvPr id="7" name="ph_body_0">
            <a:extLst xmlns:a="http://schemas.openxmlformats.org/drawingml/2006/main">
              <a:ext uri="{FF2B5EF4-FFF2-40B4-BE49-F238E27FC236}">
                <a16:creationId xmlns:a16="http://schemas.microsoft.com/office/drawing/2014/main" id="{BF907AE9-FAD6-BFC9-BD52-A97C988A7F59}"/>
              </a:ext>
            </a:extLst>
          </p:cNvPr>
          <p:cNvSpPr>
            <a:spLocks xmlns:a="http://schemas.openxmlformats.org/drawingml/2006/main" noGrp="1"/>
          </p:cNvSpPr>
          <p:nvPr>
            <p:ph type="body" idx="11" hasCustomPrompt="1"/>
          </p:nvPr>
        </p:nvSpPr>
        <p:spPr>
          <a:xfrm xmlns:a="http://schemas.openxmlformats.org/drawingml/2006/main">
            <a:off x="762000" y="1714500"/>
            <a:ext cx="571500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Concepto físico</a:t>
            </a:r>
          </a:p>
        </p:txBody>
      </p:sp>
      <p:sp>
        <p:nvSpPr>
          <p:cNvPr id="8" name="ph_content_0">
            <a:extLst xmlns:a="http://schemas.openxmlformats.org/drawingml/2006/main">
              <a:ext uri="{FF2B5EF4-FFF2-40B4-BE49-F238E27FC236}">
                <a16:creationId xmlns:a16="http://schemas.microsoft.com/office/drawing/2014/main" id="{714E50E2-E1DA-3206-B850-EA65C2FD7D1A}"/>
              </a:ext>
            </a:extLst>
          </p:cNvPr>
          <p:cNvSpPr>
            <a:spLocks xmlns:a="http://schemas.openxmlformats.org/drawingml/2006/main" noGrp="1"/>
          </p:cNvSpPr>
          <p:nvPr>
            <p:ph idx="12" hasCustomPrompt="1"/>
          </p:nvPr>
        </p:nvSpPr>
        <p:spPr>
          <a:xfrm xmlns:a="http://schemas.openxmlformats.org/drawingml/2006/main">
            <a:off x="6858000" y="1714500"/>
            <a:ext cx="4572000" cy="34290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Aplicación clínica</a:t>
            </a:r>
          </a:p>
        </p:txBody>
      </p:sp>
      <p:sp>
        <p:nvSpPr>
          <p:cNvPr id="9" name="fa_slide_number">
            <a:extLst xmlns:a="http://schemas.openxmlformats.org/drawingml/2006/main">
              <a:ext uri="{FF2B5EF4-FFF2-40B4-BE49-F238E27FC236}">
                <a16:creationId xmlns:a16="http://schemas.microsoft.com/office/drawing/2014/main" id="{51F74211-E68E-8F63-B477-ED892A0B76ED}"/>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A330D82D-5740-4471-AF56-8696EEE2E4B5}" type="slidenum">
              <a:t>‹Nº›</a:t>
            </a:fld>
            <a:endParaRPr/>
          </a:p>
        </p:txBody>
      </p:sp>
    </p:spTree>
  </p:cSld>
  <p:hf hdr="0" ftr="0" dt="0"/>
</p:sldLayout>
</file>

<file path=ppt/slideLayouts/slideLayout13.xml><?xml version="1.0" encoding="utf-8"?>
<p:sldLayout xmlns:p="http://schemas.openxmlformats.org/presentationml/2006/main" userDrawn="1">
  <p:cSld name="FA_12_PROCES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6A7C0E02-1009-E9C6-5ACC-80E7D6880A69}"/>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Proceso secuencial</a:t>
            </a:r>
          </a:p>
        </p:txBody>
      </p:sp>
      <p:sp>
        <p:nvSpPr>
          <p:cNvPr id="7" name="ph_content_0">
            <a:extLst xmlns:a="http://schemas.openxmlformats.org/drawingml/2006/main">
              <a:ext uri="{FF2B5EF4-FFF2-40B4-BE49-F238E27FC236}">
                <a16:creationId xmlns:a16="http://schemas.microsoft.com/office/drawing/2014/main" id="{58205925-FD47-66F2-A802-416BCA053AEF}"/>
              </a:ext>
            </a:extLst>
          </p:cNvPr>
          <p:cNvSpPr>
            <a:spLocks xmlns:a="http://schemas.openxmlformats.org/drawingml/2006/main" noGrp="1"/>
          </p:cNvSpPr>
          <p:nvPr>
            <p:ph idx="11" hasCustomPrompt="1"/>
          </p:nvPr>
        </p:nvSpPr>
        <p:spPr>
          <a:xfrm xmlns:a="http://schemas.openxmlformats.org/drawingml/2006/main">
            <a:off x="762000" y="1924050"/>
            <a:ext cx="10668000" cy="2952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Secuencia editable</a:t>
            </a:r>
          </a:p>
        </p:txBody>
      </p:sp>
      <p:sp>
        <p:nvSpPr>
          <p:cNvPr id="8" name="ph_body_0">
            <a:extLst xmlns:a="http://schemas.openxmlformats.org/drawingml/2006/main">
              <a:ext uri="{FF2B5EF4-FFF2-40B4-BE49-F238E27FC236}">
                <a16:creationId xmlns:a16="http://schemas.microsoft.com/office/drawing/2014/main" id="{8685E304-E9CA-43F8-8930-8E0ED8BE7286}"/>
              </a:ext>
            </a:extLst>
          </p:cNvPr>
          <p:cNvSpPr>
            <a:spLocks xmlns:a="http://schemas.openxmlformats.org/drawingml/2006/main" noGrp="1"/>
          </p:cNvSpPr>
          <p:nvPr>
            <p:ph type="body" idx="12" hasCustomPrompt="1"/>
          </p:nvPr>
        </p:nvSpPr>
        <p:spPr>
          <a:xfrm xmlns:a="http://schemas.openxmlformats.org/drawingml/2006/main">
            <a:off x="914400" y="5219700"/>
            <a:ext cx="1036320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Idea de cierre</a:t>
            </a:r>
          </a:p>
        </p:txBody>
      </p:sp>
      <p:sp>
        <p:nvSpPr>
          <p:cNvPr id="9" name="fa_slide_number">
            <a:extLst xmlns:a="http://schemas.openxmlformats.org/drawingml/2006/main">
              <a:ext uri="{FF2B5EF4-FFF2-40B4-BE49-F238E27FC236}">
                <a16:creationId xmlns:a16="http://schemas.microsoft.com/office/drawing/2014/main" id="{0506C10D-1069-18D8-D511-E7658980284E}"/>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9CA5DB51-531C-4AFB-9FB5-87CA9A3111B8}" type="slidenum">
              <a:t>‹Nº›</a:t>
            </a:fld>
            <a:endParaRPr/>
          </a:p>
        </p:txBody>
      </p:sp>
    </p:spTree>
  </p:cSld>
  <p:hf hdr="0" ftr="0" dt="0"/>
</p:sldLayout>
</file>

<file path=ppt/slideLayouts/slideLayout14.xml><?xml version="1.0" encoding="utf-8"?>
<p:sldLayout xmlns:p="http://schemas.openxmlformats.org/presentationml/2006/main" userDrawn="1">
  <p:cSld name="FA_11_COMPARACION">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C3754BA9-BA43-89AA-C70D-83CA68AF3401}"/>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Comparación</a:t>
            </a:r>
          </a:p>
        </p:txBody>
      </p:sp>
      <p:sp>
        <p:nvSpPr>
          <p:cNvPr id="7" name="ph_body_0">
            <a:extLst xmlns:a="http://schemas.openxmlformats.org/drawingml/2006/main">
              <a:ext uri="{FF2B5EF4-FFF2-40B4-BE49-F238E27FC236}">
                <a16:creationId xmlns:a16="http://schemas.microsoft.com/office/drawing/2014/main" id="{4E58697A-6AA1-094E-FB77-5ED2F72D0C96}"/>
              </a:ext>
            </a:extLst>
          </p:cNvPr>
          <p:cNvSpPr>
            <a:spLocks xmlns:a="http://schemas.openxmlformats.org/drawingml/2006/main" noGrp="1"/>
          </p:cNvSpPr>
          <p:nvPr>
            <p:ph type="body" idx="11" hasCustomPrompt="1"/>
          </p:nvPr>
        </p:nvSpPr>
        <p:spPr>
          <a:xfrm xmlns:a="http://schemas.openxmlformats.org/drawingml/2006/main">
            <a:off x="762000" y="1695450"/>
            <a:ext cx="495300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Caso A</a:t>
            </a:r>
          </a:p>
        </p:txBody>
      </p:sp>
      <p:sp>
        <p:nvSpPr>
          <p:cNvPr id="8" name="ph_body_1">
            <a:extLst xmlns:a="http://schemas.openxmlformats.org/drawingml/2006/main">
              <a:ext uri="{FF2B5EF4-FFF2-40B4-BE49-F238E27FC236}">
                <a16:creationId xmlns:a16="http://schemas.microsoft.com/office/drawing/2014/main" id="{76A280CC-0448-5099-BD8C-5F5DA7427A41}"/>
              </a:ext>
            </a:extLst>
          </p:cNvPr>
          <p:cNvSpPr>
            <a:spLocks xmlns:a="http://schemas.openxmlformats.org/drawingml/2006/main" noGrp="1"/>
          </p:cNvSpPr>
          <p:nvPr>
            <p:ph type="body" idx="12" hasCustomPrompt="1"/>
          </p:nvPr>
        </p:nvSpPr>
        <p:spPr>
          <a:xfrm xmlns:a="http://schemas.openxmlformats.org/drawingml/2006/main">
            <a:off x="6477000" y="1695450"/>
            <a:ext cx="495300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Caso B</a:t>
            </a:r>
          </a:p>
        </p:txBody>
      </p:sp>
      <p:sp>
        <p:nvSpPr>
          <p:cNvPr id="9" name="fa_slide_number">
            <a:extLst xmlns:a="http://schemas.openxmlformats.org/drawingml/2006/main">
              <a:ext uri="{FF2B5EF4-FFF2-40B4-BE49-F238E27FC236}">
                <a16:creationId xmlns:a16="http://schemas.microsoft.com/office/drawing/2014/main" id="{B22C4027-B511-C66A-3210-C4F977C71BF0}"/>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5DBCCD25-7213-4B32-B316-993301A50991}" type="slidenum">
              <a:t>‹Nº›</a:t>
            </a:fld>
            <a:endParaRPr/>
          </a:p>
        </p:txBody>
      </p:sp>
    </p:spTree>
  </p:cSld>
  <p:hf hdr="0" ftr="0" dt="0"/>
</p:sldLayout>
</file>

<file path=ppt/slideLayouts/slideLayout15.xml><?xml version="1.0" encoding="utf-8"?>
<p:sldLayout xmlns:p="http://schemas.openxmlformats.org/presentationml/2006/main" userDrawn="1">
  <p:cSld name="FA_10_EJEMPLO_RESUELT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1EBA8C66-75F7-8786-62D4-8E39087D032A}"/>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Ejemplo resuelto</a:t>
            </a:r>
          </a:p>
        </p:txBody>
      </p:sp>
      <p:sp>
        <p:nvSpPr>
          <p:cNvPr id="7" name="ph_body_0">
            <a:extLst xmlns:a="http://schemas.openxmlformats.org/drawingml/2006/main">
              <a:ext uri="{FF2B5EF4-FFF2-40B4-BE49-F238E27FC236}">
                <a16:creationId xmlns:a16="http://schemas.microsoft.com/office/drawing/2014/main" id="{B3761D8C-5D3D-B5FC-3088-D429C5A6F945}"/>
              </a:ext>
            </a:extLst>
          </p:cNvPr>
          <p:cNvSpPr>
            <a:spLocks xmlns:a="http://schemas.openxmlformats.org/drawingml/2006/main" noGrp="1"/>
          </p:cNvSpPr>
          <p:nvPr>
            <p:ph type="body" idx="11" hasCustomPrompt="1"/>
          </p:nvPr>
        </p:nvSpPr>
        <p:spPr>
          <a:xfrm xmlns:a="http://schemas.openxmlformats.org/drawingml/2006/main">
            <a:off x="762000" y="1657350"/>
            <a:ext cx="4000500" cy="400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Datos y pregunta</a:t>
            </a:r>
          </a:p>
        </p:txBody>
      </p:sp>
      <p:sp>
        <p:nvSpPr>
          <p:cNvPr id="8" name="ph_body_1">
            <a:extLst xmlns:a="http://schemas.openxmlformats.org/drawingml/2006/main">
              <a:ext uri="{FF2B5EF4-FFF2-40B4-BE49-F238E27FC236}">
                <a16:creationId xmlns:a16="http://schemas.microsoft.com/office/drawing/2014/main" id="{72C3AA6E-744B-B585-1A7D-4DBA7725171B}"/>
              </a:ext>
            </a:extLst>
          </p:cNvPr>
          <p:cNvSpPr>
            <a:spLocks xmlns:a="http://schemas.openxmlformats.org/drawingml/2006/main" noGrp="1"/>
          </p:cNvSpPr>
          <p:nvPr>
            <p:ph type="body" idx="12" hasCustomPrompt="1"/>
          </p:nvPr>
        </p:nvSpPr>
        <p:spPr>
          <a:xfrm xmlns:a="http://schemas.openxmlformats.org/drawingml/2006/main">
            <a:off x="5143500" y="1657350"/>
            <a:ext cx="6286500" cy="400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Resolución paso a paso</a:t>
            </a:r>
          </a:p>
        </p:txBody>
      </p:sp>
      <p:sp>
        <p:nvSpPr>
          <p:cNvPr id="9" name="fa_slide_number">
            <a:extLst xmlns:a="http://schemas.openxmlformats.org/drawingml/2006/main">
              <a:ext uri="{FF2B5EF4-FFF2-40B4-BE49-F238E27FC236}">
                <a16:creationId xmlns:a16="http://schemas.microsoft.com/office/drawing/2014/main" id="{F87FCAB0-F142-2C7C-6C7A-2118A60FE41C}"/>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1685110A-6086-4FE8-8F00-9DEAECCAACBB}" type="slidenum">
              <a:t>‹Nº›</a:t>
            </a:fld>
            <a:endParaRPr/>
          </a:p>
        </p:txBody>
      </p:sp>
    </p:spTree>
  </p:cSld>
  <p:hf hdr="0" ftr="0" dt="0"/>
</p:sldLayout>
</file>

<file path=ppt/slideLayouts/slideLayout16.xml><?xml version="1.0" encoding="utf-8"?>
<p:sldLayout xmlns:p="http://schemas.openxmlformats.org/presentationml/2006/main" userDrawn="1">
  <p:cSld name="FA_09_ECUACION_INTERPRETACION">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55D978A-66A3-12DD-6D64-38108280AE38}"/>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content_0">
            <a:extLst xmlns:a="http://schemas.openxmlformats.org/drawingml/2006/main">
              <a:ext uri="{FF2B5EF4-FFF2-40B4-BE49-F238E27FC236}">
                <a16:creationId xmlns:a16="http://schemas.microsoft.com/office/drawing/2014/main" id="{63049859-11E6-28FF-2063-7C84F2BCE7EA}"/>
              </a:ext>
            </a:extLst>
          </p:cNvPr>
          <p:cNvSpPr>
            <a:spLocks xmlns:a="http://schemas.openxmlformats.org/drawingml/2006/main" noGrp="1"/>
          </p:cNvSpPr>
          <p:nvPr>
            <p:ph idx="11" hasCustomPrompt="1"/>
          </p:nvPr>
        </p:nvSpPr>
        <p:spPr>
          <a:xfrm xmlns:a="http://schemas.openxmlformats.org/drawingml/2006/main">
            <a:off x="762000" y="1752600"/>
            <a:ext cx="10668000" cy="15240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Ecuación editable</a:t>
            </a:r>
          </a:p>
        </p:txBody>
      </p:sp>
      <p:sp>
        <p:nvSpPr>
          <p:cNvPr id="8" name="ph_body_0">
            <a:extLst xmlns:a="http://schemas.openxmlformats.org/drawingml/2006/main">
              <a:ext uri="{FF2B5EF4-FFF2-40B4-BE49-F238E27FC236}">
                <a16:creationId xmlns:a16="http://schemas.microsoft.com/office/drawing/2014/main" id="{27826603-AFCB-A7FC-DC5A-2E4905DA0F02}"/>
              </a:ext>
            </a:extLst>
          </p:cNvPr>
          <p:cNvSpPr>
            <a:spLocks xmlns:a="http://schemas.openxmlformats.org/drawingml/2006/main" noGrp="1"/>
          </p:cNvSpPr>
          <p:nvPr>
            <p:ph type="body" idx="12" hasCustomPrompt="1"/>
          </p:nvPr>
        </p:nvSpPr>
        <p:spPr>
          <a:xfrm xmlns:a="http://schemas.openxmlformats.org/drawingml/2006/main">
            <a:off x="762000" y="3638550"/>
            <a:ext cx="10668000" cy="2000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Interpretación y unidades</a:t>
            </a:r>
          </a:p>
        </p:txBody>
      </p:sp>
      <p:sp>
        <p:nvSpPr>
          <p:cNvPr id="9" name="fa_slide_number">
            <a:extLst xmlns:a="http://schemas.openxmlformats.org/drawingml/2006/main">
              <a:ext uri="{FF2B5EF4-FFF2-40B4-BE49-F238E27FC236}">
                <a16:creationId xmlns:a16="http://schemas.microsoft.com/office/drawing/2014/main" id="{554DD594-5FD7-1BA8-C390-3B2081E1BD93}"/>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D4E3DF21-1703-4AF3-A758-2190B581AEE3}" type="slidenum">
              <a:t>‹Nº›</a:t>
            </a:fld>
            <a:endParaRPr/>
          </a:p>
        </p:txBody>
      </p:sp>
    </p:spTree>
  </p:cSld>
  <p:hf hdr="0" ftr="0" dt="0"/>
</p:sldLayout>
</file>

<file path=ppt/slideLayouts/slideLayout17.xml><?xml version="1.0" encoding="utf-8"?>
<p:sldLayout xmlns:p="http://schemas.openxmlformats.org/presentationml/2006/main" userDrawn="1">
  <p:cSld name="FA_08_DEFINICION">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A64F010A-6A76-C440-2396-A624262AB04D}"/>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Concepto</a:t>
            </a:r>
          </a:p>
        </p:txBody>
      </p:sp>
      <p:sp>
        <p:nvSpPr>
          <p:cNvPr id="7" name="ph_content_0">
            <a:extLst xmlns:a="http://schemas.openxmlformats.org/drawingml/2006/main">
              <a:ext uri="{FF2B5EF4-FFF2-40B4-BE49-F238E27FC236}">
                <a16:creationId xmlns:a16="http://schemas.microsoft.com/office/drawing/2014/main" id="{314101D8-2C06-19A3-8BA4-89816CC23386}"/>
              </a:ext>
            </a:extLst>
          </p:cNvPr>
          <p:cNvSpPr>
            <a:spLocks xmlns:a="http://schemas.openxmlformats.org/drawingml/2006/main" noGrp="1"/>
          </p:cNvSpPr>
          <p:nvPr>
            <p:ph idx="11" hasCustomPrompt="1"/>
          </p:nvPr>
        </p:nvSpPr>
        <p:spPr>
          <a:xfrm xmlns:a="http://schemas.openxmlformats.org/drawingml/2006/main">
            <a:off x="1143000" y="1981200"/>
            <a:ext cx="9906000" cy="23812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Definición completa</a:t>
            </a:r>
          </a:p>
        </p:txBody>
      </p:sp>
      <p:sp>
        <p:nvSpPr>
          <p:cNvPr id="8" name="ph_body_0">
            <a:extLst xmlns:a="http://schemas.openxmlformats.org/drawingml/2006/main">
              <a:ext uri="{FF2B5EF4-FFF2-40B4-BE49-F238E27FC236}">
                <a16:creationId xmlns:a16="http://schemas.microsoft.com/office/drawing/2014/main" id="{4D685FE1-58B7-9044-F0E6-24526BBA1CC2}"/>
              </a:ext>
            </a:extLst>
          </p:cNvPr>
          <p:cNvSpPr>
            <a:spLocks xmlns:a="http://schemas.openxmlformats.org/drawingml/2006/main" noGrp="1"/>
          </p:cNvSpPr>
          <p:nvPr>
            <p:ph type="body" idx="12" hasCustomPrompt="1"/>
          </p:nvPr>
        </p:nvSpPr>
        <p:spPr>
          <a:xfrm xmlns:a="http://schemas.openxmlformats.org/drawingml/2006/main">
            <a:off x="1333500" y="4686300"/>
            <a:ext cx="9525000" cy="952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Implicación o ejemplo breve</a:t>
            </a:r>
          </a:p>
        </p:txBody>
      </p:sp>
      <p:sp>
        <p:nvSpPr>
          <p:cNvPr id="9" name="fa_slide_number">
            <a:extLst xmlns:a="http://schemas.openxmlformats.org/drawingml/2006/main">
              <a:ext uri="{FF2B5EF4-FFF2-40B4-BE49-F238E27FC236}">
                <a16:creationId xmlns:a16="http://schemas.microsoft.com/office/drawing/2014/main" id="{08CAD3E8-7C2E-D428-8533-9F43F7FD3565}"/>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EF7231C5-674D-43AF-A7BF-A95F7B1AC02E}" type="slidenum">
              <a:t>‹Nº›</a:t>
            </a:fld>
            <a:endParaRPr/>
          </a:p>
        </p:txBody>
      </p:sp>
    </p:spTree>
  </p:cSld>
  <p:hf hdr="0" ftr="0" dt="0"/>
</p:sldLayout>
</file>

<file path=ppt/slideLayouts/slideLayout18.xml><?xml version="1.0" encoding="utf-8"?>
<p:sldLayout xmlns:p="http://schemas.openxmlformats.org/presentationml/2006/main" userDrawn="1">
  <p:cSld name="FA_07_GRAFICO_EXPLICACION">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8E031ACD-0AD5-8809-0717-649540F4F383}"/>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chart_0">
            <a:extLst xmlns:a="http://schemas.openxmlformats.org/drawingml/2006/main">
              <a:ext uri="{FF2B5EF4-FFF2-40B4-BE49-F238E27FC236}">
                <a16:creationId xmlns:a16="http://schemas.microsoft.com/office/drawing/2014/main" id="{5380A50B-6A0F-2DF2-CF30-B0F7001B31E2}"/>
              </a:ext>
            </a:extLst>
          </p:cNvPr>
          <p:cNvSpPr>
            <a:spLocks xmlns:a="http://schemas.openxmlformats.org/drawingml/2006/main" noGrp="1"/>
          </p:cNvSpPr>
          <p:nvPr>
            <p:ph type="chart" idx="11" hasCustomPrompt="1"/>
          </p:nvPr>
        </p:nvSpPr>
        <p:spPr>
          <a:xfrm xmlns:a="http://schemas.openxmlformats.org/drawingml/2006/main">
            <a:off x="762000" y="1676400"/>
            <a:ext cx="6858000" cy="3714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Gráfico editable</a:t>
            </a:r>
          </a:p>
        </p:txBody>
      </p:sp>
      <p:sp>
        <p:nvSpPr>
          <p:cNvPr id="8" name="ph_body_0">
            <a:extLst xmlns:a="http://schemas.openxmlformats.org/drawingml/2006/main">
              <a:ext uri="{FF2B5EF4-FFF2-40B4-BE49-F238E27FC236}">
                <a16:creationId xmlns:a16="http://schemas.microsoft.com/office/drawing/2014/main" id="{1A6588E5-AEF0-6915-CE1D-570FEF5B4711}"/>
              </a:ext>
            </a:extLst>
          </p:cNvPr>
          <p:cNvSpPr>
            <a:spLocks xmlns:a="http://schemas.openxmlformats.org/drawingml/2006/main" noGrp="1"/>
          </p:cNvSpPr>
          <p:nvPr>
            <p:ph type="body" idx="12" hasCustomPrompt="1"/>
          </p:nvPr>
        </p:nvSpPr>
        <p:spPr>
          <a:xfrm xmlns:a="http://schemas.openxmlformats.org/drawingml/2006/main">
            <a:off x="8039100" y="1676400"/>
            <a:ext cx="339090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Lectura guiada</a:t>
            </a:r>
          </a:p>
        </p:txBody>
      </p:sp>
      <p:sp>
        <p:nvSpPr>
          <p:cNvPr id="9" name="fa_slide_number">
            <a:extLst xmlns:a="http://schemas.openxmlformats.org/drawingml/2006/main">
              <a:ext uri="{FF2B5EF4-FFF2-40B4-BE49-F238E27FC236}">
                <a16:creationId xmlns:a16="http://schemas.microsoft.com/office/drawing/2014/main" id="{61303251-BC98-15C7-91D2-8A07695826A0}"/>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F56D38C4-B1D5-4C8E-BE72-930FD8BDBC8E}" type="slidenum">
              <a:t>‹Nº›</a:t>
            </a:fld>
            <a:endParaRPr/>
          </a:p>
        </p:txBody>
      </p:sp>
    </p:spTree>
  </p:cSld>
  <p:hf hdr="0" ftr="0" dt="0"/>
</p:sldLayout>
</file>

<file path=ppt/slideLayouts/slideLayout19.xml><?xml version="1.0" encoding="utf-8"?>
<p:sldLayout xmlns:p="http://schemas.openxmlformats.org/presentationml/2006/main" userDrawn="1">
  <p:cSld name="FA_06B_DOS_COLUMNAS">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08ED06A4-5573-5517-B8B5-C2075DA96245}"/>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body_0">
            <a:extLst xmlns:a="http://schemas.openxmlformats.org/drawingml/2006/main">
              <a:ext uri="{FF2B5EF4-FFF2-40B4-BE49-F238E27FC236}">
                <a16:creationId xmlns:a16="http://schemas.microsoft.com/office/drawing/2014/main" id="{CFF38B9F-A684-35A1-0FA9-F59A1B5AB4C6}"/>
              </a:ext>
            </a:extLst>
          </p:cNvPr>
          <p:cNvSpPr>
            <a:spLocks xmlns:a="http://schemas.openxmlformats.org/drawingml/2006/main" noGrp="1"/>
          </p:cNvSpPr>
          <p:nvPr>
            <p:ph type="body" idx="11" hasCustomPrompt="1"/>
          </p:nvPr>
        </p:nvSpPr>
        <p:spPr>
          <a:xfrm xmlns:a="http://schemas.openxmlformats.org/drawingml/2006/main">
            <a:off x="762000" y="1676400"/>
            <a:ext cx="4953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Columna izquierda</a:t>
            </a:r>
          </a:p>
        </p:txBody>
      </p:sp>
      <p:sp>
        <p:nvSpPr>
          <p:cNvPr id="8" name="ph_body_1">
            <a:extLst xmlns:a="http://schemas.openxmlformats.org/drawingml/2006/main">
              <a:ext uri="{FF2B5EF4-FFF2-40B4-BE49-F238E27FC236}">
                <a16:creationId xmlns:a16="http://schemas.microsoft.com/office/drawing/2014/main" id="{8F895085-9CE5-6EE1-5F9D-097B6BDA3C7F}"/>
              </a:ext>
            </a:extLst>
          </p:cNvPr>
          <p:cNvSpPr>
            <a:spLocks xmlns:a="http://schemas.openxmlformats.org/drawingml/2006/main" noGrp="1"/>
          </p:cNvSpPr>
          <p:nvPr>
            <p:ph type="body" idx="12" hasCustomPrompt="1"/>
          </p:nvPr>
        </p:nvSpPr>
        <p:spPr>
          <a:xfrm xmlns:a="http://schemas.openxmlformats.org/drawingml/2006/main">
            <a:off x="6477000" y="1676400"/>
            <a:ext cx="4953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Columna derecha</a:t>
            </a:r>
          </a:p>
        </p:txBody>
      </p:sp>
      <p:sp>
        <p:nvSpPr>
          <p:cNvPr id="9" name="fa_slide_number">
            <a:extLst xmlns:a="http://schemas.openxmlformats.org/drawingml/2006/main">
              <a:ext uri="{FF2B5EF4-FFF2-40B4-BE49-F238E27FC236}">
                <a16:creationId xmlns:a16="http://schemas.microsoft.com/office/drawing/2014/main" id="{BA13ABB1-00AB-594A-F558-8175EBCF3114}"/>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602F4707-DF6D-4294-BB93-51F5AE613322}" type="slidenum">
              <a:t>‹Nº›</a:t>
            </a:fld>
            <a:endParaRPr/>
          </a:p>
        </p:txBody>
      </p:sp>
    </p:spTree>
  </p:cSld>
  <p:hf hdr="0" ftr="0" dt="0"/>
</p:sldLayout>
</file>

<file path=ppt/slideLayouts/slideLayout20.xml><?xml version="1.0" encoding="utf-8"?>
<p:sldLayout xmlns:p="http://schemas.openxmlformats.org/presentationml/2006/main" userDrawn="1">
  <p:cSld name="FA_06_VISUAL_TEXTO_40_60">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D5AED30D-A7BD-30DD-BE10-40C7E08936FE}"/>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picture_0">
            <a:extLst xmlns:a="http://schemas.openxmlformats.org/drawingml/2006/main">
              <a:ext uri="{FF2B5EF4-FFF2-40B4-BE49-F238E27FC236}">
                <a16:creationId xmlns:a16="http://schemas.microsoft.com/office/drawing/2014/main" id="{6FA99C08-D6E3-4E98-F4FE-DDBFAED84D03}"/>
              </a:ext>
            </a:extLst>
          </p:cNvPr>
          <p:cNvSpPr>
            <a:spLocks xmlns:a="http://schemas.openxmlformats.org/drawingml/2006/main" noGrp="1"/>
          </p:cNvSpPr>
          <p:nvPr>
            <p:ph type="pic" idx="11" hasCustomPrompt="1"/>
          </p:nvPr>
        </p:nvSpPr>
        <p:spPr>
          <a:xfrm xmlns:a="http://schemas.openxmlformats.org/drawingml/2006/main">
            <a:off x="762000" y="1676400"/>
            <a:ext cx="4095750" cy="33718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Imagen o diagrama</a:t>
            </a:r>
          </a:p>
        </p:txBody>
      </p:sp>
      <p:sp>
        <p:nvSpPr>
          <p:cNvPr id="8" name="ph_body_0">
            <a:extLst xmlns:a="http://schemas.openxmlformats.org/drawingml/2006/main">
              <a:ext uri="{FF2B5EF4-FFF2-40B4-BE49-F238E27FC236}">
                <a16:creationId xmlns:a16="http://schemas.microsoft.com/office/drawing/2014/main" id="{E5F7348D-D236-9EEA-2133-597F8B480978}"/>
              </a:ext>
            </a:extLst>
          </p:cNvPr>
          <p:cNvSpPr>
            <a:spLocks xmlns:a="http://schemas.openxmlformats.org/drawingml/2006/main" noGrp="1"/>
          </p:cNvSpPr>
          <p:nvPr>
            <p:ph type="body" idx="12" hasCustomPrompt="1"/>
          </p:nvPr>
        </p:nvSpPr>
        <p:spPr>
          <a:xfrm xmlns:a="http://schemas.openxmlformats.org/drawingml/2006/main">
            <a:off x="5238750" y="1676400"/>
            <a:ext cx="619125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Explicación</a:t>
            </a:r>
          </a:p>
        </p:txBody>
      </p:sp>
      <p:sp>
        <p:nvSpPr>
          <p:cNvPr id="9" name="fa_slide_number">
            <a:extLst xmlns:a="http://schemas.openxmlformats.org/drawingml/2006/main">
              <a:ext uri="{FF2B5EF4-FFF2-40B4-BE49-F238E27FC236}">
                <a16:creationId xmlns:a16="http://schemas.microsoft.com/office/drawing/2014/main" id="{9B437985-0763-FCCF-F44F-242B6F5117A3}"/>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BA6B0A21-BCB8-4A3F-B261-5C6ED3AE2361}" type="slidenum">
              <a:t>‹Nº›</a:t>
            </a:fld>
            <a:endParaRPr/>
          </a:p>
        </p:txBody>
      </p:sp>
    </p:spTree>
  </p:cSld>
  <p:hf hdr="0" ftr="0" dt="0"/>
</p:sldLayout>
</file>

<file path=ppt/slideLayouts/slideLayout21.xml><?xml version="1.0" encoding="utf-8"?>
<p:sldLayout xmlns:p="http://schemas.openxmlformats.org/presentationml/2006/main" userDrawn="1">
  <p:cSld name="FA_05_TEXTO_VISUAL_60_40">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3EF649E4-ADFE-13DB-6148-5183BBE49514}"/>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body_0">
            <a:extLst xmlns:a="http://schemas.openxmlformats.org/drawingml/2006/main">
              <a:ext uri="{FF2B5EF4-FFF2-40B4-BE49-F238E27FC236}">
                <a16:creationId xmlns:a16="http://schemas.microsoft.com/office/drawing/2014/main" id="{8F472493-280E-0CA3-7AC8-E68E8FBDBFCC}"/>
              </a:ext>
            </a:extLst>
          </p:cNvPr>
          <p:cNvSpPr>
            <a:spLocks xmlns:a="http://schemas.openxmlformats.org/drawingml/2006/main" noGrp="1"/>
          </p:cNvSpPr>
          <p:nvPr>
            <p:ph type="body" idx="11" hasCustomPrompt="1"/>
          </p:nvPr>
        </p:nvSpPr>
        <p:spPr>
          <a:xfrm xmlns:a="http://schemas.openxmlformats.org/drawingml/2006/main">
            <a:off x="762000" y="1676400"/>
            <a:ext cx="619125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Explicación</a:t>
            </a:r>
          </a:p>
        </p:txBody>
      </p:sp>
      <p:sp>
        <p:nvSpPr>
          <p:cNvPr id="8" name="ph_picture_0">
            <a:extLst xmlns:a="http://schemas.openxmlformats.org/drawingml/2006/main">
              <a:ext uri="{FF2B5EF4-FFF2-40B4-BE49-F238E27FC236}">
                <a16:creationId xmlns:a16="http://schemas.microsoft.com/office/drawing/2014/main" id="{79FC630C-AD55-24EA-E53D-308D86D07925}"/>
              </a:ext>
            </a:extLst>
          </p:cNvPr>
          <p:cNvSpPr>
            <a:spLocks xmlns:a="http://schemas.openxmlformats.org/drawingml/2006/main" noGrp="1"/>
          </p:cNvSpPr>
          <p:nvPr>
            <p:ph type="pic" idx="12" hasCustomPrompt="1"/>
          </p:nvPr>
        </p:nvSpPr>
        <p:spPr>
          <a:xfrm xmlns:a="http://schemas.openxmlformats.org/drawingml/2006/main">
            <a:off x="7334250" y="1676400"/>
            <a:ext cx="4095750" cy="33718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Imagen o diagrama</a:t>
            </a:r>
          </a:p>
        </p:txBody>
      </p:sp>
      <p:sp>
        <p:nvSpPr>
          <p:cNvPr id="9" name="fa_slide_number">
            <a:extLst xmlns:a="http://schemas.openxmlformats.org/drawingml/2006/main">
              <a:ext uri="{FF2B5EF4-FFF2-40B4-BE49-F238E27FC236}">
                <a16:creationId xmlns:a16="http://schemas.microsoft.com/office/drawing/2014/main" id="{3545EB75-FA22-76BE-9CE1-5BBC0905B29C}"/>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1060B985-A0D6-43B6-9BE3-5D6CD61324BB}" type="slidenum">
              <a:t>‹Nº›</a:t>
            </a:fld>
            <a:endParaRPr/>
          </a:p>
        </p:txBody>
      </p:sp>
    </p:spTree>
  </p:cSld>
  <p:hf hdr="0" ftr="0" dt="0"/>
</p:sldLayout>
</file>

<file path=ppt/slideLayouts/slideLayout22.xml><?xml version="1.0" encoding="utf-8"?>
<p:sldLayout xmlns:p="http://schemas.openxmlformats.org/presentationml/2006/main" userDrawn="1">
  <p:cSld name="FA_04_TITULO_CONTENID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A73D0B5-44ED-C607-E4A8-F4FDBA1B460F}"/>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body_0">
            <a:extLst xmlns:a="http://schemas.openxmlformats.org/drawingml/2006/main">
              <a:ext uri="{FF2B5EF4-FFF2-40B4-BE49-F238E27FC236}">
                <a16:creationId xmlns:a16="http://schemas.microsoft.com/office/drawing/2014/main" id="{4067827F-3DFD-43A8-ED1D-4A061C6AADC3}"/>
              </a:ext>
            </a:extLst>
          </p:cNvPr>
          <p:cNvSpPr>
            <a:spLocks xmlns:a="http://schemas.openxmlformats.org/drawingml/2006/main" noGrp="1"/>
          </p:cNvSpPr>
          <p:nvPr>
            <p:ph type="body" idx="11" hasCustomPrompt="1"/>
          </p:nvPr>
        </p:nvSpPr>
        <p:spPr>
          <a:xfrm xmlns:a="http://schemas.openxmlformats.org/drawingml/2006/main">
            <a:off x="762000" y="1695450"/>
            <a:ext cx="10668000" cy="411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Idea principal y desarrollo</a:t>
            </a:r>
          </a:p>
        </p:txBody>
      </p:sp>
      <p:sp>
        <p:nvSpPr>
          <p:cNvPr id="8" name="fa_slide_number">
            <a:extLst xmlns:a="http://schemas.openxmlformats.org/drawingml/2006/main">
              <a:ext uri="{FF2B5EF4-FFF2-40B4-BE49-F238E27FC236}">
                <a16:creationId xmlns:a16="http://schemas.microsoft.com/office/drawing/2014/main" id="{AB672653-EF56-0789-95CE-0ACA39724214}"/>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1113A982-D864-4714-BC0D-F64786B8C006}" type="slidenum">
              <a:t>‹Nº›</a:t>
            </a:fld>
            <a:endParaRPr/>
          </a:p>
        </p:txBody>
      </p:sp>
    </p:spTree>
  </p:cSld>
  <p:hf hdr="0" ftr="0" dt="0"/>
</p:sldLayout>
</file>

<file path=ppt/slideLayouts/slideLayout23.xml><?xml version="1.0" encoding="utf-8"?>
<p:sldLayout xmlns:p="http://schemas.openxmlformats.org/presentationml/2006/main" userDrawn="1">
  <p:cSld name="FA_03_MAPA_CLASE">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774C0439-FC2E-F5D5-0F77-C83354962018}"/>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Mapa de la clase</a:t>
            </a:r>
          </a:p>
        </p:txBody>
      </p:sp>
      <p:sp>
        <p:nvSpPr>
          <p:cNvPr id="7" name="ph_content_0">
            <a:extLst xmlns:a="http://schemas.openxmlformats.org/drawingml/2006/main">
              <a:ext uri="{FF2B5EF4-FFF2-40B4-BE49-F238E27FC236}">
                <a16:creationId xmlns:a16="http://schemas.microsoft.com/office/drawing/2014/main" id="{5D91A08B-7367-A177-D3A1-D4D0D4FD2923}"/>
              </a:ext>
            </a:extLst>
          </p:cNvPr>
          <p:cNvSpPr>
            <a:spLocks xmlns:a="http://schemas.openxmlformats.org/drawingml/2006/main" noGrp="1"/>
          </p:cNvSpPr>
          <p:nvPr>
            <p:ph idx="11" hasCustomPrompt="1"/>
          </p:nvPr>
        </p:nvSpPr>
        <p:spPr>
          <a:xfrm xmlns:a="http://schemas.openxmlformats.org/drawingml/2006/main">
            <a:off x="762000" y="1790700"/>
            <a:ext cx="10668000" cy="37338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Secuencia de bloques</a:t>
            </a:r>
          </a:p>
        </p:txBody>
      </p:sp>
      <p:sp>
        <p:nvSpPr>
          <p:cNvPr id="8" name="fa_slide_number">
            <a:extLst xmlns:a="http://schemas.openxmlformats.org/drawingml/2006/main">
              <a:ext uri="{FF2B5EF4-FFF2-40B4-BE49-F238E27FC236}">
                <a16:creationId xmlns:a16="http://schemas.microsoft.com/office/drawing/2014/main" id="{CB1AB991-FF40-041B-F321-8D5FD603622B}"/>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A4F5DA17-0689-46E4-8362-81AB21D91399}" type="slidenum">
              <a:t>‹Nº›</a:t>
            </a:fld>
            <a:endParaRPr/>
          </a:p>
        </p:txBody>
      </p:sp>
    </p:spTree>
  </p:cSld>
  <p:hf hdr="0" ftr="0" dt="0"/>
</p:sldLayout>
</file>

<file path=ppt/slideLayouts/slideLayout24.xml><?xml version="1.0" encoding="utf-8"?>
<p:sldLayout xmlns:p="http://schemas.openxmlformats.org/presentationml/2006/main" userDrawn="1">
  <p:cSld name="FA_02B_CONOCIMIENTOS_PREVIOS">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86E20EB-ACF6-E98B-A7F7-FAA63FE7A1AB}"/>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Conocimientos previos</a:t>
            </a:r>
          </a:p>
        </p:txBody>
      </p:sp>
      <p:sp>
        <p:nvSpPr>
          <p:cNvPr id="7" name="ph_body_0">
            <a:extLst xmlns:a="http://schemas.openxmlformats.org/drawingml/2006/main">
              <a:ext uri="{FF2B5EF4-FFF2-40B4-BE49-F238E27FC236}">
                <a16:creationId xmlns:a16="http://schemas.microsoft.com/office/drawing/2014/main" id="{DA74F11D-A621-76AD-1939-D17C951722BA}"/>
              </a:ext>
            </a:extLst>
          </p:cNvPr>
          <p:cNvSpPr>
            <a:spLocks xmlns:a="http://schemas.openxmlformats.org/drawingml/2006/main" noGrp="1"/>
          </p:cNvSpPr>
          <p:nvPr>
            <p:ph type="body" idx="11" hasCustomPrompt="1"/>
          </p:nvPr>
        </p:nvSpPr>
        <p:spPr>
          <a:xfrm xmlns:a="http://schemas.openxmlformats.org/drawingml/2006/main">
            <a:off x="762000" y="1714500"/>
            <a:ext cx="4953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Ya conocemos</a:t>
            </a:r>
          </a:p>
        </p:txBody>
      </p:sp>
      <p:sp>
        <p:nvSpPr>
          <p:cNvPr id="8" name="ph_body_1">
            <a:extLst xmlns:a="http://schemas.openxmlformats.org/drawingml/2006/main">
              <a:ext uri="{FF2B5EF4-FFF2-40B4-BE49-F238E27FC236}">
                <a16:creationId xmlns:a16="http://schemas.microsoft.com/office/drawing/2014/main" id="{3F301BAB-D31B-43BA-8C3E-29D441A86035}"/>
              </a:ext>
            </a:extLst>
          </p:cNvPr>
          <p:cNvSpPr>
            <a:spLocks xmlns:a="http://schemas.openxmlformats.org/drawingml/2006/main" noGrp="1"/>
          </p:cNvSpPr>
          <p:nvPr>
            <p:ph type="body" idx="12" hasCustomPrompt="1"/>
          </p:nvPr>
        </p:nvSpPr>
        <p:spPr>
          <a:xfrm xmlns:a="http://schemas.openxmlformats.org/drawingml/2006/main">
            <a:off x="6477000" y="1714500"/>
            <a:ext cx="4953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Necesitamos recuperar</a:t>
            </a:r>
          </a:p>
        </p:txBody>
      </p:sp>
      <p:sp>
        <p:nvSpPr>
          <p:cNvPr id="9" name="fa_slide_number">
            <a:extLst xmlns:a="http://schemas.openxmlformats.org/drawingml/2006/main">
              <a:ext uri="{FF2B5EF4-FFF2-40B4-BE49-F238E27FC236}">
                <a16:creationId xmlns:a16="http://schemas.microsoft.com/office/drawing/2014/main" id="{485A1487-76D9-6CD2-5B5D-641F847EEABE}"/>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C017E5F8-CA14-4AD9-9C34-2654E5F0D860}" type="slidenum">
              <a:t>‹Nº›</a:t>
            </a:fld>
            <a:endParaRPr/>
          </a:p>
        </p:txBody>
      </p:sp>
    </p:spTree>
  </p:cSld>
  <p:hf hdr="0" ftr="0" dt="0"/>
</p:sldLayout>
</file>

<file path=ppt/slideLayouts/slideLayout25.xml><?xml version="1.0" encoding="utf-8"?>
<p:sldLayout xmlns:p="http://schemas.openxmlformats.org/presentationml/2006/main" preserve="1" userDrawn="1">
  <p:cSld name="FA_00_PORTADA">
    <p:spTree>
      <p:nvGrpSpPr>
        <p:cNvPr id="1" name=""/>
        <p:cNvGrpSpPr/>
        <p:nvPr/>
      </p:nvGrpSpPr>
      <p:grpSpPr>
        <a:xfrm xmlns:a="http://schemas.openxmlformats.org/drawingml/2006/main"/>
      </p:grpSpPr>
      <p:sp>
        <p:nvSpPr>
          <p:cNvPr id="7" name="ph_title_0">
            <a:extLst xmlns:a="http://schemas.openxmlformats.org/drawingml/2006/main">
              <a:ext uri="{FF2B5EF4-FFF2-40B4-BE49-F238E27FC236}">
                <a16:creationId xmlns:a16="http://schemas.microsoft.com/office/drawing/2014/main" id="{BBF699B4-1B17-0944-8A64-D6854D8D6D1E}"/>
              </a:ext>
            </a:extLst>
          </p:cNvPr>
          <p:cNvSpPr>
            <a:spLocks xmlns:a="http://schemas.openxmlformats.org/drawingml/2006/main" noGrp="1"/>
          </p:cNvSpPr>
          <p:nvPr>
            <p:ph type="title" idx="10" hasCustomPrompt="1"/>
          </p:nvPr>
        </p:nvSpPr>
        <p:spPr>
          <a:xfrm xmlns:a="http://schemas.openxmlformats.org/drawingml/2006/main">
            <a:off x="800100" y="1543049"/>
            <a:ext cx="8572500" cy="1428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FFFFFF"/>
                </a:solidFill>
                <a:latin typeface="Calibri Light"/>
                <a:ea typeface="Calibri Light"/>
                <a:cs typeface="Calibri Light"/>
              </a:defRPr>
            </a:lvl1pPr>
          </a:lstStyle>
          <a:p xmlns:a="http://schemas.openxmlformats.org/drawingml/2006/main">
            <a:r>
              <a:t>Título de la unidad</a:t>
            </a:r>
          </a:p>
        </p:txBody>
      </p:sp>
      <p:sp>
        <p:nvSpPr>
          <p:cNvPr id="8" name="ph_subtitle_0">
            <a:extLst xmlns:a="http://schemas.openxmlformats.org/drawingml/2006/main">
              <a:ext uri="{FF2B5EF4-FFF2-40B4-BE49-F238E27FC236}">
                <a16:creationId xmlns:a16="http://schemas.microsoft.com/office/drawing/2014/main" id="{5EEB7C2E-BFEB-6726-9C51-28E1E3242D9B}"/>
              </a:ext>
            </a:extLst>
          </p:cNvPr>
          <p:cNvSpPr>
            <a:spLocks xmlns:a="http://schemas.openxmlformats.org/drawingml/2006/main" noGrp="1"/>
          </p:cNvSpPr>
          <p:nvPr>
            <p:ph type="subTitle" idx="11" hasCustomPrompt="1"/>
          </p:nvPr>
        </p:nvSpPr>
        <p:spPr>
          <a:xfrm xmlns:a="http://schemas.openxmlformats.org/drawingml/2006/main">
            <a:off x="838200" y="3143250"/>
            <a:ext cx="72390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0" indent="0" algn="l">
              <a:buNone/>
              <a:defRPr sz="2100" b="0">
                <a:solidFill>
                  <a:srgbClr val="FFFFFF"/>
                </a:solidFill>
                <a:latin typeface="Calibri"/>
                <a:ea typeface="Calibri"/>
                <a:cs typeface="Calibri"/>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t>Subtítulo o alcance</a:t>
            </a:r>
          </a:p>
        </p:txBody>
      </p:sp>
      <p:sp>
        <p:nvSpPr>
          <p:cNvPr id="9" name="fa_slide_number">
            <a:extLst xmlns:a="http://schemas.openxmlformats.org/drawingml/2006/main">
              <a:ext uri="{FF2B5EF4-FFF2-40B4-BE49-F238E27FC236}">
                <a16:creationId xmlns:a16="http://schemas.microsoft.com/office/drawing/2014/main" id="{F9094F21-F8D4-117E-6486-B4FB78DA574E}"/>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FFFFFF"/>
                </a:solidFill>
                <a:latin typeface="Calibri"/>
                <a:ea typeface="Calibri"/>
                <a:cs typeface="Calibri"/>
              </a:defRPr>
            </a:lvl1pPr>
          </a:lstStyle>
          <a:p xmlns:a="http://schemas.openxmlformats.org/drawingml/2006/main">
            <a:pPr algn="r">
              <a:buNone/>
            </a:pPr>
            <a:fld id="{BFBD13B0-F1EE-46B2-9204-54BDCC94E2F7}" type="slidenum">
              <a:t>‹Nº›</a:t>
            </a:fld>
            <a:endParaRPr/>
          </a:p>
        </p:txBody>
      </p:sp>
    </p:spTree>
  </p:cSld>
  <p:hf hdr="0" ftr="0" dt="0"/>
</p:sldLayout>
</file>

<file path=ppt/slideLayouts/slideLayout26.xml><?xml version="1.0" encoding="utf-8"?>
<p:sldLayout xmlns:p="http://schemas.openxmlformats.org/presentationml/2006/main" preserve="1" userDrawn="1">
  <p:cSld name="FA_21_CIERRE_PUENTE">
    <p:spTree>
      <p:nvGrpSpPr>
        <p:cNvPr id="1" name=""/>
        <p:cNvGrpSpPr/>
        <p:nvPr/>
      </p:nvGrpSpPr>
      <p:grpSpPr>
        <a:xfrm xmlns:a="http://schemas.openxmlformats.org/drawingml/2006/main"/>
      </p:grpSpPr>
      <p:sp>
        <p:nvSpPr>
          <p:cNvPr id="2" name="ph_title_0">
            <a:extLst xmlns:a="http://schemas.openxmlformats.org/drawingml/2006/main">
              <a:ext uri="{FF2B5EF4-FFF2-40B4-BE49-F238E27FC236}">
                <a16:creationId xmlns:a16="http://schemas.microsoft.com/office/drawing/2014/main" id="{08E6C8A6-F9D3-7926-25DF-ED045F3A4CCD}"/>
              </a:ext>
            </a:extLst>
          </p:cNvPr>
          <p:cNvSpPr>
            <a:spLocks xmlns:a="http://schemas.openxmlformats.org/drawingml/2006/main" noGrp="1"/>
          </p:cNvSpPr>
          <p:nvPr>
            <p:ph type="title" idx="10" hasCustomPrompt="1"/>
          </p:nvPr>
        </p:nvSpPr>
        <p:spPr>
          <a:xfrm xmlns:a="http://schemas.openxmlformats.org/drawingml/2006/main">
            <a:off x="800100" y="2019300"/>
            <a:ext cx="8953500" cy="11239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FFFFFF"/>
                </a:solidFill>
                <a:latin typeface="Calibri Light"/>
                <a:ea typeface="Calibri Light"/>
                <a:cs typeface="Calibri Light"/>
              </a:defRPr>
            </a:lvl1pPr>
          </a:lstStyle>
          <a:p xmlns:a="http://schemas.openxmlformats.org/drawingml/2006/main">
            <a:r>
              <a:t>Cierre</a:t>
            </a:r>
          </a:p>
        </p:txBody>
      </p:sp>
      <p:sp>
        <p:nvSpPr>
          <p:cNvPr id="3" name="ph_subtitle_0">
            <a:extLst xmlns:a="http://schemas.openxmlformats.org/drawingml/2006/main">
              <a:ext uri="{FF2B5EF4-FFF2-40B4-BE49-F238E27FC236}">
                <a16:creationId xmlns:a16="http://schemas.microsoft.com/office/drawing/2014/main" id="{7DB56B4A-8D9F-CA11-B9D5-A6125863F28F}"/>
              </a:ext>
            </a:extLst>
          </p:cNvPr>
          <p:cNvSpPr>
            <a:spLocks xmlns:a="http://schemas.openxmlformats.org/drawingml/2006/main" noGrp="1"/>
          </p:cNvSpPr>
          <p:nvPr>
            <p:ph type="subTitle" idx="11" hasCustomPrompt="1"/>
          </p:nvPr>
        </p:nvSpPr>
        <p:spPr>
          <a:xfrm xmlns:a="http://schemas.openxmlformats.org/drawingml/2006/main">
            <a:off x="838200" y="3314700"/>
            <a:ext cx="819150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0" indent="0" algn="l">
              <a:buNone/>
              <a:defRPr sz="2100" b="0">
                <a:solidFill>
                  <a:srgbClr val="FFFFFF"/>
                </a:solidFill>
                <a:latin typeface="Calibri"/>
                <a:ea typeface="Calibri"/>
                <a:cs typeface="Calibri"/>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t>Puente hacia la próxima clase</a:t>
            </a:r>
            <a:endParaRPr/>
          </a:p>
        </p:txBody>
      </p:sp>
      <p:sp>
        <p:nvSpPr>
          <p:cNvPr id="4" name="fa_slide_number">
            <a:extLst xmlns:a="http://schemas.openxmlformats.org/drawingml/2006/main">
              <a:ext uri="{FF2B5EF4-FFF2-40B4-BE49-F238E27FC236}">
                <a16:creationId xmlns:a16="http://schemas.microsoft.com/office/drawing/2014/main" id="{62762AF0-3B86-E082-1D9F-E94F6C836E6F}"/>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FFFFFF"/>
                </a:solidFill>
                <a:latin typeface="Calibri"/>
                <a:ea typeface="Calibri"/>
                <a:cs typeface="Calibri"/>
              </a:defRPr>
            </a:lvl1pPr>
          </a:lstStyle>
          <a:p xmlns:a="http://schemas.openxmlformats.org/drawingml/2006/main">
            <a:pPr algn="r">
              <a:buNone/>
            </a:pPr>
            <a:fld id="{1551B1DD-AE22-4797-A41E-B58F85D9714A}" type="slidenum">
              <a:t>‹Nº›</a:t>
            </a:fld>
            <a:endParaRPr/>
          </a:p>
        </p:txBody>
      </p:sp>
    </p:spTree>
  </p:cSld>
  <p:hf hdr="0" ftr="0" dt="0"/>
</p:sldLayout>
</file>

<file path=ppt/slideLayouts/slideLayout27.xml><?xml version="1.0" encoding="utf-8"?>
<p:sldLayout xmlns:p="http://schemas.openxmlformats.org/presentationml/2006/main" preserve="1" userDrawn="1">
  <p:cSld name="FA_01_DIVISOR">
    <p:spTree>
      <p:nvGrpSpPr>
        <p:cNvPr id="1" name=""/>
        <p:cNvGrpSpPr/>
        <p:nvPr/>
      </p:nvGrpSpPr>
      <p:grpSpPr>
        <a:xfrm xmlns:a="http://schemas.openxmlformats.org/drawingml/2006/main"/>
      </p:grpSpPr>
      <p:sp>
        <p:nvSpPr>
          <p:cNvPr id="2" name="ph_title_0">
            <a:extLst xmlns:a="http://schemas.openxmlformats.org/drawingml/2006/main">
              <a:ext uri="{FF2B5EF4-FFF2-40B4-BE49-F238E27FC236}">
                <a16:creationId xmlns:a16="http://schemas.microsoft.com/office/drawing/2014/main" id="{D1F88028-AD7E-5C80-FCA4-7044C14652DA}"/>
              </a:ext>
            </a:extLst>
          </p:cNvPr>
          <p:cNvSpPr>
            <a:spLocks xmlns:a="http://schemas.openxmlformats.org/drawingml/2006/main" noGrp="1"/>
          </p:cNvSpPr>
          <p:nvPr>
            <p:ph type="title" idx="10" hasCustomPrompt="1"/>
          </p:nvPr>
        </p:nvSpPr>
        <p:spPr>
          <a:xfrm xmlns:a="http://schemas.openxmlformats.org/drawingml/2006/main">
            <a:off x="800100" y="2095500"/>
            <a:ext cx="9334500" cy="1047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FFFFFF"/>
                </a:solidFill>
                <a:latin typeface="Calibri Light"/>
                <a:ea typeface="Calibri Light"/>
                <a:cs typeface="Calibri Light"/>
              </a:defRPr>
            </a:lvl1pPr>
          </a:lstStyle>
          <a:p xmlns:a="http://schemas.openxmlformats.org/drawingml/2006/main">
            <a:r>
              <a:t>Título del bloque</a:t>
            </a:r>
          </a:p>
        </p:txBody>
      </p:sp>
      <p:sp>
        <p:nvSpPr>
          <p:cNvPr id="3" name="ph_subtitle_0">
            <a:extLst xmlns:a="http://schemas.openxmlformats.org/drawingml/2006/main">
              <a:ext uri="{FF2B5EF4-FFF2-40B4-BE49-F238E27FC236}">
                <a16:creationId xmlns:a16="http://schemas.microsoft.com/office/drawing/2014/main" id="{8858B713-BB8F-93CF-76E5-B16753D5870D}"/>
              </a:ext>
            </a:extLst>
          </p:cNvPr>
          <p:cNvSpPr>
            <a:spLocks xmlns:a="http://schemas.openxmlformats.org/drawingml/2006/main" noGrp="1"/>
          </p:cNvSpPr>
          <p:nvPr>
            <p:ph type="subTitle" idx="11" hasCustomPrompt="1"/>
          </p:nvPr>
        </p:nvSpPr>
        <p:spPr>
          <a:xfrm xmlns:a="http://schemas.openxmlformats.org/drawingml/2006/main">
            <a:off x="838200" y="3295650"/>
            <a:ext cx="781050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0" indent="0" algn="l">
              <a:buNone/>
              <a:defRPr sz="2100" b="0">
                <a:solidFill>
                  <a:srgbClr val="FFFFFF"/>
                </a:solidFill>
                <a:latin typeface="Calibri"/>
                <a:ea typeface="Calibri"/>
                <a:cs typeface="Calibri"/>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t>Pregunta guía o propósito</a:t>
            </a:r>
          </a:p>
        </p:txBody>
      </p:sp>
      <p:sp>
        <p:nvSpPr>
          <p:cNvPr id="4" name="fa_slide_number">
            <a:extLst xmlns:a="http://schemas.openxmlformats.org/drawingml/2006/main">
              <a:ext uri="{FF2B5EF4-FFF2-40B4-BE49-F238E27FC236}">
                <a16:creationId xmlns:a16="http://schemas.microsoft.com/office/drawing/2014/main" id="{20025C06-92EB-B9DF-64E7-DAAC9343FA02}"/>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FFFFFF"/>
                </a:solidFill>
                <a:latin typeface="Calibri"/>
                <a:ea typeface="Calibri"/>
                <a:cs typeface="Calibri"/>
              </a:defRPr>
            </a:lvl1pPr>
          </a:lstStyle>
          <a:p xmlns:a="http://schemas.openxmlformats.org/drawingml/2006/main">
            <a:pPr algn="r">
              <a:buNone/>
            </a:pPr>
            <a:fld id="{60E8974C-1134-48A5-94B6-2428CCBD93A5}" type="slidenum">
              <a:t>‹Nº›</a:t>
            </a:fld>
            <a:endParaRPr/>
          </a:p>
        </p:txBody>
      </p:sp>
    </p:spTree>
  </p:cSld>
  <p:hf hdr="0" ftr="0" dt="0"/>
</p:sldLayout>
</file>

<file path=ppt/slideMasters/_rels/slideMaster1.xml.rels>&#65279;<?xml version="1.0" encoding="utf-8"?><Relationships xmlns="http://schemas.openxmlformats.org/package/2006/relationships"><Relationship Type="http://schemas.openxmlformats.org/officeDocument/2006/relationships/image" Target="/ppt/media/image.png" Id="Reb59145184604ea2" /><Relationship Type="http://schemas.openxmlformats.org/officeDocument/2006/relationships/theme" Target="/ppt/slideMasters/theme/theme2.xml" Id="Rd8f5356ea08847e4" /><Relationship Type="http://schemas.openxmlformats.org/officeDocument/2006/relationships/slideLayout" Target="/ppt/slideLayouts/slideLayout1.xml" Id="Rc081e2e067bd4527" /><Relationship Type="http://schemas.openxmlformats.org/officeDocument/2006/relationships/slideLayout" Target="/ppt/slideLayouts/slideLayout2.xml" Id="R7a4234606990421a" /><Relationship Type="http://schemas.openxmlformats.org/officeDocument/2006/relationships/slideLayout" Target="/ppt/slideLayouts/slideLayout3.xml" Id="R0a0fa56313d84d03" /><Relationship Type="http://schemas.openxmlformats.org/officeDocument/2006/relationships/slideLayout" Target="/ppt/slideLayouts/slideLayout4.xml" Id="Rc3be6a1269eb4519" /><Relationship Type="http://schemas.openxmlformats.org/officeDocument/2006/relationships/slideLayout" Target="/ppt/slideLayouts/slideLayout5.xml" Id="Rbb434540a26c4669" /><Relationship Type="http://schemas.openxmlformats.org/officeDocument/2006/relationships/slideLayout" Target="/ppt/slideLayouts/slideLayout6.xml" Id="R1bd45f7cf5f04a30" /><Relationship Type="http://schemas.openxmlformats.org/officeDocument/2006/relationships/slideLayout" Target="/ppt/slideLayouts/slideLayout7.xml" Id="Rb95100336cee4200" /><Relationship Type="http://schemas.openxmlformats.org/officeDocument/2006/relationships/slideLayout" Target="/ppt/slideLayouts/slideLayout8.xml" Id="R634c097ee8004b31" /><Relationship Type="http://schemas.openxmlformats.org/officeDocument/2006/relationships/slideLayout" Target="/ppt/slideLayouts/slideLayout9.xml" Id="R6281a12835694800" /><Relationship Type="http://schemas.openxmlformats.org/officeDocument/2006/relationships/slideLayout" Target="/ppt/slideLayouts/slideLayout10.xml" Id="R0bbf6bdbd3a04ca2" /><Relationship Type="http://schemas.openxmlformats.org/officeDocument/2006/relationships/slideLayout" Target="/ppt/slideLayouts/slideLayout11.xml" Id="Rf5c50c50b3a141dc" /><Relationship Type="http://schemas.openxmlformats.org/officeDocument/2006/relationships/slideLayout" Target="/ppt/slideLayouts/slideLayout12.xml" Id="R1f7bd8fd01c04e17" /><Relationship Type="http://schemas.openxmlformats.org/officeDocument/2006/relationships/slideLayout" Target="/ppt/slideLayouts/slideLayout13.xml" Id="R10296f6872514c11" /><Relationship Type="http://schemas.openxmlformats.org/officeDocument/2006/relationships/slideLayout" Target="/ppt/slideLayouts/slideLayout14.xml" Id="R736e0a5c45b04777" /><Relationship Type="http://schemas.openxmlformats.org/officeDocument/2006/relationships/slideLayout" Target="/ppt/slideLayouts/slideLayout15.xml" Id="R0562d91e66d8437a" /><Relationship Type="http://schemas.openxmlformats.org/officeDocument/2006/relationships/slideLayout" Target="/ppt/slideLayouts/slideLayout16.xml" Id="R85c9d5de8bfb41d8" /><Relationship Type="http://schemas.openxmlformats.org/officeDocument/2006/relationships/slideLayout" Target="/ppt/slideLayouts/slideLayout17.xml" Id="R32d008bef78a49e0" /><Relationship Type="http://schemas.openxmlformats.org/officeDocument/2006/relationships/slideLayout" Target="/ppt/slideLayouts/slideLayout18.xml" Id="R52b7ce3db4124936" /><Relationship Type="http://schemas.openxmlformats.org/officeDocument/2006/relationships/slideLayout" Target="/ppt/slideLayouts/slideLayout19.xml" Id="R4b2b946b3b224cb2" /><Relationship Type="http://schemas.openxmlformats.org/officeDocument/2006/relationships/slideLayout" Target="/ppt/slideLayouts/slideLayout20.xml" Id="R77978d772d6c4655" /><Relationship Type="http://schemas.openxmlformats.org/officeDocument/2006/relationships/slideLayout" Target="/ppt/slideLayouts/slideLayout21.xml" Id="R8ef163cca33b453b" /><Relationship Type="http://schemas.openxmlformats.org/officeDocument/2006/relationships/slideLayout" Target="/ppt/slideLayouts/slideLayout22.xml" Id="Rf3424c516ca84f4e" /><Relationship Type="http://schemas.openxmlformats.org/officeDocument/2006/relationships/slideLayout" Target="/ppt/slideLayouts/slideLayout23.xml" Id="R802a250f1e5b46f2" /><Relationship Type="http://schemas.openxmlformats.org/officeDocument/2006/relationships/slideLayout" Target="/ppt/slideLayouts/slideLayout24.xml" Id="R0d83f49614da4520" /></Relationships>
</file>

<file path=ppt/slideMasters/_rels/slideMaster2.xml.rels>&#65279;<?xml version="1.0" encoding="utf-8"?><Relationships xmlns="http://schemas.openxmlformats.org/package/2006/relationships"><Relationship Type="http://schemas.openxmlformats.org/officeDocument/2006/relationships/image" Target="/ppt/media/image.png" Id="R35ea26c02b5d4cec" /><Relationship Type="http://schemas.openxmlformats.org/officeDocument/2006/relationships/theme" Target="/ppt/slideMasters/theme/theme3.xml" Id="R75cc9c7161a14933" /><Relationship Type="http://schemas.openxmlformats.org/officeDocument/2006/relationships/slideLayout" Target="/ppt/slideLayouts/slideLayout25.xml" Id="Rb3c43842f1e248e7" /><Relationship Type="http://schemas.openxmlformats.org/officeDocument/2006/relationships/slideLayout" Target="/ppt/slideLayouts/slideLayout26.xml" Id="R12652172a7f84699" /><Relationship Type="http://schemas.openxmlformats.org/officeDocument/2006/relationships/slideLayout" Target="/ppt/slideLayouts/slideLayout27.xml" Id="Rd94b47de624a4557" /></Relationships>
</file>

<file path=ppt/slideMasters/slideMaster1.xml><?xml version="1.0" encoding="utf-8"?>
<p:sldMaster xmlns:p="http://schemas.openxmlformats.org/presentationml/2006/main">
  <p:cSld name="Master">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ule_maroon">
            <a:extLst xmlns:a="http://schemas.openxmlformats.org/drawingml/2006/main">
              <a:ext uri="{FF2B5EF4-FFF2-40B4-BE49-F238E27FC236}">
                <a16:creationId xmlns:a16="http://schemas.microsoft.com/office/drawing/2014/main" id="{7ED400B0-4650-BD81-8872-00CCE5394A4B}"/>
              </a:ext>
            </a:extLst>
          </p:cNvPr>
          <p:cNvSpPr>
            <a:spLocks xmlns:a="http://schemas.openxmlformats.org/drawingml/2006/main" noGrp="1"/>
          </p:cNvSpPr>
          <p:nvPr/>
        </p:nvSpPr>
        <p:spPr>
          <a:xfrm xmlns:a="http://schemas.openxmlformats.org/drawingml/2006/main">
            <a:off x="609600" y="247650"/>
            <a:ext cx="3657600" cy="57150"/>
          </a:xfrm>
          <a:prstGeom xmlns:a="http://schemas.openxmlformats.org/drawingml/2006/main" prst="rect">
            <a:avLst/>
          </a:prstGeom>
          <a:solidFill xmlns:a="http://schemas.openxmlformats.org/drawingml/2006/main">
            <a:srgbClr val="4D1434"/>
          </a:solidFill>
          <a:ln xmlns:a="http://schemas.openxmlformats.org/drawingml/2006/main" w="19050">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rule_berry">
            <a:extLst xmlns:a="http://schemas.openxmlformats.org/drawingml/2006/main">
              <a:ext uri="{FF2B5EF4-FFF2-40B4-BE49-F238E27FC236}">
                <a16:creationId xmlns:a16="http://schemas.microsoft.com/office/drawing/2014/main" id="{19067D9B-1D69-BEBD-53A6-E2EBCE31B809}"/>
              </a:ext>
            </a:extLst>
          </p:cNvPr>
          <p:cNvSpPr>
            <a:spLocks xmlns:a="http://schemas.openxmlformats.org/drawingml/2006/main" noGrp="1"/>
          </p:cNvSpPr>
          <p:nvPr/>
        </p:nvSpPr>
        <p:spPr>
          <a:xfrm xmlns:a="http://schemas.openxmlformats.org/drawingml/2006/main">
            <a:off x="4362450" y="247650"/>
            <a:ext cx="3657600" cy="57150"/>
          </a:xfrm>
          <a:prstGeom xmlns:a="http://schemas.openxmlformats.org/drawingml/2006/main" prst="rect">
            <a:avLst/>
          </a:prstGeom>
          <a:solidFill xmlns:a="http://schemas.openxmlformats.org/drawingml/2006/main">
            <a:srgbClr val="903163"/>
          </a:solidFill>
          <a:ln xmlns:a="http://schemas.openxmlformats.org/drawingml/2006/main" w="19050">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rule_gray">
            <a:extLst xmlns:a="http://schemas.openxmlformats.org/drawingml/2006/main">
              <a:ext uri="{FF2B5EF4-FFF2-40B4-BE49-F238E27FC236}">
                <a16:creationId xmlns:a16="http://schemas.microsoft.com/office/drawing/2014/main" id="{D5EE4B42-9A6B-A99D-63F0-0D1F0CDA593B}"/>
              </a:ext>
            </a:extLst>
          </p:cNvPr>
          <p:cNvSpPr>
            <a:spLocks xmlns:a="http://schemas.openxmlformats.org/drawingml/2006/main" noGrp="1"/>
          </p:cNvSpPr>
          <p:nvPr/>
        </p:nvSpPr>
        <p:spPr>
          <a:xfrm xmlns:a="http://schemas.openxmlformats.org/drawingml/2006/main">
            <a:off x="8115300" y="247650"/>
            <a:ext cx="3467100" cy="57150"/>
          </a:xfrm>
          <a:prstGeom xmlns:a="http://schemas.openxmlformats.org/drawingml/2006/main" prst="rect">
            <a:avLst/>
          </a:prstGeom>
          <a:solidFill xmlns:a="http://schemas.openxmlformats.org/drawingml/2006/main">
            <a:srgbClr val="969FA7"/>
          </a:solidFill>
          <a:ln xmlns:a="http://schemas.openxmlformats.org/drawingml/2006/main" w="19050">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footer_rule">
            <a:extLst xmlns:a="http://schemas.openxmlformats.org/drawingml/2006/main">
              <a:ext uri="{FF2B5EF4-FFF2-40B4-BE49-F238E27FC236}">
                <a16:creationId xmlns:a16="http://schemas.microsoft.com/office/drawing/2014/main" id="{967B707C-1A6F-0D89-F330-66B1FD9D5071}"/>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D9DCE0"/>
          </a:solidFill>
          <a:ln xmlns:a="http://schemas.openxmlformats.org/drawingml/2006/main" w="19050">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4" name="ucasal_logo_master_light"/>
          <p:cNvPicPr>
            <a:picLocks xmlns:a="http://schemas.openxmlformats.org/drawingml/2006/main" noChangeAspect="1"/>
          </p:cNvPicPr>
          <p:nvPr/>
        </p:nvPicPr>
        <p:blipFill>
          <a:blip xmlns:r="http://schemas.openxmlformats.org/officeDocument/2006/relationships" xmlns:a="http://schemas.openxmlformats.org/drawingml/2006/main" r:embed="Reb59145184604ea2"/>
          <a:stretch xmlns:a="http://schemas.openxmlformats.org/drawingml/2006/main">
            <a:fillRect l="0" t="0" r="0" b="0"/>
          </a:stretch>
        </p:blipFill>
        <p:spPr>
          <a:xfrm xmlns:a="http://schemas.openxmlformats.org/drawingml/2006/main">
            <a:off x="609600" y="6429375"/>
            <a:ext cx="1028700" cy="304800"/>
          </a:xfrm>
          <a:prstGeom xmlns:a="http://schemas.openxmlformats.org/drawingml/2006/main" prst="rect">
            <a:avLst/>
          </a:prstGeom>
        </p:spPr>
      </p:pic>
      <p:sp>
        <p:nvSpPr>
          <p:cNvPr id="8" name="footer_course_light">
            <a:extLst xmlns:a="http://schemas.openxmlformats.org/drawingml/2006/main">
              <a:ext uri="{FF2B5EF4-FFF2-40B4-BE49-F238E27FC236}">
                <a16:creationId xmlns:a16="http://schemas.microsoft.com/office/drawing/2014/main" id="{63C3527D-F71A-255A-556A-E956A5B245FC}"/>
              </a:ext>
            </a:extLst>
          </p:cNvPr>
          <p:cNvSpPr>
            <a:spLocks xmlns:a="http://schemas.openxmlformats.org/drawingml/2006/main" noGrp="1"/>
          </p:cNvSpPr>
          <p:nvPr/>
        </p:nvSpPr>
        <p:spPr>
          <a:xfrm xmlns:a="http://schemas.openxmlformats.org/drawingml/2006/main">
            <a:off x="1809750" y="6467475"/>
            <a:ext cx="4953000" cy="253916"/>
          </a:xfrm>
          <a:prstGeom xmlns:a="http://schemas.openxmlformats.org/drawingml/2006/main" prst="rect">
            <a:avLst/>
          </a:prstGeom>
          <a:noFill xmlns:a="http://schemas.openxmlformats.org/drawingml/2006/main"/>
        </p:spPr>
        <p:txBody>
          <a:bodyPr xmlns:a="http://schemas.openxmlformats.org/drawingml/2006/main" vert="horz" wrap="square" lIns="0" tIns="0" rIns="0" bIns="0" anchor="ctr">
            <a:noAutofit/>
          </a:bodyPr>
          <a:lstStyle xmlns:a="http://schemas.openxmlformats.org/drawingml/2006/main"/>
          <a:p xmlns:a="http://schemas.openxmlformats.org/drawingml/2006/main">
            <a:pPr algn="l">
              <a:buNone/>
            </a:pPr>
            <a:r>
              <a:rPr sz="1050" b="0">
                <a:solidFill>
                  <a:srgbClr val="667079"/>
                </a:solidFill>
                <a:latin typeface="Calibri"/>
                <a:ea typeface="Calibri"/>
                <a:cs typeface="Calibri"/>
              </a:rPr>
              <a:t>Física Acústica · Licenciatura en Fonoaudiología</a:t>
            </a:r>
            <a:endParaRPr sz="1050" b="0">
              <a:solidFill>
                <a:srgbClr val="667079"/>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81e2e067bd4527"/>
    <p:sldLayoutId xmlns:r="http://schemas.openxmlformats.org/officeDocument/2006/relationships" id="2147483650" r:id="R7a4234606990421a"/>
    <p:sldLayoutId xmlns:r="http://schemas.openxmlformats.org/officeDocument/2006/relationships" id="2147483651" r:id="R0a0fa56313d84d03"/>
    <p:sldLayoutId xmlns:r="http://schemas.openxmlformats.org/officeDocument/2006/relationships" id="2147483652" r:id="Rc3be6a1269eb4519"/>
    <p:sldLayoutId xmlns:r="http://schemas.openxmlformats.org/officeDocument/2006/relationships" id="2147483653" r:id="Rbb434540a26c4669"/>
    <p:sldLayoutId xmlns:r="http://schemas.openxmlformats.org/officeDocument/2006/relationships" id="2147483654" r:id="R1bd45f7cf5f04a30"/>
    <p:sldLayoutId xmlns:r="http://schemas.openxmlformats.org/officeDocument/2006/relationships" id="2147483655" r:id="Rb95100336cee4200"/>
    <p:sldLayoutId xmlns:r="http://schemas.openxmlformats.org/officeDocument/2006/relationships" id="2147483656" r:id="R634c097ee8004b31"/>
    <p:sldLayoutId xmlns:r="http://schemas.openxmlformats.org/officeDocument/2006/relationships" id="2147483657" r:id="R6281a12835694800"/>
    <p:sldLayoutId xmlns:r="http://schemas.openxmlformats.org/officeDocument/2006/relationships" id="2147483658" r:id="R0bbf6bdbd3a04ca2"/>
    <p:sldLayoutId xmlns:r="http://schemas.openxmlformats.org/officeDocument/2006/relationships" id="2147483659" r:id="Rf5c50c50b3a141dc"/>
    <p:sldLayoutId xmlns:r="http://schemas.openxmlformats.org/officeDocument/2006/relationships" id="2147483660" r:id="R1f7bd8fd01c04e17"/>
    <p:sldLayoutId xmlns:r="http://schemas.openxmlformats.org/officeDocument/2006/relationships" id="2147483661" r:id="R10296f6872514c11"/>
    <p:sldLayoutId xmlns:r="http://schemas.openxmlformats.org/officeDocument/2006/relationships" id="2147483662" r:id="R736e0a5c45b04777"/>
    <p:sldLayoutId xmlns:r="http://schemas.openxmlformats.org/officeDocument/2006/relationships" id="2147483663" r:id="R0562d91e66d8437a"/>
    <p:sldLayoutId xmlns:r="http://schemas.openxmlformats.org/officeDocument/2006/relationships" id="2147483664" r:id="R85c9d5de8bfb41d8"/>
    <p:sldLayoutId xmlns:r="http://schemas.openxmlformats.org/officeDocument/2006/relationships" id="2147483665" r:id="R32d008bef78a49e0"/>
    <p:sldLayoutId xmlns:r="http://schemas.openxmlformats.org/officeDocument/2006/relationships" id="2147483666" r:id="R52b7ce3db4124936"/>
    <p:sldLayoutId xmlns:r="http://schemas.openxmlformats.org/officeDocument/2006/relationships" id="2147483667" r:id="R4b2b946b3b224cb2"/>
    <p:sldLayoutId xmlns:r="http://schemas.openxmlformats.org/officeDocument/2006/relationships" id="2147483668" r:id="R77978d772d6c4655"/>
    <p:sldLayoutId xmlns:r="http://schemas.openxmlformats.org/officeDocument/2006/relationships" id="2147483669" r:id="R8ef163cca33b453b"/>
    <p:sldLayoutId xmlns:r="http://schemas.openxmlformats.org/officeDocument/2006/relationships" id="2147483670" r:id="Rf3424c516ca84f4e"/>
    <p:sldLayoutId xmlns:r="http://schemas.openxmlformats.org/officeDocument/2006/relationships" id="2147483671" r:id="R802a250f1e5b46f2"/>
    <p:sldLayoutId xmlns:r="http://schemas.openxmlformats.org/officeDocument/2006/relationships" id="2147483672" r:id="R0d83f49614da4520"/>
  </p:sldLayoutIdLst>
  <p:hf hdr="0" ftr="0" dt="0"/>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7" name="rule_berry">
            <a:extLst xmlns:a="http://schemas.openxmlformats.org/drawingml/2006/main">
              <a:ext uri="{FF2B5EF4-FFF2-40B4-BE49-F238E27FC236}">
                <a16:creationId xmlns:a16="http://schemas.microsoft.com/office/drawing/2014/main" id="{54233747-3B41-236E-F508-E312E7DCB9DF}"/>
              </a:ext>
            </a:extLst>
          </p:cNvPr>
          <p:cNvSpPr>
            <a:spLocks xmlns:a="http://schemas.openxmlformats.org/drawingml/2006/main" noGrp="1"/>
          </p:cNvSpPr>
          <p:nvPr/>
        </p:nvSpPr>
        <p:spPr>
          <a:xfrm xmlns:a="http://schemas.openxmlformats.org/drawingml/2006/main">
            <a:off x="609600" y="247650"/>
            <a:ext cx="3657600" cy="57150"/>
          </a:xfrm>
          <a:prstGeom xmlns:a="http://schemas.openxmlformats.org/drawingml/2006/main" prst="rect">
            <a:avLst/>
          </a:prstGeom>
          <a:solidFill xmlns:a="http://schemas.openxmlformats.org/drawingml/2006/main">
            <a:srgbClr val="903163"/>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ule_white">
            <a:extLst xmlns:a="http://schemas.openxmlformats.org/drawingml/2006/main">
              <a:ext uri="{FF2B5EF4-FFF2-40B4-BE49-F238E27FC236}">
                <a16:creationId xmlns:a16="http://schemas.microsoft.com/office/drawing/2014/main" id="{AB7800AF-4B8D-3775-268D-A94322560FCE}"/>
              </a:ext>
            </a:extLst>
          </p:cNvPr>
          <p:cNvSpPr>
            <a:spLocks xmlns:a="http://schemas.openxmlformats.org/drawingml/2006/main" noGrp="1"/>
          </p:cNvSpPr>
          <p:nvPr/>
        </p:nvSpPr>
        <p:spPr>
          <a:xfrm xmlns:a="http://schemas.openxmlformats.org/drawingml/2006/main">
            <a:off x="4362450" y="247650"/>
            <a:ext cx="3657600" cy="57150"/>
          </a:xfrm>
          <a:prstGeom xmlns:a="http://schemas.openxmlformats.org/drawingml/2006/main" prst="rect">
            <a:avLst/>
          </a:prstGeom>
          <a:solidFill xmlns:a="http://schemas.openxmlformats.org/drawingml/2006/main">
            <a:srgbClr val="FFFFFF"/>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ule_gray">
            <a:extLst xmlns:a="http://schemas.openxmlformats.org/drawingml/2006/main">
              <a:ext uri="{FF2B5EF4-FFF2-40B4-BE49-F238E27FC236}">
                <a16:creationId xmlns:a16="http://schemas.microsoft.com/office/drawing/2014/main" id="{092696FC-D673-2DD3-4FCF-4D8518D87390}"/>
              </a:ext>
            </a:extLst>
          </p:cNvPr>
          <p:cNvSpPr>
            <a:spLocks xmlns:a="http://schemas.openxmlformats.org/drawingml/2006/main" noGrp="1"/>
          </p:cNvSpPr>
          <p:nvPr/>
        </p:nvSpPr>
        <p:spPr>
          <a:xfrm xmlns:a="http://schemas.openxmlformats.org/drawingml/2006/main">
            <a:off x="8115300" y="247650"/>
            <a:ext cx="3467100" cy="57150"/>
          </a:xfrm>
          <a:prstGeom xmlns:a="http://schemas.openxmlformats.org/drawingml/2006/main" prst="rect">
            <a:avLst/>
          </a:prstGeom>
          <a:solidFill xmlns:a="http://schemas.openxmlformats.org/drawingml/2006/main">
            <a:srgbClr val="969FA7"/>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footer_rule">
            <a:extLst xmlns:a="http://schemas.openxmlformats.org/drawingml/2006/main">
              <a:ext uri="{FF2B5EF4-FFF2-40B4-BE49-F238E27FC236}">
                <a16:creationId xmlns:a16="http://schemas.microsoft.com/office/drawing/2014/main" id="{99D069AE-519E-8032-14CB-9643E0ECC0A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903163"/>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logo_backing">
            <a:extLst xmlns:a="http://schemas.openxmlformats.org/drawingml/2006/main">
              <a:ext uri="{FF2B5EF4-FFF2-40B4-BE49-F238E27FC236}">
                <a16:creationId xmlns:a16="http://schemas.microsoft.com/office/drawing/2014/main" id="{DED1A456-4096-91AC-8233-B33FFC94C295}"/>
              </a:ext>
            </a:extLst>
          </p:cNvPr>
          <p:cNvSpPr>
            <a:spLocks xmlns:a="http://schemas.openxmlformats.org/drawingml/2006/main" noGrp="1"/>
          </p:cNvSpPr>
          <p:nvPr/>
        </p:nvSpPr>
        <p:spPr>
          <a:xfrm xmlns:a="http://schemas.openxmlformats.org/drawingml/2006/main">
            <a:off x="609600" y="6419850"/>
            <a:ext cx="1104900" cy="323850"/>
          </a:xfrm>
          <a:prstGeom xmlns:a="http://schemas.openxmlformats.org/drawingml/2006/main" prst="rect">
            <a:avLst/>
          </a:prstGeom>
          <a:solidFill xmlns:a="http://schemas.openxmlformats.org/drawingml/2006/main">
            <a:srgbClr val="FFFFFF"/>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1" name="ucasal_logo_master_dark"/>
          <p:cNvPicPr>
            <a:picLocks xmlns:a="http://schemas.openxmlformats.org/drawingml/2006/main" noChangeAspect="1"/>
          </p:cNvPicPr>
          <p:nvPr/>
        </p:nvPicPr>
        <p:blipFill>
          <a:blip xmlns:r="http://schemas.openxmlformats.org/officeDocument/2006/relationships" xmlns:a="http://schemas.openxmlformats.org/drawingml/2006/main" r:embed="R35ea26c02b5d4cec"/>
          <a:stretch xmlns:a="http://schemas.openxmlformats.org/drawingml/2006/main">
            <a:fillRect l="0" t="0" r="0" b="0"/>
          </a:stretch>
        </p:blipFill>
        <p:spPr>
          <a:xfrm xmlns:a="http://schemas.openxmlformats.org/drawingml/2006/main">
            <a:off x="666750" y="6467475"/>
            <a:ext cx="990600" cy="228600"/>
          </a:xfrm>
          <a:prstGeom xmlns:a="http://schemas.openxmlformats.org/drawingml/2006/main" prst="rect">
            <a:avLst/>
          </a:prstGeom>
        </p:spPr>
      </p:pic>
      <p:sp>
        <p:nvSpPr>
          <p:cNvPr id="14" name="footer_course_dark">
            <a:extLst xmlns:a="http://schemas.openxmlformats.org/drawingml/2006/main">
              <a:ext uri="{FF2B5EF4-FFF2-40B4-BE49-F238E27FC236}">
                <a16:creationId xmlns:a16="http://schemas.microsoft.com/office/drawing/2014/main" id="{D186B626-134A-FBCD-AEA0-4A2A93AA00A6}"/>
              </a:ext>
            </a:extLst>
          </p:cNvPr>
          <p:cNvSpPr>
            <a:spLocks xmlns:a="http://schemas.openxmlformats.org/drawingml/2006/main" noGrp="1"/>
          </p:cNvSpPr>
          <p:nvPr/>
        </p:nvSpPr>
        <p:spPr>
          <a:xfrm xmlns:a="http://schemas.openxmlformats.org/drawingml/2006/main">
            <a:off x="1885950" y="6467475"/>
            <a:ext cx="4953000" cy="253916"/>
          </a:xfrm>
          <a:prstGeom xmlns:a="http://schemas.openxmlformats.org/drawingml/2006/main" prst="rect">
            <a:avLst/>
          </a:prstGeom>
          <a:noFill xmlns:a="http://schemas.openxmlformats.org/drawingml/2006/main"/>
        </p:spPr>
        <p:txBody>
          <a:bodyPr xmlns:a="http://schemas.openxmlformats.org/drawingml/2006/main" vert="horz" wrap="square" lIns="0" tIns="0" rIns="0" bIns="0" anchor="ctr">
            <a:noAutofit/>
          </a:bodyPr>
          <a:lstStyle xmlns:a="http://schemas.openxmlformats.org/drawingml/2006/main"/>
          <a:p xmlns:a="http://schemas.openxmlformats.org/drawingml/2006/main">
            <a:pPr algn="l">
              <a:buNone/>
            </a:pPr>
            <a:r>
              <a:rPr sz="1050" b="0">
                <a:solidFill>
                  <a:srgbClr val="FFFFFF"/>
                </a:solidFill>
                <a:latin typeface="Calibri"/>
                <a:ea typeface="Calibri"/>
                <a:cs typeface="Calibri"/>
              </a:rPr>
              <a:t>Física Acústica · Licenciatura en Fonoaudiología</a:t>
            </a:r>
            <a:endParaRPr sz="1050" b="0">
              <a:solidFill>
                <a:srgbClr val="FFFFFF"/>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74" r:id="Rb3c43842f1e248e7"/>
    <p:sldLayoutId xmlns:r="http://schemas.openxmlformats.org/officeDocument/2006/relationships" id="2147483675" r:id="R12652172a7f84699"/>
    <p:sldLayoutId xmlns:r="http://schemas.openxmlformats.org/officeDocument/2006/relationships" id="2147483676" r:id="Rd94b47de624a4557"/>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FA_MASTER_CLARO">
  <a:themeElements>
    <a:clrScheme name="Física Acústica UCASAL">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Calibri Light"/>
        <a:ea typeface="Calibri Light"/>
        <a:cs typeface="Calibri Light"/>
      </a:majorFont>
      <a:minorFont>
        <a:latin typeface="Calibri"/>
        <a:ea typeface="Calibri"/>
        <a:cs typeface="Calibri"/>
      </a:minorFont>
    </a:fontScheme>
    <a:fmtScheme name="Física Acústica UCA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FA_MASTER_BORDO">
  <a:themeElements>
    <a:clrScheme name="Office">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5.xml" Id="Rbe93f4235d884bab" /><Relationship Type="http://schemas.openxmlformats.org/officeDocument/2006/relationships/notesSlide" Target="/ppt/notesSlides/notesSlide1.xml" Id="R243eff74097147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cd6331abfab24b2f" /><Relationship Type="http://schemas.openxmlformats.org/officeDocument/2006/relationships/notesSlide" Target="/ppt/notesSlides/notesSlide2.xml" Id="Refb2fd7ce23b46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3.xml" Id="R7e898825963d445f" /><Relationship Type="http://schemas.openxmlformats.org/officeDocument/2006/relationships/image" Target="/ppt/media/image2.png" Id="Rad59425cc35f43c6" /><Relationship Type="http://schemas.openxmlformats.org/officeDocument/2006/relationships/notesSlide" Target="/ppt/notesSlides/notesSlide3.xml" Id="Rd4977201d96443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4.xml" Id="R7ff0cf72ea1a417a" /><Relationship Type="http://schemas.openxmlformats.org/officeDocument/2006/relationships/notesSlide" Target="/ppt/notesSlides/notesSlide4.xml" Id="R5dfe82d94dd64b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0.xml" Id="R5274e245cddb46ac" /><Relationship Type="http://schemas.openxmlformats.org/officeDocument/2006/relationships/image" Target="/ppt/media/image3.png" Id="R2ec090071b8c429a" /><Relationship Type="http://schemas.openxmlformats.org/officeDocument/2006/relationships/notesSlide" Target="/ppt/notesSlides/notesSlide5.xml" Id="R034c4e94d5cb40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4633e2c4bd4177" /><Relationship Type="http://schemas.openxmlformats.org/officeDocument/2006/relationships/notesSlide" Target="/ppt/notesSlides/notesSlide6.xml" Id="R41d4eb10fc3d4f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3.xml" Id="Re3cd5bb1b3bc4df1" /><Relationship Type="http://schemas.openxmlformats.org/officeDocument/2006/relationships/image" Target="/ppt/media/image4.png" Id="R819a67aa02644315" /><Relationship Type="http://schemas.openxmlformats.org/officeDocument/2006/relationships/notesSlide" Target="/ppt/notesSlides/notesSlide7.xml" Id="Re5bc85ed55a34c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7.xml" Id="Rd5a6a7f4837a4658" /><Relationship Type="http://schemas.openxmlformats.org/officeDocument/2006/relationships/notesSlide" Target="/ppt/notesSlides/notesSlide8.xml" Id="Red337dbcf8614d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7.xml" Id="R9a06227a3b7c4a4e" /><Relationship Type="http://schemas.openxmlformats.org/officeDocument/2006/relationships/image" Target="/ppt/media/image5.png" Id="R9eaf4933f5be4f69" /><Relationship Type="http://schemas.openxmlformats.org/officeDocument/2006/relationships/notesSlide" Target="/ppt/notesSlides/notesSlide9.xml" Id="Rf5417d783d2442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3.xml" Id="R4253540074974e12" /><Relationship Type="http://schemas.openxmlformats.org/officeDocument/2006/relationships/image" Target="/ppt/media/image6.png" Id="R30d5f2b562d94a47" /><Relationship Type="http://schemas.openxmlformats.org/officeDocument/2006/relationships/notesSlide" Target="/ppt/notesSlides/notesSlide10.xml" Id="Ree39095d23bd41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97fee8c6c214d80" /><Relationship Type="http://schemas.openxmlformats.org/officeDocument/2006/relationships/notesSlide" Target="/ppt/notesSlides/notesSlide11.xml" Id="R0f52751af2c64a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1.xml" Id="R5c030840ef404367" /><Relationship Type="http://schemas.openxmlformats.org/officeDocument/2006/relationships/notesSlide" Target="/ppt/notesSlides/notesSlide12.xml" Id="Rc8fa336f3c534e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7.xml" Id="Rdddcc97f0a6c4a22" /><Relationship Type="http://schemas.openxmlformats.org/officeDocument/2006/relationships/notesSlide" Target="/ppt/notesSlides/notesSlide13.xml" Id="R4c622c60f0924d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8.xml" Id="R735aba69e7d64afa" /><Relationship Type="http://schemas.openxmlformats.org/officeDocument/2006/relationships/image" Target="/ppt/media/image7.png" Id="Re732e079c41241d3" /><Relationship Type="http://schemas.openxmlformats.org/officeDocument/2006/relationships/image" Target="/ppt/media/image.svg" Id="R3858afc2172f47ec" /><Relationship Type="http://schemas.openxmlformats.org/officeDocument/2006/relationships/notesSlide" Target="/ppt/notesSlides/notesSlide14.xml" Id="R8b53b7160feb4a0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8.xml" Id="R3e6837dd2b5e4dc6" /><Relationship Type="http://schemas.openxmlformats.org/officeDocument/2006/relationships/image" Target="/ppt/media/image8.png" Id="Rb84241b5f1fb4d19" /><Relationship Type="http://schemas.openxmlformats.org/officeDocument/2006/relationships/image" Target="/ppt/media/image2.svg" Id="R8f121dcf4d7b4bb9" /><Relationship Type="http://schemas.openxmlformats.org/officeDocument/2006/relationships/notesSlide" Target="/ppt/notesSlides/notesSlide15.xml" Id="R92a3ead039b248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12b6b43059124210" /><Relationship Type="http://schemas.openxmlformats.org/officeDocument/2006/relationships/image" Target="/ppt/media/image9.png" Id="Rc51853f5861f433c" /><Relationship Type="http://schemas.openxmlformats.org/officeDocument/2006/relationships/image" Target="/ppt/media/image3.svg" Id="R52ee85dea3f24fcc" /><Relationship Type="http://schemas.openxmlformats.org/officeDocument/2006/relationships/notesSlide" Target="/ppt/notesSlides/notesSlide16.xml" Id="Rc6682a9c687b4c5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9.xml" Id="R1ad93aea3ceb4032" /><Relationship Type="http://schemas.openxmlformats.org/officeDocument/2006/relationships/image" Target="/ppt/media/image10.png" Id="R3d207e4964124f91" /><Relationship Type="http://schemas.openxmlformats.org/officeDocument/2006/relationships/image" Target="/ppt/media/image4.svg" Id="R27691e1001cc49b7" /><Relationship Type="http://schemas.openxmlformats.org/officeDocument/2006/relationships/notesSlide" Target="/ppt/notesSlides/notesSlide17.xml" Id="Re010dbce5b6a481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0.xml" Id="Rc03b65dfe2b64ad5" /><Relationship Type="http://schemas.openxmlformats.org/officeDocument/2006/relationships/image" Target="/ppt/media/image11.png" Id="Rd45cf3dc13ca4e8e" /><Relationship Type="http://schemas.openxmlformats.org/officeDocument/2006/relationships/notesSlide" Target="/ppt/notesSlides/notesSlide18.xml" Id="R7d88dcf3ffba4d8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8.xml" Id="R39bf6602a3974d0c" /><Relationship Type="http://schemas.openxmlformats.org/officeDocument/2006/relationships/image" Target="/ppt/media/image12.png" Id="R91842e9f5dbd4c72" /><Relationship Type="http://schemas.openxmlformats.org/officeDocument/2006/relationships/notesSlide" Target="/ppt/notesSlides/notesSlide19.xml" Id="Re478a12abb7e4c0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7.xml" Id="Rcdf0f7c691ea4a5c" /><Relationship Type="http://schemas.openxmlformats.org/officeDocument/2006/relationships/notesSlide" Target="/ppt/notesSlides/notesSlide20.xml" Id="Rf4cfa015257e48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1.xml" Id="Ra3563f99e3e34990" /><Relationship Type="http://schemas.openxmlformats.org/officeDocument/2006/relationships/image" Target="/ppt/media/image13.png" Id="R3802d051e8884f61" /><Relationship Type="http://schemas.openxmlformats.org/officeDocument/2006/relationships/notesSlide" Target="/ppt/notesSlides/notesSlide21.xml" Id="Ra5d25941e2024ff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5f448fd079c04ba6" /><Relationship Type="http://schemas.openxmlformats.org/officeDocument/2006/relationships/image" Target="/ppt/media/image14.png" Id="R9ec04dd6d0714381" /><Relationship Type="http://schemas.openxmlformats.org/officeDocument/2006/relationships/notesSlide" Target="/ppt/notesSlides/notesSlide22.xml" Id="Rf4ff1b73977a452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6.xml" Id="R5dc43ad41cd24ad4" /><Relationship Type="http://schemas.openxmlformats.org/officeDocument/2006/relationships/notesSlide" Target="/ppt/notesSlides/notesSlide23.xml" Id="Rcba13f2b88f044c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5.xml" Id="R0b662a79b8314ebc" /><Relationship Type="http://schemas.openxmlformats.org/officeDocument/2006/relationships/notesSlide" Target="/ppt/notesSlides/notesSlide24.xml" Id="Ra86749ec7cef4ac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2.xml" Id="Rf6d193a565ac4c8a" /><Relationship Type="http://schemas.openxmlformats.org/officeDocument/2006/relationships/notesSlide" Target="/ppt/notesSlides/notesSlide25.xml" Id="Rea9e566cee2a424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0.xml" Id="R8523b8bfe5fc4ce0" /><Relationship Type="http://schemas.openxmlformats.org/officeDocument/2006/relationships/image" Target="/ppt/media/image15.png" Id="R3b871649deb141ac" /><Relationship Type="http://schemas.openxmlformats.org/officeDocument/2006/relationships/image" Target="/ppt/media/image5.svg" Id="Ra58395b35f8c43d4" /><Relationship Type="http://schemas.openxmlformats.org/officeDocument/2006/relationships/notesSlide" Target="/ppt/notesSlides/notesSlide26.xml" Id="R9e40a940f9de487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1.xml" Id="R8c16f4b4f4e24b05" /><Relationship Type="http://schemas.openxmlformats.org/officeDocument/2006/relationships/notesSlide" Target="/ppt/notesSlides/notesSlide27.xml" Id="R097ea54c01194ef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3.xml" Id="R8864b713da454216" /><Relationship Type="http://schemas.openxmlformats.org/officeDocument/2006/relationships/image" Target="/ppt/media/image16.png" Id="R6049825ba02d4525" /><Relationship Type="http://schemas.openxmlformats.org/officeDocument/2006/relationships/notesSlide" Target="/ppt/notesSlides/notesSlide28.xml" Id="Rd1bd0e80f7384ce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8.xml" Id="Rf65de7ffe9254480" /><Relationship Type="http://schemas.openxmlformats.org/officeDocument/2006/relationships/image" Target="/ppt/media/image17.png" Id="R52d31769e65046fd" /><Relationship Type="http://schemas.openxmlformats.org/officeDocument/2006/relationships/notesSlide" Target="/ppt/notesSlides/notesSlide29.xml" Id="R54c1932f63884c1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1.xml" Id="Rdbdcc27382574dac" /><Relationship Type="http://schemas.openxmlformats.org/officeDocument/2006/relationships/image" Target="/ppt/media/image18.png" Id="R2b5332b7e34f47bc" /><Relationship Type="http://schemas.openxmlformats.org/officeDocument/2006/relationships/notesSlide" Target="/ppt/notesSlides/notesSlide30.xml" Id="Rebe9036d62e84ef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8.xml" Id="Rc1316906fe044874" /><Relationship Type="http://schemas.openxmlformats.org/officeDocument/2006/relationships/image" Target="/ppt/media/image19.png" Id="R4e6c67a508654ec1" /><Relationship Type="http://schemas.openxmlformats.org/officeDocument/2006/relationships/notesSlide" Target="/ppt/notesSlides/notesSlide31.xml" Id="R8749af8cf6444e9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7.xml" Id="Rde2adb5ac768450a" /><Relationship Type="http://schemas.openxmlformats.org/officeDocument/2006/relationships/notesSlide" Target="/ppt/notesSlides/notesSlide32.xml" Id="Re218a2d11d9a49e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3.xml" Id="Raba03502d73b4425" /><Relationship Type="http://schemas.openxmlformats.org/officeDocument/2006/relationships/image" Target="/ppt/media/image20.png" Id="R42bcdeb60b4347e9" /><Relationship Type="http://schemas.openxmlformats.org/officeDocument/2006/relationships/notesSlide" Target="/ppt/notesSlides/notesSlide33.xml" Id="Rf27d13ef48e64df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7.xml" Id="R7f261f8c5b91436d" /><Relationship Type="http://schemas.openxmlformats.org/officeDocument/2006/relationships/notesSlide" Target="/ppt/notesSlides/notesSlide34.xml" Id="R9c0a7b711649479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4.xml" Id="R886b6a3a8d46484e" /><Relationship Type="http://schemas.openxmlformats.org/officeDocument/2006/relationships/notesSlide" Target="/ppt/notesSlides/notesSlide35.xml" Id="R65dfd6030c1c4b3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5.xml" Id="R8ff342bd2cee463f" /><Relationship Type="http://schemas.openxmlformats.org/officeDocument/2006/relationships/image" Target="/ppt/media/image21.png" Id="R447340955bf34319" /><Relationship Type="http://schemas.openxmlformats.org/officeDocument/2006/relationships/image" Target="/ppt/media/image6.svg" Id="R7b7befb8175d4d11" /><Relationship Type="http://schemas.openxmlformats.org/officeDocument/2006/relationships/notesSlide" Target="/ppt/notesSlides/notesSlide36.xml" Id="Rfc07ff597a8d4a8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7.xml" Id="Rceb8b150aae2435f" /><Relationship Type="http://schemas.openxmlformats.org/officeDocument/2006/relationships/notesSlide" Target="/ppt/notesSlides/notesSlide37.xml" Id="R97725319638a4b4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4.xml" Id="R98a6c73de8974494" /><Relationship Type="http://schemas.openxmlformats.org/officeDocument/2006/relationships/notesSlide" Target="/ppt/notesSlides/notesSlide38.xml" Id="Re345e5b9e2cf46d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7.xml" Id="R4597a457c24a4a88" /><Relationship Type="http://schemas.openxmlformats.org/officeDocument/2006/relationships/notesSlide" Target="/ppt/notesSlides/notesSlide39.xml" Id="Ra197aa7260c948a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5.xml" Id="R19322e78e88d4cb7" /><Relationship Type="http://schemas.openxmlformats.org/officeDocument/2006/relationships/notesSlide" Target="/ppt/notesSlides/notesSlide40.xml" Id="R6c8be8be24a0406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4.xml" Id="Rb57ebb4c1f6e43cb" /><Relationship Type="http://schemas.openxmlformats.org/officeDocument/2006/relationships/notesSlide" Target="/ppt/notesSlides/notesSlide41.xml" Id="R770d29bc368843e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662df6bbffe429e" /><Relationship Type="http://schemas.openxmlformats.org/officeDocument/2006/relationships/notesSlide" Target="/ppt/notesSlides/notesSlide42.xml" Id="R35ffa475a0ed4cf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8.xml" Id="Re30ab84fb5494797" /><Relationship Type="http://schemas.openxmlformats.org/officeDocument/2006/relationships/image" Target="/ppt/media/image22.png" Id="Radab185ae933483e" /><Relationship Type="http://schemas.openxmlformats.org/officeDocument/2006/relationships/notesSlide" Target="/ppt/notesSlides/notesSlide43.xml" Id="R9c206649a4b14cf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7.xml" Id="Re0674646a8204444" /><Relationship Type="http://schemas.openxmlformats.org/officeDocument/2006/relationships/notesSlide" Target="/ppt/notesSlides/notesSlide44.xml" Id="R7b2bb0b2984743b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4.xml" Id="R5ea6f344628b48d9" /><Relationship Type="http://schemas.openxmlformats.org/officeDocument/2006/relationships/image" Target="/ppt/media/image23.png" Id="Rc430470715a9401a" /><Relationship Type="http://schemas.openxmlformats.org/officeDocument/2006/relationships/notesSlide" Target="/ppt/notesSlides/notesSlide45.xml" Id="R14ef6a2c07704ba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7.xml" Id="R7bb248482b44455f" /><Relationship Type="http://schemas.openxmlformats.org/officeDocument/2006/relationships/notesSlide" Target="/ppt/notesSlides/notesSlide46.xml" Id="Rbbfe792c3fc8424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7.xml" Id="R2aeb33dd4c8a495f" /><Relationship Type="http://schemas.openxmlformats.org/officeDocument/2006/relationships/notesSlide" Target="/ppt/notesSlides/notesSlide47.xml" Id="Re59c5247e4524cc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3.xml" Id="Rbce2a54641574558" /><Relationship Type="http://schemas.openxmlformats.org/officeDocument/2006/relationships/image" Target="/ppt/media/image24.png" Id="R20ea21846d614cfe" /><Relationship Type="http://schemas.openxmlformats.org/officeDocument/2006/relationships/notesSlide" Target="/ppt/notesSlides/notesSlide48.xml" Id="Rd274716f059947c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6.xml" Id="R83c31aa6cec54543" /><Relationship Type="http://schemas.openxmlformats.org/officeDocument/2006/relationships/notesSlide" Target="/ppt/notesSlides/notesSlide49.xml" Id="Rf45e5165204344b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8.xml" Id="R77391a312e884662" /><Relationship Type="http://schemas.openxmlformats.org/officeDocument/2006/relationships/image" Target="/ppt/media/image25.png" Id="Rc5a94ed7829e43eb" /><Relationship Type="http://schemas.openxmlformats.org/officeDocument/2006/relationships/image" Target="/ppt/media/image7.svg" Id="Rd08bb51290f24983" /><Relationship Type="http://schemas.openxmlformats.org/officeDocument/2006/relationships/notesSlide" Target="/ppt/notesSlides/notesSlide50.xml" Id="Rf03c48d6c457479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5.xml" Id="R751bc688ded64796" /><Relationship Type="http://schemas.openxmlformats.org/officeDocument/2006/relationships/image" Target="/ppt/media/image26.png" Id="Rccb5b1b3f9fd425f" /><Relationship Type="http://schemas.openxmlformats.org/officeDocument/2006/relationships/image" Target="/ppt/media/image8.svg" Id="Ref97adf9691046c6" /><Relationship Type="http://schemas.openxmlformats.org/officeDocument/2006/relationships/notesSlide" Target="/ppt/notesSlides/notesSlide51.xml" Id="Rc2fafb81598d4e6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0.xml" Id="R4cae64bc56e9489d" /><Relationship Type="http://schemas.openxmlformats.org/officeDocument/2006/relationships/notesSlide" Target="/ppt/notesSlides/notesSlide52.xml" Id="R5a6ffe6f7ebb499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8.xml" Id="R8ccf11da8bff49da" /><Relationship Type="http://schemas.openxmlformats.org/officeDocument/2006/relationships/image" Target="/ppt/media/image27.png" Id="R3cab2307c2834669" /><Relationship Type="http://schemas.openxmlformats.org/officeDocument/2006/relationships/notesSlide" Target="/ppt/notesSlides/notesSlide53.xml" Id="R77c1d5d1d168405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7.xml" Id="R76d6f071e3cd40cf" /><Relationship Type="http://schemas.openxmlformats.org/officeDocument/2006/relationships/notesSlide" Target="/ppt/notesSlides/notesSlide54.xml" Id="R811a94f60dfa453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7.xml" Id="R5df7238e15a44ce2" /><Relationship Type="http://schemas.openxmlformats.org/officeDocument/2006/relationships/notesSlide" Target="/ppt/notesSlides/notesSlide55.xml" Id="Ra16b9fe1ca6a490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3.xml" Id="Re62784e9934b4fbb" /><Relationship Type="http://schemas.openxmlformats.org/officeDocument/2006/relationships/image" Target="/ppt/media/image28.png" Id="R50e827e46d1c49b2" /><Relationship Type="http://schemas.openxmlformats.org/officeDocument/2006/relationships/notesSlide" Target="/ppt/notesSlides/notesSlide56.xml" Id="Rf7551b3f046d48b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6.xml" Id="Rf31299754cc3480e" /><Relationship Type="http://schemas.openxmlformats.org/officeDocument/2006/relationships/notesSlide" Target="/ppt/notesSlides/notesSlide57.xml" Id="Rf6eb52fa9418482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5.xml" Id="R697a5ffa69e34a36" /><Relationship Type="http://schemas.openxmlformats.org/officeDocument/2006/relationships/notesSlide" Target="/ppt/notesSlides/notesSlide58.xml" Id="R02d44d7ec90645d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3.xml" Id="Rfa6b4cb101894624" /><Relationship Type="http://schemas.openxmlformats.org/officeDocument/2006/relationships/image" Target="/ppt/media/image29.png" Id="Rcf1ccaded2e145d9" /><Relationship Type="http://schemas.openxmlformats.org/officeDocument/2006/relationships/notesSlide" Target="/ppt/notesSlides/notesSlide59.xml" Id="Rd9517bf200df486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8.xml" Id="Rae6c3eae931a4b77" /><Relationship Type="http://schemas.openxmlformats.org/officeDocument/2006/relationships/image" Target="/ppt/media/image30.png" Id="R5c7fcb0f454c4315" /><Relationship Type="http://schemas.openxmlformats.org/officeDocument/2006/relationships/image" Target="/ppt/media/image9.svg" Id="R8f244f0d56c74674" /><Relationship Type="http://schemas.openxmlformats.org/officeDocument/2006/relationships/notesSlide" Target="/ppt/notesSlides/notesSlide60.xml" Id="R8453a644f6644b0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1.xml" Id="Ra5871b55b77346f5" /><Relationship Type="http://schemas.openxmlformats.org/officeDocument/2006/relationships/image" Target="/ppt/media/image31.png" Id="R660ab66231e54161" /><Relationship Type="http://schemas.openxmlformats.org/officeDocument/2006/relationships/image" Target="/ppt/media/image10.svg" Id="Rfe8b1bcbd2814f6d" /><Relationship Type="http://schemas.openxmlformats.org/officeDocument/2006/relationships/notesSlide" Target="/ppt/notesSlides/notesSlide61.xml" Id="R9689b36100744d05"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1.xml" Id="R144edcde19414ae4" /><Relationship Type="http://schemas.openxmlformats.org/officeDocument/2006/relationships/notesSlide" Target="/ppt/notesSlides/notesSlide62.xml" Id="Rb5a7dde2d94e4ad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3.xml" Id="Rb84e5c62c9b6461d" /><Relationship Type="http://schemas.openxmlformats.org/officeDocument/2006/relationships/image" Target="/ppt/media/image32.png" Id="R3d8b103d70184496" /><Relationship Type="http://schemas.openxmlformats.org/officeDocument/2006/relationships/notesSlide" Target="/ppt/notesSlides/notesSlide63.xml" Id="R2b91ba427fe141bf"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6.xml" Id="R581d461d3bb24114" /><Relationship Type="http://schemas.openxmlformats.org/officeDocument/2006/relationships/image" Target="/ppt/media/image33.png" Id="R9d4a98c8b0534516" /><Relationship Type="http://schemas.openxmlformats.org/officeDocument/2006/relationships/image" Target="/ppt/media/image11.svg" Id="R32862e30b2c74e01" /><Relationship Type="http://schemas.openxmlformats.org/officeDocument/2006/relationships/notesSlide" Target="/ppt/notesSlides/notesSlide64.xml" Id="R131be75950ca4f15" /></Relationships>
</file>

<file path=ppt/slides/_rels/slide65.xml.rels>&#65279;<?xml version="1.0" encoding="utf-8"?><Relationships xmlns="http://schemas.openxmlformats.org/package/2006/relationships"><Relationship Type="http://schemas.openxmlformats.org/officeDocument/2006/relationships/slideLayout" Target="/ppt/slideLayouts/slideLayout8.xml" Id="R7509e72eeefa4a94" /><Relationship Type="http://schemas.openxmlformats.org/officeDocument/2006/relationships/image" Target="/ppt/media/image34.png" Id="R385e6b1f84e14e80" /><Relationship Type="http://schemas.openxmlformats.org/officeDocument/2006/relationships/notesSlide" Target="/ppt/notesSlides/notesSlide65.xml" Id="R3217ed793463473c" /></Relationships>
</file>

<file path=ppt/slides/_rels/slide66.xml.rels>&#65279;<?xml version="1.0" encoding="utf-8"?><Relationships xmlns="http://schemas.openxmlformats.org/package/2006/relationships"><Relationship Type="http://schemas.openxmlformats.org/officeDocument/2006/relationships/slideLayout" Target="/ppt/slideLayouts/slideLayout27.xml" Id="R4a880b3f998146aa" /><Relationship Type="http://schemas.openxmlformats.org/officeDocument/2006/relationships/notesSlide" Target="/ppt/notesSlides/notesSlide66.xml" Id="Rc70047c1160a463e"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4.xml" Id="R1476f7035dab4ab7" /><Relationship Type="http://schemas.openxmlformats.org/officeDocument/2006/relationships/image" Target="/ppt/media/image35.png" Id="R8c9b7c922e644295" /><Relationship Type="http://schemas.openxmlformats.org/officeDocument/2006/relationships/notesSlide" Target="/ppt/notesSlides/notesSlide67.xml" Id="Reca12ea7acd14294" /></Relationships>
</file>

<file path=ppt/slides/_rels/slide68.xml.rels>&#65279;<?xml version="1.0" encoding="utf-8"?><Relationships xmlns="http://schemas.openxmlformats.org/package/2006/relationships"><Relationship Type="http://schemas.openxmlformats.org/officeDocument/2006/relationships/slideLayout" Target="/ppt/slideLayouts/slideLayout21.xml" Id="Ra507fcdc20304c7a" /><Relationship Type="http://schemas.openxmlformats.org/officeDocument/2006/relationships/image" Target="/ppt/media/image36.png" Id="R2b7753b7c9d344aa" /><Relationship Type="http://schemas.openxmlformats.org/officeDocument/2006/relationships/notesSlide" Target="/ppt/notesSlides/notesSlide68.xml" Id="Ra2f6524026b84e80" /></Relationships>
</file>

<file path=ppt/slides/_rels/slide69.xml.rels>&#65279;<?xml version="1.0" encoding="utf-8"?><Relationships xmlns="http://schemas.openxmlformats.org/package/2006/relationships"><Relationship Type="http://schemas.openxmlformats.org/officeDocument/2006/relationships/slideLayout" Target="/ppt/slideLayouts/slideLayout21.xml" Id="R81032a7a08db45f8" /><Relationship Type="http://schemas.openxmlformats.org/officeDocument/2006/relationships/image" Target="/ppt/media/image37.png" Id="Rdef756b553ca4070" /><Relationship Type="http://schemas.openxmlformats.org/officeDocument/2006/relationships/notesSlide" Target="/ppt/notesSlides/notesSlide69.xml" Id="Rc33b3de8f3b54048" /></Relationships>
</file>

<file path=ppt/slides/_rels/slide70.xml.rels>&#65279;<?xml version="1.0" encoding="utf-8"?><Relationships xmlns="http://schemas.openxmlformats.org/package/2006/relationships"><Relationship Type="http://schemas.openxmlformats.org/officeDocument/2006/relationships/slideLayout" Target="/ppt/slideLayouts/slideLayout8.xml" Id="Rd35286fb7f874029" /><Relationship Type="http://schemas.openxmlformats.org/officeDocument/2006/relationships/image" Target="/ppt/media/image38.png" Id="Re60f53e70837421e" /><Relationship Type="http://schemas.openxmlformats.org/officeDocument/2006/relationships/notesSlide" Target="/ppt/notesSlides/notesSlide70.xml" Id="Rc3da7d2dab434dce"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0.xml" Id="Re96c7b588c794ef5" /><Relationship Type="http://schemas.openxmlformats.org/officeDocument/2006/relationships/image" Target="/ppt/media/image39.png" Id="Rc88fd0a18366465b" /><Relationship Type="http://schemas.openxmlformats.org/officeDocument/2006/relationships/notesSlide" Target="/ppt/notesSlides/notesSlide71.xml" Id="Rd21a9f42102b44e0"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7.xml" Id="Re724ede75be04df0" /><Relationship Type="http://schemas.openxmlformats.org/officeDocument/2006/relationships/image" Target="/ppt/media/image40.png" Id="R7d49d3b2500744e7" /><Relationship Type="http://schemas.openxmlformats.org/officeDocument/2006/relationships/notesSlide" Target="/ppt/notesSlides/notesSlide72.xml" Id="Rc698d9591f664ce3"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7.xml" Id="R31bcb4063b234a2b" /><Relationship Type="http://schemas.openxmlformats.org/officeDocument/2006/relationships/image" Target="/ppt/media/image41.png" Id="R1dd28b936b7c4182" /><Relationship Type="http://schemas.openxmlformats.org/officeDocument/2006/relationships/notesSlide" Target="/ppt/notesSlides/notesSlide73.xml" Id="R672ad918a12242ca"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2.xml" Id="R419520202fed4503" /><Relationship Type="http://schemas.openxmlformats.org/officeDocument/2006/relationships/image" Target="/ppt/media/image42.png" Id="Rddc99cbb7d1a467d" /><Relationship Type="http://schemas.openxmlformats.org/officeDocument/2006/relationships/notesSlide" Target="/ppt/notesSlides/notesSlide74.xml" Id="R4b8ea1093ecf463f" /></Relationships>
</file>

<file path=ppt/slides/_rels/slide75.xml.rels>&#65279;<?xml version="1.0" encoding="utf-8"?><Relationships xmlns="http://schemas.openxmlformats.org/package/2006/relationships"><Relationship Type="http://schemas.openxmlformats.org/officeDocument/2006/relationships/slideLayout" Target="/ppt/slideLayouts/slideLayout8.xml" Id="R2af95a7ab4ed4156" /><Relationship Type="http://schemas.openxmlformats.org/officeDocument/2006/relationships/image" Target="/ppt/media/image43.png" Id="R6589bebc687e4b58" /><Relationship Type="http://schemas.openxmlformats.org/officeDocument/2006/relationships/notesSlide" Target="/ppt/notesSlides/notesSlide75.xml" Id="Racdf1cbd29714dea" /></Relationships>
</file>

<file path=ppt/slides/_rels/slide76.xml.rels>&#65279;<?xml version="1.0" encoding="utf-8"?><Relationships xmlns="http://schemas.openxmlformats.org/package/2006/relationships"><Relationship Type="http://schemas.openxmlformats.org/officeDocument/2006/relationships/slideLayout" Target="/ppt/slideLayouts/slideLayout27.xml" Id="Rfd9c07cde72e4e20" /><Relationship Type="http://schemas.openxmlformats.org/officeDocument/2006/relationships/notesSlide" Target="/ppt/notesSlides/notesSlide76.xml" Id="R8721d20cd57c478c"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7.xml" Id="R4d349662ee844e3c" /><Relationship Type="http://schemas.openxmlformats.org/officeDocument/2006/relationships/notesSlide" Target="/ppt/notesSlides/notesSlide77.xml" Id="R6d7682ff1f8d4d87" /></Relationships>
</file>

<file path=ppt/slides/_rels/slide78.xml.rels>&#65279;<?xml version="1.0" encoding="utf-8"?><Relationships xmlns="http://schemas.openxmlformats.org/package/2006/relationships"><Relationship Type="http://schemas.openxmlformats.org/officeDocument/2006/relationships/slideLayout" Target="/ppt/slideLayouts/slideLayout23.xml" Id="Ree240fa538a74d9b" /><Relationship Type="http://schemas.openxmlformats.org/officeDocument/2006/relationships/image" Target="/ppt/media/image44.png" Id="Rb33f07713b9c4b5e" /><Relationship Type="http://schemas.openxmlformats.org/officeDocument/2006/relationships/notesSlide" Target="/ppt/notesSlides/notesSlide78.xml" Id="R7c4c1c27567a47ce" /></Relationships>
</file>

<file path=ppt/slides/_rels/slide79.xml.rels>&#65279;<?xml version="1.0" encoding="utf-8"?><Relationships xmlns="http://schemas.openxmlformats.org/package/2006/relationships"><Relationship Type="http://schemas.openxmlformats.org/officeDocument/2006/relationships/slideLayout" Target="/ppt/slideLayouts/slideLayout21.xml" Id="Rd05bcc76dd024cff" /><Relationship Type="http://schemas.openxmlformats.org/officeDocument/2006/relationships/notesSlide" Target="/ppt/notesSlides/notesSlide79.xml" Id="Red862386316e4390"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6.xml" Id="R4f98145cc53b4be5" /><Relationship Type="http://schemas.openxmlformats.org/officeDocument/2006/relationships/notesSlide" Target="/ppt/notesSlides/notesSlide80.xml" Id="R15708f9b47a14127"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5.xml" Id="R05d8d507a1bc4e84" /><Relationship Type="http://schemas.openxmlformats.org/officeDocument/2006/relationships/notesSlide" Target="/ppt/notesSlides/notesSlide81.xml" Id="R7837e5fd052d4ca5"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4.xml" Id="Rc5f41e3605c6450a" /><Relationship Type="http://schemas.openxmlformats.org/officeDocument/2006/relationships/notesSlide" Target="/ppt/notesSlides/notesSlide82.xml" Id="R1207e4c043964ee2"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3.xml" Id="R534606369b1d4e0d" /><Relationship Type="http://schemas.openxmlformats.org/officeDocument/2006/relationships/image" Target="/ppt/media/image45.png" Id="R29f5ff2bf50b42e0" /><Relationship Type="http://schemas.openxmlformats.org/officeDocument/2006/relationships/notesSlide" Target="/ppt/notesSlides/notesSlide83.xml" Id="R6c78142931734ec0"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8.xml" Id="Rf0e5b8bb3c5640ac" /><Relationship Type="http://schemas.openxmlformats.org/officeDocument/2006/relationships/image" Target="/ppt/media/image46.png" Id="Rcd46d30da40643c3" /><Relationship Type="http://schemas.openxmlformats.org/officeDocument/2006/relationships/image" Target="/ppt/media/image12.svg" Id="Ree598ef9d28f435c" /><Relationship Type="http://schemas.openxmlformats.org/officeDocument/2006/relationships/notesSlide" Target="/ppt/notesSlides/notesSlide84.xml" Id="R30dca819c8f54061" /></Relationships>
</file>

<file path=ppt/slides/_rels/slide85.xml.rels>&#65279;<?xml version="1.0" encoding="utf-8"?><Relationships xmlns="http://schemas.openxmlformats.org/package/2006/relationships"><Relationship Type="http://schemas.openxmlformats.org/officeDocument/2006/relationships/slideLayout" Target="/ppt/slideLayouts/slideLayout21.xml" Id="R8d10b8fec1ac4885" /><Relationship Type="http://schemas.openxmlformats.org/officeDocument/2006/relationships/image" Target="/ppt/media/image47.png" Id="Rfa1a5469be6c4031" /><Relationship Type="http://schemas.openxmlformats.org/officeDocument/2006/relationships/notesSlide" Target="/ppt/notesSlides/notesSlide85.xml" Id="Rd34154ba81284947"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5.xml" Id="Rba3c19fb3e164ef5" /><Relationship Type="http://schemas.openxmlformats.org/officeDocument/2006/relationships/notesSlide" Target="/ppt/notesSlides/notesSlide86.xml" Id="R717a1f3b55d2446a" /></Relationships>
</file>

<file path=ppt/slides/_rels/slide87.xml.rels>&#65279;<?xml version="1.0" encoding="utf-8"?><Relationships xmlns="http://schemas.openxmlformats.org/package/2006/relationships"><Relationship Type="http://schemas.openxmlformats.org/officeDocument/2006/relationships/slideLayout" Target="/ppt/slideLayouts/slideLayout8.xml" Id="R3e24a193e270438d" /><Relationship Type="http://schemas.openxmlformats.org/officeDocument/2006/relationships/image" Target="/ppt/media/image48.png" Id="Rde615530123c4572" /><Relationship Type="http://schemas.openxmlformats.org/officeDocument/2006/relationships/notesSlide" Target="/ppt/notesSlides/notesSlide87.xml" Id="R1d5b322971c14900" /></Relationships>
</file>

<file path=ppt/slides/_rels/slide88.xml.rels>&#65279;<?xml version="1.0" encoding="utf-8"?><Relationships xmlns="http://schemas.openxmlformats.org/package/2006/relationships"><Relationship Type="http://schemas.openxmlformats.org/officeDocument/2006/relationships/slideLayout" Target="/ppt/slideLayouts/slideLayout27.xml" Id="R77522c29e3014eb2" /><Relationship Type="http://schemas.openxmlformats.org/officeDocument/2006/relationships/notesSlide" Target="/ppt/notesSlides/notesSlide88.xml" Id="R3e13b879019b47a6" /></Relationships>
</file>

<file path=ppt/slides/_rels/slide89.xml.rels>&#65279;<?xml version="1.0" encoding="utf-8"?><Relationships xmlns="http://schemas.openxmlformats.org/package/2006/relationships"><Relationship Type="http://schemas.openxmlformats.org/officeDocument/2006/relationships/slideLayout" Target="/ppt/slideLayouts/slideLayout3.xml" Id="Reb355bd298224dac" /><Relationship Type="http://schemas.openxmlformats.org/officeDocument/2006/relationships/image" Target="/ppt/media/image49.png" Id="R7f39ea3ad0e9403c" /><Relationship Type="http://schemas.openxmlformats.org/officeDocument/2006/relationships/notesSlide" Target="/ppt/notesSlides/notesSlide89.xml" Id="R8428881e9fe14ca8"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6.xml" Id="R3ad81a38d5524c8e" /><Relationship Type="http://schemas.openxmlformats.org/officeDocument/2006/relationships/notesSlide" Target="/ppt/notesSlides/notesSlide90.xml" Id="R24d2f15398bb49ca"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5.xml" Id="R1efaf9ce68b84ad9" /><Relationship Type="http://schemas.openxmlformats.org/officeDocument/2006/relationships/notesSlide" Target="/ppt/notesSlides/notesSlide91.xml" Id="R1bfdcf042c2d4433" /></Relationships>
</file>

<file path=ppt/slides/_rels/slide92.xml.rels>&#65279;<?xml version="1.0" encoding="utf-8"?><Relationships xmlns="http://schemas.openxmlformats.org/package/2006/relationships"><Relationship Type="http://schemas.openxmlformats.org/officeDocument/2006/relationships/slideLayout" Target="/ppt/slideLayouts/slideLayout5.xml" Id="R8a657462e6b741ed" /><Relationship Type="http://schemas.openxmlformats.org/officeDocument/2006/relationships/notesSlide" Target="/ppt/notesSlides/notesSlide92.xml" Id="R01038f67b15548bd" /></Relationships>
</file>

<file path=ppt/slides/_rels/slide93.xml.rels>&#65279;<?xml version="1.0" encoding="utf-8"?><Relationships xmlns="http://schemas.openxmlformats.org/package/2006/relationships"><Relationship Type="http://schemas.openxmlformats.org/officeDocument/2006/relationships/slideLayout" Target="/ppt/slideLayouts/slideLayout23.xml" Id="Rfe0fbec71b614248" /><Relationship Type="http://schemas.openxmlformats.org/officeDocument/2006/relationships/image" Target="/ppt/media/image50.png" Id="R7341883fb9e64d96" /><Relationship Type="http://schemas.openxmlformats.org/officeDocument/2006/relationships/notesSlide" Target="/ppt/notesSlides/notesSlide93.xml" Id="Rcb808ae6dfa94b5a"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7.xml" Id="Rc17d7d11205b4524" /><Relationship Type="http://schemas.openxmlformats.org/officeDocument/2006/relationships/notesSlide" Target="/ppt/notesSlides/notesSlide94.xml" Id="Rfe3253856b0649fd" /></Relationships>
</file>

<file path=ppt/slides/_rels/slide95.xml.rels>&#65279;<?xml version="1.0" encoding="utf-8"?><Relationships xmlns="http://schemas.openxmlformats.org/package/2006/relationships"><Relationship Type="http://schemas.openxmlformats.org/officeDocument/2006/relationships/slideLayout" Target="/ppt/slideLayouts/slideLayout3.xml" Id="R2b8d7c58893449bc" /><Relationship Type="http://schemas.openxmlformats.org/officeDocument/2006/relationships/image" Target="/ppt/media/image51.png" Id="Rf56514fd34df49d8" /><Relationship Type="http://schemas.openxmlformats.org/officeDocument/2006/relationships/notesSlide" Target="/ppt/notesSlides/notesSlide95.xml" Id="Rce865b620d5f4a92"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4.xml" Id="R97a46dcf671c4340" /><Relationship Type="http://schemas.openxmlformats.org/officeDocument/2006/relationships/image" Target="/ppt/media/image52.png" Id="Rd9546170b57345f2" /><Relationship Type="http://schemas.openxmlformats.org/officeDocument/2006/relationships/notesSlide" Target="/ppt/notesSlides/notesSlide96.xml" Id="R484edd62b44543b0" /></Relationships>
</file>

<file path=ppt/slides/_rels/slide97.xml.rels>&#65279;<?xml version="1.0" encoding="utf-8"?><Relationships xmlns="http://schemas.openxmlformats.org/package/2006/relationships"><Relationship Type="http://schemas.openxmlformats.org/officeDocument/2006/relationships/slideLayout" Target="/ppt/slideLayouts/slideLayout8.xml" Id="R79127712932c442f" /><Relationship Type="http://schemas.openxmlformats.org/officeDocument/2006/relationships/image" Target="/ppt/media/image53.png" Id="R6a4ab94692374d79" /><Relationship Type="http://schemas.openxmlformats.org/officeDocument/2006/relationships/notesSlide" Target="/ppt/notesSlides/notesSlide97.xml" Id="Rdc6047178ddb447d" /></Relationships>
</file>

<file path=ppt/slides/_rels/slide98.xml.rels>&#65279;<?xml version="1.0" encoding="utf-8"?><Relationships xmlns="http://schemas.openxmlformats.org/package/2006/relationships"><Relationship Type="http://schemas.openxmlformats.org/officeDocument/2006/relationships/slideLayout" Target="/ppt/slideLayouts/slideLayout27.xml" Id="Rb367f66c4e1b4dcd" /><Relationship Type="http://schemas.openxmlformats.org/officeDocument/2006/relationships/notesSlide" Target="/ppt/notesSlides/notesSlide98.xml" Id="R3674e617255149f4"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7.xml" Id="R9a517964ebe24f53" /><Relationship Type="http://schemas.openxmlformats.org/officeDocument/2006/relationships/image" Target="/ppt/media/image54.png" Id="Rfc6540918e8c4d90" /><Relationship Type="http://schemas.openxmlformats.org/officeDocument/2006/relationships/notesSlide" Target="/ppt/notesSlides/notesSlide99.xml" Id="Rd5f674c5baef49d9"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7.xml" Id="R1a2a304284694303" /><Relationship Type="http://schemas.openxmlformats.org/officeDocument/2006/relationships/image" Target="/ppt/media/image55.png" Id="R20af6325eed24465" /><Relationship Type="http://schemas.openxmlformats.org/officeDocument/2006/relationships/notesSlide" Target="/ppt/notesSlides/notesSlide100.xml" Id="Rbb49aeac58c84666"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7.xml" Id="R7fa99fe478c14bf3" /><Relationship Type="http://schemas.openxmlformats.org/officeDocument/2006/relationships/image" Target="/ppt/media/image56.png" Id="R3fbfdfc9db104925" /><Relationship Type="http://schemas.openxmlformats.org/officeDocument/2006/relationships/notesSlide" Target="/ppt/notesSlides/notesSlide101.xml" Id="R53249c5e9a0543d1"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4.xml" Id="Rc18333d67df4424e" /><Relationship Type="http://schemas.openxmlformats.org/officeDocument/2006/relationships/image" Target="/ppt/media/image57.png" Id="R886fe09646254ab4" /><Relationship Type="http://schemas.openxmlformats.org/officeDocument/2006/relationships/notesSlide" Target="/ppt/notesSlides/notesSlide102.xml" Id="R9b514278b2384598"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3.xml" Id="Rf41075262ad14b05" /><Relationship Type="http://schemas.openxmlformats.org/officeDocument/2006/relationships/image" Target="/ppt/media/image58.png" Id="Rf66fcb60236e4a09" /><Relationship Type="http://schemas.openxmlformats.org/officeDocument/2006/relationships/notesSlide" Target="/ppt/notesSlides/notesSlide103.xml" Id="Ra22c3bc58eb44446"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6.xml" Id="R18119da22e0e4279" /><Relationship Type="http://schemas.openxmlformats.org/officeDocument/2006/relationships/notesSlide" Target="/ppt/notesSlides/notesSlide104.xml" Id="R73dda1760b9349a3"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5.xml" Id="R610bd443e631497d" /><Relationship Type="http://schemas.openxmlformats.org/officeDocument/2006/relationships/notesSlide" Target="/ppt/notesSlides/notesSlide105.xml" Id="R670037edd8894d56"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21.xml" Id="Ra52a4822eaa4433e" /><Relationship Type="http://schemas.openxmlformats.org/officeDocument/2006/relationships/notesSlide" Target="/ppt/notesSlides/notesSlide106.xml" Id="R5afde914189a4806"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3.xml" Id="R6dd4f99209f44e18" /><Relationship Type="http://schemas.openxmlformats.org/officeDocument/2006/relationships/image" Target="/ppt/media/image59.png" Id="Rd0a481b3951b4825" /><Relationship Type="http://schemas.openxmlformats.org/officeDocument/2006/relationships/notesSlide" Target="/ppt/notesSlides/notesSlide107.xml" Id="R93198af5fff14bfd"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5.xml" Id="R6d70a62562354184" /><Relationship Type="http://schemas.openxmlformats.org/officeDocument/2006/relationships/image" Target="/ppt/media/image60.png" Id="R34cb6e0e029a4c30" /><Relationship Type="http://schemas.openxmlformats.org/officeDocument/2006/relationships/notesSlide" Target="/ppt/notesSlides/notesSlide108.xml" Id="R0db27c3ef9064425"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8.xml" Id="R6225106d2a6a4b47" /><Relationship Type="http://schemas.openxmlformats.org/officeDocument/2006/relationships/image" Target="/ppt/media/image61.png" Id="R072cbe9ecf2d44d2" /><Relationship Type="http://schemas.openxmlformats.org/officeDocument/2006/relationships/notesSlide" Target="/ppt/notesSlides/notesSlide109.xml" Id="R43a2210d9ce94568"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27.xml" Id="R75ebc834baba4af2" /><Relationship Type="http://schemas.openxmlformats.org/officeDocument/2006/relationships/notesSlide" Target="/ppt/notesSlides/notesSlide110.xml" Id="R580cf2bed6954752"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3.xml" Id="R43fc1d5cefeb4fe1" /><Relationship Type="http://schemas.openxmlformats.org/officeDocument/2006/relationships/image" Target="/ppt/media/image62.png" Id="Rddd2ae60c96f48ca" /><Relationship Type="http://schemas.openxmlformats.org/officeDocument/2006/relationships/notesSlide" Target="/ppt/notesSlides/notesSlide111.xml" Id="R8f087f5f5acd4275"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7.xml" Id="R39c9c7a4a9504745" /><Relationship Type="http://schemas.openxmlformats.org/officeDocument/2006/relationships/notesSlide" Target="/ppt/notesSlides/notesSlide112.xml" Id="Ra0ccd9d40cff4a70"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23.xml" Id="Ref9eaed7641f44c3" /><Relationship Type="http://schemas.openxmlformats.org/officeDocument/2006/relationships/image" Target="/ppt/media/image63.png" Id="R82f33184c3404160" /><Relationship Type="http://schemas.openxmlformats.org/officeDocument/2006/relationships/notesSlide" Target="/ppt/notesSlides/notesSlide113.xml" Id="R2f19d823bee34b01"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21.xml" Id="R76192fc308c84182" /><Relationship Type="http://schemas.openxmlformats.org/officeDocument/2006/relationships/image" Target="/ppt/media/image64.png" Id="Rf9879d7b3f284ed3" /><Relationship Type="http://schemas.openxmlformats.org/officeDocument/2006/relationships/notesSlide" Target="/ppt/notesSlides/notesSlide114.xml" Id="Readf031481b64bb9"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4.xml" Id="Rdfd6a9c5c4c74c9e" /><Relationship Type="http://schemas.openxmlformats.org/officeDocument/2006/relationships/notesSlide" Target="/ppt/notesSlides/notesSlide115.xml" Id="R41855b00059b4a9e"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2.xml" Id="R1d19b4c900dc47a4" /><Relationship Type="http://schemas.openxmlformats.org/officeDocument/2006/relationships/notesSlide" Target="/ppt/notesSlides/notesSlide116.xml" Id="Rd12cbc4f31174eaf"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2.xml" Id="Rc4ffe427c17e44de" /><Relationship Type="http://schemas.openxmlformats.org/officeDocument/2006/relationships/image" Target="/ppt/media/image65.png" Id="Rce6a0036885a4cb8" /><Relationship Type="http://schemas.openxmlformats.org/officeDocument/2006/relationships/notesSlide" Target="/ppt/notesSlides/notesSlide117.xml" Id="R18180234ef004dec"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1.xml" Id="R189be60bf7f74db3" /><Relationship Type="http://schemas.openxmlformats.org/officeDocument/2006/relationships/notesSlide" Target="/ppt/notesSlides/notesSlide118.xml" Id="Rcdeae470fb3d46ce"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3.xml" Id="Race40c7321e641fd" /><Relationship Type="http://schemas.openxmlformats.org/officeDocument/2006/relationships/image" Target="/ppt/media/image66.png" Id="Rb622d746d3b54756" /><Relationship Type="http://schemas.openxmlformats.org/officeDocument/2006/relationships/notesSlide" Target="/ppt/notesSlides/notesSlide119.xml" Id="Re5d456f742884309"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7.xml" Id="R856130232ce14cd6" /><Relationship Type="http://schemas.openxmlformats.org/officeDocument/2006/relationships/image" Target="/ppt/media/image67.png" Id="R0b2ee69416df43b6" /><Relationship Type="http://schemas.openxmlformats.org/officeDocument/2006/relationships/notesSlide" Target="/ppt/notesSlides/notesSlide120.xml" Id="Rb1de14fcf9804c57"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26.xml" Id="R9e5e026ef4c94578" /><Relationship Type="http://schemas.openxmlformats.org/officeDocument/2006/relationships/notesSlide" Target="/ppt/notesSlides/notesSlide121.xml" Id="Rca572cca68ca4933"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23.xml" Id="R674463191ac84035" /><Relationship Type="http://schemas.openxmlformats.org/officeDocument/2006/relationships/notesSlide" Target="/ppt/notesSlides/notesSlide122.xml" Id="R66f62f998cd64454"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2.xml" Id="R70328d22349647a6" /><Relationship Type="http://schemas.openxmlformats.org/officeDocument/2006/relationships/image" Target="/ppt/media/image68.png" Id="Ref72c5bbab314150" /><Relationship Type="http://schemas.openxmlformats.org/officeDocument/2006/relationships/notesSlide" Target="/ppt/notesSlides/notesSlide123.xml" Id="Ra798c191476647d2"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44a4ece16005439a" /><Relationship Type="http://schemas.openxmlformats.org/officeDocument/2006/relationships/notesSlide" Target="/ppt/notesSlides/notesSlide124.xml" Id="R64d07ff656cc455c"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6.xml" Id="R2fb13dd323e94a1a" /><Relationship Type="http://schemas.openxmlformats.org/officeDocument/2006/relationships/image" Target="/ppt/media/image69.png" Id="R84a1444b7b6f4229" /><Relationship Type="http://schemas.openxmlformats.org/officeDocument/2006/relationships/image" Target="/ppt/media/image13.svg" Id="R4a739fb33a284cf9" /><Relationship Type="http://schemas.openxmlformats.org/officeDocument/2006/relationships/notesSlide" Target="/ppt/notesSlides/notesSlide125.xml" Id="R3950d55d559f4717"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5.xml" Id="R3b12d6efd87f4dc6" /><Relationship Type="http://schemas.openxmlformats.org/officeDocument/2006/relationships/image" Target="/ppt/media/image70.png" Id="R61118c81ee5a4d16" /><Relationship Type="http://schemas.openxmlformats.org/officeDocument/2006/relationships/image" Target="/ppt/media/image14.svg" Id="Rc378b0487d2741a0" /><Relationship Type="http://schemas.openxmlformats.org/officeDocument/2006/relationships/notesSlide" Target="/ppt/notesSlides/notesSlide126.xml" Id="Rf801d58bf55c4052"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01bb865e992f437d" /><Relationship Type="http://schemas.openxmlformats.org/officeDocument/2006/relationships/image" Target="/ppt/media/image71.png" Id="R9d98a140ce364b00" /><Relationship Type="http://schemas.openxmlformats.org/officeDocument/2006/relationships/image" Target="/ppt/media/image15.svg" Id="Reb76114bad124857" /><Relationship Type="http://schemas.openxmlformats.org/officeDocument/2006/relationships/notesSlide" Target="/ppt/notesSlides/notesSlide127.xml" Id="Re5d392b9f85344f9"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4.xml" Id="Rfb3cc2c04e1841c0" /><Relationship Type="http://schemas.openxmlformats.org/officeDocument/2006/relationships/notesSlide" Target="/ppt/notesSlides/notesSlide128.xml" Id="Rcc646225fc214ffb"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2.xml" Id="R4a438195e7ee4366" /><Relationship Type="http://schemas.openxmlformats.org/officeDocument/2006/relationships/image" Target="/ppt/media/image72.png" Id="R81784926de0641ab" /><Relationship Type="http://schemas.openxmlformats.org/officeDocument/2006/relationships/image" Target="/ppt/media/image16.svg" Id="R50b3640ff72345dd" /><Relationship Type="http://schemas.openxmlformats.org/officeDocument/2006/relationships/notesSlide" Target="/ppt/notesSlides/notesSlide129.xml" Id="R26dd33b13ca448bc"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1.xml" Id="Rb750ac41b7654ef0" /><Relationship Type="http://schemas.openxmlformats.org/officeDocument/2006/relationships/notesSlide" Target="/ppt/notesSlides/notesSlide130.xml" Id="Rf4473a67bed24b8e"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1.xml" Id="Rb9aa29f5a54f4840" /><Relationship Type="http://schemas.openxmlformats.org/officeDocument/2006/relationships/notesSlide" Target="/ppt/notesSlides/notesSlide131.xml" Id="R9fb37c7b440a465b"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1.xml" Id="R67a405ba966541b6" /><Relationship Type="http://schemas.openxmlformats.org/officeDocument/2006/relationships/image" Target="/ppt/media/image73.png" Id="Rbd9db7eb62a0491f" /><Relationship Type="http://schemas.openxmlformats.org/officeDocument/2006/relationships/notesSlide" Target="/ppt/notesSlides/notesSlide132.xml" Id="Reb099f546c8e474c"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1.xml" Id="Rc9b4d873d45748a8" /><Relationship Type="http://schemas.openxmlformats.org/officeDocument/2006/relationships/image" Target="/ppt/media/image74.png" Id="Rf4a09fc1a5a645cd" /><Relationship Type="http://schemas.openxmlformats.org/officeDocument/2006/relationships/notesSlide" Target="/ppt/notesSlides/notesSlide133.xml" Id="Rbd24dc0cd99e4259"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4.xml" Id="R70a839c1a3264eaf" /><Relationship Type="http://schemas.openxmlformats.org/officeDocument/2006/relationships/notesSlide" Target="/ppt/notesSlides/notesSlide134.xml" Id="Rddf4da9430be4ba2" /></Relationships>
</file>

<file path=ppt/slides/slide1.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21" name="cover-eyebrow">
            <a:extLst xmlns:a="http://schemas.openxmlformats.org/drawingml/2006/main">
              <a:ext uri="{FF2B5EF4-FFF2-40B4-BE49-F238E27FC236}">
                <a16:creationId xmlns:a16="http://schemas.microsoft.com/office/drawing/2014/main" id="{2093FB6E-749E-44A7-8945-327DA64C02E2}"/>
              </a:ext>
            </a:extLst>
          </p:cNvPr>
          <p:cNvSpPr>
            <a:spLocks xmlns:a="http://schemas.openxmlformats.org/drawingml/2006/main" noGrp="1"/>
          </p:cNvSpPr>
          <p:nvPr/>
        </p:nvSpPr>
        <p:spPr>
          <a:xfrm xmlns:a="http://schemas.openxmlformats.org/drawingml/2006/main">
            <a:off x="609600" y="4000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350" b="1" i="0">
                <a:solidFill>
                  <a:srgbClr val="FFFFFF"/>
                </a:solidFill>
                <a:latin typeface="Calibri"/>
                <a:ea typeface="Calibri"/>
                <a:cs typeface="Calibri"/>
              </a:defRPr>
            </a:pPr>
            <a:r>
              <a:rPr sz="1350" b="1" i="0">
                <a:solidFill>
                  <a:srgbClr val="FFFFFF"/>
                </a:solidFill>
                <a:latin typeface="Calibri"/>
                <a:ea typeface="Calibri"/>
                <a:cs typeface="Calibri"/>
              </a:rPr>
              <a:t>UNIDAD 7 · FÍSICA ACÚSTICA</a:t>
            </a:r>
          </a:p>
        </p:txBody>
      </p:sp>
      <p:sp>
        <p:nvSpPr>
          <p:cNvPr id="2" name="cover-title">
            <a:extLst xmlns:a="http://schemas.openxmlformats.org/drawingml/2006/main">
              <a:ext uri="{FF2B5EF4-FFF2-40B4-BE49-F238E27FC236}">
                <a16:creationId xmlns:a16="http://schemas.microsoft.com/office/drawing/2014/main" id="{C408E556-06FB-4909-8228-A72221F4CDB3}"/>
              </a:ext>
            </a:extLst>
          </p:cNvPr>
          <p:cNvSpPr>
            <a:spLocks xmlns:a="http://schemas.openxmlformats.org/drawingml/2006/main" noGrp="1"/>
          </p:cNvSpPr>
          <p:nvPr/>
        </p:nvSpPr>
        <p:spPr>
          <a:xfrm xmlns:a="http://schemas.openxmlformats.org/drawingml/2006/main">
            <a:off x="742950" y="1190625"/>
            <a:ext cx="61912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750" b="0" i="0">
                <a:solidFill>
                  <a:srgbClr val="FFFFFF"/>
                </a:solidFill>
                <a:latin typeface="Calibri Light"/>
                <a:ea typeface="Calibri Light"/>
                <a:cs typeface="Calibri Light"/>
              </a:defRPr>
            </a:pPr>
            <a:r>
              <a:rPr sz="3750" b="0" i="0">
                <a:solidFill>
                  <a:srgbClr val="FFFFFF"/>
                </a:solidFill>
                <a:latin typeface="Calibri Light"/>
                <a:ea typeface="Calibri Light"/>
                <a:cs typeface="Calibri Light"/>
              </a:rPr>
              <a:t>Unidad 7 · Características subjetivas de la percepción auditiva</a:t>
            </a:r>
          </a:p>
        </p:txBody>
      </p:sp>
      <p:sp>
        <p:nvSpPr>
          <p:cNvPr id="3" name="cover-subtitle">
            <a:extLst xmlns:a="http://schemas.openxmlformats.org/drawingml/2006/main">
              <a:ext uri="{FF2B5EF4-FFF2-40B4-BE49-F238E27FC236}">
                <a16:creationId xmlns:a16="http://schemas.microsoft.com/office/drawing/2014/main" id="{27AEE81E-7419-471D-879E-40E76CEC2AD8}"/>
              </a:ext>
            </a:extLst>
          </p:cNvPr>
          <p:cNvSpPr>
            <a:spLocks xmlns:a="http://schemas.openxmlformats.org/drawingml/2006/main" noGrp="1"/>
          </p:cNvSpPr>
          <p:nvPr/>
        </p:nvSpPr>
        <p:spPr>
          <a:xfrm xmlns:a="http://schemas.openxmlformats.org/drawingml/2006/main">
            <a:off x="781050" y="3714750"/>
            <a:ext cx="609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2175" b="0" i="0">
                <a:solidFill>
                  <a:srgbClr val="EADDE4"/>
                </a:solidFill>
                <a:latin typeface="Calibri"/>
                <a:ea typeface="Calibri"/>
                <a:cs typeface="Calibri"/>
              </a:defRPr>
            </a:pPr>
            <a:r>
              <a:rPr sz="2175" b="0" i="0">
                <a:solidFill>
                  <a:srgbClr val="EADDE4"/>
                </a:solidFill>
                <a:latin typeface="Calibri"/>
                <a:ea typeface="Calibri"/>
                <a:cs typeface="Calibri"/>
              </a:rPr>
              <a:t>La psicoacústica estudia relaciones entre estímulos y respuestas, no sensaciones aisladas.</a:t>
            </a:r>
          </a:p>
        </p:txBody>
      </p:sp>
      <p:sp>
        <p:nvSpPr>
          <p:cNvPr id="4" name="cover-step-1-anchor">
            <a:extLst xmlns:a="http://schemas.openxmlformats.org/drawingml/2006/main">
              <a:ext uri="{FF2B5EF4-FFF2-40B4-BE49-F238E27FC236}">
                <a16:creationId xmlns:a16="http://schemas.microsoft.com/office/drawing/2014/main" id="{5A17E26E-3078-45BB-ACCC-5893214FDB22}"/>
              </a:ext>
            </a:extLst>
          </p:cNvPr>
          <p:cNvSpPr>
            <a:spLocks xmlns:a="http://schemas.openxmlformats.org/drawingml/2006/main" noGrp="1"/>
          </p:cNvSpPr>
          <p:nvPr/>
        </p:nvSpPr>
        <p:spPr>
          <a:xfrm xmlns:a="http://schemas.openxmlformats.org/drawingml/2006/main">
            <a:off x="7429500" y="1762125"/>
            <a:ext cx="1619250" cy="1047750"/>
          </a:xfrm>
          <a:prstGeom xmlns:a="http://schemas.openxmlformats.org/drawingml/2006/main" prst="roundRect">
            <a:avLst>
              <a:gd name="adj" fmla="val 9091"/>
            </a:avLst>
          </a:prstGeom>
          <a:noFill xmlns:a="http://schemas.openxmlformats.org/drawingml/2006/main"/>
          <a:ln xmlns:a="http://schemas.openxmlformats.org/drawingml/2006/main" w="0">
            <a:noFill/>
            <a:prstDash val="solid"/>
          </a:ln>
        </p:spPr>
      </p:sp>
      <p:sp>
        <p:nvSpPr>
          <p:cNvPr id="5" name="cover-step-2-anchor">
            <a:extLst xmlns:a="http://schemas.openxmlformats.org/drawingml/2006/main">
              <a:ext uri="{FF2B5EF4-FFF2-40B4-BE49-F238E27FC236}">
                <a16:creationId xmlns:a16="http://schemas.microsoft.com/office/drawing/2014/main" id="{2F10D67D-50A3-4891-8420-4407D11D8009}"/>
              </a:ext>
            </a:extLst>
          </p:cNvPr>
          <p:cNvSpPr>
            <a:spLocks xmlns:a="http://schemas.openxmlformats.org/drawingml/2006/main" noGrp="1"/>
          </p:cNvSpPr>
          <p:nvPr/>
        </p:nvSpPr>
        <p:spPr>
          <a:xfrm xmlns:a="http://schemas.openxmlformats.org/drawingml/2006/main">
            <a:off x="9382125" y="1762125"/>
            <a:ext cx="1619250" cy="1047750"/>
          </a:xfrm>
          <a:prstGeom xmlns:a="http://schemas.openxmlformats.org/drawingml/2006/main" prst="roundRect">
            <a:avLst>
              <a:gd name="adj" fmla="val 9091"/>
            </a:avLst>
          </a:prstGeom>
          <a:noFill xmlns:a="http://schemas.openxmlformats.org/drawingml/2006/main"/>
          <a:ln xmlns:a="http://schemas.openxmlformats.org/drawingml/2006/main" w="0">
            <a:noFill/>
            <a:prstDash val="solid"/>
          </a:ln>
        </p:spPr>
      </p:sp>
      <p:sp>
        <p:nvSpPr>
          <p:cNvPr id="6" name="cover-step-3-anchor">
            <a:extLst xmlns:a="http://schemas.openxmlformats.org/drawingml/2006/main">
              <a:ext uri="{FF2B5EF4-FFF2-40B4-BE49-F238E27FC236}">
                <a16:creationId xmlns:a16="http://schemas.microsoft.com/office/drawing/2014/main" id="{FCCC5009-66CF-400A-BFBC-86C6BCAAB6DE}"/>
              </a:ext>
            </a:extLst>
          </p:cNvPr>
          <p:cNvSpPr>
            <a:spLocks xmlns:a="http://schemas.openxmlformats.org/drawingml/2006/main" noGrp="1"/>
          </p:cNvSpPr>
          <p:nvPr/>
        </p:nvSpPr>
        <p:spPr>
          <a:xfrm xmlns:a="http://schemas.openxmlformats.org/drawingml/2006/main">
            <a:off x="7429500" y="3381375"/>
            <a:ext cx="1619250" cy="1047750"/>
          </a:xfrm>
          <a:prstGeom xmlns:a="http://schemas.openxmlformats.org/drawingml/2006/main" prst="roundRect">
            <a:avLst>
              <a:gd name="adj" fmla="val 9091"/>
            </a:avLst>
          </a:prstGeom>
          <a:noFill xmlns:a="http://schemas.openxmlformats.org/drawingml/2006/main"/>
          <a:ln xmlns:a="http://schemas.openxmlformats.org/drawingml/2006/main" w="0">
            <a:noFill/>
            <a:prstDash val="solid"/>
          </a:ln>
        </p:spPr>
      </p:sp>
      <p:sp>
        <p:nvSpPr>
          <p:cNvPr id="7" name="cover-step-4-anchor">
            <a:extLst xmlns:a="http://schemas.openxmlformats.org/drawingml/2006/main">
              <a:ext uri="{FF2B5EF4-FFF2-40B4-BE49-F238E27FC236}">
                <a16:creationId xmlns:a16="http://schemas.microsoft.com/office/drawing/2014/main" id="{A4FB33AF-0B5A-4D0B-84CF-459B19834710}"/>
              </a:ext>
            </a:extLst>
          </p:cNvPr>
          <p:cNvSpPr>
            <a:spLocks xmlns:a="http://schemas.openxmlformats.org/drawingml/2006/main" noGrp="1"/>
          </p:cNvSpPr>
          <p:nvPr/>
        </p:nvSpPr>
        <p:spPr>
          <a:xfrm xmlns:a="http://schemas.openxmlformats.org/drawingml/2006/main">
            <a:off x="9382125" y="3381375"/>
            <a:ext cx="1619250" cy="1047750"/>
          </a:xfrm>
          <a:prstGeom xmlns:a="http://schemas.openxmlformats.org/drawingml/2006/main" prst="roundRect">
            <a:avLst>
              <a:gd name="adj" fmla="val 9091"/>
            </a:avLst>
          </a:prstGeom>
          <a:noFill xmlns:a="http://schemas.openxmlformats.org/drawingml/2006/main"/>
          <a:ln xmlns:a="http://schemas.openxmlformats.org/drawingml/2006/main" w="0">
            <a:noFill/>
            <a:prstDash val="solid"/>
          </a:ln>
        </p:spPr>
      </p:sp>
      <p:cxnSp>
        <p:nvCxnSpPr>
          <p:cNvPr id="28" name=""/>
          <p:cNvCxnSpPr>
            <a:stCxn xmlns:a="http://schemas.openxmlformats.org/drawingml/2006/main" id="4" idx="3"/>
            <a:endCxn xmlns:a="http://schemas.openxmlformats.org/drawingml/2006/main" id="5" idx="1"/>
          </p:cNvCxnSpPr>
          <p:nvPr/>
        </p:nvCxnSpPr>
        <p:spPr>
          <a:xfrm xmlns:a="http://schemas.openxmlformats.org/drawingml/2006/main">
            <a:off x="9048750" y="2286000"/>
            <a:ext cx="333375" cy="0"/>
          </a:xfrm>
          <a:prstGeom xmlns:a="http://schemas.openxmlformats.org/drawingml/2006/main" prst="straightConnector1">
            <a:avLst/>
          </a:prstGeom>
          <a:ln xmlns:a="http://schemas.openxmlformats.org/drawingml/2006/main" w="19050">
            <a:solidFill>
              <a:srgbClr val="E0B9CB"/>
            </a:solidFill>
            <a:prstDash val="solid"/>
            <a:tailEnd type="arrow" w="med" len="med"/>
          </a:ln>
        </p:spPr>
      </p:cxnSp>
      <p:cxnSp>
        <p:nvCxnSpPr>
          <p:cNvPr id="29" name=""/>
          <p:cNvCxnSpPr>
            <a:stCxn xmlns:a="http://schemas.openxmlformats.org/drawingml/2006/main" id="5" idx="2"/>
            <a:endCxn xmlns:a="http://schemas.openxmlformats.org/drawingml/2006/main" id="6" idx="0"/>
          </p:cNvCxnSpPr>
          <p:nvPr/>
        </p:nvCxnSpPr>
        <p:spPr>
          <a:xfrm xmlns:a="http://schemas.openxmlformats.org/drawingml/2006/main" flipH="1">
            <a:off x="8239125" y="2809875"/>
            <a:ext cx="1952625" cy="571500"/>
          </a:xfrm>
          <a:prstGeom xmlns:a="http://schemas.openxmlformats.org/drawingml/2006/main" prst="bentConnector4">
            <a:avLst>
              <a:gd name="adj1" fmla="val 0"/>
              <a:gd name="adj2" fmla="val 50000"/>
            </a:avLst>
          </a:prstGeom>
          <a:ln xmlns:a="http://schemas.openxmlformats.org/drawingml/2006/main" w="19050">
            <a:solidFill>
              <a:srgbClr val="E0B9CB"/>
            </a:solidFill>
            <a:prstDash val="solid"/>
            <a:tailEnd type="arrow" w="med" len="med"/>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9048750" y="3905250"/>
            <a:ext cx="333375" cy="0"/>
          </a:xfrm>
          <a:prstGeom xmlns:a="http://schemas.openxmlformats.org/drawingml/2006/main" prst="straightConnector1">
            <a:avLst/>
          </a:prstGeom>
          <a:ln xmlns:a="http://schemas.openxmlformats.org/drawingml/2006/main" w="19050">
            <a:solidFill>
              <a:srgbClr val="E0B9CB"/>
            </a:solidFill>
            <a:prstDash val="solid"/>
            <a:tailEnd type="arrow" w="med" len="med"/>
          </a:ln>
        </p:spPr>
      </p:cxnSp>
      <p:sp>
        <p:nvSpPr>
          <p:cNvPr id="11" name="cover-step-1">
            <a:extLst xmlns:a="http://schemas.openxmlformats.org/drawingml/2006/main">
              <a:ext uri="{FF2B5EF4-FFF2-40B4-BE49-F238E27FC236}">
                <a16:creationId xmlns:a16="http://schemas.microsoft.com/office/drawing/2014/main" id="{E69B1C66-4916-4A3F-B60C-58E8F18E97C6}"/>
              </a:ext>
            </a:extLst>
          </p:cNvPr>
          <p:cNvSpPr>
            <a:spLocks xmlns:a="http://schemas.openxmlformats.org/drawingml/2006/main" noGrp="1"/>
          </p:cNvSpPr>
          <p:nvPr/>
        </p:nvSpPr>
        <p:spPr>
          <a:xfrm xmlns:a="http://schemas.openxmlformats.org/drawingml/2006/main">
            <a:off x="7429500" y="1762125"/>
            <a:ext cx="1619250" cy="1047750"/>
          </a:xfrm>
          <a:prstGeom xmlns:a="http://schemas.openxmlformats.org/drawingml/2006/main" prst="roundRect">
            <a:avLst>
              <a:gd name="adj" fmla="val 9091"/>
            </a:avLst>
          </a:prstGeom>
          <a:solidFill xmlns:a="http://schemas.openxmlformats.org/drawingml/2006/main">
            <a:srgbClr val="6A2447"/>
          </a:solidFill>
          <a:ln xmlns:a="http://schemas.openxmlformats.org/drawingml/2006/main" w="14288">
            <a:solidFill>
              <a:srgbClr val="CFA7BA"/>
            </a:solidFill>
            <a:prstDash val="solid"/>
          </a:ln>
        </p:spPr>
      </p:sp>
      <p:sp>
        <p:nvSpPr>
          <p:cNvPr id="12" name="cover-step-1-text">
            <a:extLst xmlns:a="http://schemas.openxmlformats.org/drawingml/2006/main">
              <a:ext uri="{FF2B5EF4-FFF2-40B4-BE49-F238E27FC236}">
                <a16:creationId xmlns:a16="http://schemas.microsoft.com/office/drawing/2014/main" id="{A2F05316-D651-4748-96BC-1C34DC25EA40}"/>
              </a:ext>
            </a:extLst>
          </p:cNvPr>
          <p:cNvSpPr>
            <a:spLocks xmlns:a="http://schemas.openxmlformats.org/drawingml/2006/main" noGrp="1"/>
          </p:cNvSpPr>
          <p:nvPr/>
        </p:nvSpPr>
        <p:spPr>
          <a:xfrm xmlns:a="http://schemas.openxmlformats.org/drawingml/2006/main">
            <a:off x="7572375" y="2047875"/>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aire</a:t>
            </a:r>
          </a:p>
        </p:txBody>
      </p:sp>
      <p:sp>
        <p:nvSpPr>
          <p:cNvPr id="13" name="cover-step-2">
            <a:extLst xmlns:a="http://schemas.openxmlformats.org/drawingml/2006/main">
              <a:ext uri="{FF2B5EF4-FFF2-40B4-BE49-F238E27FC236}">
                <a16:creationId xmlns:a16="http://schemas.microsoft.com/office/drawing/2014/main" id="{E83017EF-55FB-4DF0-A78D-F6B61E27B990}"/>
              </a:ext>
            </a:extLst>
          </p:cNvPr>
          <p:cNvSpPr>
            <a:spLocks xmlns:a="http://schemas.openxmlformats.org/drawingml/2006/main" noGrp="1"/>
          </p:cNvSpPr>
          <p:nvPr/>
        </p:nvSpPr>
        <p:spPr>
          <a:xfrm xmlns:a="http://schemas.openxmlformats.org/drawingml/2006/main">
            <a:off x="9382125" y="1762125"/>
            <a:ext cx="1619250" cy="1047750"/>
          </a:xfrm>
          <a:prstGeom xmlns:a="http://schemas.openxmlformats.org/drawingml/2006/main" prst="roundRect">
            <a:avLst>
              <a:gd name="adj" fmla="val 9091"/>
            </a:avLst>
          </a:prstGeom>
          <a:solidFill xmlns:a="http://schemas.openxmlformats.org/drawingml/2006/main">
            <a:srgbClr val="6A2447"/>
          </a:solidFill>
          <a:ln xmlns:a="http://schemas.openxmlformats.org/drawingml/2006/main" w="14288">
            <a:solidFill>
              <a:srgbClr val="CFA7BA"/>
            </a:solidFill>
            <a:prstDash val="solid"/>
          </a:ln>
        </p:spPr>
      </p:sp>
      <p:sp>
        <p:nvSpPr>
          <p:cNvPr id="14" name="cover-step-2-text">
            <a:extLst xmlns:a="http://schemas.openxmlformats.org/drawingml/2006/main">
              <a:ext uri="{FF2B5EF4-FFF2-40B4-BE49-F238E27FC236}">
                <a16:creationId xmlns:a16="http://schemas.microsoft.com/office/drawing/2014/main" id="{1AF83FAB-6851-49AB-BB03-37D1591E8658}"/>
              </a:ext>
            </a:extLst>
          </p:cNvPr>
          <p:cNvSpPr>
            <a:spLocks xmlns:a="http://schemas.openxmlformats.org/drawingml/2006/main" noGrp="1"/>
          </p:cNvSpPr>
          <p:nvPr/>
        </p:nvSpPr>
        <p:spPr>
          <a:xfrm xmlns:a="http://schemas.openxmlformats.org/drawingml/2006/main">
            <a:off x="9525000" y="2047875"/>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tímpano</a:t>
            </a:r>
          </a:p>
        </p:txBody>
      </p:sp>
      <p:sp>
        <p:nvSpPr>
          <p:cNvPr id="15" name="cover-step-3">
            <a:extLst xmlns:a="http://schemas.openxmlformats.org/drawingml/2006/main">
              <a:ext uri="{FF2B5EF4-FFF2-40B4-BE49-F238E27FC236}">
                <a16:creationId xmlns:a16="http://schemas.microsoft.com/office/drawing/2014/main" id="{06E88120-BD80-4D3D-B04A-5184A214EEDC}"/>
              </a:ext>
            </a:extLst>
          </p:cNvPr>
          <p:cNvSpPr>
            <a:spLocks xmlns:a="http://schemas.openxmlformats.org/drawingml/2006/main" noGrp="1"/>
          </p:cNvSpPr>
          <p:nvPr/>
        </p:nvSpPr>
        <p:spPr>
          <a:xfrm xmlns:a="http://schemas.openxmlformats.org/drawingml/2006/main">
            <a:off x="7429500" y="3381375"/>
            <a:ext cx="1619250" cy="1047750"/>
          </a:xfrm>
          <a:prstGeom xmlns:a="http://schemas.openxmlformats.org/drawingml/2006/main" prst="roundRect">
            <a:avLst>
              <a:gd name="adj" fmla="val 9091"/>
            </a:avLst>
          </a:prstGeom>
          <a:solidFill xmlns:a="http://schemas.openxmlformats.org/drawingml/2006/main">
            <a:srgbClr val="77384F"/>
          </a:solidFill>
          <a:ln xmlns:a="http://schemas.openxmlformats.org/drawingml/2006/main" w="14288">
            <a:solidFill>
              <a:srgbClr val="CFA7BA"/>
            </a:solidFill>
            <a:prstDash val="solid"/>
          </a:ln>
        </p:spPr>
      </p:sp>
      <p:sp>
        <p:nvSpPr>
          <p:cNvPr id="16" name="cover-step-3-text">
            <a:extLst xmlns:a="http://schemas.openxmlformats.org/drawingml/2006/main">
              <a:ext uri="{FF2B5EF4-FFF2-40B4-BE49-F238E27FC236}">
                <a16:creationId xmlns:a16="http://schemas.microsoft.com/office/drawing/2014/main" id="{D2054BEE-2EBA-4D51-BAB6-98689F3CB6FA}"/>
              </a:ext>
            </a:extLst>
          </p:cNvPr>
          <p:cNvSpPr>
            <a:spLocks xmlns:a="http://schemas.openxmlformats.org/drawingml/2006/main" noGrp="1"/>
          </p:cNvSpPr>
          <p:nvPr/>
        </p:nvSpPr>
        <p:spPr>
          <a:xfrm xmlns:a="http://schemas.openxmlformats.org/drawingml/2006/main">
            <a:off x="7572375" y="3667125"/>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cóclea</a:t>
            </a:r>
          </a:p>
        </p:txBody>
      </p:sp>
      <p:sp>
        <p:nvSpPr>
          <p:cNvPr id="17" name="cover-step-4">
            <a:extLst xmlns:a="http://schemas.openxmlformats.org/drawingml/2006/main">
              <a:ext uri="{FF2B5EF4-FFF2-40B4-BE49-F238E27FC236}">
                <a16:creationId xmlns:a16="http://schemas.microsoft.com/office/drawing/2014/main" id="{2602000A-CDF8-456A-9271-E9D9C4AB3B5E}"/>
              </a:ext>
            </a:extLst>
          </p:cNvPr>
          <p:cNvSpPr>
            <a:spLocks xmlns:a="http://schemas.openxmlformats.org/drawingml/2006/main" noGrp="1"/>
          </p:cNvSpPr>
          <p:nvPr/>
        </p:nvSpPr>
        <p:spPr>
          <a:xfrm xmlns:a="http://schemas.openxmlformats.org/drawingml/2006/main">
            <a:off x="9382125" y="3381375"/>
            <a:ext cx="1619250" cy="1047750"/>
          </a:xfrm>
          <a:prstGeom xmlns:a="http://schemas.openxmlformats.org/drawingml/2006/main" prst="roundRect">
            <a:avLst>
              <a:gd name="adj" fmla="val 9091"/>
            </a:avLst>
          </a:prstGeom>
          <a:solidFill xmlns:a="http://schemas.openxmlformats.org/drawingml/2006/main">
            <a:srgbClr val="77384F"/>
          </a:solidFill>
          <a:ln xmlns:a="http://schemas.openxmlformats.org/drawingml/2006/main" w="14288">
            <a:solidFill>
              <a:srgbClr val="CFA7BA"/>
            </a:solidFill>
            <a:prstDash val="solid"/>
          </a:ln>
        </p:spPr>
      </p:sp>
      <p:sp>
        <p:nvSpPr>
          <p:cNvPr id="18" name="cover-step-4-text">
            <a:extLst xmlns:a="http://schemas.openxmlformats.org/drawingml/2006/main">
              <a:ext uri="{FF2B5EF4-FFF2-40B4-BE49-F238E27FC236}">
                <a16:creationId xmlns:a16="http://schemas.microsoft.com/office/drawing/2014/main" id="{7679A10F-8036-4FD9-95C1-C005259F354D}"/>
              </a:ext>
            </a:extLst>
          </p:cNvPr>
          <p:cNvSpPr>
            <a:spLocks xmlns:a="http://schemas.openxmlformats.org/drawingml/2006/main" noGrp="1"/>
          </p:cNvSpPr>
          <p:nvPr/>
        </p:nvSpPr>
        <p:spPr>
          <a:xfrm xmlns:a="http://schemas.openxmlformats.org/drawingml/2006/main">
            <a:off x="9525000" y="3667125"/>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nervio</a:t>
            </a:r>
          </a:p>
        </p:txBody>
      </p:sp>
      <p:sp>
        <p:nvSpPr>
          <p:cNvPr id="19" name="cover-route">
            <a:extLst xmlns:a="http://schemas.openxmlformats.org/drawingml/2006/main">
              <a:ext uri="{FF2B5EF4-FFF2-40B4-BE49-F238E27FC236}">
                <a16:creationId xmlns:a16="http://schemas.microsoft.com/office/drawing/2014/main" id="{84DF4DD2-A0D2-4D69-AF27-161D599443B1}"/>
              </a:ext>
            </a:extLst>
          </p:cNvPr>
          <p:cNvSpPr>
            <a:spLocks xmlns:a="http://schemas.openxmlformats.org/drawingml/2006/main" noGrp="1"/>
          </p:cNvSpPr>
          <p:nvPr/>
        </p:nvSpPr>
        <p:spPr>
          <a:xfrm xmlns:a="http://schemas.openxmlformats.org/drawingml/2006/main">
            <a:off x="781050" y="4953000"/>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650" b="0" i="0">
                <a:solidFill>
                  <a:srgbClr val="EADDE4"/>
                </a:solidFill>
                <a:latin typeface="Calibri"/>
                <a:ea typeface="Calibri"/>
                <a:cs typeface="Calibri"/>
              </a:defRPr>
            </a:pPr>
            <a:r>
              <a:rPr sz="1650" b="0" i="0">
                <a:solidFill>
                  <a:srgbClr val="EADDE4"/>
                </a:solidFill>
                <a:latin typeface="Calibri"/>
                <a:ea typeface="Calibri"/>
                <a:cs typeface="Calibri"/>
              </a:rPr>
              <a:t>4 encuentros · ruta central + ampliaciones + respaldo</a:t>
            </a:r>
          </a:p>
        </p:txBody>
      </p:sp>
      <p:sp>
        <p:nvSpPr>
          <p:cNvPr id="20" name="slide-number">
            <a:extLst xmlns:a="http://schemas.openxmlformats.org/drawingml/2006/main">
              <a:ext uri="{FF2B5EF4-FFF2-40B4-BE49-F238E27FC236}">
                <a16:creationId xmlns:a16="http://schemas.microsoft.com/office/drawing/2014/main" id="{274E2C76-FFEC-4CF7-9DB1-DAD760DA72B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1</a:t>
            </a:r>
          </a:p>
        </p:txBody>
      </p:sp>
    </p:spTree>
    <p:extLst>
      <p:ext uri="{BB962C8B-B14F-4D97-AF65-F5344CB8AC3E}">
        <p14:creationId xmlns:p14="http://schemas.microsoft.com/office/powerpoint/2010/main" val="11946631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802D92B2-AE7B-4C68-8748-74857C9AE723}"/>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Mismo nivel, ¿misma sonoridad?</a:t>
            </a:r>
          </a:p>
        </p:txBody>
      </p:sp>
      <p:sp>
        <p:nvSpPr>
          <p:cNvPr id="2" name="slide-subtitle">
            <a:extLst xmlns:a="http://schemas.openxmlformats.org/drawingml/2006/main">
              <a:ext uri="{FF2B5EF4-FFF2-40B4-BE49-F238E27FC236}">
                <a16:creationId xmlns:a16="http://schemas.microsoft.com/office/drawing/2014/main" id="{69A5E9BD-3BEC-40C4-ADB1-964898CB0798}"/>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media-static-box">
            <a:extLst xmlns:a="http://schemas.openxmlformats.org/drawingml/2006/main">
              <a:ext uri="{FF2B5EF4-FFF2-40B4-BE49-F238E27FC236}">
                <a16:creationId xmlns:a16="http://schemas.microsoft.com/office/drawing/2014/main" id="{27991885-C8C2-4134-B776-AD76A48C224C}"/>
              </a:ext>
            </a:extLst>
          </p:cNvPr>
          <p:cNvSpPr>
            <a:spLocks xmlns:a="http://schemas.openxmlformats.org/drawingml/2006/main" noGrp="1"/>
          </p:cNvSpPr>
          <p:nvPr/>
        </p:nvSpPr>
        <p:spPr>
          <a:xfrm xmlns:a="http://schemas.openxmlformats.org/drawingml/2006/main">
            <a:off x="714375" y="1571625"/>
            <a:ext cx="7143750" cy="3619500"/>
          </a:xfrm>
          <a:prstGeom xmlns:a="http://schemas.openxmlformats.org/drawingml/2006/main" prst="roundRect">
            <a:avLst>
              <a:gd name="adj" fmla="val 3158"/>
            </a:avLst>
          </a:prstGeom>
          <a:solidFill xmlns:a="http://schemas.openxmlformats.org/drawingml/2006/main">
            <a:srgbClr val="E7F1F1"/>
          </a:solidFill>
          <a:ln xmlns:a="http://schemas.openxmlformats.org/drawingml/2006/main" w="19050">
            <a:solidFill>
              <a:srgbClr val="2F7E83"/>
            </a:solidFill>
            <a:prstDash val="solid"/>
          </a:ln>
        </p:spPr>
      </p:sp>
      <p:sp>
        <p:nvSpPr>
          <p:cNvPr id="4" name="media-static-title">
            <a:extLst xmlns:a="http://schemas.openxmlformats.org/drawingml/2006/main">
              <a:ext uri="{FF2B5EF4-FFF2-40B4-BE49-F238E27FC236}">
                <a16:creationId xmlns:a16="http://schemas.microsoft.com/office/drawing/2014/main" id="{6A685B3B-6F10-4027-8AF5-8A8E8E6CDB4A}"/>
              </a:ext>
            </a:extLst>
          </p:cNvPr>
          <p:cNvSpPr>
            <a:spLocks xmlns:a="http://schemas.openxmlformats.org/drawingml/2006/main" noGrp="1"/>
          </p:cNvSpPr>
          <p:nvPr/>
        </p:nvSpPr>
        <p:spPr>
          <a:xfrm xmlns:a="http://schemas.openxmlformats.org/drawingml/2006/main">
            <a:off x="885825" y="1704975"/>
            <a:ext cx="680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2F7E83"/>
                </a:solidFill>
                <a:latin typeface="Calibri"/>
                <a:ea typeface="Calibri"/>
                <a:cs typeface="Calibri"/>
              </a:defRPr>
            </a:pPr>
            <a:r>
              <a:rPr sz="2250" b="1" i="0">
                <a:solidFill>
                  <a:srgbClr val="2F7E83"/>
                </a:solidFill>
                <a:latin typeface="Calibri"/>
                <a:ea typeface="Calibri"/>
                <a:cs typeface="Calibri"/>
              </a:rPr>
              <a:t>Alternativa estática</a:t>
            </a:r>
          </a:p>
        </p:txBody>
      </p:sp>
      <p:sp>
        <p:nvSpPr>
          <p:cNvPr id="5" name="media-static-body">
            <a:extLst xmlns:a="http://schemas.openxmlformats.org/drawingml/2006/main">
              <a:ext uri="{FF2B5EF4-FFF2-40B4-BE49-F238E27FC236}">
                <a16:creationId xmlns:a16="http://schemas.microsoft.com/office/drawing/2014/main" id="{B4BA2A29-D52C-479B-90A5-F4EC8DF1FE2D}"/>
              </a:ext>
            </a:extLst>
          </p:cNvPr>
          <p:cNvSpPr>
            <a:spLocks xmlns:a="http://schemas.openxmlformats.org/drawingml/2006/main" noGrp="1"/>
          </p:cNvSpPr>
          <p:nvPr/>
        </p:nvSpPr>
        <p:spPr>
          <a:xfrm xmlns:a="http://schemas.openxmlformats.org/drawingml/2006/main">
            <a:off x="885825" y="2105025"/>
            <a:ext cx="680085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 Dos tonos tienen igual RMS digital nominal y distinta frecuencia. Prediga: ¿resultarán igualmente sonoros? Justifique sin convertir la reproducción en una medición.</a:t>
            </a:r>
          </a:p>
        </p:txBody>
      </p:sp>
      <p:sp>
        <p:nvSpPr>
          <p:cNvPr id="6" name="media-id-box">
            <a:extLst xmlns:a="http://schemas.openxmlformats.org/drawingml/2006/main">
              <a:ext uri="{FF2B5EF4-FFF2-40B4-BE49-F238E27FC236}">
                <a16:creationId xmlns:a16="http://schemas.microsoft.com/office/drawing/2014/main" id="{D46F0715-9C24-4972-9321-AAF2A00DE230}"/>
              </a:ext>
            </a:extLst>
          </p:cNvPr>
          <p:cNvSpPr>
            <a:spLocks xmlns:a="http://schemas.openxmlformats.org/drawingml/2006/main" noGrp="1"/>
          </p:cNvSpPr>
          <p:nvPr/>
        </p:nvSpPr>
        <p:spPr>
          <a:xfrm xmlns:a="http://schemas.openxmlformats.org/drawingml/2006/main">
            <a:off x="8239125" y="1571625"/>
            <a:ext cx="3238500" cy="3619500"/>
          </a:xfrm>
          <a:prstGeom xmlns:a="http://schemas.openxmlformats.org/drawingml/2006/main" prst="roundRect">
            <a:avLst>
              <a:gd name="adj" fmla="val 3529"/>
            </a:avLst>
          </a:prstGeom>
          <a:solidFill xmlns:a="http://schemas.openxmlformats.org/drawingml/2006/main">
            <a:srgbClr val="F7F6F2"/>
          </a:solidFill>
          <a:ln xmlns:a="http://schemas.openxmlformats.org/drawingml/2006/main" w="19050">
            <a:solidFill>
              <a:srgbClr val="969FA7"/>
            </a:solidFill>
            <a:prstDash val="solid"/>
          </a:ln>
        </p:spPr>
      </p:sp>
      <p:sp>
        <p:nvSpPr>
          <p:cNvPr id="7" name="media-id-title">
            <a:extLst xmlns:a="http://schemas.openxmlformats.org/drawingml/2006/main">
              <a:ext uri="{FF2B5EF4-FFF2-40B4-BE49-F238E27FC236}">
                <a16:creationId xmlns:a16="http://schemas.microsoft.com/office/drawing/2014/main" id="{A636EFCD-DDDA-4107-B8E5-E805A1451B1C}"/>
              </a:ext>
            </a:extLst>
          </p:cNvPr>
          <p:cNvSpPr>
            <a:spLocks xmlns:a="http://schemas.openxmlformats.org/drawingml/2006/main" noGrp="1"/>
          </p:cNvSpPr>
          <p:nvPr/>
        </p:nvSpPr>
        <p:spPr>
          <a:xfrm xmlns:a="http://schemas.openxmlformats.org/drawingml/2006/main">
            <a:off x="8410575" y="1704975"/>
            <a:ext cx="289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3D3D3D"/>
                </a:solidFill>
                <a:latin typeface="Calibri"/>
                <a:ea typeface="Calibri"/>
                <a:cs typeface="Calibri"/>
              </a:defRPr>
            </a:pPr>
            <a:r>
              <a:rPr sz="2025" b="1" i="0">
                <a:solidFill>
                  <a:srgbClr val="3D3D3D"/>
                </a:solidFill>
                <a:latin typeface="Calibri"/>
                <a:ea typeface="Calibri"/>
                <a:cs typeface="Calibri"/>
              </a:rPr>
              <a:t>Recurso identificado</a:t>
            </a:r>
          </a:p>
        </p:txBody>
      </p:sp>
      <p:sp>
        <p:nvSpPr>
          <p:cNvPr id="8" name="media-id-body">
            <a:extLst xmlns:a="http://schemas.openxmlformats.org/drawingml/2006/main">
              <a:ext uri="{FF2B5EF4-FFF2-40B4-BE49-F238E27FC236}">
                <a16:creationId xmlns:a16="http://schemas.microsoft.com/office/drawing/2014/main" id="{F11752AB-E6CA-4F4C-9E0B-8E1811417398}"/>
              </a:ext>
            </a:extLst>
          </p:cNvPr>
          <p:cNvSpPr>
            <a:spLocks xmlns:a="http://schemas.openxmlformats.org/drawingml/2006/main" noGrp="1"/>
          </p:cNvSpPr>
          <p:nvPr/>
        </p:nvSpPr>
        <p:spPr>
          <a:xfrm xmlns:a="http://schemas.openxmlformats.org/drawingml/2006/main">
            <a:off x="8410575" y="2105025"/>
            <a:ext cx="28956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reproducción opcional y sus condiciones están indicadas en las notas del orador.</a:t>
            </a:r>
          </a:p>
        </p:txBody>
      </p:sp>
      <p:sp>
        <p:nvSpPr>
          <p:cNvPr id="9" name="top-rail-1">
            <a:extLst xmlns:a="http://schemas.openxmlformats.org/drawingml/2006/main">
              <a:ext uri="{FF2B5EF4-FFF2-40B4-BE49-F238E27FC236}">
                <a16:creationId xmlns:a16="http://schemas.microsoft.com/office/drawing/2014/main" id="{5D33B96F-2636-411E-864D-58739ADE851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58822FA2-3050-424E-9B8E-62E9400CA7A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09A7F00D-E41B-4FF8-8EF5-3B3FBC49FE6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90205793-99E6-44A3-A3C6-147D02298EB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3" name="slide-number">
            <a:extLst xmlns:a="http://schemas.openxmlformats.org/drawingml/2006/main">
              <a:ext uri="{FF2B5EF4-FFF2-40B4-BE49-F238E27FC236}">
                <a16:creationId xmlns:a16="http://schemas.microsoft.com/office/drawing/2014/main" id="{BEA35511-2D60-4165-8D76-0F0D344C9FC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a:t>
            </a:r>
          </a:p>
        </p:txBody>
      </p:sp>
    </p:spTree>
    <p:extLst>
      <p:ext uri="{BB962C8B-B14F-4D97-AF65-F5344CB8AC3E}">
        <p14:creationId xmlns:p14="http://schemas.microsoft.com/office/powerpoint/2010/main" val="10462133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03-U07-DG-001-validated-png"/>
          <p:cNvPicPr>
            <a:picLocks xmlns:a="http://schemas.openxmlformats.org/drawingml/2006/main" noChangeAspect="1"/>
          </p:cNvPicPr>
          <p:nvPr/>
        </p:nvPicPr>
        <p:blipFill>
          <a:blip xmlns:r="http://schemas.openxmlformats.org/officeDocument/2006/relationships" xmlns:a="http://schemas.openxmlformats.org/drawingml/2006/main" r:embed="Rad59425cc35f43c6"/>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26550DB5-666D-4AFD-9373-37D12BFE5386}"/>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Del campo físico a una respuesta observable</a:t>
            </a:r>
          </a:p>
        </p:txBody>
      </p:sp>
      <p:sp>
        <p:nvSpPr>
          <p:cNvPr id="3" name="diagram-footer">
            <a:extLst xmlns:a="http://schemas.openxmlformats.org/drawingml/2006/main">
              <a:ext uri="{FF2B5EF4-FFF2-40B4-BE49-F238E27FC236}">
                <a16:creationId xmlns:a16="http://schemas.microsoft.com/office/drawing/2014/main" id="{63B1C13F-6150-4F63-8DCC-428A0E7C003A}"/>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6BAAED05-667F-4173-9B84-F3B836BEE52C}"/>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F12A59D1-F707-4F94-A9C2-B431A11D56C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9E6FB7A2-CC9C-4C69-B9A8-2AF0501AD6F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6E12541B-22D1-4255-9920-E5989426192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2F601560-F8F9-4AC6-A909-34080BC8C66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97CBC661-0894-4565-A56E-94202A49D89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a:t>
            </a:r>
          </a:p>
        </p:txBody>
      </p:sp>
    </p:spTree>
    <p:extLst>
      <p:ext uri="{BB962C8B-B14F-4D97-AF65-F5344CB8AC3E}">
        <p14:creationId xmlns:p14="http://schemas.microsoft.com/office/powerpoint/2010/main" val="5674383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DCA6D9D-1EE5-48B9-8507-A20EFFC88B5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¿Qué necesitamos recuperar?</a:t>
            </a:r>
          </a:p>
        </p:txBody>
      </p:sp>
      <p:sp>
        <p:nvSpPr>
          <p:cNvPr id="2" name="main-ideas">
            <a:extLst xmlns:a="http://schemas.openxmlformats.org/drawingml/2006/main">
              <a:ext uri="{FF2B5EF4-FFF2-40B4-BE49-F238E27FC236}">
                <a16:creationId xmlns:a16="http://schemas.microsoft.com/office/drawing/2014/main" id="{0DB1BC2B-2E7A-48E4-96C6-CD54325ADC76}"/>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Nivel, espectro, campo y transferencia reaparecen con una tarea nueva.</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U4: Lₚ/campo.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U5: espectro/filtros.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U6: CAE/codificación.</a:t>
            </a:r>
          </a:p>
        </p:txBody>
      </p:sp>
      <p:sp>
        <p:nvSpPr>
          <p:cNvPr id="3" name="top-rail-1">
            <a:extLst xmlns:a="http://schemas.openxmlformats.org/drawingml/2006/main">
              <a:ext uri="{FF2B5EF4-FFF2-40B4-BE49-F238E27FC236}">
                <a16:creationId xmlns:a16="http://schemas.microsoft.com/office/drawing/2014/main" id="{336EA726-D03F-45E0-94FF-76176CFDA32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CBC49DCF-F696-442A-B75A-B365B7FE5924}"/>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BF2DCF50-F624-4DB7-BDCF-8B2E7564865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A24BA5E2-0D0B-4D3E-ACAA-7BF8FB482F1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3B7F1753-4CC9-4F35-BD72-0A864D57147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a:t>
            </a:r>
          </a:p>
        </p:txBody>
      </p:sp>
    </p:spTree>
    <p:extLst>
      <p:ext uri="{BB962C8B-B14F-4D97-AF65-F5344CB8AC3E}">
        <p14:creationId xmlns:p14="http://schemas.microsoft.com/office/powerpoint/2010/main" val="18335951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05-U07-DG-002-validated-png"/>
          <p:cNvPicPr>
            <a:picLocks xmlns:a="http://schemas.openxmlformats.org/drawingml/2006/main" noChangeAspect="1"/>
          </p:cNvPicPr>
          <p:nvPr/>
        </p:nvPicPr>
        <p:blipFill>
          <a:blip xmlns:r="http://schemas.openxmlformats.org/officeDocument/2006/relationships" xmlns:a="http://schemas.openxmlformats.org/drawingml/2006/main" r:embed="R2ec090071b8c429a"/>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975DB62B-B5C9-4927-BCFA-05206087BBC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Una magnitud física no es su correlato perceptual</a:t>
            </a:r>
          </a:p>
        </p:txBody>
      </p:sp>
      <p:sp>
        <p:nvSpPr>
          <p:cNvPr id="3" name="diagram-footer">
            <a:extLst xmlns:a="http://schemas.openxmlformats.org/drawingml/2006/main">
              <a:ext uri="{FF2B5EF4-FFF2-40B4-BE49-F238E27FC236}">
                <a16:creationId xmlns:a16="http://schemas.microsoft.com/office/drawing/2014/main" id="{123A8DE9-4284-46E0-A16A-FA4AD85E9BF4}"/>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76A789A9-8E14-4F1F-9C94-5FA98369C76A}"/>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1AED8CBC-EDFC-498C-830E-4FA7C4EC21C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A0183FEB-B975-4B4B-85B3-423340C6AA1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08D3CDB0-D0B9-48DB-A904-6EA9922BA6B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9A7474F6-120D-43DF-B614-3430B516DAB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B77401D8-3E37-4E3E-B3D5-6621D65FE4F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a:t>
            </a:r>
          </a:p>
        </p:txBody>
      </p:sp>
    </p:spTree>
    <p:extLst>
      <p:ext uri="{BB962C8B-B14F-4D97-AF65-F5344CB8AC3E}">
        <p14:creationId xmlns:p14="http://schemas.microsoft.com/office/powerpoint/2010/main" val="2815463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1067DB8-B96F-4614-B87B-0909D0363EC4}"/>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Qué podremos interpretar, calcular e integrar</a:t>
            </a:r>
          </a:p>
        </p:txBody>
      </p:sp>
      <p:sp>
        <p:nvSpPr>
          <p:cNvPr id="2" name="main-ideas">
            <a:extLst xmlns:a="http://schemas.openxmlformats.org/drawingml/2006/main">
              <a:ext uri="{FF2B5EF4-FFF2-40B4-BE49-F238E27FC236}">
                <a16:creationId xmlns:a16="http://schemas.microsoft.com/office/drawing/2014/main" id="{FAFB7A77-CF30-41B5-AA69-6FA01F6F2E38}"/>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 La unidad exige distinguir magnitudes/perceptos, interpretar evidencia, usar modelos con límites e integrar escenas complejas.</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1) distinguir e interpretar.</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2) comparar y calcular escalas/enmascaramiento.</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3) explicar habla y reflexiones.</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4) integrar pistas espaciales y delimitar inferencias.</a:t>
            </a:r>
          </a:p>
        </p:txBody>
      </p:sp>
      <p:sp>
        <p:nvSpPr>
          <p:cNvPr id="3" name="top-rail-1">
            <a:extLst xmlns:a="http://schemas.openxmlformats.org/drawingml/2006/main">
              <a:ext uri="{FF2B5EF4-FFF2-40B4-BE49-F238E27FC236}">
                <a16:creationId xmlns:a16="http://schemas.microsoft.com/office/drawing/2014/main" id="{9E9C0D31-2F0F-4DB2-9ACE-583BFAE08C3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3156F71D-873E-4C5D-8F9A-6B097E57BC0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B2554C59-2EFB-4AB7-B08F-E0ED22D3FCE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26FBD408-5E9E-4D42-A0B8-231F5448FE8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6B7FA2C3-3EEF-4839-BE00-79743ACB883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a:t>
            </a:r>
          </a:p>
        </p:txBody>
      </p:sp>
    </p:spTree>
    <p:extLst>
      <p:ext uri="{BB962C8B-B14F-4D97-AF65-F5344CB8AC3E}">
        <p14:creationId xmlns:p14="http://schemas.microsoft.com/office/powerpoint/2010/main" val="156191842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07-U07-DG-003-validated-png"/>
          <p:cNvPicPr>
            <a:picLocks xmlns:a="http://schemas.openxmlformats.org/drawingml/2006/main" noChangeAspect="1"/>
          </p:cNvPicPr>
          <p:nvPr/>
        </p:nvPicPr>
        <p:blipFill>
          <a:blip xmlns:r="http://schemas.openxmlformats.org/officeDocument/2006/relationships" xmlns:a="http://schemas.openxmlformats.org/drawingml/2006/main" r:embed="R819a67aa02644315"/>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6ABDCF8B-6405-451E-A535-0A20712CB2EC}"/>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unidad avanza por cuatro preguntas perceptuales</a:t>
            </a:r>
          </a:p>
        </p:txBody>
      </p:sp>
      <p:sp>
        <p:nvSpPr>
          <p:cNvPr id="3" name="diagram-footer">
            <a:extLst xmlns:a="http://schemas.openxmlformats.org/drawingml/2006/main">
              <a:ext uri="{FF2B5EF4-FFF2-40B4-BE49-F238E27FC236}">
                <a16:creationId xmlns:a16="http://schemas.microsoft.com/office/drawing/2014/main" id="{539F1B2F-C452-4D84-BF4F-ED569104838B}"/>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D63B6CC9-641A-4468-B6F9-82222EC94FF4}"/>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7265C6E5-931A-4687-AF04-717017894A0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8235D3C4-58DE-432A-9451-8445DCAE3E6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F347A466-B8C4-4AC5-B63F-01F99267CCB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E119A067-6C2B-4125-A20C-6B0BCB29E67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396999FB-7C9A-4D85-9C17-CD1B846C03F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a:t>
            </a:r>
          </a:p>
        </p:txBody>
      </p:sp>
    </p:spTree>
    <p:extLst>
      <p:ext uri="{BB962C8B-B14F-4D97-AF65-F5344CB8AC3E}">
        <p14:creationId xmlns:p14="http://schemas.microsoft.com/office/powerpoint/2010/main" val="1271479030"/>
      </p:ext>
    </p:extLst>
  </p:cSld>
</p:sld>
</file>

<file path=ppt/slides/slide8.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6" name="dark-eyebrow">
            <a:extLst xmlns:a="http://schemas.openxmlformats.org/drawingml/2006/main">
              <a:ext uri="{FF2B5EF4-FFF2-40B4-BE49-F238E27FC236}">
                <a16:creationId xmlns:a16="http://schemas.microsoft.com/office/drawing/2014/main" id="{6B9F7616-D96C-4893-987E-E3A68C320EBA}"/>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1 · RUTA CENTRAL</a:t>
            </a:r>
          </a:p>
        </p:txBody>
      </p:sp>
      <p:sp>
        <p:nvSpPr>
          <p:cNvPr id="2" name="divider-title">
            <a:extLst xmlns:a="http://schemas.openxmlformats.org/drawingml/2006/main">
              <a:ext uri="{FF2B5EF4-FFF2-40B4-BE49-F238E27FC236}">
                <a16:creationId xmlns:a16="http://schemas.microsoft.com/office/drawing/2014/main" id="{19CA1DA4-C32F-4876-A704-2D8E2596A2C1}"/>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Detectar no es cruzar una frontera rígida</a:t>
            </a:r>
          </a:p>
        </p:txBody>
      </p:sp>
      <p:sp>
        <p:nvSpPr>
          <p:cNvPr id="3" name="divider-subtitle">
            <a:extLst xmlns:a="http://schemas.openxmlformats.org/drawingml/2006/main">
              <a:ext uri="{FF2B5EF4-FFF2-40B4-BE49-F238E27FC236}">
                <a16:creationId xmlns:a16="http://schemas.microsoft.com/office/drawing/2014/main" id="{5095F193-C97E-484C-9A0E-CBE8AB24FD89}"/>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Un umbral depende de criterio, procedimiento y condiciones.</a:t>
            </a:r>
          </a:p>
        </p:txBody>
      </p:sp>
      <p:sp>
        <p:nvSpPr>
          <p:cNvPr id="4" name="divider-content">
            <a:extLst xmlns:a="http://schemas.openxmlformats.org/drawingml/2006/main">
              <a:ext uri="{FF2B5EF4-FFF2-40B4-BE49-F238E27FC236}">
                <a16:creationId xmlns:a16="http://schemas.microsoft.com/office/drawing/2014/main" id="{97B542A2-D9DA-4B05-96CA-01DF0DDC7394}"/>
              </a:ext>
            </a:extLst>
          </p:cNvPr>
          <p:cNvSpPr>
            <a:spLocks xmlns:a="http://schemas.openxmlformats.org/drawingml/2006/main" noGrp="1"/>
          </p:cNvSpPr>
          <p:nvPr/>
        </p:nvSpPr>
        <p:spPr>
          <a:xfrm xmlns:a="http://schemas.openxmlformats.org/drawingml/2006/main">
            <a:off x="2095500" y="44767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 Un umbral depende de criterio, procedimiento y condiciones.</a:t>
            </a:r>
          </a:p>
        </p:txBody>
      </p:sp>
      <p:sp>
        <p:nvSpPr>
          <p:cNvPr id="5" name="slide-number">
            <a:extLst xmlns:a="http://schemas.openxmlformats.org/drawingml/2006/main">
              <a:ext uri="{FF2B5EF4-FFF2-40B4-BE49-F238E27FC236}">
                <a16:creationId xmlns:a16="http://schemas.microsoft.com/office/drawing/2014/main" id="{FF2B301B-5C45-43D3-9AF1-48E29909DC1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8</a:t>
            </a:r>
          </a:p>
        </p:txBody>
      </p:sp>
    </p:spTree>
    <p:extLst>
      <p:ext uri="{BB962C8B-B14F-4D97-AF65-F5344CB8AC3E}">
        <p14:creationId xmlns:p14="http://schemas.microsoft.com/office/powerpoint/2010/main" val="11649023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09-U07-DG-004-validated-png"/>
          <p:cNvPicPr>
            <a:picLocks xmlns:a="http://schemas.openxmlformats.org/drawingml/2006/main" noChangeAspect="1"/>
          </p:cNvPicPr>
          <p:nvPr/>
        </p:nvPicPr>
        <p:blipFill>
          <a:blip xmlns:r="http://schemas.openxmlformats.org/officeDocument/2006/relationships" xmlns:a="http://schemas.openxmlformats.org/drawingml/2006/main" r:embed="R9eaf4933f5be4f69"/>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1F8A78E7-2417-4F7F-91AB-65B5216A6140}"/>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medición psicofísica une estímulo, tarea y respuesta</a:t>
            </a:r>
          </a:p>
        </p:txBody>
      </p:sp>
      <p:sp>
        <p:nvSpPr>
          <p:cNvPr id="3" name="diagram-footer">
            <a:extLst xmlns:a="http://schemas.openxmlformats.org/drawingml/2006/main">
              <a:ext uri="{FF2B5EF4-FFF2-40B4-BE49-F238E27FC236}">
                <a16:creationId xmlns:a16="http://schemas.microsoft.com/office/drawing/2014/main" id="{1B7E4200-71DA-459F-B693-4AA366ACD39D}"/>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30F86318-27A8-49B0-BF2D-C30E2E71B0B7}"/>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CA0CD746-D7B4-48A4-A53F-BE61D153155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98362673-645F-4B32-9105-86CBE2BD930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B1449793-3E32-4FEF-A814-BDF82A3CD3A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AA3F920E-5A15-4CEF-A281-D32390A8A12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54F66EE8-AC28-45B5-9AD8-07B6F7FDD12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a:t>
            </a:r>
          </a:p>
        </p:txBody>
      </p:sp>
    </p:spTree>
    <p:extLst>
      <p:ext uri="{BB962C8B-B14F-4D97-AF65-F5344CB8AC3E}">
        <p14:creationId xmlns:p14="http://schemas.microsoft.com/office/powerpoint/2010/main" val="9866304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10-U07-DG-005-validated-png"/>
          <p:cNvPicPr>
            <a:picLocks xmlns:a="http://schemas.openxmlformats.org/drawingml/2006/main" noChangeAspect="1"/>
          </p:cNvPicPr>
          <p:nvPr/>
        </p:nvPicPr>
        <p:blipFill>
          <a:blip xmlns:r="http://schemas.openxmlformats.org/officeDocument/2006/relationships" xmlns:a="http://schemas.openxmlformats.org/drawingml/2006/main" r:embed="R30d5f2b562d94a47"/>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69EBFD69-B0B7-4CB2-8B5B-DF634BADC28D}"/>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 mismo estímulo admite tareas diferentes</a:t>
            </a:r>
          </a:p>
        </p:txBody>
      </p:sp>
      <p:sp>
        <p:nvSpPr>
          <p:cNvPr id="3" name="diagram-footer">
            <a:extLst xmlns:a="http://schemas.openxmlformats.org/drawingml/2006/main">
              <a:ext uri="{FF2B5EF4-FFF2-40B4-BE49-F238E27FC236}">
                <a16:creationId xmlns:a16="http://schemas.microsoft.com/office/drawing/2014/main" id="{B30345AE-DDCC-42CB-B0FF-3C5614F6C3A8}"/>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D09C7716-E635-48D2-ADEB-9A600BFB712A}"/>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541D846C-35D2-496A-8335-77B9D285479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1DAFFEE3-0B07-4668-923C-6E9703FF87D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7B24E3EF-9942-4C28-8FC8-C419A4154BC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292FE400-FE72-4C43-A135-E611DBB0958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D5487081-87B8-494E-B8AE-4B3683A52DF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a:t>
            </a:r>
          </a:p>
        </p:txBody>
      </p:sp>
    </p:spTree>
    <p:extLst>
      <p:ext uri="{BB962C8B-B14F-4D97-AF65-F5344CB8AC3E}">
        <p14:creationId xmlns:p14="http://schemas.microsoft.com/office/powerpoint/2010/main" val="5674383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6868026F-522F-4AFF-B0F3-94328508746D}"/>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mismo tono puede responder preguntas distintas</a:t>
            </a:r>
          </a:p>
        </p:txBody>
      </p:sp>
      <p:sp>
        <p:nvSpPr>
          <p:cNvPr id="2" name="main-ideas">
            <a:extLst xmlns:a="http://schemas.openxmlformats.org/drawingml/2006/main">
              <a:ext uri="{FF2B5EF4-FFF2-40B4-BE49-F238E27FC236}">
                <a16:creationId xmlns:a16="http://schemas.microsoft.com/office/drawing/2014/main" id="{CF1B7876-CE20-4DE5-B16F-46ED05DDD21D}"/>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Una respuesta no existe fuera de la consigna.</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Mismo estímulo.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Tres tareas y tres resultados posibles.</a:t>
            </a:r>
          </a:p>
        </p:txBody>
      </p:sp>
      <p:sp>
        <p:nvSpPr>
          <p:cNvPr id="3" name="side-panel-box">
            <a:extLst xmlns:a="http://schemas.openxmlformats.org/drawingml/2006/main">
              <a:ext uri="{FF2B5EF4-FFF2-40B4-BE49-F238E27FC236}">
                <a16:creationId xmlns:a16="http://schemas.microsoft.com/office/drawing/2014/main" id="{D0CC1AB1-280D-4051-B8F0-1D36C833AB87}"/>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205F143F-61D3-4C79-A451-2283075EA33C}"/>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Ejemplo</a:t>
            </a:r>
          </a:p>
        </p:txBody>
      </p:sp>
      <p:sp>
        <p:nvSpPr>
          <p:cNvPr id="5" name="side-panel-body">
            <a:extLst xmlns:a="http://schemas.openxmlformats.org/drawingml/2006/main">
              <a:ext uri="{FF2B5EF4-FFF2-40B4-BE49-F238E27FC236}">
                <a16:creationId xmlns:a16="http://schemas.microsoft.com/office/drawing/2014/main" id="{2702DD6B-602D-4461-B0BA-BD0A0CB2B7D4}"/>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El mismo tono puede usarse para preguntar si está presente, cuál es más sonoro o de dónde proviene; cada consigna produce otra respuesta.</a:t>
            </a:r>
          </a:p>
        </p:txBody>
      </p:sp>
      <p:sp>
        <p:nvSpPr>
          <p:cNvPr id="6" name="top-rail-1">
            <a:extLst xmlns:a="http://schemas.openxmlformats.org/drawingml/2006/main">
              <a:ext uri="{FF2B5EF4-FFF2-40B4-BE49-F238E27FC236}">
                <a16:creationId xmlns:a16="http://schemas.microsoft.com/office/drawing/2014/main" id="{6835E06E-3952-4B8E-87A6-18A89C991EA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C57BAC1B-BEC1-4FD2-9511-FF2DE6DF2C0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696CBA37-F85F-4DD1-9A27-22F785AACDE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32233AD3-A2F1-4FAE-9405-76F474B1E8A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951EF141-F0BF-4328-8DDC-6B6A6AE4FC8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a:t>
            </a:r>
          </a:p>
        </p:txBody>
      </p:sp>
    </p:spTree>
    <p:extLst>
      <p:ext uri="{BB962C8B-B14F-4D97-AF65-F5344CB8AC3E}">
        <p14:creationId xmlns:p14="http://schemas.microsoft.com/office/powerpoint/2010/main" val="346191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CA7DF0D4-AEDE-49A1-915B-BA1430DE7CA3}"/>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criterio define qué se llama “detectado”</a:t>
            </a:r>
          </a:p>
        </p:txBody>
      </p:sp>
      <p:sp>
        <p:nvSpPr>
          <p:cNvPr id="2" name="main-ideas">
            <a:extLst xmlns:a="http://schemas.openxmlformats.org/drawingml/2006/main">
              <a:ext uri="{FF2B5EF4-FFF2-40B4-BE49-F238E27FC236}">
                <a16:creationId xmlns:a16="http://schemas.microsoft.com/office/drawing/2014/main" id="{AB03B475-6BB0-4256-9474-88DE0E01CD0E}"/>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Cerca del umbral, la proporción de respuestas cambia gradualmente.</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Compare relaciones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proximidad entre cajas no representa una escala.</a:t>
            </a:r>
          </a:p>
        </p:txBody>
      </p:sp>
      <p:sp>
        <p:nvSpPr>
          <p:cNvPr id="3" name="side-panel-box">
            <a:extLst xmlns:a="http://schemas.openxmlformats.org/drawingml/2006/main">
              <a:ext uri="{FF2B5EF4-FFF2-40B4-BE49-F238E27FC236}">
                <a16:creationId xmlns:a16="http://schemas.microsoft.com/office/drawing/2014/main" id="{AE437A2B-48F8-447F-81B4-E7AF47AB3453}"/>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00089A2F-58B9-4503-8499-5942BBE05202}"/>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Ejemplo</a:t>
            </a:r>
          </a:p>
        </p:txBody>
      </p:sp>
      <p:sp>
        <p:nvSpPr>
          <p:cNvPr id="5" name="side-panel-body">
            <a:extLst xmlns:a="http://schemas.openxmlformats.org/drawingml/2006/main">
              <a:ext uri="{FF2B5EF4-FFF2-40B4-BE49-F238E27FC236}">
                <a16:creationId xmlns:a16="http://schemas.microsoft.com/office/drawing/2014/main" id="{48A299C7-8E08-4DDB-B69B-49A0E64914C2}"/>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En diez ensayos, seis respuestas afirmativas no describen una frontera física: describen una proporción para ese criterio.</a:t>
            </a:r>
          </a:p>
        </p:txBody>
      </p:sp>
      <p:sp>
        <p:nvSpPr>
          <p:cNvPr id="6" name="top-rail-1">
            <a:extLst xmlns:a="http://schemas.openxmlformats.org/drawingml/2006/main">
              <a:ext uri="{FF2B5EF4-FFF2-40B4-BE49-F238E27FC236}">
                <a16:creationId xmlns:a16="http://schemas.microsoft.com/office/drawing/2014/main" id="{0EF27135-EC3F-4217-8ACF-81E96161B15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56FB42A8-C5DE-405F-963D-D350C418868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DBE10EF8-98FA-4EC8-B913-73EABE49F51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D070CE33-AB61-4163-8E69-AB2D19B2F7E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C63C10BF-6675-40D7-B161-047A15133EC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a:t>
            </a:r>
          </a:p>
        </p:txBody>
      </p:sp>
    </p:spTree>
    <p:extLst>
      <p:ext uri="{BB962C8B-B14F-4D97-AF65-F5344CB8AC3E}">
        <p14:creationId xmlns:p14="http://schemas.microsoft.com/office/powerpoint/2010/main" val="192697577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05C04F2-1678-486C-9D6C-5DAC52C81B85}"/>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umbral es un nivel asociado con un criterio</a:t>
            </a:r>
          </a:p>
        </p:txBody>
      </p:sp>
      <p:sp>
        <p:nvSpPr>
          <p:cNvPr id="2" name="main-ideas">
            <a:extLst xmlns:a="http://schemas.openxmlformats.org/drawingml/2006/main">
              <a:ext uri="{FF2B5EF4-FFF2-40B4-BE49-F238E27FC236}">
                <a16:creationId xmlns:a16="http://schemas.microsoft.com/office/drawing/2014/main" id="{49B6AC74-8606-4190-8D43-BC8D26D6C76F}"/>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No es una propiedad fija ni una frontera instantánea.</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Definición completa.</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Ausencia de enmascarador deliberado.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Condiciones.</a:t>
            </a:r>
          </a:p>
        </p:txBody>
      </p:sp>
      <p:sp>
        <p:nvSpPr>
          <p:cNvPr id="3" name="side-panel-box">
            <a:extLst xmlns:a="http://schemas.openxmlformats.org/drawingml/2006/main">
              <a:ext uri="{FF2B5EF4-FFF2-40B4-BE49-F238E27FC236}">
                <a16:creationId xmlns:a16="http://schemas.microsoft.com/office/drawing/2014/main" id="{978E062A-6E9E-4B14-A21A-D4B98F8BDBA5}"/>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F39FD905-2692-4292-891A-A10A750CD638}"/>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B65BDDCC-8421-4190-B136-4470907E1A8B}"/>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Umbral auditivo: nivel mínimo detectable bajo un procedimiento y un criterio especificados, sin enmascarador deliberado en el caso absoluto.</a:t>
            </a:r>
          </a:p>
        </p:txBody>
      </p:sp>
      <p:sp>
        <p:nvSpPr>
          <p:cNvPr id="6" name="top-rail-1">
            <a:extLst xmlns:a="http://schemas.openxmlformats.org/drawingml/2006/main">
              <a:ext uri="{FF2B5EF4-FFF2-40B4-BE49-F238E27FC236}">
                <a16:creationId xmlns:a16="http://schemas.microsoft.com/office/drawing/2014/main" id="{DF793270-D29F-4E98-8607-3B836024F68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2DDEF35B-975E-4FEC-8B96-5F3429A213A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303AEE06-51F0-408D-9DB2-56A986AA4FE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37FDC7FA-BCB5-4F62-B482-387A1EF2916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920A4E02-ABBA-4660-A907-50636ABE173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a:t>
            </a:r>
          </a:p>
        </p:txBody>
      </p:sp>
    </p:spTree>
    <p:extLst>
      <p:ext uri="{BB962C8B-B14F-4D97-AF65-F5344CB8AC3E}">
        <p14:creationId xmlns:p14="http://schemas.microsoft.com/office/powerpoint/2010/main" val="9866304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72036FD-6B2C-4ABA-8362-534AD9583EB7}"/>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Cerca del umbral, la detección cambia gradualmente</a:t>
            </a:r>
          </a:p>
        </p:txBody>
      </p:sp>
      <p:pic>
        <p:nvPicPr>
          <p:cNvPr id="10" name="U07-014-U07-CH-001"/>
          <p:cNvPicPr>
            <a:picLocks xmlns:a="http://schemas.openxmlformats.org/drawingml/2006/main" noChangeAspect="1"/>
          </p:cNvPicPr>
          <p:nvPr/>
        </p:nvPicPr>
        <p:blipFill>
          <a:blip xmlns:r="http://schemas.openxmlformats.org/officeDocument/2006/relationships" xmlns:a="http://schemas.openxmlformats.org/drawingml/2006/main" r:embed="Re732e079c41241d3">
            <a:extLst>
              <a:ext uri="{96DAC541-7B7A-43D3-8B79-37D633B846F1}">
                <asvg:svgBlip xmlns:asvg="http://schemas.microsoft.com/office/drawing/2016/SVG/main" r:embed="R3858afc2172f47ec"/>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2B76A834-33C3-4DF5-99C5-3BA1C9E36AEF}"/>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La detección aumenta gradualmente con el nivel; el criterio del 50 % define L₅₀ para este procedimiento, no un umbral universal.</a:t>
            </a:r>
          </a:p>
        </p:txBody>
      </p:sp>
      <p:sp>
        <p:nvSpPr>
          <p:cNvPr id="4" name="top-rail-1">
            <a:extLst xmlns:a="http://schemas.openxmlformats.org/drawingml/2006/main">
              <a:ext uri="{FF2B5EF4-FFF2-40B4-BE49-F238E27FC236}">
                <a16:creationId xmlns:a16="http://schemas.microsoft.com/office/drawing/2014/main" id="{511A2DEA-D35B-4AEE-83B6-67965EDA656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BE8B351C-5B72-4343-A28E-9F3DC49E23A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F84D6DCE-367D-44FB-AAA0-078F94BD150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79E110D7-AE26-4623-824C-275037A0B68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8" name="slide-number">
            <a:extLst xmlns:a="http://schemas.openxmlformats.org/drawingml/2006/main">
              <a:ext uri="{FF2B5EF4-FFF2-40B4-BE49-F238E27FC236}">
                <a16:creationId xmlns:a16="http://schemas.microsoft.com/office/drawing/2014/main" id="{D32215C5-7F7C-4C5A-93CD-18326F1DA13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14</a:t>
            </a:r>
          </a:p>
        </p:txBody>
      </p:sp>
    </p:spTree>
    <p:extLst>
      <p:ext uri="{BB962C8B-B14F-4D97-AF65-F5344CB8AC3E}">
        <p14:creationId xmlns:p14="http://schemas.microsoft.com/office/powerpoint/2010/main" val="486490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8C8EF1D7-13E3-4E25-81A6-9560106C4262}"/>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Una curva de umbral reúne muchas mediciones</a:t>
            </a:r>
          </a:p>
        </p:txBody>
      </p:sp>
      <p:pic>
        <p:nvPicPr>
          <p:cNvPr id="10" name="U07-015-U07-CH-002A"/>
          <p:cNvPicPr>
            <a:picLocks xmlns:a="http://schemas.openxmlformats.org/drawingml/2006/main" noChangeAspect="1"/>
          </p:cNvPicPr>
          <p:nvPr/>
        </p:nvPicPr>
        <p:blipFill>
          <a:blip xmlns:r="http://schemas.openxmlformats.org/officeDocument/2006/relationships" xmlns:a="http://schemas.openxmlformats.org/drawingml/2006/main" r:embed="Rb84241b5f1fb4d19">
            <a:extLst>
              <a:ext uri="{96DAC541-7B7A-43D3-8B79-37D633B846F1}">
                <asvg:svgBlip xmlns:asvg="http://schemas.microsoft.com/office/drawing/2016/SVG/main" r:embed="R8f121dcf4d7b4bb9"/>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8D3DF4A6-168E-472D-91F7-013D4AEF3EFF}"/>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Esquema cualitativo del umbral condicionado por la frecuencia, con mayor sensibilidad en la región media.</a:t>
            </a:r>
          </a:p>
        </p:txBody>
      </p:sp>
      <p:sp>
        <p:nvSpPr>
          <p:cNvPr id="4" name="top-rail-1">
            <a:extLst xmlns:a="http://schemas.openxmlformats.org/drawingml/2006/main">
              <a:ext uri="{FF2B5EF4-FFF2-40B4-BE49-F238E27FC236}">
                <a16:creationId xmlns:a16="http://schemas.microsoft.com/office/drawing/2014/main" id="{AF1F8C03-E7D9-4FA9-8E53-4A0F3CDC427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B92D2C19-AFD7-4C30-9846-B9704C19695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3E9EFE10-6D17-4107-AD68-1F892596117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1FCE0A94-E722-4303-9EE0-1A2EED756C9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8" name="slide-number">
            <a:extLst xmlns:a="http://schemas.openxmlformats.org/drawingml/2006/main">
              <a:ext uri="{FF2B5EF4-FFF2-40B4-BE49-F238E27FC236}">
                <a16:creationId xmlns:a16="http://schemas.microsoft.com/office/drawing/2014/main" id="{C0CB6DE0-6B00-432A-AC53-785C41215A1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15</a:t>
            </a:r>
          </a:p>
        </p:txBody>
      </p:sp>
    </p:spTree>
    <p:extLst>
      <p:ext uri="{BB962C8B-B14F-4D97-AF65-F5344CB8AC3E}">
        <p14:creationId xmlns:p14="http://schemas.microsoft.com/office/powerpoint/2010/main" val="486490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9BB4A41-335A-4BFF-8C2D-A2F83307062B}"/>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Máxima sensibilidad significa menor nivel umbral</a:t>
            </a:r>
          </a:p>
        </p:txBody>
      </p:sp>
      <p:pic>
        <p:nvPicPr>
          <p:cNvPr id="10" name="U07-016-U07-CH-002B"/>
          <p:cNvPicPr>
            <a:picLocks xmlns:a="http://schemas.openxmlformats.org/drawingml/2006/main" noChangeAspect="1"/>
          </p:cNvPicPr>
          <p:nvPr/>
        </p:nvPicPr>
        <p:blipFill>
          <a:blip xmlns:r="http://schemas.openxmlformats.org/officeDocument/2006/relationships" xmlns:a="http://schemas.openxmlformats.org/drawingml/2006/main" r:embed="Rc51853f5861f433c">
            <a:extLst>
              <a:ext uri="{96DAC541-7B7A-43D3-8B79-37D633B846F1}">
                <asvg:svgBlip xmlns:asvg="http://schemas.microsoft.com/office/drawing/2016/SVG/main" r:embed="R52ee85dea3f24fcc"/>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3AFA35F4-E592-413B-AF0B-E11A669BFA2C}"/>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Campo audible conceptual: el límite inferior depende de la frecuencia y el límite superior no se cuantifica.</a:t>
            </a:r>
          </a:p>
        </p:txBody>
      </p:sp>
      <p:sp>
        <p:nvSpPr>
          <p:cNvPr id="4" name="top-rail-1">
            <a:extLst xmlns:a="http://schemas.openxmlformats.org/drawingml/2006/main">
              <a:ext uri="{FF2B5EF4-FFF2-40B4-BE49-F238E27FC236}">
                <a16:creationId xmlns:a16="http://schemas.microsoft.com/office/drawing/2014/main" id="{18BC5D89-C9BB-4E64-AD30-0C894549E9F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63AF6992-5A5E-4196-8CA9-A57C5D8B44E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F7D38FB4-533F-469C-838C-89AF2C7A98B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B6FABEFA-0FCF-482E-BCD6-632802CAF14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8" name="slide-number">
            <a:extLst xmlns:a="http://schemas.openxmlformats.org/drawingml/2006/main">
              <a:ext uri="{FF2B5EF4-FFF2-40B4-BE49-F238E27FC236}">
                <a16:creationId xmlns:a16="http://schemas.microsoft.com/office/drawing/2014/main" id="{80123616-3FC8-47F0-BE62-EE0A6296C24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16</a:t>
            </a:r>
          </a:p>
        </p:txBody>
      </p:sp>
    </p:spTree>
    <p:extLst>
      <p:ext uri="{BB962C8B-B14F-4D97-AF65-F5344CB8AC3E}">
        <p14:creationId xmlns:p14="http://schemas.microsoft.com/office/powerpoint/2010/main" val="19954492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39E9246-9A5B-43C1-A330-0BBBBC8132EA}"/>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0 dB SPL no es el umbral universal</a:t>
            </a:r>
          </a:p>
        </p:txBody>
      </p:sp>
      <p:pic>
        <p:nvPicPr>
          <p:cNvPr id="10" name="U07-017-U07-CH-002B"/>
          <p:cNvPicPr>
            <a:picLocks xmlns:a="http://schemas.openxmlformats.org/drawingml/2006/main" noChangeAspect="1"/>
          </p:cNvPicPr>
          <p:nvPr/>
        </p:nvPicPr>
        <p:blipFill>
          <a:blip xmlns:r="http://schemas.openxmlformats.org/officeDocument/2006/relationships" xmlns:a="http://schemas.openxmlformats.org/drawingml/2006/main" r:embed="R3d207e4964124f91">
            <a:extLst>
              <a:ext uri="{96DAC541-7B7A-43D3-8B79-37D633B846F1}">
                <asvg:svgBlip xmlns:asvg="http://schemas.microsoft.com/office/drawing/2016/SVG/main" r:embed="R27691e1001cc49b7"/>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E25D4390-ADCA-423E-AFE6-0BA6288A9DCB}"/>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Cero dB SPL indica igualdad con la presión de referencia, no detección garantizada.</a:t>
            </a:r>
          </a:p>
        </p:txBody>
      </p:sp>
      <p:sp>
        <p:nvSpPr>
          <p:cNvPr id="4" name="top-rail-1">
            <a:extLst xmlns:a="http://schemas.openxmlformats.org/drawingml/2006/main">
              <a:ext uri="{FF2B5EF4-FFF2-40B4-BE49-F238E27FC236}">
                <a16:creationId xmlns:a16="http://schemas.microsoft.com/office/drawing/2014/main" id="{FA04E448-09A4-4DA8-B87F-C78F6CCB7A8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50E06244-7615-4C9D-99E0-635E16E0BCC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0DDC4111-A68A-4030-B6E1-BBF70C05A18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EE534A19-26C2-43D7-B771-A5E56A1CEDE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8" name="slide-number">
            <a:extLst xmlns:a="http://schemas.openxmlformats.org/drawingml/2006/main">
              <a:ext uri="{FF2B5EF4-FFF2-40B4-BE49-F238E27FC236}">
                <a16:creationId xmlns:a16="http://schemas.microsoft.com/office/drawing/2014/main" id="{00A5F40B-15E7-4D2F-B7B7-75F57C5EB5A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17</a:t>
            </a:r>
          </a:p>
        </p:txBody>
      </p:sp>
    </p:spTree>
    <p:extLst>
      <p:ext uri="{BB962C8B-B14F-4D97-AF65-F5344CB8AC3E}">
        <p14:creationId xmlns:p14="http://schemas.microsoft.com/office/powerpoint/2010/main" val="17413291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18-U07-DG-006-validated-png"/>
          <p:cNvPicPr>
            <a:picLocks xmlns:a="http://schemas.openxmlformats.org/drawingml/2006/main" noChangeAspect="1"/>
          </p:cNvPicPr>
          <p:nvPr/>
        </p:nvPicPr>
        <p:blipFill>
          <a:blip xmlns:r="http://schemas.openxmlformats.org/officeDocument/2006/relationships" xmlns:a="http://schemas.openxmlformats.org/drawingml/2006/main" r:embed="Rd45cf3dc13ca4e8e"/>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71630BB7-2215-410A-B250-99B216073936}"/>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 dato psicofísico necesita sus condiciones</a:t>
            </a:r>
          </a:p>
        </p:txBody>
      </p:sp>
      <p:sp>
        <p:nvSpPr>
          <p:cNvPr id="3" name="diagram-footer">
            <a:extLst xmlns:a="http://schemas.openxmlformats.org/drawingml/2006/main">
              <a:ext uri="{FF2B5EF4-FFF2-40B4-BE49-F238E27FC236}">
                <a16:creationId xmlns:a16="http://schemas.microsoft.com/office/drawing/2014/main" id="{58BBD6D1-928A-455A-9ED0-CF49B6DD4A69}"/>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FBB50118-4D1C-4F03-9359-407EAC9C5072}"/>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4BD4C495-F81A-4D16-A528-BE0685433F3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BB24323C-5D91-429E-BDD7-758975408A3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2A2F9245-E8A6-4EC1-8667-F44D863ADD6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3A5B7112-3A73-401D-B0E7-5DBDBA92DC5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C2F52109-A6E4-4AF1-BEFF-4BC4180DFE5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18</a:t>
            </a:r>
          </a:p>
        </p:txBody>
      </p:sp>
    </p:spTree>
    <p:extLst>
      <p:ext uri="{BB962C8B-B14F-4D97-AF65-F5344CB8AC3E}">
        <p14:creationId xmlns:p14="http://schemas.microsoft.com/office/powerpoint/2010/main" val="28154637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19-U07-DG-004-validated-png"/>
          <p:cNvPicPr>
            <a:picLocks xmlns:a="http://schemas.openxmlformats.org/drawingml/2006/main" noChangeAspect="1"/>
          </p:cNvPicPr>
          <p:nvPr/>
        </p:nvPicPr>
        <p:blipFill>
          <a:blip xmlns:r="http://schemas.openxmlformats.org/officeDocument/2006/relationships" xmlns:a="http://schemas.openxmlformats.org/drawingml/2006/main" r:embed="R91842e9f5dbd4c72"/>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4C8588B2-7FDF-487D-A0A2-5733F6116465}"/>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medición psicofísica une estímulo, tarea y respuesta</a:t>
            </a:r>
          </a:p>
        </p:txBody>
      </p:sp>
      <p:sp>
        <p:nvSpPr>
          <p:cNvPr id="3" name="diagram-footer">
            <a:extLst xmlns:a="http://schemas.openxmlformats.org/drawingml/2006/main">
              <a:ext uri="{FF2B5EF4-FFF2-40B4-BE49-F238E27FC236}">
                <a16:creationId xmlns:a16="http://schemas.microsoft.com/office/drawing/2014/main" id="{8A658E0E-B633-493E-932F-DF0BE43920EA}"/>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AD9CADCD-5CFF-4B8D-AF28-8F8D08245B52}"/>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799DCE28-22C9-4D43-A5B9-6F1C7F28FFD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D5BD4D1D-D7BF-41BC-82FC-6AD2CBE70F04}"/>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6FFD6B23-A35F-4881-82BE-6137C2325CA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9F039F3B-2B5E-4502-BCDC-130F5D12369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CB8A271B-9573-4680-A347-3C631F2CB7C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19</a:t>
            </a:r>
          </a:p>
        </p:txBody>
      </p:sp>
    </p:spTree>
    <p:extLst>
      <p:ext uri="{BB962C8B-B14F-4D97-AF65-F5344CB8AC3E}">
        <p14:creationId xmlns:p14="http://schemas.microsoft.com/office/powerpoint/2010/main" val="1320203634"/>
      </p:ext>
    </p:extLst>
  </p:cSld>
</p:sld>
</file>

<file path=ppt/slides/slide20.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6" name="dark-eyebrow">
            <a:extLst xmlns:a="http://schemas.openxmlformats.org/drawingml/2006/main">
              <a:ext uri="{FF2B5EF4-FFF2-40B4-BE49-F238E27FC236}">
                <a16:creationId xmlns:a16="http://schemas.microsoft.com/office/drawing/2014/main" id="{BA9195CB-5752-48F5-927C-50DCCE7B06BB}"/>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1 · RUTA CENTRAL</a:t>
            </a:r>
          </a:p>
        </p:txBody>
      </p:sp>
      <p:sp>
        <p:nvSpPr>
          <p:cNvPr id="2" name="divider-title">
            <a:extLst xmlns:a="http://schemas.openxmlformats.org/drawingml/2006/main">
              <a:ext uri="{FF2B5EF4-FFF2-40B4-BE49-F238E27FC236}">
                <a16:creationId xmlns:a16="http://schemas.microsoft.com/office/drawing/2014/main" id="{017F3B79-CCFF-44F5-81B9-0CD7A7A39434}"/>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El nivel depende de dónde se mide</a:t>
            </a:r>
          </a:p>
        </p:txBody>
      </p:sp>
      <p:sp>
        <p:nvSpPr>
          <p:cNvPr id="3" name="divider-subtitle">
            <a:extLst xmlns:a="http://schemas.openxmlformats.org/drawingml/2006/main">
              <a:ext uri="{FF2B5EF4-FFF2-40B4-BE49-F238E27FC236}">
                <a16:creationId xmlns:a16="http://schemas.microsoft.com/office/drawing/2014/main" id="{7F98A273-A8AA-4C97-9107-D45E40D74417}"/>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Campo libre y tímpano son posiciones físicas diferentes.</a:t>
            </a:r>
          </a:p>
        </p:txBody>
      </p:sp>
      <p:sp>
        <p:nvSpPr>
          <p:cNvPr id="4" name="divider-content">
            <a:extLst xmlns:a="http://schemas.openxmlformats.org/drawingml/2006/main">
              <a:ext uri="{FF2B5EF4-FFF2-40B4-BE49-F238E27FC236}">
                <a16:creationId xmlns:a16="http://schemas.microsoft.com/office/drawing/2014/main" id="{AE8EB7AA-3F91-442D-AE02-7DF2EF669F33}"/>
              </a:ext>
            </a:extLst>
          </p:cNvPr>
          <p:cNvSpPr>
            <a:spLocks xmlns:a="http://schemas.openxmlformats.org/drawingml/2006/main" noGrp="1"/>
          </p:cNvSpPr>
          <p:nvPr/>
        </p:nvSpPr>
        <p:spPr>
          <a:xfrm xmlns:a="http://schemas.openxmlformats.org/drawingml/2006/main">
            <a:off x="2095500" y="44767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 Campo libre y tímpano son posiciones físicas diferentes.</a:t>
            </a:r>
          </a:p>
        </p:txBody>
      </p:sp>
      <p:sp>
        <p:nvSpPr>
          <p:cNvPr id="5" name="slide-number">
            <a:extLst xmlns:a="http://schemas.openxmlformats.org/drawingml/2006/main">
              <a:ext uri="{FF2B5EF4-FFF2-40B4-BE49-F238E27FC236}">
                <a16:creationId xmlns:a16="http://schemas.microsoft.com/office/drawing/2014/main" id="{EAB35585-35E7-4A4A-8EB1-22EE1FF19E8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20</a:t>
            </a:r>
          </a:p>
        </p:txBody>
      </p:sp>
    </p:spTree>
    <p:extLst>
      <p:ext uri="{BB962C8B-B14F-4D97-AF65-F5344CB8AC3E}">
        <p14:creationId xmlns:p14="http://schemas.microsoft.com/office/powerpoint/2010/main" val="116490234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21-U07-DG-007-validated-png"/>
          <p:cNvPicPr>
            <a:picLocks xmlns:a="http://schemas.openxmlformats.org/drawingml/2006/main" noChangeAspect="1"/>
          </p:cNvPicPr>
          <p:nvPr/>
        </p:nvPicPr>
        <p:blipFill>
          <a:blip xmlns:r="http://schemas.openxmlformats.org/officeDocument/2006/relationships" xmlns:a="http://schemas.openxmlformats.org/drawingml/2006/main" r:embed="R3802d051e8884f61"/>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5A33E037-809D-4295-8663-A9BCB216B50C}"/>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Campo libre: fuente, dirección y punto de referencia</a:t>
            </a:r>
          </a:p>
        </p:txBody>
      </p:sp>
      <p:sp>
        <p:nvSpPr>
          <p:cNvPr id="3" name="diagram-footer">
            <a:extLst xmlns:a="http://schemas.openxmlformats.org/drawingml/2006/main">
              <a:ext uri="{FF2B5EF4-FFF2-40B4-BE49-F238E27FC236}">
                <a16:creationId xmlns:a16="http://schemas.microsoft.com/office/drawing/2014/main" id="{A18D82C2-921D-4161-8EBF-79DDD12337A8}"/>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AA1F513B-580C-4D7C-B272-75E37EE70176}"/>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5913A592-61DF-4CEC-A36B-77BC8B33440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A188D888-D0F3-47E6-B319-DA680A4B202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B895F0E3-0010-4A6E-A5BB-EC2820F1307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04CC2497-E31D-40AF-A47A-91DEF239F33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D1C3496A-106C-4DDA-87B4-86EF80D8F48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21</a:t>
            </a:r>
          </a:p>
        </p:txBody>
      </p:sp>
    </p:spTree>
    <p:extLst>
      <p:ext uri="{BB962C8B-B14F-4D97-AF65-F5344CB8AC3E}">
        <p14:creationId xmlns:p14="http://schemas.microsoft.com/office/powerpoint/2010/main" val="192697577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22-U07-DG-008-validated-png"/>
          <p:cNvPicPr>
            <a:picLocks xmlns:a="http://schemas.openxmlformats.org/drawingml/2006/main" noChangeAspect="1"/>
          </p:cNvPicPr>
          <p:nvPr/>
        </p:nvPicPr>
        <p:blipFill>
          <a:blip xmlns:r="http://schemas.openxmlformats.org/officeDocument/2006/relationships" xmlns:a="http://schemas.openxmlformats.org/drawingml/2006/main" r:embed="R9ec04dd6d0714381"/>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E01477F6-FB71-4303-AA6F-1DF8E14C8723}"/>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presión cambia entre el campo y el tímpano</a:t>
            </a:r>
          </a:p>
        </p:txBody>
      </p:sp>
      <p:sp>
        <p:nvSpPr>
          <p:cNvPr id="3" name="diagram-footer">
            <a:extLst xmlns:a="http://schemas.openxmlformats.org/drawingml/2006/main">
              <a:ext uri="{FF2B5EF4-FFF2-40B4-BE49-F238E27FC236}">
                <a16:creationId xmlns:a16="http://schemas.microsoft.com/office/drawing/2014/main" id="{C62EE13B-9D78-4349-92A9-19DEB7216A82}"/>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07FA97CA-BF5E-49B5-B84C-401FFEF4DDED}"/>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B388D0D0-40F9-4B69-87B5-01DEF263658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B59DA96B-2110-46D6-9473-DB1EA237109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0D40D640-F22F-4F80-A43C-E0A0F21A7F3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5FE797C9-8819-4853-93CE-7F1E96E00AE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890C2853-F45D-4843-8839-5188351D2AD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22</a:t>
            </a:r>
          </a:p>
        </p:txBody>
      </p:sp>
    </p:spTree>
    <p:extLst>
      <p:ext uri="{BB962C8B-B14F-4D97-AF65-F5344CB8AC3E}">
        <p14:creationId xmlns:p14="http://schemas.microsoft.com/office/powerpoint/2010/main" val="199544924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69675EF7-9B5E-43F4-B5C2-7224A561B97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G(CT) compara dos posiciones de medición</a:t>
            </a:r>
          </a:p>
        </p:txBody>
      </p:sp>
      <p:sp>
        <p:nvSpPr>
          <p:cNvPr id="2" name="equation-box">
            <a:extLst xmlns:a="http://schemas.openxmlformats.org/drawingml/2006/main">
              <a:ext uri="{FF2B5EF4-FFF2-40B4-BE49-F238E27FC236}">
                <a16:creationId xmlns:a16="http://schemas.microsoft.com/office/drawing/2014/main" id="{8B434087-E496-4B85-AE32-9B5AF0285754}"/>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34ED283A-9A1F-4D53-B2CF-6BBD840BC306}"/>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550" b="1" i="0">
                <a:solidFill>
                  <a:srgbClr val="3D3D3D"/>
                </a:solidFill>
                <a:latin typeface="Cambria Math"/>
                <a:ea typeface="Cambria Math"/>
                <a:cs typeface="Cambria Math"/>
              </a:defRPr>
            </a:pPr>
            <a:r>
              <a:rPr sz="2550" b="1" i="0">
                <a:solidFill>
                  <a:srgbClr val="3D3D3D"/>
                </a:solidFill>
                <a:latin typeface="Cambria Math"/>
                <a:ea typeface="Cambria Math"/>
                <a:cs typeface="Cambria Math"/>
              </a:rPr>
              <a:t>G(CT)(f) = Lₚ,T(f) − Lₚ,campo(f); G(CT) es una diferencia en dB entre dos posiciones para la misma frecuencia.</a:t>
            </a:r>
          </a:p>
        </p:txBody>
      </p:sp>
      <p:sp>
        <p:nvSpPr>
          <p:cNvPr id="4" name="equation-interpretation-box">
            <a:extLst xmlns:a="http://schemas.openxmlformats.org/drawingml/2006/main">
              <a:ext uri="{FF2B5EF4-FFF2-40B4-BE49-F238E27FC236}">
                <a16:creationId xmlns:a16="http://schemas.microsoft.com/office/drawing/2014/main" id="{5D5F9CC9-CCE4-433C-8F6B-E480767A7E0E}"/>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BF218050-0A71-4C56-BC92-1BE766C61D7E}"/>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E6E53856-43C2-422D-ACA5-DE8010B8E90F}"/>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 Ecuación, símbolos, unidades y condiciones. Interpretar el resultado dentro de las condiciones indicadas.</a:t>
            </a:r>
          </a:p>
        </p:txBody>
      </p:sp>
      <p:sp>
        <p:nvSpPr>
          <p:cNvPr id="7" name="top-rail-1">
            <a:extLst xmlns:a="http://schemas.openxmlformats.org/drawingml/2006/main">
              <a:ext uri="{FF2B5EF4-FFF2-40B4-BE49-F238E27FC236}">
                <a16:creationId xmlns:a16="http://schemas.microsoft.com/office/drawing/2014/main" id="{5C1C696B-AC7C-4ECB-AF80-652EE7C73E3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F9102241-E03E-48AB-83DE-0B4B4C406B0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87AADA07-FBB0-4D1A-99CE-0FF4C2B7540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E1E75071-E187-4914-AA33-2B9856F5F67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1" name="slide-number">
            <a:extLst xmlns:a="http://schemas.openxmlformats.org/drawingml/2006/main">
              <a:ext uri="{FF2B5EF4-FFF2-40B4-BE49-F238E27FC236}">
                <a16:creationId xmlns:a16="http://schemas.microsoft.com/office/drawing/2014/main" id="{30845A13-8E76-4AF4-9B86-B92482CFE0A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23</a:t>
            </a:r>
          </a:p>
        </p:txBody>
      </p:sp>
    </p:spTree>
    <p:extLst>
      <p:ext uri="{BB962C8B-B14F-4D97-AF65-F5344CB8AC3E}">
        <p14:creationId xmlns:p14="http://schemas.microsoft.com/office/powerpoint/2010/main" val="160228647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41BF2993-5DF9-4BEB-AE50-9F1A5F823B10}"/>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De 50 a 58 dB SPL entre campo y tímpano</a:t>
            </a:r>
          </a:p>
        </p:txBody>
      </p:sp>
      <p:sp>
        <p:nvSpPr>
          <p:cNvPr id="2" name="equation-box">
            <a:extLst xmlns:a="http://schemas.openxmlformats.org/drawingml/2006/main">
              <a:ext uri="{FF2B5EF4-FFF2-40B4-BE49-F238E27FC236}">
                <a16:creationId xmlns:a16="http://schemas.microsoft.com/office/drawing/2014/main" id="{DCDF81F4-8B50-4C94-B55D-A6D75F3DE5C8}"/>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8AA5AA9A-EE1C-42B9-B14E-B459F2CD713A}"/>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G(CT) = 58 dB SPL − 50 dB SPL = 8 dB.</a:t>
            </a:r>
          </a:p>
        </p:txBody>
      </p:sp>
      <p:sp>
        <p:nvSpPr>
          <p:cNvPr id="4" name="equation-meaning-box">
            <a:extLst xmlns:a="http://schemas.openxmlformats.org/drawingml/2006/main">
              <a:ext uri="{FF2B5EF4-FFF2-40B4-BE49-F238E27FC236}">
                <a16:creationId xmlns:a16="http://schemas.microsoft.com/office/drawing/2014/main" id="{DA544D8B-9B6F-4C8F-AC9F-B813F23FD1A6}"/>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2CE29F05-6090-4460-B227-44CF299FD6E7}"/>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F5C19E20-404B-413A-B988-1DA307A83657}"/>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 Datos. Resta. Resultado. Qué no permite concluir. Interpretar el resultado dentro de las condiciones indicadas.</a:t>
            </a:r>
          </a:p>
        </p:txBody>
      </p:sp>
      <p:sp>
        <p:nvSpPr>
          <p:cNvPr id="7" name="equation-use-box">
            <a:extLst xmlns:a="http://schemas.openxmlformats.org/drawingml/2006/main">
              <a:ext uri="{FF2B5EF4-FFF2-40B4-BE49-F238E27FC236}">
                <a16:creationId xmlns:a16="http://schemas.microsoft.com/office/drawing/2014/main" id="{D75D49A7-3102-446B-8C5A-3C0840B8A821}"/>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B7C2CACD-32A1-4D32-BE1F-BBBB901FB9F9}"/>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DE72621B-0638-45B2-ADD4-B2FE2142F3F5}"/>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Campo: 50 dB SPL; próximo al tímpano: 58 dB SPL; diferencia: 8 dB para esa frecuencia y posición.</a:t>
            </a:r>
          </a:p>
        </p:txBody>
      </p:sp>
      <p:sp>
        <p:nvSpPr>
          <p:cNvPr id="10" name="top-rail-1">
            <a:extLst xmlns:a="http://schemas.openxmlformats.org/drawingml/2006/main">
              <a:ext uri="{FF2B5EF4-FFF2-40B4-BE49-F238E27FC236}">
                <a16:creationId xmlns:a16="http://schemas.microsoft.com/office/drawing/2014/main" id="{8D1B087A-1582-44EA-B3D0-EB39037141A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F69BAABE-A152-4346-8544-5A4BD54C75A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31BBAE7B-C620-41C9-8212-ECF9C6498C8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914FB5FB-5975-4817-8E22-845DA5E934F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4" name="slide-number">
            <a:extLst xmlns:a="http://schemas.openxmlformats.org/drawingml/2006/main">
              <a:ext uri="{FF2B5EF4-FFF2-40B4-BE49-F238E27FC236}">
                <a16:creationId xmlns:a16="http://schemas.microsoft.com/office/drawing/2014/main" id="{9A56DC89-0F3B-4203-9C57-4A2E6918C23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24</a:t>
            </a:r>
          </a:p>
        </p:txBody>
      </p:sp>
    </p:spTree>
    <p:extLst>
      <p:ext uri="{BB962C8B-B14F-4D97-AF65-F5344CB8AC3E}">
        <p14:creationId xmlns:p14="http://schemas.microsoft.com/office/powerpoint/2010/main" val="113363566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2055AE3-391A-43FF-B869-420CB2CDFABE}"/>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Una medición en CAE necesita posición y frecuencia</a:t>
            </a:r>
          </a:p>
        </p:txBody>
      </p:sp>
      <p:sp>
        <p:nvSpPr>
          <p:cNvPr id="2" name="main-ideas">
            <a:extLst xmlns:a="http://schemas.openxmlformats.org/drawingml/2006/main">
              <a:ext uri="{FF2B5EF4-FFF2-40B4-BE49-F238E27FC236}">
                <a16:creationId xmlns:a16="http://schemas.microsoft.com/office/drawing/2014/main" id="{087B0CBF-9C8E-476E-8F4B-BECB20EAEC05}"/>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Mover la sonda o cambiar dirección puede cambiar el estímulo medido.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Compare relaciones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proximidad entre cajas no representa una escala.</a:t>
            </a:r>
          </a:p>
        </p:txBody>
      </p:sp>
      <p:sp>
        <p:nvSpPr>
          <p:cNvPr id="3" name="top-rail-1">
            <a:extLst xmlns:a="http://schemas.openxmlformats.org/drawingml/2006/main">
              <a:ext uri="{FF2B5EF4-FFF2-40B4-BE49-F238E27FC236}">
                <a16:creationId xmlns:a16="http://schemas.microsoft.com/office/drawing/2014/main" id="{7D0F2F43-9CA2-4AA5-A6FA-8304985D70A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643EF126-3A02-44DA-B5FF-2D267A38D93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9EE9B437-6326-4A56-BE40-F20FDBA8F44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CC623D23-7B06-4944-B76C-15F61109C99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6FE6D7D1-9B77-4A0F-93DA-6216BA53E34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25</a:t>
            </a:r>
          </a:p>
        </p:txBody>
      </p:sp>
    </p:spTree>
    <p:extLst>
      <p:ext uri="{BB962C8B-B14F-4D97-AF65-F5344CB8AC3E}">
        <p14:creationId xmlns:p14="http://schemas.microsoft.com/office/powerpoint/2010/main" val="81705772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0AFFF17E-B83C-4730-9D29-118CD0E30FD9}"/>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resonancia del CAE participa, pero no fija una ganancia universal</a:t>
            </a:r>
          </a:p>
        </p:txBody>
      </p:sp>
      <p:pic>
        <p:nvPicPr>
          <p:cNvPr id="10" name="U07-026-U07-CH-003"/>
          <p:cNvPicPr>
            <a:picLocks xmlns:a="http://schemas.openxmlformats.org/drawingml/2006/main" noChangeAspect="1"/>
          </p:cNvPicPr>
          <p:nvPr/>
        </p:nvPicPr>
        <p:blipFill>
          <a:blip xmlns:r="http://schemas.openxmlformats.org/officeDocument/2006/relationships" xmlns:a="http://schemas.openxmlformats.org/drawingml/2006/main" r:embed="R3b871649deb141ac">
            <a:extLst>
              <a:ext uri="{96DAC541-7B7A-43D3-8B79-37D633B846F1}">
                <asvg:svgBlip xmlns:asvg="http://schemas.microsoft.com/office/drawing/2016/SVG/main" r:embed="Ra58395b35f8c43d4"/>
              </a:ext>
            </a:extLst>
          </a:blip>
          <a:stretch xmlns:a="http://schemas.openxmlformats.org/drawingml/2006/main"/>
        </p:blipFill>
        <p:spPr>
          <a:xfrm xmlns:a="http://schemas.openxmlformats.org/drawingml/2006/main">
            <a:off x="428625" y="1524000"/>
            <a:ext cx="11334750" cy="43815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3B898BC2-C561-4F19-9BA2-D7ADFA51EC75}"/>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La diferencia campo–tímpano cambia con la frecuencia y también depende de dirección, geometría y punto de medición.</a:t>
            </a:r>
          </a:p>
        </p:txBody>
      </p:sp>
      <p:sp>
        <p:nvSpPr>
          <p:cNvPr id="4" name="top-rail-1">
            <a:extLst xmlns:a="http://schemas.openxmlformats.org/drawingml/2006/main">
              <a:ext uri="{FF2B5EF4-FFF2-40B4-BE49-F238E27FC236}">
                <a16:creationId xmlns:a16="http://schemas.microsoft.com/office/drawing/2014/main" id="{A656D21C-11EE-4434-8D3E-382FC255B23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8A58CFC5-ABEC-46B4-B37E-6491BCCC246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271D94DE-5B98-47C4-836E-826289CB5A0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1F6C4DD5-AAFB-4458-94EB-D4D2D9ADDC2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8" name="slide-number">
            <a:extLst xmlns:a="http://schemas.openxmlformats.org/drawingml/2006/main">
              <a:ext uri="{FF2B5EF4-FFF2-40B4-BE49-F238E27FC236}">
                <a16:creationId xmlns:a16="http://schemas.microsoft.com/office/drawing/2014/main" id="{35704697-3091-4700-963A-744AF923942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26</a:t>
            </a:r>
          </a:p>
        </p:txBody>
      </p:sp>
    </p:spTree>
    <p:extLst>
      <p:ext uri="{BB962C8B-B14F-4D97-AF65-F5344CB8AC3E}">
        <p14:creationId xmlns:p14="http://schemas.microsoft.com/office/powerpoint/2010/main" val="168726306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8B76B508-6F04-4AF5-962E-520153CD47CD}"/>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¿Qué nivel necesita otro tono para sonar igual?</a:t>
            </a:r>
          </a:p>
        </p:txBody>
      </p:sp>
      <p:sp>
        <p:nvSpPr>
          <p:cNvPr id="2" name="slide-subtitle">
            <a:extLst xmlns:a="http://schemas.openxmlformats.org/drawingml/2006/main">
              <a:ext uri="{FF2B5EF4-FFF2-40B4-BE49-F238E27FC236}">
                <a16:creationId xmlns:a16="http://schemas.microsoft.com/office/drawing/2014/main" id="{D8C93E07-7613-4C99-A68E-1E2641876C81}"/>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CDAF9754-A1E7-449B-9949-117FD024D719}"/>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39454A22-2DD4-4B22-BD63-B93A4A2387A9}"/>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46799067-5369-4E03-9BA7-ECAD205F0037}"/>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 Compare un tono de referencia de 1 kHz con un tono de prueba. ¿Qué variable debe ajustarse para juzgarlos igualmente sonoros?</a:t>
            </a:r>
          </a:p>
        </p:txBody>
      </p:sp>
      <p:sp>
        <p:nvSpPr>
          <p:cNvPr id="6" name="answer-guide-box">
            <a:extLst xmlns:a="http://schemas.openxmlformats.org/drawingml/2006/main">
              <a:ext uri="{FF2B5EF4-FFF2-40B4-BE49-F238E27FC236}">
                <a16:creationId xmlns:a16="http://schemas.microsoft.com/office/drawing/2014/main" id="{97FFD193-E6D6-4AFE-86A3-D32DE2645490}"/>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E2DC7724-237E-45F7-97A2-20A2E8E0F5EE}"/>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DE992B4C-6CEF-4DB5-B750-5520A9F55940}"/>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Nombrá el objeto, identificá las magnitudes y justificá la relación causal.</a:t>
            </a:r>
          </a:p>
        </p:txBody>
      </p:sp>
      <p:sp>
        <p:nvSpPr>
          <p:cNvPr id="9" name="top-rail-1">
            <a:extLst xmlns:a="http://schemas.openxmlformats.org/drawingml/2006/main">
              <a:ext uri="{FF2B5EF4-FFF2-40B4-BE49-F238E27FC236}">
                <a16:creationId xmlns:a16="http://schemas.microsoft.com/office/drawing/2014/main" id="{3CF24060-D2B5-4188-8998-01C26591538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C17D3A5B-0FE9-4BBA-89B3-800FF2E1481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6E746736-549E-4882-B719-3D06C01F4ED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43A15E1D-5394-404B-92DD-38A3FA7312F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3" name="slide-number">
            <a:extLst xmlns:a="http://schemas.openxmlformats.org/drawingml/2006/main">
              <a:ext uri="{FF2B5EF4-FFF2-40B4-BE49-F238E27FC236}">
                <a16:creationId xmlns:a16="http://schemas.microsoft.com/office/drawing/2014/main" id="{2F7493C1-87D4-48DE-9783-7ED650BE150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27</a:t>
            </a:r>
          </a:p>
        </p:txBody>
      </p:sp>
    </p:spTree>
    <p:extLst>
      <p:ext uri="{BB962C8B-B14F-4D97-AF65-F5344CB8AC3E}">
        <p14:creationId xmlns:p14="http://schemas.microsoft.com/office/powerpoint/2010/main" val="167329715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28-U07-DG-011-validated-png"/>
          <p:cNvPicPr>
            <a:picLocks xmlns:a="http://schemas.openxmlformats.org/drawingml/2006/main" noChangeAspect="1"/>
          </p:cNvPicPr>
          <p:nvPr/>
        </p:nvPicPr>
        <p:blipFill>
          <a:blip xmlns:r="http://schemas.openxmlformats.org/officeDocument/2006/relationships" xmlns:a="http://schemas.openxmlformats.org/drawingml/2006/main" r:embed="R6049825ba02d4525"/>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6E4AE4C0-C911-44DB-B7E0-4DE0B2B2B1C2}"/>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Cada punto isofónico surge de una comparación</a:t>
            </a:r>
          </a:p>
        </p:txBody>
      </p:sp>
      <p:sp>
        <p:nvSpPr>
          <p:cNvPr id="3" name="diagram-footer">
            <a:extLst xmlns:a="http://schemas.openxmlformats.org/drawingml/2006/main">
              <a:ext uri="{FF2B5EF4-FFF2-40B4-BE49-F238E27FC236}">
                <a16:creationId xmlns:a16="http://schemas.microsoft.com/office/drawing/2014/main" id="{59DC57DE-2D63-4E7E-A934-64AF12E80557}"/>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45FD5B60-3069-41AB-B190-2DA58026F0E1}"/>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1573F2E8-CCDE-496E-A9E4-CBAE7F93486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5CFCCFE5-50E0-4F12-95BC-21ADE926F85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80200A85-6947-4402-B727-4E605809C20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4E74F786-FF68-4FBB-8E64-9B29802C2E2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F36EBECC-E9CC-4C0A-B6E7-98D3756DBF03}"/>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28</a:t>
            </a:r>
          </a:p>
        </p:txBody>
      </p:sp>
    </p:spTree>
    <p:extLst>
      <p:ext uri="{BB962C8B-B14F-4D97-AF65-F5344CB8AC3E}">
        <p14:creationId xmlns:p14="http://schemas.microsoft.com/office/powerpoint/2010/main" val="56743830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29-U07-DG-011-validated-png"/>
          <p:cNvPicPr>
            <a:picLocks xmlns:a="http://schemas.openxmlformats.org/drawingml/2006/main" noChangeAspect="1"/>
          </p:cNvPicPr>
          <p:nvPr/>
        </p:nvPicPr>
        <p:blipFill>
          <a:blip xmlns:r="http://schemas.openxmlformats.org/officeDocument/2006/relationships" xmlns:a="http://schemas.openxmlformats.org/drawingml/2006/main" r:embed="R52d31769e65046fd"/>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B20DB72B-557C-42DD-AA9C-A9AAE4975D63}"/>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Cada punto isofónico surge de una comparación</a:t>
            </a:r>
          </a:p>
        </p:txBody>
      </p:sp>
      <p:sp>
        <p:nvSpPr>
          <p:cNvPr id="3" name="diagram-footer">
            <a:extLst xmlns:a="http://schemas.openxmlformats.org/drawingml/2006/main">
              <a:ext uri="{FF2B5EF4-FFF2-40B4-BE49-F238E27FC236}">
                <a16:creationId xmlns:a16="http://schemas.microsoft.com/office/drawing/2014/main" id="{ADFCCF57-FA2C-4E0B-BD0E-2B39EE7FEEF1}"/>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FFA9E5DB-EA18-438E-A63E-C18152E6B1F4}"/>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520A0A39-1586-4CA7-982E-A1F81448D7B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732B427A-9B42-4849-8240-A73B8B9C357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68CFB7BD-5DED-4624-902A-ACEC41B9F14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3C750FB5-D408-4C2F-98D8-FDAD53BC188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469E7174-6EAB-463A-8F34-A65E707313B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29</a:t>
            </a:r>
          </a:p>
        </p:txBody>
      </p:sp>
    </p:spTree>
    <p:extLst>
      <p:ext uri="{BB962C8B-B14F-4D97-AF65-F5344CB8AC3E}">
        <p14:creationId xmlns:p14="http://schemas.microsoft.com/office/powerpoint/2010/main" val="4864900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30-U07-DG-011-validated-png"/>
          <p:cNvPicPr>
            <a:picLocks xmlns:a="http://schemas.openxmlformats.org/drawingml/2006/main" noChangeAspect="1"/>
          </p:cNvPicPr>
          <p:nvPr/>
        </p:nvPicPr>
        <p:blipFill>
          <a:blip xmlns:r="http://schemas.openxmlformats.org/officeDocument/2006/relationships" xmlns:a="http://schemas.openxmlformats.org/drawingml/2006/main" r:embed="R2b5332b7e34f47bc"/>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902A0CE-CA04-483C-9ABF-9FBCBEA4C6B4}"/>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Cada punto isofónico surge de una comparación</a:t>
            </a:r>
          </a:p>
        </p:txBody>
      </p:sp>
      <p:sp>
        <p:nvSpPr>
          <p:cNvPr id="3" name="diagram-footer">
            <a:extLst xmlns:a="http://schemas.openxmlformats.org/drawingml/2006/main">
              <a:ext uri="{FF2B5EF4-FFF2-40B4-BE49-F238E27FC236}">
                <a16:creationId xmlns:a16="http://schemas.microsoft.com/office/drawing/2014/main" id="{6511F188-2A14-46E4-967B-0937A066B6B5}"/>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A6F0775C-EA5B-4A5F-8C7E-6A77CEA107F2}"/>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8C0DED0A-87DB-417D-A35B-F4D9CEEC1E0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E4ECDD92-FC5C-4275-83CE-E72D84E4B30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03056FC6-5DAD-4227-9E99-E5BE8F76A0C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5DB535AD-3DC5-49F9-8EB5-4F362E9F23F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A5C2CDB1-0961-497E-B376-1D354C0B7953}"/>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30</a:t>
            </a:r>
          </a:p>
        </p:txBody>
      </p:sp>
    </p:spTree>
    <p:extLst>
      <p:ext uri="{BB962C8B-B14F-4D97-AF65-F5344CB8AC3E}">
        <p14:creationId xmlns:p14="http://schemas.microsoft.com/office/powerpoint/2010/main" val="167329715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31-U07-DG-008-validated-png"/>
          <p:cNvPicPr>
            <a:picLocks xmlns:a="http://schemas.openxmlformats.org/drawingml/2006/main" noChangeAspect="1"/>
          </p:cNvPicPr>
          <p:nvPr/>
        </p:nvPicPr>
        <p:blipFill>
          <a:blip xmlns:r="http://schemas.openxmlformats.org/officeDocument/2006/relationships" xmlns:a="http://schemas.openxmlformats.org/drawingml/2006/main" r:embed="R4e6c67a508654ec1"/>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2D27E3CB-1EDE-4DD5-8416-56D938FFE6CB}"/>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presión cambia entre el campo y el tímpano</a:t>
            </a:r>
          </a:p>
        </p:txBody>
      </p:sp>
      <p:sp>
        <p:nvSpPr>
          <p:cNvPr id="3" name="diagram-footer">
            <a:extLst xmlns:a="http://schemas.openxmlformats.org/drawingml/2006/main">
              <a:ext uri="{FF2B5EF4-FFF2-40B4-BE49-F238E27FC236}">
                <a16:creationId xmlns:a16="http://schemas.microsoft.com/office/drawing/2014/main" id="{0160D3BB-22A3-4F47-9E11-627C0E3DD293}"/>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3070902E-960A-487F-8508-A51721DE5CFA}"/>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E14B623D-354E-4D14-95C9-AD1635EDAF1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09FF007B-1AD6-48BF-BF88-DCB3C6C9D26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0A7191AE-D4B8-4C84-BB83-A6269A3EF3D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C739CE7F-97F2-466A-9F59-7E1EA6D905C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3AAA4C6E-DBE2-4670-8F02-843287E1485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31</a:t>
            </a:r>
          </a:p>
        </p:txBody>
      </p:sp>
    </p:spTree>
    <p:extLst>
      <p:ext uri="{BB962C8B-B14F-4D97-AF65-F5344CB8AC3E}">
        <p14:creationId xmlns:p14="http://schemas.microsoft.com/office/powerpoint/2010/main" val="1320203634"/>
      </p:ext>
    </p:extLst>
  </p:cSld>
</p:sld>
</file>

<file path=ppt/slides/slide32.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6" name="dark-eyebrow">
            <a:extLst xmlns:a="http://schemas.openxmlformats.org/drawingml/2006/main">
              <a:ext uri="{FF2B5EF4-FFF2-40B4-BE49-F238E27FC236}">
                <a16:creationId xmlns:a16="http://schemas.microsoft.com/office/drawing/2014/main" id="{93D16C6F-90C8-41A8-8203-136363B3265E}"/>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1 · RUTA CENTRAL</a:t>
            </a:r>
          </a:p>
        </p:txBody>
      </p:sp>
      <p:sp>
        <p:nvSpPr>
          <p:cNvPr id="2" name="divider-title">
            <a:extLst xmlns:a="http://schemas.openxmlformats.org/drawingml/2006/main">
              <a:ext uri="{FF2B5EF4-FFF2-40B4-BE49-F238E27FC236}">
                <a16:creationId xmlns:a16="http://schemas.microsoft.com/office/drawing/2014/main" id="{FD5B2907-451D-47A7-BB71-58A9431EEF1C}"/>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Un sonido puede describirse con varios atributos perceptuales</a:t>
            </a:r>
          </a:p>
        </p:txBody>
      </p:sp>
      <p:sp>
        <p:nvSpPr>
          <p:cNvPr id="3" name="divider-subtitle">
            <a:extLst xmlns:a="http://schemas.openxmlformats.org/drawingml/2006/main">
              <a:ext uri="{FF2B5EF4-FFF2-40B4-BE49-F238E27FC236}">
                <a16:creationId xmlns:a16="http://schemas.microsoft.com/office/drawing/2014/main" id="{BFC24FAF-B8A3-4388-90E5-4F17EEB823AC}"/>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Pitch, sonoridad, timbre y duración responden a rasgos diferentes.</a:t>
            </a:r>
          </a:p>
        </p:txBody>
      </p:sp>
      <p:sp>
        <p:nvSpPr>
          <p:cNvPr id="4" name="divider-content">
            <a:extLst xmlns:a="http://schemas.openxmlformats.org/drawingml/2006/main">
              <a:ext uri="{FF2B5EF4-FFF2-40B4-BE49-F238E27FC236}">
                <a16:creationId xmlns:a16="http://schemas.microsoft.com/office/drawing/2014/main" id="{BD020B98-E37F-4360-BC05-D2631C13EB5A}"/>
              </a:ext>
            </a:extLst>
          </p:cNvPr>
          <p:cNvSpPr>
            <a:spLocks xmlns:a="http://schemas.openxmlformats.org/drawingml/2006/main" noGrp="1"/>
          </p:cNvSpPr>
          <p:nvPr/>
        </p:nvSpPr>
        <p:spPr>
          <a:xfrm xmlns:a="http://schemas.openxmlformats.org/drawingml/2006/main">
            <a:off x="2095500" y="44767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 Pitch, sonoridad, timbre y duración responden a rasgos diferentes.</a:t>
            </a:r>
          </a:p>
        </p:txBody>
      </p:sp>
      <p:sp>
        <p:nvSpPr>
          <p:cNvPr id="5" name="slide-number">
            <a:extLst xmlns:a="http://schemas.openxmlformats.org/drawingml/2006/main">
              <a:ext uri="{FF2B5EF4-FFF2-40B4-BE49-F238E27FC236}">
                <a16:creationId xmlns:a16="http://schemas.microsoft.com/office/drawing/2014/main" id="{203BD705-82A5-4944-BE29-E9CD99BB647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32</a:t>
            </a:r>
          </a:p>
        </p:txBody>
      </p:sp>
    </p:spTree>
    <p:extLst>
      <p:ext uri="{BB962C8B-B14F-4D97-AF65-F5344CB8AC3E}">
        <p14:creationId xmlns:p14="http://schemas.microsoft.com/office/powerpoint/2010/main" val="116490234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33-U07-DG-012-validated-png"/>
          <p:cNvPicPr>
            <a:picLocks xmlns:a="http://schemas.openxmlformats.org/drawingml/2006/main" noChangeAspect="1"/>
          </p:cNvPicPr>
          <p:nvPr/>
        </p:nvPicPr>
        <p:blipFill>
          <a:blip xmlns:r="http://schemas.openxmlformats.org/officeDocument/2006/relationships" xmlns:a="http://schemas.openxmlformats.org/drawingml/2006/main" r:embed="R42bcdeb60b4347e9"/>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AA72CFDF-859B-458E-9DD6-CDEF7CC12DC2}"/>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Las magnitudes físicas se relacionan con atributos, no los igualan</a:t>
            </a:r>
          </a:p>
        </p:txBody>
      </p:sp>
      <p:sp>
        <p:nvSpPr>
          <p:cNvPr id="3" name="diagram-footer">
            <a:extLst xmlns:a="http://schemas.openxmlformats.org/drawingml/2006/main">
              <a:ext uri="{FF2B5EF4-FFF2-40B4-BE49-F238E27FC236}">
                <a16:creationId xmlns:a16="http://schemas.microsoft.com/office/drawing/2014/main" id="{2F4AE751-E165-46A5-B6B2-3A9F8306545D}"/>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974500C5-F533-4104-8C91-DB32A8E5BB10}"/>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531BB106-63B4-4BB0-80A1-8E3FFBA27A7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1A94FDD1-68FE-449E-B3D4-2745D181D3C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E495AA25-F674-4812-BC82-48E6F72F48F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132FA291-1C1E-4F40-9EA3-DA712541DB2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9" name="slide-number">
            <a:extLst xmlns:a="http://schemas.openxmlformats.org/drawingml/2006/main">
              <a:ext uri="{FF2B5EF4-FFF2-40B4-BE49-F238E27FC236}">
                <a16:creationId xmlns:a16="http://schemas.microsoft.com/office/drawing/2014/main" id="{02887969-A824-4542-B4C0-CF146DE1FD0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33</a:t>
            </a:r>
          </a:p>
        </p:txBody>
      </p:sp>
    </p:spTree>
    <p:extLst>
      <p:ext uri="{BB962C8B-B14F-4D97-AF65-F5344CB8AC3E}">
        <p14:creationId xmlns:p14="http://schemas.microsoft.com/office/powerpoint/2010/main" val="127147903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111E5A70-6CFF-467A-A54A-6E86911334CE}"/>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Pitch ordena sensaciones de graves a agudas</a:t>
            </a:r>
          </a:p>
        </p:txBody>
      </p:sp>
      <p:sp>
        <p:nvSpPr>
          <p:cNvPr id="2" name="main-ideas">
            <a:extLst xmlns:a="http://schemas.openxmlformats.org/drawingml/2006/main">
              <a:ext uri="{FF2B5EF4-FFF2-40B4-BE49-F238E27FC236}">
                <a16:creationId xmlns:a16="http://schemas.microsoft.com/office/drawing/2014/main" id="{D647BF59-F077-4D97-9EB6-095BF83DC627}"/>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La frecuencia influye, pero no agota el pitch.</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Definición, tono puro como caso simple y condiciones.</a:t>
            </a:r>
          </a:p>
        </p:txBody>
      </p:sp>
      <p:sp>
        <p:nvSpPr>
          <p:cNvPr id="3" name="side-panel-box">
            <a:extLst xmlns:a="http://schemas.openxmlformats.org/drawingml/2006/main">
              <a:ext uri="{FF2B5EF4-FFF2-40B4-BE49-F238E27FC236}">
                <a16:creationId xmlns:a16="http://schemas.microsoft.com/office/drawing/2014/main" id="{7DE27622-210C-4608-80F5-2DE9D0762766}"/>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5F0BFFE2-8FD5-4CE9-835A-DE4EA2FAF7DB}"/>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B6FA42FE-C326-4A59-99C7-506B6E035AF5}"/>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Altura tonal o pitch: atributo que permite ordenar sensaciones de graves a agudas.</a:t>
            </a:r>
          </a:p>
        </p:txBody>
      </p:sp>
      <p:sp>
        <p:nvSpPr>
          <p:cNvPr id="6" name="top-rail-1">
            <a:extLst xmlns:a="http://schemas.openxmlformats.org/drawingml/2006/main">
              <a:ext uri="{FF2B5EF4-FFF2-40B4-BE49-F238E27FC236}">
                <a16:creationId xmlns:a16="http://schemas.microsoft.com/office/drawing/2014/main" id="{3343ABA4-E5BF-44D6-8741-5365CC1482D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460C5E45-1905-41C3-8FAC-EB0871912AA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7E6591A8-B251-4AF9-B3A0-23564DE3232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9F87D482-6E20-448B-873F-93857D3BA71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AE1589D3-F8B9-4850-8651-F588DE3A309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34</a:t>
            </a:r>
          </a:p>
        </p:txBody>
      </p:sp>
    </p:spTree>
    <p:extLst>
      <p:ext uri="{BB962C8B-B14F-4D97-AF65-F5344CB8AC3E}">
        <p14:creationId xmlns:p14="http://schemas.microsoft.com/office/powerpoint/2010/main" val="98663046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0E7F281C-2901-4E0E-9DA5-D1400B1C1C53}"/>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Frecuencia y pitch no son sinónimos</a:t>
            </a:r>
          </a:p>
        </p:txBody>
      </p:sp>
      <p:sp>
        <p:nvSpPr>
          <p:cNvPr id="2" name="compare-a-box">
            <a:extLst xmlns:a="http://schemas.openxmlformats.org/drawingml/2006/main">
              <a:ext uri="{FF2B5EF4-FFF2-40B4-BE49-F238E27FC236}">
                <a16:creationId xmlns:a16="http://schemas.microsoft.com/office/drawing/2014/main" id="{D29C8216-9031-4D25-BDA9-3134BBA4BDE0}"/>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8DA728DD-1C93-47C1-A1DE-E2C697051721}"/>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Caso A</a:t>
            </a:r>
          </a:p>
        </p:txBody>
      </p:sp>
      <p:sp>
        <p:nvSpPr>
          <p:cNvPr id="4" name="compare-a-body">
            <a:extLst xmlns:a="http://schemas.openxmlformats.org/drawingml/2006/main">
              <a:ext uri="{FF2B5EF4-FFF2-40B4-BE49-F238E27FC236}">
                <a16:creationId xmlns:a16="http://schemas.microsoft.com/office/drawing/2014/main" id="{943C0771-B17F-42AE-AD7B-12B4E5B080E1}"/>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 Una es física en Hz el otro depende de periodicidad, espectro, nivel y contexto.</a:t>
            </a:r>
          </a:p>
        </p:txBody>
      </p:sp>
      <p:sp>
        <p:nvSpPr>
          <p:cNvPr id="5" name="compare-b-box">
            <a:extLst xmlns:a="http://schemas.openxmlformats.org/drawingml/2006/main">
              <a:ext uri="{FF2B5EF4-FFF2-40B4-BE49-F238E27FC236}">
                <a16:creationId xmlns:a16="http://schemas.microsoft.com/office/drawing/2014/main" id="{5D767C08-0569-4225-AB73-C8F6083A9099}"/>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250406C8-027A-474C-9367-E5CC624BABDB}"/>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Caso B</a:t>
            </a:r>
          </a:p>
        </p:txBody>
      </p:sp>
      <p:sp>
        <p:nvSpPr>
          <p:cNvPr id="7" name="compare-b-body">
            <a:extLst xmlns:a="http://schemas.openxmlformats.org/drawingml/2006/main">
              <a:ext uri="{FF2B5EF4-FFF2-40B4-BE49-F238E27FC236}">
                <a16:creationId xmlns:a16="http://schemas.microsoft.com/office/drawing/2014/main" id="{3DD55AC3-6E04-4ADD-BC9F-DFA2ADAD0968}"/>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Dos columnas: objeto, unidad, medición y contraejemplo.</a:t>
            </a:r>
          </a:p>
        </p:txBody>
      </p:sp>
      <p:sp>
        <p:nvSpPr>
          <p:cNvPr id="8" name="top-rail-1">
            <a:extLst xmlns:a="http://schemas.openxmlformats.org/drawingml/2006/main">
              <a:ext uri="{FF2B5EF4-FFF2-40B4-BE49-F238E27FC236}">
                <a16:creationId xmlns:a16="http://schemas.microsoft.com/office/drawing/2014/main" id="{A7080A41-52DC-446E-BEAA-0A366CE2C44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D3D11B9A-90F9-4ABE-AB99-EBD5E1FDE2E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7950BD27-8AAE-4C03-82A7-370751D9A97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CA94E1DA-68C7-4101-802A-9C4D4FFBDD5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2" name="slide-number">
            <a:extLst xmlns:a="http://schemas.openxmlformats.org/drawingml/2006/main">
              <a:ext uri="{FF2B5EF4-FFF2-40B4-BE49-F238E27FC236}">
                <a16:creationId xmlns:a16="http://schemas.microsoft.com/office/drawing/2014/main" id="{BF98D2B3-53D6-40FB-BBC6-C71DE92C590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35</a:t>
            </a:r>
          </a:p>
        </p:txBody>
      </p:sp>
    </p:spTree>
    <p:extLst>
      <p:ext uri="{BB962C8B-B14F-4D97-AF65-F5344CB8AC3E}">
        <p14:creationId xmlns:p14="http://schemas.microsoft.com/office/powerpoint/2010/main" val="31832194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6F74D8D-222F-4DCF-9974-E1C803E1CFFE}"/>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Puede percibirse una fundamental ausente</a:t>
            </a:r>
          </a:p>
        </p:txBody>
      </p:sp>
      <p:pic>
        <p:nvPicPr>
          <p:cNvPr id="10" name="U07-036-U07-CH-005"/>
          <p:cNvPicPr>
            <a:picLocks xmlns:a="http://schemas.openxmlformats.org/drawingml/2006/main" noChangeAspect="1"/>
          </p:cNvPicPr>
          <p:nvPr/>
        </p:nvPicPr>
        <p:blipFill>
          <a:blip xmlns:r="http://schemas.openxmlformats.org/officeDocument/2006/relationships" xmlns:a="http://schemas.openxmlformats.org/drawingml/2006/main" r:embed="R447340955bf34319">
            <a:extLst>
              <a:ext uri="{96DAC541-7B7A-43D3-8B79-37D633B846F1}">
                <asvg:svgBlip xmlns:asvg="http://schemas.microsoft.com/office/drawing/2016/SVG/main" r:embed="R7b7befb8175d4d11"/>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9DE02688-C749-474D-8A8E-85EF4245A415}"/>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Complejos armónicos con y sin f0.</a:t>
            </a:r>
          </a:p>
        </p:txBody>
      </p:sp>
      <p:sp>
        <p:nvSpPr>
          <p:cNvPr id="4" name="top-rail-1">
            <a:extLst xmlns:a="http://schemas.openxmlformats.org/drawingml/2006/main">
              <a:ext uri="{FF2B5EF4-FFF2-40B4-BE49-F238E27FC236}">
                <a16:creationId xmlns:a16="http://schemas.microsoft.com/office/drawing/2014/main" id="{37AB82AF-DFF4-46FA-A7B9-FF6899A2B6E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2BAC2B92-26AB-492A-93CF-EED663715EF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05201B1E-ACF7-4D20-AF00-35FCC7999CE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F8DFC0BB-85A6-438B-8711-61F4574663A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8" name="slide-number">
            <a:extLst xmlns:a="http://schemas.openxmlformats.org/drawingml/2006/main">
              <a:ext uri="{FF2B5EF4-FFF2-40B4-BE49-F238E27FC236}">
                <a16:creationId xmlns:a16="http://schemas.microsoft.com/office/drawing/2014/main" id="{ADBEEC64-5281-4082-905D-BD0A1EBBE09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36</a:t>
            </a:r>
          </a:p>
        </p:txBody>
      </p:sp>
    </p:spTree>
    <p:extLst>
      <p:ext uri="{BB962C8B-B14F-4D97-AF65-F5344CB8AC3E}">
        <p14:creationId xmlns:p14="http://schemas.microsoft.com/office/powerpoint/2010/main" val="104621338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E94FC5C8-A84A-4719-A964-7676777161F2}"/>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Sonoridad ordena sonidos de menos a más sonoros</a:t>
            </a:r>
          </a:p>
        </p:txBody>
      </p:sp>
      <p:sp>
        <p:nvSpPr>
          <p:cNvPr id="2" name="main-ideas">
            <a:extLst xmlns:a="http://schemas.openxmlformats.org/drawingml/2006/main">
              <a:ext uri="{FF2B5EF4-FFF2-40B4-BE49-F238E27FC236}">
                <a16:creationId xmlns:a16="http://schemas.microsoft.com/office/drawing/2014/main" id="{5321B68C-7DC4-49C4-8FAE-311255232828}"/>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Suele aumentar con Lₚ, pero también depende de frecuencia, duración, banda y contexto.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Compare relaciones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proximidad entre cajas no representa una escala.</a:t>
            </a:r>
          </a:p>
        </p:txBody>
      </p:sp>
      <p:sp>
        <p:nvSpPr>
          <p:cNvPr id="3" name="side-panel-box">
            <a:extLst xmlns:a="http://schemas.openxmlformats.org/drawingml/2006/main">
              <a:ext uri="{FF2B5EF4-FFF2-40B4-BE49-F238E27FC236}">
                <a16:creationId xmlns:a16="http://schemas.microsoft.com/office/drawing/2014/main" id="{AC6285F4-BB3A-4B81-8A50-3FC98DD54482}"/>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DD37F9D2-EDF0-4B64-8A62-C2E3657440B0}"/>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0C7EE49B-FCAC-4CA4-BE2B-1F976C6B3A2C}"/>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Sonoridad: atributo perceptual que permite ordenar sonidos de menos a más sonoros.</a:t>
            </a:r>
          </a:p>
        </p:txBody>
      </p:sp>
      <p:sp>
        <p:nvSpPr>
          <p:cNvPr id="6" name="top-rail-1">
            <a:extLst xmlns:a="http://schemas.openxmlformats.org/drawingml/2006/main">
              <a:ext uri="{FF2B5EF4-FFF2-40B4-BE49-F238E27FC236}">
                <a16:creationId xmlns:a16="http://schemas.microsoft.com/office/drawing/2014/main" id="{3738DC07-9FB8-416B-969F-2FCB11CB731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4DAF22B9-5633-4E22-99F1-401058C951F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796C07AF-EEBC-4039-BE82-356B1825D55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BE4109E2-4CF8-488F-BEA8-71092849EBC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AE066B15-2C70-4DCC-A18F-5A39796F1D5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37</a:t>
            </a:r>
          </a:p>
        </p:txBody>
      </p:sp>
    </p:spTree>
    <p:extLst>
      <p:ext uri="{BB962C8B-B14F-4D97-AF65-F5344CB8AC3E}">
        <p14:creationId xmlns:p14="http://schemas.microsoft.com/office/powerpoint/2010/main" val="98663046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1D8E0160-5372-4898-89CE-8179B1A0B570}"/>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Igual nivel no implica igual sonoridad</a:t>
            </a:r>
          </a:p>
        </p:txBody>
      </p:sp>
      <p:sp>
        <p:nvSpPr>
          <p:cNvPr id="2" name="compare-a-box">
            <a:extLst xmlns:a="http://schemas.openxmlformats.org/drawingml/2006/main">
              <a:ext uri="{FF2B5EF4-FFF2-40B4-BE49-F238E27FC236}">
                <a16:creationId xmlns:a16="http://schemas.microsoft.com/office/drawing/2014/main" id="{4790F75F-38EF-4D16-B395-D53ED2DA9F9A}"/>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86F8CBE9-38B7-4890-B794-DFAD761B7DD2}"/>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Caso A</a:t>
            </a:r>
          </a:p>
        </p:txBody>
      </p:sp>
      <p:sp>
        <p:nvSpPr>
          <p:cNvPr id="4" name="compare-a-body">
            <a:extLst xmlns:a="http://schemas.openxmlformats.org/drawingml/2006/main">
              <a:ext uri="{FF2B5EF4-FFF2-40B4-BE49-F238E27FC236}">
                <a16:creationId xmlns:a16="http://schemas.microsoft.com/office/drawing/2014/main" id="{DF6350CE-44C9-42FE-AF4D-CF6BE55D8A7A}"/>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 El nivel es una medida la sonoridad es una respuesta.</a:t>
            </a:r>
          </a:p>
        </p:txBody>
      </p:sp>
      <p:sp>
        <p:nvSpPr>
          <p:cNvPr id="5" name="compare-b-box">
            <a:extLst xmlns:a="http://schemas.openxmlformats.org/drawingml/2006/main">
              <a:ext uri="{FF2B5EF4-FFF2-40B4-BE49-F238E27FC236}">
                <a16:creationId xmlns:a16="http://schemas.microsoft.com/office/drawing/2014/main" id="{52B9A21A-75C2-4E27-83FD-97A894A2357C}"/>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131AF9E2-E9B5-42D8-AA1B-CF52745F7CB4}"/>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Caso B</a:t>
            </a:r>
          </a:p>
        </p:txBody>
      </p:sp>
      <p:sp>
        <p:nvSpPr>
          <p:cNvPr id="7" name="compare-b-body">
            <a:extLst xmlns:a="http://schemas.openxmlformats.org/drawingml/2006/main">
              <a:ext uri="{FF2B5EF4-FFF2-40B4-BE49-F238E27FC236}">
                <a16:creationId xmlns:a16="http://schemas.microsoft.com/office/drawing/2014/main" id="{7A6E5C49-85F4-4C3E-B301-0918D22BF533}"/>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Dos tonos, mismo Lₚ, distinta frecuencia y juicio posible.</a:t>
            </a:r>
          </a:p>
        </p:txBody>
      </p:sp>
      <p:sp>
        <p:nvSpPr>
          <p:cNvPr id="8" name="top-rail-1">
            <a:extLst xmlns:a="http://schemas.openxmlformats.org/drawingml/2006/main">
              <a:ext uri="{FF2B5EF4-FFF2-40B4-BE49-F238E27FC236}">
                <a16:creationId xmlns:a16="http://schemas.microsoft.com/office/drawing/2014/main" id="{41FE6BD1-3172-44BD-81F2-EE6CFF7AF18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A5E55C20-D441-4ED5-970C-EA1744A89AB4}"/>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BF2B4206-515D-4D13-94AA-AB03224879B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3E508227-3744-44CF-9E09-CDAD929A6C3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2" name="slide-number">
            <a:extLst xmlns:a="http://schemas.openxmlformats.org/drawingml/2006/main">
              <a:ext uri="{FF2B5EF4-FFF2-40B4-BE49-F238E27FC236}">
                <a16:creationId xmlns:a16="http://schemas.microsoft.com/office/drawing/2014/main" id="{D07ACC8D-33D2-4139-8209-E0C301BDC78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38</a:t>
            </a:r>
          </a:p>
        </p:txBody>
      </p:sp>
    </p:spTree>
    <p:extLst>
      <p:ext uri="{BB962C8B-B14F-4D97-AF65-F5344CB8AC3E}">
        <p14:creationId xmlns:p14="http://schemas.microsoft.com/office/powerpoint/2010/main" val="31832194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396EFA25-7F75-4D7E-8EA6-2961A4664C67}"/>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Timbre distingue señales más allá de pitch y sonoridad</a:t>
            </a:r>
          </a:p>
        </p:txBody>
      </p:sp>
      <p:sp>
        <p:nvSpPr>
          <p:cNvPr id="2" name="main-ideas">
            <a:extLst xmlns:a="http://schemas.openxmlformats.org/drawingml/2006/main">
              <a:ext uri="{FF2B5EF4-FFF2-40B4-BE49-F238E27FC236}">
                <a16:creationId xmlns:a16="http://schemas.microsoft.com/office/drawing/2014/main" id="{EB8BFB4F-4F3A-4CEF-A562-B17BF3B3CCBF}"/>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Envolvente espectral, ataque, decaimiento, ruido y cambios temporales contribuyen.</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Definición y componentes espectrales/temporales.</a:t>
            </a:r>
          </a:p>
        </p:txBody>
      </p:sp>
      <p:sp>
        <p:nvSpPr>
          <p:cNvPr id="3" name="side-panel-box">
            <a:extLst xmlns:a="http://schemas.openxmlformats.org/drawingml/2006/main">
              <a:ext uri="{FF2B5EF4-FFF2-40B4-BE49-F238E27FC236}">
                <a16:creationId xmlns:a16="http://schemas.microsoft.com/office/drawing/2014/main" id="{8921463A-AF37-49D9-9631-24657F9AB7BA}"/>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8E59A2BC-CD43-48A2-9902-E5B43047A7EB}"/>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BF0A25CE-A575-4AA9-941D-1A4F94D5BA42}"/>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Timbre: atributo multidimensional que permite diferenciar señales aun con pitch, sonoridad y duración global semejantes.</a:t>
            </a:r>
          </a:p>
        </p:txBody>
      </p:sp>
      <p:sp>
        <p:nvSpPr>
          <p:cNvPr id="6" name="top-rail-1">
            <a:extLst xmlns:a="http://schemas.openxmlformats.org/drawingml/2006/main">
              <a:ext uri="{FF2B5EF4-FFF2-40B4-BE49-F238E27FC236}">
                <a16:creationId xmlns:a16="http://schemas.microsoft.com/office/drawing/2014/main" id="{48E3F81A-F6AE-4621-8D09-B942BFD9216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C6E83BE3-A1E9-4320-BB3B-C1D61FECADF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A8BD2CF1-0C23-420D-8926-C6F8DD2287E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62C72C7C-6E0F-4448-84BA-AB7426A25F3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1B12A77E-6B5B-42DD-9609-B9A88DC65CB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39</a:t>
            </a:r>
          </a:p>
        </p:txBody>
      </p:sp>
    </p:spTree>
    <p:extLst>
      <p:ext uri="{BB962C8B-B14F-4D97-AF65-F5344CB8AC3E}">
        <p14:creationId xmlns:p14="http://schemas.microsoft.com/office/powerpoint/2010/main" val="98663046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7A61F140-5D0D-4761-B4D0-FBC0549BEBAA}"/>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Dos señales pueden compartir espectro y diferir en el tiempo</a:t>
            </a:r>
          </a:p>
        </p:txBody>
      </p:sp>
      <p:sp>
        <p:nvSpPr>
          <p:cNvPr id="2" name="media-static-box">
            <a:extLst xmlns:a="http://schemas.openxmlformats.org/drawingml/2006/main">
              <a:ext uri="{FF2B5EF4-FFF2-40B4-BE49-F238E27FC236}">
                <a16:creationId xmlns:a16="http://schemas.microsoft.com/office/drawing/2014/main" id="{FB81B1BA-00FC-408E-A9BD-A97600D31E89}"/>
              </a:ext>
            </a:extLst>
          </p:cNvPr>
          <p:cNvSpPr>
            <a:spLocks xmlns:a="http://schemas.openxmlformats.org/drawingml/2006/main" noGrp="1"/>
          </p:cNvSpPr>
          <p:nvPr/>
        </p:nvSpPr>
        <p:spPr>
          <a:xfrm xmlns:a="http://schemas.openxmlformats.org/drawingml/2006/main">
            <a:off x="714375" y="1571625"/>
            <a:ext cx="7143750" cy="3619500"/>
          </a:xfrm>
          <a:prstGeom xmlns:a="http://schemas.openxmlformats.org/drawingml/2006/main" prst="roundRect">
            <a:avLst>
              <a:gd name="adj" fmla="val 3158"/>
            </a:avLst>
          </a:prstGeom>
          <a:solidFill xmlns:a="http://schemas.openxmlformats.org/drawingml/2006/main">
            <a:srgbClr val="E7F1F1"/>
          </a:solidFill>
          <a:ln xmlns:a="http://schemas.openxmlformats.org/drawingml/2006/main" w="19050">
            <a:solidFill>
              <a:srgbClr val="2F7E83"/>
            </a:solidFill>
            <a:prstDash val="solid"/>
          </a:ln>
        </p:spPr>
      </p:sp>
      <p:sp>
        <p:nvSpPr>
          <p:cNvPr id="3" name="media-static-title">
            <a:extLst xmlns:a="http://schemas.openxmlformats.org/drawingml/2006/main">
              <a:ext uri="{FF2B5EF4-FFF2-40B4-BE49-F238E27FC236}">
                <a16:creationId xmlns:a16="http://schemas.microsoft.com/office/drawing/2014/main" id="{53730CE6-FAF1-4718-A9E0-3D2240D783BF}"/>
              </a:ext>
            </a:extLst>
          </p:cNvPr>
          <p:cNvSpPr>
            <a:spLocks xmlns:a="http://schemas.openxmlformats.org/drawingml/2006/main" noGrp="1"/>
          </p:cNvSpPr>
          <p:nvPr/>
        </p:nvSpPr>
        <p:spPr>
          <a:xfrm xmlns:a="http://schemas.openxmlformats.org/drawingml/2006/main">
            <a:off x="885825" y="1704975"/>
            <a:ext cx="680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2F7E83"/>
                </a:solidFill>
                <a:latin typeface="Calibri"/>
                <a:ea typeface="Calibri"/>
                <a:cs typeface="Calibri"/>
              </a:defRPr>
            </a:pPr>
            <a:r>
              <a:rPr sz="2250" b="1" i="0">
                <a:solidFill>
                  <a:srgbClr val="2F7E83"/>
                </a:solidFill>
                <a:latin typeface="Calibri"/>
                <a:ea typeface="Calibri"/>
                <a:cs typeface="Calibri"/>
              </a:rPr>
              <a:t>Alternativa estática</a:t>
            </a:r>
          </a:p>
        </p:txBody>
      </p:sp>
      <p:sp>
        <p:nvSpPr>
          <p:cNvPr id="4" name="media-static-body">
            <a:extLst xmlns:a="http://schemas.openxmlformats.org/drawingml/2006/main">
              <a:ext uri="{FF2B5EF4-FFF2-40B4-BE49-F238E27FC236}">
                <a16:creationId xmlns:a16="http://schemas.microsoft.com/office/drawing/2014/main" id="{1A6DA79C-D4C0-4FC9-9B99-615EE789AAB1}"/>
              </a:ext>
            </a:extLst>
          </p:cNvPr>
          <p:cNvSpPr>
            <a:spLocks xmlns:a="http://schemas.openxmlformats.org/drawingml/2006/main" noGrp="1"/>
          </p:cNvSpPr>
          <p:nvPr/>
        </p:nvSpPr>
        <p:spPr>
          <a:xfrm xmlns:a="http://schemas.openxmlformats.org/drawingml/2006/main">
            <a:off x="885825" y="2105025"/>
            <a:ext cx="680085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 Ataque y orden temporal cambian la experiencia aunque la magnitud espectral sea semejante. Dos señales, espectros y envolventes. Consigna.</a:t>
            </a:r>
          </a:p>
        </p:txBody>
      </p:sp>
      <p:sp>
        <p:nvSpPr>
          <p:cNvPr id="5" name="media-id-box">
            <a:extLst xmlns:a="http://schemas.openxmlformats.org/drawingml/2006/main">
              <a:ext uri="{FF2B5EF4-FFF2-40B4-BE49-F238E27FC236}">
                <a16:creationId xmlns:a16="http://schemas.microsoft.com/office/drawing/2014/main" id="{368F281A-B6A2-424D-8E55-86DF43924F3B}"/>
              </a:ext>
            </a:extLst>
          </p:cNvPr>
          <p:cNvSpPr>
            <a:spLocks xmlns:a="http://schemas.openxmlformats.org/drawingml/2006/main" noGrp="1"/>
          </p:cNvSpPr>
          <p:nvPr/>
        </p:nvSpPr>
        <p:spPr>
          <a:xfrm xmlns:a="http://schemas.openxmlformats.org/drawingml/2006/main">
            <a:off x="8239125" y="1571625"/>
            <a:ext cx="3238500" cy="3619500"/>
          </a:xfrm>
          <a:prstGeom xmlns:a="http://schemas.openxmlformats.org/drawingml/2006/main" prst="roundRect">
            <a:avLst>
              <a:gd name="adj" fmla="val 3529"/>
            </a:avLst>
          </a:prstGeom>
          <a:solidFill xmlns:a="http://schemas.openxmlformats.org/drawingml/2006/main">
            <a:srgbClr val="F7F6F2"/>
          </a:solidFill>
          <a:ln xmlns:a="http://schemas.openxmlformats.org/drawingml/2006/main" w="19050">
            <a:solidFill>
              <a:srgbClr val="969FA7"/>
            </a:solidFill>
            <a:prstDash val="solid"/>
          </a:ln>
        </p:spPr>
      </p:sp>
      <p:sp>
        <p:nvSpPr>
          <p:cNvPr id="6" name="media-id-title">
            <a:extLst xmlns:a="http://schemas.openxmlformats.org/drawingml/2006/main">
              <a:ext uri="{FF2B5EF4-FFF2-40B4-BE49-F238E27FC236}">
                <a16:creationId xmlns:a16="http://schemas.microsoft.com/office/drawing/2014/main" id="{95C518F8-BBE9-442B-869F-6730CC211F02}"/>
              </a:ext>
            </a:extLst>
          </p:cNvPr>
          <p:cNvSpPr>
            <a:spLocks xmlns:a="http://schemas.openxmlformats.org/drawingml/2006/main" noGrp="1"/>
          </p:cNvSpPr>
          <p:nvPr/>
        </p:nvSpPr>
        <p:spPr>
          <a:xfrm xmlns:a="http://schemas.openxmlformats.org/drawingml/2006/main">
            <a:off x="8410575" y="1704975"/>
            <a:ext cx="289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3D3D3D"/>
                </a:solidFill>
                <a:latin typeface="Calibri"/>
                <a:ea typeface="Calibri"/>
                <a:cs typeface="Calibri"/>
              </a:defRPr>
            </a:pPr>
            <a:r>
              <a:rPr sz="2025" b="1" i="0">
                <a:solidFill>
                  <a:srgbClr val="3D3D3D"/>
                </a:solidFill>
                <a:latin typeface="Calibri"/>
                <a:ea typeface="Calibri"/>
                <a:cs typeface="Calibri"/>
              </a:rPr>
              <a:t>Recurso identificado</a:t>
            </a:r>
          </a:p>
        </p:txBody>
      </p:sp>
      <p:sp>
        <p:nvSpPr>
          <p:cNvPr id="7" name="media-id-body">
            <a:extLst xmlns:a="http://schemas.openxmlformats.org/drawingml/2006/main">
              <a:ext uri="{FF2B5EF4-FFF2-40B4-BE49-F238E27FC236}">
                <a16:creationId xmlns:a16="http://schemas.microsoft.com/office/drawing/2014/main" id="{52CA1C40-A8D2-4F3F-AD71-DA5C787C5D63}"/>
              </a:ext>
            </a:extLst>
          </p:cNvPr>
          <p:cNvSpPr>
            <a:spLocks xmlns:a="http://schemas.openxmlformats.org/drawingml/2006/main" noGrp="1"/>
          </p:cNvSpPr>
          <p:nvPr/>
        </p:nvSpPr>
        <p:spPr>
          <a:xfrm xmlns:a="http://schemas.openxmlformats.org/drawingml/2006/main">
            <a:off x="8410575" y="2105025"/>
            <a:ext cx="28956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reproducción opcional y sus condiciones están indicadas en las notas del orador.</a:t>
            </a:r>
          </a:p>
        </p:txBody>
      </p:sp>
      <p:sp>
        <p:nvSpPr>
          <p:cNvPr id="8" name="top-rail-1">
            <a:extLst xmlns:a="http://schemas.openxmlformats.org/drawingml/2006/main">
              <a:ext uri="{FF2B5EF4-FFF2-40B4-BE49-F238E27FC236}">
                <a16:creationId xmlns:a16="http://schemas.microsoft.com/office/drawing/2014/main" id="{201611CD-785A-4B3B-9A28-7450BB7B45F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E37A782E-7291-47B0-AAD4-0E045F768A6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3015BB3E-0606-4947-B619-C0A34D3CF36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E4A0E308-5F0D-4375-A92D-24E2897760B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2" name="slide-number">
            <a:extLst xmlns:a="http://schemas.openxmlformats.org/drawingml/2006/main">
              <a:ext uri="{FF2B5EF4-FFF2-40B4-BE49-F238E27FC236}">
                <a16:creationId xmlns:a16="http://schemas.microsoft.com/office/drawing/2014/main" id="{FB0D03FE-3AB3-44C0-B4DA-FECAA6451AC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40</a:t>
            </a:r>
          </a:p>
        </p:txBody>
      </p:sp>
    </p:spTree>
    <p:extLst>
      <p:ext uri="{BB962C8B-B14F-4D97-AF65-F5344CB8AC3E}">
        <p14:creationId xmlns:p14="http://schemas.microsoft.com/office/powerpoint/2010/main" val="104621338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D076A0E2-6AFD-4165-BA2E-5CAE93CFEF0B}"/>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Duración física y duración percibida responden a preguntas distintas</a:t>
            </a:r>
          </a:p>
        </p:txBody>
      </p:sp>
      <p:sp>
        <p:nvSpPr>
          <p:cNvPr id="2" name="compare-a-box">
            <a:extLst xmlns:a="http://schemas.openxmlformats.org/drawingml/2006/main">
              <a:ext uri="{FF2B5EF4-FFF2-40B4-BE49-F238E27FC236}">
                <a16:creationId xmlns:a16="http://schemas.microsoft.com/office/drawing/2014/main" id="{F983AAD7-9D7C-46C5-9A62-B72399A4111A}"/>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520A4B4D-6449-4C75-8B24-E640D23AACC4}"/>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Caso A</a:t>
            </a:r>
          </a:p>
        </p:txBody>
      </p:sp>
      <p:sp>
        <p:nvSpPr>
          <p:cNvPr id="4" name="compare-a-body">
            <a:extLst xmlns:a="http://schemas.openxmlformats.org/drawingml/2006/main">
              <a:ext uri="{FF2B5EF4-FFF2-40B4-BE49-F238E27FC236}">
                <a16:creationId xmlns:a16="http://schemas.microsoft.com/office/drawing/2014/main" id="{E86F70AE-5180-4664-8890-1CE17E355DDE}"/>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 Δt se mide en segundos la duración percibida es una respuesta.</a:t>
            </a:r>
          </a:p>
        </p:txBody>
      </p:sp>
      <p:sp>
        <p:nvSpPr>
          <p:cNvPr id="5" name="compare-b-box">
            <a:extLst xmlns:a="http://schemas.openxmlformats.org/drawingml/2006/main">
              <a:ext uri="{FF2B5EF4-FFF2-40B4-BE49-F238E27FC236}">
                <a16:creationId xmlns:a16="http://schemas.microsoft.com/office/drawing/2014/main" id="{E0C18512-E67E-441E-936D-A5E918EFFD94}"/>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9F211729-669A-450F-B59B-36389EA9A9AD}"/>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Caso B</a:t>
            </a:r>
          </a:p>
        </p:txBody>
      </p:sp>
      <p:sp>
        <p:nvSpPr>
          <p:cNvPr id="7" name="compare-b-body">
            <a:extLst xmlns:a="http://schemas.openxmlformats.org/drawingml/2006/main">
              <a:ext uri="{FF2B5EF4-FFF2-40B4-BE49-F238E27FC236}">
                <a16:creationId xmlns:a16="http://schemas.microsoft.com/office/drawing/2014/main" id="{3C39CB19-89F5-460A-8972-0DA0B1178E69}"/>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Compare relaciones la proximidad entre cajas no representa una escala.</a:t>
            </a:r>
          </a:p>
        </p:txBody>
      </p:sp>
      <p:sp>
        <p:nvSpPr>
          <p:cNvPr id="8" name="top-rail-1">
            <a:extLst xmlns:a="http://schemas.openxmlformats.org/drawingml/2006/main">
              <a:ext uri="{FF2B5EF4-FFF2-40B4-BE49-F238E27FC236}">
                <a16:creationId xmlns:a16="http://schemas.microsoft.com/office/drawing/2014/main" id="{5C1DFA67-FC77-4072-87DE-1E5DAF33916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EF4DFFE3-E084-42B2-B3F3-ADC3C274C65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1B33D3FF-B701-4140-916A-3F2FF8838EB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1A06A3B2-CF45-4740-A9CE-F69420CE970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2" name="slide-number">
            <a:extLst xmlns:a="http://schemas.openxmlformats.org/drawingml/2006/main">
              <a:ext uri="{FF2B5EF4-FFF2-40B4-BE49-F238E27FC236}">
                <a16:creationId xmlns:a16="http://schemas.microsoft.com/office/drawing/2014/main" id="{6D831134-C7A8-431A-AEAD-3A10971EE5C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41</a:t>
            </a:r>
          </a:p>
        </p:txBody>
      </p:sp>
    </p:spTree>
    <p:extLst>
      <p:ext uri="{BB962C8B-B14F-4D97-AF65-F5344CB8AC3E}">
        <p14:creationId xmlns:p14="http://schemas.microsoft.com/office/powerpoint/2010/main" val="31832194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7F8029C4-8CA5-4A8B-A6D7-77A730B44BA2}"/>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Duración, resolución e integración temporal no son lo mismo</a:t>
            </a:r>
          </a:p>
        </p:txBody>
      </p:sp>
      <p:sp>
        <p:nvSpPr>
          <p:cNvPr id="2" name="main-ideas">
            <a:extLst xmlns:a="http://schemas.openxmlformats.org/drawingml/2006/main">
              <a:ext uri="{FF2B5EF4-FFF2-40B4-BE49-F238E27FC236}">
                <a16:creationId xmlns:a16="http://schemas.microsoft.com/office/drawing/2014/main" id="{706BC873-130D-430B-92F4-1E5FA4237EE6}"/>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Juzgar cuánto duró, separar eventos y acumular información son tareas diferentes.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Tabla de tres filas: pregunta, respuesta y ejemplo.</a:t>
            </a:r>
          </a:p>
        </p:txBody>
      </p:sp>
      <p:sp>
        <p:nvSpPr>
          <p:cNvPr id="3" name="side-panel-box">
            <a:extLst xmlns:a="http://schemas.openxmlformats.org/drawingml/2006/main">
              <a:ext uri="{FF2B5EF4-FFF2-40B4-BE49-F238E27FC236}">
                <a16:creationId xmlns:a16="http://schemas.microsoft.com/office/drawing/2014/main" id="{F699C752-A58A-449E-B7F7-CBCF29197F85}"/>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852FF713-2F1E-4DED-A271-DBE3DD0AF2CD}"/>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CFA16DBC-2616-4170-A333-7F3893FD20B4}"/>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Resolución temporal: capacidad para distinguir cambios o separaciones. Integración temporal: efecto de acumular información durante un intervalo.</a:t>
            </a:r>
          </a:p>
        </p:txBody>
      </p:sp>
      <p:sp>
        <p:nvSpPr>
          <p:cNvPr id="6" name="top-rail-1">
            <a:extLst xmlns:a="http://schemas.openxmlformats.org/drawingml/2006/main">
              <a:ext uri="{FF2B5EF4-FFF2-40B4-BE49-F238E27FC236}">
                <a16:creationId xmlns:a16="http://schemas.microsoft.com/office/drawing/2014/main" id="{070BE38E-9EBF-4A7E-974D-44872F3431E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E8E9FF9B-FE11-4099-91ED-4693400B74B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B94BC0C2-671D-4BA2-8427-87AF881FE04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345D6A6C-BDEF-4F08-9386-57DEFC2FCB8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D7B86974-863B-40B1-B6FB-CDC4E871E3E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42</a:t>
            </a:r>
          </a:p>
        </p:txBody>
      </p:sp>
    </p:spTree>
    <p:extLst>
      <p:ext uri="{BB962C8B-B14F-4D97-AF65-F5344CB8AC3E}">
        <p14:creationId xmlns:p14="http://schemas.microsoft.com/office/powerpoint/2010/main" val="3461911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43-U07-DG-012B-validated-png"/>
          <p:cNvPicPr>
            <a:picLocks xmlns:a="http://schemas.openxmlformats.org/drawingml/2006/main" noChangeAspect="1"/>
          </p:cNvPicPr>
          <p:nvPr/>
        </p:nvPicPr>
        <p:blipFill>
          <a:blip xmlns:r="http://schemas.openxmlformats.org/officeDocument/2006/relationships" xmlns:a="http://schemas.openxmlformats.org/drawingml/2006/main" r:embed="Radab185ae933483e"/>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B898FAE-5B24-4C45-9DDF-AF17346172E8}"/>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Una señal puede cambiar en más de una dimensión perceptual</a:t>
            </a:r>
          </a:p>
        </p:txBody>
      </p:sp>
      <p:sp>
        <p:nvSpPr>
          <p:cNvPr id="3" name="diagram-footer">
            <a:extLst xmlns:a="http://schemas.openxmlformats.org/drawingml/2006/main">
              <a:ext uri="{FF2B5EF4-FFF2-40B4-BE49-F238E27FC236}">
                <a16:creationId xmlns:a16="http://schemas.microsoft.com/office/drawing/2014/main" id="{ADDEB007-D64A-4BEA-901C-00D48E7149AF}"/>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CDF74FDE-0B6A-4820-88C1-630BEBFB69B4}"/>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D022540B-B156-420C-8EBD-B97EDA3F075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1D46EBD2-1AE7-4FBD-A0B3-8D1E17E765A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EBEBF0CA-89D7-43AA-A7AC-A9D7EBB902A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850D6772-FDEE-437D-B690-D29018C8BB7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C8063BA2-2A95-4B2E-9C04-C8FAD7936D8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43</a:t>
            </a:r>
          </a:p>
        </p:txBody>
      </p:sp>
    </p:spTree>
    <p:extLst>
      <p:ext uri="{BB962C8B-B14F-4D97-AF65-F5344CB8AC3E}">
        <p14:creationId xmlns:p14="http://schemas.microsoft.com/office/powerpoint/2010/main" val="1320203634"/>
      </p:ext>
    </p:extLst>
  </p:cSld>
</p:sld>
</file>

<file path=ppt/slides/slide44.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6" name="dark-eyebrow">
            <a:extLst xmlns:a="http://schemas.openxmlformats.org/drawingml/2006/main">
              <a:ext uri="{FF2B5EF4-FFF2-40B4-BE49-F238E27FC236}">
                <a16:creationId xmlns:a16="http://schemas.microsoft.com/office/drawing/2014/main" id="{37BD79F2-414A-46C5-8DE7-A58FA75F4489}"/>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2 · RUTA CENTRAL</a:t>
            </a:r>
          </a:p>
        </p:txBody>
      </p:sp>
      <p:sp>
        <p:nvSpPr>
          <p:cNvPr id="2" name="divider-title">
            <a:extLst xmlns:a="http://schemas.openxmlformats.org/drawingml/2006/main">
              <a:ext uri="{FF2B5EF4-FFF2-40B4-BE49-F238E27FC236}">
                <a16:creationId xmlns:a16="http://schemas.microsoft.com/office/drawing/2014/main" id="{886F4FE4-D082-4D6F-8927-AD86529B98E9}"/>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¿Cómo expresamos igualdad y proporción de sonoridad?</a:t>
            </a:r>
          </a:p>
        </p:txBody>
      </p:sp>
      <p:sp>
        <p:nvSpPr>
          <p:cNvPr id="3" name="divider-subtitle">
            <a:extLst xmlns:a="http://schemas.openxmlformats.org/drawingml/2006/main">
              <a:ext uri="{FF2B5EF4-FFF2-40B4-BE49-F238E27FC236}">
                <a16:creationId xmlns:a16="http://schemas.microsoft.com/office/drawing/2014/main" id="{F3CC32E1-4175-4F7A-9627-2A3E2A3DC917}"/>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Fones y sones responden a tareas psicofísicas diferentes.</a:t>
            </a:r>
          </a:p>
        </p:txBody>
      </p:sp>
      <p:sp>
        <p:nvSpPr>
          <p:cNvPr id="4" name="divider-content">
            <a:extLst xmlns:a="http://schemas.openxmlformats.org/drawingml/2006/main">
              <a:ext uri="{FF2B5EF4-FFF2-40B4-BE49-F238E27FC236}">
                <a16:creationId xmlns:a16="http://schemas.microsoft.com/office/drawing/2014/main" id="{06E0A619-3D9B-4D4E-B1FC-FBF6E5B91D49}"/>
              </a:ext>
            </a:extLst>
          </p:cNvPr>
          <p:cNvSpPr>
            <a:spLocks xmlns:a="http://schemas.openxmlformats.org/drawingml/2006/main" noGrp="1"/>
          </p:cNvSpPr>
          <p:nvPr/>
        </p:nvSpPr>
        <p:spPr>
          <a:xfrm xmlns:a="http://schemas.openxmlformats.org/drawingml/2006/main">
            <a:off x="2095500" y="44767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 Fones y sones responden a tareas psicofísicas diferentes.</a:t>
            </a:r>
          </a:p>
        </p:txBody>
      </p:sp>
      <p:sp>
        <p:nvSpPr>
          <p:cNvPr id="5" name="slide-number">
            <a:extLst xmlns:a="http://schemas.openxmlformats.org/drawingml/2006/main">
              <a:ext uri="{FF2B5EF4-FFF2-40B4-BE49-F238E27FC236}">
                <a16:creationId xmlns:a16="http://schemas.microsoft.com/office/drawing/2014/main" id="{18248448-F680-4B90-B50E-2975AE5691A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44</a:t>
            </a:r>
          </a:p>
        </p:txBody>
      </p:sp>
    </p:spTree>
    <p:extLst>
      <p:ext uri="{BB962C8B-B14F-4D97-AF65-F5344CB8AC3E}">
        <p14:creationId xmlns:p14="http://schemas.microsoft.com/office/powerpoint/2010/main" val="116490234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45-U07-DG-013-validated-png"/>
          <p:cNvPicPr>
            <a:picLocks xmlns:a="http://schemas.openxmlformats.org/drawingml/2006/main" noChangeAspect="1"/>
          </p:cNvPicPr>
          <p:nvPr/>
        </p:nvPicPr>
        <p:blipFill>
          <a:blip xmlns:r="http://schemas.openxmlformats.org/officeDocument/2006/relationships" xmlns:a="http://schemas.openxmlformats.org/drawingml/2006/main" r:embed="Rc430470715a9401a"/>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CD15E747-84B0-4178-A29B-C581C765BC11}"/>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Lₚ, L(N) y N(son) responden preguntas distintas</a:t>
            </a:r>
          </a:p>
        </p:txBody>
      </p:sp>
      <p:sp>
        <p:nvSpPr>
          <p:cNvPr id="3" name="diagram-footer">
            <a:extLst xmlns:a="http://schemas.openxmlformats.org/drawingml/2006/main">
              <a:ext uri="{FF2B5EF4-FFF2-40B4-BE49-F238E27FC236}">
                <a16:creationId xmlns:a16="http://schemas.microsoft.com/office/drawing/2014/main" id="{DA8F3F1B-B9D0-4F8A-BE4C-6C9CA12F70E9}"/>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0F5851C0-220D-42F1-B6FC-F555EA293F6F}"/>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A18D2D37-783A-4D56-AFE1-6978FA95DB9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E384B572-550C-487C-B257-3C4BA64D181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FD1A9E98-3429-4FC3-A7AE-3D5C2488FB9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DE74A3D5-8D61-4B7C-A8F3-17F568DBB78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47BC7FEF-156B-4225-A01E-3DE9DF1AE13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45</a:t>
            </a:r>
          </a:p>
        </p:txBody>
      </p:sp>
    </p:spTree>
    <p:extLst>
      <p:ext uri="{BB962C8B-B14F-4D97-AF65-F5344CB8AC3E}">
        <p14:creationId xmlns:p14="http://schemas.microsoft.com/office/powerpoint/2010/main" val="31832194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EC9474F2-5F1D-4F9C-A00C-2E09110D433C}"/>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El fon expresa nivel de sonoridad por equivalencia a 1 kHz</a:t>
            </a:r>
          </a:p>
        </p:txBody>
      </p:sp>
      <p:sp>
        <p:nvSpPr>
          <p:cNvPr id="2" name="main-ideas">
            <a:extLst xmlns:a="http://schemas.openxmlformats.org/drawingml/2006/main">
              <a:ext uri="{FF2B5EF4-FFF2-40B4-BE49-F238E27FC236}">
                <a16:creationId xmlns:a16="http://schemas.microsoft.com/office/drawing/2014/main" id="{8D8B92BE-3B64-4AA6-8EFB-07EB7CC74E76}"/>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Un sonido tiene tantos fones como dB SPL necesita el tono de 1 kHz que se juzga igualmente sonoro.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Compare relaciones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proximidad entre cajas no representa una escala.</a:t>
            </a:r>
          </a:p>
        </p:txBody>
      </p:sp>
      <p:sp>
        <p:nvSpPr>
          <p:cNvPr id="3" name="side-panel-box">
            <a:extLst xmlns:a="http://schemas.openxmlformats.org/drawingml/2006/main">
              <a:ext uri="{FF2B5EF4-FFF2-40B4-BE49-F238E27FC236}">
                <a16:creationId xmlns:a16="http://schemas.microsoft.com/office/drawing/2014/main" id="{76DDF0EF-4F44-41F4-9EFF-DAB97535A7B3}"/>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3777DB4C-026F-4DB7-AE72-9EFC79111C72}"/>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0BC8B529-C920-4D16-BA5E-71B20C365F01}"/>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Nivel de sonoridad L(N): valor en fones definido por comparación con un tono de referencia de 1 kHz igualmente sonoro.</a:t>
            </a:r>
          </a:p>
        </p:txBody>
      </p:sp>
      <p:sp>
        <p:nvSpPr>
          <p:cNvPr id="6" name="top-rail-1">
            <a:extLst xmlns:a="http://schemas.openxmlformats.org/drawingml/2006/main">
              <a:ext uri="{FF2B5EF4-FFF2-40B4-BE49-F238E27FC236}">
                <a16:creationId xmlns:a16="http://schemas.microsoft.com/office/drawing/2014/main" id="{9BAB24EC-38D3-4A6A-B260-CE90E140E04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5C7B923B-092F-4464-A82E-5D1E6F81759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1EDCC493-006F-44DC-AADB-40F329022A4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E229F13D-DCFC-4801-AC6B-5887EB58645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87F2A795-72ED-4760-9979-DBE9C3CCDAE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46</a:t>
            </a:r>
          </a:p>
        </p:txBody>
      </p:sp>
    </p:spTree>
    <p:extLst>
      <p:ext uri="{BB962C8B-B14F-4D97-AF65-F5344CB8AC3E}">
        <p14:creationId xmlns:p14="http://schemas.microsoft.com/office/powerpoint/2010/main" val="98663046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FFEF49DF-6356-44BA-986F-5FABAAC633C3}"/>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son expresa una razón de sonoridad percibida</a:t>
            </a:r>
          </a:p>
        </p:txBody>
      </p:sp>
      <p:sp>
        <p:nvSpPr>
          <p:cNvPr id="2" name="main-ideas">
            <a:extLst xmlns:a="http://schemas.openxmlformats.org/drawingml/2006/main">
              <a:ext uri="{FF2B5EF4-FFF2-40B4-BE49-F238E27FC236}">
                <a16:creationId xmlns:a16="http://schemas.microsoft.com/office/drawing/2014/main" id="{25D3619B-04BE-4A8A-8E63-99C364B66E6B}"/>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La escala son permite afirmar “el doble de sonoro” bajo condiciones controladas.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Compare relaciones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proximidad entre cajas no representa una escala.</a:t>
            </a:r>
          </a:p>
        </p:txBody>
      </p:sp>
      <p:sp>
        <p:nvSpPr>
          <p:cNvPr id="3" name="side-panel-box">
            <a:extLst xmlns:a="http://schemas.openxmlformats.org/drawingml/2006/main">
              <a:ext uri="{FF2B5EF4-FFF2-40B4-BE49-F238E27FC236}">
                <a16:creationId xmlns:a16="http://schemas.microsoft.com/office/drawing/2014/main" id="{5494BA19-6224-4DB3-9FA3-0118ABFE1285}"/>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7D7BEE2A-F12E-4415-B5AD-750B5D2DA4E6}"/>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C57459A5-B225-4E5F-8657-D0758A81BE02}"/>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Son: unidad de una escala de razón de sonoridad; 1 son corresponde a 40 fon en la referencia adoptada.</a:t>
            </a:r>
          </a:p>
        </p:txBody>
      </p:sp>
      <p:sp>
        <p:nvSpPr>
          <p:cNvPr id="6" name="top-rail-1">
            <a:extLst xmlns:a="http://schemas.openxmlformats.org/drawingml/2006/main">
              <a:ext uri="{FF2B5EF4-FFF2-40B4-BE49-F238E27FC236}">
                <a16:creationId xmlns:a16="http://schemas.microsoft.com/office/drawing/2014/main" id="{67AEE589-DCB1-4ECF-BECE-B11B145E770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552E7905-3476-45A3-932B-E7827268FDE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49544152-5A21-4904-82C5-5C8FA30B8D6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D646EC26-084F-4722-B30B-E237B5BFDE6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647BE0B3-D702-494D-929C-B7379606696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47</a:t>
            </a:r>
          </a:p>
        </p:txBody>
      </p:sp>
    </p:spTree>
    <p:extLst>
      <p:ext uri="{BB962C8B-B14F-4D97-AF65-F5344CB8AC3E}">
        <p14:creationId xmlns:p14="http://schemas.microsoft.com/office/powerpoint/2010/main" val="98663046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48-U07-DG-014-validated-png"/>
          <p:cNvPicPr>
            <a:picLocks xmlns:a="http://schemas.openxmlformats.org/drawingml/2006/main" noChangeAspect="1"/>
          </p:cNvPicPr>
          <p:nvPr/>
        </p:nvPicPr>
        <p:blipFill>
          <a:blip xmlns:r="http://schemas.openxmlformats.org/officeDocument/2006/relationships" xmlns:a="http://schemas.openxmlformats.org/drawingml/2006/main" r:embed="R20ea21846d614cfe"/>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6679AA5E-61B0-4D2B-B1AF-6DE71A54E274}"/>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referencia de 1 kHz conecta fones y sones</a:t>
            </a:r>
          </a:p>
        </p:txBody>
      </p:sp>
      <p:sp>
        <p:nvSpPr>
          <p:cNvPr id="3" name="diagram-footer">
            <a:extLst xmlns:a="http://schemas.openxmlformats.org/drawingml/2006/main">
              <a:ext uri="{FF2B5EF4-FFF2-40B4-BE49-F238E27FC236}">
                <a16:creationId xmlns:a16="http://schemas.microsoft.com/office/drawing/2014/main" id="{5D81B169-B0F0-483C-AD29-3BD9CDF9439A}"/>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B825A4EC-95A5-4463-BC89-C3E3046404FB}"/>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CB1BA2FF-BD59-482A-B43E-435FA19DC25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EF1FE8BA-8B11-4C8D-B8C9-CECB15720BA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4116DE55-0205-4402-938F-B0C8BFE95E4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C3067E02-A0B6-46A5-BE28-9A7147B103F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4B7002FB-FA98-48E1-8705-55C9FBBE589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48</a:t>
            </a:r>
          </a:p>
        </p:txBody>
      </p:sp>
    </p:spTree>
    <p:extLst>
      <p:ext uri="{BB962C8B-B14F-4D97-AF65-F5344CB8AC3E}">
        <p14:creationId xmlns:p14="http://schemas.microsoft.com/office/powerpoint/2010/main" val="56743830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51DF9842-CEEB-4E06-95D8-699F024CF6EC}"/>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Diez fones adicionales duplican aproximadamente los sones</a:t>
            </a:r>
          </a:p>
        </p:txBody>
      </p:sp>
      <p:sp>
        <p:nvSpPr>
          <p:cNvPr id="2" name="equation-box">
            <a:extLst xmlns:a="http://schemas.openxmlformats.org/drawingml/2006/main">
              <a:ext uri="{FF2B5EF4-FFF2-40B4-BE49-F238E27FC236}">
                <a16:creationId xmlns:a16="http://schemas.microsoft.com/office/drawing/2014/main" id="{AAD77D93-9E2D-4B59-8E25-8828708ECBEC}"/>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E0EFC1CF-AEDF-4C1A-86ED-8DF5C5636F38}"/>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N(son) = 2^[(L(N) − 40 fon)/(10 fon)] son, para L(N) ≥ 40 fon dentro del modelo introductorio.</a:t>
            </a:r>
          </a:p>
        </p:txBody>
      </p:sp>
      <p:sp>
        <p:nvSpPr>
          <p:cNvPr id="4" name="equation-interpretation-box">
            <a:extLst xmlns:a="http://schemas.openxmlformats.org/drawingml/2006/main">
              <a:ext uri="{FF2B5EF4-FFF2-40B4-BE49-F238E27FC236}">
                <a16:creationId xmlns:a16="http://schemas.microsoft.com/office/drawing/2014/main" id="{6C73EB01-AF8A-41FD-B56D-607F308AE1E4}"/>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CB00631D-B24B-44D6-B0DB-C3AD0E654AB7}"/>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4C09D796-903D-4ABC-ABA3-B714AA893706}"/>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 Ecuación, símbolos, unidades y dominio pedagógico. Interpretar el resultado dentro de las condiciones indicadas.</a:t>
            </a:r>
          </a:p>
        </p:txBody>
      </p:sp>
      <p:sp>
        <p:nvSpPr>
          <p:cNvPr id="7" name="top-rail-1">
            <a:extLst xmlns:a="http://schemas.openxmlformats.org/drawingml/2006/main">
              <a:ext uri="{FF2B5EF4-FFF2-40B4-BE49-F238E27FC236}">
                <a16:creationId xmlns:a16="http://schemas.microsoft.com/office/drawing/2014/main" id="{FBB6714C-731E-439E-8BE3-AD8EA139C4B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2128C5A4-90CC-4D1F-BB53-8B4002FF3D1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E7DDB892-DA85-4B3D-9A45-498E44A5043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760D9741-B202-4672-95B9-9E1BDB68AD1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1" name="slide-number">
            <a:extLst xmlns:a="http://schemas.openxmlformats.org/drawingml/2006/main">
              <a:ext uri="{FF2B5EF4-FFF2-40B4-BE49-F238E27FC236}">
                <a16:creationId xmlns:a16="http://schemas.microsoft.com/office/drawing/2014/main" id="{9E320E4C-54E3-4D8F-B695-45683B8BF2E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49</a:t>
            </a:r>
          </a:p>
        </p:txBody>
      </p:sp>
    </p:spTree>
    <p:extLst>
      <p:ext uri="{BB962C8B-B14F-4D97-AF65-F5344CB8AC3E}">
        <p14:creationId xmlns:p14="http://schemas.microsoft.com/office/powerpoint/2010/main" val="160228647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29CC7EC-5C07-4BAA-83D0-3D01B3472932}"/>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La escala en sones crece exponencialmente con los fones</a:t>
            </a:r>
          </a:p>
        </p:txBody>
      </p:sp>
      <p:pic>
        <p:nvPicPr>
          <p:cNvPr id="10" name="U07-050-U07-CH-006"/>
          <p:cNvPicPr>
            <a:picLocks xmlns:a="http://schemas.openxmlformats.org/drawingml/2006/main" noChangeAspect="1"/>
          </p:cNvPicPr>
          <p:nvPr/>
        </p:nvPicPr>
        <p:blipFill>
          <a:blip xmlns:r="http://schemas.openxmlformats.org/officeDocument/2006/relationships" xmlns:a="http://schemas.openxmlformats.org/drawingml/2006/main" r:embed="Rc5a94ed7829e43eb">
            <a:extLst>
              <a:ext uri="{96DAC541-7B7A-43D3-8B79-37D633B846F1}">
                <asvg:svgBlip xmlns:asvg="http://schemas.microsoft.com/office/drawing/2016/SVG/main" r:embed="Rd08bb51290f24983"/>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9C9D617D-F6F1-41F2-B5D9-BBC05D99E2BA}"/>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En el modelo introductorio, cada aumento de 10 fon duplica la sonoridad expresada en sones a partir de 40 fon.</a:t>
            </a:r>
          </a:p>
        </p:txBody>
      </p:sp>
      <p:sp>
        <p:nvSpPr>
          <p:cNvPr id="4" name="top-rail-1">
            <a:extLst xmlns:a="http://schemas.openxmlformats.org/drawingml/2006/main">
              <a:ext uri="{FF2B5EF4-FFF2-40B4-BE49-F238E27FC236}">
                <a16:creationId xmlns:a16="http://schemas.microsoft.com/office/drawing/2014/main" id="{F939EC06-3CF8-4EFA-B45C-D76E80C1258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4ABCFF25-CF06-4CAF-94D8-536CA411396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A9A5CC55-657A-4C98-B04D-DDBF74A13C1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C7881D80-B222-4B5B-AB03-BCFFC5D60C5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8" name="slide-number">
            <a:extLst xmlns:a="http://schemas.openxmlformats.org/drawingml/2006/main">
              <a:ext uri="{FF2B5EF4-FFF2-40B4-BE49-F238E27FC236}">
                <a16:creationId xmlns:a16="http://schemas.microsoft.com/office/drawing/2014/main" id="{25C1CED8-DE7E-4112-92B0-627D68399D2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50</a:t>
            </a:r>
          </a:p>
        </p:txBody>
      </p:sp>
    </p:spTree>
    <p:extLst>
      <p:ext uri="{BB962C8B-B14F-4D97-AF65-F5344CB8AC3E}">
        <p14:creationId xmlns:p14="http://schemas.microsoft.com/office/powerpoint/2010/main" val="4864900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83D916D5-38C7-4BAE-9CB1-7FBA3C07C415}"/>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De 70 fon a 8 sones, paso a paso</a:t>
            </a:r>
          </a:p>
        </p:txBody>
      </p:sp>
      <p:pic>
        <p:nvPicPr>
          <p:cNvPr id="10" name="U07-051-U07-CH-006"/>
          <p:cNvPicPr>
            <a:picLocks xmlns:a="http://schemas.openxmlformats.org/drawingml/2006/main" noChangeAspect="1"/>
          </p:cNvPicPr>
          <p:nvPr/>
        </p:nvPicPr>
        <p:blipFill>
          <a:blip xmlns:r="http://schemas.openxmlformats.org/officeDocument/2006/relationships" xmlns:a="http://schemas.openxmlformats.org/drawingml/2006/main" r:embed="Rccb5b1b3f9fd425f">
            <a:extLst>
              <a:ext uri="{96DAC541-7B7A-43D3-8B79-37D633B846F1}">
                <asvg:svgBlip xmlns:asvg="http://schemas.microsoft.com/office/drawing/2016/SVG/main" r:embed="Ref97adf9691046c6"/>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EAC85E0B-506A-4228-817B-A2FB918BBA9B}"/>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Cálculo paso a paso de la sonoridad del modelo para 70 fon.</a:t>
            </a:r>
          </a:p>
        </p:txBody>
      </p:sp>
      <p:sp>
        <p:nvSpPr>
          <p:cNvPr id="4" name="top-rail-1">
            <a:extLst xmlns:a="http://schemas.openxmlformats.org/drawingml/2006/main">
              <a:ext uri="{FF2B5EF4-FFF2-40B4-BE49-F238E27FC236}">
                <a16:creationId xmlns:a16="http://schemas.microsoft.com/office/drawing/2014/main" id="{9CCA67C6-E587-4F30-A39F-459A4C5AC0A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82186175-F32F-4526-9C37-3F980A172D1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0491D2F3-839A-44FC-9142-070236BFD5D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4A2098BD-A5C8-47F0-8B72-66E08A0B6AC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8" name="slide-number">
            <a:extLst xmlns:a="http://schemas.openxmlformats.org/drawingml/2006/main">
              <a:ext uri="{FF2B5EF4-FFF2-40B4-BE49-F238E27FC236}">
                <a16:creationId xmlns:a16="http://schemas.microsoft.com/office/drawing/2014/main" id="{44BE0BEC-2915-4E4C-80BB-DD2F90E7AAA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51</a:t>
            </a:r>
          </a:p>
        </p:txBody>
      </p:sp>
    </p:spTree>
    <p:extLst>
      <p:ext uri="{BB962C8B-B14F-4D97-AF65-F5344CB8AC3E}">
        <p14:creationId xmlns:p14="http://schemas.microsoft.com/office/powerpoint/2010/main" val="1133635661"/>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7577C196-770C-4654-9460-A4239E5BC308}"/>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¿“70 dB SPL equivalen a 8 sones” es correcto?</a:t>
            </a:r>
          </a:p>
        </p:txBody>
      </p:sp>
      <p:sp>
        <p:nvSpPr>
          <p:cNvPr id="2" name="slide-subtitle">
            <a:extLst xmlns:a="http://schemas.openxmlformats.org/drawingml/2006/main">
              <a:ext uri="{FF2B5EF4-FFF2-40B4-BE49-F238E27FC236}">
                <a16:creationId xmlns:a16="http://schemas.microsoft.com/office/drawing/2014/main" id="{A098752A-A250-4041-92D7-85B2DA0F5227}"/>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C3236379-5257-40EA-9D09-3B600D30FCE7}"/>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F91CDB79-25EB-430B-A5FD-B154A51C66D5}"/>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D6C13D6A-2A6A-442C-A7D6-E81C1017C131}"/>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 Evalúe: «70 dB SPL equivalen a 8 sones». Reformule la afirmación usando L(N), frecuencia, señal y condiciones.</a:t>
            </a:r>
          </a:p>
        </p:txBody>
      </p:sp>
      <p:sp>
        <p:nvSpPr>
          <p:cNvPr id="6" name="answer-guide-box">
            <a:extLst xmlns:a="http://schemas.openxmlformats.org/drawingml/2006/main">
              <a:ext uri="{FF2B5EF4-FFF2-40B4-BE49-F238E27FC236}">
                <a16:creationId xmlns:a16="http://schemas.microsoft.com/office/drawing/2014/main" id="{562578C2-635A-4674-A509-A520206B03E6}"/>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20709874-DC54-4BCF-9DCA-754263D0804C}"/>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ED0809A6-7880-4F39-8BE8-0AE97A4FE3F4}"/>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Nombrá el objeto, identificá las magnitudes y justificá la relación causal.</a:t>
            </a:r>
          </a:p>
        </p:txBody>
      </p:sp>
      <p:sp>
        <p:nvSpPr>
          <p:cNvPr id="9" name="top-rail-1">
            <a:extLst xmlns:a="http://schemas.openxmlformats.org/drawingml/2006/main">
              <a:ext uri="{FF2B5EF4-FFF2-40B4-BE49-F238E27FC236}">
                <a16:creationId xmlns:a16="http://schemas.microsoft.com/office/drawing/2014/main" id="{5B7E2AB0-E5BC-44AF-8918-34B3E5E55B0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CBD96E3A-8E06-4FE0-88DE-E24273F8504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A0269677-060F-451A-9973-B89AB46F563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D736E9FB-8531-4C2D-8555-77E2E730B6F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3" name="slide-number">
            <a:extLst xmlns:a="http://schemas.openxmlformats.org/drawingml/2006/main">
              <a:ext uri="{FF2B5EF4-FFF2-40B4-BE49-F238E27FC236}">
                <a16:creationId xmlns:a16="http://schemas.microsoft.com/office/drawing/2014/main" id="{8069B895-8E59-4F13-8786-BEEA7DFE9C2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52</a:t>
            </a:r>
          </a:p>
        </p:txBody>
      </p:sp>
    </p:spTree>
    <p:extLst>
      <p:ext uri="{BB962C8B-B14F-4D97-AF65-F5344CB8AC3E}">
        <p14:creationId xmlns:p14="http://schemas.microsoft.com/office/powerpoint/2010/main" val="281546375"/>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53-U07-DG-013-validated-png"/>
          <p:cNvPicPr>
            <a:picLocks xmlns:a="http://schemas.openxmlformats.org/drawingml/2006/main" noChangeAspect="1"/>
          </p:cNvPicPr>
          <p:nvPr/>
        </p:nvPicPr>
        <p:blipFill>
          <a:blip xmlns:r="http://schemas.openxmlformats.org/officeDocument/2006/relationships" xmlns:a="http://schemas.openxmlformats.org/drawingml/2006/main" r:embed="R3cab2307c2834669"/>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D907D1C7-9C5E-4240-BF9D-AC9DDBE84F04}"/>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Lₚ, L(N) y N(son) responden preguntas distintas</a:t>
            </a:r>
          </a:p>
        </p:txBody>
      </p:sp>
      <p:sp>
        <p:nvSpPr>
          <p:cNvPr id="3" name="diagram-footer">
            <a:extLst xmlns:a="http://schemas.openxmlformats.org/drawingml/2006/main">
              <a:ext uri="{FF2B5EF4-FFF2-40B4-BE49-F238E27FC236}">
                <a16:creationId xmlns:a16="http://schemas.microsoft.com/office/drawing/2014/main" id="{2351C54E-2DD3-4C9A-92C1-F378B2183F96}"/>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C45B99C9-6B26-4020-BE21-103DFBE26EDA}"/>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522C88C7-A8C0-4E84-AA71-B18F0FF7F37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7318B5E9-6F06-48AC-A80E-9F02FDAD501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A9ADE7E2-9644-4ACF-A483-36B67189B2A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35639ECE-B54C-47FB-9295-EC1051338E3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EBF42B7D-C48B-4CD0-93EC-9038E1701A7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53</a:t>
            </a:r>
          </a:p>
        </p:txBody>
      </p:sp>
    </p:spTree>
    <p:extLst>
      <p:ext uri="{BB962C8B-B14F-4D97-AF65-F5344CB8AC3E}">
        <p14:creationId xmlns:p14="http://schemas.microsoft.com/office/powerpoint/2010/main" val="1320203634"/>
      </p:ext>
    </p:extLst>
  </p:cSld>
</p:sld>
</file>

<file path=ppt/slides/slide54.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6" name="dark-eyebrow">
            <a:extLst xmlns:a="http://schemas.openxmlformats.org/drawingml/2006/main">
              <a:ext uri="{FF2B5EF4-FFF2-40B4-BE49-F238E27FC236}">
                <a16:creationId xmlns:a16="http://schemas.microsoft.com/office/drawing/2014/main" id="{2FDE4BFF-47DF-444B-B03C-C586BEBE5182}"/>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2 · RUTA CENTRAL</a:t>
            </a:r>
          </a:p>
        </p:txBody>
      </p:sp>
      <p:sp>
        <p:nvSpPr>
          <p:cNvPr id="2" name="divider-title">
            <a:extLst xmlns:a="http://schemas.openxmlformats.org/drawingml/2006/main">
              <a:ext uri="{FF2B5EF4-FFF2-40B4-BE49-F238E27FC236}">
                <a16:creationId xmlns:a16="http://schemas.microsoft.com/office/drawing/2014/main" id="{50234C47-DE7F-4B80-93B9-7669EFB2175E}"/>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¿Cómo cambia un umbral cuando aparece otro sonido?</a:t>
            </a:r>
          </a:p>
        </p:txBody>
      </p:sp>
      <p:sp>
        <p:nvSpPr>
          <p:cNvPr id="3" name="divider-subtitle">
            <a:extLst xmlns:a="http://schemas.openxmlformats.org/drawingml/2006/main">
              <a:ext uri="{FF2B5EF4-FFF2-40B4-BE49-F238E27FC236}">
                <a16:creationId xmlns:a16="http://schemas.microsoft.com/office/drawing/2014/main" id="{A6C786AD-AD90-4C31-8C3B-C0D86C9B60DF}"/>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El enmascaramiento se define por una tarea y un cambio de umbral.</a:t>
            </a:r>
          </a:p>
        </p:txBody>
      </p:sp>
      <p:sp>
        <p:nvSpPr>
          <p:cNvPr id="4" name="divider-content">
            <a:extLst xmlns:a="http://schemas.openxmlformats.org/drawingml/2006/main">
              <a:ext uri="{FF2B5EF4-FFF2-40B4-BE49-F238E27FC236}">
                <a16:creationId xmlns:a16="http://schemas.microsoft.com/office/drawing/2014/main" id="{600E7047-DA8C-476E-8705-F5379A592942}"/>
              </a:ext>
            </a:extLst>
          </p:cNvPr>
          <p:cNvSpPr>
            <a:spLocks xmlns:a="http://schemas.openxmlformats.org/drawingml/2006/main" noGrp="1"/>
          </p:cNvSpPr>
          <p:nvPr/>
        </p:nvSpPr>
        <p:spPr>
          <a:xfrm xmlns:a="http://schemas.openxmlformats.org/drawingml/2006/main">
            <a:off x="2095500" y="44767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 El enmascaramiento se define por una tarea y un cambio de umbral.</a:t>
            </a:r>
          </a:p>
        </p:txBody>
      </p:sp>
      <p:sp>
        <p:nvSpPr>
          <p:cNvPr id="5" name="slide-number">
            <a:extLst xmlns:a="http://schemas.openxmlformats.org/drawingml/2006/main">
              <a:ext uri="{FF2B5EF4-FFF2-40B4-BE49-F238E27FC236}">
                <a16:creationId xmlns:a16="http://schemas.microsoft.com/office/drawing/2014/main" id="{257F2CCB-90A6-4060-AA02-7CF25C7D8593}"/>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54</a:t>
            </a:r>
          </a:p>
        </p:txBody>
      </p:sp>
    </p:spTree>
    <p:extLst>
      <p:ext uri="{BB962C8B-B14F-4D97-AF65-F5344CB8AC3E}">
        <p14:creationId xmlns:p14="http://schemas.microsoft.com/office/powerpoint/2010/main" val="116490234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75376E5-8DE5-4735-BD42-F63E1F40467B}"/>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Enmascarar es elevar el umbral de detección de una señal</a:t>
            </a:r>
          </a:p>
        </p:txBody>
      </p:sp>
      <p:sp>
        <p:nvSpPr>
          <p:cNvPr id="2" name="main-ideas">
            <a:extLst xmlns:a="http://schemas.openxmlformats.org/drawingml/2006/main">
              <a:ext uri="{FF2B5EF4-FFF2-40B4-BE49-F238E27FC236}">
                <a16:creationId xmlns:a16="http://schemas.microsoft.com/office/drawing/2014/main" id="{DC9A1C32-D4B2-473D-A9C8-AA9BF2A19B19}"/>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El efecto se cuantifica comparando el umbral con y sin enmascarador.</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Señal objetivo, enmascarador, tarea y dos condiciones.</a:t>
            </a:r>
          </a:p>
        </p:txBody>
      </p:sp>
      <p:sp>
        <p:nvSpPr>
          <p:cNvPr id="3" name="side-panel-box">
            <a:extLst xmlns:a="http://schemas.openxmlformats.org/drawingml/2006/main">
              <a:ext uri="{FF2B5EF4-FFF2-40B4-BE49-F238E27FC236}">
                <a16:creationId xmlns:a16="http://schemas.microsoft.com/office/drawing/2014/main" id="{726939AF-3773-465F-817F-4397C7992EAB}"/>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C56C4FE6-6188-4D6F-8208-FAA26454A637}"/>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B9530522-EA87-45A9-B9FE-62CA8241DA59}"/>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Enmascaramiento: elevación del umbral o reducción de detectabilidad de una señal por la presencia de otra.</a:t>
            </a:r>
          </a:p>
        </p:txBody>
      </p:sp>
      <p:sp>
        <p:nvSpPr>
          <p:cNvPr id="6" name="top-rail-1">
            <a:extLst xmlns:a="http://schemas.openxmlformats.org/drawingml/2006/main">
              <a:ext uri="{FF2B5EF4-FFF2-40B4-BE49-F238E27FC236}">
                <a16:creationId xmlns:a16="http://schemas.microsoft.com/office/drawing/2014/main" id="{A970D336-BF07-424C-B2CC-9C7BD594ADD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1D819D26-63AB-4B34-8A24-C4D08FB48C0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3F517A37-C004-44CF-9BA4-2B464081153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E58D52BB-F91F-4DFB-88B1-6CC3AFEFB50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0E3A2B05-37BC-4609-B0B4-A57549356F7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55</a:t>
            </a:r>
          </a:p>
        </p:txBody>
      </p:sp>
    </p:spTree>
    <p:extLst>
      <p:ext uri="{BB962C8B-B14F-4D97-AF65-F5344CB8AC3E}">
        <p14:creationId xmlns:p14="http://schemas.microsoft.com/office/powerpoint/2010/main" val="98663046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56-U07-DG-016-validated-png"/>
          <p:cNvPicPr>
            <a:picLocks xmlns:a="http://schemas.openxmlformats.org/drawingml/2006/main" noChangeAspect="1"/>
          </p:cNvPicPr>
          <p:nvPr/>
        </p:nvPicPr>
        <p:blipFill>
          <a:blip xmlns:r="http://schemas.openxmlformats.org/officeDocument/2006/relationships" xmlns:a="http://schemas.openxmlformats.org/drawingml/2006/main" r:embed="R50e827e46d1c49b2"/>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1616FDCB-E35E-4DA8-9626-A929EBE8ED2C}"/>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Tres niveles evitan una resta ambigua</a:t>
            </a:r>
          </a:p>
        </p:txBody>
      </p:sp>
      <p:sp>
        <p:nvSpPr>
          <p:cNvPr id="3" name="diagram-footer">
            <a:extLst xmlns:a="http://schemas.openxmlformats.org/drawingml/2006/main">
              <a:ext uri="{FF2B5EF4-FFF2-40B4-BE49-F238E27FC236}">
                <a16:creationId xmlns:a16="http://schemas.microsoft.com/office/drawing/2014/main" id="{74032498-A3CC-492A-B9FC-B8C43DA9CED7}"/>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C82ED503-6AEE-4453-9B74-0469C84323A8}"/>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57BB3D52-DE23-4EC8-8E49-EE8AF694240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441E0436-9B9D-4B6E-90F5-6963C94E9FF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B7E8E80A-000E-463E-8680-E645E59E92A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169BB20E-10D5-4005-AF83-33B40A9CBED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354305AC-75E5-43DA-B1AE-94B3EF0ACD7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56</a:t>
            </a:r>
          </a:p>
        </p:txBody>
      </p:sp>
    </p:spTree>
    <p:extLst>
      <p:ext uri="{BB962C8B-B14F-4D97-AF65-F5344CB8AC3E}">
        <p14:creationId xmlns:p14="http://schemas.microsoft.com/office/powerpoint/2010/main" val="1271479030"/>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D9950118-AAE6-4D31-BD0A-F13C1EDF0267}"/>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enmascaramiento es una diferencia de umbrales</a:t>
            </a:r>
          </a:p>
        </p:txBody>
      </p:sp>
      <p:sp>
        <p:nvSpPr>
          <p:cNvPr id="2" name="equation-box">
            <a:extLst xmlns:a="http://schemas.openxmlformats.org/drawingml/2006/main">
              <a:ext uri="{FF2B5EF4-FFF2-40B4-BE49-F238E27FC236}">
                <a16:creationId xmlns:a16="http://schemas.microsoft.com/office/drawing/2014/main" id="{4C8D4601-F381-4A1F-9017-831F1F768CFD}"/>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CB7D6ACB-A81B-485F-9E3A-70AE726BF016}"/>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550" b="1" i="0">
                <a:solidFill>
                  <a:srgbClr val="3D3D3D"/>
                </a:solidFill>
                <a:latin typeface="Cambria Math"/>
                <a:ea typeface="Cambria Math"/>
                <a:cs typeface="Cambria Math"/>
              </a:defRPr>
            </a:pPr>
            <a:r>
              <a:rPr sz="2550" b="1" i="0">
                <a:solidFill>
                  <a:srgbClr val="3D3D3D"/>
                </a:solidFill>
                <a:latin typeface="Cambria Math"/>
                <a:ea typeface="Cambria Math"/>
                <a:cs typeface="Cambria Math"/>
              </a:rPr>
              <a:t>M(f(obj)) = L(umbral),e(f(obj)) − L(umbral),q(f(obj)); los dos niveles deben compartir referencia y procedimiento.</a:t>
            </a:r>
          </a:p>
        </p:txBody>
      </p:sp>
      <p:sp>
        <p:nvSpPr>
          <p:cNvPr id="4" name="equation-interpretation-box">
            <a:extLst xmlns:a="http://schemas.openxmlformats.org/drawingml/2006/main">
              <a:ext uri="{FF2B5EF4-FFF2-40B4-BE49-F238E27FC236}">
                <a16:creationId xmlns:a16="http://schemas.microsoft.com/office/drawing/2014/main" id="{9C85DA54-13F6-4707-98A1-3C0D4DA122B2}"/>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FE33C0FA-4247-4513-A835-3D5ACEB448B3}"/>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44BA449F-939F-49C0-97C5-DD1E5F46E4E2}"/>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 Ecuación, términos, unidades y signo esperado. Interpretar el resultado dentro de las condiciones indicadas.</a:t>
            </a:r>
          </a:p>
        </p:txBody>
      </p:sp>
      <p:sp>
        <p:nvSpPr>
          <p:cNvPr id="7" name="top-rail-1">
            <a:extLst xmlns:a="http://schemas.openxmlformats.org/drawingml/2006/main">
              <a:ext uri="{FF2B5EF4-FFF2-40B4-BE49-F238E27FC236}">
                <a16:creationId xmlns:a16="http://schemas.microsoft.com/office/drawing/2014/main" id="{DE540F10-CAF6-479B-8C9E-600AFB5F1A7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61E80FD1-AD0E-4251-A0AA-8DB5679020B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DD2DEF3A-C0BD-4818-9E4D-7D0C3FCC864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6EEBE61D-DC7B-45D4-90D6-9C7ECF784AA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1" name="slide-number">
            <a:extLst xmlns:a="http://schemas.openxmlformats.org/drawingml/2006/main">
              <a:ext uri="{FF2B5EF4-FFF2-40B4-BE49-F238E27FC236}">
                <a16:creationId xmlns:a16="http://schemas.microsoft.com/office/drawing/2014/main" id="{F2F61193-0AE4-4776-B60D-35B2ACD620C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57</a:t>
            </a:r>
          </a:p>
        </p:txBody>
      </p:sp>
    </p:spTree>
    <p:extLst>
      <p:ext uri="{BB962C8B-B14F-4D97-AF65-F5344CB8AC3E}">
        <p14:creationId xmlns:p14="http://schemas.microsoft.com/office/powerpoint/2010/main" val="1602286470"/>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2D7ABDCE-2F5D-4615-B9E3-826B08489E9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Si el umbral sube de 10 a 35 dB SPL, M=25 dB</a:t>
            </a:r>
          </a:p>
        </p:txBody>
      </p:sp>
      <p:sp>
        <p:nvSpPr>
          <p:cNvPr id="2" name="equation-box">
            <a:extLst xmlns:a="http://schemas.openxmlformats.org/drawingml/2006/main">
              <a:ext uri="{FF2B5EF4-FFF2-40B4-BE49-F238E27FC236}">
                <a16:creationId xmlns:a16="http://schemas.microsoft.com/office/drawing/2014/main" id="{78D9058F-ABD8-451F-89C9-F488266DD8D2}"/>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527278F2-BB4C-4460-A4C9-A4D8F8C3268C}"/>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M = 35 dB SPL − 10 dB SPL = 25 dB.</a:t>
            </a:r>
          </a:p>
        </p:txBody>
      </p:sp>
      <p:sp>
        <p:nvSpPr>
          <p:cNvPr id="4" name="equation-meaning-box">
            <a:extLst xmlns:a="http://schemas.openxmlformats.org/drawingml/2006/main">
              <a:ext uri="{FF2B5EF4-FFF2-40B4-BE49-F238E27FC236}">
                <a16:creationId xmlns:a16="http://schemas.microsoft.com/office/drawing/2014/main" id="{241B1EE7-62AC-42CA-9D24-2303CD5A2F6E}"/>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305A38DE-858F-4309-B208-C153D65BBA2D}"/>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BCE41B3C-3BAC-4BB7-8BC3-461F534F8AE9}"/>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 Datos. Resta. Resultado. Interpretación condicionada. Interpretar el resultado dentro de las condiciones indicadas.</a:t>
            </a:r>
          </a:p>
        </p:txBody>
      </p:sp>
      <p:sp>
        <p:nvSpPr>
          <p:cNvPr id="7" name="equation-use-box">
            <a:extLst xmlns:a="http://schemas.openxmlformats.org/drawingml/2006/main">
              <a:ext uri="{FF2B5EF4-FFF2-40B4-BE49-F238E27FC236}">
                <a16:creationId xmlns:a16="http://schemas.microsoft.com/office/drawing/2014/main" id="{B120DDB7-2A6B-422D-9CA9-9ADA8EC62F6B}"/>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E43423DD-BF22-4BE3-8414-B19E2C108491}"/>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9B1F55F3-F810-4BA0-9D1A-9876D75B68E7}"/>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Umbral en quietud: 10 dB SPL. Umbral con máscara: 35 dB SPL. Elevación: 25 dB.</a:t>
            </a:r>
          </a:p>
        </p:txBody>
      </p:sp>
      <p:sp>
        <p:nvSpPr>
          <p:cNvPr id="10" name="top-rail-1">
            <a:extLst xmlns:a="http://schemas.openxmlformats.org/drawingml/2006/main">
              <a:ext uri="{FF2B5EF4-FFF2-40B4-BE49-F238E27FC236}">
                <a16:creationId xmlns:a16="http://schemas.microsoft.com/office/drawing/2014/main" id="{CF97F5C8-66F5-4AA3-89EF-262D0577772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A7059458-57AB-43FA-9B74-5FE19F01241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D97FE3D5-81DF-41A4-BDB9-C5F1AA6AE59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47F50D9C-D018-4491-96E5-D4B70D87D75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4" name="slide-number">
            <a:extLst xmlns:a="http://schemas.openxmlformats.org/drawingml/2006/main">
              <a:ext uri="{FF2B5EF4-FFF2-40B4-BE49-F238E27FC236}">
                <a16:creationId xmlns:a16="http://schemas.microsoft.com/office/drawing/2014/main" id="{C39C2801-3DFC-454D-95FF-E3F4655B8603}"/>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58</a:t>
            </a:r>
          </a:p>
        </p:txBody>
      </p:sp>
    </p:spTree>
    <p:extLst>
      <p:ext uri="{BB962C8B-B14F-4D97-AF65-F5344CB8AC3E}">
        <p14:creationId xmlns:p14="http://schemas.microsoft.com/office/powerpoint/2010/main" val="113363566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59-U07-DG-018-validated-png"/>
          <p:cNvPicPr>
            <a:picLocks xmlns:a="http://schemas.openxmlformats.org/drawingml/2006/main" noChangeAspect="1"/>
          </p:cNvPicPr>
          <p:nvPr/>
        </p:nvPicPr>
        <p:blipFill>
          <a:blip xmlns:r="http://schemas.openxmlformats.org/officeDocument/2006/relationships" xmlns:a="http://schemas.openxmlformats.org/drawingml/2006/main" r:embed="Rcf1ccaded2e145d9"/>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72877549-D3FC-465B-B160-32ADA99ADFF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Enmascaramiento simultáneo significa superposición temporal</a:t>
            </a:r>
          </a:p>
        </p:txBody>
      </p:sp>
      <p:sp>
        <p:nvSpPr>
          <p:cNvPr id="3" name="diagram-footer">
            <a:extLst xmlns:a="http://schemas.openxmlformats.org/drawingml/2006/main">
              <a:ext uri="{FF2B5EF4-FFF2-40B4-BE49-F238E27FC236}">
                <a16:creationId xmlns:a16="http://schemas.microsoft.com/office/drawing/2014/main" id="{0905A3B0-16E1-47F3-B722-71EF4A124BCB}"/>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3562FED7-4025-421E-9472-7F5097161566}"/>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087A830D-B3FC-4242-BC0D-691019A16A6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8BF83175-CE06-48D6-B7ED-23CEC873936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8BB2A3C1-C208-4E2D-93E9-8C46EB9458D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834B308D-A10A-4D97-B0E7-4F030CB75D4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3448283C-394A-4E9A-A448-272E70D52CE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59</a:t>
            </a:r>
          </a:p>
        </p:txBody>
      </p:sp>
    </p:spTree>
    <p:extLst>
      <p:ext uri="{BB962C8B-B14F-4D97-AF65-F5344CB8AC3E}">
        <p14:creationId xmlns:p14="http://schemas.microsoft.com/office/powerpoint/2010/main" val="567438305"/>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5B3E7A9-F156-460A-B4B8-C1167F9B0932}"/>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El enmascaramiento se extiende de manera desigual en frecuencia</a:t>
            </a:r>
          </a:p>
        </p:txBody>
      </p:sp>
      <p:pic>
        <p:nvPicPr>
          <p:cNvPr id="10" name="U07-060-U07-CH-007"/>
          <p:cNvPicPr>
            <a:picLocks xmlns:a="http://schemas.openxmlformats.org/drawingml/2006/main" noChangeAspect="1"/>
          </p:cNvPicPr>
          <p:nvPr/>
        </p:nvPicPr>
        <p:blipFill>
          <a:blip xmlns:r="http://schemas.openxmlformats.org/officeDocument/2006/relationships" xmlns:a="http://schemas.openxmlformats.org/drawingml/2006/main" r:embed="R5c7fcb0f454c4315">
            <a:extLst>
              <a:ext uri="{96DAC541-7B7A-43D3-8B79-37D633B846F1}">
                <asvg:svgBlip xmlns:asvg="http://schemas.microsoft.com/office/drawing/2016/SVG/main" r:embed="R8f244f0d56c74674"/>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983A35A6-7C0A-4877-B633-47DE1F74B5A5}"/>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Patrón sintético asimétrico: la elevación es máxima cerca del enmascarador y disminuye con la separación en octavas.</a:t>
            </a:r>
          </a:p>
        </p:txBody>
      </p:sp>
      <p:sp>
        <p:nvSpPr>
          <p:cNvPr id="4" name="top-rail-1">
            <a:extLst xmlns:a="http://schemas.openxmlformats.org/drawingml/2006/main">
              <a:ext uri="{FF2B5EF4-FFF2-40B4-BE49-F238E27FC236}">
                <a16:creationId xmlns:a16="http://schemas.microsoft.com/office/drawing/2014/main" id="{E9776F5D-6070-45D6-896C-883A4D7B8A2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9A5B4278-BEA5-4F5D-8E45-A1253D52E80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FC0E274F-4567-494F-8450-C16F0691FD5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CDF6BA41-8A9E-46BD-ACA1-107D40BB1A4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8" name="slide-number">
            <a:extLst xmlns:a="http://schemas.openxmlformats.org/drawingml/2006/main">
              <a:ext uri="{FF2B5EF4-FFF2-40B4-BE49-F238E27FC236}">
                <a16:creationId xmlns:a16="http://schemas.microsoft.com/office/drawing/2014/main" id="{0134B5A4-2967-430D-A527-C878DECB1DE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60</a:t>
            </a:r>
          </a:p>
        </p:txBody>
      </p:sp>
    </p:spTree>
    <p:extLst>
      <p:ext uri="{BB962C8B-B14F-4D97-AF65-F5344CB8AC3E}">
        <p14:creationId xmlns:p14="http://schemas.microsoft.com/office/powerpoint/2010/main" val="4864900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6A0E9287-6421-44A4-B557-7BE3D8CAC06A}"/>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¿Dónde esperaría mayor elevación del umbral?</a:t>
            </a:r>
          </a:p>
        </p:txBody>
      </p:sp>
      <p:sp>
        <p:nvSpPr>
          <p:cNvPr id="2" name="slide-subtitle">
            <a:extLst xmlns:a="http://schemas.openxmlformats.org/drawingml/2006/main">
              <a:ext uri="{FF2B5EF4-FFF2-40B4-BE49-F238E27FC236}">
                <a16:creationId xmlns:a16="http://schemas.microsoft.com/office/drawing/2014/main" id="{FBBBD521-5944-47E5-95EA-79083AB8186D}"/>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pic>
        <p:nvPicPr>
          <p:cNvPr id="12" name="U07-061-U07-CH-007"/>
          <p:cNvPicPr>
            <a:picLocks xmlns:a="http://schemas.openxmlformats.org/drawingml/2006/main" noChangeAspect="1"/>
          </p:cNvPicPr>
          <p:nvPr/>
        </p:nvPicPr>
        <p:blipFill>
          <a:blip xmlns:r="http://schemas.openxmlformats.org/officeDocument/2006/relationships" xmlns:a="http://schemas.openxmlformats.org/drawingml/2006/main" r:embed="R660ab66231e54161">
            <a:extLst>
              <a:ext uri="{96DAC541-7B7A-43D3-8B79-37D633B846F1}">
                <asvg:svgBlip xmlns:asvg="http://schemas.microsoft.com/office/drawing/2016/SVG/main" r:embed="Rfe8b1bcbd2814f6d"/>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DBF0F82B-1AC1-4821-A347-0D4EC05A43C3}"/>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Patrón sintético asimétrico: la elevación es máxima cerca del enmascarador y disminuye con la separación en octavas.</a:t>
            </a:r>
          </a:p>
        </p:txBody>
      </p:sp>
      <p:sp>
        <p:nvSpPr>
          <p:cNvPr id="5" name="top-rail-1">
            <a:extLst xmlns:a="http://schemas.openxmlformats.org/drawingml/2006/main">
              <a:ext uri="{FF2B5EF4-FFF2-40B4-BE49-F238E27FC236}">
                <a16:creationId xmlns:a16="http://schemas.microsoft.com/office/drawing/2014/main" id="{159E348E-C3C3-4E4D-8DBA-A683183BF63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6BA97100-AA5B-4E2D-BA49-AA62205EF5B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AF7696ED-9A33-4A5A-A251-3B4EEC368C7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383A537E-77E2-4526-8EA9-6927E4197D4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F999ED97-7962-4126-8370-8EF1C6EF2FC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61</a:t>
            </a:r>
          </a:p>
        </p:txBody>
      </p:sp>
    </p:spTree>
    <p:extLst>
      <p:ext uri="{BB962C8B-B14F-4D97-AF65-F5344CB8AC3E}">
        <p14:creationId xmlns:p14="http://schemas.microsoft.com/office/powerpoint/2010/main" val="1673297158"/>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339F704-1BBC-44E9-B3D2-AAA81E876AB9}"/>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selectividad frecuencial organiza qué componentes compiten más</a:t>
            </a:r>
          </a:p>
        </p:txBody>
      </p:sp>
      <p:sp>
        <p:nvSpPr>
          <p:cNvPr id="2" name="main-ideas">
            <a:extLst xmlns:a="http://schemas.openxmlformats.org/drawingml/2006/main">
              <a:ext uri="{FF2B5EF4-FFF2-40B4-BE49-F238E27FC236}">
                <a16:creationId xmlns:a16="http://schemas.microsoft.com/office/drawing/2014/main" id="{4BB22061-D67E-4B45-B7FF-DD481C24B042}"/>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El sistema auditivo puede modelarse como canales solapados con ancho limitado.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Compare relaciones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proximidad entre cajas no representa una escala.</a:t>
            </a:r>
          </a:p>
        </p:txBody>
      </p:sp>
      <p:sp>
        <p:nvSpPr>
          <p:cNvPr id="3" name="side-panel-box">
            <a:extLst xmlns:a="http://schemas.openxmlformats.org/drawingml/2006/main">
              <a:ext uri="{FF2B5EF4-FFF2-40B4-BE49-F238E27FC236}">
                <a16:creationId xmlns:a16="http://schemas.microsoft.com/office/drawing/2014/main" id="{A7775A1D-E261-4826-B18B-BE7DAAC914DD}"/>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F8EDE2"/>
          </a:solidFill>
          <a:ln xmlns:a="http://schemas.openxmlformats.org/drawingml/2006/main" w="19050">
            <a:solidFill>
              <a:srgbClr val="9F541A"/>
            </a:solidFill>
            <a:prstDash val="solid"/>
          </a:ln>
        </p:spPr>
      </p:sp>
      <p:sp>
        <p:nvSpPr>
          <p:cNvPr id="4" name="side-panel-title">
            <a:extLst xmlns:a="http://schemas.openxmlformats.org/drawingml/2006/main">
              <a:ext uri="{FF2B5EF4-FFF2-40B4-BE49-F238E27FC236}">
                <a16:creationId xmlns:a16="http://schemas.microsoft.com/office/drawing/2014/main" id="{0D690E9C-FDB1-4519-8526-8D8E75416186}"/>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7525F27D-5A44-4F85-8D61-E17EFA342302}"/>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Filtro auditivo: modelo funcional de un canal que pondera con mayor fuerza una región de frecuencias alrededor de su frecuencia central.</a:t>
            </a:r>
          </a:p>
        </p:txBody>
      </p:sp>
      <p:sp>
        <p:nvSpPr>
          <p:cNvPr id="6" name="top-rail-1">
            <a:extLst xmlns:a="http://schemas.openxmlformats.org/drawingml/2006/main">
              <a:ext uri="{FF2B5EF4-FFF2-40B4-BE49-F238E27FC236}">
                <a16:creationId xmlns:a16="http://schemas.microsoft.com/office/drawing/2014/main" id="{558094BF-0242-490B-8CCB-5C15C582BF2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4EC5AD9A-969A-41B9-A1A4-D507386A7BB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52470021-D31C-41B9-B532-7AAE4ADB02B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B4AE9A21-62CB-4303-9807-6E218E2A719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D8C1ABE3-DCED-403E-A440-ED83A183FD2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62</a:t>
            </a:r>
          </a:p>
        </p:txBody>
      </p:sp>
    </p:spTree>
    <p:extLst>
      <p:ext uri="{BB962C8B-B14F-4D97-AF65-F5344CB8AC3E}">
        <p14:creationId xmlns:p14="http://schemas.microsoft.com/office/powerpoint/2010/main" val="192697577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63-U07-DG-019-validated-png"/>
          <p:cNvPicPr>
            <a:picLocks xmlns:a="http://schemas.openxmlformats.org/drawingml/2006/main" noChangeAspect="1"/>
          </p:cNvPicPr>
          <p:nvPr/>
        </p:nvPicPr>
        <p:blipFill>
          <a:blip xmlns:r="http://schemas.openxmlformats.org/officeDocument/2006/relationships" xmlns:a="http://schemas.openxmlformats.org/drawingml/2006/main" r:embed="R3d8b103d70184496"/>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B4E5D2BE-3504-4363-83E8-DE57BBDD8B66}"/>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 banco de filtros distribuye el espectro en canales</a:t>
            </a:r>
          </a:p>
        </p:txBody>
      </p:sp>
      <p:sp>
        <p:nvSpPr>
          <p:cNvPr id="3" name="diagram-footer">
            <a:extLst xmlns:a="http://schemas.openxmlformats.org/drawingml/2006/main">
              <a:ext uri="{FF2B5EF4-FFF2-40B4-BE49-F238E27FC236}">
                <a16:creationId xmlns:a16="http://schemas.microsoft.com/office/drawing/2014/main" id="{D60CD920-A079-4CDC-92C0-D9F58F7A50E1}"/>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C997F4F6-8710-497F-B205-7CD8FB37B8BB}"/>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89FD542E-9662-4D1D-B13A-FEC0DAE3C37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1E95AF21-C299-41AF-96C5-3591CDA2A20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E83326C3-1CBF-43CB-8312-6EF67F7B1C2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74A17294-EA0E-4D5E-83D6-52AD6B54819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942AEDD4-1DDC-411D-A90C-0D19E027625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63</a:t>
            </a:r>
          </a:p>
        </p:txBody>
      </p:sp>
    </p:spTree>
    <p:extLst>
      <p:ext uri="{BB962C8B-B14F-4D97-AF65-F5344CB8AC3E}">
        <p14:creationId xmlns:p14="http://schemas.microsoft.com/office/powerpoint/2010/main" val="199544924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D793C34-B065-45A4-B5C4-A956BA1F5D82}"/>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ERB resume el ancho efectivo de un filtro auditivo</a:t>
            </a:r>
          </a:p>
        </p:txBody>
      </p:sp>
      <p:pic>
        <p:nvPicPr>
          <p:cNvPr id="10" name="U07-064-U07-CH-008"/>
          <p:cNvPicPr>
            <a:picLocks xmlns:a="http://schemas.openxmlformats.org/drawingml/2006/main" noChangeAspect="1"/>
          </p:cNvPicPr>
          <p:nvPr/>
        </p:nvPicPr>
        <p:blipFill>
          <a:blip xmlns:r="http://schemas.openxmlformats.org/officeDocument/2006/relationships" xmlns:a="http://schemas.openxmlformats.org/drawingml/2006/main" r:embed="R9d4a98c8b0534516">
            <a:extLst>
              <a:ext uri="{96DAC541-7B7A-43D3-8B79-37D633B846F1}">
                <asvg:svgBlip xmlns:asvg="http://schemas.microsoft.com/office/drawing/2016/SVG/main" r:embed="R32862e30b2c74e01"/>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943A304F-5141-4CDF-B311-7A46CAFA2E9A}"/>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El rectángulo tiene la misma altura máxima y, por cálculo numérico, la misma área que la respuesta gaussiana conceptual.</a:t>
            </a:r>
          </a:p>
        </p:txBody>
      </p:sp>
      <p:sp>
        <p:nvSpPr>
          <p:cNvPr id="4" name="top-rail-1">
            <a:extLst xmlns:a="http://schemas.openxmlformats.org/drawingml/2006/main">
              <a:ext uri="{FF2B5EF4-FFF2-40B4-BE49-F238E27FC236}">
                <a16:creationId xmlns:a16="http://schemas.microsoft.com/office/drawing/2014/main" id="{8955C8C7-4C6B-4094-8769-7B4927653AC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5284E154-5116-4971-ADD3-F29F2DD9957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803B81DB-C690-40BD-810E-52575D0E4BB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05C5256C-459B-4DA6-A79E-327945AC01D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8" name="slide-number">
            <a:extLst xmlns:a="http://schemas.openxmlformats.org/drawingml/2006/main">
              <a:ext uri="{FF2B5EF4-FFF2-40B4-BE49-F238E27FC236}">
                <a16:creationId xmlns:a16="http://schemas.microsoft.com/office/drawing/2014/main" id="{293113F9-A315-43BE-A9E4-DE5455D7017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64</a:t>
            </a:r>
          </a:p>
        </p:txBody>
      </p:sp>
    </p:spTree>
    <p:extLst>
      <p:ext uri="{BB962C8B-B14F-4D97-AF65-F5344CB8AC3E}">
        <p14:creationId xmlns:p14="http://schemas.microsoft.com/office/powerpoint/2010/main" val="160228647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65-U07-DG-020B-validated-png"/>
          <p:cNvPicPr>
            <a:picLocks xmlns:a="http://schemas.openxmlformats.org/drawingml/2006/main" noChangeAspect="1"/>
          </p:cNvPicPr>
          <p:nvPr/>
        </p:nvPicPr>
        <p:blipFill>
          <a:blip xmlns:r="http://schemas.openxmlformats.org/officeDocument/2006/relationships" xmlns:a="http://schemas.openxmlformats.org/drawingml/2006/main" r:embed="R385e6b1f84e14e80"/>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AD4EFE0-F9D3-4DA5-A93B-26DDC7D906CB}"/>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El filtro es un modelo intermedio, no una decisión perceptual</a:t>
            </a:r>
          </a:p>
        </p:txBody>
      </p:sp>
      <p:sp>
        <p:nvSpPr>
          <p:cNvPr id="3" name="diagram-footer">
            <a:extLst xmlns:a="http://schemas.openxmlformats.org/drawingml/2006/main">
              <a:ext uri="{FF2B5EF4-FFF2-40B4-BE49-F238E27FC236}">
                <a16:creationId xmlns:a16="http://schemas.microsoft.com/office/drawing/2014/main" id="{E4E4A50E-F740-4DE4-A92F-7B24E05055A2}"/>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0F275BC2-1564-4EB9-AE01-36CEDA0A7DBC}"/>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857D8738-5F5C-4507-A42D-60B971B1968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393C63EF-884C-4EF9-B227-5704B307A99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32C9CF2C-B124-4F90-B6D0-BA2B7401228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27D92121-DF33-4D15-961E-8D15AAB233E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75999260-93D4-4C4B-9BAA-6228F61AE88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65</a:t>
            </a:r>
          </a:p>
        </p:txBody>
      </p:sp>
    </p:spTree>
    <p:extLst>
      <p:ext uri="{BB962C8B-B14F-4D97-AF65-F5344CB8AC3E}">
        <p14:creationId xmlns:p14="http://schemas.microsoft.com/office/powerpoint/2010/main" val="1320203634"/>
      </p:ext>
    </p:extLst>
  </p:cSld>
</p:sld>
</file>

<file path=ppt/slides/slide66.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6" name="dark-eyebrow">
            <a:extLst xmlns:a="http://schemas.openxmlformats.org/drawingml/2006/main">
              <a:ext uri="{FF2B5EF4-FFF2-40B4-BE49-F238E27FC236}">
                <a16:creationId xmlns:a16="http://schemas.microsoft.com/office/drawing/2014/main" id="{692CD351-2504-4D29-B05C-02714871E8BB}"/>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2 · RUTA CENTRAL</a:t>
            </a:r>
          </a:p>
        </p:txBody>
      </p:sp>
      <p:sp>
        <p:nvSpPr>
          <p:cNvPr id="2" name="divider-title">
            <a:extLst xmlns:a="http://schemas.openxmlformats.org/drawingml/2006/main">
              <a:ext uri="{FF2B5EF4-FFF2-40B4-BE49-F238E27FC236}">
                <a16:creationId xmlns:a16="http://schemas.microsoft.com/office/drawing/2014/main" id="{79394951-DA61-41C9-A23E-5ADB2E913492}"/>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¿Puede una señal enmascarar sin coincidir en el tiempo?</a:t>
            </a:r>
          </a:p>
        </p:txBody>
      </p:sp>
      <p:sp>
        <p:nvSpPr>
          <p:cNvPr id="3" name="divider-subtitle">
            <a:extLst xmlns:a="http://schemas.openxmlformats.org/drawingml/2006/main">
              <a:ext uri="{FF2B5EF4-FFF2-40B4-BE49-F238E27FC236}">
                <a16:creationId xmlns:a16="http://schemas.microsoft.com/office/drawing/2014/main" id="{13DEF699-6DA0-403E-BF2C-1A7079F29EF6}"/>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El orden temporal y el tipo de competencia modifican el fenómeno.</a:t>
            </a:r>
          </a:p>
        </p:txBody>
      </p:sp>
      <p:sp>
        <p:nvSpPr>
          <p:cNvPr id="4" name="divider-content">
            <a:extLst xmlns:a="http://schemas.openxmlformats.org/drawingml/2006/main">
              <a:ext uri="{FF2B5EF4-FFF2-40B4-BE49-F238E27FC236}">
                <a16:creationId xmlns:a16="http://schemas.microsoft.com/office/drawing/2014/main" id="{3B417D69-320B-4D18-AC42-7702F3A65036}"/>
              </a:ext>
            </a:extLst>
          </p:cNvPr>
          <p:cNvSpPr>
            <a:spLocks xmlns:a="http://schemas.openxmlformats.org/drawingml/2006/main" noGrp="1"/>
          </p:cNvSpPr>
          <p:nvPr/>
        </p:nvSpPr>
        <p:spPr>
          <a:xfrm xmlns:a="http://schemas.openxmlformats.org/drawingml/2006/main">
            <a:off x="2095500" y="44767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 El orden temporal y el tipo de competencia modifican el fenómeno.</a:t>
            </a:r>
          </a:p>
        </p:txBody>
      </p:sp>
      <p:sp>
        <p:nvSpPr>
          <p:cNvPr id="5" name="slide-number">
            <a:extLst xmlns:a="http://schemas.openxmlformats.org/drawingml/2006/main">
              <a:ext uri="{FF2B5EF4-FFF2-40B4-BE49-F238E27FC236}">
                <a16:creationId xmlns:a16="http://schemas.microsoft.com/office/drawing/2014/main" id="{A1C0B5F9-FD87-4338-85D8-B820371862B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66</a:t>
            </a:r>
          </a:p>
        </p:txBody>
      </p:sp>
    </p:spTree>
    <p:extLst>
      <p:ext uri="{BB962C8B-B14F-4D97-AF65-F5344CB8AC3E}">
        <p14:creationId xmlns:p14="http://schemas.microsoft.com/office/powerpoint/2010/main" val="1164902343"/>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67-U07-DG-021-validated-png"/>
          <p:cNvPicPr>
            <a:picLocks xmlns:a="http://schemas.openxmlformats.org/drawingml/2006/main" noChangeAspect="1"/>
          </p:cNvPicPr>
          <p:nvPr/>
        </p:nvPicPr>
        <p:blipFill>
          <a:blip xmlns:r="http://schemas.openxmlformats.org/officeDocument/2006/relationships" xmlns:a="http://schemas.openxmlformats.org/drawingml/2006/main" r:embed="R8c9b7c922e644295"/>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D4A489F1-0051-4537-903B-59CBB3FC9BEE}"/>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máscara puede aparecer antes, durante o después del objetivo</a:t>
            </a:r>
          </a:p>
        </p:txBody>
      </p:sp>
      <p:sp>
        <p:nvSpPr>
          <p:cNvPr id="3" name="diagram-footer">
            <a:extLst xmlns:a="http://schemas.openxmlformats.org/drawingml/2006/main">
              <a:ext uri="{FF2B5EF4-FFF2-40B4-BE49-F238E27FC236}">
                <a16:creationId xmlns:a16="http://schemas.microsoft.com/office/drawing/2014/main" id="{2EDC6639-1828-4705-9BA7-7D2BE0C84474}"/>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CE1D822A-B4F2-44C1-8153-89F2C447A7E3}"/>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036E2CEF-F17E-4120-B5A9-4E0F8AD3A1C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EA864037-74CA-4989-AFA6-1881B67C7CE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9E6641CB-0D03-4CCD-AE59-9DF42E5C986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1B62C1FF-B280-42E8-B97B-0A9E365F8C9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51BBDB85-6979-468E-BABF-3268284946C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67</a:t>
            </a:r>
          </a:p>
        </p:txBody>
      </p:sp>
    </p:spTree>
    <p:extLst>
      <p:ext uri="{BB962C8B-B14F-4D97-AF65-F5344CB8AC3E}">
        <p14:creationId xmlns:p14="http://schemas.microsoft.com/office/powerpoint/2010/main" val="31832194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68-U07-DG-021-validated-png"/>
          <p:cNvPicPr>
            <a:picLocks xmlns:a="http://schemas.openxmlformats.org/drawingml/2006/main" noChangeAspect="1"/>
          </p:cNvPicPr>
          <p:nvPr/>
        </p:nvPicPr>
        <p:blipFill>
          <a:blip xmlns:r="http://schemas.openxmlformats.org/officeDocument/2006/relationships" xmlns:a="http://schemas.openxmlformats.org/drawingml/2006/main" r:embed="R2b7753b7c9d344aa"/>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E8DEEF6-7E44-456B-8678-0C1FC2DA098E}"/>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máscara puede aparecer antes, durante o después del objetivo</a:t>
            </a:r>
          </a:p>
        </p:txBody>
      </p:sp>
      <p:sp>
        <p:nvSpPr>
          <p:cNvPr id="3" name="diagram-footer">
            <a:extLst xmlns:a="http://schemas.openxmlformats.org/drawingml/2006/main">
              <a:ext uri="{FF2B5EF4-FFF2-40B4-BE49-F238E27FC236}">
                <a16:creationId xmlns:a16="http://schemas.microsoft.com/office/drawing/2014/main" id="{CD1118F2-EBCA-462A-B5A0-1FF1B89DD4C8}"/>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847C49D5-C92A-418A-95C2-0EAB72D4F981}"/>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BC7E0B92-C519-4877-8291-23E441095E8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CA002027-D059-411C-ABF6-FB8948C8EE3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83FB3CA2-8819-4106-BDFF-7E60476792B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8810D5F1-7E9A-4C43-9C32-C7319754A21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C3238F72-8201-42D0-920B-627E591B498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68</a:t>
            </a:r>
          </a:p>
        </p:txBody>
      </p:sp>
    </p:spTree>
    <p:extLst>
      <p:ext uri="{BB962C8B-B14F-4D97-AF65-F5344CB8AC3E}">
        <p14:creationId xmlns:p14="http://schemas.microsoft.com/office/powerpoint/2010/main" val="1926975773"/>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69-U07-DG-021-validated-png"/>
          <p:cNvPicPr>
            <a:picLocks xmlns:a="http://schemas.openxmlformats.org/drawingml/2006/main" noChangeAspect="1"/>
          </p:cNvPicPr>
          <p:nvPr/>
        </p:nvPicPr>
        <p:blipFill>
          <a:blip xmlns:r="http://schemas.openxmlformats.org/officeDocument/2006/relationships" xmlns:a="http://schemas.openxmlformats.org/drawingml/2006/main" r:embed="Rdef756b553ca4070"/>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8F782F45-3C18-42A3-993D-CD13C635EF7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máscara puede aparecer antes, durante o después del objetivo</a:t>
            </a:r>
          </a:p>
        </p:txBody>
      </p:sp>
      <p:sp>
        <p:nvSpPr>
          <p:cNvPr id="3" name="diagram-footer">
            <a:extLst xmlns:a="http://schemas.openxmlformats.org/drawingml/2006/main">
              <a:ext uri="{FF2B5EF4-FFF2-40B4-BE49-F238E27FC236}">
                <a16:creationId xmlns:a16="http://schemas.microsoft.com/office/drawing/2014/main" id="{FAA187D2-5E59-42A8-BCA6-951DC592B1F0}"/>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C57BAA61-B714-43CB-B7B0-644B87A341CA}"/>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967AB757-3599-4D37-B5C4-4EC058176C6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1E69D7AB-4B28-4693-83A1-8A20A071487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011EFBA6-1B0E-4D50-B9B2-C73EDB2A78A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3FD191AB-F42B-456C-849F-CEF64E1C5E3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CB34AFC1-B89F-450D-B4E7-B0AF1D9ED2A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69</a:t>
            </a:r>
          </a:p>
        </p:txBody>
      </p:sp>
    </p:spTree>
    <p:extLst>
      <p:ext uri="{BB962C8B-B14F-4D97-AF65-F5344CB8AC3E}">
        <p14:creationId xmlns:p14="http://schemas.microsoft.com/office/powerpoint/2010/main" val="1926975773"/>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70-U07-DG-021-validated-png"/>
          <p:cNvPicPr>
            <a:picLocks xmlns:a="http://schemas.openxmlformats.org/drawingml/2006/main" noChangeAspect="1"/>
          </p:cNvPicPr>
          <p:nvPr/>
        </p:nvPicPr>
        <p:blipFill>
          <a:blip xmlns:r="http://schemas.openxmlformats.org/officeDocument/2006/relationships" xmlns:a="http://schemas.openxmlformats.org/drawingml/2006/main" r:embed="Re60f53e70837421e"/>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560FE82-4475-4AA8-B572-379FB8B59D5D}"/>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máscara puede aparecer antes, durante o después del objetivo</a:t>
            </a:r>
          </a:p>
        </p:txBody>
      </p:sp>
      <p:sp>
        <p:nvSpPr>
          <p:cNvPr id="3" name="diagram-footer">
            <a:extLst xmlns:a="http://schemas.openxmlformats.org/drawingml/2006/main">
              <a:ext uri="{FF2B5EF4-FFF2-40B4-BE49-F238E27FC236}">
                <a16:creationId xmlns:a16="http://schemas.microsoft.com/office/drawing/2014/main" id="{4329B7BB-BAD6-4E18-A302-05DF85E358C8}"/>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EE494D09-8353-4BEF-AFAF-87F0196BB57A}"/>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CBCE5D6B-AD48-442A-B569-0CDEF4A02C2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170D8542-BC58-4024-A69F-8D0E90E956A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006C5042-C3D4-4642-B395-65512F12C46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96A476B4-6229-41C4-AFE9-2ECF6C50045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06CEC630-AED5-4EB4-A604-7D00EF848D6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70</a:t>
            </a:r>
          </a:p>
        </p:txBody>
      </p:sp>
    </p:spTree>
    <p:extLst>
      <p:ext uri="{BB962C8B-B14F-4D97-AF65-F5344CB8AC3E}">
        <p14:creationId xmlns:p14="http://schemas.microsoft.com/office/powerpoint/2010/main" val="1320203634"/>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71-U07-DG-021-validated-png"/>
          <p:cNvPicPr>
            <a:picLocks xmlns:a="http://schemas.openxmlformats.org/drawingml/2006/main" noChangeAspect="1"/>
          </p:cNvPicPr>
          <p:nvPr/>
        </p:nvPicPr>
        <p:blipFill>
          <a:blip xmlns:r="http://schemas.openxmlformats.org/officeDocument/2006/relationships" xmlns:a="http://schemas.openxmlformats.org/drawingml/2006/main" r:embed="Rc88fd0a18366465b"/>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394D5B04-7F49-4906-85D7-6E89333513B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máscara puede aparecer antes, durante o después del objetivo</a:t>
            </a:r>
          </a:p>
        </p:txBody>
      </p:sp>
      <p:sp>
        <p:nvSpPr>
          <p:cNvPr id="3" name="diagram-footer">
            <a:extLst xmlns:a="http://schemas.openxmlformats.org/drawingml/2006/main">
              <a:ext uri="{FF2B5EF4-FFF2-40B4-BE49-F238E27FC236}">
                <a16:creationId xmlns:a16="http://schemas.microsoft.com/office/drawing/2014/main" id="{CC0A0D90-511B-4DFA-9F35-ECBEF7203D44}"/>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97D120DB-8E8D-4276-9F95-7A31DDE3AB18}"/>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CF8EDA2B-3EAC-49A9-A53D-88A0AC48128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A0B8699E-27E6-4679-A444-59EFB33A041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A79B1940-2EF5-4AC2-8D1D-96EAB8340ED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82768BAA-98E2-405B-91E0-E40E8132562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9" name="slide-number">
            <a:extLst xmlns:a="http://schemas.openxmlformats.org/drawingml/2006/main">
              <a:ext uri="{FF2B5EF4-FFF2-40B4-BE49-F238E27FC236}">
                <a16:creationId xmlns:a16="http://schemas.microsoft.com/office/drawing/2014/main" id="{1D580562-90E0-4DD0-BB95-51344877EF9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71</a:t>
            </a:r>
          </a:p>
        </p:txBody>
      </p:sp>
    </p:spTree>
    <p:extLst>
      <p:ext uri="{BB962C8B-B14F-4D97-AF65-F5344CB8AC3E}">
        <p14:creationId xmlns:p14="http://schemas.microsoft.com/office/powerpoint/2010/main" val="281546375"/>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72-U07-DG-022A-validated-png"/>
          <p:cNvPicPr>
            <a:picLocks xmlns:a="http://schemas.openxmlformats.org/drawingml/2006/main" noChangeAspect="1"/>
          </p:cNvPicPr>
          <p:nvPr/>
        </p:nvPicPr>
        <p:blipFill>
          <a:blip xmlns:r="http://schemas.openxmlformats.org/officeDocument/2006/relationships" xmlns:a="http://schemas.openxmlformats.org/drawingml/2006/main" r:embed="R7d49d3b2500744e7"/>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C5F85D61-C806-4368-ABA6-7050F97AF943}"/>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Enmascaramiento energético: la competencia comienza en canales</a:t>
            </a:r>
          </a:p>
        </p:txBody>
      </p:sp>
      <p:sp>
        <p:nvSpPr>
          <p:cNvPr id="3" name="diagram-footer">
            <a:extLst xmlns:a="http://schemas.openxmlformats.org/drawingml/2006/main">
              <a:ext uri="{FF2B5EF4-FFF2-40B4-BE49-F238E27FC236}">
                <a16:creationId xmlns:a16="http://schemas.microsoft.com/office/drawing/2014/main" id="{B6192AA5-DB79-4A07-BB28-B26878989D37}"/>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C33A953B-9A32-4518-9F85-80A9B046F76D}"/>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D1FE2D0E-76C8-47C7-9444-6A7B0DD2A28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926837C3-76D6-4EEE-8B89-37B3E0B3F52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738C7183-7F69-4567-ABCE-833C0809C53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30F0A7C6-8812-4321-8CE2-D3EF12D9F8D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E15829DA-0239-44D3-9F63-99E4F44D33E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72</a:t>
            </a:r>
          </a:p>
        </p:txBody>
      </p:sp>
    </p:spTree>
    <p:extLst>
      <p:ext uri="{BB962C8B-B14F-4D97-AF65-F5344CB8AC3E}">
        <p14:creationId xmlns:p14="http://schemas.microsoft.com/office/powerpoint/2010/main" val="986630461"/>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73-U07-DG-022B-validated-png"/>
          <p:cNvPicPr>
            <a:picLocks xmlns:a="http://schemas.openxmlformats.org/drawingml/2006/main" noChangeAspect="1"/>
          </p:cNvPicPr>
          <p:nvPr/>
        </p:nvPicPr>
        <p:blipFill>
          <a:blip xmlns:r="http://schemas.openxmlformats.org/officeDocument/2006/relationships" xmlns:a="http://schemas.openxmlformats.org/drawingml/2006/main" r:embed="R1dd28b936b7c4182"/>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804AE33-B396-4312-897F-BB1ED5A853B5}"/>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Enmascaramiento informacional: la dificultad está en seleccionar</a:t>
            </a:r>
          </a:p>
        </p:txBody>
      </p:sp>
      <p:sp>
        <p:nvSpPr>
          <p:cNvPr id="3" name="diagram-footer">
            <a:extLst xmlns:a="http://schemas.openxmlformats.org/drawingml/2006/main">
              <a:ext uri="{FF2B5EF4-FFF2-40B4-BE49-F238E27FC236}">
                <a16:creationId xmlns:a16="http://schemas.microsoft.com/office/drawing/2014/main" id="{5FE66250-4381-4BEB-B6E9-AE99CF6D7B6B}"/>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C003CF45-FD05-421A-BCA2-794098E01253}"/>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7BF3344E-498F-486E-90CD-64C33862C76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CE8C27B7-0B31-4A91-A514-C99955DA7EB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E44DFAF6-6012-44AF-A9F8-C1D5CF86B28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5D83D9A2-C1DE-428E-9115-1D64B56C40A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71B01F53-2C5F-4426-8C7D-E2A91A4A026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73</a:t>
            </a:r>
          </a:p>
        </p:txBody>
      </p:sp>
    </p:spTree>
    <p:extLst>
      <p:ext uri="{BB962C8B-B14F-4D97-AF65-F5344CB8AC3E}">
        <p14:creationId xmlns:p14="http://schemas.microsoft.com/office/powerpoint/2010/main" val="986630461"/>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74-U07-DG-023-validated-png"/>
          <p:cNvPicPr>
            <a:picLocks xmlns:a="http://schemas.openxmlformats.org/drawingml/2006/main" noChangeAspect="1"/>
          </p:cNvPicPr>
          <p:nvPr/>
        </p:nvPicPr>
        <p:blipFill>
          <a:blip xmlns:r="http://schemas.openxmlformats.org/officeDocument/2006/relationships" xmlns:a="http://schemas.openxmlformats.org/drawingml/2006/main" r:embed="Rddc99cbb7d1a467d"/>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60DF6924-54E7-4E28-9F5E-8BB6B62ED11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Dos voces convergen en los oídos, pero compiten de modos distintos</a:t>
            </a:r>
          </a:p>
        </p:txBody>
      </p:sp>
      <p:sp>
        <p:nvSpPr>
          <p:cNvPr id="3" name="diagram-footer">
            <a:extLst xmlns:a="http://schemas.openxmlformats.org/drawingml/2006/main">
              <a:ext uri="{FF2B5EF4-FFF2-40B4-BE49-F238E27FC236}">
                <a16:creationId xmlns:a16="http://schemas.microsoft.com/office/drawing/2014/main" id="{9AF00981-9086-47CC-B816-A0C1FEC4AD8F}"/>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B3BB315B-6ED4-468E-892B-A17FF05FC007}"/>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54121907-A075-4924-9293-7A9D46DE6F8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7296596E-B9F7-4C8E-AF63-5C27738699C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C36FFF97-1407-4065-BCF0-412C67052B4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85DD0C61-B408-4728-8EC9-210B13E5D91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D3D07126-F63A-4223-B341-A1D0B04F28C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74</a:t>
            </a:r>
          </a:p>
        </p:txBody>
      </p:sp>
    </p:spTree>
    <p:extLst>
      <p:ext uri="{BB962C8B-B14F-4D97-AF65-F5344CB8AC3E}">
        <p14:creationId xmlns:p14="http://schemas.microsoft.com/office/powerpoint/2010/main" val="817057724"/>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75-U07-DG-022C-validated-png"/>
          <p:cNvPicPr>
            <a:picLocks xmlns:a="http://schemas.openxmlformats.org/drawingml/2006/main" noChangeAspect="1"/>
          </p:cNvPicPr>
          <p:nvPr/>
        </p:nvPicPr>
        <p:blipFill>
          <a:blip xmlns:r="http://schemas.openxmlformats.org/officeDocument/2006/relationships" xmlns:a="http://schemas.openxmlformats.org/drawingml/2006/main" r:embed="R6589bebc687e4b58"/>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B064E101-8F06-4680-8694-DF8664CA515E}"/>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Dos mecanismos pueden coexistir</a:t>
            </a:r>
          </a:p>
        </p:txBody>
      </p:sp>
      <p:sp>
        <p:nvSpPr>
          <p:cNvPr id="3" name="diagram-footer">
            <a:extLst xmlns:a="http://schemas.openxmlformats.org/drawingml/2006/main">
              <a:ext uri="{FF2B5EF4-FFF2-40B4-BE49-F238E27FC236}">
                <a16:creationId xmlns:a16="http://schemas.microsoft.com/office/drawing/2014/main" id="{CCC56240-0830-48A2-9293-F2D1B24722A1}"/>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93C09688-E7C3-4F18-8336-799F2367717E}"/>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61D82FE1-A3B3-4C83-AB48-FD498405F8B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09382688-8C7A-4766-8EAD-C1423B3446D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46012D87-BCC1-4F1F-8155-E1C6E24B950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9346EDA6-ACD5-4C67-9E35-5B4AFAAFB77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336C53C8-C99D-49E2-AA23-7607D666257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75</a:t>
            </a:r>
          </a:p>
        </p:txBody>
      </p:sp>
    </p:spTree>
    <p:extLst>
      <p:ext uri="{BB962C8B-B14F-4D97-AF65-F5344CB8AC3E}">
        <p14:creationId xmlns:p14="http://schemas.microsoft.com/office/powerpoint/2010/main" val="1320203634"/>
      </p:ext>
    </p:extLst>
  </p:cSld>
</p:sld>
</file>

<file path=ppt/slides/slide76.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6" name="dark-eyebrow">
            <a:extLst xmlns:a="http://schemas.openxmlformats.org/drawingml/2006/main">
              <a:ext uri="{FF2B5EF4-FFF2-40B4-BE49-F238E27FC236}">
                <a16:creationId xmlns:a16="http://schemas.microsoft.com/office/drawing/2014/main" id="{20478C58-049A-4494-AB4E-7C37B451F174}"/>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3 · RUTA CENTRAL</a:t>
            </a:r>
          </a:p>
        </p:txBody>
      </p:sp>
      <p:sp>
        <p:nvSpPr>
          <p:cNvPr id="2" name="divider-title">
            <a:extLst xmlns:a="http://schemas.openxmlformats.org/drawingml/2006/main">
              <a:ext uri="{FF2B5EF4-FFF2-40B4-BE49-F238E27FC236}">
                <a16:creationId xmlns:a16="http://schemas.microsoft.com/office/drawing/2014/main" id="{A5FFC59C-673D-4069-9442-E4B5059195C3}"/>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¿Por qué oír una voz no garantiza comprenderla?</a:t>
            </a:r>
          </a:p>
        </p:txBody>
      </p:sp>
      <p:sp>
        <p:nvSpPr>
          <p:cNvPr id="3" name="divider-subtitle">
            <a:extLst xmlns:a="http://schemas.openxmlformats.org/drawingml/2006/main">
              <a:ext uri="{FF2B5EF4-FFF2-40B4-BE49-F238E27FC236}">
                <a16:creationId xmlns:a16="http://schemas.microsoft.com/office/drawing/2014/main" id="{BC8CD93D-759F-46D9-9FE4-96A318D8CF6C}"/>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Detectabilidad e inteligibilidad son resultados diferentes.</a:t>
            </a:r>
          </a:p>
        </p:txBody>
      </p:sp>
      <p:sp>
        <p:nvSpPr>
          <p:cNvPr id="4" name="divider-content">
            <a:extLst xmlns:a="http://schemas.openxmlformats.org/drawingml/2006/main">
              <a:ext uri="{FF2B5EF4-FFF2-40B4-BE49-F238E27FC236}">
                <a16:creationId xmlns:a16="http://schemas.microsoft.com/office/drawing/2014/main" id="{2FDDA078-0F4E-4438-BB63-F8D8BDCA14F7}"/>
              </a:ext>
            </a:extLst>
          </p:cNvPr>
          <p:cNvSpPr>
            <a:spLocks xmlns:a="http://schemas.openxmlformats.org/drawingml/2006/main" noGrp="1"/>
          </p:cNvSpPr>
          <p:nvPr/>
        </p:nvSpPr>
        <p:spPr>
          <a:xfrm xmlns:a="http://schemas.openxmlformats.org/drawingml/2006/main">
            <a:off x="2095500" y="44767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 Detectabilidad e inteligibilidad son resultados diferentes.</a:t>
            </a:r>
          </a:p>
        </p:txBody>
      </p:sp>
      <p:sp>
        <p:nvSpPr>
          <p:cNvPr id="5" name="slide-number">
            <a:extLst xmlns:a="http://schemas.openxmlformats.org/drawingml/2006/main">
              <a:ext uri="{FF2B5EF4-FFF2-40B4-BE49-F238E27FC236}">
                <a16:creationId xmlns:a16="http://schemas.microsoft.com/office/drawing/2014/main" id="{92577DF7-5629-4AF0-A838-F49D8D11994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76</a:t>
            </a:r>
          </a:p>
        </p:txBody>
      </p:sp>
    </p:spTree>
    <p:extLst>
      <p:ext uri="{BB962C8B-B14F-4D97-AF65-F5344CB8AC3E}">
        <p14:creationId xmlns:p14="http://schemas.microsoft.com/office/powerpoint/2010/main" val="1164902343"/>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256091F-3337-499C-95AF-DAEE34B3C230}"/>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Inteligibilidad es el porcentaje de unidades correctamente reconocidas</a:t>
            </a:r>
          </a:p>
        </p:txBody>
      </p:sp>
      <p:sp>
        <p:nvSpPr>
          <p:cNvPr id="2" name="main-ideas">
            <a:extLst xmlns:a="http://schemas.openxmlformats.org/drawingml/2006/main">
              <a:ext uri="{FF2B5EF4-FFF2-40B4-BE49-F238E27FC236}">
                <a16:creationId xmlns:a16="http://schemas.microsoft.com/office/drawing/2014/main" id="{1E50C2A9-9789-4AEC-B3E7-7A97238A70DA}"/>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Debe especificarse qué unidad se presenta y cómo se puntúa.</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Compare relaciones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proximidad entre cajas no representa una escala.</a:t>
            </a:r>
          </a:p>
        </p:txBody>
      </p:sp>
      <p:sp>
        <p:nvSpPr>
          <p:cNvPr id="3" name="side-panel-box">
            <a:extLst xmlns:a="http://schemas.openxmlformats.org/drawingml/2006/main">
              <a:ext uri="{FF2B5EF4-FFF2-40B4-BE49-F238E27FC236}">
                <a16:creationId xmlns:a16="http://schemas.microsoft.com/office/drawing/2014/main" id="{5A3F58B4-3544-44F5-BF40-BB9D3410F56E}"/>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05CF5C95-BF6B-45A7-BE68-ACDC167B8751}"/>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6F004084-81E2-4B73-9D65-4F8C7AE29E39}"/>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Inteligibilidad: proporción o porcentaje de unidades lingüísticas correctamente reconocidas en una tarea definida.</a:t>
            </a:r>
          </a:p>
        </p:txBody>
      </p:sp>
      <p:sp>
        <p:nvSpPr>
          <p:cNvPr id="6" name="top-rail-1">
            <a:extLst xmlns:a="http://schemas.openxmlformats.org/drawingml/2006/main">
              <a:ext uri="{FF2B5EF4-FFF2-40B4-BE49-F238E27FC236}">
                <a16:creationId xmlns:a16="http://schemas.microsoft.com/office/drawing/2014/main" id="{5D0C26EB-C756-4362-873D-BB2E80D575A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CE5E1AE3-DD61-40B7-BE64-704FC093C52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53C8D53D-9C6A-47EF-B9D7-698DAF2EBA0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0EFB923A-5FA2-4735-9FB2-0D7EA88BCBE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0" name="slide-number">
            <a:extLst xmlns:a="http://schemas.openxmlformats.org/drawingml/2006/main">
              <a:ext uri="{FF2B5EF4-FFF2-40B4-BE49-F238E27FC236}">
                <a16:creationId xmlns:a16="http://schemas.microsoft.com/office/drawing/2014/main" id="{332DC191-1C96-4787-B40B-7EDAB044E05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77</a:t>
            </a:r>
          </a:p>
        </p:txBody>
      </p:sp>
    </p:spTree>
    <p:extLst>
      <p:ext uri="{BB962C8B-B14F-4D97-AF65-F5344CB8AC3E}">
        <p14:creationId xmlns:p14="http://schemas.microsoft.com/office/powerpoint/2010/main" val="986630461"/>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78-U07-DG-024-validated-png"/>
          <p:cNvPicPr>
            <a:picLocks xmlns:a="http://schemas.openxmlformats.org/drawingml/2006/main" noChangeAspect="1"/>
          </p:cNvPicPr>
          <p:nvPr/>
        </p:nvPicPr>
        <p:blipFill>
          <a:blip xmlns:r="http://schemas.openxmlformats.org/officeDocument/2006/relationships" xmlns:a="http://schemas.openxmlformats.org/drawingml/2006/main" r:embed="Rb33f07713b9c4b5e"/>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0E1C655-1DA4-4D8B-8AFD-03B0E1396172}"/>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inteligibilidad pertenece a una prueba definida</a:t>
            </a:r>
          </a:p>
        </p:txBody>
      </p:sp>
      <p:sp>
        <p:nvSpPr>
          <p:cNvPr id="3" name="diagram-footer">
            <a:extLst xmlns:a="http://schemas.openxmlformats.org/drawingml/2006/main">
              <a:ext uri="{FF2B5EF4-FFF2-40B4-BE49-F238E27FC236}">
                <a16:creationId xmlns:a16="http://schemas.microsoft.com/office/drawing/2014/main" id="{AEFC9421-48FE-4254-A82A-C3743DEE531A}"/>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7F691CA5-6480-46C3-A30B-5BC11E56979F}"/>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F31AAD8E-4BA5-493A-82CA-A74A3C64761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F923D5AF-FB52-45FE-8A48-F236F26B1AF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3314DFA8-806F-4D6E-8392-C79D9BD682F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3A2EB0A8-00DE-4F82-96CE-3DF003F098F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31EABF87-BD08-467E-9BAE-933FE8F1541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78</a:t>
            </a:r>
          </a:p>
        </p:txBody>
      </p:sp>
    </p:spTree>
    <p:extLst>
      <p:ext uri="{BB962C8B-B14F-4D97-AF65-F5344CB8AC3E}">
        <p14:creationId xmlns:p14="http://schemas.microsoft.com/office/powerpoint/2010/main" val="1271479030"/>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73029FC-A3C3-4417-989D-5CFE75C002DE}"/>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relación señal-ruido necesita posición, bandas y promedio</a:t>
            </a:r>
          </a:p>
        </p:txBody>
      </p:sp>
      <p:sp>
        <p:nvSpPr>
          <p:cNvPr id="2" name="main-ideas">
            <a:extLst xmlns:a="http://schemas.openxmlformats.org/drawingml/2006/main">
              <a:ext uri="{FF2B5EF4-FFF2-40B4-BE49-F238E27FC236}">
                <a16:creationId xmlns:a16="http://schemas.microsoft.com/office/drawing/2014/main" id="{0196D836-6FE9-4AAD-A89C-9E2B4ACC8ABF}"/>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Los niveles de señal Lₚ,s y ruido Lₚ,n deben medirse en el mismo punto, ponderación, banda e intervalo.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Compare relaciones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proximidad entre cajas no representa una escala.</a:t>
            </a:r>
          </a:p>
        </p:txBody>
      </p:sp>
      <p:sp>
        <p:nvSpPr>
          <p:cNvPr id="3" name="top-rail-1">
            <a:extLst xmlns:a="http://schemas.openxmlformats.org/drawingml/2006/main">
              <a:ext uri="{FF2B5EF4-FFF2-40B4-BE49-F238E27FC236}">
                <a16:creationId xmlns:a16="http://schemas.microsoft.com/office/drawing/2014/main" id="{7BE2A249-F85B-4F2B-B2EB-96C3F3FBC47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EC59BCB6-8412-47ED-9D54-3867C04436F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91801AB4-FD9A-4EC0-A992-EB08CA76182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0C84E81C-B981-4069-BFB0-8544C55006E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7" name="slide-number">
            <a:extLst xmlns:a="http://schemas.openxmlformats.org/drawingml/2006/main">
              <a:ext uri="{FF2B5EF4-FFF2-40B4-BE49-F238E27FC236}">
                <a16:creationId xmlns:a16="http://schemas.microsoft.com/office/drawing/2014/main" id="{CC9B8542-5BCF-442E-AB15-1AC63D0CF54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79</a:t>
            </a:r>
          </a:p>
        </p:txBody>
      </p:sp>
    </p:spTree>
    <p:extLst>
      <p:ext uri="{BB962C8B-B14F-4D97-AF65-F5344CB8AC3E}">
        <p14:creationId xmlns:p14="http://schemas.microsoft.com/office/powerpoint/2010/main" val="1926975773"/>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611E4408-6557-4292-8458-85A1479F8452}"/>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SNR es una diferencia de niveles medidos bajo condiciones comparables</a:t>
            </a:r>
          </a:p>
        </p:txBody>
      </p:sp>
      <p:sp>
        <p:nvSpPr>
          <p:cNvPr id="2" name="equation-box">
            <a:extLst xmlns:a="http://schemas.openxmlformats.org/drawingml/2006/main">
              <a:ext uri="{FF2B5EF4-FFF2-40B4-BE49-F238E27FC236}">
                <a16:creationId xmlns:a16="http://schemas.microsoft.com/office/drawing/2014/main" id="{CAE4664C-FA67-4076-B352-9D91FEAB4FFF}"/>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68AC9351-6CBA-453B-8595-02A9406511F8}"/>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SNR = Lₚ,habla − Lₚ,ruido; el resultado se expresa en dB si los niveles son comparables.</a:t>
            </a:r>
          </a:p>
        </p:txBody>
      </p:sp>
      <p:sp>
        <p:nvSpPr>
          <p:cNvPr id="4" name="equation-interpretation-box">
            <a:extLst xmlns:a="http://schemas.openxmlformats.org/drawingml/2006/main">
              <a:ext uri="{FF2B5EF4-FFF2-40B4-BE49-F238E27FC236}">
                <a16:creationId xmlns:a16="http://schemas.microsoft.com/office/drawing/2014/main" id="{78F9C7C2-D86A-435E-8730-84E408723863}"/>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08503B21-3B58-4F7B-AF3F-3A4CBA099D74}"/>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BD005092-54C6-4CF9-9932-6A879A9457D3}"/>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 Ecuación, símbolos, unidades y condiciones comunes. Interpretar el resultado dentro de las condiciones indicadas.</a:t>
            </a:r>
          </a:p>
        </p:txBody>
      </p:sp>
      <p:sp>
        <p:nvSpPr>
          <p:cNvPr id="7" name="top-rail-1">
            <a:extLst xmlns:a="http://schemas.openxmlformats.org/drawingml/2006/main">
              <a:ext uri="{FF2B5EF4-FFF2-40B4-BE49-F238E27FC236}">
                <a16:creationId xmlns:a16="http://schemas.microsoft.com/office/drawing/2014/main" id="{C65DE2D1-5A23-4AB7-B8DC-B2BAF1D67BE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AF8EF85A-8C47-477C-BC70-192F3D4D8F0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15763786-E1D5-485A-AAC6-E598A8EA81D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F313D364-87AA-4702-BC91-E330E6972E5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1" name="slide-number">
            <a:extLst xmlns:a="http://schemas.openxmlformats.org/drawingml/2006/main">
              <a:ext uri="{FF2B5EF4-FFF2-40B4-BE49-F238E27FC236}">
                <a16:creationId xmlns:a16="http://schemas.microsoft.com/office/drawing/2014/main" id="{71DDF44D-7813-424F-8293-91D45E71FAF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80</a:t>
            </a:r>
          </a:p>
        </p:txBody>
      </p:sp>
    </p:spTree>
    <p:extLst>
      <p:ext uri="{BB962C8B-B14F-4D97-AF65-F5344CB8AC3E}">
        <p14:creationId xmlns:p14="http://schemas.microsoft.com/office/powerpoint/2010/main" val="1602286470"/>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936CC654-FA5F-4F47-BF82-FDE68C3F6098}"/>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Voz a 68 dB SPL y ruido a 60 dB SPL: SNR = +8 dB</a:t>
            </a:r>
          </a:p>
        </p:txBody>
      </p:sp>
      <p:sp>
        <p:nvSpPr>
          <p:cNvPr id="2" name="equation-box">
            <a:extLst xmlns:a="http://schemas.openxmlformats.org/drawingml/2006/main">
              <a:ext uri="{FF2B5EF4-FFF2-40B4-BE49-F238E27FC236}">
                <a16:creationId xmlns:a16="http://schemas.microsoft.com/office/drawing/2014/main" id="{AD1E5AF0-2E6C-4F17-92CE-98CF8039358B}"/>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EB1C1978-9E71-4624-B22C-0638D15C05CF}"/>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SNR = 68 dB SPL − 60 dB SPL = +8 dB.</a:t>
            </a:r>
          </a:p>
        </p:txBody>
      </p:sp>
      <p:sp>
        <p:nvSpPr>
          <p:cNvPr id="4" name="equation-meaning-box">
            <a:extLst xmlns:a="http://schemas.openxmlformats.org/drawingml/2006/main">
              <a:ext uri="{FF2B5EF4-FFF2-40B4-BE49-F238E27FC236}">
                <a16:creationId xmlns:a16="http://schemas.microsoft.com/office/drawing/2014/main" id="{842FC1AD-DC4A-4D4D-9F26-3A7C92CAACD0}"/>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3E1A62C0-9DA0-4482-B531-B3CF85890C2A}"/>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E06C7661-B4D5-4CEC-BEE8-E11ED3F5DA1C}"/>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 Datos. Resta. Signo. Interpretación y límite. Interpretar el resultado dentro de las condiciones indicadas.</a:t>
            </a:r>
          </a:p>
        </p:txBody>
      </p:sp>
      <p:sp>
        <p:nvSpPr>
          <p:cNvPr id="7" name="equation-use-box">
            <a:extLst xmlns:a="http://schemas.openxmlformats.org/drawingml/2006/main">
              <a:ext uri="{FF2B5EF4-FFF2-40B4-BE49-F238E27FC236}">
                <a16:creationId xmlns:a16="http://schemas.microsoft.com/office/drawing/2014/main" id="{1CB4A0F3-5804-4048-889A-740ED712D523}"/>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ABE94A91-6377-4223-9699-5D5043880A38}"/>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223B73F1-7BA8-4DFF-8479-FB77FE883B17}"/>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Voz: 68 dB SPL; ruido: 60 dB SPL; SNR: +8 dB. Falta conocer material, tarea, oyente y reverberación.</a:t>
            </a:r>
          </a:p>
        </p:txBody>
      </p:sp>
      <p:sp>
        <p:nvSpPr>
          <p:cNvPr id="10" name="top-rail-1">
            <a:extLst xmlns:a="http://schemas.openxmlformats.org/drawingml/2006/main">
              <a:ext uri="{FF2B5EF4-FFF2-40B4-BE49-F238E27FC236}">
                <a16:creationId xmlns:a16="http://schemas.microsoft.com/office/drawing/2014/main" id="{203E9C85-3F33-4421-82D4-31AE8A63FBC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5C0371E5-5F79-4C3F-9FC3-63FE2519907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F73B4B55-FEFF-43D9-9341-0BDD675E179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E5571586-6140-445C-B67C-07172FEF08A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4" name="slide-number">
            <a:extLst xmlns:a="http://schemas.openxmlformats.org/drawingml/2006/main">
              <a:ext uri="{FF2B5EF4-FFF2-40B4-BE49-F238E27FC236}">
                <a16:creationId xmlns:a16="http://schemas.microsoft.com/office/drawing/2014/main" id="{9A787747-EACA-47AE-B33D-224F73DA8BF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81</a:t>
            </a:r>
          </a:p>
        </p:txBody>
      </p:sp>
    </p:spTree>
    <p:extLst>
      <p:ext uri="{BB962C8B-B14F-4D97-AF65-F5344CB8AC3E}">
        <p14:creationId xmlns:p14="http://schemas.microsoft.com/office/powerpoint/2010/main" val="1133635661"/>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A6CA8B71-B292-422B-B299-6AB29B1FBCE7}"/>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misma SNR puede producir inteligibilidades diferentes</a:t>
            </a:r>
          </a:p>
        </p:txBody>
      </p:sp>
      <p:sp>
        <p:nvSpPr>
          <p:cNvPr id="2" name="compare-a-box">
            <a:extLst xmlns:a="http://schemas.openxmlformats.org/drawingml/2006/main">
              <a:ext uri="{FF2B5EF4-FFF2-40B4-BE49-F238E27FC236}">
                <a16:creationId xmlns:a16="http://schemas.microsoft.com/office/drawing/2014/main" id="{F795C717-47D0-46E1-953E-4E7EABA8EB1A}"/>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FE62035A-492C-4512-92C3-6A7631A5E9BC}"/>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Caso A</a:t>
            </a:r>
          </a:p>
        </p:txBody>
      </p:sp>
      <p:sp>
        <p:nvSpPr>
          <p:cNvPr id="4" name="compare-a-body">
            <a:extLst xmlns:a="http://schemas.openxmlformats.org/drawingml/2006/main">
              <a:ext uri="{FF2B5EF4-FFF2-40B4-BE49-F238E27FC236}">
                <a16:creationId xmlns:a16="http://schemas.microsoft.com/office/drawing/2014/main" id="{37A2E2F9-20F2-4C81-B0D0-E1AC3C3B02E9}"/>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 Espectro del ruido, fluctuaciones, reverberación, voz y tarea cambian el desempeño.</a:t>
            </a:r>
          </a:p>
        </p:txBody>
      </p:sp>
      <p:sp>
        <p:nvSpPr>
          <p:cNvPr id="5" name="compare-b-box">
            <a:extLst xmlns:a="http://schemas.openxmlformats.org/drawingml/2006/main">
              <a:ext uri="{FF2B5EF4-FFF2-40B4-BE49-F238E27FC236}">
                <a16:creationId xmlns:a16="http://schemas.microsoft.com/office/drawing/2014/main" id="{6513DD10-5BE7-4EA6-97A9-0A8E4179D8C8}"/>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05BADDD2-F531-4FF8-A6CF-AF8A9BE0B7AE}"/>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Caso B</a:t>
            </a:r>
          </a:p>
        </p:txBody>
      </p:sp>
      <p:sp>
        <p:nvSpPr>
          <p:cNvPr id="7" name="compare-b-body">
            <a:extLst xmlns:a="http://schemas.openxmlformats.org/drawingml/2006/main">
              <a:ext uri="{FF2B5EF4-FFF2-40B4-BE49-F238E27FC236}">
                <a16:creationId xmlns:a16="http://schemas.microsoft.com/office/drawing/2014/main" id="{2128D629-86D5-4913-B2EC-9DB0EDF5B764}"/>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Dos escenas con SNR=+8 dB y condiciones distintas.</a:t>
            </a:r>
          </a:p>
        </p:txBody>
      </p:sp>
      <p:sp>
        <p:nvSpPr>
          <p:cNvPr id="8" name="top-rail-1">
            <a:extLst xmlns:a="http://schemas.openxmlformats.org/drawingml/2006/main">
              <a:ext uri="{FF2B5EF4-FFF2-40B4-BE49-F238E27FC236}">
                <a16:creationId xmlns:a16="http://schemas.microsoft.com/office/drawing/2014/main" id="{13544CA0-12B5-465F-A4E6-E536E6CEE69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ECFFD6F6-EBAE-465F-B763-8F03CC397B3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3C871659-5C73-42FD-B937-6453EBD717C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A6CC0C9C-513A-45E0-908D-CC3503A20BC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2" name="slide-number">
            <a:extLst xmlns:a="http://schemas.openxmlformats.org/drawingml/2006/main">
              <a:ext uri="{FF2B5EF4-FFF2-40B4-BE49-F238E27FC236}">
                <a16:creationId xmlns:a16="http://schemas.microsoft.com/office/drawing/2014/main" id="{D3FB1E14-397E-4B59-8028-E8169961EA8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82</a:t>
            </a:r>
          </a:p>
        </p:txBody>
      </p:sp>
    </p:spTree>
    <p:extLst>
      <p:ext uri="{BB962C8B-B14F-4D97-AF65-F5344CB8AC3E}">
        <p14:creationId xmlns:p14="http://schemas.microsoft.com/office/powerpoint/2010/main" val="318321949"/>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83-U07-DG-026-validated-png"/>
          <p:cNvPicPr>
            <a:picLocks xmlns:a="http://schemas.openxmlformats.org/drawingml/2006/main" noChangeAspect="1"/>
          </p:cNvPicPr>
          <p:nvPr/>
        </p:nvPicPr>
        <p:blipFill>
          <a:blip xmlns:r="http://schemas.openxmlformats.org/officeDocument/2006/relationships" xmlns:a="http://schemas.openxmlformats.org/drawingml/2006/main" r:embed="R29f5ff2bf50b42e0"/>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65DD5A6B-9B42-4BC9-93AD-15E69C0ADF5E}"/>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Las colas reverberantes superponen segmentos del habla</a:t>
            </a:r>
          </a:p>
        </p:txBody>
      </p:sp>
      <p:sp>
        <p:nvSpPr>
          <p:cNvPr id="3" name="diagram-footer">
            <a:extLst xmlns:a="http://schemas.openxmlformats.org/drawingml/2006/main">
              <a:ext uri="{FF2B5EF4-FFF2-40B4-BE49-F238E27FC236}">
                <a16:creationId xmlns:a16="http://schemas.microsoft.com/office/drawing/2014/main" id="{FA326B38-23F5-4135-9F76-F1F143287863}"/>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B205164D-AF25-4376-AA79-12BA5F34DE47}"/>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BB3E2650-1061-43D1-B9BA-4D556A6BA29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DCD1F52D-2514-4533-A7F0-BEE807FADB3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A3DB6A71-B0B7-43D2-9327-95FF5E8AE9D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5BB2E5AE-7BBE-404E-BDBE-B69F79EAB5F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5318386F-AA15-4924-96D0-D9D426DE155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83</a:t>
            </a:r>
          </a:p>
        </p:txBody>
      </p:sp>
    </p:spTree>
    <p:extLst>
      <p:ext uri="{BB962C8B-B14F-4D97-AF65-F5344CB8AC3E}">
        <p14:creationId xmlns:p14="http://schemas.microsoft.com/office/powerpoint/2010/main" val="567438305"/>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7895461-E4CF-4DD4-8D3F-A2E85DBE575A}"/>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T(60) describe cuánto tarda un decaimiento en recorrer 60 dB</a:t>
            </a:r>
          </a:p>
        </p:txBody>
      </p:sp>
      <p:pic>
        <p:nvPicPr>
          <p:cNvPr id="10" name="U07-084-U07-CH-009"/>
          <p:cNvPicPr>
            <a:picLocks xmlns:a="http://schemas.openxmlformats.org/drawingml/2006/main" noChangeAspect="1"/>
          </p:cNvPicPr>
          <p:nvPr/>
        </p:nvPicPr>
        <p:blipFill>
          <a:blip xmlns:r="http://schemas.openxmlformats.org/officeDocument/2006/relationships" xmlns:a="http://schemas.openxmlformats.org/drawingml/2006/main" r:embed="Rcd46d30da40643c3">
            <a:extLst>
              <a:ext uri="{96DAC541-7B7A-43D3-8B79-37D633B846F1}">
                <asvg:svgBlip xmlns:asvg="http://schemas.microsoft.com/office/drawing/2016/SVG/main" r:embed="Ree598ef9d28f435c"/>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3AC90FCD-FF0B-4F12-8D30-A18504E8D18B}"/>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T₆₀ es el intervalo de un decaimiento ideal de 60 dB; no significa tiempo hasta silencio.</a:t>
            </a:r>
          </a:p>
        </p:txBody>
      </p:sp>
      <p:sp>
        <p:nvSpPr>
          <p:cNvPr id="4" name="top-rail-1">
            <a:extLst xmlns:a="http://schemas.openxmlformats.org/drawingml/2006/main">
              <a:ext uri="{FF2B5EF4-FFF2-40B4-BE49-F238E27FC236}">
                <a16:creationId xmlns:a16="http://schemas.microsoft.com/office/drawing/2014/main" id="{14B73154-AAA3-44BB-83E1-E00F50F32FD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A5B5BEBB-105A-4D02-AEDB-7A3E89F10A1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0140D6F1-CC52-44E5-8BCB-39029C8D61B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336B7164-CFC4-4C40-9DF3-EF09D4BFF8C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8" name="slide-number">
            <a:extLst xmlns:a="http://schemas.openxmlformats.org/drawingml/2006/main">
              <a:ext uri="{FF2B5EF4-FFF2-40B4-BE49-F238E27FC236}">
                <a16:creationId xmlns:a16="http://schemas.microsoft.com/office/drawing/2014/main" id="{EB3058DB-1EFC-48A8-AEF1-4763EBBFCEF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84</a:t>
            </a:r>
          </a:p>
        </p:txBody>
      </p:sp>
    </p:spTree>
    <p:extLst>
      <p:ext uri="{BB962C8B-B14F-4D97-AF65-F5344CB8AC3E}">
        <p14:creationId xmlns:p14="http://schemas.microsoft.com/office/powerpoint/2010/main" val="4864900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85-U07-DG-026B-validated-png"/>
          <p:cNvPicPr>
            <a:picLocks xmlns:a="http://schemas.openxmlformats.org/drawingml/2006/main" noChangeAspect="1"/>
          </p:cNvPicPr>
          <p:nvPr/>
        </p:nvPicPr>
        <p:blipFill>
          <a:blip xmlns:r="http://schemas.openxmlformats.org/officeDocument/2006/relationships" xmlns:a="http://schemas.openxmlformats.org/drawingml/2006/main" r:embed="Rfa1a5469be6c4031"/>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80CA03D4-000D-467E-93AE-F73F6B333B94}"/>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Ruido y reverberación degradan información por vías distintas</a:t>
            </a:r>
          </a:p>
        </p:txBody>
      </p:sp>
      <p:sp>
        <p:nvSpPr>
          <p:cNvPr id="3" name="diagram-footer">
            <a:extLst xmlns:a="http://schemas.openxmlformats.org/drawingml/2006/main">
              <a:ext uri="{FF2B5EF4-FFF2-40B4-BE49-F238E27FC236}">
                <a16:creationId xmlns:a16="http://schemas.microsoft.com/office/drawing/2014/main" id="{A4CE791F-67E3-4DB7-BCAE-1514D47DE90E}"/>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CEAFFCF6-152A-42DD-A2DD-AE1BF0DFCA27}"/>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420FFBF0-236C-4D17-8857-E2685EB7B15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2FBB92CC-5BBD-45C6-A0D4-F01AB12E121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6487830D-26A5-412E-861E-5FB739BFDE3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8B981991-B91E-4B51-A9BD-65DDCA37A34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E6E96BC7-C08F-47E9-A75F-D762BBE8A5D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85</a:t>
            </a:r>
          </a:p>
        </p:txBody>
      </p:sp>
    </p:spTree>
    <p:extLst>
      <p:ext uri="{BB962C8B-B14F-4D97-AF65-F5344CB8AC3E}">
        <p14:creationId xmlns:p14="http://schemas.microsoft.com/office/powerpoint/2010/main" val="192697577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27A1CAD9-5469-4487-9143-31B8E0F31CD7}"/>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ALCons resume consonantes no reconocidas en una prueba definida</a:t>
            </a:r>
          </a:p>
        </p:txBody>
      </p:sp>
      <p:sp>
        <p:nvSpPr>
          <p:cNvPr id="2" name="equation-box">
            <a:extLst xmlns:a="http://schemas.openxmlformats.org/drawingml/2006/main">
              <a:ext uri="{FF2B5EF4-FFF2-40B4-BE49-F238E27FC236}">
                <a16:creationId xmlns:a16="http://schemas.microsoft.com/office/drawing/2014/main" id="{9D0D98BD-9A22-4D09-B952-3068AAB504C9}"/>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017898EC-142C-4490-8CAB-02C142ACF178}"/>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ALCons = 100 · (1 − n(c)/nₚ) %; ejemplo: 100 · (1 − 68/80) % = 15 %.</a:t>
            </a:r>
          </a:p>
        </p:txBody>
      </p:sp>
      <p:sp>
        <p:nvSpPr>
          <p:cNvPr id="4" name="equation-meaning-box">
            <a:extLst xmlns:a="http://schemas.openxmlformats.org/drawingml/2006/main">
              <a:ext uri="{FF2B5EF4-FFF2-40B4-BE49-F238E27FC236}">
                <a16:creationId xmlns:a16="http://schemas.microsoft.com/office/drawing/2014/main" id="{BEBFB425-3955-4C7E-A433-2755802241F2}"/>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F3609D6A-609C-4249-8B69-22C480A5F4DF}"/>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B05203BA-6AAB-47F6-BE40-39CC5F02DD3A}"/>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 Ecuación, conteos adimensionales, mini ejemplo y límite. Interpretar el resultado dentro de las condiciones indicadas.</a:t>
            </a:r>
          </a:p>
        </p:txBody>
      </p:sp>
      <p:sp>
        <p:nvSpPr>
          <p:cNvPr id="7" name="equation-use-box">
            <a:extLst xmlns:a="http://schemas.openxmlformats.org/drawingml/2006/main">
              <a:ext uri="{FF2B5EF4-FFF2-40B4-BE49-F238E27FC236}">
                <a16:creationId xmlns:a16="http://schemas.microsoft.com/office/drawing/2014/main" id="{C6C503F7-986A-4E7C-81EF-3A5A3AD6A330}"/>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A4B39C72-1C1E-445B-BF5B-123C03A267B3}"/>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A30FBAD6-9486-43CA-91C9-678EC0ACBBBF}"/>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80 consonantes presentadas, 68 correctas: 12 errores sobre 80, equivalentes a 15 %.</a:t>
            </a:r>
          </a:p>
        </p:txBody>
      </p:sp>
      <p:sp>
        <p:nvSpPr>
          <p:cNvPr id="10" name="top-rail-1">
            <a:extLst xmlns:a="http://schemas.openxmlformats.org/drawingml/2006/main">
              <a:ext uri="{FF2B5EF4-FFF2-40B4-BE49-F238E27FC236}">
                <a16:creationId xmlns:a16="http://schemas.microsoft.com/office/drawing/2014/main" id="{17E39663-2F5B-4BF5-95A7-602C3D98892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DF2862E5-6BFF-4D55-9357-E9F156AF257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6EAC9C25-16BF-4B5E-96DD-113E05D1F63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A3BEBFBF-31CA-45A6-B045-FF3C62E1FEE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4" name="slide-number">
            <a:extLst xmlns:a="http://schemas.openxmlformats.org/drawingml/2006/main">
              <a:ext uri="{FF2B5EF4-FFF2-40B4-BE49-F238E27FC236}">
                <a16:creationId xmlns:a16="http://schemas.microsoft.com/office/drawing/2014/main" id="{6E038074-79F9-47DB-BB66-A5D464F4329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86</a:t>
            </a:r>
          </a:p>
        </p:txBody>
      </p:sp>
    </p:spTree>
    <p:extLst>
      <p:ext uri="{BB962C8B-B14F-4D97-AF65-F5344CB8AC3E}">
        <p14:creationId xmlns:p14="http://schemas.microsoft.com/office/powerpoint/2010/main" val="1133635661"/>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87-U07-DG-028B-validated-png"/>
          <p:cNvPicPr>
            <a:picLocks xmlns:a="http://schemas.openxmlformats.org/drawingml/2006/main" noChangeAspect="1"/>
          </p:cNvPicPr>
          <p:nvPr/>
        </p:nvPicPr>
        <p:blipFill>
          <a:blip xmlns:r="http://schemas.openxmlformats.org/officeDocument/2006/relationships" xmlns:a="http://schemas.openxmlformats.org/drawingml/2006/main" r:embed="Rde615530123c4572"/>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B1A21E2E-60FD-4C7E-A296-EBA5D4A3778D}"/>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Señal, ambiente, tarea y oyente preceden al porcentaje</a:t>
            </a:r>
          </a:p>
        </p:txBody>
      </p:sp>
      <p:sp>
        <p:nvSpPr>
          <p:cNvPr id="3" name="diagram-footer">
            <a:extLst xmlns:a="http://schemas.openxmlformats.org/drawingml/2006/main">
              <a:ext uri="{FF2B5EF4-FFF2-40B4-BE49-F238E27FC236}">
                <a16:creationId xmlns:a16="http://schemas.microsoft.com/office/drawing/2014/main" id="{A61A9A1F-8C3B-4702-9F38-989499846490}"/>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2D39111D-A8AC-4AF0-9B01-A8BA02CF1F6C}"/>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DDC6A82C-55DE-44BB-A291-080EC02573D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59D7126D-6420-4386-876A-3344C3B40EC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08E58351-018F-4239-8CB5-39DFD5334F3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C8094455-C886-4A2E-BC56-0C5FFDCF745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9F304CCD-7FB0-44CF-B11D-7C08DBC6373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87</a:t>
            </a:r>
          </a:p>
        </p:txBody>
      </p:sp>
    </p:spTree>
    <p:extLst>
      <p:ext uri="{BB962C8B-B14F-4D97-AF65-F5344CB8AC3E}">
        <p14:creationId xmlns:p14="http://schemas.microsoft.com/office/powerpoint/2010/main" val="1320203634"/>
      </p:ext>
    </p:extLst>
  </p:cSld>
</p:sld>
</file>

<file path=ppt/slides/slide88.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6" name="dark-eyebrow">
            <a:extLst xmlns:a="http://schemas.openxmlformats.org/drawingml/2006/main">
              <a:ext uri="{FF2B5EF4-FFF2-40B4-BE49-F238E27FC236}">
                <a16:creationId xmlns:a16="http://schemas.microsoft.com/office/drawing/2014/main" id="{0BE9A0C8-6057-4CD8-A7C6-DBA8341A8B32}"/>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3 · RUTA CENTRAL</a:t>
            </a:r>
          </a:p>
        </p:txBody>
      </p:sp>
      <p:sp>
        <p:nvSpPr>
          <p:cNvPr id="2" name="divider-title">
            <a:extLst xmlns:a="http://schemas.openxmlformats.org/drawingml/2006/main">
              <a:ext uri="{FF2B5EF4-FFF2-40B4-BE49-F238E27FC236}">
                <a16:creationId xmlns:a16="http://schemas.microsoft.com/office/drawing/2014/main" id="{DCA5C323-CF2D-468B-AADF-BEC8E34A340C}"/>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¿Cuándo dos llegadas se oyen como una sola fuente?</a:t>
            </a:r>
          </a:p>
        </p:txBody>
      </p:sp>
      <p:sp>
        <p:nvSpPr>
          <p:cNvPr id="3" name="divider-subtitle">
            <a:extLst xmlns:a="http://schemas.openxmlformats.org/drawingml/2006/main">
              <a:ext uri="{FF2B5EF4-FFF2-40B4-BE49-F238E27FC236}">
                <a16:creationId xmlns:a16="http://schemas.microsoft.com/office/drawing/2014/main" id="{D9EB65B0-7FA1-4270-AB67-732AEBB4335D}"/>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El sistema puede fusionar llegadas y priorizar información temprana.</a:t>
            </a:r>
          </a:p>
        </p:txBody>
      </p:sp>
      <p:sp>
        <p:nvSpPr>
          <p:cNvPr id="4" name="divider-content">
            <a:extLst xmlns:a="http://schemas.openxmlformats.org/drawingml/2006/main">
              <a:ext uri="{FF2B5EF4-FFF2-40B4-BE49-F238E27FC236}">
                <a16:creationId xmlns:a16="http://schemas.microsoft.com/office/drawing/2014/main" id="{8F5EACD3-BBE5-4CDC-A104-8CD3D64FFF3C}"/>
              </a:ext>
            </a:extLst>
          </p:cNvPr>
          <p:cNvSpPr>
            <a:spLocks xmlns:a="http://schemas.openxmlformats.org/drawingml/2006/main" noGrp="1"/>
          </p:cNvSpPr>
          <p:nvPr/>
        </p:nvSpPr>
        <p:spPr>
          <a:xfrm xmlns:a="http://schemas.openxmlformats.org/drawingml/2006/main">
            <a:off x="2095500" y="44767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 El sistema puede fusionar llegadas y priorizar información temprana.</a:t>
            </a:r>
          </a:p>
        </p:txBody>
      </p:sp>
      <p:sp>
        <p:nvSpPr>
          <p:cNvPr id="5" name="slide-number">
            <a:extLst xmlns:a="http://schemas.openxmlformats.org/drawingml/2006/main">
              <a:ext uri="{FF2B5EF4-FFF2-40B4-BE49-F238E27FC236}">
                <a16:creationId xmlns:a16="http://schemas.microsoft.com/office/drawing/2014/main" id="{910B672D-885A-48B4-ABBD-4D5DE8EEAFD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88</a:t>
            </a:r>
          </a:p>
        </p:txBody>
      </p:sp>
    </p:spTree>
    <p:extLst>
      <p:ext uri="{BB962C8B-B14F-4D97-AF65-F5344CB8AC3E}">
        <p14:creationId xmlns:p14="http://schemas.microsoft.com/office/powerpoint/2010/main" val="1164902343"/>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89-U07-DG-029-validated-png"/>
          <p:cNvPicPr>
            <a:picLocks xmlns:a="http://schemas.openxmlformats.org/drawingml/2006/main" noChangeAspect="1"/>
          </p:cNvPicPr>
          <p:nvPr/>
        </p:nvPicPr>
        <p:blipFill>
          <a:blip xmlns:r="http://schemas.openxmlformats.org/officeDocument/2006/relationships" xmlns:a="http://schemas.openxmlformats.org/drawingml/2006/main" r:embed="R7f39ea3ad0e9403c"/>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164603AE-AEE5-4AAF-AC73-A7340324FAD2}"/>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El camino reflejado es más largo que el directo</a:t>
            </a:r>
          </a:p>
        </p:txBody>
      </p:sp>
      <p:sp>
        <p:nvSpPr>
          <p:cNvPr id="3" name="diagram-footer">
            <a:extLst xmlns:a="http://schemas.openxmlformats.org/drawingml/2006/main">
              <a:ext uri="{FF2B5EF4-FFF2-40B4-BE49-F238E27FC236}">
                <a16:creationId xmlns:a16="http://schemas.microsoft.com/office/drawing/2014/main" id="{833A0B4D-CF2C-4DB7-B277-F58E847FCE71}"/>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8BEC1729-9B79-4F1A-A340-D2459DC53310}"/>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C4A203DF-CAD3-473A-B6D0-CB2F339232B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BE48CAF2-5727-4C0A-A645-EE9EF184331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49F5F5A9-1E12-45DA-BA9A-879D0214D52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9AC0B3CA-3499-4B84-828F-EA473759630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924C8781-8B23-4B48-A97E-F3C192370C1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89</a:t>
            </a:r>
          </a:p>
        </p:txBody>
      </p:sp>
    </p:spTree>
    <p:extLst>
      <p:ext uri="{BB962C8B-B14F-4D97-AF65-F5344CB8AC3E}">
        <p14:creationId xmlns:p14="http://schemas.microsoft.com/office/powerpoint/2010/main" val="1995449240"/>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4D3C2CC3-C9AF-4F19-A410-2FB9991CD04C}"/>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La diferencia de recorrido determina el retardo</a:t>
            </a:r>
          </a:p>
        </p:txBody>
      </p:sp>
      <p:sp>
        <p:nvSpPr>
          <p:cNvPr id="2" name="equation-box">
            <a:extLst xmlns:a="http://schemas.openxmlformats.org/drawingml/2006/main">
              <a:ext uri="{FF2B5EF4-FFF2-40B4-BE49-F238E27FC236}">
                <a16:creationId xmlns:a16="http://schemas.microsoft.com/office/drawing/2014/main" id="{AB368A2B-0E0A-4918-ACE1-082B44C81DDA}"/>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0BB223C3-58B1-476D-8A18-3CD1EFF07F93}"/>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Δt = (r(r) − r(d))/c = Δr/c; Δr en m, c en m·s⁻¹ y Δt en s.</a:t>
            </a:r>
          </a:p>
        </p:txBody>
      </p:sp>
      <p:sp>
        <p:nvSpPr>
          <p:cNvPr id="4" name="equation-interpretation-box">
            <a:extLst xmlns:a="http://schemas.openxmlformats.org/drawingml/2006/main">
              <a:ext uri="{FF2B5EF4-FFF2-40B4-BE49-F238E27FC236}">
                <a16:creationId xmlns:a16="http://schemas.microsoft.com/office/drawing/2014/main" id="{8580EB30-CCB1-465B-8D86-55D39F5A60E5}"/>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303F8707-593E-4A74-A917-58072527D81F}"/>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763C4E13-0A12-476B-9384-D893776DDCB4}"/>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 Ecuación, símbolos, unidades y condición r(r)≥r(d). Interpretar el resultado dentro de las condiciones indicadas.</a:t>
            </a:r>
          </a:p>
        </p:txBody>
      </p:sp>
      <p:sp>
        <p:nvSpPr>
          <p:cNvPr id="7" name="top-rail-1">
            <a:extLst xmlns:a="http://schemas.openxmlformats.org/drawingml/2006/main">
              <a:ext uri="{FF2B5EF4-FFF2-40B4-BE49-F238E27FC236}">
                <a16:creationId xmlns:a16="http://schemas.microsoft.com/office/drawing/2014/main" id="{EA89B819-F4A9-4335-AD98-59F689645F0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56F52164-62B2-4D45-8990-26FDD6FB722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E1D2E4BD-E796-4DC1-A170-867B7D68A8B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B7C7D941-BE8B-4272-BC06-71800DD1111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1" name="slide-number">
            <a:extLst xmlns:a="http://schemas.openxmlformats.org/drawingml/2006/main">
              <a:ext uri="{FF2B5EF4-FFF2-40B4-BE49-F238E27FC236}">
                <a16:creationId xmlns:a16="http://schemas.microsoft.com/office/drawing/2014/main" id="{DDCF92C0-322A-4B92-B5F4-D52A06C59B0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90</a:t>
            </a:r>
          </a:p>
        </p:txBody>
      </p:sp>
    </p:spTree>
    <p:extLst>
      <p:ext uri="{BB962C8B-B14F-4D97-AF65-F5344CB8AC3E}">
        <p14:creationId xmlns:p14="http://schemas.microsoft.com/office/powerpoint/2010/main" val="1602286470"/>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EBDF1A54-F3F7-41C9-9F8A-45F016DE2843}"/>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Una diferencia de camino de 6,8 m produce cerca de 20 ms</a:t>
            </a:r>
          </a:p>
        </p:txBody>
      </p:sp>
      <p:sp>
        <p:nvSpPr>
          <p:cNvPr id="2" name="equation-box">
            <a:extLst xmlns:a="http://schemas.openxmlformats.org/drawingml/2006/main">
              <a:ext uri="{FF2B5EF4-FFF2-40B4-BE49-F238E27FC236}">
                <a16:creationId xmlns:a16="http://schemas.microsoft.com/office/drawing/2014/main" id="{EF03CCB8-DE64-4F64-A8D9-01FEAC05409A}"/>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5DEA1A95-DA84-40B8-A575-31C70964671C}"/>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Δt = 6,8 m / 343 m·s⁻¹ = 0,0198 s ≈ 19,8 ms.</a:t>
            </a:r>
          </a:p>
        </p:txBody>
      </p:sp>
      <p:sp>
        <p:nvSpPr>
          <p:cNvPr id="4" name="equation-meaning-box">
            <a:extLst xmlns:a="http://schemas.openxmlformats.org/drawingml/2006/main">
              <a:ext uri="{FF2B5EF4-FFF2-40B4-BE49-F238E27FC236}">
                <a16:creationId xmlns:a16="http://schemas.microsoft.com/office/drawing/2014/main" id="{EC1CA690-36C7-456D-BBC3-98F1FFA1C8F8}"/>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65FE8D04-DF1F-436F-99C8-48849B344761}"/>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F003094B-111E-4896-907F-CEB50D1C0F9E}"/>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 Datos. División. Conversión a ms. Límite interpretativo. Interpretar el resultado dentro de las condiciones indicadas.</a:t>
            </a:r>
          </a:p>
        </p:txBody>
      </p:sp>
      <p:sp>
        <p:nvSpPr>
          <p:cNvPr id="7" name="equation-use-box">
            <a:extLst xmlns:a="http://schemas.openxmlformats.org/drawingml/2006/main">
              <a:ext uri="{FF2B5EF4-FFF2-40B4-BE49-F238E27FC236}">
                <a16:creationId xmlns:a16="http://schemas.microsoft.com/office/drawing/2014/main" id="{2C44619C-FA26-48C1-957E-B9CDA7EC0C67}"/>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FED331B3-C124-459E-97F3-72FB911AF6FB}"/>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C2ACEF6E-B93A-46FC-ACEB-6695511D9A3B}"/>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Una diferencia de 6,8 m produce aproximadamente 19,8 ms; ese número no decide por sí solo si habrá eco.</a:t>
            </a:r>
          </a:p>
        </p:txBody>
      </p:sp>
      <p:sp>
        <p:nvSpPr>
          <p:cNvPr id="10" name="top-rail-1">
            <a:extLst xmlns:a="http://schemas.openxmlformats.org/drawingml/2006/main">
              <a:ext uri="{FF2B5EF4-FFF2-40B4-BE49-F238E27FC236}">
                <a16:creationId xmlns:a16="http://schemas.microsoft.com/office/drawing/2014/main" id="{960848FC-F45C-4F2E-9724-618DE469C30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29541589-64FF-4543-8494-FE8F53749B9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A0F4A4C3-76A6-455E-A4DB-C5FD34D9A0E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E35608B2-26AE-4920-AFDA-C0A733D3DCC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4" name="slide-number">
            <a:extLst xmlns:a="http://schemas.openxmlformats.org/drawingml/2006/main">
              <a:ext uri="{FF2B5EF4-FFF2-40B4-BE49-F238E27FC236}">
                <a16:creationId xmlns:a16="http://schemas.microsoft.com/office/drawing/2014/main" id="{2E3524B6-F2C5-4DD8-A0EB-87225259EEB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91</a:t>
            </a:r>
          </a:p>
        </p:txBody>
      </p:sp>
    </p:spTree>
    <p:extLst>
      <p:ext uri="{BB962C8B-B14F-4D97-AF65-F5344CB8AC3E}">
        <p14:creationId xmlns:p14="http://schemas.microsoft.com/office/powerpoint/2010/main" val="1133635661"/>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47647B9F-02B0-46F3-82A7-9A5F4C36830A}"/>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Escuchar directo y copia retardada revela varias respuestas posibles</a:t>
            </a:r>
          </a:p>
        </p:txBody>
      </p:sp>
      <p:sp>
        <p:nvSpPr>
          <p:cNvPr id="2" name="media-static-box">
            <a:extLst xmlns:a="http://schemas.openxmlformats.org/drawingml/2006/main">
              <a:ext uri="{FF2B5EF4-FFF2-40B4-BE49-F238E27FC236}">
                <a16:creationId xmlns:a16="http://schemas.microsoft.com/office/drawing/2014/main" id="{DC0F0853-40A3-4CFC-AB76-53839AB10AA7}"/>
              </a:ext>
            </a:extLst>
          </p:cNvPr>
          <p:cNvSpPr>
            <a:spLocks xmlns:a="http://schemas.openxmlformats.org/drawingml/2006/main" noGrp="1"/>
          </p:cNvSpPr>
          <p:nvPr/>
        </p:nvSpPr>
        <p:spPr>
          <a:xfrm xmlns:a="http://schemas.openxmlformats.org/drawingml/2006/main">
            <a:off x="714375" y="1571625"/>
            <a:ext cx="7143750" cy="3619500"/>
          </a:xfrm>
          <a:prstGeom xmlns:a="http://schemas.openxmlformats.org/drawingml/2006/main" prst="roundRect">
            <a:avLst>
              <a:gd name="adj" fmla="val 3158"/>
            </a:avLst>
          </a:prstGeom>
          <a:solidFill xmlns:a="http://schemas.openxmlformats.org/drawingml/2006/main">
            <a:srgbClr val="E7F1F1"/>
          </a:solidFill>
          <a:ln xmlns:a="http://schemas.openxmlformats.org/drawingml/2006/main" w="19050">
            <a:solidFill>
              <a:srgbClr val="2F7E83"/>
            </a:solidFill>
            <a:prstDash val="solid"/>
          </a:ln>
        </p:spPr>
      </p:sp>
      <p:sp>
        <p:nvSpPr>
          <p:cNvPr id="3" name="media-static-title">
            <a:extLst xmlns:a="http://schemas.openxmlformats.org/drawingml/2006/main">
              <a:ext uri="{FF2B5EF4-FFF2-40B4-BE49-F238E27FC236}">
                <a16:creationId xmlns:a16="http://schemas.microsoft.com/office/drawing/2014/main" id="{BAC00523-0B50-43C6-8CFC-85890815DB5A}"/>
              </a:ext>
            </a:extLst>
          </p:cNvPr>
          <p:cNvSpPr>
            <a:spLocks xmlns:a="http://schemas.openxmlformats.org/drawingml/2006/main" noGrp="1"/>
          </p:cNvSpPr>
          <p:nvPr/>
        </p:nvSpPr>
        <p:spPr>
          <a:xfrm xmlns:a="http://schemas.openxmlformats.org/drawingml/2006/main">
            <a:off x="885825" y="1704975"/>
            <a:ext cx="680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2F7E83"/>
                </a:solidFill>
                <a:latin typeface="Calibri"/>
                <a:ea typeface="Calibri"/>
                <a:cs typeface="Calibri"/>
              </a:defRPr>
            </a:pPr>
            <a:r>
              <a:rPr sz="2250" b="1" i="0">
                <a:solidFill>
                  <a:srgbClr val="2F7E83"/>
                </a:solidFill>
                <a:latin typeface="Calibri"/>
                <a:ea typeface="Calibri"/>
                <a:cs typeface="Calibri"/>
              </a:rPr>
              <a:t>Alternativa estática</a:t>
            </a:r>
          </a:p>
        </p:txBody>
      </p:sp>
      <p:sp>
        <p:nvSpPr>
          <p:cNvPr id="4" name="media-static-body">
            <a:extLst xmlns:a="http://schemas.openxmlformats.org/drawingml/2006/main">
              <a:ext uri="{FF2B5EF4-FFF2-40B4-BE49-F238E27FC236}">
                <a16:creationId xmlns:a16="http://schemas.microsoft.com/office/drawing/2014/main" id="{2A316F10-35AB-4E3A-8A14-4DF677D3F2A7}"/>
              </a:ext>
            </a:extLst>
          </p:cNvPr>
          <p:cNvSpPr>
            <a:spLocks xmlns:a="http://schemas.openxmlformats.org/drawingml/2006/main" noGrp="1"/>
          </p:cNvSpPr>
          <p:nvPr/>
        </p:nvSpPr>
        <p:spPr>
          <a:xfrm xmlns:a="http://schemas.openxmlformats.org/drawingml/2006/main">
            <a:off x="885825" y="2105025"/>
            <a:ext cx="680085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 El resultado cambia con retardo, nivel relativo, contenido y oyente. Tres versiones supraliminales y consigna comparativa.</a:t>
            </a:r>
          </a:p>
        </p:txBody>
      </p:sp>
      <p:sp>
        <p:nvSpPr>
          <p:cNvPr id="5" name="media-id-box">
            <a:extLst xmlns:a="http://schemas.openxmlformats.org/drawingml/2006/main">
              <a:ext uri="{FF2B5EF4-FFF2-40B4-BE49-F238E27FC236}">
                <a16:creationId xmlns:a16="http://schemas.microsoft.com/office/drawing/2014/main" id="{D25A67DD-8620-4DFA-9834-E3283181045F}"/>
              </a:ext>
            </a:extLst>
          </p:cNvPr>
          <p:cNvSpPr>
            <a:spLocks xmlns:a="http://schemas.openxmlformats.org/drawingml/2006/main" noGrp="1"/>
          </p:cNvSpPr>
          <p:nvPr/>
        </p:nvSpPr>
        <p:spPr>
          <a:xfrm xmlns:a="http://schemas.openxmlformats.org/drawingml/2006/main">
            <a:off x="8239125" y="1571625"/>
            <a:ext cx="3238500" cy="3619500"/>
          </a:xfrm>
          <a:prstGeom xmlns:a="http://schemas.openxmlformats.org/drawingml/2006/main" prst="roundRect">
            <a:avLst>
              <a:gd name="adj" fmla="val 3529"/>
            </a:avLst>
          </a:prstGeom>
          <a:solidFill xmlns:a="http://schemas.openxmlformats.org/drawingml/2006/main">
            <a:srgbClr val="F7F6F2"/>
          </a:solidFill>
          <a:ln xmlns:a="http://schemas.openxmlformats.org/drawingml/2006/main" w="19050">
            <a:solidFill>
              <a:srgbClr val="969FA7"/>
            </a:solidFill>
            <a:prstDash val="solid"/>
          </a:ln>
        </p:spPr>
      </p:sp>
      <p:sp>
        <p:nvSpPr>
          <p:cNvPr id="6" name="media-id-title">
            <a:extLst xmlns:a="http://schemas.openxmlformats.org/drawingml/2006/main">
              <a:ext uri="{FF2B5EF4-FFF2-40B4-BE49-F238E27FC236}">
                <a16:creationId xmlns:a16="http://schemas.microsoft.com/office/drawing/2014/main" id="{AA126DC8-9F29-4E04-BAF0-A6C90F9F8B56}"/>
              </a:ext>
            </a:extLst>
          </p:cNvPr>
          <p:cNvSpPr>
            <a:spLocks xmlns:a="http://schemas.openxmlformats.org/drawingml/2006/main" noGrp="1"/>
          </p:cNvSpPr>
          <p:nvPr/>
        </p:nvSpPr>
        <p:spPr>
          <a:xfrm xmlns:a="http://schemas.openxmlformats.org/drawingml/2006/main">
            <a:off x="8410575" y="1704975"/>
            <a:ext cx="289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3D3D3D"/>
                </a:solidFill>
                <a:latin typeface="Calibri"/>
                <a:ea typeface="Calibri"/>
                <a:cs typeface="Calibri"/>
              </a:defRPr>
            </a:pPr>
            <a:r>
              <a:rPr sz="2025" b="1" i="0">
                <a:solidFill>
                  <a:srgbClr val="3D3D3D"/>
                </a:solidFill>
                <a:latin typeface="Calibri"/>
                <a:ea typeface="Calibri"/>
                <a:cs typeface="Calibri"/>
              </a:rPr>
              <a:t>Recurso identificado</a:t>
            </a:r>
          </a:p>
        </p:txBody>
      </p:sp>
      <p:sp>
        <p:nvSpPr>
          <p:cNvPr id="7" name="media-id-body">
            <a:extLst xmlns:a="http://schemas.openxmlformats.org/drawingml/2006/main">
              <a:ext uri="{FF2B5EF4-FFF2-40B4-BE49-F238E27FC236}">
                <a16:creationId xmlns:a16="http://schemas.microsoft.com/office/drawing/2014/main" id="{87CCBA2E-385B-4B3D-8FE5-FF4D7C097A9C}"/>
              </a:ext>
            </a:extLst>
          </p:cNvPr>
          <p:cNvSpPr>
            <a:spLocks xmlns:a="http://schemas.openxmlformats.org/drawingml/2006/main" noGrp="1"/>
          </p:cNvSpPr>
          <p:nvPr/>
        </p:nvSpPr>
        <p:spPr>
          <a:xfrm xmlns:a="http://schemas.openxmlformats.org/drawingml/2006/main">
            <a:off x="8410575" y="2105025"/>
            <a:ext cx="28956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reproducción opcional y sus condiciones están indicadas en las notas del orador.</a:t>
            </a:r>
          </a:p>
        </p:txBody>
      </p:sp>
      <p:sp>
        <p:nvSpPr>
          <p:cNvPr id="8" name="top-rail-1">
            <a:extLst xmlns:a="http://schemas.openxmlformats.org/drawingml/2006/main">
              <a:ext uri="{FF2B5EF4-FFF2-40B4-BE49-F238E27FC236}">
                <a16:creationId xmlns:a16="http://schemas.microsoft.com/office/drawing/2014/main" id="{7B9B8DD5-47A1-4E52-8354-ADF2D414F1A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92B4D69D-31CC-4BAA-901C-F94AE58D3F3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25E4737A-216C-494C-9BFE-CF5E1A973CB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620A9B19-BEB0-45AF-84E9-A3F8C5A40BF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2" name="slide-number">
            <a:extLst xmlns:a="http://schemas.openxmlformats.org/drawingml/2006/main">
              <a:ext uri="{FF2B5EF4-FFF2-40B4-BE49-F238E27FC236}">
                <a16:creationId xmlns:a16="http://schemas.microsoft.com/office/drawing/2014/main" id="{44C9FDC9-7ACD-475F-9017-D1FE2C35719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92</a:t>
            </a:r>
          </a:p>
        </p:txBody>
      </p:sp>
    </p:spTree>
    <p:extLst>
      <p:ext uri="{BB962C8B-B14F-4D97-AF65-F5344CB8AC3E}">
        <p14:creationId xmlns:p14="http://schemas.microsoft.com/office/powerpoint/2010/main" val="1046213385"/>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93-U07-DG-031-validated-png"/>
          <p:cNvPicPr>
            <a:picLocks xmlns:a="http://schemas.openxmlformats.org/drawingml/2006/main" noChangeAspect="1"/>
          </p:cNvPicPr>
          <p:nvPr/>
        </p:nvPicPr>
        <p:blipFill>
          <a:blip xmlns:r="http://schemas.openxmlformats.org/officeDocument/2006/relationships" xmlns:a="http://schemas.openxmlformats.org/drawingml/2006/main" r:embed="R7341883fb9e64d96"/>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EB773CA5-D5FA-4E82-BB5A-43CAEEBD2C0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respuesta a dos llegadas depende de cuatro grupos de variables</a:t>
            </a:r>
          </a:p>
        </p:txBody>
      </p:sp>
      <p:sp>
        <p:nvSpPr>
          <p:cNvPr id="3" name="diagram-footer">
            <a:extLst xmlns:a="http://schemas.openxmlformats.org/drawingml/2006/main">
              <a:ext uri="{FF2B5EF4-FFF2-40B4-BE49-F238E27FC236}">
                <a16:creationId xmlns:a16="http://schemas.microsoft.com/office/drawing/2014/main" id="{111F78DA-EBE2-4019-A5A4-59A6BD69138A}"/>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801C3A7A-68DB-4899-848C-C34D75C14613}"/>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79C55C19-339B-4998-9C3E-2E9EE8BDCEF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70FA4562-CA16-4D64-8C2E-C1C69A7AE43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86FF1060-3FBE-4BB0-A830-925415D58FB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258CF7FE-9C08-4D5F-9E01-A7220CACE0A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9" name="slide-number">
            <a:extLst xmlns:a="http://schemas.openxmlformats.org/drawingml/2006/main">
              <a:ext uri="{FF2B5EF4-FFF2-40B4-BE49-F238E27FC236}">
                <a16:creationId xmlns:a16="http://schemas.microsoft.com/office/drawing/2014/main" id="{3EED8C12-F8F4-459E-9BC6-935BE82402D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93</a:t>
            </a:r>
          </a:p>
        </p:txBody>
      </p:sp>
    </p:spTree>
    <p:extLst>
      <p:ext uri="{BB962C8B-B14F-4D97-AF65-F5344CB8AC3E}">
        <p14:creationId xmlns:p14="http://schemas.microsoft.com/office/powerpoint/2010/main" val="1271479030"/>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B749763-AE2A-4FDC-B568-0686CF1F0DEB}"/>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El efecto de precedencia favorece la localización asociada a la primera llegada</a:t>
            </a:r>
          </a:p>
        </p:txBody>
      </p:sp>
      <p:sp>
        <p:nvSpPr>
          <p:cNvPr id="2" name="main-ideas">
            <a:extLst xmlns:a="http://schemas.openxmlformats.org/drawingml/2006/main">
              <a:ext uri="{FF2B5EF4-FFF2-40B4-BE49-F238E27FC236}">
                <a16:creationId xmlns:a16="http://schemas.microsoft.com/office/drawing/2014/main" id="{7EAB9D89-DFEA-41C1-B156-E5817B23EF65}"/>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Dos llegadas pueden fusionarse mientras la primera domina la localización.</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Compare relaciones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proximidad entre cajas no representa una escala.</a:t>
            </a:r>
          </a:p>
        </p:txBody>
      </p:sp>
      <p:sp>
        <p:nvSpPr>
          <p:cNvPr id="3" name="side-panel-box">
            <a:extLst xmlns:a="http://schemas.openxmlformats.org/drawingml/2006/main">
              <a:ext uri="{FF2B5EF4-FFF2-40B4-BE49-F238E27FC236}">
                <a16:creationId xmlns:a16="http://schemas.microsoft.com/office/drawing/2014/main" id="{04C092EF-4304-461A-9F7E-8C292E55485C}"/>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82C2F29F-67E1-46A9-8840-850E0B04024F}"/>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21F52DF3-0B74-4197-AD43-1E4B148E7E97}"/>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Efecto de precedencia: familia de fenómenos de fusión y localización ante llegadas próximas, con predominio de información temprana.</a:t>
            </a:r>
          </a:p>
        </p:txBody>
      </p:sp>
      <p:sp>
        <p:nvSpPr>
          <p:cNvPr id="6" name="top-rail-1">
            <a:extLst xmlns:a="http://schemas.openxmlformats.org/drawingml/2006/main">
              <a:ext uri="{FF2B5EF4-FFF2-40B4-BE49-F238E27FC236}">
                <a16:creationId xmlns:a16="http://schemas.microsoft.com/office/drawing/2014/main" id="{A2B6A638-3F80-4D59-8AA5-AD51094BE52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E5AED5CA-7AA7-4B4D-950F-F018D7AD476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E1457F02-04F6-4190-BF75-5D8A2A6902C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0459EEDE-DADF-4A5D-B42F-2CD754DD58B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0" name="slide-number">
            <a:extLst xmlns:a="http://schemas.openxmlformats.org/drawingml/2006/main">
              <a:ext uri="{FF2B5EF4-FFF2-40B4-BE49-F238E27FC236}">
                <a16:creationId xmlns:a16="http://schemas.microsoft.com/office/drawing/2014/main" id="{CFE6CB23-6A57-4DEB-8923-379B7427ECC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94</a:t>
            </a:r>
          </a:p>
        </p:txBody>
      </p:sp>
    </p:spTree>
    <p:extLst>
      <p:ext uri="{BB962C8B-B14F-4D97-AF65-F5344CB8AC3E}">
        <p14:creationId xmlns:p14="http://schemas.microsoft.com/office/powerpoint/2010/main" val="986630461"/>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95-U07-DG-032-validated-png"/>
          <p:cNvPicPr>
            <a:picLocks xmlns:a="http://schemas.openxmlformats.org/drawingml/2006/main" noChangeAspect="1"/>
          </p:cNvPicPr>
          <p:nvPr/>
        </p:nvPicPr>
        <p:blipFill>
          <a:blip xmlns:r="http://schemas.openxmlformats.org/officeDocument/2006/relationships" xmlns:a="http://schemas.openxmlformats.org/drawingml/2006/main" r:embed="Rf56514fd34df49d8"/>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5C472816-3B5D-48EF-848E-4EC1309D93B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Precedencia reúne varias respuestas medibles</a:t>
            </a:r>
          </a:p>
        </p:txBody>
      </p:sp>
      <p:sp>
        <p:nvSpPr>
          <p:cNvPr id="3" name="diagram-footer">
            <a:extLst xmlns:a="http://schemas.openxmlformats.org/drawingml/2006/main">
              <a:ext uri="{FF2B5EF4-FFF2-40B4-BE49-F238E27FC236}">
                <a16:creationId xmlns:a16="http://schemas.microsoft.com/office/drawing/2014/main" id="{2D440602-FA54-4619-83F7-342DBF6B0C8F}"/>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196FB609-F461-4795-9577-BFD5AB160727}"/>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3001A8B5-313B-4740-93CF-DFC2F277D62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CC5AED53-4D80-40AF-BC19-2C497B67FF4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B39201E5-4D89-449B-B504-030A6B0F61F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388D8901-6A2E-4B0A-9A80-6100D11ACCC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D43B891A-4E25-4736-8B3D-6FB22A325CF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95</a:t>
            </a:r>
          </a:p>
        </p:txBody>
      </p:sp>
    </p:spTree>
    <p:extLst>
      <p:ext uri="{BB962C8B-B14F-4D97-AF65-F5344CB8AC3E}">
        <p14:creationId xmlns:p14="http://schemas.microsoft.com/office/powerpoint/2010/main" val="1995449240"/>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96-U07-DG-033-validated-png"/>
          <p:cNvPicPr>
            <a:picLocks xmlns:a="http://schemas.openxmlformats.org/drawingml/2006/main" noChangeAspect="1"/>
          </p:cNvPicPr>
          <p:nvPr/>
        </p:nvPicPr>
        <p:blipFill>
          <a:blip xmlns:r="http://schemas.openxmlformats.org/officeDocument/2006/relationships" xmlns:a="http://schemas.openxmlformats.org/drawingml/2006/main" r:embed="Rd9546170b57345f2"/>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4C810342-097B-41CE-9ED0-CFD8E7FB31C4}"/>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Haas no equivale a una regla universal de 20 ms</a:t>
            </a:r>
          </a:p>
        </p:txBody>
      </p:sp>
      <p:sp>
        <p:nvSpPr>
          <p:cNvPr id="3" name="diagram-footer">
            <a:extLst xmlns:a="http://schemas.openxmlformats.org/drawingml/2006/main">
              <a:ext uri="{FF2B5EF4-FFF2-40B4-BE49-F238E27FC236}">
                <a16:creationId xmlns:a16="http://schemas.microsoft.com/office/drawing/2014/main" id="{1F09DFDD-94E2-41DB-97AF-C154F870B781}"/>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857D034D-28CC-4BC3-8DCC-077F67A8E889}"/>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8D013EF9-0E75-4D34-97F9-BF8FC94CF18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548F051E-161E-47B8-AE72-7743095BD93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072A38ED-68CC-46B5-B11C-C086514FFDF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57E801E8-23F4-4ADD-AE5A-A4516F67263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C87A2EBD-9179-4768-BEE8-E136D48726E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96</a:t>
            </a:r>
          </a:p>
        </p:txBody>
      </p:sp>
    </p:spTree>
    <p:extLst>
      <p:ext uri="{BB962C8B-B14F-4D97-AF65-F5344CB8AC3E}">
        <p14:creationId xmlns:p14="http://schemas.microsoft.com/office/powerpoint/2010/main" val="318321949"/>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97-U07-DG-033B-validated-png"/>
          <p:cNvPicPr>
            <a:picLocks xmlns:a="http://schemas.openxmlformats.org/drawingml/2006/main" noChangeAspect="1"/>
          </p:cNvPicPr>
          <p:nvPr/>
        </p:nvPicPr>
        <p:blipFill>
          <a:blip xmlns:r="http://schemas.openxmlformats.org/officeDocument/2006/relationships" xmlns:a="http://schemas.openxmlformats.org/drawingml/2006/main" r:embed="R6a4ab94692374d79"/>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E0D66BD0-C6B2-408A-A4D8-8C5095F99473}"/>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Camino físico, retardo y respuesta son niveles distintos</a:t>
            </a:r>
          </a:p>
        </p:txBody>
      </p:sp>
      <p:sp>
        <p:nvSpPr>
          <p:cNvPr id="3" name="diagram-footer">
            <a:extLst xmlns:a="http://schemas.openxmlformats.org/drawingml/2006/main">
              <a:ext uri="{FF2B5EF4-FFF2-40B4-BE49-F238E27FC236}">
                <a16:creationId xmlns:a16="http://schemas.microsoft.com/office/drawing/2014/main" id="{3C8DB841-32C4-44BC-BF1E-7D9A94F6971C}"/>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7997081A-0BDB-4ECC-8C2C-326258B22CC8}"/>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1357C1CC-3250-4895-8225-23B85E9445B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D0681313-63A6-41B5-BCA2-91416286BFA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C0AD4CF6-8E6A-4FE0-8E47-9006EC92C9E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40F9A4CC-FCF9-488B-BF1F-5B5F7A957FE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7B1F0047-BF0C-48EB-A38A-D7ABB0EFDF8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97</a:t>
            </a:r>
          </a:p>
        </p:txBody>
      </p:sp>
    </p:spTree>
    <p:extLst>
      <p:ext uri="{BB962C8B-B14F-4D97-AF65-F5344CB8AC3E}">
        <p14:creationId xmlns:p14="http://schemas.microsoft.com/office/powerpoint/2010/main" val="1320203634"/>
      </p:ext>
    </p:extLst>
  </p:cSld>
</p:sld>
</file>

<file path=ppt/slides/slide98.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6" name="dark-eyebrow">
            <a:extLst xmlns:a="http://schemas.openxmlformats.org/drawingml/2006/main">
              <a:ext uri="{FF2B5EF4-FFF2-40B4-BE49-F238E27FC236}">
                <a16:creationId xmlns:a16="http://schemas.microsoft.com/office/drawing/2014/main" id="{9E3C63AE-61B8-40D1-84B4-ACDAEDA28E3A}"/>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4 · RUTA CENTRAL</a:t>
            </a:r>
          </a:p>
        </p:txBody>
      </p:sp>
      <p:sp>
        <p:nvSpPr>
          <p:cNvPr id="2" name="divider-title">
            <a:extLst xmlns:a="http://schemas.openxmlformats.org/drawingml/2006/main">
              <a:ext uri="{FF2B5EF4-FFF2-40B4-BE49-F238E27FC236}">
                <a16:creationId xmlns:a16="http://schemas.microsoft.com/office/drawing/2014/main" id="{67850202-57A3-4F75-8744-BDF4C183B079}"/>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¿Qué información permite ubicar una fuente?</a:t>
            </a:r>
          </a:p>
        </p:txBody>
      </p:sp>
      <p:sp>
        <p:nvSpPr>
          <p:cNvPr id="3" name="divider-subtitle">
            <a:extLst xmlns:a="http://schemas.openxmlformats.org/drawingml/2006/main">
              <a:ext uri="{FF2B5EF4-FFF2-40B4-BE49-F238E27FC236}">
                <a16:creationId xmlns:a16="http://schemas.microsoft.com/office/drawing/2014/main" id="{A4E4B804-87C9-4AD9-9771-0394F32BE2D4}"/>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La localización combina pistas binaurales, espectrales y dinámicas.</a:t>
            </a:r>
          </a:p>
        </p:txBody>
      </p:sp>
      <p:sp>
        <p:nvSpPr>
          <p:cNvPr id="4" name="divider-content">
            <a:extLst xmlns:a="http://schemas.openxmlformats.org/drawingml/2006/main">
              <a:ext uri="{FF2B5EF4-FFF2-40B4-BE49-F238E27FC236}">
                <a16:creationId xmlns:a16="http://schemas.microsoft.com/office/drawing/2014/main" id="{0AE5A2AE-2702-4E75-B514-9C9B68FAB1CB}"/>
              </a:ext>
            </a:extLst>
          </p:cNvPr>
          <p:cNvSpPr>
            <a:spLocks xmlns:a="http://schemas.openxmlformats.org/drawingml/2006/main" noGrp="1"/>
          </p:cNvSpPr>
          <p:nvPr/>
        </p:nvSpPr>
        <p:spPr>
          <a:xfrm xmlns:a="http://schemas.openxmlformats.org/drawingml/2006/main">
            <a:off x="2095500" y="44767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 La localización combina pistas binaurales, espectrales y dinámicas.</a:t>
            </a:r>
          </a:p>
        </p:txBody>
      </p:sp>
      <p:sp>
        <p:nvSpPr>
          <p:cNvPr id="5" name="slide-number">
            <a:extLst xmlns:a="http://schemas.openxmlformats.org/drawingml/2006/main">
              <a:ext uri="{FF2B5EF4-FFF2-40B4-BE49-F238E27FC236}">
                <a16:creationId xmlns:a16="http://schemas.microsoft.com/office/drawing/2014/main" id="{E7D8E359-E1E7-44C2-B461-4E8A1153E74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98</a:t>
            </a:r>
          </a:p>
        </p:txBody>
      </p:sp>
    </p:spTree>
    <p:extLst>
      <p:ext uri="{BB962C8B-B14F-4D97-AF65-F5344CB8AC3E}">
        <p14:creationId xmlns:p14="http://schemas.microsoft.com/office/powerpoint/2010/main" val="1164902343"/>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099-U07-DG-034-validated-png"/>
          <p:cNvPicPr>
            <a:picLocks xmlns:a="http://schemas.openxmlformats.org/drawingml/2006/main" noChangeAspect="1"/>
          </p:cNvPicPr>
          <p:nvPr/>
        </p:nvPicPr>
        <p:blipFill>
          <a:blip xmlns:r="http://schemas.openxmlformats.org/officeDocument/2006/relationships" xmlns:a="http://schemas.openxmlformats.org/drawingml/2006/main" r:embed="Rfc6540918e8c4d90"/>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EADA70C8-D10A-4938-8E95-2BCF834FABAC}"/>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Una fuente lateral produce dos señales de oído</a:t>
            </a:r>
          </a:p>
        </p:txBody>
      </p:sp>
      <p:sp>
        <p:nvSpPr>
          <p:cNvPr id="3" name="diagram-footer">
            <a:extLst xmlns:a="http://schemas.openxmlformats.org/drawingml/2006/main">
              <a:ext uri="{FF2B5EF4-FFF2-40B4-BE49-F238E27FC236}">
                <a16:creationId xmlns:a16="http://schemas.microsoft.com/office/drawing/2014/main" id="{4006EA33-8FE9-4291-A24A-1FF02B820540}"/>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8432C2EB-0F2F-45EA-874D-2792A49670E3}"/>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C0BD0330-9715-4A25-8A79-0B2D3124180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99196C59-A235-4B30-A2F9-11611D18479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FFD8CB52-5FC8-4D5C-A33B-1AE968B56CA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DC7F4AE7-46E0-4CED-8B8D-81E378DC17A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4C095565-2611-4EF2-9859-AAD7FE65E32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99</a:t>
            </a:r>
          </a:p>
        </p:txBody>
      </p:sp>
    </p:spTree>
    <p:extLst>
      <p:ext uri="{BB962C8B-B14F-4D97-AF65-F5344CB8AC3E}">
        <p14:creationId xmlns:p14="http://schemas.microsoft.com/office/powerpoint/2010/main" val="986630461"/>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00-U07-DG-034-validated-png"/>
          <p:cNvPicPr>
            <a:picLocks xmlns:a="http://schemas.openxmlformats.org/drawingml/2006/main" noChangeAspect="1"/>
          </p:cNvPicPr>
          <p:nvPr/>
        </p:nvPicPr>
        <p:blipFill>
          <a:blip xmlns:r="http://schemas.openxmlformats.org/officeDocument/2006/relationships" xmlns:a="http://schemas.openxmlformats.org/drawingml/2006/main" r:embed="R20af6325eed24465"/>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8B5A471D-414F-447A-865C-1C46122C7BDA}"/>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Una fuente lateral produce dos señales de oído</a:t>
            </a:r>
          </a:p>
        </p:txBody>
      </p:sp>
      <p:sp>
        <p:nvSpPr>
          <p:cNvPr id="3" name="diagram-footer">
            <a:extLst xmlns:a="http://schemas.openxmlformats.org/drawingml/2006/main">
              <a:ext uri="{FF2B5EF4-FFF2-40B4-BE49-F238E27FC236}">
                <a16:creationId xmlns:a16="http://schemas.microsoft.com/office/drawing/2014/main" id="{A4611B8C-12D1-4EA1-942B-CC81A49A671B}"/>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234CD9EE-EBF0-4536-AA4C-7BD647E09DF1}"/>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ACD75A9A-751B-4292-8E40-7CC0C0DA02B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FD04FE82-6A41-430C-A82D-807B74CFF8C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73E1DEF8-388A-4A59-AECC-0871F23B370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9880F0D8-336D-4526-B992-907B08FB670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762BF924-0FEE-4706-8B2A-E8847493DD83}"/>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100</a:t>
            </a:r>
          </a:p>
        </p:txBody>
      </p:sp>
    </p:spTree>
    <p:extLst>
      <p:ext uri="{BB962C8B-B14F-4D97-AF65-F5344CB8AC3E}">
        <p14:creationId xmlns:p14="http://schemas.microsoft.com/office/powerpoint/2010/main" val="98663046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01-U07-DG-034-validated-png"/>
          <p:cNvPicPr>
            <a:picLocks xmlns:a="http://schemas.openxmlformats.org/drawingml/2006/main" noChangeAspect="1"/>
          </p:cNvPicPr>
          <p:nvPr/>
        </p:nvPicPr>
        <p:blipFill>
          <a:blip xmlns:r="http://schemas.openxmlformats.org/officeDocument/2006/relationships" xmlns:a="http://schemas.openxmlformats.org/drawingml/2006/main" r:embed="R3fbfdfc9db104925"/>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FA902956-E8C5-4629-8A06-CC659D120265}"/>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Una fuente lateral produce dos señales de oído</a:t>
            </a:r>
          </a:p>
        </p:txBody>
      </p:sp>
      <p:sp>
        <p:nvSpPr>
          <p:cNvPr id="3" name="diagram-footer">
            <a:extLst xmlns:a="http://schemas.openxmlformats.org/drawingml/2006/main">
              <a:ext uri="{FF2B5EF4-FFF2-40B4-BE49-F238E27FC236}">
                <a16:creationId xmlns:a16="http://schemas.microsoft.com/office/drawing/2014/main" id="{A82488D8-BE0F-4C9B-BEB3-F05395A33543}"/>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196B8D13-2DF8-45F9-B170-6CDAF778AF05}"/>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57779F3E-0FB3-4C35-8E5E-B42DB91934E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FED922A4-1B58-4D3E-A54B-0D342E1EBC2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1078B791-68C9-410F-A79B-2A1AD16D5E0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85238DA7-1E66-4AB3-A08C-CFA8C1FA5D6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9091E9FF-5172-461C-A8B8-63901C6D495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101</a:t>
            </a:r>
          </a:p>
        </p:txBody>
      </p:sp>
    </p:spTree>
    <p:extLst>
      <p:ext uri="{BB962C8B-B14F-4D97-AF65-F5344CB8AC3E}">
        <p14:creationId xmlns:p14="http://schemas.microsoft.com/office/powerpoint/2010/main" val="98663046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02-U07-DG-034-validated-png"/>
          <p:cNvPicPr>
            <a:picLocks xmlns:a="http://schemas.openxmlformats.org/drawingml/2006/main" noChangeAspect="1"/>
          </p:cNvPicPr>
          <p:nvPr/>
        </p:nvPicPr>
        <p:blipFill>
          <a:blip xmlns:r="http://schemas.openxmlformats.org/officeDocument/2006/relationships" xmlns:a="http://schemas.openxmlformats.org/drawingml/2006/main" r:embed="R886fe09646254ab4"/>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2DF94914-EB49-426A-B22E-74AEFA05F350}"/>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Una fuente lateral produce dos señales de oído</a:t>
            </a:r>
          </a:p>
        </p:txBody>
      </p:sp>
      <p:sp>
        <p:nvSpPr>
          <p:cNvPr id="3" name="diagram-footer">
            <a:extLst xmlns:a="http://schemas.openxmlformats.org/drawingml/2006/main">
              <a:ext uri="{FF2B5EF4-FFF2-40B4-BE49-F238E27FC236}">
                <a16:creationId xmlns:a16="http://schemas.microsoft.com/office/drawing/2014/main" id="{BA05DB9B-713D-46FF-A8FE-5632600023BF}"/>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8205EC33-EA79-445D-A112-82B2C4BCDA05}"/>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E79367A1-63E3-434F-9EDD-4593647455F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E96F9BB2-4089-4423-8684-7C2AAE99147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B2E1634B-104C-46C6-9929-56A5F892BBA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72816F99-01C1-41C5-BD38-737EA39875B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ABCDE016-21C5-486C-86F1-BD5037CAA89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102</a:t>
            </a:r>
          </a:p>
        </p:txBody>
      </p:sp>
    </p:spTree>
    <p:extLst>
      <p:ext uri="{BB962C8B-B14F-4D97-AF65-F5344CB8AC3E}">
        <p14:creationId xmlns:p14="http://schemas.microsoft.com/office/powerpoint/2010/main" val="318321949"/>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03-U07-DG-035-validated-png"/>
          <p:cNvPicPr>
            <a:picLocks xmlns:a="http://schemas.openxmlformats.org/drawingml/2006/main" noChangeAspect="1"/>
          </p:cNvPicPr>
          <p:nvPr/>
        </p:nvPicPr>
        <p:blipFill>
          <a:blip xmlns:r="http://schemas.openxmlformats.org/officeDocument/2006/relationships" xmlns:a="http://schemas.openxmlformats.org/drawingml/2006/main" r:embed="Rf66fcb60236e4a09"/>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6637645D-AB4F-41BC-A65C-0738F187C6AD}"/>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d/c aporta una cota didáctica de ITD</a:t>
            </a:r>
          </a:p>
        </p:txBody>
      </p:sp>
      <p:sp>
        <p:nvSpPr>
          <p:cNvPr id="3" name="diagram-footer">
            <a:extLst xmlns:a="http://schemas.openxmlformats.org/drawingml/2006/main">
              <a:ext uri="{FF2B5EF4-FFF2-40B4-BE49-F238E27FC236}">
                <a16:creationId xmlns:a16="http://schemas.microsoft.com/office/drawing/2014/main" id="{F97CF34E-1FA4-4A80-B63C-DE503D42E623}"/>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Modelo rectilíneo sin difracción; no está a escala ni representa anatomía exacta.</a:t>
            </a:r>
          </a:p>
        </p:txBody>
      </p:sp>
      <p:sp>
        <p:nvSpPr>
          <p:cNvPr id="4" name="diagram-source">
            <a:extLst xmlns:a="http://schemas.openxmlformats.org/drawingml/2006/main">
              <a:ext uri="{FF2B5EF4-FFF2-40B4-BE49-F238E27FC236}">
                <a16:creationId xmlns:a16="http://schemas.microsoft.com/office/drawing/2014/main" id="{248F867F-AD53-4D11-B83A-4D91C05D791A}"/>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B548D1D3-5AAC-4A55-8A48-2135AC0750C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59F7FD70-E05E-4E2F-871C-9123E4DE9FC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4A45838F-37B4-4D6E-BAB7-62EFC949BCF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0076AE99-CCC8-4618-B8C1-33FAB956F31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AACA4F68-7F1F-4C31-AD7A-9DFF65104F4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103</a:t>
            </a:r>
          </a:p>
        </p:txBody>
      </p:sp>
    </p:spTree>
    <p:extLst>
      <p:ext uri="{BB962C8B-B14F-4D97-AF65-F5344CB8AC3E}">
        <p14:creationId xmlns:p14="http://schemas.microsoft.com/office/powerpoint/2010/main" val="1995449240"/>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722E42B8-57D6-483A-9DBA-45A8CF726283}"/>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abs(Δt(LR)) ≈ d/c estima la ITD máxima del modelo</a:t>
            </a:r>
          </a:p>
        </p:txBody>
      </p:sp>
      <p:sp>
        <p:nvSpPr>
          <p:cNvPr id="2" name="equation-box">
            <a:extLst xmlns:a="http://schemas.openxmlformats.org/drawingml/2006/main">
              <a:ext uri="{FF2B5EF4-FFF2-40B4-BE49-F238E27FC236}">
                <a16:creationId xmlns:a16="http://schemas.microsoft.com/office/drawing/2014/main" id="{76C5F4BC-6852-474D-BCB4-B961BA2C5D0B}"/>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B4854095-6DDF-4491-B0B0-CD69E513DBBD}"/>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|Δt(LR)| ≈ d/c; es una cota del modelo rectilíneo, no la ITD de cualquier dirección.</a:t>
            </a:r>
          </a:p>
        </p:txBody>
      </p:sp>
      <p:sp>
        <p:nvSpPr>
          <p:cNvPr id="4" name="equation-interpretation-box">
            <a:extLst xmlns:a="http://schemas.openxmlformats.org/drawingml/2006/main">
              <a:ext uri="{FF2B5EF4-FFF2-40B4-BE49-F238E27FC236}">
                <a16:creationId xmlns:a16="http://schemas.microsoft.com/office/drawing/2014/main" id="{D6FADD7B-7507-4E16-B913-BA15A0C0A484}"/>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FC519B22-0EBB-4C66-8FD0-17621129A119}"/>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2EF750E9-12F0-4CDE-AA7A-9B02F48AED1B}"/>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 Ecuación, símbolos, unidades, valor absoluto y supuestos. Interpretar el resultado dentro de las condiciones indicadas.</a:t>
            </a:r>
          </a:p>
        </p:txBody>
      </p:sp>
      <p:sp>
        <p:nvSpPr>
          <p:cNvPr id="7" name="top-rail-1">
            <a:extLst xmlns:a="http://schemas.openxmlformats.org/drawingml/2006/main">
              <a:ext uri="{FF2B5EF4-FFF2-40B4-BE49-F238E27FC236}">
                <a16:creationId xmlns:a16="http://schemas.microsoft.com/office/drawing/2014/main" id="{FB53C23A-9669-43B2-97A2-5CAD389A5BF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47EE3F62-B029-4030-A739-5D9FEA4C021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D244BF65-D3E0-4D26-9800-28418A5E0EE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72F73A0B-10F9-4C71-8D91-0F14F77BD46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1" name="slide-number">
            <a:extLst xmlns:a="http://schemas.openxmlformats.org/drawingml/2006/main">
              <a:ext uri="{FF2B5EF4-FFF2-40B4-BE49-F238E27FC236}">
                <a16:creationId xmlns:a16="http://schemas.microsoft.com/office/drawing/2014/main" id="{46E09F41-2163-49B6-A887-4D3D589FF98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104</a:t>
            </a:r>
          </a:p>
        </p:txBody>
      </p:sp>
    </p:spTree>
    <p:extLst>
      <p:ext uri="{BB962C8B-B14F-4D97-AF65-F5344CB8AC3E}">
        <p14:creationId xmlns:p14="http://schemas.microsoft.com/office/powerpoint/2010/main" val="1602286470"/>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5BA7469A-2AC1-4795-B948-78F65C4F17E9}"/>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Con d=0,180 m, la ITD máxima estimada es ≈525 μs</a:t>
            </a:r>
          </a:p>
        </p:txBody>
      </p:sp>
      <p:sp>
        <p:nvSpPr>
          <p:cNvPr id="2" name="equation-box">
            <a:extLst xmlns:a="http://schemas.openxmlformats.org/drawingml/2006/main">
              <a:ext uri="{FF2B5EF4-FFF2-40B4-BE49-F238E27FC236}">
                <a16:creationId xmlns:a16="http://schemas.microsoft.com/office/drawing/2014/main" id="{42E9D926-EDCD-4BAC-83E0-6326E1C1B5ED}"/>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9E224B4C-797E-42D7-A514-FAFBF78F01D1}"/>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|Δt(LR)| ≈ 0,180 m / 343 m·s⁻¹ = 5,25 × 10⁻⁴ s ≈ 525 µs.</a:t>
            </a:r>
          </a:p>
        </p:txBody>
      </p:sp>
      <p:sp>
        <p:nvSpPr>
          <p:cNvPr id="4" name="equation-meaning-box">
            <a:extLst xmlns:a="http://schemas.openxmlformats.org/drawingml/2006/main">
              <a:ext uri="{FF2B5EF4-FFF2-40B4-BE49-F238E27FC236}">
                <a16:creationId xmlns:a16="http://schemas.microsoft.com/office/drawing/2014/main" id="{9D2DCAAB-A5C7-4033-82A6-34D25E5CF91D}"/>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32D3E5F9-06D4-4065-858D-EF2001FF1F27}"/>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EF6ABFA1-6405-4870-96E9-034ADA6FCFD4}"/>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 Valores explícitos. Sustitución. Segundos. Microsegundos. Interpretar el resultado dentro de las condiciones indicadas.</a:t>
            </a:r>
          </a:p>
        </p:txBody>
      </p:sp>
      <p:sp>
        <p:nvSpPr>
          <p:cNvPr id="7" name="equation-use-box">
            <a:extLst xmlns:a="http://schemas.openxmlformats.org/drawingml/2006/main">
              <a:ext uri="{FF2B5EF4-FFF2-40B4-BE49-F238E27FC236}">
                <a16:creationId xmlns:a16="http://schemas.microsoft.com/office/drawing/2014/main" id="{D5057116-7412-4F57-9B63-498F38F4D3B2}"/>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30244C98-B53B-4D0B-BB9B-E7EE5B4F6903}"/>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2D4E48C3-29FB-4A05-A949-FF9DAA10FA13}"/>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Con d = 0,180 m y c = 343 m·s⁻¹, el modelo entrega aproximadamente 525 µs.</a:t>
            </a:r>
          </a:p>
        </p:txBody>
      </p:sp>
      <p:sp>
        <p:nvSpPr>
          <p:cNvPr id="10" name="top-rail-1">
            <a:extLst xmlns:a="http://schemas.openxmlformats.org/drawingml/2006/main">
              <a:ext uri="{FF2B5EF4-FFF2-40B4-BE49-F238E27FC236}">
                <a16:creationId xmlns:a16="http://schemas.microsoft.com/office/drawing/2014/main" id="{25029FD3-BA8E-4497-8E55-570BBEF983A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00718135-BC93-4118-BA2E-DFB677AE706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3CD59B2F-5FD8-4AB2-8979-D2DE4C43DCB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3C1786FB-19DA-491E-9151-CDF52231799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4" name="slide-number">
            <a:extLst xmlns:a="http://schemas.openxmlformats.org/drawingml/2006/main">
              <a:ext uri="{FF2B5EF4-FFF2-40B4-BE49-F238E27FC236}">
                <a16:creationId xmlns:a16="http://schemas.microsoft.com/office/drawing/2014/main" id="{9AD62A56-20D9-416D-A1B8-DFDB353A6AD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105</a:t>
            </a:r>
          </a:p>
        </p:txBody>
      </p:sp>
    </p:spTree>
    <p:extLst>
      <p:ext uri="{BB962C8B-B14F-4D97-AF65-F5344CB8AC3E}">
        <p14:creationId xmlns:p14="http://schemas.microsoft.com/office/powerpoint/2010/main" val="1133635661"/>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38099412-CF67-4393-ACB0-120C25F60FBE}"/>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Pabellón, cabeza y torso añaden pistas espectrales dependientes de dirección</a:t>
            </a:r>
          </a:p>
        </p:txBody>
      </p:sp>
      <p:sp>
        <p:nvSpPr>
          <p:cNvPr id="2" name="main-ideas">
            <a:extLst xmlns:a="http://schemas.openxmlformats.org/drawingml/2006/main">
              <a:ext uri="{FF2B5EF4-FFF2-40B4-BE49-F238E27FC236}">
                <a16:creationId xmlns:a16="http://schemas.microsoft.com/office/drawing/2014/main" id="{51851BC5-72BF-4090-9808-F84476A4822C}"/>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Filtrados direccionales ayudan especialmente en elevación y frente–detrás.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Espectros en dos direcciones y partes anatómicas contribuyentes.</a:t>
            </a:r>
          </a:p>
        </p:txBody>
      </p:sp>
      <p:sp>
        <p:nvSpPr>
          <p:cNvPr id="3" name="top-rail-1">
            <a:extLst xmlns:a="http://schemas.openxmlformats.org/drawingml/2006/main">
              <a:ext uri="{FF2B5EF4-FFF2-40B4-BE49-F238E27FC236}">
                <a16:creationId xmlns:a16="http://schemas.microsoft.com/office/drawing/2014/main" id="{0003F45F-E9FB-4BD2-B933-C185B21787B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D2C24A3E-F3FC-4EC4-AFE9-3FEDFFDB443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48CF59BA-B34C-4FED-A267-B4FCF3BECDE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3425DC72-E8A6-4477-B0D1-9CB767DDB65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E5E2BF0C-D2D6-488B-958D-58B23AE1A3E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106</a:t>
            </a:r>
          </a:p>
        </p:txBody>
      </p:sp>
    </p:spTree>
    <p:extLst>
      <p:ext uri="{BB962C8B-B14F-4D97-AF65-F5344CB8AC3E}">
        <p14:creationId xmlns:p14="http://schemas.microsoft.com/office/powerpoint/2010/main" val="1926975773"/>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07-U07-DG-037-validated-png"/>
          <p:cNvPicPr>
            <a:picLocks xmlns:a="http://schemas.openxmlformats.org/drawingml/2006/main" noChangeAspect="1"/>
          </p:cNvPicPr>
          <p:nvPr/>
        </p:nvPicPr>
        <p:blipFill>
          <a:blip xmlns:r="http://schemas.openxmlformats.org/officeDocument/2006/relationships" xmlns:a="http://schemas.openxmlformats.org/drawingml/2006/main" r:embed="Rd0a481b3951b4825"/>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49848AD8-E963-43E6-AA80-A2B8135338F2}"/>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Direcciones distintas pueden producir pistas binaurales semejantes</a:t>
            </a:r>
          </a:p>
        </p:txBody>
      </p:sp>
      <p:sp>
        <p:nvSpPr>
          <p:cNvPr id="3" name="diagram-footer">
            <a:extLst xmlns:a="http://schemas.openxmlformats.org/drawingml/2006/main">
              <a:ext uri="{FF2B5EF4-FFF2-40B4-BE49-F238E27FC236}">
                <a16:creationId xmlns:a16="http://schemas.microsoft.com/office/drawing/2014/main" id="{29179992-3CFA-4245-AA5F-DF4743E4BB70}"/>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FF13EB47-A5FE-48CA-A77D-9FDFAAD9EE61}"/>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8209D5C9-6AE8-4B7E-9FEF-C11C5D6F5DD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EE06DD40-20A7-414B-9D2E-318CBB0F534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80218F8D-1E5B-4BA5-A9ED-8DCA66664E8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34F3A8FB-0566-48AB-8CCD-88C1685FE20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5D5006AF-12BB-427A-B3BE-A9724C154B9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107</a:t>
            </a:r>
          </a:p>
        </p:txBody>
      </p:sp>
    </p:spTree>
    <p:extLst>
      <p:ext uri="{BB962C8B-B14F-4D97-AF65-F5344CB8AC3E}">
        <p14:creationId xmlns:p14="http://schemas.microsoft.com/office/powerpoint/2010/main" val="1995449240"/>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08-U07-DG-038-validated-png"/>
          <p:cNvPicPr>
            <a:picLocks xmlns:a="http://schemas.openxmlformats.org/drawingml/2006/main" noChangeAspect="1"/>
          </p:cNvPicPr>
          <p:nvPr/>
        </p:nvPicPr>
        <p:blipFill>
          <a:blip xmlns:r="http://schemas.openxmlformats.org/officeDocument/2006/relationships" xmlns:a="http://schemas.openxmlformats.org/drawingml/2006/main" r:embed="R34cb6e0e029a4c30"/>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2E1EE4AC-42A1-44C7-A280-FF8A55514EF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Mover la cabeza cambia el conjunto de pistas</a:t>
            </a:r>
          </a:p>
        </p:txBody>
      </p:sp>
      <p:sp>
        <p:nvSpPr>
          <p:cNvPr id="3" name="diagram-footer">
            <a:extLst xmlns:a="http://schemas.openxmlformats.org/drawingml/2006/main">
              <a:ext uri="{FF2B5EF4-FFF2-40B4-BE49-F238E27FC236}">
                <a16:creationId xmlns:a16="http://schemas.microsoft.com/office/drawing/2014/main" id="{852423DE-9A77-4F1A-8168-19685E33A50B}"/>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3C04D0F0-6BFF-4F0B-9A6F-A50F853F8FFB}"/>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A1242F14-3F83-4A9A-B5DE-1729C9B70B7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0F6F55A7-972D-4732-815F-8AC5C1D2608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3CB08C4C-1FBB-44AE-9A7C-B95FD4F5AC0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3F98F465-8183-4239-94C0-173FBCA7887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377BB68B-8AF4-4B7F-8246-802AE091E8F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108</a:t>
            </a:r>
          </a:p>
        </p:txBody>
      </p:sp>
    </p:spTree>
    <p:extLst>
      <p:ext uri="{BB962C8B-B14F-4D97-AF65-F5344CB8AC3E}">
        <p14:creationId xmlns:p14="http://schemas.microsoft.com/office/powerpoint/2010/main" val="1046213385"/>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09-U07-DG-038-validated-png"/>
          <p:cNvPicPr>
            <a:picLocks xmlns:a="http://schemas.openxmlformats.org/drawingml/2006/main" noChangeAspect="1"/>
          </p:cNvPicPr>
          <p:nvPr/>
        </p:nvPicPr>
        <p:blipFill>
          <a:blip xmlns:r="http://schemas.openxmlformats.org/officeDocument/2006/relationships" xmlns:a="http://schemas.openxmlformats.org/drawingml/2006/main" r:embed="R072cbe9ecf2d44d2"/>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E11114D-9AE1-4CBB-8439-0BE69FD179C1}"/>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Mover la cabeza cambia el conjunto de pistas</a:t>
            </a:r>
          </a:p>
        </p:txBody>
      </p:sp>
      <p:sp>
        <p:nvSpPr>
          <p:cNvPr id="3" name="diagram-footer">
            <a:extLst xmlns:a="http://schemas.openxmlformats.org/drawingml/2006/main">
              <a:ext uri="{FF2B5EF4-FFF2-40B4-BE49-F238E27FC236}">
                <a16:creationId xmlns:a16="http://schemas.microsoft.com/office/drawing/2014/main" id="{1171611A-0AF4-4B35-BEA2-B0A4E10BE2E2}"/>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20857069-FBE0-41C0-8737-F71777C7E78E}"/>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5C939410-9C93-41FC-BBC9-49D00A66104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0D9CED73-258E-40E5-B601-B3E16102F94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63B47B22-41CB-4B65-8700-9F0573A9284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7C669EC8-9D8D-40D4-8ABC-9500E42C273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990B1F55-AF78-41B8-A0BF-741AAED3827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109</a:t>
            </a:r>
          </a:p>
        </p:txBody>
      </p:sp>
    </p:spTree>
    <p:extLst>
      <p:ext uri="{BB962C8B-B14F-4D97-AF65-F5344CB8AC3E}">
        <p14:creationId xmlns:p14="http://schemas.microsoft.com/office/powerpoint/2010/main" val="1320203634"/>
      </p:ext>
    </p:extLst>
  </p:cSld>
</p:sld>
</file>

<file path=ppt/slides/slide110.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6" name="dark-eyebrow">
            <a:extLst xmlns:a="http://schemas.openxmlformats.org/drawingml/2006/main">
              <a:ext uri="{FF2B5EF4-FFF2-40B4-BE49-F238E27FC236}">
                <a16:creationId xmlns:a16="http://schemas.microsoft.com/office/drawing/2014/main" id="{DDB91ED3-0C39-49DE-AC58-741E1A3B1095}"/>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4 · RUTA CENTRAL</a:t>
            </a:r>
          </a:p>
        </p:txBody>
      </p:sp>
      <p:sp>
        <p:nvSpPr>
          <p:cNvPr id="2" name="divider-title">
            <a:extLst xmlns:a="http://schemas.openxmlformats.org/drawingml/2006/main">
              <a:ext uri="{FF2B5EF4-FFF2-40B4-BE49-F238E27FC236}">
                <a16:creationId xmlns:a16="http://schemas.microsoft.com/office/drawing/2014/main" id="{9072BE49-0D1E-42D9-BC95-BB7430F098E6}"/>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¿Cómo seguimos una voz entre varias fuentes?</a:t>
            </a:r>
          </a:p>
        </p:txBody>
      </p:sp>
      <p:sp>
        <p:nvSpPr>
          <p:cNvPr id="3" name="divider-subtitle">
            <a:extLst xmlns:a="http://schemas.openxmlformats.org/drawingml/2006/main">
              <a:ext uri="{FF2B5EF4-FFF2-40B4-BE49-F238E27FC236}">
                <a16:creationId xmlns:a16="http://schemas.microsoft.com/office/drawing/2014/main" id="{B50696AE-CA9E-4ADF-A381-57288F3FD807}"/>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La escena física llega mezclada, pero puede organizarse en objetos perceptuales.</a:t>
            </a:r>
          </a:p>
        </p:txBody>
      </p:sp>
      <p:sp>
        <p:nvSpPr>
          <p:cNvPr id="4" name="divider-content">
            <a:extLst xmlns:a="http://schemas.openxmlformats.org/drawingml/2006/main">
              <a:ext uri="{FF2B5EF4-FFF2-40B4-BE49-F238E27FC236}">
                <a16:creationId xmlns:a16="http://schemas.microsoft.com/office/drawing/2014/main" id="{9E862C9D-AC85-4042-B94C-99B511F1742A}"/>
              </a:ext>
            </a:extLst>
          </p:cNvPr>
          <p:cNvSpPr>
            <a:spLocks xmlns:a="http://schemas.openxmlformats.org/drawingml/2006/main" noGrp="1"/>
          </p:cNvSpPr>
          <p:nvPr/>
        </p:nvSpPr>
        <p:spPr>
          <a:xfrm xmlns:a="http://schemas.openxmlformats.org/drawingml/2006/main">
            <a:off x="2095500" y="44767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 La escena física llega mezclada, pero puede organizarse en objetos perceptuales.</a:t>
            </a:r>
          </a:p>
        </p:txBody>
      </p:sp>
      <p:sp>
        <p:nvSpPr>
          <p:cNvPr id="5" name="slide-number">
            <a:extLst xmlns:a="http://schemas.openxmlformats.org/drawingml/2006/main">
              <a:ext uri="{FF2B5EF4-FFF2-40B4-BE49-F238E27FC236}">
                <a16:creationId xmlns:a16="http://schemas.microsoft.com/office/drawing/2014/main" id="{017D0DB3-8348-4204-99B0-B1863F86600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110</a:t>
            </a:r>
          </a:p>
        </p:txBody>
      </p:sp>
    </p:spTree>
    <p:extLst>
      <p:ext uri="{BB962C8B-B14F-4D97-AF65-F5344CB8AC3E}">
        <p14:creationId xmlns:p14="http://schemas.microsoft.com/office/powerpoint/2010/main" val="1164902343"/>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11-U07-DG-039-validated-png"/>
          <p:cNvPicPr>
            <a:picLocks xmlns:a="http://schemas.openxmlformats.org/drawingml/2006/main" noChangeAspect="1"/>
          </p:cNvPicPr>
          <p:nvPr/>
        </p:nvPicPr>
        <p:blipFill>
          <a:blip xmlns:r="http://schemas.openxmlformats.org/officeDocument/2006/relationships" xmlns:a="http://schemas.openxmlformats.org/drawingml/2006/main" r:embed="Rddd2ae60c96f48ca"/>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BECD744D-8592-40F3-85D5-00BD632418E5}"/>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mezcla física puede organizarse en objetos perceptuales</a:t>
            </a:r>
          </a:p>
        </p:txBody>
      </p:sp>
      <p:sp>
        <p:nvSpPr>
          <p:cNvPr id="3" name="diagram-footer">
            <a:extLst xmlns:a="http://schemas.openxmlformats.org/drawingml/2006/main">
              <a:ext uri="{FF2B5EF4-FFF2-40B4-BE49-F238E27FC236}">
                <a16:creationId xmlns:a16="http://schemas.microsoft.com/office/drawing/2014/main" id="{F423AE46-961D-42E8-B571-1666A155EB0F}"/>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024BAD6C-39D9-4641-BD32-C571F30691AC}"/>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727A701F-8CD8-4409-99C0-3E40E7551FC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2E4BDC67-49AD-4525-9422-EA8CA5F5C58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ACE93988-5066-47FE-AA9A-18859510696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014111FE-B012-425E-8992-D0116EDA6CD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09796862-0C53-4257-B623-69AE9F28BC3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111</a:t>
            </a:r>
          </a:p>
        </p:txBody>
      </p:sp>
    </p:spTree>
    <p:extLst>
      <p:ext uri="{BB962C8B-B14F-4D97-AF65-F5344CB8AC3E}">
        <p14:creationId xmlns:p14="http://schemas.microsoft.com/office/powerpoint/2010/main" val="567438305"/>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E7BAE291-E64B-4BE6-ABF8-975B043D4799}"/>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Efecto cocktail party: atender una fuente en una escena concurrente</a:t>
            </a:r>
          </a:p>
        </p:txBody>
      </p:sp>
      <p:sp>
        <p:nvSpPr>
          <p:cNvPr id="2" name="main-ideas">
            <a:extLst xmlns:a="http://schemas.openxmlformats.org/drawingml/2006/main">
              <a:ext uri="{FF2B5EF4-FFF2-40B4-BE49-F238E27FC236}">
                <a16:creationId xmlns:a16="http://schemas.microsoft.com/office/drawing/2014/main" id="{B1DCE56B-06BB-4A70-B4BE-C51E71BFF373}"/>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Separar una voz usa diferencias espaciales, espectrales, temporales y de identidad.</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Voz objetivo, competidores, pistas y tarea.</a:t>
            </a:r>
          </a:p>
        </p:txBody>
      </p:sp>
      <p:sp>
        <p:nvSpPr>
          <p:cNvPr id="3" name="side-panel-box">
            <a:extLst xmlns:a="http://schemas.openxmlformats.org/drawingml/2006/main">
              <a:ext uri="{FF2B5EF4-FFF2-40B4-BE49-F238E27FC236}">
                <a16:creationId xmlns:a16="http://schemas.microsoft.com/office/drawing/2014/main" id="{8DC9F09E-318E-4977-B2BA-C4176A542D40}"/>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F8EDE2"/>
          </a:solidFill>
          <a:ln xmlns:a="http://schemas.openxmlformats.org/drawingml/2006/main" w="19050">
            <a:solidFill>
              <a:srgbClr val="9F541A"/>
            </a:solidFill>
            <a:prstDash val="solid"/>
          </a:ln>
        </p:spPr>
      </p:sp>
      <p:sp>
        <p:nvSpPr>
          <p:cNvPr id="4" name="side-panel-title">
            <a:extLst xmlns:a="http://schemas.openxmlformats.org/drawingml/2006/main">
              <a:ext uri="{FF2B5EF4-FFF2-40B4-BE49-F238E27FC236}">
                <a16:creationId xmlns:a16="http://schemas.microsoft.com/office/drawing/2014/main" id="{B61CF64F-E389-4FB8-AD8A-58FC9579EC74}"/>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804E48C2-7C61-4272-B478-E0B7E9AE97A4}"/>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Efecto cocktail party: situación en la que se selecciona una fuente objetivo dentro de una escena con fuentes concurrentes.</a:t>
            </a:r>
          </a:p>
        </p:txBody>
      </p:sp>
      <p:sp>
        <p:nvSpPr>
          <p:cNvPr id="6" name="top-rail-1">
            <a:extLst xmlns:a="http://schemas.openxmlformats.org/drawingml/2006/main">
              <a:ext uri="{FF2B5EF4-FFF2-40B4-BE49-F238E27FC236}">
                <a16:creationId xmlns:a16="http://schemas.microsoft.com/office/drawing/2014/main" id="{E4C9D1EA-49B5-4F21-B0CC-8F90C60116B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B22AFB34-F886-44E8-88A9-E06A616C318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80CCDF81-BD06-48C5-AB88-777E08B76D4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8D38176A-027A-4058-B5B6-CED717D6048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0" name="slide-number">
            <a:extLst xmlns:a="http://schemas.openxmlformats.org/drawingml/2006/main">
              <a:ext uri="{FF2B5EF4-FFF2-40B4-BE49-F238E27FC236}">
                <a16:creationId xmlns:a16="http://schemas.microsoft.com/office/drawing/2014/main" id="{1CBDBD31-6AB0-4FE6-9814-F60CDE5F485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112</a:t>
            </a:r>
          </a:p>
        </p:txBody>
      </p:sp>
    </p:spTree>
    <p:extLst>
      <p:ext uri="{BB962C8B-B14F-4D97-AF65-F5344CB8AC3E}">
        <p14:creationId xmlns:p14="http://schemas.microsoft.com/office/powerpoint/2010/main" val="986630461"/>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13-U07-DG-040-validated-png"/>
          <p:cNvPicPr>
            <a:picLocks xmlns:a="http://schemas.openxmlformats.org/drawingml/2006/main" noChangeAspect="1"/>
          </p:cNvPicPr>
          <p:nvPr/>
        </p:nvPicPr>
        <p:blipFill>
          <a:blip xmlns:r="http://schemas.openxmlformats.org/officeDocument/2006/relationships" xmlns:a="http://schemas.openxmlformats.org/drawingml/2006/main" r:embed="R82f33184c3404160"/>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C456D782-F3B3-4DC3-87AD-4164BA7CA9F5}"/>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Segregar una fuente combina pistas físicas y selección</a:t>
            </a:r>
          </a:p>
        </p:txBody>
      </p:sp>
      <p:sp>
        <p:nvSpPr>
          <p:cNvPr id="3" name="diagram-footer">
            <a:extLst xmlns:a="http://schemas.openxmlformats.org/drawingml/2006/main">
              <a:ext uri="{FF2B5EF4-FFF2-40B4-BE49-F238E27FC236}">
                <a16:creationId xmlns:a16="http://schemas.microsoft.com/office/drawing/2014/main" id="{56D5D01F-ADC3-4C28-8CE7-5BD983841C64}"/>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085FE3CB-CBED-4D5F-8991-8ED4FDE62127}"/>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8DE1E301-33D4-4610-A3D2-8A303D929BB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55D422B1-E66D-47E7-90E1-1FDDA1B87BC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410706A9-F4D4-439E-90AB-ECD1B900966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527B78BD-8E58-45E9-B398-E507C4DB8E4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34D28B05-7426-4ECA-899D-F7EE46A8E52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113</a:t>
            </a:r>
          </a:p>
        </p:txBody>
      </p:sp>
    </p:spTree>
    <p:extLst>
      <p:ext uri="{BB962C8B-B14F-4D97-AF65-F5344CB8AC3E}">
        <p14:creationId xmlns:p14="http://schemas.microsoft.com/office/powerpoint/2010/main" val="1271479030"/>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14-U07-DG-040-validated-png"/>
          <p:cNvPicPr>
            <a:picLocks xmlns:a="http://schemas.openxmlformats.org/drawingml/2006/main" noChangeAspect="1"/>
          </p:cNvPicPr>
          <p:nvPr/>
        </p:nvPicPr>
        <p:blipFill>
          <a:blip xmlns:r="http://schemas.openxmlformats.org/officeDocument/2006/relationships" xmlns:a="http://schemas.openxmlformats.org/drawingml/2006/main" r:embed="Rf9879d7b3f284ed3"/>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C9694ED4-DE36-40E4-A8AF-AFA12646DEE4}"/>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Segregar una fuente combina pistas físicas y selección</a:t>
            </a:r>
          </a:p>
        </p:txBody>
      </p:sp>
      <p:sp>
        <p:nvSpPr>
          <p:cNvPr id="3" name="diagram-footer">
            <a:extLst xmlns:a="http://schemas.openxmlformats.org/drawingml/2006/main">
              <a:ext uri="{FF2B5EF4-FFF2-40B4-BE49-F238E27FC236}">
                <a16:creationId xmlns:a16="http://schemas.microsoft.com/office/drawing/2014/main" id="{FD2E5B31-63F7-4C77-B5B7-AAB6470F8B79}"/>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218633ED-E2FD-4440-B68B-5E85B6A4D6CD}"/>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A1F3E436-9D46-4BF2-BAB2-3C946A773A8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94E94B28-FEF7-49AF-AF10-AD0A5CD861C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4A692ED7-C0FF-499D-88F4-AEF8ED584FA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632F2FE7-45DF-4CF3-98C0-001968D2C4F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0AFDC8F8-F5FE-46A4-9863-88DEFCB5C21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114</a:t>
            </a:r>
          </a:p>
        </p:txBody>
      </p:sp>
    </p:spTree>
    <p:extLst>
      <p:ext uri="{BB962C8B-B14F-4D97-AF65-F5344CB8AC3E}">
        <p14:creationId xmlns:p14="http://schemas.microsoft.com/office/powerpoint/2010/main" val="1926975773"/>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086979D3-BB78-480E-B84B-DF9672BA87FD}"/>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Separar espacialmente fuentes puede mejorar la tarea</a:t>
            </a:r>
          </a:p>
        </p:txBody>
      </p:sp>
      <p:sp>
        <p:nvSpPr>
          <p:cNvPr id="2" name="compare-a-box">
            <a:extLst xmlns:a="http://schemas.openxmlformats.org/drawingml/2006/main">
              <a:ext uri="{FF2B5EF4-FFF2-40B4-BE49-F238E27FC236}">
                <a16:creationId xmlns:a16="http://schemas.microsoft.com/office/drawing/2014/main" id="{20A1BA0A-F801-4CDA-9A32-994E898D6B3A}"/>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E902B941-C48D-49F4-BC0D-D7A7A1A0664F}"/>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Caso A</a:t>
            </a:r>
          </a:p>
        </p:txBody>
      </p:sp>
      <p:sp>
        <p:nvSpPr>
          <p:cNvPr id="4" name="compare-a-body">
            <a:extLst xmlns:a="http://schemas.openxmlformats.org/drawingml/2006/main">
              <a:ext uri="{FF2B5EF4-FFF2-40B4-BE49-F238E27FC236}">
                <a16:creationId xmlns:a16="http://schemas.microsoft.com/office/drawing/2014/main" id="{D5978AD4-CCCC-4CA6-8C71-4B70FFEB6E46}"/>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 Cambiar posiciones puede aportar diferencias binaurales y reducir competencia efectiva. Compare relaciones</a:t>
            </a:r>
          </a:p>
        </p:txBody>
      </p:sp>
      <p:sp>
        <p:nvSpPr>
          <p:cNvPr id="5" name="compare-b-box">
            <a:extLst xmlns:a="http://schemas.openxmlformats.org/drawingml/2006/main">
              <a:ext uri="{FF2B5EF4-FFF2-40B4-BE49-F238E27FC236}">
                <a16:creationId xmlns:a16="http://schemas.microsoft.com/office/drawing/2014/main" id="{0AE29D51-8496-46A5-A89C-6FC0B7C5FC90}"/>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86E59939-0EAC-4448-8797-D5BB743A7D7B}"/>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Caso B</a:t>
            </a:r>
          </a:p>
        </p:txBody>
      </p:sp>
      <p:sp>
        <p:nvSpPr>
          <p:cNvPr id="7" name="compare-b-body">
            <a:extLst xmlns:a="http://schemas.openxmlformats.org/drawingml/2006/main">
              <a:ext uri="{FF2B5EF4-FFF2-40B4-BE49-F238E27FC236}">
                <a16:creationId xmlns:a16="http://schemas.microsoft.com/office/drawing/2014/main" id="{F3E36988-993B-40CF-ADAB-5A45719D4EA0}"/>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la proximidad entre cajas no representa una escala.</a:t>
            </a:r>
          </a:p>
        </p:txBody>
      </p:sp>
      <p:sp>
        <p:nvSpPr>
          <p:cNvPr id="8" name="top-rail-1">
            <a:extLst xmlns:a="http://schemas.openxmlformats.org/drawingml/2006/main">
              <a:ext uri="{FF2B5EF4-FFF2-40B4-BE49-F238E27FC236}">
                <a16:creationId xmlns:a16="http://schemas.microsoft.com/office/drawing/2014/main" id="{5775813A-60EA-47A8-A0EE-5AF49D16D6F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9ED963F1-CE27-4A78-9CBF-6A29D588FA7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B830C939-FDC7-4978-9421-4D3791693DF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BCA68961-7992-418F-81E1-A82D0E12CBA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2" name="slide-number">
            <a:extLst xmlns:a="http://schemas.openxmlformats.org/drawingml/2006/main">
              <a:ext uri="{FF2B5EF4-FFF2-40B4-BE49-F238E27FC236}">
                <a16:creationId xmlns:a16="http://schemas.microsoft.com/office/drawing/2014/main" id="{1B5EB4FB-8020-42E9-AD98-9B53059CAAA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115</a:t>
            </a:r>
          </a:p>
        </p:txBody>
      </p:sp>
    </p:spTree>
    <p:extLst>
      <p:ext uri="{BB962C8B-B14F-4D97-AF65-F5344CB8AC3E}">
        <p14:creationId xmlns:p14="http://schemas.microsoft.com/office/powerpoint/2010/main" val="318321949"/>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110BC58-5A6E-4F88-9F67-B2427A86F2C7}"/>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Un micrófono direccional cambia la mezcla antes de la escucha</a:t>
            </a:r>
          </a:p>
        </p:txBody>
      </p:sp>
      <p:sp>
        <p:nvSpPr>
          <p:cNvPr id="2" name="main-ideas">
            <a:extLst xmlns:a="http://schemas.openxmlformats.org/drawingml/2006/main">
              <a:ext uri="{FF2B5EF4-FFF2-40B4-BE49-F238E27FC236}">
                <a16:creationId xmlns:a16="http://schemas.microsoft.com/office/drawing/2014/main" id="{E580BDD7-F640-45C4-A205-118EC2C36791}"/>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La orientación puede mejorar la relación objetivo–competidores, pero depende de escena, ajuste y usuario.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Patrón polar, voz objetivo, ruido lateral y limitaciones.</a:t>
            </a:r>
          </a:p>
        </p:txBody>
      </p:sp>
      <p:sp>
        <p:nvSpPr>
          <p:cNvPr id="3" name="top-rail-1">
            <a:extLst xmlns:a="http://schemas.openxmlformats.org/drawingml/2006/main">
              <a:ext uri="{FF2B5EF4-FFF2-40B4-BE49-F238E27FC236}">
                <a16:creationId xmlns:a16="http://schemas.microsoft.com/office/drawing/2014/main" id="{0652F48B-7F25-45E5-B590-D0B34885686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C646AE34-D7F2-4E94-A133-38F08406ADD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3DB4AAC3-CB1B-4553-87BD-6345BF99653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484F518A-3800-4AD5-9DEA-F28BA6FB0DD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340ADDA3-7806-4940-9EB9-989FDEF3C66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116</a:t>
            </a:r>
          </a:p>
        </p:txBody>
      </p:sp>
    </p:spTree>
    <p:extLst>
      <p:ext uri="{BB962C8B-B14F-4D97-AF65-F5344CB8AC3E}">
        <p14:creationId xmlns:p14="http://schemas.microsoft.com/office/powerpoint/2010/main" val="817057724"/>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17-U07-DG-041-validated-png"/>
          <p:cNvPicPr>
            <a:picLocks xmlns:a="http://schemas.openxmlformats.org/drawingml/2006/main" noChangeAspect="1"/>
          </p:cNvPicPr>
          <p:nvPr/>
        </p:nvPicPr>
        <p:blipFill>
          <a:blip xmlns:r="http://schemas.openxmlformats.org/officeDocument/2006/relationships" xmlns:a="http://schemas.openxmlformats.org/drawingml/2006/main" r:embed="Rce6a0036885a4cb8"/>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60022D6F-098E-4B52-9BF5-E2A96CD5139E}"/>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En un aula, señal, ambiente y tarea interactúan</a:t>
            </a:r>
          </a:p>
        </p:txBody>
      </p:sp>
      <p:sp>
        <p:nvSpPr>
          <p:cNvPr id="3" name="diagram-footer">
            <a:extLst xmlns:a="http://schemas.openxmlformats.org/drawingml/2006/main">
              <a:ext uri="{FF2B5EF4-FFF2-40B4-BE49-F238E27FC236}">
                <a16:creationId xmlns:a16="http://schemas.microsoft.com/office/drawing/2014/main" id="{83624F77-0566-4647-B4A7-2D516DB847BC}"/>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EB9F9A7B-E375-476A-A2B6-B6EE045D7F2E}"/>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9A8EB091-9E36-4A89-81C7-661D357B540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E04C3E70-5550-43E7-94D8-22C0667A17C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EA43F60B-9E41-4474-8ED4-A22E9FDB8E9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EDB0D0D3-1BDA-4B75-A9EC-7B4A30E496E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DFDCC220-3FD8-4A3A-B2A2-9D2F52834A4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117</a:t>
            </a:r>
          </a:p>
        </p:txBody>
      </p:sp>
    </p:spTree>
    <p:extLst>
      <p:ext uri="{BB962C8B-B14F-4D97-AF65-F5344CB8AC3E}">
        <p14:creationId xmlns:p14="http://schemas.microsoft.com/office/powerpoint/2010/main" val="817057724"/>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43AC991E-345E-40B4-A9FB-693070565B57}"/>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¿Qué explica U7 y qué corresponde investigar en U9 o U10?</a:t>
            </a:r>
          </a:p>
        </p:txBody>
      </p:sp>
      <p:sp>
        <p:nvSpPr>
          <p:cNvPr id="2" name="question-box">
            <a:extLst xmlns:a="http://schemas.openxmlformats.org/drawingml/2006/main">
              <a:ext uri="{FF2B5EF4-FFF2-40B4-BE49-F238E27FC236}">
                <a16:creationId xmlns:a16="http://schemas.microsoft.com/office/drawing/2014/main" id="{F1A4765C-3472-42E9-9E5D-6174DB5BE38D}"/>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3" name="question-title">
            <a:extLst xmlns:a="http://schemas.openxmlformats.org/drawingml/2006/main">
              <a:ext uri="{FF2B5EF4-FFF2-40B4-BE49-F238E27FC236}">
                <a16:creationId xmlns:a16="http://schemas.microsoft.com/office/drawing/2014/main" id="{B61DEE73-7A1D-4D5B-83A0-E5A931C664F9}"/>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4" name="question-body">
            <a:extLst xmlns:a="http://schemas.openxmlformats.org/drawingml/2006/main">
              <a:ext uri="{FF2B5EF4-FFF2-40B4-BE49-F238E27FC236}">
                <a16:creationId xmlns:a16="http://schemas.microsoft.com/office/drawing/2014/main" id="{E99A0741-336A-404B-8471-BD4AC70BAE68}"/>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 Clasifique cada tarjeta: U7 percepción; U8 evaluación; U9 propagación/recinto; U10 ruido. Justifique un caso dudoso antes de mover la tarjeta.</a:t>
            </a:r>
          </a:p>
        </p:txBody>
      </p:sp>
      <p:sp>
        <p:nvSpPr>
          <p:cNvPr id="5" name="answer-guide-box">
            <a:extLst xmlns:a="http://schemas.openxmlformats.org/drawingml/2006/main">
              <a:ext uri="{FF2B5EF4-FFF2-40B4-BE49-F238E27FC236}">
                <a16:creationId xmlns:a16="http://schemas.microsoft.com/office/drawing/2014/main" id="{9C82F1D7-B922-4AFC-9A4E-2D0A447D9345}"/>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6" name="answer-guide-title">
            <a:extLst xmlns:a="http://schemas.openxmlformats.org/drawingml/2006/main">
              <a:ext uri="{FF2B5EF4-FFF2-40B4-BE49-F238E27FC236}">
                <a16:creationId xmlns:a16="http://schemas.microsoft.com/office/drawing/2014/main" id="{1B19E7B4-3077-4829-8A95-781149C42056}"/>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7" name="answer-guide-body">
            <a:extLst xmlns:a="http://schemas.openxmlformats.org/drawingml/2006/main">
              <a:ext uri="{FF2B5EF4-FFF2-40B4-BE49-F238E27FC236}">
                <a16:creationId xmlns:a16="http://schemas.microsoft.com/office/drawing/2014/main" id="{4F80F2C8-774C-4C39-818D-FF8B2BF2BC4E}"/>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Nombrá el objeto, identificá las magnitudes y justificá la relación causal.</a:t>
            </a:r>
          </a:p>
        </p:txBody>
      </p:sp>
      <p:sp>
        <p:nvSpPr>
          <p:cNvPr id="8" name="top-rail-1">
            <a:extLst xmlns:a="http://schemas.openxmlformats.org/drawingml/2006/main">
              <a:ext uri="{FF2B5EF4-FFF2-40B4-BE49-F238E27FC236}">
                <a16:creationId xmlns:a16="http://schemas.microsoft.com/office/drawing/2014/main" id="{B4A8522F-C567-4340-B5CF-9308D5104A0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E2195FEF-2F6C-4CFE-A6CF-06084C7476A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2D5BDA43-19E3-4178-A69F-7331659EF94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0E9EBC11-72BB-4D44-9437-BF5E3655853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2" name="slide-number">
            <a:extLst xmlns:a="http://schemas.openxmlformats.org/drawingml/2006/main">
              <a:ext uri="{FF2B5EF4-FFF2-40B4-BE49-F238E27FC236}">
                <a16:creationId xmlns:a16="http://schemas.microsoft.com/office/drawing/2014/main" id="{1DE27FB8-ED0B-49F4-9213-A4ED3186543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118</a:t>
            </a:r>
          </a:p>
        </p:txBody>
      </p:sp>
    </p:spTree>
    <p:extLst>
      <p:ext uri="{BB962C8B-B14F-4D97-AF65-F5344CB8AC3E}">
        <p14:creationId xmlns:p14="http://schemas.microsoft.com/office/powerpoint/2010/main" val="1673297158"/>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19-U07-DG-042-validated-png"/>
          <p:cNvPicPr>
            <a:picLocks xmlns:a="http://schemas.openxmlformats.org/drawingml/2006/main" noChangeAspect="1"/>
          </p:cNvPicPr>
          <p:nvPr/>
        </p:nvPicPr>
        <p:blipFill>
          <a:blip xmlns:r="http://schemas.openxmlformats.org/officeDocument/2006/relationships" xmlns:a="http://schemas.openxmlformats.org/drawingml/2006/main" r:embed="Rb622d746d3b54756"/>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48089073-DACD-4B9A-8F07-99DE87EF2F5B}"/>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respuesta emerge de una cadena de condiciones</a:t>
            </a:r>
          </a:p>
        </p:txBody>
      </p:sp>
      <p:sp>
        <p:nvSpPr>
          <p:cNvPr id="3" name="diagram-footer">
            <a:extLst xmlns:a="http://schemas.openxmlformats.org/drawingml/2006/main">
              <a:ext uri="{FF2B5EF4-FFF2-40B4-BE49-F238E27FC236}">
                <a16:creationId xmlns:a16="http://schemas.microsoft.com/office/drawing/2014/main" id="{48FCD87A-FFD6-4C38-98B0-0D1B6DCC66ED}"/>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DE905264-671E-49A8-9536-06065CF55D54}"/>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C6B48B1D-BFEB-4BCD-A69C-67A25B30AE6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A2AC42AB-5F85-4BEE-A6F1-EB8C2BBA64C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1181272E-5F8D-4709-B242-614256E433E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DAF584FA-ED15-407F-A2DF-4D82310E744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A4C540A6-71CB-403B-BE3E-B07692B4307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119</a:t>
            </a:r>
          </a:p>
        </p:txBody>
      </p:sp>
    </p:spTree>
    <p:extLst>
      <p:ext uri="{BB962C8B-B14F-4D97-AF65-F5344CB8AC3E}">
        <p14:creationId xmlns:p14="http://schemas.microsoft.com/office/powerpoint/2010/main" val="1995449240"/>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20-U07-DG-042-validated-png"/>
          <p:cNvPicPr>
            <a:picLocks xmlns:a="http://schemas.openxmlformats.org/drawingml/2006/main" noChangeAspect="1"/>
          </p:cNvPicPr>
          <p:nvPr/>
        </p:nvPicPr>
        <p:blipFill>
          <a:blip xmlns:r="http://schemas.openxmlformats.org/officeDocument/2006/relationships" xmlns:a="http://schemas.openxmlformats.org/drawingml/2006/main" r:embed="R0b2ee69416df43b6"/>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569E6F57-9E96-4A1B-A7D2-B74213DCFBCB}"/>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respuesta emerge de una cadena de condiciones</a:t>
            </a:r>
          </a:p>
        </p:txBody>
      </p:sp>
      <p:sp>
        <p:nvSpPr>
          <p:cNvPr id="3" name="diagram-footer">
            <a:extLst xmlns:a="http://schemas.openxmlformats.org/drawingml/2006/main">
              <a:ext uri="{FF2B5EF4-FFF2-40B4-BE49-F238E27FC236}">
                <a16:creationId xmlns:a16="http://schemas.microsoft.com/office/drawing/2014/main" id="{045F9704-393F-4FF6-B54B-1C49B4F56200}"/>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CED1658A-5550-4954-8FD0-D2BDA0ADCD69}"/>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36152B84-4F02-4CCC-9BDA-B6765A5231B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9680EC93-BFBA-4B01-BA9B-993AEA5C090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AFE42379-5B5B-452B-961A-E9E2807C76D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2BB49B26-8ACA-40C9-8407-A8E51B81485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9" name="slide-number">
            <a:extLst xmlns:a="http://schemas.openxmlformats.org/drawingml/2006/main">
              <a:ext uri="{FF2B5EF4-FFF2-40B4-BE49-F238E27FC236}">
                <a16:creationId xmlns:a16="http://schemas.microsoft.com/office/drawing/2014/main" id="{49D78DFB-2AB4-49FB-98B5-A0954B07857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120</a:t>
            </a:r>
          </a:p>
        </p:txBody>
      </p:sp>
    </p:spTree>
    <p:extLst>
      <p:ext uri="{BB962C8B-B14F-4D97-AF65-F5344CB8AC3E}">
        <p14:creationId xmlns:p14="http://schemas.microsoft.com/office/powerpoint/2010/main" val="951530275"/>
      </p:ext>
    </p:extLst>
  </p:cSld>
</p:sld>
</file>

<file path=ppt/slides/slide121.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6" name="dark-eyebrow">
            <a:extLst xmlns:a="http://schemas.openxmlformats.org/drawingml/2006/main">
              <a:ext uri="{FF2B5EF4-FFF2-40B4-BE49-F238E27FC236}">
                <a16:creationId xmlns:a16="http://schemas.microsoft.com/office/drawing/2014/main" id="{93303F14-6A1E-45C0-AA50-6DE129239D33}"/>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4 · RUTA CENTRAL</a:t>
            </a:r>
          </a:p>
        </p:txBody>
      </p:sp>
      <p:sp>
        <p:nvSpPr>
          <p:cNvPr id="2" name="divider-title">
            <a:extLst xmlns:a="http://schemas.openxmlformats.org/drawingml/2006/main">
              <a:ext uri="{FF2B5EF4-FFF2-40B4-BE49-F238E27FC236}">
                <a16:creationId xmlns:a16="http://schemas.microsoft.com/office/drawing/2014/main" id="{30DDDAA8-0C09-40E6-B67D-6082229D9337}"/>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De la percepción a la evaluación, el ambiente y el ruido</a:t>
            </a:r>
          </a:p>
        </p:txBody>
      </p:sp>
      <p:sp>
        <p:nvSpPr>
          <p:cNvPr id="3" name="divider-subtitle">
            <a:extLst xmlns:a="http://schemas.openxmlformats.org/drawingml/2006/main">
              <a:ext uri="{FF2B5EF4-FFF2-40B4-BE49-F238E27FC236}">
                <a16:creationId xmlns:a16="http://schemas.microsoft.com/office/drawing/2014/main" id="{74A1DFA3-F76D-4E7E-9BF0-AA511DEDB597}"/>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U8 evaluará audición; U9 explicará propagación/recintos; U10 caracterizará ruido y efectos.</a:t>
            </a:r>
          </a:p>
        </p:txBody>
      </p:sp>
      <p:sp>
        <p:nvSpPr>
          <p:cNvPr id="4" name="divider-content">
            <a:extLst xmlns:a="http://schemas.openxmlformats.org/drawingml/2006/main">
              <a:ext uri="{FF2B5EF4-FFF2-40B4-BE49-F238E27FC236}">
                <a16:creationId xmlns:a16="http://schemas.microsoft.com/office/drawing/2014/main" id="{33A491E9-CA45-49FD-BA0C-BA90CACDDA83}"/>
              </a:ext>
            </a:extLst>
          </p:cNvPr>
          <p:cNvSpPr>
            <a:spLocks xmlns:a="http://schemas.openxmlformats.org/drawingml/2006/main" noGrp="1"/>
          </p:cNvSpPr>
          <p:nvPr/>
        </p:nvSpPr>
        <p:spPr>
          <a:xfrm xmlns:a="http://schemas.openxmlformats.org/drawingml/2006/main">
            <a:off x="2095500" y="44767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75" b="0" i="0">
                <a:solidFill>
                  <a:srgbClr val="D4BDC8"/>
                </a:solidFill>
                <a:latin typeface="Calibri"/>
                <a:ea typeface="Calibri"/>
                <a:cs typeface="Calibri"/>
              </a:defRPr>
            </a:pPr>
            <a:r>
              <a:rPr sz="1875" b="0" i="0">
                <a:solidFill>
                  <a:srgbClr val="D4BDC8"/>
                </a:solidFill>
                <a:latin typeface="Calibri"/>
                <a:ea typeface="Calibri"/>
                <a:cs typeface="Calibri"/>
              </a:rPr>
              <a:t>- U8 evaluará audición; U9 explicará propagación/recintos; U10 caracterizará ruido y efectos.</a:t>
            </a:r>
          </a:p>
        </p:txBody>
      </p:sp>
      <p:sp>
        <p:nvSpPr>
          <p:cNvPr id="5" name="slide-number">
            <a:extLst xmlns:a="http://schemas.openxmlformats.org/drawingml/2006/main">
              <a:ext uri="{FF2B5EF4-FFF2-40B4-BE49-F238E27FC236}">
                <a16:creationId xmlns:a16="http://schemas.microsoft.com/office/drawing/2014/main" id="{1363CFE6-1D29-4EAA-AFFB-B33142AD838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121</a:t>
            </a:r>
          </a:p>
        </p:txBody>
      </p:sp>
    </p:spTree>
    <p:extLst>
      <p:ext uri="{BB962C8B-B14F-4D97-AF65-F5344CB8AC3E}">
        <p14:creationId xmlns:p14="http://schemas.microsoft.com/office/powerpoint/2010/main" val="880112903"/>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5591CA5-7378-4AA9-B03E-8D7997EE3CC7}"/>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Respaldo: definiciones, variantes y cálculos ampliados</a:t>
            </a:r>
          </a:p>
        </p:txBody>
      </p:sp>
      <p:sp>
        <p:nvSpPr>
          <p:cNvPr id="2" name="main-ideas">
            <a:extLst xmlns:a="http://schemas.openxmlformats.org/drawingml/2006/main">
              <a:ext uri="{FF2B5EF4-FFF2-40B4-BE49-F238E27FC236}">
                <a16:creationId xmlns:a16="http://schemas.microsoft.com/office/drawing/2014/main" id="{E9EB904E-BE91-4BFE-8BC9-03DCCF3C5106}"/>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Umbral e isofónicas: U07-123.</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Símbolos: U07-124.</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ERB: U07-125–127.</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STI/SII y T(60): U07-128–129.</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Ejercicios: U07-130–133.</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Fuentes: U07-134.</a:t>
            </a:r>
          </a:p>
        </p:txBody>
      </p:sp>
      <p:sp>
        <p:nvSpPr>
          <p:cNvPr id="3" name="top-rail-1">
            <a:extLst xmlns:a="http://schemas.openxmlformats.org/drawingml/2006/main">
              <a:ext uri="{FF2B5EF4-FFF2-40B4-BE49-F238E27FC236}">
                <a16:creationId xmlns:a16="http://schemas.microsoft.com/office/drawing/2014/main" id="{343CF0FC-B376-4D0E-AC98-CFAE1BD004D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21B223DA-32EC-442E-B8DB-C5A8FA6FB234}"/>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205B41E6-7A5E-4C13-8692-C51C8C351A2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AE7ECCB5-74DC-4787-92ED-DAEFB4C3CF1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B6ED9A8F-A95A-47C5-B5D8-D27A33EB5FC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122</a:t>
            </a:r>
          </a:p>
        </p:txBody>
      </p:sp>
    </p:spTree>
    <p:extLst>
      <p:ext uri="{BB962C8B-B14F-4D97-AF65-F5344CB8AC3E}">
        <p14:creationId xmlns:p14="http://schemas.microsoft.com/office/powerpoint/2010/main" val="1271479030"/>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23-U07-DG-011-validated-png"/>
          <p:cNvPicPr>
            <a:picLocks xmlns:a="http://schemas.openxmlformats.org/drawingml/2006/main" noChangeAspect="1"/>
          </p:cNvPicPr>
          <p:nvPr/>
        </p:nvPicPr>
        <p:blipFill>
          <a:blip xmlns:r="http://schemas.openxmlformats.org/officeDocument/2006/relationships" xmlns:a="http://schemas.openxmlformats.org/drawingml/2006/main" r:embed="Ref72c5bbab314150"/>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DC8F1537-2DD3-4400-96E4-2814A939B36F}"/>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Cada punto isofónico surge de una comparación</a:t>
            </a:r>
          </a:p>
        </p:txBody>
      </p:sp>
      <p:sp>
        <p:nvSpPr>
          <p:cNvPr id="3" name="diagram-footer">
            <a:extLst xmlns:a="http://schemas.openxmlformats.org/drawingml/2006/main">
              <a:ext uri="{FF2B5EF4-FFF2-40B4-BE49-F238E27FC236}">
                <a16:creationId xmlns:a16="http://schemas.microsoft.com/office/drawing/2014/main" id="{339F3BE0-07A0-4641-AF09-47B27D5A7AA9}"/>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00801FA9-0D0A-4E69-A14D-EAB2661B5B86}"/>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CBF6C0CB-86AD-447C-A5B0-A4082DB87F3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A74F5A92-AA5D-468D-A7A4-26538CFE59D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ACFE603F-A677-408B-B182-DB340E2D287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A9A26298-E5AA-44FA-8C87-D2A1376B3EB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9" name="slide-number">
            <a:extLst xmlns:a="http://schemas.openxmlformats.org/drawingml/2006/main">
              <a:ext uri="{FF2B5EF4-FFF2-40B4-BE49-F238E27FC236}">
                <a16:creationId xmlns:a16="http://schemas.microsoft.com/office/drawing/2014/main" id="{B0A4001A-15B2-4364-B090-A0FB9C7C967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123</a:t>
            </a:r>
          </a:p>
        </p:txBody>
      </p:sp>
    </p:spTree>
    <p:extLst>
      <p:ext uri="{BB962C8B-B14F-4D97-AF65-F5344CB8AC3E}">
        <p14:creationId xmlns:p14="http://schemas.microsoft.com/office/powerpoint/2010/main" val="313021856"/>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8F278A0E-5EFA-4F1A-9AB3-6E9EDB82D1B1}"/>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Símbolos y unidades de la unidad</a:t>
            </a:r>
          </a:p>
        </p:txBody>
      </p:sp>
      <p:sp>
        <p:nvSpPr>
          <p:cNvPr id="2" name="main-ideas">
            <a:extLst xmlns:a="http://schemas.openxmlformats.org/drawingml/2006/main">
              <a:ext uri="{FF2B5EF4-FFF2-40B4-BE49-F238E27FC236}">
                <a16:creationId xmlns:a16="http://schemas.microsoft.com/office/drawing/2014/main" id="{5DB4E4D1-5864-447F-8878-D510769819AD}"/>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 Magnitudes físicas: p, Lₚ, Δt.</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Cantidades perceptuales: L(N), N(son), M.</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Descriptores: SNR, T(60), ALCons, ITD e ILD.</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Cada símbolo debe leerse con unidad, referencia y condición.</a:t>
            </a:r>
          </a:p>
        </p:txBody>
      </p:sp>
      <p:sp>
        <p:nvSpPr>
          <p:cNvPr id="3" name="top-rail-1">
            <a:extLst xmlns:a="http://schemas.openxmlformats.org/drawingml/2006/main">
              <a:ext uri="{FF2B5EF4-FFF2-40B4-BE49-F238E27FC236}">
                <a16:creationId xmlns:a16="http://schemas.microsoft.com/office/drawing/2014/main" id="{8B785178-313D-4CBF-87D8-8676D40F063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CEA624C9-1B66-45A1-9EDD-728664E3A73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D1899983-6B63-4C64-8FB8-E5523EB464B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98D62C5C-938A-450D-8753-761C97AD0BC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6BAE2161-2FF9-43EC-A35C-2B29BD1DD37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124</a:t>
            </a:r>
          </a:p>
        </p:txBody>
      </p:sp>
    </p:spTree>
    <p:extLst>
      <p:ext uri="{BB962C8B-B14F-4D97-AF65-F5344CB8AC3E}">
        <p14:creationId xmlns:p14="http://schemas.microsoft.com/office/powerpoint/2010/main" val="34619112"/>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2667B73-308F-4398-A607-AAFEF897D6E2}"/>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ERB: fórmula empírica y variables</a:t>
            </a:r>
          </a:p>
        </p:txBody>
      </p:sp>
      <p:pic>
        <p:nvPicPr>
          <p:cNvPr id="10" name="U07-125-U07-CH-008"/>
          <p:cNvPicPr>
            <a:picLocks xmlns:a="http://schemas.openxmlformats.org/drawingml/2006/main" noChangeAspect="1"/>
          </p:cNvPicPr>
          <p:nvPr/>
        </p:nvPicPr>
        <p:blipFill>
          <a:blip xmlns:r="http://schemas.openxmlformats.org/officeDocument/2006/relationships" xmlns:a="http://schemas.openxmlformats.org/drawingml/2006/main" r:embed="R84a1444b7b6f4229">
            <a:extLst>
              <a:ext uri="{96DAC541-7B7A-43D3-8B79-37D633B846F1}">
                <asvg:svgBlip xmlns:asvg="http://schemas.microsoft.com/office/drawing/2016/SVG/main" r:embed="R4a739fb33a284cf9"/>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A75EC51F-3F93-4DD7-BC21-5EE46CE1903D}"/>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Modelo de Glasberg–Moore para estimar la anchura rectangular equivalente en función de la frecuencia central.</a:t>
            </a:r>
          </a:p>
        </p:txBody>
      </p:sp>
      <p:sp>
        <p:nvSpPr>
          <p:cNvPr id="4" name="top-rail-1">
            <a:extLst xmlns:a="http://schemas.openxmlformats.org/drawingml/2006/main">
              <a:ext uri="{FF2B5EF4-FFF2-40B4-BE49-F238E27FC236}">
                <a16:creationId xmlns:a16="http://schemas.microsoft.com/office/drawing/2014/main" id="{7890871E-FA9F-44E8-BEED-05A911B6B2F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9988C049-D31E-4043-BE00-F31EF7F5EF6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49296E7E-D8D1-4166-83DC-C5A348FDA31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C4E83D16-047A-4EB6-B69A-E38379F1FB6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8" name="slide-number">
            <a:extLst xmlns:a="http://schemas.openxmlformats.org/drawingml/2006/main">
              <a:ext uri="{FF2B5EF4-FFF2-40B4-BE49-F238E27FC236}">
                <a16:creationId xmlns:a16="http://schemas.microsoft.com/office/drawing/2014/main" id="{C760FC17-D558-478A-98AE-67D47C6346E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125</a:t>
            </a:r>
          </a:p>
        </p:txBody>
      </p:sp>
    </p:spTree>
    <p:extLst>
      <p:ext uri="{BB962C8B-B14F-4D97-AF65-F5344CB8AC3E}">
        <p14:creationId xmlns:p14="http://schemas.microsoft.com/office/powerpoint/2010/main" val="1602286470"/>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06A06F9-5665-4BFF-9ECA-7078ABA14A1D}"/>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ERB a 1 kHz: cálculo ampliado</a:t>
            </a:r>
          </a:p>
        </p:txBody>
      </p:sp>
      <p:pic>
        <p:nvPicPr>
          <p:cNvPr id="10" name="U07-126-U07-CH-008"/>
          <p:cNvPicPr>
            <a:picLocks xmlns:a="http://schemas.openxmlformats.org/drawingml/2006/main" noChangeAspect="1"/>
          </p:cNvPicPr>
          <p:nvPr/>
        </p:nvPicPr>
        <p:blipFill>
          <a:blip xmlns:r="http://schemas.openxmlformats.org/officeDocument/2006/relationships" xmlns:a="http://schemas.openxmlformats.org/drawingml/2006/main" r:embed="R61118c81ee5a4d16">
            <a:extLst>
              <a:ext uri="{96DAC541-7B7A-43D3-8B79-37D633B846F1}">
                <asvg:svgBlip xmlns:asvg="http://schemas.microsoft.com/office/drawing/2016/SVG/main" r:embed="Rc378b0487d2741a0"/>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8F7ED6EC-EB48-4621-B184-1B94214C7376}"/>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Sustitución de 1 kHz en el modelo: ERB estimada de aproximadamente 133 Hz.</a:t>
            </a:r>
          </a:p>
        </p:txBody>
      </p:sp>
      <p:sp>
        <p:nvSpPr>
          <p:cNvPr id="4" name="top-rail-1">
            <a:extLst xmlns:a="http://schemas.openxmlformats.org/drawingml/2006/main">
              <a:ext uri="{FF2B5EF4-FFF2-40B4-BE49-F238E27FC236}">
                <a16:creationId xmlns:a16="http://schemas.microsoft.com/office/drawing/2014/main" id="{F9EEA728-3BCD-4B12-B5A3-DE4A5B0D600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A0148528-C4CA-42D4-B6C8-0058C6BEF3F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B8DB8267-836F-47E7-91A0-6032B04C8E6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6A23C261-9D2B-4CF4-8CCA-6A073600793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8" name="slide-number">
            <a:extLst xmlns:a="http://schemas.openxmlformats.org/drawingml/2006/main">
              <a:ext uri="{FF2B5EF4-FFF2-40B4-BE49-F238E27FC236}">
                <a16:creationId xmlns:a16="http://schemas.microsoft.com/office/drawing/2014/main" id="{35BAA054-3E24-4675-B8AB-D7A89DAEF6F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126</a:t>
            </a:r>
          </a:p>
        </p:txBody>
      </p:sp>
    </p:spTree>
    <p:extLst>
      <p:ext uri="{BB962C8B-B14F-4D97-AF65-F5344CB8AC3E}">
        <p14:creationId xmlns:p14="http://schemas.microsoft.com/office/powerpoint/2010/main" val="1133635661"/>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430ACD6-DDBB-4C5A-A05B-AFD3C7660839}"/>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Las fórmulas de ERB dependen del modelo y la parametrización</a:t>
            </a:r>
          </a:p>
        </p:txBody>
      </p:sp>
      <p:pic>
        <p:nvPicPr>
          <p:cNvPr id="10" name="U07-127-U07-CH-008"/>
          <p:cNvPicPr>
            <a:picLocks xmlns:a="http://schemas.openxmlformats.org/drawingml/2006/main" noChangeAspect="1"/>
          </p:cNvPicPr>
          <p:nvPr/>
        </p:nvPicPr>
        <p:blipFill>
          <a:blip xmlns:r="http://schemas.openxmlformats.org/officeDocument/2006/relationships" xmlns:a="http://schemas.openxmlformats.org/drawingml/2006/main" r:embed="R9d98a140ce364b00">
            <a:extLst>
              <a:ext uri="{96DAC541-7B7A-43D3-8B79-37D633B846F1}">
                <asvg:svgBlip xmlns:asvg="http://schemas.microsoft.com/office/drawing/2016/SVG/main" r:embed="Reb76114bad124857"/>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E79FE3A3-BED5-4B7B-A0E3-B61871FAEE5A}"/>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Las expresiones de ERB solo pueden compararse cuando se declaran modelo, unidades de entrada y fuente.</a:t>
            </a:r>
          </a:p>
        </p:txBody>
      </p:sp>
      <p:sp>
        <p:nvSpPr>
          <p:cNvPr id="4" name="top-rail-1">
            <a:extLst xmlns:a="http://schemas.openxmlformats.org/drawingml/2006/main">
              <a:ext uri="{FF2B5EF4-FFF2-40B4-BE49-F238E27FC236}">
                <a16:creationId xmlns:a16="http://schemas.microsoft.com/office/drawing/2014/main" id="{2445EDB8-A305-4492-ACC0-3CD011373F6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D1A4EA57-7145-4285-B2FB-6AA77BED708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C51FF359-5BA7-413B-A6B1-3704605049E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C0C9D57D-706C-4183-AF0D-C2CC5957F5E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8" name="slide-number">
            <a:extLst xmlns:a="http://schemas.openxmlformats.org/drawingml/2006/main">
              <a:ext uri="{FF2B5EF4-FFF2-40B4-BE49-F238E27FC236}">
                <a16:creationId xmlns:a16="http://schemas.microsoft.com/office/drawing/2014/main" id="{D1E66DB8-2EB2-4ED3-9B30-CA0AFA4BCF3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127</a:t>
            </a:r>
          </a:p>
        </p:txBody>
      </p:sp>
    </p:spTree>
    <p:extLst>
      <p:ext uri="{BB962C8B-B14F-4D97-AF65-F5344CB8AC3E}">
        <p14:creationId xmlns:p14="http://schemas.microsoft.com/office/powerpoint/2010/main" val="34619112"/>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69798884-6193-4E1B-839A-491C77C483EF}"/>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STI y SII: índices relacionados, no intercambiables</a:t>
            </a:r>
          </a:p>
        </p:txBody>
      </p:sp>
      <p:sp>
        <p:nvSpPr>
          <p:cNvPr id="2" name="compare-a-box">
            <a:extLst xmlns:a="http://schemas.openxmlformats.org/drawingml/2006/main">
              <a:ext uri="{FF2B5EF4-FFF2-40B4-BE49-F238E27FC236}">
                <a16:creationId xmlns:a16="http://schemas.microsoft.com/office/drawing/2014/main" id="{CC084147-4B2F-4289-9623-8C0E35CD3D09}"/>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5DF270BF-D5CE-40CD-8CBB-7F82D8BA4DE2}"/>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Caso A</a:t>
            </a:r>
          </a:p>
        </p:txBody>
      </p:sp>
      <p:sp>
        <p:nvSpPr>
          <p:cNvPr id="4" name="compare-a-body">
            <a:extLst xmlns:a="http://schemas.openxmlformats.org/drawingml/2006/main">
              <a:ext uri="{FF2B5EF4-FFF2-40B4-BE49-F238E27FC236}">
                <a16:creationId xmlns:a16="http://schemas.microsoft.com/office/drawing/2014/main" id="{557419CF-8483-497E-BC86-27A1366B65F5}"/>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 STI aborda transmisión del habla y SII audibilidad ponderada ambos requieren procedimientos propios.</a:t>
            </a:r>
          </a:p>
        </p:txBody>
      </p:sp>
      <p:sp>
        <p:nvSpPr>
          <p:cNvPr id="5" name="compare-b-box">
            <a:extLst xmlns:a="http://schemas.openxmlformats.org/drawingml/2006/main">
              <a:ext uri="{FF2B5EF4-FFF2-40B4-BE49-F238E27FC236}">
                <a16:creationId xmlns:a16="http://schemas.microsoft.com/office/drawing/2014/main" id="{E264F0F0-5236-49D4-8A7A-6D63F19F7644}"/>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D584CD89-FC42-40A1-8A3F-FD02E6D891F6}"/>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Caso B</a:t>
            </a:r>
          </a:p>
        </p:txBody>
      </p:sp>
      <p:sp>
        <p:nvSpPr>
          <p:cNvPr id="7" name="compare-b-body">
            <a:extLst xmlns:a="http://schemas.openxmlformats.org/drawingml/2006/main">
              <a:ext uri="{FF2B5EF4-FFF2-40B4-BE49-F238E27FC236}">
                <a16:creationId xmlns:a16="http://schemas.microsoft.com/office/drawing/2014/main" id="{2A9D512B-D195-4E4A-A6C5-EFCFE20F91B1}"/>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Propósito, tipo de entrada, resultado y límite de cada índice.</a:t>
            </a:r>
          </a:p>
        </p:txBody>
      </p:sp>
      <p:sp>
        <p:nvSpPr>
          <p:cNvPr id="8" name="top-rail-1">
            <a:extLst xmlns:a="http://schemas.openxmlformats.org/drawingml/2006/main">
              <a:ext uri="{FF2B5EF4-FFF2-40B4-BE49-F238E27FC236}">
                <a16:creationId xmlns:a16="http://schemas.microsoft.com/office/drawing/2014/main" id="{EFB07565-05F3-4D48-AB86-AD42BBE7993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15BCDCE5-D4AB-421E-8556-8A1A5CB0B58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ABA4E8B9-9500-4DEB-9494-A157DADBB37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971A6D74-16DC-4FB5-AFF8-90609FA3330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2" name="slide-number">
            <a:extLst xmlns:a="http://schemas.openxmlformats.org/drawingml/2006/main">
              <a:ext uri="{FF2B5EF4-FFF2-40B4-BE49-F238E27FC236}">
                <a16:creationId xmlns:a16="http://schemas.microsoft.com/office/drawing/2014/main" id="{71814A4E-7C57-4243-96E6-9C2EBE86D72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128</a:t>
            </a:r>
          </a:p>
        </p:txBody>
      </p:sp>
    </p:spTree>
    <p:extLst>
      <p:ext uri="{BB962C8B-B14F-4D97-AF65-F5344CB8AC3E}">
        <p14:creationId xmlns:p14="http://schemas.microsoft.com/office/powerpoint/2010/main" val="318321949"/>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22E88EB9-3A43-4C98-9D19-CC958A56A769}"/>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T(60): extrapolación, bandas y frontera con U9</a:t>
            </a:r>
          </a:p>
        </p:txBody>
      </p:sp>
      <p:pic>
        <p:nvPicPr>
          <p:cNvPr id="10" name="U07-129-U07-CH-009"/>
          <p:cNvPicPr>
            <a:picLocks xmlns:a="http://schemas.openxmlformats.org/drawingml/2006/main" noChangeAspect="1"/>
          </p:cNvPicPr>
          <p:nvPr/>
        </p:nvPicPr>
        <p:blipFill>
          <a:blip xmlns:r="http://schemas.openxmlformats.org/officeDocument/2006/relationships" xmlns:a="http://schemas.openxmlformats.org/drawingml/2006/main" r:embed="R81784926de0641ab">
            <a:extLst>
              <a:ext uri="{96DAC541-7B7A-43D3-8B79-37D633B846F1}">
                <asvg:svgBlip xmlns:asvg="http://schemas.microsoft.com/office/drawing/2016/SVG/main" r:embed="R50b3640ff72345dd"/>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4AC6A5D7-634A-47F6-8E4F-D2968C1662C4}"/>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T₆₀ es el intervalo de un decaimiento ideal de 60 dB; no significa tiempo hasta silencio.</a:t>
            </a:r>
          </a:p>
        </p:txBody>
      </p:sp>
      <p:sp>
        <p:nvSpPr>
          <p:cNvPr id="4" name="top-rail-1">
            <a:extLst xmlns:a="http://schemas.openxmlformats.org/drawingml/2006/main">
              <a:ext uri="{FF2B5EF4-FFF2-40B4-BE49-F238E27FC236}">
                <a16:creationId xmlns:a16="http://schemas.microsoft.com/office/drawing/2014/main" id="{C84A7889-AECD-40A8-A04F-2679254976E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06C513BF-C251-4153-BC64-F2B0D781848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9619FDB3-BF48-4D83-9413-0D63446626C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0A17D819-5435-40BA-804D-512C2132581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8" name="slide-number">
            <a:extLst xmlns:a="http://schemas.openxmlformats.org/drawingml/2006/main">
              <a:ext uri="{FF2B5EF4-FFF2-40B4-BE49-F238E27FC236}">
                <a16:creationId xmlns:a16="http://schemas.microsoft.com/office/drawing/2014/main" id="{09E788B1-B6AF-43A4-AEF3-83EAF780CE4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129</a:t>
            </a:r>
          </a:p>
        </p:txBody>
      </p:sp>
    </p:spTree>
    <p:extLst>
      <p:ext uri="{BB962C8B-B14F-4D97-AF65-F5344CB8AC3E}">
        <p14:creationId xmlns:p14="http://schemas.microsoft.com/office/powerpoint/2010/main" val="313021856"/>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8DAE7C11-8CDD-4F40-92C8-BAE0534DBCE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SNR: ejercicio alternativo con condiciones</a:t>
            </a:r>
          </a:p>
        </p:txBody>
      </p:sp>
      <p:sp>
        <p:nvSpPr>
          <p:cNvPr id="2" name="slide-subtitle">
            <a:extLst xmlns:a="http://schemas.openxmlformats.org/drawingml/2006/main">
              <a:ext uri="{FF2B5EF4-FFF2-40B4-BE49-F238E27FC236}">
                <a16:creationId xmlns:a16="http://schemas.microsoft.com/office/drawing/2014/main" id="{42F01EC3-5FF4-4EB0-A081-CB37C03AE412}"/>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95FDC399-9609-4761-B021-85F9EE66E6F4}"/>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F3ED00D6-8266-4C6C-A11D-47DFAAF17E69}"/>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499BA557-6134-4CA2-811B-12346DF8B432}"/>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 Datos comparables: voz 64 dB SPL; ruido 58 dB SPL. Calcule la SNR, interprete el signo y nombre un dato faltante.</a:t>
            </a:r>
          </a:p>
        </p:txBody>
      </p:sp>
      <p:sp>
        <p:nvSpPr>
          <p:cNvPr id="6" name="answer-guide-box">
            <a:extLst xmlns:a="http://schemas.openxmlformats.org/drawingml/2006/main">
              <a:ext uri="{FF2B5EF4-FFF2-40B4-BE49-F238E27FC236}">
                <a16:creationId xmlns:a16="http://schemas.microsoft.com/office/drawing/2014/main" id="{C38ADE13-BC12-44AD-81E8-303311C20AAA}"/>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D87631E4-0020-4EA9-83D9-A50892C20EA2}"/>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03E373F5-1E5D-49C7-BB9B-F2324BA56879}"/>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Habla a 64 dB SPL y ruido a 58 dB SPL, medidos con la misma banda, ponderación, posición e intervalo.</a:t>
            </a:r>
          </a:p>
        </p:txBody>
      </p:sp>
      <p:sp>
        <p:nvSpPr>
          <p:cNvPr id="9" name="top-rail-1">
            <a:extLst xmlns:a="http://schemas.openxmlformats.org/drawingml/2006/main">
              <a:ext uri="{FF2B5EF4-FFF2-40B4-BE49-F238E27FC236}">
                <a16:creationId xmlns:a16="http://schemas.microsoft.com/office/drawing/2014/main" id="{C99BA3F3-71F1-4DFD-9EC0-A626CB4A4A4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1F359239-6B12-41BC-8D1B-6438B765D27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7A10DEB0-F202-4F45-AFDE-87A5B883732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2A4C7969-703E-49EA-A01A-ADCA83265FE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3" name="slide-number">
            <a:extLst xmlns:a="http://schemas.openxmlformats.org/drawingml/2006/main">
              <a:ext uri="{FF2B5EF4-FFF2-40B4-BE49-F238E27FC236}">
                <a16:creationId xmlns:a16="http://schemas.microsoft.com/office/drawing/2014/main" id="{54CCA72A-E34F-4EC7-B67D-34FA8071918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130</a:t>
            </a:r>
          </a:p>
        </p:txBody>
      </p:sp>
    </p:spTree>
    <p:extLst>
      <p:ext uri="{BB962C8B-B14F-4D97-AF65-F5344CB8AC3E}">
        <p14:creationId xmlns:p14="http://schemas.microsoft.com/office/powerpoint/2010/main" val="1673297158"/>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F5A7C554-62C0-4B82-A0A7-716EC36A864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ALCons: conteos, porcentaje y alcance</a:t>
            </a:r>
          </a:p>
        </p:txBody>
      </p:sp>
      <p:sp>
        <p:nvSpPr>
          <p:cNvPr id="2" name="slide-subtitle">
            <a:extLst xmlns:a="http://schemas.openxmlformats.org/drawingml/2006/main">
              <a:ext uri="{FF2B5EF4-FFF2-40B4-BE49-F238E27FC236}">
                <a16:creationId xmlns:a16="http://schemas.microsoft.com/office/drawing/2014/main" id="{55D19571-3887-490C-AE74-60102CB3E07E}"/>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0C81F366-3826-4D15-A59F-0146DEF44360}"/>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5DF743E9-C1A9-467E-983F-AF3E74E8EB6A}"/>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3D0D5F40-D3C8-4C3F-9ABB-14885298B2F6}"/>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 Prueba A: nₚ=80, n(c)=68. Prueba B: nₚ=120, n(c)=102. Calcule ALCons y explique qué no vuelve equivalentes a las dos pruebas.</a:t>
            </a:r>
          </a:p>
        </p:txBody>
      </p:sp>
      <p:sp>
        <p:nvSpPr>
          <p:cNvPr id="6" name="answer-guide-box">
            <a:extLst xmlns:a="http://schemas.openxmlformats.org/drawingml/2006/main">
              <a:ext uri="{FF2B5EF4-FFF2-40B4-BE49-F238E27FC236}">
                <a16:creationId xmlns:a16="http://schemas.microsoft.com/office/drawing/2014/main" id="{779A0A07-B07E-4C5F-AE9D-E7D43754EDE7}"/>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8FD5BB93-F5A9-4A8B-BCDD-861985E5A558}"/>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55660EC2-8A71-47B8-9772-E396B50B997C}"/>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Resolver cada cociente por separado y comparar luego el porcentaje, el número de ítems y las condiciones de prueba.</a:t>
            </a:r>
          </a:p>
        </p:txBody>
      </p:sp>
      <p:sp>
        <p:nvSpPr>
          <p:cNvPr id="9" name="top-rail-1">
            <a:extLst xmlns:a="http://schemas.openxmlformats.org/drawingml/2006/main">
              <a:ext uri="{FF2B5EF4-FFF2-40B4-BE49-F238E27FC236}">
                <a16:creationId xmlns:a16="http://schemas.microsoft.com/office/drawing/2014/main" id="{C0F13D63-9B75-4B27-93A8-02E474064D8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5A4BEF47-E5D8-4CE3-979D-8840E4B3A0A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6ED934FB-BE08-42AE-B161-EC30EC70212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4ED7129D-977D-45CD-99C2-4A952E37423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3" name="slide-number">
            <a:extLst xmlns:a="http://schemas.openxmlformats.org/drawingml/2006/main">
              <a:ext uri="{FF2B5EF4-FFF2-40B4-BE49-F238E27FC236}">
                <a16:creationId xmlns:a16="http://schemas.microsoft.com/office/drawing/2014/main" id="{8732056B-920D-44A7-ADF6-434901237FC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131</a:t>
            </a:r>
          </a:p>
        </p:txBody>
      </p:sp>
    </p:spTree>
    <p:extLst>
      <p:ext uri="{BB962C8B-B14F-4D97-AF65-F5344CB8AC3E}">
        <p14:creationId xmlns:p14="http://schemas.microsoft.com/office/powerpoint/2010/main" val="1673297158"/>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32-U07-DG-029-validated-png"/>
          <p:cNvPicPr>
            <a:picLocks xmlns:a="http://schemas.openxmlformats.org/drawingml/2006/main" noChangeAspect="1"/>
          </p:cNvPicPr>
          <p:nvPr/>
        </p:nvPicPr>
        <p:blipFill>
          <a:blip xmlns:r="http://schemas.openxmlformats.org/officeDocument/2006/relationships" xmlns:a="http://schemas.openxmlformats.org/drawingml/2006/main" r:embed="Rbd9db7eb62a0491f"/>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DE4E65DD-5338-4300-9B55-A29CDAF988AE}"/>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El camino reflejado es más largo que el directo</a:t>
            </a:r>
          </a:p>
        </p:txBody>
      </p:sp>
      <p:sp>
        <p:nvSpPr>
          <p:cNvPr id="3" name="diagram-footer">
            <a:extLst xmlns:a="http://schemas.openxmlformats.org/drawingml/2006/main">
              <a:ext uri="{FF2B5EF4-FFF2-40B4-BE49-F238E27FC236}">
                <a16:creationId xmlns:a16="http://schemas.microsoft.com/office/drawing/2014/main" id="{34780E7B-632A-4A5D-B5C0-408663E69839}"/>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Figura conceptual; no está a escala salvo indicación explícita.</a:t>
            </a:r>
          </a:p>
        </p:txBody>
      </p:sp>
      <p:sp>
        <p:nvSpPr>
          <p:cNvPr id="4" name="diagram-source">
            <a:extLst xmlns:a="http://schemas.openxmlformats.org/drawingml/2006/main">
              <a:ext uri="{FF2B5EF4-FFF2-40B4-BE49-F238E27FC236}">
                <a16:creationId xmlns:a16="http://schemas.microsoft.com/office/drawing/2014/main" id="{9594F1CC-063A-4714-AC5C-8A05ABE00ACB}"/>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6A4D3E79-314C-40E9-B4D4-019B3D6CD19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F9954B09-B04B-45B5-BCDE-0E342B6AF07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FB7130F1-AF11-4561-9A0E-0D1B1FB3347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C425D8B5-3E63-4A11-991D-E0730E0DAC5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9" name="slide-number">
            <a:extLst xmlns:a="http://schemas.openxmlformats.org/drawingml/2006/main">
              <a:ext uri="{FF2B5EF4-FFF2-40B4-BE49-F238E27FC236}">
                <a16:creationId xmlns:a16="http://schemas.microsoft.com/office/drawing/2014/main" id="{8DBB1F18-A468-484D-B8EC-F73B23C19C7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132</a:t>
            </a:r>
          </a:p>
        </p:txBody>
      </p:sp>
    </p:spTree>
    <p:extLst>
      <p:ext uri="{BB962C8B-B14F-4D97-AF65-F5344CB8AC3E}">
        <p14:creationId xmlns:p14="http://schemas.microsoft.com/office/powerpoint/2010/main" val="1673297158"/>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U07-133-U07-DG-035-validated-png"/>
          <p:cNvPicPr>
            <a:picLocks xmlns:a="http://schemas.openxmlformats.org/drawingml/2006/main" noChangeAspect="1"/>
          </p:cNvPicPr>
          <p:nvPr/>
        </p:nvPicPr>
        <p:blipFill>
          <a:blip xmlns:r="http://schemas.openxmlformats.org/officeDocument/2006/relationships" xmlns:a="http://schemas.openxmlformats.org/drawingml/2006/main" r:embed="Rf4a09fc1a5a645cd"/>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3538FE77-232E-4B97-8C65-A69A1FFFC1E2}"/>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d/c aporta una cota didáctica de ITD</a:t>
            </a:r>
          </a:p>
        </p:txBody>
      </p:sp>
      <p:sp>
        <p:nvSpPr>
          <p:cNvPr id="3" name="diagram-footer">
            <a:extLst xmlns:a="http://schemas.openxmlformats.org/drawingml/2006/main">
              <a:ext uri="{FF2B5EF4-FFF2-40B4-BE49-F238E27FC236}">
                <a16:creationId xmlns:a16="http://schemas.microsoft.com/office/drawing/2014/main" id="{D7574A30-7F94-411A-9F4A-B841BAA613C2}"/>
              </a:ext>
            </a:extLst>
          </p:cNvPr>
          <p:cNvSpPr>
            <a:spLocks xmlns:a="http://schemas.openxmlformats.org/drawingml/2006/main" noGrp="1"/>
          </p:cNvSpPr>
          <p:nvPr/>
        </p:nvSpPr>
        <p:spPr>
          <a:xfrm xmlns:a="http://schemas.openxmlformats.org/drawingml/2006/main">
            <a:off x="1428750" y="59626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1350" b="0" i="0">
                <a:solidFill>
                  <a:srgbClr val="5E6267"/>
                </a:solidFill>
                <a:latin typeface="Calibri"/>
                <a:ea typeface="Calibri"/>
                <a:cs typeface="Calibri"/>
              </a:defRPr>
            </a:pPr>
            <a:r>
              <a:rPr sz="1350" b="0" i="0">
                <a:solidFill>
                  <a:srgbClr val="5E6267"/>
                </a:solidFill>
                <a:latin typeface="Calibri"/>
                <a:ea typeface="Calibri"/>
                <a:cs typeface="Calibri"/>
              </a:rPr>
              <a:t>Modelo rectilíneo sin difracción; no está a escala ni representa anatomía exacta.</a:t>
            </a:r>
          </a:p>
        </p:txBody>
      </p:sp>
      <p:sp>
        <p:nvSpPr>
          <p:cNvPr id="4" name="diagram-source">
            <a:extLst xmlns:a="http://schemas.openxmlformats.org/drawingml/2006/main">
              <a:ext uri="{FF2B5EF4-FFF2-40B4-BE49-F238E27FC236}">
                <a16:creationId xmlns:a16="http://schemas.microsoft.com/office/drawing/2014/main" id="{F151B12C-81B6-4F3D-9769-308885FAD8A9}"/>
              </a:ext>
            </a:extLst>
          </p:cNvPr>
          <p:cNvSpPr>
            <a:spLocks xmlns:a="http://schemas.openxmlformats.org/drawingml/2006/main" noGrp="1"/>
          </p:cNvSpPr>
          <p:nvPr/>
        </p:nvSpPr>
        <p:spPr>
          <a:xfrm xmlns:a="http://schemas.openxmlformats.org/drawingml/2006/main">
            <a:off x="2333625" y="6153150"/>
            <a:ext cx="885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825" b="0" i="0">
                <a:solidFill>
                  <a:srgbClr val="969FA7"/>
                </a:solidFill>
                <a:latin typeface="Calibri"/>
                <a:ea typeface="Calibri"/>
                <a:cs typeface="Calibri"/>
              </a:defRPr>
            </a:pPr>
            <a:r>
              <a:rPr sz="825" b="0" i="0">
                <a:solidFill>
                  <a:srgbClr val="969FA7"/>
                </a:solidFill>
                <a:latin typeface="Calibri"/>
                <a:ea typeface="Calibri"/>
                <a:cs typeface="Calibri"/>
              </a:rPr>
              <a:t>Libro del curso (TEX/PDF), Unidad 7; brief, storyboard y planes U07; elaboración propia UCASAL.</a:t>
            </a:r>
          </a:p>
        </p:txBody>
      </p:sp>
      <p:sp>
        <p:nvSpPr>
          <p:cNvPr id="5" name="top-rail-1">
            <a:extLst xmlns:a="http://schemas.openxmlformats.org/drawingml/2006/main">
              <a:ext uri="{FF2B5EF4-FFF2-40B4-BE49-F238E27FC236}">
                <a16:creationId xmlns:a16="http://schemas.microsoft.com/office/drawing/2014/main" id="{F7192CD6-C99B-47D0-A6FD-81D5B9A3845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62174F4C-11CD-40DD-91BF-9C76D7436DE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E266EF32-9BBA-40C9-8724-DC041CEC02D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C28F5AFC-CC77-4898-A3B0-95D691624E3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9" name="slide-number">
            <a:extLst xmlns:a="http://schemas.openxmlformats.org/drawingml/2006/main">
              <a:ext uri="{FF2B5EF4-FFF2-40B4-BE49-F238E27FC236}">
                <a16:creationId xmlns:a16="http://schemas.microsoft.com/office/drawing/2014/main" id="{EEBD6B52-6AF5-438D-AC69-5E51B0CA6AC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133</a:t>
            </a:r>
          </a:p>
        </p:txBody>
      </p:sp>
    </p:spTree>
    <p:extLst>
      <p:ext uri="{BB962C8B-B14F-4D97-AF65-F5344CB8AC3E}">
        <p14:creationId xmlns:p14="http://schemas.microsoft.com/office/powerpoint/2010/main" val="1673297158"/>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70A3E41-1204-4F89-BCD8-76951D007E09}"/>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Fuentes y límites de uso de la unidad</a:t>
            </a:r>
          </a:p>
        </p:txBody>
      </p:sp>
      <p:sp>
        <p:nvSpPr>
          <p:cNvPr id="2" name="main-ideas">
            <a:extLst xmlns:a="http://schemas.openxmlformats.org/drawingml/2006/main">
              <a:ext uri="{FF2B5EF4-FFF2-40B4-BE49-F238E27FC236}">
                <a16:creationId xmlns:a16="http://schemas.microsoft.com/office/drawing/2014/main" id="{D7BBFD96-753E-4C3B-AB4D-462A7B8587C8}"/>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 Fuentes primarias: programa oficial, capítulo LaTeX y PDF del curso.</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Verificación: notación, glosario y análisis de fuentes de U7.</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Ampliaciones: ISO 226 y referencias técnicas ya citadas.</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No usar normas o modelos fuera de su edición y dominio.</a:t>
            </a:r>
          </a:p>
        </p:txBody>
      </p:sp>
      <p:sp>
        <p:nvSpPr>
          <p:cNvPr id="3" name="top-rail-1">
            <a:extLst xmlns:a="http://schemas.openxmlformats.org/drawingml/2006/main">
              <a:ext uri="{FF2B5EF4-FFF2-40B4-BE49-F238E27FC236}">
                <a16:creationId xmlns:a16="http://schemas.microsoft.com/office/drawing/2014/main" id="{98567E68-C24E-4238-8B2C-AA348E561EA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42168104-1730-4E97-AF7D-C64FF4D59E1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58549577-2798-4604-B7DA-E0E85611632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A63CE22A-282C-4E0D-A27B-693298721A8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2216C7EC-F3D9-46EA-B956-9F2FCEE06AF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134</a:t>
            </a:r>
          </a:p>
        </p:txBody>
      </p:sp>
    </p:spTree>
    <p:extLst>
      <p:ext uri="{BB962C8B-B14F-4D97-AF65-F5344CB8AC3E}">
        <p14:creationId xmlns:p14="http://schemas.microsoft.com/office/powerpoint/2010/main" val="235601764"/>
      </p:ext>
    </p:extLst>
  </p:cSld>
</p:sld>
</file>

<file path=ppt/theme/theme1.xml><?xml version="1.0" encoding="utf-8"?>
<a:theme xmlns:a="http://schemas.openxmlformats.org/drawingml/2006/main" name="FA_MASTER_CLARO">
  <a:themeElements>
    <a:clrScheme name="Física Acústica UCASAL">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Calibri Light"/>
        <a:ea typeface="Calibri Light"/>
        <a:cs typeface="Calibri Light"/>
      </a:majorFont>
      <a:minorFont>
        <a:latin typeface="Calibri"/>
        <a:ea typeface="Calibri"/>
        <a:cs typeface="Calibri"/>
      </a:minorFont>
    </a:fontScheme>
    <a:fmtScheme name="Física Acústica UCA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2026-08-11T22:21:51.4230000Z</dcterms:created>
  <dcterms:modified xsi:type="dcterms:W3CDTF">2026-08-11T22:21:51.4230000Z</dcterms:modified>
</coreProperties>
</file>